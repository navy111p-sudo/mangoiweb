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ulim"/>
                <a:ea typeface="Gulim"/>
                <a:cs typeface="Gulim"/>
              </a:defRPr>
            </a:lvl1pPr>
          </a:lstStyle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ulim"/>
                <a:ea typeface="Gulim"/>
                <a:cs typeface="Gulim"/>
              </a:defRPr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ulim"/>
                <a:ea typeface="Gulim"/>
                <a:cs typeface="Gulim"/>
              </a:defRPr>
            </a:lvl1pPr>
          </a:lstStyle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ulim"/>
                <a:ea typeface="Gulim"/>
                <a:cs typeface="Gulim"/>
              </a:defRPr>
            </a:lvl1pPr>
          </a:lstStyle>
          <a:p>
            <a:fld id="{CE5E9CC1-C706-0F49-92D6-E571CC5EEA8F}" type="slidenum">
              <a:rPr lang="en-US"/>
              <a:t>‹#›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latin typeface="Gulim"/>
          <a:ea typeface="Gulim"/>
          <a:cs typeface="Gulim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194560"/>
            <a:ext cx="5486400" cy="5486400"/>
          </a:xfrm>
          <a:prstGeom prst="ellipse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1E276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005840"/>
            <a:ext cx="2743200" cy="2743200"/>
          </a:xfrm>
          <a:prstGeom prst="ellipse">
            <a:avLst/>
          </a:prstGeom>
          <a:solidFill>
            <a:srgbClr val="7B61FF">
              <a:alpha val="45000"/>
            </a:srgbClr>
          </a:solidFill>
          <a:ln w="12700">
            <a:solidFill>
              <a:srgbClr val="7B61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3749040"/>
            <a:ext cx="3840480" cy="3840480"/>
          </a:xfrm>
          <a:prstGeom prst="ellipse">
            <a:avLst/>
          </a:prstGeom>
          <a:solidFill>
            <a:srgbClr val="FBBF24">
              <a:alpha val="40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4415" y="3063240"/>
            <a:ext cx="731520" cy="731520"/>
          </a:xfrm>
          <a:prstGeom prst="ellipse">
            <a:avLst/>
          </a:prstGeom>
          <a:solidFill>
            <a:srgbClr val="F96167">
              <a:alpha val="60000"/>
            </a:srgbClr>
          </a:solidFill>
          <a:ln w="12700">
            <a:solidFill>
              <a:srgbClr val="F9616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457200"/>
            <a:ext cx="548640" cy="548640"/>
          </a:xfrm>
          <a:prstGeom prst="ellipse">
            <a:avLst/>
          </a:prstGeom>
          <a:solidFill>
            <a:srgbClr val="00BFA5">
              <a:alpha val="70000"/>
            </a:srgbClr>
          </a:solidFill>
          <a:ln w="12700">
            <a:solidFill>
              <a:srgbClr val="00BFA5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693408"/>
            <a:ext cx="411480" cy="91440"/>
          </a:xfrm>
          <a:prstGeom prst="rect">
            <a:avLst/>
          </a:prstGeom>
          <a:solidFill>
            <a:srgbClr val="F96167">
              <a:alpha val="9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6693408"/>
            <a:ext cx="411480" cy="91440"/>
          </a:xfrm>
          <a:prstGeom prst="rect">
            <a:avLst/>
          </a:prstGeom>
          <a:solidFill>
            <a:srgbClr val="FFA500">
              <a:alpha val="90000"/>
            </a:srgbClr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6693408"/>
            <a:ext cx="411480" cy="91440"/>
          </a:xfrm>
          <a:prstGeom prst="rect">
            <a:avLst/>
          </a:prstGeom>
          <a:solidFill>
            <a:srgbClr val="7B61FF">
              <a:alpha val="9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6693408"/>
            <a:ext cx="411480" cy="91440"/>
          </a:xfrm>
          <a:prstGeom prst="rect">
            <a:avLst/>
          </a:prstGeom>
          <a:solidFill>
            <a:srgbClr val="00BFA5">
              <a:alpha val="9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6693408"/>
            <a:ext cx="411480" cy="91440"/>
          </a:xfrm>
          <a:prstGeom prst="rect">
            <a:avLst/>
          </a:prstGeom>
          <a:solidFill>
            <a:srgbClr val="FFC107">
              <a:alpha val="9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6693408"/>
            <a:ext cx="411480" cy="91440"/>
          </a:xfrm>
          <a:prstGeom prst="rect">
            <a:avLst/>
          </a:prstGeom>
          <a:solidFill>
            <a:srgbClr val="2196F3">
              <a:alpha val="9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640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MANGOI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1234440"/>
            <a:ext cx="1737360" cy="1737360"/>
          </a:xfrm>
          <a:prstGeom prst="ellipse">
            <a:avLst/>
          </a:prstGeom>
          <a:solidFill>
            <a:srgbClr val="F96167">
              <a:alpha val="50000"/>
            </a:srgbClr>
          </a:solidFill>
          <a:ln w="12700">
            <a:solidFill>
              <a:srgbClr val="F96167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371600"/>
            <a:ext cx="1463040" cy="146304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3716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🥭</a:t>
            </a:r>
            <a:endParaRPr lang="en-US" sz="7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망고아이 관리자</a:t>
            </a:r>
            <a:endParaRPr lang="en-US" sz="5400" dirty="0">
              <a:latin typeface="Gulim"/>
              <a:ea typeface="Gulim"/>
              <a:cs typeface="Gulim"/>
            </a:endParaRPr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매뉴얼</a:t>
            </a:r>
            <a:endParaRPr lang="en-US" sz="5400" dirty="0">
              <a:latin typeface="Gulim"/>
              <a:ea typeface="Gulim"/>
              <a:cs typeface="Gulim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본사·지사·강사·운영자를 위한 통합 관리 콘솔 가이드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Midnight Executive · Unified Admin Console Guide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Mangoi Console · 2026 · 14 Chapters · 60+ Cards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목차</a:t>
            </a:r>
            <a:endParaRPr lang="en-US" sz="40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spc="4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Contents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01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시작하기 · 콘솔 구조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02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4088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학생/강사 관리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03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관리 · 화상수업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0" y="2633472"/>
            <a:ext cx="502920" cy="50292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04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0" y="26334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 · 리포트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502920" cy="5029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05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80160" y="33467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결제 · 회계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0" y="3346704"/>
            <a:ext cx="502920" cy="5029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06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040880" y="33467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마케팅 · 신규 유입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059936"/>
            <a:ext cx="502920" cy="50292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07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80160" y="40599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자동화 (Cron)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4059936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08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40880" y="40599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콘텐츠 · 학습 도구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4773168"/>
            <a:ext cx="502920" cy="502920"/>
          </a:xfrm>
          <a:prstGeom prst="ellipse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773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09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80160" y="47731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알림 · 소통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0" y="4773168"/>
            <a:ext cx="502920" cy="50292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73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10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40880" y="47731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모니터링 · 셀프 진단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0080" y="548640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486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11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80160" y="5486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트러블슈팅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0" y="5486400"/>
            <a:ext cx="502920" cy="50292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5486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12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40880" y="5486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자주 묻는 질문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0080" y="6199632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6199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13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280160" y="61996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카드 인덱스 · 부록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400800" y="6199632"/>
            <a:ext cx="502920" cy="50292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6199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14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040880" y="61996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핵심 요약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01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FFA500">
              <a:alpha val="75000"/>
            </a:srgbClr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🚀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01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시작하기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로그인 · 상단 툴바 · 좌측 사이드바 · 빠른 도구 허브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219456" cy="21945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로그인 &amp; 첫 셀프 진단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01 · LOGIN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https://mangoiweb.dev/admin.html 접속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🔐 관리자 로그인 모달 → 이메일·비밀번호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SSO 적용 — 메인 페이지 로그인 시 자동 통과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세션은 60분 무활동 시 자동 만료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첫 로그인 직후 👤 → 🩺 셀프 진단 한 번 실행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🔐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셀프 진단 한 번이면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D1 · KV · R2 · Workers AI · VAPID 키 상태를 한 화면에서 확인합니다.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상단 툴바 (Sticky)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01 · TOOLBAR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화면 최상단에 항상 떠 있어요. 좌→우 순서로 다섯 가지 도구.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975104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874520"/>
            <a:ext cx="1865376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🏠 홈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4672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학생용 홈으로 빠져나가기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89504" y="1874520"/>
            <a:ext cx="1975104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9504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44368" y="1874520"/>
            <a:ext cx="1865376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4136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26664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🌐 EN / KO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54096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전체 언어 즉시 전환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(강사·해외 본사용)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38928" y="1874520"/>
            <a:ext cx="1975104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8928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93792" y="1874520"/>
            <a:ext cx="1865376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76088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🔍 통합 검색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03520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메뉴/학생/강사/카드 ID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무엇이든 자동완성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88352" y="1874520"/>
            <a:ext cx="1975104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88352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43216" y="1874520"/>
            <a:ext cx="1865376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72984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72984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525512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🥭 AI 명령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552944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"오늘 매출 알려줘"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Llama 3.3 70B 자연어 응답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637776" y="1874520"/>
            <a:ext cx="1975104" cy="1645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37776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0" y="1874520"/>
            <a:ext cx="1865376" cy="1645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22408" y="2240280"/>
            <a:ext cx="1005840" cy="10058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22408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774936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👤 관리자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02368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마이페이지 · 셀프 진단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로그아웃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350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단축키: 통합 검색은 / 키를 눌러도 포커스됩니다.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좌측 사이드바 — 7 카테고리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01 · SIDEBAR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📊 대시보드/통계 — KPI · 차트 · 랭킹 · 매출 예측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👥 학생/학부모 — 목록 · 평가서 · 가족 통합 · 보고서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👨‍🏫 강사 — 목록 · MBTI · 급여 · 칭찬 · 슈퍼바이저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💰 회계 — 결제 · 손익 · 환불 · 정기결제 · 포인트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📢 알림/소통 — 카카오 · Web Push · 팝업 · NPS · FAQ 봇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🎓 교육 — 교재 · 자막 · 발음 · 녹화 · QR 출결 · AI 시간표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⚙ 시스템 — 권한 · 가맹점 · 데이터 · 초대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📁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메뉴 검색 한 번에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"이탈" 만 쳐도 카드가 노란색으로 강조되며 즉시 점프합니다.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빠른 도구 허브 (Quick Tools Hub)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8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하루 일정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897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🌅 브리핑 · 🚨 이탈 · 💰 미납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6532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392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60+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0248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관리 카드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248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페이지에서 즉시 접근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4484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912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344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056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8200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필수 카드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488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200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브리핑 · 이탈 · 신규상담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대시보드 상단 노란 박스에 항상 떠 있어, 매일 켜는 카드만 익혀도 충분합니다.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FFA500">
              <a:alpha val="20000"/>
            </a:srgbClr>
          </a:solidFill>
          <a:ln w="12700">
            <a:solidFill>
              <a:srgbClr val="FFA5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FFA500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02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👥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A5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02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/ 강사 관리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A5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등록 · 드릴다운 · 가족 통합 · MBTI 매칭 · 권한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219456" cy="219456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등록 → 6탭 드릴다운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02 · STUDENT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신규 학생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목록 카드 → ➕ 신규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이름·학년·연락처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자동 배정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auto-enrollment 으로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정규 수업 1개 자동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드릴다운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행 클릭 → 우측 슬라이드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6탭 즉시 표시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6 탭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🧑 정보 · 📅 출결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📝 평가 · 💳 결제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🎙 음성 · 🏆 배지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350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Phase 12 학생 드릴다운: 학생을 한 화면에서 360도로 파악합니다.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가족 통합 (Family Mgmt)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02 · FAMILY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card-family-mgmt — 부모 ID 선택 → 자녀 추가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둘째 자녀부터 자동 10% 할인 적용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학부모 카톡에 여러 자녀 보고서·결제 묶음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 비교 리포트(card-comparison-report) 자동 활성화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학원장 마케팅에 가장 효과적인 무기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👨‍👩‍👧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카톡 · 여러 자녀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학부모 한 사람이 자녀 2~3명의 학습을 한 카톡에서 받아 봅니다.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MBTI 매칭 + 권한 관리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02 · TEACHER · PERMISSIONS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등록 시 MBTI 16종 + 취미·스타일 입력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빠른 MBTI 테스트 모달 내장 (모르는 강사용)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MBTI 와 자동 궁합 매칭 → 추천 강사 표시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권한 매트릭스: 역할 7종 × 메뉴 50+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✅ 전체 / 👁️ 읽기만 / ❌ 차단 — 즉시 반영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🧩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이탈률 ↓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이탈률은 강사-학생 MBTI 궁합과 강한 상관관계가 있습니다.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7B61FF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03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00BFA5">
              <a:alpha val="7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🎬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7B61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03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관리 · 화상수업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B61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시간표 · QR 출결 · Ghost View · Whisper · 강제 종료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시간표 → QR 출결 자동화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03 · CLASS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풀폭 캘린더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🎓 교육 → 시간표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노란 push-back 주 이동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드래그&amp;드롭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수업을 다른 시간으로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즉시 이동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QR 생성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→ 📷 QR 출결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스캔 → 자동 출석 +10P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지각 자동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5분 이상 → late 마킹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+ 학부모 카톡 알림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350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regular · trial · level_test 3종 컬러로 한눈에 구분됩니다.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화상수업 모니터링 — Ghost View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03 · GHOST VIEW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경쟁사 대비 가장 강력한 무기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card-admin-ghost → 🔴 라이브 룸 → ghost-view.html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학생은 알 수 없는 투명 참관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no video · no audio out · only in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발화 · 시선 · 집중도 3개 지표 자동 측정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랭킹과 부모 보고서에 자동 반영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👁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Invisible Sit-In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본사에서 모든 강의실을 동시에 참관 — 강사 코칭과 품질 관리의 핵심.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슈퍼바이저 모드 (Whisper)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03 · WHISPER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card-admin-whisper — 강사에게만 들리는 귓속말 채팅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"학생 B 가 안 듣고 있어요" 등 1:1 코칭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멘토 강사가 신입 강사를 실시간 가이드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card-room-invite — 일회용 JWT 외부 참관자 초대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문제 발생 시 본사에서 강의실 강제 종료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🤫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실시간 코칭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학생은 전혀 모르고, 강사만 듣는 멘토의 한마디.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00BFA5">
              <a:alpha val="20000"/>
            </a:srgbClr>
          </a:solidFill>
          <a:ln w="12700">
            <a:solidFill>
              <a:srgbClr val="00BFA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00BFA5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04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FFC107">
              <a:alpha val="7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📝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BFA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04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 / 리포트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FA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Quick Eval · AI 초안 · 일괄 평가 · 월별 보고서 · 자녀 비교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219456" cy="21945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평가서 자동 작성 — 시간 1/5 단축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키워드만 입력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897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발음·단어·태도 등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6532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392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15→3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0248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분 (평가 1건)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248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작성 시간 단축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4484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912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344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056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70B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8200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Llama 3.3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488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200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Workers AI 모델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강사가 키워드 5개만 입력하면 학부모용 자연스러운 한국어 초안을 자동 생성합니다.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 작성 워크플로우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04 · EVAL FLOW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Quick Eval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직후 5분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5카테고리 × 5점 + 코멘트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초안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키워드 5개 입력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🤖 AI 초안 생성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Bulk Eval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반 8명 동시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표 형식 / CSV 업로드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월별 PDF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매월 1일 cron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학부모 카톡 자동 발송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350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 누락 학생은 다음 수업 차단되도록 권한 설정 가능합니다.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자녀 성장 비교 리포트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04 · COMPARISON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card-comparison-report — 학원장 마케팅 1순위 도구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같은 반 평균 vs 우리 아이 그래프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다른 아이 개인 정보는 절대 노출 없음 (평균값만)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학부모에게 자녀의 강점·약점 영역 한눈에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재등록률·NPS 상승의 핵심 트리거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📊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마케팅 무기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학부모 한 명을 잡는 가장 빠른 길은 데이터로 보여주는 자녀의 성장입니다.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FFC107">
              <a:alpha val="20000"/>
            </a:srgbClr>
          </a:solidFill>
          <a:ln w="12700">
            <a:solidFill>
              <a:srgbClr val="FFC10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FFC107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05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2196F3">
              <a:alpha val="75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💳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C10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05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결제 / 회계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C10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정기결제 · 미납 자동 · 강사 급여 · 포인트 · 손익·환불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219456" cy="219456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정기결제 → 미납 자동 (Dunning)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05 · BILLING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카드 등록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학부모 mypage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💳 정기결제 직접 등록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자동 결제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매월 같은 날짜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실패 시 3·7·14일 재시도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D+1 알림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카톡 부드러운 안내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미납 자동 감지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D+7 / D+14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강한 안내 + 강사 멘션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본사 알림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350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결제 완료 시 즉시 알림 중단 — 학부모가 불쾌함 없이 받습니다.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급여 정산 (Payroll v2)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05 · PAYROLL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card-payroll + card-payroll-auto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공식: 10분 단가 × 5카테고리 평가 가중치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매월 말일 자동 계산 → 미리보기 → 💾 확정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송금 CSV 다운로드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 점수 낮으면 단가 자동 하향 (최대 -10%)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💰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Phase 8 v2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평가 가중치가 단가에 직접 연동 — 자연스러운 품질 인센티브.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2196F3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06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E91E63">
              <a:alpha val="75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📣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2196F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06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마케팅 / 신규 유입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196F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신규상담 · 추천 친구 · NPS · 위클리 다이제스트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219456" cy="219456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신규 유입 자동화 — 4종 무기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💬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신규상담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1732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폼 → D1 → 카톡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전환률 자동 집계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044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+5K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추천 친구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519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양쪽 5000P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SNS 추천 카드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NPS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월간 설문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866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매월 1일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카톡 자동 발송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8972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>
              <a:alpha val="22000"/>
            </a:srgbClr>
          </a:solidFill>
          <a:ln w="12700">
            <a:solidFill>
              <a:srgbClr val="00BFA5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주1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2688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다이제스트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2124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일요일 저녁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학부모 요약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신규상담 노쇼 시 24시간 후 자동 리마인드 — 전환률 향상의 숨은 무기.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E91E63">
              <a:alpha val="20000"/>
            </a:srgbClr>
          </a:solidFill>
          <a:ln w="12700">
            <a:solidFill>
              <a:srgbClr val="E91E6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E91E63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07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4CAF50">
              <a:alpha val="75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🤖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E91E6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07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자동화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91E6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매일 새벽 03:00 KST 에 cron 으로 일하는 6 가지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219456" cy="219456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관리자가 모르는 사이에 일하는 6 가지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07 · AI CRON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🌅 매일 아침 브리핑 → 본사 임원 카톡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🚨 이탈 위험 → 3주 출석률·평가 하락 자동 감지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💰 미납 자동 → D+1/+7/+14 단계별 알림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📈 매출·이탈 예측 → 향후 3개월 그래프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📅 AI 시간표 → 가용시간 + MBTI 최적 매칭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🤖 학부모 FAQ 봇 → 카톡 자동 답변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🤖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1주씩 검증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번에 다 켜지 말고 이탈 위험 → 미납 자동 → 매일 브리핑 순으로.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4CAF50">
              <a:alpha val="20000"/>
            </a:srgbClr>
          </a:solidFill>
          <a:ln w="12700">
            <a:solidFill>
              <a:srgbClr val="4CAF5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4CAF50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08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FF5722">
              <a:alpha val="75000"/>
            </a:srgbClr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📚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4CAF5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08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콘텐츠 관리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CAF5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Mini TOEIC · 단어장 · 비디오 자막 · 발음 코칭 · 교재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219456" cy="21945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학습 콘텐츠 5종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08 · CONTENT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975104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1865376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Mini TOEIC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10문항 자동 생성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오답 패턴 분석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89504" y="1874520"/>
            <a:ext cx="1975104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9504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44368" y="1874520"/>
            <a:ext cx="1865376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4136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026664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단어장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54096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SR3 간격 반복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MLA 자동 추가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38928" y="1874520"/>
            <a:ext cx="1975104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3792" y="1874520"/>
            <a:ext cx="1865376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76088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비디오 자막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03520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자막 클릭 → 단어 팝업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단어장 자동 저장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88352" y="1874520"/>
            <a:ext cx="1975104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88352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43216" y="1874520"/>
            <a:ext cx="1865376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72984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72984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25512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발음 코칭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552944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Whisper STT + TTS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14일 점수 그래프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637776" y="1874520"/>
            <a:ext cx="1975104" cy="1645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37776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1874520"/>
            <a:ext cx="1865376" cy="1645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22408" y="2240280"/>
            <a:ext cx="1005840" cy="10058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22408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774936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교재 (Phase 39)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802368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PDF/JPG/PNG → R2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교재→챕터→유닛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350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비디오 자막의 자동 단어장 추가는 Phase MLA — 학생 수준에 맞춰 자동 큐레이션.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FF5722">
              <a:alpha val="20000"/>
            </a:srgbClr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FF5722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09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3F51B5">
              <a:alpha val="75000"/>
            </a:srgbClr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🔔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5722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09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알림 / 소통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5722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카카오 알림톡 · Web Push · 팝업 공지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1568" y="6035040"/>
            <a:ext cx="219456" cy="219456"/>
          </a:xfrm>
          <a:prstGeom prst="ellipse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카카오 알림톡 + Web Push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09 · NOTIFY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card-kakao-mgmt — 비즈센터 등록 → 템플릿 ID → 발송 큐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자동 트리거: 평가서·미납·다이제스트·NPS·QR 지각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Phase K5: 학부모 카톡 답장 → 망고이 채팅 자동 라우팅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Web Push (VAPID) — 수업 5분 전 · 평가서 · 배지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iOS Safari 16.4+ + PWA 설치 후에만 동작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🔔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VAPID 주의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VAPID 키는 한 번 생성하면 절대 바꾸지 마세요. 기존 구독자 전부 무효화됩니다.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3F51B5">
              <a:alpha val="20000"/>
            </a:srgbClr>
          </a:solidFill>
          <a:ln w="12700">
            <a:solidFill>
              <a:srgbClr val="3F51B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3F51B5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10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🩺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3F51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10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모니터링 / 셀프 진단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F51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실시간 알림 · 셀프 진단 · KPI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1568" y="6035040"/>
            <a:ext cx="146304" cy="146304"/>
          </a:xfrm>
          <a:prstGeom prst="ellipse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12464" y="6035040"/>
            <a:ext cx="219456" cy="219456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셀프 진단 + KPI 대시보드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KPI 박스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897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매출 · 신규 · 출석 · NPS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6532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392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6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0248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헬스체크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248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D1·KV·R2·AI·VAPID·Kakao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4484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912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344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056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🔴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8200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실시간 뱃지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488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200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우상단 미확인 개수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card-admin-alerts: 강의실 끊김·서버 에러·결제 실패·미응답 한 화면.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트러블슈팅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Troubleshooting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72184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721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!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71600" y="1280160"/>
            <a:ext cx="4572000" cy="978408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325880"/>
            <a:ext cx="429768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화면이 이상해요 (캐시)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89320" y="1280160"/>
            <a:ext cx="457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2400" dirty="0">
              <a:latin typeface="Gulim"/>
              <a:ea typeface="Gulim"/>
              <a:cs typeface="Gulim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92240" y="1280160"/>
            <a:ext cx="5120640" cy="978408"/>
          </a:xfrm>
          <a:prstGeom prst="roundRect">
            <a:avLst>
              <a:gd name="adj" fmla="val 1121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325880"/>
            <a:ext cx="4846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홈 🧹 캐시 비우기 → Ctrl+Shift+R → 🩺 셀프 진단 SW 강제 해제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587752"/>
            <a:ext cx="640080" cy="64008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87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!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71600" y="2395728"/>
            <a:ext cx="4572000" cy="978408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2441448"/>
            <a:ext cx="429768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배포 실패 / 빌드 깨짐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89320" y="2395728"/>
            <a:ext cx="457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2400" dirty="0">
              <a:latin typeface="Gulim"/>
              <a:ea typeface="Gulim"/>
              <a:cs typeface="Gulim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2240" y="2395728"/>
            <a:ext cx="5120640" cy="978408"/>
          </a:xfrm>
          <a:prstGeom prst="roundRect">
            <a:avLst>
              <a:gd name="adj" fmla="val 1121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441448"/>
            <a:ext cx="4846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BUILD_STAMP 한 자리 올려 재배포. 부모 폴더 wrangler.jsonc 경고 — 항상 --config 명시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640080" cy="64008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!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371600" y="3511296"/>
            <a:ext cx="4572000" cy="978408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3557016"/>
            <a:ext cx="429768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D1 스키마 충돌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89320" y="3511296"/>
            <a:ext cx="457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2400" dirty="0">
              <a:latin typeface="Gulim"/>
              <a:ea typeface="Gulim"/>
              <a:cs typeface="Gulim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2240" y="3511296"/>
            <a:ext cx="5120640" cy="978408"/>
          </a:xfrm>
          <a:prstGeom prst="roundRect">
            <a:avLst>
              <a:gd name="adj" fmla="val 1121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557016"/>
            <a:ext cx="4846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Phase 37b 누락 컬럼 보강 엔드포인트 또는 card-test-seed → 🧪 일괄 셋업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" y="4818888"/>
            <a:ext cx="640080" cy="6400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18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!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371600" y="4626864"/>
            <a:ext cx="4572000" cy="978408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4672584"/>
            <a:ext cx="429768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새 API 가 404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89320" y="4626864"/>
            <a:ext cx="457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2400" dirty="0">
              <a:latin typeface="Gulim"/>
              <a:ea typeface="Gulim"/>
              <a:cs typeface="Gulim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92240" y="4626864"/>
            <a:ext cx="5120640" cy="978408"/>
          </a:xfrm>
          <a:prstGeom prst="roundRect">
            <a:avLst>
              <a:gd name="adj" fmla="val 1121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672584"/>
            <a:ext cx="4846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src/index.ts 화이트리스트에도 라우트 등록 — 안 하면 HTML fallback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934456"/>
            <a:ext cx="640080" cy="64008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9344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!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371600" y="5742432"/>
            <a:ext cx="4572000" cy="978408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8760" y="5788152"/>
            <a:ext cx="429768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Web Push 안 와요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989320" y="5742432"/>
            <a:ext cx="457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</a:t>
            </a:r>
            <a:endParaRPr lang="en-US" sz="2400" dirty="0">
              <a:latin typeface="Gulim"/>
              <a:ea typeface="Gulim"/>
              <a:cs typeface="Gulim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92240" y="5742432"/>
            <a:ext cx="5120640" cy="978408"/>
          </a:xfrm>
          <a:prstGeom prst="roundRect">
            <a:avLst>
              <a:gd name="adj" fmla="val 1121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5788152"/>
            <a:ext cx="4846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셀프 진단 VAPID → 브라우저 알림 허용 → iOS 16.4+ PWA 필수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자주 묻는 질문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FAQ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530352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36192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14447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카드가 너무 많아요. 어디부터?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205740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🥭 빠른 도구 허브 8개부터. 그 다음 좌측 사이드바를 5분씩 둘러보세요.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280160"/>
            <a:ext cx="5303520" cy="10972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536192"/>
            <a:ext cx="548640" cy="5486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86600" y="14447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데이터가 안 보여요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86600" y="205740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메뉴 검색에 "학생" → 학생 목록 점프. 가맹점·지사 필터 적용 여부 확인.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13944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39440"/>
            <a:ext cx="530352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395472"/>
            <a:ext cx="548640" cy="5486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95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17320" y="33040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평가서가 학부모에 안 갔어요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17320" y="391668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카톡 발송 큐 → 학부모 카톡 번호 → 카카오 비즈센터 잔액 순으로 점검.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09360" y="313944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139440"/>
            <a:ext cx="530352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395472"/>
            <a:ext cx="548640" cy="5486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95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86600" y="33040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자동화가 동작 안 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86600" y="391668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wrangler.toml [triggers.crons] → 셀프 진단 → 카드 ⚙ "활성화" 토글.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499872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998720"/>
            <a:ext cx="5303520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254752"/>
            <a:ext cx="548640" cy="5486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254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417320" y="51633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강사가 평가서를 자꾸 빼먹어요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17320" y="577596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Bulk Eval + AI 초안 안내. 누락 시 다음 수업 차단 권한 설정 가능.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09360" y="499872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4998720"/>
            <a:ext cx="5303520" cy="1097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5254752"/>
            <a:ext cx="548640" cy="5486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5254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86600" y="51633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영어로 바뀌었어요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86600" y="577596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우상단 🌐 EN ↔ KO 토글. localStorage 저장으로 다음 접속 유지.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카드 인덱스 — 자주 찾는 30+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APPENDIX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card-kpi-dashboard / card-daily-briefing / card-retention-risk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card-auto-dunning / card-ai-forecast / card-rankings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card-students-mgmt / card-eval-mgmt / card-bulk-eval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card-ai-eval-draft / card-monthly-report / card-comparison-report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card-family-mgmt / card-admin-ghost / card-admin-whisper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card-payroll-auto / card-praise-stats / card-supervisor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card-kakao-mgmt / card-webpush-mgmt / card-parent-faq-bot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card-pronunciation / card-mini-toeic / card-auto-schedule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📇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Ctrl+F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관리자 콘솔에서 카드 ID 또는 한글 이름을 검색하면 가장 빠릅니다.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매일 켜야 하는 카드는 단 3개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🌅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매일 아침 브리핑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897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오늘 무슨 일이 있는지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6532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392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🚨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0248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이탈 위험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248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누구를 챙겨야 하는지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4484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912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344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056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💬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8200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신규상담 처리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488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200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새로 들어온 문의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나머지는 자동화 + 강사·학부모 셀프 서비스가 처리합니다.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463040"/>
            <a:ext cx="4937760" cy="4937760"/>
          </a:xfrm>
          <a:prstGeom prst="ellipse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1E276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97135" y="91440"/>
            <a:ext cx="2194560" cy="2194560"/>
          </a:xfrm>
          <a:prstGeom prst="ellipse">
            <a:avLst/>
          </a:prstGeom>
          <a:solidFill>
            <a:srgbClr val="7B61FF">
              <a:alpha val="55000"/>
            </a:srgbClr>
          </a:solidFill>
          <a:ln w="12700">
            <a:solidFill>
              <a:srgbClr val="7B61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FBBF24">
              <a:alpha val="40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120640"/>
            <a:ext cx="1463040" cy="1463040"/>
          </a:xfrm>
          <a:prstGeom prst="ellipse">
            <a:avLst/>
          </a:prstGeom>
          <a:solidFill>
            <a:srgbClr val="F96167">
              <a:alpha val="60000"/>
            </a:srgbClr>
          </a:solidFill>
          <a:ln w="12700">
            <a:solidFill>
              <a:srgbClr val="F9616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11480"/>
            <a:ext cx="103629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1234" y="411480"/>
            <a:ext cx="1036290" cy="914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22387" y="411480"/>
            <a:ext cx="103629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13541" y="411480"/>
            <a:ext cx="103629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04694" y="411480"/>
            <a:ext cx="103629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48" y="411480"/>
            <a:ext cx="1036290" cy="914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87001" y="411480"/>
            <a:ext cx="1036290" cy="914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8155" y="411480"/>
            <a:ext cx="1036290" cy="91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69308" y="411480"/>
            <a:ext cx="1036290" cy="9144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0462" y="411480"/>
            <a:ext cx="1036290" cy="914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2848" y="960120"/>
            <a:ext cx="2286000" cy="2286000"/>
          </a:xfrm>
          <a:prstGeom prst="ellipse">
            <a:avLst/>
          </a:prstGeom>
          <a:solidFill>
            <a:srgbClr val="FFA500">
              <a:alpha val="45000"/>
            </a:srgbClr>
          </a:solidFill>
          <a:ln w="12700">
            <a:solidFill>
              <a:srgbClr val="FFA500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1448" y="1188720"/>
            <a:ext cx="1828800" cy="18288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1448" y="1188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🥭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보지 않아도 일이 되도록</a:t>
            </a:r>
            <a:endParaRPr lang="en-US" sz="40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71600" y="4251960"/>
            <a:ext cx="9418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"망고아이 콘솔은 관리자가 매일 켜지 않아도 학원이 돌아가도록 설계되었습니다.</a:t>
            </a:r>
            <a:endParaRPr lang="en-US" sz="17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매일 켜야 할 카드는 단 3개 — 나머지는 자동화가 처리합니다."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5897880"/>
            <a:ext cx="103629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1234" y="5897880"/>
            <a:ext cx="1036290" cy="7315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22387" y="5897880"/>
            <a:ext cx="1036290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13541" y="5897880"/>
            <a:ext cx="103629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04694" y="5897880"/>
            <a:ext cx="103629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5848" y="5897880"/>
            <a:ext cx="103629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001" y="5897880"/>
            <a:ext cx="103629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8155" y="5897880"/>
            <a:ext cx="103629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69308" y="5897880"/>
            <a:ext cx="1036290" cy="73152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60462" y="5897880"/>
            <a:ext cx="1036290" cy="7315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spc="400" kern="0" dirty="0">
                <a:solidFill>
                  <a:srgbClr val="CADCF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— MANGOI TEAM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54667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54666" y="0"/>
            <a:ext cx="1354667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9333" y="0"/>
            <a:ext cx="1354667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0"/>
            <a:ext cx="1354667" cy="365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8666" y="0"/>
            <a:ext cx="1354667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73333" y="0"/>
            <a:ext cx="1354667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0" y="0"/>
            <a:ext cx="1354667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82666" y="0"/>
            <a:ext cx="1354667" cy="365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37333" y="0"/>
            <a:ext cx="1354667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914400"/>
            <a:ext cx="112776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0" b="0">
                <a:solidFill>
                  <a:srgbClr val="FBBF24"/>
                </a:solidFill>
                <a:latin typeface="Gulim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127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Gulim"/>
              </a:rPr>
              <a:t>영어 약자 쉬운 사전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DE047"/>
                </a:solidFill>
                <a:latin typeface="Gulim"/>
              </a:rPr>
              <a:t>초등 6학년도 한 번에 이해할 수 있게!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6035040"/>
            <a:ext cx="320040" cy="3200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603504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603504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6035040"/>
            <a:ext cx="320040" cy="3200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603504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6035040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Gulim"/>
              </a:rPr>
              <a:t>총 16개 약자 · 그림과 함께 쉬운 한국어로 풀이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4C1D95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컴퓨터가 사람처럼 생각하고 배우는 '똑똑한 두뇌'. 망고아이에서는 AI가 발음을 들어주고, 영작 숙제를 고쳐주고, 단어 뜻을 알려줘요.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알파고, 챗GPT, 망고아이의 발음 점수 매기는 친구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BFDBFE"/>
                </a:solidFill>
                <a:latin typeface="Gulim"/>
              </a:rPr>
              <a:t>PWA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Progressive Web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홈페이지인데 '앱처럼' 휴대폰 바탕화면에 설치할 수 있는 마법! 인터넷이 잠깐 끊겨도 사용할 수 있어요.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'앱 설치' 누르면 바탕화면에 망고아이 아이콘이 생겨요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64E3B"/>
          </a:solidFill>
          <a:ln w="317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EE7B7"/>
                </a:solidFill>
                <a:latin typeface="Gulim"/>
              </a:rPr>
              <a:t>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Single Sign-On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한 번만 로그인하면 모든 곳에 자동으로 들어가져요. 화상수업, 평가서, 단어장 — 다시 비밀번호 안 적어도 돼요!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학생증 하나로 도서관·식당·교실 다 들어가는 것과 같아요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831843"/>
          </a:solidFill>
          <a:ln w="3175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9A8D4"/>
                </a:solidFill>
                <a:latin typeface="Gulim"/>
              </a:rPr>
              <a:t>WebRTC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Web Real-Time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인터넷으로 얼굴을 보면서 실시간으로 이야기하는 기술! 줌이나 망고아이 화상수업이 이걸로 만들어졌어요.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멀리 있는 미국 선생님과 옆에 있는 것처럼 영어 수업!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7C2D12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TOEIC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Test Of English for International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'국제 영어 의사소통 시험'. 듣기와 읽기로 영어 실력을 점수로 보여줘요. 망고아이의 미니 토익은 짧고 재밌게 만든 버전!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진짜 토익은 990점 만점, 망고아이 미니는 100점 만점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7F1D1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Portable Document 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어떤 컴퓨터·휴대폰에서 열어도 '똑같이 보이는' 문서. 교재나 평가서를 PDF로 저장하면 폰트가 깨지지 않아요!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선생님 PDF 교재를 칠판에 띄워서 같이 봐요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C4A6E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Quick Response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휴대폰 카메라로 찍으면 '뿅' 하고 정보가 열리는 사각형 무늬! 망고아이에서는 출석체크를 QR로 1초만에 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식당 메뉴, 백신 인증, 망고아이 출석 — 모두 QR!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34E4A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FAQ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Frequently Asked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'자주 묻는 질문'이라는 뜻. 다른 학생들이 많이 궁금해했던 걸 미리 모아둔 도움말이에요!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'결제 어떻게?' '수업 빠지면?' 같은 답이 FAQ에 있어요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312E81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Application Programming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프로그램끼리 서로 이야기할 때 쓰는 '약속된 언어'. 망고아이 화면이 서버랑 대화할 때 API를 써요.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카톡 보내기, 출석부 기록 — 모두 API가 일해요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581C87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STT / TTS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Speech-to-Text / Text-to-Speech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STT는 '말 → 글'(받아쓰기 AI), TTS는 '글 → 말'(읽어주는 AI)! 망고아이 발음 점수와 음성 안내가 이걸로 작동.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시리가 듣는 게 STT, 시리가 말하는 게 TTS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Key Performance Indicator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'핵심 성과 지표' — 학원이 얼마나 잘 되고 있는지 알려주는 중요한 숫자들. 학생 수, 출석률 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학생 KPI=시험점수, 학원 KPI=학생 만족도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7C2D12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NPS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Net Promoter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친구에게 추천하고 싶은 정도를 0~10점으로 물어본 점수. '망고아이를 친구에게 추천하실 건가요?' 같은 질문!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9~10=완전 좋아 / 0~6=별로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881337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Peer-to-Peer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'친구 대 친구'로 직접 연결한다는 뜻! 망고아이 영어 배틀에서 두 학생이 서버 없이 바로 연결돼서 게임해요.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두 폰이 사진 주고받는 에어드롭과 같아요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3B0764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MBTI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Myers-Briggs Type Indicator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성격을 16가지 유형으로 나눈 '성격 분류표'. ENFP, INTJ 같은 4글자로 표시. 망고아이는 강사·학생을 MBTI로 매칭!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E=활발, I=조용, N=상상, S=현실, F=감정, T=논리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BBF24"/>
                </a:solidFill>
                <a:latin typeface="Gulim"/>
              </a:rPr>
              <a:t>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JSON Web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놀이공원 입장권 같은 '디지털 티켓'. 망고아이 화상수업에 들어갈 때 JWT 티켓이 있어야 입장 가능!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영화 QR 티켓처럼, 비밀번호가 들어간 티켓!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64E63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VAPID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Voluntary Application Server 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휴대폰에 '띵동!' 알림을 보내려면 망고아이 서버를 증명하는 VAPID 열쇠가 필요. 가짜 광고 차단용 신분증!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택배기사 신분증처럼, 알림 보낼 때 보여줘요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0" b="0">
                <a:solidFill>
                  <a:srgbClr val="F472B6"/>
                </a:solidFill>
                <a:latin typeface="Gulim"/>
              </a:rPr>
              <a:t>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ulim"/>
              </a:rPr>
              <a:t>모르는 약자가 있으면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DE047"/>
                </a:solidFill>
                <a:latin typeface="Gulim"/>
              </a:rPr>
              <a:t>📖 단어 사전(보라색 동그라미 버튼)에 입력해보세요!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Gulim"/>
              </a:rPr>
              <a:t>AI 가 즉시 한국어로 풀어드립니다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Gulim"/>
        <a:cs typeface="Gulim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Gulim"/>
        <a:cs typeface="Gulim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망고아이 관리자 매뉴얼</dc:title>
  <dc:subject>PptxGenJS Presentation</dc:subject>
  <dc:creator>PptxGenJS</dc:creator>
  <cp:lastModifiedBy>PptxGenJS</cp:lastModifiedBy>
  <cp:revision>1</cp:revision>
  <dcterms:created xsi:type="dcterms:W3CDTF">2026-05-21T17:10:42Z</dcterms:created>
  <dcterms:modified xsi:type="dcterms:W3CDTF">2026-05-21T17:10:42Z</dcterms:modified>
</cp:coreProperties>
</file>