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Gulim"/>
                <a:ea typeface="Gulim"/>
                <a:cs typeface="Gulim"/>
              </a:defRPr>
            </a:lvl1pPr>
          </a:lstStyle>
          <a:p>
            <a:endParaRPr lang="en-US">
              <a:latin typeface="Gulim"/>
              <a:ea typeface="Gulim"/>
              <a:cs typeface="Gulim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Gulim"/>
                <a:ea typeface="Gulim"/>
                <a:cs typeface="Gulim"/>
              </a:defRPr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>
              <a:latin typeface="Gulim"/>
              <a:ea typeface="Gulim"/>
              <a:cs typeface="Gulim"/>
            </a:endParaRP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>
              <a:latin typeface="Gulim"/>
              <a:ea typeface="Gulim"/>
              <a:cs typeface="Gulim"/>
            </a:endParaRPr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Gulim"/>
                <a:ea typeface="Gulim"/>
                <a:cs typeface="Gulim"/>
              </a:defRPr>
            </a:lvl1pPr>
          </a:lstStyle>
          <a:p>
            <a:endParaRPr lang="en-US">
              <a:latin typeface="Gulim"/>
              <a:ea typeface="Gulim"/>
              <a:cs typeface="Gulim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Gulim"/>
                <a:ea typeface="Gulim"/>
                <a:cs typeface="Gulim"/>
              </a:defRPr>
            </a:lvl1pPr>
          </a:lstStyle>
          <a:p>
            <a:fld id="{CE5E9CC1-C706-0F49-92D6-E571CC5EEA8F}" type="slidenum">
              <a:rPr lang="en-US"/>
              <a:t>‹#›</a:t>
            </a:fld>
            <a:endParaRPr lang="en-US">
              <a:latin typeface="Gulim"/>
              <a:ea typeface="Gulim"/>
              <a:cs typeface="Gulim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>
              <a:latin typeface="Gulim"/>
              <a:ea typeface="Gulim"/>
              <a:cs typeface="Gulim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>
              <a:latin typeface="Gulim"/>
              <a:ea typeface="Gulim"/>
              <a:cs typeface="Gulim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>
              <a:latin typeface="Gulim"/>
              <a:ea typeface="Gulim"/>
              <a:cs typeface="Gulim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>
              <a:latin typeface="Gulim"/>
              <a:ea typeface="Gulim"/>
              <a:cs typeface="Gulim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>
              <a:latin typeface="Gulim"/>
              <a:ea typeface="Gulim"/>
              <a:cs typeface="Gulim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>
              <a:latin typeface="Gulim"/>
              <a:ea typeface="Gulim"/>
              <a:cs typeface="Gulim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>
              <a:latin typeface="Gulim"/>
              <a:ea typeface="Gulim"/>
              <a:cs typeface="Gulim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>
              <a:latin typeface="Gulim"/>
              <a:ea typeface="Gulim"/>
              <a:cs typeface="Gulim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>
              <a:latin typeface="Gulim"/>
              <a:ea typeface="Gulim"/>
              <a:cs typeface="Gulim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>
              <a:latin typeface="Gulim"/>
              <a:ea typeface="Gulim"/>
              <a:cs typeface="Gulim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>
              <a:latin typeface="Gulim"/>
              <a:ea typeface="Gulim"/>
              <a:cs typeface="Gulim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>
              <a:latin typeface="Gulim"/>
              <a:ea typeface="Gulim"/>
              <a:cs typeface="Gulim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>
              <a:latin typeface="Gulim"/>
              <a:ea typeface="Gulim"/>
              <a:cs typeface="Gulim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>
              <a:latin typeface="Gulim"/>
              <a:ea typeface="Gulim"/>
              <a:cs typeface="Gulim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>
              <a:latin typeface="Gulim"/>
              <a:ea typeface="Gulim"/>
              <a:cs typeface="Gulim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>
              <a:latin typeface="Gulim"/>
              <a:ea typeface="Gulim"/>
              <a:cs typeface="Gulim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>
              <a:latin typeface="Gulim"/>
              <a:ea typeface="Gulim"/>
              <a:cs typeface="Gulim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>
              <a:latin typeface="Gulim"/>
              <a:ea typeface="Gulim"/>
              <a:cs typeface="Gulim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>
              <a:latin typeface="Gulim"/>
              <a:ea typeface="Gulim"/>
              <a:cs typeface="Gulim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>
              <a:latin typeface="Gulim"/>
              <a:ea typeface="Gulim"/>
              <a:cs typeface="Gulim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>
              <a:latin typeface="Gulim"/>
              <a:ea typeface="Gulim"/>
              <a:cs typeface="Gulim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>
              <a:latin typeface="Gulim"/>
              <a:ea typeface="Gulim"/>
              <a:cs typeface="Gulim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>
              <a:latin typeface="Gulim"/>
              <a:ea typeface="Gulim"/>
              <a:cs typeface="Gulim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>
              <a:latin typeface="Gulim"/>
              <a:ea typeface="Gulim"/>
              <a:cs typeface="Gulim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>
              <a:latin typeface="Gulim"/>
              <a:ea typeface="Gulim"/>
              <a:cs typeface="Gulim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>
              <a:latin typeface="Gulim"/>
              <a:ea typeface="Gulim"/>
              <a:cs typeface="Gulim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>
              <a:latin typeface="Gulim"/>
              <a:ea typeface="Gulim"/>
              <a:cs typeface="Gulim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>
              <a:latin typeface="Gulim"/>
              <a:ea typeface="Gulim"/>
              <a:cs typeface="Gulim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>
              <a:latin typeface="Gulim"/>
              <a:ea typeface="Gulim"/>
              <a:cs typeface="Gulim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>
              <a:latin typeface="Gulim"/>
              <a:ea typeface="Gulim"/>
              <a:cs typeface="Gulim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>
              <a:latin typeface="Gulim"/>
              <a:ea typeface="Gulim"/>
              <a:cs typeface="Gulim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>
              <a:latin typeface="Gulim"/>
              <a:ea typeface="Gulim"/>
              <a:cs typeface="Gulim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>
              <a:latin typeface="Gulim"/>
              <a:ea typeface="Gulim"/>
              <a:cs typeface="Gulim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>
              <a:latin typeface="Gulim"/>
              <a:ea typeface="Gulim"/>
              <a:cs typeface="Gulim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>
              <a:latin typeface="Gulim"/>
              <a:ea typeface="Gulim"/>
              <a:cs typeface="Gulim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>
              <a:latin typeface="Gulim"/>
              <a:ea typeface="Gulim"/>
              <a:cs typeface="Gulim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>
              <a:latin typeface="Gulim"/>
              <a:ea typeface="Gulim"/>
              <a:cs typeface="Gulim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>
              <a:latin typeface="Gulim"/>
              <a:ea typeface="Gulim"/>
              <a:cs typeface="Gulim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>
          <a:latin typeface="Gulim"/>
          <a:ea typeface="Gulim"/>
          <a:cs typeface="Gulim"/>
        </a:defRPr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F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36815" y="-2194560"/>
            <a:ext cx="5486400" cy="5486400"/>
          </a:xfrm>
          <a:prstGeom prst="ellipse">
            <a:avLst/>
          </a:prstGeom>
          <a:solidFill>
            <a:srgbClr val="6D2E46">
              <a:alpha val="70000"/>
            </a:srgbClr>
          </a:solidFill>
          <a:ln w="12700">
            <a:solidFill>
              <a:srgbClr val="6D2E46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265615" y="-1005840"/>
            <a:ext cx="2743200" cy="2743200"/>
          </a:xfrm>
          <a:prstGeom prst="ellipse">
            <a:avLst/>
          </a:prstGeom>
          <a:solidFill>
            <a:srgbClr val="7B61FF">
              <a:alpha val="45000"/>
            </a:srgbClr>
          </a:solidFill>
          <a:ln w="12700">
            <a:solidFill>
              <a:srgbClr val="7B61FF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645920" y="3749040"/>
            <a:ext cx="3840480" cy="3840480"/>
          </a:xfrm>
          <a:prstGeom prst="ellipse">
            <a:avLst/>
          </a:prstGeom>
          <a:solidFill>
            <a:srgbClr val="A26769">
              <a:alpha val="40000"/>
            </a:srgbClr>
          </a:solidFill>
          <a:ln w="12700">
            <a:solidFill>
              <a:srgbClr val="A26769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94415" y="3063240"/>
            <a:ext cx="731520" cy="731520"/>
          </a:xfrm>
          <a:prstGeom prst="ellipse">
            <a:avLst/>
          </a:prstGeom>
          <a:solidFill>
            <a:srgbClr val="F96167">
              <a:alpha val="60000"/>
            </a:srgbClr>
          </a:solidFill>
          <a:ln w="12700">
            <a:solidFill>
              <a:srgbClr val="F96167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108960" y="457200"/>
            <a:ext cx="548640" cy="548640"/>
          </a:xfrm>
          <a:prstGeom prst="ellipse">
            <a:avLst/>
          </a:prstGeom>
          <a:solidFill>
            <a:srgbClr val="00BFA5">
              <a:alpha val="70000"/>
            </a:srgbClr>
          </a:solidFill>
          <a:ln w="12700">
            <a:solidFill>
              <a:srgbClr val="00BFA5">
                <a:alpha val="7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6693408"/>
            <a:ext cx="411480" cy="91440"/>
          </a:xfrm>
          <a:prstGeom prst="rect">
            <a:avLst/>
          </a:prstGeom>
          <a:solidFill>
            <a:srgbClr val="F96167">
              <a:alpha val="90000"/>
            </a:srgbClr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34440" y="6693408"/>
            <a:ext cx="411480" cy="91440"/>
          </a:xfrm>
          <a:prstGeom prst="rect">
            <a:avLst/>
          </a:prstGeom>
          <a:solidFill>
            <a:srgbClr val="FFA500">
              <a:alpha val="90000"/>
            </a:srgbClr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37360" y="6693408"/>
            <a:ext cx="411480" cy="91440"/>
          </a:xfrm>
          <a:prstGeom prst="rect">
            <a:avLst/>
          </a:prstGeom>
          <a:solidFill>
            <a:srgbClr val="7B61FF">
              <a:alpha val="90000"/>
            </a:srgbClr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40280" y="6693408"/>
            <a:ext cx="411480" cy="91440"/>
          </a:xfrm>
          <a:prstGeom prst="rect">
            <a:avLst/>
          </a:prstGeom>
          <a:solidFill>
            <a:srgbClr val="00BFA5">
              <a:alpha val="90000"/>
            </a:srgbClr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0" y="6693408"/>
            <a:ext cx="411480" cy="91440"/>
          </a:xfrm>
          <a:prstGeom prst="rect">
            <a:avLst/>
          </a:prstGeom>
          <a:solidFill>
            <a:srgbClr val="FFC107">
              <a:alpha val="90000"/>
            </a:srgbClr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6693408"/>
            <a:ext cx="411480" cy="91440"/>
          </a:xfrm>
          <a:prstGeom prst="rect">
            <a:avLst/>
          </a:prstGeom>
          <a:solidFill>
            <a:srgbClr val="2196F3">
              <a:alpha val="90000"/>
            </a:srgbClr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64008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800" kern="0" dirty="0">
                <a:solidFill>
                  <a:srgbClr val="ECE2D0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MANGOI</a:t>
            </a:r>
            <a:endParaRPr lang="en-US" sz="1600" dirty="0">
              <a:latin typeface="Gulim"/>
              <a:ea typeface="Gulim"/>
              <a:cs typeface="Gulim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94360" y="1234440"/>
            <a:ext cx="1737360" cy="1737360"/>
          </a:xfrm>
          <a:prstGeom prst="ellipse">
            <a:avLst/>
          </a:prstGeom>
          <a:solidFill>
            <a:srgbClr val="F96167">
              <a:alpha val="50000"/>
            </a:srgbClr>
          </a:solidFill>
          <a:ln w="12700">
            <a:solidFill>
              <a:srgbClr val="F96167">
                <a:alpha val="5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1371600"/>
            <a:ext cx="1463040" cy="1463040"/>
          </a:xfrm>
          <a:prstGeom prst="ellipse">
            <a:avLst/>
          </a:prstGeom>
          <a:solidFill>
            <a:srgbClr val="6D2E46"/>
          </a:solidFill>
          <a:ln w="38100">
            <a:solidFill>
              <a:srgbClr val="A267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1371600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000000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💛</a:t>
            </a:r>
            <a:endParaRPr lang="en-US" sz="7200" dirty="0">
              <a:latin typeface="Gulim"/>
              <a:ea typeface="Gulim"/>
              <a:cs typeface="Gulim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31520" y="306324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5400" b="1" dirty="0">
                <a:solidFill>
                  <a:srgbClr val="ECE2D0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망고아이</a:t>
            </a:r>
            <a:endParaRPr lang="en-US" sz="5400" dirty="0">
              <a:latin typeface="Gulim"/>
              <a:ea typeface="Gulim"/>
              <a:cs typeface="Gulim"/>
            </a:endParaRPr>
          </a:p>
          <a:p>
            <a:pPr indent="0" marL="0">
              <a:lnSpc>
                <a:spcPct val="110000"/>
              </a:lnSpc>
              <a:buNone/>
            </a:pPr>
            <a:r>
              <a:rPr lang="en-US" sz="5400" b="1" dirty="0">
                <a:solidFill>
                  <a:srgbClr val="ECE2D0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학부모 안내서</a:t>
            </a:r>
            <a:endParaRPr lang="en-US" sz="5400" dirty="0">
              <a:latin typeface="Gulim"/>
              <a:ea typeface="Gulim"/>
              <a:cs typeface="Gulim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31520" y="46177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ECE2D0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자녀의 학습을 한눈에 보시고, 따뜻한 응원을 함께 나누세요.</a:t>
            </a:r>
            <a:endParaRPr lang="en-US" sz="2000" dirty="0">
              <a:latin typeface="Gulim"/>
              <a:ea typeface="Gulim"/>
              <a:cs typeface="Gulim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31520" y="54406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CE2D0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Berry &amp; Cream · Watch Your Child Grow With Warmth</a:t>
            </a:r>
            <a:endParaRPr lang="en-US" sz="1600" dirty="0">
              <a:latin typeface="Gulim"/>
              <a:ea typeface="Gulim"/>
              <a:cs typeface="Gulim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31520" y="62179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ECE2D0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For Parents · 2026 · Welcome to the Mangoi Family</a:t>
            </a:r>
            <a:endParaRPr lang="en-US" sz="1200" dirty="0">
              <a:latin typeface="Gulim"/>
              <a:ea typeface="Gulim"/>
              <a:cs typeface="Guli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F1B2A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목차</a:t>
            </a:r>
            <a:endParaRPr lang="en-US" sz="4000" dirty="0">
              <a:latin typeface="Gulim"/>
              <a:ea typeface="Gulim"/>
              <a:cs typeface="Gulim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spc="400" kern="0" dirty="0">
                <a:solidFill>
                  <a:srgbClr val="6D2E46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Contents</a:t>
            </a:r>
            <a:endParaRPr lang="en-US" sz="1600" dirty="0">
              <a:latin typeface="Gulim"/>
              <a:ea typeface="Gulim"/>
              <a:cs typeface="Gulim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02920" cy="50292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01</a:t>
            </a:r>
            <a:endParaRPr lang="en-US" sz="1400" dirty="0">
              <a:latin typeface="Gulim"/>
              <a:ea typeface="Gulim"/>
              <a:cs typeface="Gulim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80160" y="192024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F1B2A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부모 대시보드 — 한 화면</a:t>
            </a:r>
            <a:endParaRPr lang="en-US" sz="1600" dirty="0">
              <a:latin typeface="Gulim"/>
              <a:ea typeface="Gulim"/>
              <a:cs typeface="Gulim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400800" y="1920240"/>
            <a:ext cx="502920" cy="502920"/>
          </a:xfrm>
          <a:prstGeom prst="ellipse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02</a:t>
            </a:r>
            <a:endParaRPr lang="en-US" sz="1400" dirty="0">
              <a:latin typeface="Gulim"/>
              <a:ea typeface="Gulim"/>
              <a:cs typeface="Gulim"/>
            </a:endParaRPr>
          </a:p>
        </p:txBody>
      </p:sp>
      <p:sp>
        <p:nvSpPr>
          <p:cNvPr id="9" name="Text 7"/>
          <p:cNvSpPr/>
          <p:nvPr/>
        </p:nvSpPr>
        <p:spPr>
          <a:xfrm>
            <a:off x="7040880" y="192024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F1B2A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자녀 학습 현황 보는 법</a:t>
            </a:r>
            <a:endParaRPr lang="en-US" sz="1600" dirty="0">
              <a:latin typeface="Gulim"/>
              <a:ea typeface="Gulim"/>
              <a:cs typeface="Gulim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40080" y="2633472"/>
            <a:ext cx="502920" cy="502920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6334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03</a:t>
            </a:r>
            <a:endParaRPr lang="en-US" sz="1400" dirty="0">
              <a:latin typeface="Gulim"/>
              <a:ea typeface="Gulim"/>
              <a:cs typeface="Gulim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280160" y="2633472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F1B2A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월별 보고서 + 반 평균 비교</a:t>
            </a:r>
            <a:endParaRPr lang="en-US" sz="1600" dirty="0">
              <a:latin typeface="Gulim"/>
              <a:ea typeface="Gulim"/>
              <a:cs typeface="Gulim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400800" y="2633472"/>
            <a:ext cx="502920" cy="502920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26334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04</a:t>
            </a:r>
            <a:endParaRPr lang="en-US" sz="1400" dirty="0">
              <a:latin typeface="Gulim"/>
              <a:ea typeface="Gulim"/>
              <a:cs typeface="Gulim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040880" y="2633472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F1B2A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위클리 카톡 다이제스트</a:t>
            </a:r>
            <a:endParaRPr lang="en-US" sz="1600" dirty="0">
              <a:latin typeface="Gulim"/>
              <a:ea typeface="Gulim"/>
              <a:cs typeface="Gulim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40080" y="3346704"/>
            <a:ext cx="502920" cy="502920"/>
          </a:xfrm>
          <a:prstGeom prst="ellipse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34670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05</a:t>
            </a:r>
            <a:endParaRPr lang="en-US" sz="1400" dirty="0">
              <a:latin typeface="Gulim"/>
              <a:ea typeface="Gulim"/>
              <a:cs typeface="Gulim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280160" y="3346704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F1B2A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1:1 상담 예약</a:t>
            </a:r>
            <a:endParaRPr lang="en-US" sz="1600" dirty="0">
              <a:latin typeface="Gulim"/>
              <a:ea typeface="Gulim"/>
              <a:cs typeface="Gulim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400800" y="3346704"/>
            <a:ext cx="502920" cy="502920"/>
          </a:xfrm>
          <a:prstGeom prst="ellipse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334670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06</a:t>
            </a:r>
            <a:endParaRPr lang="en-US" sz="1400" dirty="0">
              <a:latin typeface="Gulim"/>
              <a:ea typeface="Gulim"/>
              <a:cs typeface="Gulim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040880" y="3346704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F1B2A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정기결제 / 가족 할인</a:t>
            </a:r>
            <a:endParaRPr lang="en-US" sz="1600" dirty="0">
              <a:latin typeface="Gulim"/>
              <a:ea typeface="Gulim"/>
              <a:cs typeface="Gulim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40080" y="4059936"/>
            <a:ext cx="502920" cy="502920"/>
          </a:xfrm>
          <a:prstGeom prst="ellipse">
            <a:avLst/>
          </a:prstGeom>
          <a:solidFill>
            <a:srgbClr val="E91E63"/>
          </a:solidFill>
          <a:ln w="12700">
            <a:solidFill>
              <a:srgbClr val="E91E6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405993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07</a:t>
            </a:r>
            <a:endParaRPr lang="en-US" sz="1400" dirty="0">
              <a:latin typeface="Gulim"/>
              <a:ea typeface="Gulim"/>
              <a:cs typeface="Gulim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280160" y="4059936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F1B2A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NPS 응답 (월 1회)</a:t>
            </a:r>
            <a:endParaRPr lang="en-US" sz="1600" dirty="0">
              <a:latin typeface="Gulim"/>
              <a:ea typeface="Gulim"/>
              <a:cs typeface="Gulim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400800" y="4059936"/>
            <a:ext cx="502920" cy="502920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0" y="405993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08</a:t>
            </a:r>
            <a:endParaRPr lang="en-US" sz="1400" dirty="0">
              <a:latin typeface="Gulim"/>
              <a:ea typeface="Gulim"/>
              <a:cs typeface="Gulim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7040880" y="4059936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F1B2A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카카오 알림톡</a:t>
            </a:r>
            <a:endParaRPr lang="en-US" sz="1600" dirty="0">
              <a:latin typeface="Gulim"/>
              <a:ea typeface="Gulim"/>
              <a:cs typeface="Gulim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640080" y="4773168"/>
            <a:ext cx="502920" cy="502920"/>
          </a:xfrm>
          <a:prstGeom prst="ellipse">
            <a:avLst/>
          </a:prstGeom>
          <a:solidFill>
            <a:srgbClr val="FF5722"/>
          </a:solidFill>
          <a:ln w="12700">
            <a:solidFill>
              <a:srgbClr val="FF572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47731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09</a:t>
            </a:r>
            <a:endParaRPr lang="en-US" sz="1400" dirty="0">
              <a:latin typeface="Gulim"/>
              <a:ea typeface="Gulim"/>
              <a:cs typeface="Gulim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1280160" y="4773168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F1B2A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응원 메시지 보내기</a:t>
            </a:r>
            <a:endParaRPr lang="en-US" sz="1600" dirty="0">
              <a:latin typeface="Gulim"/>
              <a:ea typeface="Gulim"/>
              <a:cs typeface="Gulim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6400800" y="4773168"/>
            <a:ext cx="502920" cy="502920"/>
          </a:xfrm>
          <a:prstGeom prst="ellipse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0" y="47731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10</a:t>
            </a:r>
            <a:endParaRPr lang="en-US" sz="1400" dirty="0">
              <a:latin typeface="Gulim"/>
              <a:ea typeface="Gulim"/>
              <a:cs typeface="Gulim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7040880" y="4773168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F1B2A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자주 묻는 질문</a:t>
            </a:r>
            <a:endParaRPr lang="en-US" sz="1600" dirty="0">
              <a:latin typeface="Gulim"/>
              <a:ea typeface="Gulim"/>
              <a:cs typeface="Guli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28600"/>
            <a:ext cx="164592" cy="66294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874520"/>
            <a:ext cx="3017520" cy="3017520"/>
          </a:xfrm>
          <a:prstGeom prst="ellipse">
            <a:avLst/>
          </a:prstGeom>
          <a:solidFill>
            <a:srgbClr val="F96167">
              <a:alpha val="20000"/>
            </a:srgbClr>
          </a:solidFill>
          <a:ln w="12700">
            <a:solidFill>
              <a:srgbClr val="F96167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103120"/>
            <a:ext cx="2560320" cy="2560320"/>
          </a:xfrm>
          <a:prstGeom prst="ellipse">
            <a:avLst/>
          </a:prstGeom>
          <a:solidFill>
            <a:srgbClr val="F96167"/>
          </a:solidFill>
          <a:ln w="38100">
            <a:solidFill>
              <a:srgbClr val="A267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103120"/>
            <a:ext cx="25603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01</a:t>
            </a:r>
            <a:endParaRPr lang="en-US" sz="9600" dirty="0">
              <a:latin typeface="Gulim"/>
              <a:ea typeface="Gulim"/>
              <a:cs typeface="Gulim"/>
            </a:endParaRPr>
          </a:p>
        </p:txBody>
      </p:sp>
      <p:sp>
        <p:nvSpPr>
          <p:cNvPr id="7" name="Shape 5"/>
          <p:cNvSpPr/>
          <p:nvPr/>
        </p:nvSpPr>
        <p:spPr>
          <a:xfrm>
            <a:off x="9448495" y="1371600"/>
            <a:ext cx="2011680" cy="2011680"/>
          </a:xfrm>
          <a:prstGeom prst="ellipse">
            <a:avLst/>
          </a:prstGeom>
          <a:solidFill>
            <a:srgbClr val="FFA500">
              <a:alpha val="75000"/>
            </a:srgbClr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48495" y="137160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0" dirty="0">
                <a:solidFill>
                  <a:srgbClr val="000000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🚀</a:t>
            </a:r>
            <a:endParaRPr lang="en-US" sz="9000" dirty="0">
              <a:latin typeface="Gulim"/>
              <a:ea typeface="Gulim"/>
              <a:cs typeface="Gulim"/>
            </a:endParaRPr>
          </a:p>
        </p:txBody>
      </p:sp>
      <p:sp>
        <p:nvSpPr>
          <p:cNvPr id="9" name="Text 7"/>
          <p:cNvSpPr/>
          <p:nvPr/>
        </p:nvSpPr>
        <p:spPr>
          <a:xfrm>
            <a:off x="4023360" y="19202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800" kern="0" dirty="0">
                <a:solidFill>
                  <a:srgbClr val="F96167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CHAPTER 01</a:t>
            </a:r>
            <a:endParaRPr lang="en-US" sz="1300" dirty="0">
              <a:latin typeface="Gulim"/>
              <a:ea typeface="Gulim"/>
              <a:cs typeface="Gulim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023360" y="2331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3F1B2A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부모 대시보드</a:t>
            </a:r>
            <a:endParaRPr lang="en-US" sz="4400" dirty="0">
              <a:latin typeface="Gulim"/>
              <a:ea typeface="Gulim"/>
              <a:cs typeface="Gulim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023360" y="379476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96167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자녀 학습 한눈에 — parent.html</a:t>
            </a:r>
            <a:endParaRPr lang="en-US" sz="1800" dirty="0">
              <a:latin typeface="Gulim"/>
              <a:ea typeface="Gulim"/>
              <a:cs typeface="Gulim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914400" y="6035040"/>
            <a:ext cx="219456" cy="219456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25296" y="6035040"/>
            <a:ext cx="146304" cy="146304"/>
          </a:xfrm>
          <a:prstGeom prst="ellipse">
            <a:avLst/>
          </a:prstGeom>
          <a:solidFill>
            <a:srgbClr val="E1CDB8"/>
          </a:solidFill>
          <a:ln w="12700">
            <a:solidFill>
              <a:srgbClr val="E1CDB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36192" y="6035040"/>
            <a:ext cx="146304" cy="146304"/>
          </a:xfrm>
          <a:prstGeom prst="ellipse">
            <a:avLst/>
          </a:prstGeom>
          <a:solidFill>
            <a:srgbClr val="E1CDB8"/>
          </a:solidFill>
          <a:ln w="12700">
            <a:solidFill>
              <a:srgbClr val="E1CDB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847088" y="6035040"/>
            <a:ext cx="146304" cy="146304"/>
          </a:xfrm>
          <a:prstGeom prst="ellipse">
            <a:avLst/>
          </a:prstGeom>
          <a:solidFill>
            <a:srgbClr val="E1CDB8"/>
          </a:solidFill>
          <a:ln w="12700">
            <a:solidFill>
              <a:srgbClr val="E1CD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157984" y="6035040"/>
            <a:ext cx="146304" cy="146304"/>
          </a:xfrm>
          <a:prstGeom prst="ellipse">
            <a:avLst/>
          </a:prstGeom>
          <a:solidFill>
            <a:srgbClr val="E1CDB8"/>
          </a:solidFill>
          <a:ln w="12700">
            <a:solidFill>
              <a:srgbClr val="E1CD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468880" y="6035040"/>
            <a:ext cx="146304" cy="146304"/>
          </a:xfrm>
          <a:prstGeom prst="ellipse">
            <a:avLst/>
          </a:prstGeom>
          <a:solidFill>
            <a:srgbClr val="E1CDB8"/>
          </a:solidFill>
          <a:ln w="12700">
            <a:solidFill>
              <a:srgbClr val="E1CD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79776" y="6035040"/>
            <a:ext cx="146304" cy="146304"/>
          </a:xfrm>
          <a:prstGeom prst="ellipse">
            <a:avLst/>
          </a:prstGeom>
          <a:solidFill>
            <a:srgbClr val="E1CDB8"/>
          </a:solidFill>
          <a:ln w="12700">
            <a:solidFill>
              <a:srgbClr val="E1CDB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090672" y="6035040"/>
            <a:ext cx="146304" cy="146304"/>
          </a:xfrm>
          <a:prstGeom prst="ellipse">
            <a:avLst/>
          </a:prstGeom>
          <a:solidFill>
            <a:srgbClr val="E1CDB8"/>
          </a:solidFill>
          <a:ln w="12700">
            <a:solidFill>
              <a:srgbClr val="E1CDB8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F1B2A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부모 대시보드 시작하기</a:t>
            </a:r>
            <a:endParaRPr lang="en-US" sz="3200" dirty="0">
              <a:latin typeface="Gulim"/>
              <a:ea typeface="Gulim"/>
              <a:cs typeface="Gulim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16459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6D2E46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CH 01 · START</a:t>
            </a:r>
            <a:endParaRPr lang="en-US" sz="1300" dirty="0">
              <a:latin typeface="Gulim"/>
              <a:ea typeface="Gulim"/>
              <a:cs typeface="Gulim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2537460" cy="16459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874520"/>
            <a:ext cx="2537460" cy="384048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25400">
            <a:solidFill>
              <a:srgbClr val="F9616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4944" y="1874520"/>
            <a:ext cx="2427732" cy="16459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05890" y="2240280"/>
            <a:ext cx="1005840" cy="100584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05890" y="224028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1</a:t>
            </a:r>
            <a:endParaRPr lang="en-US" sz="3600" dirty="0">
              <a:latin typeface="Gulim"/>
              <a:ea typeface="Gulim"/>
              <a:cs typeface="Gulim"/>
            </a:endParaRPr>
          </a:p>
        </p:txBody>
      </p:sp>
      <p:sp>
        <p:nvSpPr>
          <p:cNvPr id="9" name="Text 7"/>
          <p:cNvSpPr/>
          <p:nvPr/>
        </p:nvSpPr>
        <p:spPr>
          <a:xfrm>
            <a:off x="777240" y="3337560"/>
            <a:ext cx="22631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F1B2A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주소</a:t>
            </a:r>
            <a:endParaRPr lang="en-US" sz="1600" dirty="0">
              <a:latin typeface="Gulim"/>
              <a:ea typeface="Gulim"/>
              <a:cs typeface="Gulim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04672" y="4023360"/>
            <a:ext cx="220827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F1B2A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https://mangoiweb.dev/</a:t>
            </a:r>
            <a:endParaRPr lang="en-US" sz="1200" dirty="0">
              <a:latin typeface="Gulim"/>
              <a:ea typeface="Gulim"/>
              <a:cs typeface="Gulim"/>
            </a:endParaRPr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F1B2A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parent.html</a:t>
            </a:r>
            <a:endParaRPr lang="en-US" sz="1200" dirty="0">
              <a:latin typeface="Gulim"/>
              <a:ea typeface="Gulim"/>
              <a:cs typeface="Gulim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451860" y="1874520"/>
            <a:ext cx="2537460" cy="164592"/>
          </a:xfrm>
          <a:prstGeom prst="rect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51860" y="1874520"/>
            <a:ext cx="2537460" cy="384048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25400">
            <a:solidFill>
              <a:srgbClr val="FFA5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06724" y="1874520"/>
            <a:ext cx="2427732" cy="164592"/>
          </a:xfrm>
          <a:prstGeom prst="rect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17670" y="2240280"/>
            <a:ext cx="1005840" cy="1005840"/>
          </a:xfrm>
          <a:prstGeom prst="ellipse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17670" y="224028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2</a:t>
            </a:r>
            <a:endParaRPr lang="en-US" sz="3600" dirty="0">
              <a:latin typeface="Gulim"/>
              <a:ea typeface="Gulim"/>
              <a:cs typeface="Gulim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589020" y="3337560"/>
            <a:ext cx="22631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F1B2A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학생 ID</a:t>
            </a:r>
            <a:endParaRPr lang="en-US" sz="1600" dirty="0">
              <a:latin typeface="Gulim"/>
              <a:ea typeface="Gulim"/>
              <a:cs typeface="Gulim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616452" y="4023360"/>
            <a:ext cx="220827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F1B2A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한 번만 입력</a:t>
            </a:r>
            <a:endParaRPr lang="en-US" sz="1200" dirty="0">
              <a:latin typeface="Gulim"/>
              <a:ea typeface="Gulim"/>
              <a:cs typeface="Gulim"/>
            </a:endParaRPr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F1B2A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(강사·학원에 문의)</a:t>
            </a:r>
            <a:endParaRPr lang="en-US" sz="1200" dirty="0">
              <a:latin typeface="Gulim"/>
              <a:ea typeface="Gulim"/>
              <a:cs typeface="Gulim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263640" y="1874520"/>
            <a:ext cx="2537460" cy="164592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63640" y="1874520"/>
            <a:ext cx="2537460" cy="384048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25400">
            <a:solidFill>
              <a:srgbClr val="7B61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18504" y="1874520"/>
            <a:ext cx="2427732" cy="164592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029450" y="2240280"/>
            <a:ext cx="1005840" cy="1005840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29450" y="224028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3</a:t>
            </a:r>
            <a:endParaRPr lang="en-US" sz="3600" dirty="0">
              <a:latin typeface="Gulim"/>
              <a:ea typeface="Gulim"/>
              <a:cs typeface="Gulim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400800" y="3337560"/>
            <a:ext cx="22631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F1B2A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브라우저 저장</a:t>
            </a:r>
            <a:endParaRPr lang="en-US" sz="1600" dirty="0">
              <a:latin typeface="Gulim"/>
              <a:ea typeface="Gulim"/>
              <a:cs typeface="Gulim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428232" y="4023360"/>
            <a:ext cx="220827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F1B2A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다음부터는</a:t>
            </a:r>
            <a:endParaRPr lang="en-US" sz="1200" dirty="0">
              <a:latin typeface="Gulim"/>
              <a:ea typeface="Gulim"/>
              <a:cs typeface="Gulim"/>
            </a:endParaRPr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F1B2A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자동으로 열림</a:t>
            </a:r>
            <a:endParaRPr lang="en-US" sz="1200" dirty="0">
              <a:latin typeface="Gulim"/>
              <a:ea typeface="Gulim"/>
              <a:cs typeface="Gulim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9075420" y="1874520"/>
            <a:ext cx="2537460" cy="16459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075420" y="1874520"/>
            <a:ext cx="2537460" cy="384048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25400">
            <a:solidFill>
              <a:srgbClr val="00BFA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130284" y="1874520"/>
            <a:ext cx="2427732" cy="16459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841230" y="2240280"/>
            <a:ext cx="1005840" cy="1005840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841230" y="224028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4</a:t>
            </a:r>
            <a:endParaRPr lang="en-US" sz="3600" dirty="0">
              <a:latin typeface="Gulim"/>
              <a:ea typeface="Gulim"/>
              <a:cs typeface="Gulim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9212580" y="3337560"/>
            <a:ext cx="22631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F1B2A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자녀 탭</a:t>
            </a:r>
            <a:endParaRPr lang="en-US" sz="1600" dirty="0">
              <a:latin typeface="Gulim"/>
              <a:ea typeface="Gulim"/>
              <a:cs typeface="Gulim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9240012" y="4023360"/>
            <a:ext cx="220827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F1B2A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둘 이상 자녀는</a:t>
            </a:r>
            <a:endParaRPr lang="en-US" sz="1200" dirty="0">
              <a:latin typeface="Gulim"/>
              <a:ea typeface="Gulim"/>
              <a:cs typeface="Gulim"/>
            </a:endParaRPr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F1B2A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상단 탭으로 전환</a:t>
            </a:r>
            <a:endParaRPr lang="en-US" sz="1200" dirty="0">
              <a:latin typeface="Gulim"/>
              <a:ea typeface="Gulim"/>
              <a:cs typeface="Gulim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640080" y="5897880"/>
            <a:ext cx="10972800" cy="777240"/>
          </a:xfrm>
          <a:prstGeom prst="roundRect">
            <a:avLst>
              <a:gd name="adj" fmla="val 14118"/>
            </a:avLst>
          </a:prstGeom>
          <a:solidFill>
            <a:srgbClr val="F2E0E4"/>
          </a:solidFill>
          <a:ln w="12700">
            <a:solidFill>
              <a:srgbClr val="F2E0E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7240" y="5897880"/>
            <a:ext cx="640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💡</a:t>
            </a:r>
            <a:endParaRPr lang="en-US" sz="2200" dirty="0">
              <a:latin typeface="Gulim"/>
              <a:ea typeface="Gulim"/>
              <a:cs typeface="Gulim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1417320" y="589788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1828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한 번 입력하시면 브라우저에 저장되어, 다음부터는 즉시 자녀 화면이 열립니다.</a:t>
            </a:r>
            <a:endParaRPr lang="en-US" sz="1400" dirty="0">
              <a:latin typeface="Gulim"/>
              <a:ea typeface="Gulim"/>
              <a:cs typeface="Gulim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F1B2A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한 화면에서 보시는 8가지</a:t>
            </a:r>
            <a:endParaRPr lang="en-US" sz="3200" dirty="0">
              <a:latin typeface="Gulim"/>
              <a:ea typeface="Gulim"/>
              <a:cs typeface="Gulim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85800" y="1764792"/>
            <a:ext cx="2468880" cy="3931920"/>
          </a:xfrm>
          <a:prstGeom prst="roundRect">
            <a:avLst>
              <a:gd name="adj" fmla="val 7407"/>
            </a:avLst>
          </a:prstGeom>
          <a:solidFill>
            <a:srgbClr val="F96167">
              <a:alpha val="22000"/>
            </a:srgbClr>
          </a:solidFill>
          <a:ln w="12700">
            <a:solidFill>
              <a:srgbClr val="F96167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691640"/>
            <a:ext cx="2468880" cy="3931920"/>
          </a:xfrm>
          <a:prstGeom prst="roundRect">
            <a:avLst>
              <a:gd name="adj" fmla="val 7407"/>
            </a:avLst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103120"/>
            <a:ext cx="1920240" cy="1554480"/>
          </a:xfrm>
          <a:prstGeom prst="roundRect">
            <a:avLst>
              <a:gd name="adj" fmla="val 8824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14884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📅</a:t>
            </a:r>
            <a:endParaRPr lang="en-US" sz="6000" dirty="0">
              <a:latin typeface="Gulim"/>
              <a:ea typeface="Gulim"/>
              <a:cs typeface="Gulim"/>
            </a:endParaRPr>
          </a:p>
        </p:txBody>
      </p:sp>
      <p:sp>
        <p:nvSpPr>
          <p:cNvPr id="7" name="Text 5"/>
          <p:cNvSpPr/>
          <p:nvPr/>
        </p:nvSpPr>
        <p:spPr>
          <a:xfrm>
            <a:off x="822960" y="388620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출석 30일 그리드</a:t>
            </a:r>
            <a:endParaRPr lang="en-US" sz="1700" dirty="0">
              <a:latin typeface="Gulim"/>
              <a:ea typeface="Gulim"/>
              <a:cs typeface="Gulim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417320" y="4434840"/>
            <a:ext cx="91440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52628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진한 노랑=출석</a:t>
            </a:r>
            <a:endParaRPr lang="en-US" sz="1200" dirty="0">
              <a:latin typeface="Gulim"/>
              <a:ea typeface="Gulim"/>
              <a:cs typeface="Gulim"/>
            </a:endParaRPr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회색=결석 / 빨강=지각</a:t>
            </a:r>
            <a:endParaRPr lang="en-US" sz="1200" dirty="0">
              <a:latin typeface="Gulim"/>
              <a:ea typeface="Gulim"/>
              <a:cs typeface="Gulim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520440" y="1764792"/>
            <a:ext cx="2468880" cy="3931920"/>
          </a:xfrm>
          <a:prstGeom prst="roundRect">
            <a:avLst>
              <a:gd name="adj" fmla="val 7407"/>
            </a:avLst>
          </a:prstGeom>
          <a:solidFill>
            <a:srgbClr val="FFA500">
              <a:alpha val="22000"/>
            </a:srgbClr>
          </a:solidFill>
          <a:ln w="12700">
            <a:solidFill>
              <a:srgbClr val="FFA500">
                <a:alpha val="2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74720" y="1691640"/>
            <a:ext cx="2468880" cy="3931920"/>
          </a:xfrm>
          <a:prstGeom prst="roundRect">
            <a:avLst>
              <a:gd name="adj" fmla="val 7407"/>
            </a:avLst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49040" y="2103120"/>
            <a:ext cx="1920240" cy="1554480"/>
          </a:xfrm>
          <a:prstGeom prst="roundRect">
            <a:avLst>
              <a:gd name="adj" fmla="val 8824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6160" y="214884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🏆</a:t>
            </a:r>
            <a:endParaRPr lang="en-US" sz="6000" dirty="0">
              <a:latin typeface="Gulim"/>
              <a:ea typeface="Gulim"/>
              <a:cs typeface="Gulim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657600" y="388620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포인트 흐름</a:t>
            </a:r>
            <a:endParaRPr lang="en-US" sz="1700" dirty="0">
              <a:latin typeface="Gulim"/>
              <a:ea typeface="Gulim"/>
              <a:cs typeface="Gulim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251960" y="4434840"/>
            <a:ext cx="91440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0" y="452628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누적 / 사용 / 잔액</a:t>
            </a:r>
            <a:endParaRPr lang="en-US" sz="1200" dirty="0">
              <a:latin typeface="Gulim"/>
              <a:ea typeface="Gulim"/>
              <a:cs typeface="Gulim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355080" y="1764792"/>
            <a:ext cx="2468880" cy="3931920"/>
          </a:xfrm>
          <a:prstGeom prst="roundRect">
            <a:avLst>
              <a:gd name="adj" fmla="val 7407"/>
            </a:avLst>
          </a:prstGeom>
          <a:solidFill>
            <a:srgbClr val="7B61FF">
              <a:alpha val="22000"/>
            </a:srgbClr>
          </a:solidFill>
          <a:ln w="12700">
            <a:solidFill>
              <a:srgbClr val="7B61FF">
                <a:alpha val="2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09360" y="1691640"/>
            <a:ext cx="2468880" cy="3931920"/>
          </a:xfrm>
          <a:prstGeom prst="roundRect">
            <a:avLst>
              <a:gd name="adj" fmla="val 7407"/>
            </a:avLst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2103120"/>
            <a:ext cx="1920240" cy="1554480"/>
          </a:xfrm>
          <a:prstGeom prst="roundRect">
            <a:avLst>
              <a:gd name="adj" fmla="val 8824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214884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📝</a:t>
            </a:r>
            <a:endParaRPr lang="en-US" sz="6000" dirty="0">
              <a:latin typeface="Gulim"/>
              <a:ea typeface="Gulim"/>
              <a:cs typeface="Gulim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492240" y="388620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최근 평가서</a:t>
            </a:r>
            <a:endParaRPr lang="en-US" sz="1700" dirty="0">
              <a:latin typeface="Gulim"/>
              <a:ea typeface="Gulim"/>
              <a:cs typeface="Gulim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7086600" y="4434840"/>
            <a:ext cx="91440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0" y="452628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강사 직접 코멘트 4건</a:t>
            </a:r>
            <a:endParaRPr lang="en-US" sz="1200" dirty="0">
              <a:latin typeface="Gulim"/>
              <a:ea typeface="Gulim"/>
              <a:cs typeface="Gulim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9189720" y="1764792"/>
            <a:ext cx="2468880" cy="3931920"/>
          </a:xfrm>
          <a:prstGeom prst="roundRect">
            <a:avLst>
              <a:gd name="adj" fmla="val 7407"/>
            </a:avLst>
          </a:prstGeom>
          <a:solidFill>
            <a:srgbClr val="00BFA5">
              <a:alpha val="22000"/>
            </a:srgbClr>
          </a:solidFill>
          <a:ln w="12700">
            <a:solidFill>
              <a:srgbClr val="00BFA5">
                <a:alpha val="22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144000" y="1691640"/>
            <a:ext cx="2468880" cy="3931920"/>
          </a:xfrm>
          <a:prstGeom prst="roundRect">
            <a:avLst>
              <a:gd name="adj" fmla="val 7407"/>
            </a:avLst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418320" y="2103120"/>
            <a:ext cx="1920240" cy="1554480"/>
          </a:xfrm>
          <a:prstGeom prst="roundRect">
            <a:avLst>
              <a:gd name="adj" fmla="val 8824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235440" y="214884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🎙</a:t>
            </a:r>
            <a:endParaRPr lang="en-US" sz="6000" dirty="0">
              <a:latin typeface="Gulim"/>
              <a:ea typeface="Gulim"/>
              <a:cs typeface="Gulim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9326880" y="388620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AI 음성 코칭</a:t>
            </a:r>
            <a:endParaRPr lang="en-US" sz="1700" dirty="0">
              <a:latin typeface="Gulim"/>
              <a:ea typeface="Gulim"/>
              <a:cs typeface="Gulim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9921240" y="4434840"/>
            <a:ext cx="91440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326880" y="452628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14일 발음 점수 그래프</a:t>
            </a:r>
            <a:endParaRPr lang="en-US" sz="1200" dirty="0">
              <a:latin typeface="Gulim"/>
              <a:ea typeface="Gulim"/>
              <a:cs typeface="Gulim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40080" y="58064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D2E46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결제 · 배지 · AI 추천 학습 · 월별 보고서까지 한 화면에 정리되어 있습니다.</a:t>
            </a:r>
            <a:endParaRPr lang="en-US" sz="1500" dirty="0">
              <a:latin typeface="Gulim"/>
              <a:ea typeface="Gulim"/>
              <a:cs typeface="Gulim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28600"/>
            <a:ext cx="164592" cy="6629400"/>
          </a:xfrm>
          <a:prstGeom prst="rect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874520"/>
            <a:ext cx="3017520" cy="3017520"/>
          </a:xfrm>
          <a:prstGeom prst="ellipse">
            <a:avLst/>
          </a:prstGeom>
          <a:solidFill>
            <a:srgbClr val="FFA500">
              <a:alpha val="20000"/>
            </a:srgbClr>
          </a:solidFill>
          <a:ln w="12700">
            <a:solidFill>
              <a:srgbClr val="FFA500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103120"/>
            <a:ext cx="2560320" cy="2560320"/>
          </a:xfrm>
          <a:prstGeom prst="ellipse">
            <a:avLst/>
          </a:prstGeom>
          <a:solidFill>
            <a:srgbClr val="FFA500"/>
          </a:solidFill>
          <a:ln w="38100">
            <a:solidFill>
              <a:srgbClr val="A267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103120"/>
            <a:ext cx="25603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02</a:t>
            </a:r>
            <a:endParaRPr lang="en-US" sz="9600" dirty="0">
              <a:latin typeface="Gulim"/>
              <a:ea typeface="Gulim"/>
              <a:cs typeface="Gulim"/>
            </a:endParaRPr>
          </a:p>
        </p:txBody>
      </p:sp>
      <p:sp>
        <p:nvSpPr>
          <p:cNvPr id="7" name="Shape 5"/>
          <p:cNvSpPr/>
          <p:nvPr/>
        </p:nvSpPr>
        <p:spPr>
          <a:xfrm>
            <a:off x="9448495" y="1371600"/>
            <a:ext cx="2011680" cy="2011680"/>
          </a:xfrm>
          <a:prstGeom prst="ellipse">
            <a:avLst/>
          </a:prstGeom>
          <a:solidFill>
            <a:srgbClr val="7B61FF">
              <a:alpha val="75000"/>
            </a:srgbClr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48495" y="137160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0" dirty="0">
                <a:solidFill>
                  <a:srgbClr val="000000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👥</a:t>
            </a:r>
            <a:endParaRPr lang="en-US" sz="9000" dirty="0">
              <a:latin typeface="Gulim"/>
              <a:ea typeface="Gulim"/>
              <a:cs typeface="Gulim"/>
            </a:endParaRPr>
          </a:p>
        </p:txBody>
      </p:sp>
      <p:sp>
        <p:nvSpPr>
          <p:cNvPr id="9" name="Text 7"/>
          <p:cNvSpPr/>
          <p:nvPr/>
        </p:nvSpPr>
        <p:spPr>
          <a:xfrm>
            <a:off x="4023360" y="19202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800" kern="0" dirty="0">
                <a:solidFill>
                  <a:srgbClr val="FFA500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CHAPTER 02</a:t>
            </a:r>
            <a:endParaRPr lang="en-US" sz="1300" dirty="0">
              <a:latin typeface="Gulim"/>
              <a:ea typeface="Gulim"/>
              <a:cs typeface="Gulim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023360" y="2331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3F1B2A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자녀 학습 현황 보는 법</a:t>
            </a:r>
            <a:endParaRPr lang="en-US" sz="4400" dirty="0">
              <a:latin typeface="Gulim"/>
              <a:ea typeface="Gulim"/>
              <a:cs typeface="Gulim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023360" y="379476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FA500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출석 · 평가서 · 발음 점수</a:t>
            </a:r>
            <a:endParaRPr lang="en-US" sz="1800" dirty="0">
              <a:latin typeface="Gulim"/>
              <a:ea typeface="Gulim"/>
              <a:cs typeface="Gulim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914400" y="6035040"/>
            <a:ext cx="146304" cy="146304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25296" y="6035040"/>
            <a:ext cx="219456" cy="219456"/>
          </a:xfrm>
          <a:prstGeom prst="ellipse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36192" y="6035040"/>
            <a:ext cx="146304" cy="146304"/>
          </a:xfrm>
          <a:prstGeom prst="ellipse">
            <a:avLst/>
          </a:prstGeom>
          <a:solidFill>
            <a:srgbClr val="E1CDB8"/>
          </a:solidFill>
          <a:ln w="12700">
            <a:solidFill>
              <a:srgbClr val="E1CDB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847088" y="6035040"/>
            <a:ext cx="146304" cy="146304"/>
          </a:xfrm>
          <a:prstGeom prst="ellipse">
            <a:avLst/>
          </a:prstGeom>
          <a:solidFill>
            <a:srgbClr val="E1CDB8"/>
          </a:solidFill>
          <a:ln w="12700">
            <a:solidFill>
              <a:srgbClr val="E1CD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157984" y="6035040"/>
            <a:ext cx="146304" cy="146304"/>
          </a:xfrm>
          <a:prstGeom prst="ellipse">
            <a:avLst/>
          </a:prstGeom>
          <a:solidFill>
            <a:srgbClr val="E1CDB8"/>
          </a:solidFill>
          <a:ln w="12700">
            <a:solidFill>
              <a:srgbClr val="E1CD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468880" y="6035040"/>
            <a:ext cx="146304" cy="146304"/>
          </a:xfrm>
          <a:prstGeom prst="ellipse">
            <a:avLst/>
          </a:prstGeom>
          <a:solidFill>
            <a:srgbClr val="E1CDB8"/>
          </a:solidFill>
          <a:ln w="12700">
            <a:solidFill>
              <a:srgbClr val="E1CD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79776" y="6035040"/>
            <a:ext cx="146304" cy="146304"/>
          </a:xfrm>
          <a:prstGeom prst="ellipse">
            <a:avLst/>
          </a:prstGeom>
          <a:solidFill>
            <a:srgbClr val="E1CDB8"/>
          </a:solidFill>
          <a:ln w="12700">
            <a:solidFill>
              <a:srgbClr val="E1CDB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090672" y="6035040"/>
            <a:ext cx="146304" cy="146304"/>
          </a:xfrm>
          <a:prstGeom prst="ellipse">
            <a:avLst/>
          </a:prstGeom>
          <a:solidFill>
            <a:srgbClr val="E1CDB8"/>
          </a:solidFill>
          <a:ln w="12700">
            <a:solidFill>
              <a:srgbClr val="E1CDB8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F1B2A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출석 + 평가서 한눈에</a:t>
            </a:r>
            <a:endParaRPr lang="en-US" sz="3200" dirty="0">
              <a:latin typeface="Gulim"/>
              <a:ea typeface="Gulim"/>
              <a:cs typeface="Gulim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16459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6D2E46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CH 02 · ATTENDANCE</a:t>
            </a:r>
            <a:endParaRPr lang="en-US" sz="1300" dirty="0">
              <a:latin typeface="Gulim"/>
              <a:ea typeface="Gulim"/>
              <a:cs typeface="Gulim"/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603504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3F1B2A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출석 일수 — 최근 30일 중 수업 들은 날</a:t>
            </a:r>
            <a:endParaRPr lang="en-US" sz="1600" dirty="0">
              <a:latin typeface="Gulim"/>
              <a:ea typeface="Gulim"/>
              <a:cs typeface="Gulim"/>
            </a:endParaRPr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3F1B2A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제시간 입장 — 지각 없이 정시 입장한 날</a:t>
            </a:r>
            <a:endParaRPr lang="en-US" sz="1600" dirty="0">
              <a:latin typeface="Gulim"/>
              <a:ea typeface="Gulim"/>
              <a:cs typeface="Gulim"/>
            </a:endParaRPr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3F1B2A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90% 이상이면 노란 별 · 70% 미만이면 주의 표시</a:t>
            </a:r>
            <a:endParaRPr lang="en-US" sz="1600" dirty="0">
              <a:latin typeface="Gulim"/>
              <a:ea typeface="Gulim"/>
              <a:cs typeface="Gulim"/>
            </a:endParaRPr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3F1B2A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평가서 — 수업 직후 카톡 알림톡으로 즉시 도착</a:t>
            </a:r>
            <a:endParaRPr lang="en-US" sz="1600" dirty="0">
              <a:latin typeface="Gulim"/>
              <a:ea typeface="Gulim"/>
              <a:cs typeface="Gulim"/>
            </a:endParaRPr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3F1B2A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발음·문법·어휘·집중·태도 5가지 점수 + 코멘트</a:t>
            </a:r>
            <a:endParaRPr lang="en-US" sz="1600" dirty="0">
              <a:latin typeface="Gulim"/>
              <a:ea typeface="Gulim"/>
              <a:cs typeface="Gulim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949440" y="1463040"/>
            <a:ext cx="4617720" cy="4846320"/>
          </a:xfrm>
          <a:prstGeom prst="roundRect">
            <a:avLst>
              <a:gd name="adj" fmla="val 3564"/>
            </a:avLst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15300" y="1755648"/>
            <a:ext cx="2286000" cy="2286000"/>
          </a:xfrm>
          <a:prstGeom prst="ellipse">
            <a:avLst/>
          </a:prstGeom>
          <a:solidFill>
            <a:srgbClr val="F96167">
              <a:alpha val="40000"/>
            </a:srgbClr>
          </a:solidFill>
          <a:ln w="12700">
            <a:solidFill>
              <a:srgbClr val="F96167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98180" y="1874520"/>
            <a:ext cx="1920240" cy="1920240"/>
          </a:xfrm>
          <a:prstGeom prst="ellipse">
            <a:avLst/>
          </a:prstGeom>
          <a:solidFill>
            <a:srgbClr val="A26769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43900" y="192024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dirty="0">
                <a:solidFill>
                  <a:srgbClr val="000000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📅</a:t>
            </a:r>
            <a:endParaRPr lang="en-US" sz="9600" dirty="0">
              <a:latin typeface="Gulim"/>
              <a:ea typeface="Gulim"/>
              <a:cs typeface="Gulim"/>
            </a:endParaRPr>
          </a:p>
        </p:txBody>
      </p:sp>
      <p:sp>
        <p:nvSpPr>
          <p:cNvPr id="9" name="Text 7"/>
          <p:cNvSpPr/>
          <p:nvPr/>
        </p:nvSpPr>
        <p:spPr>
          <a:xfrm>
            <a:off x="7223760" y="3931920"/>
            <a:ext cx="4069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CE2D0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실시간 도착</a:t>
            </a:r>
            <a:endParaRPr lang="en-US" sz="2000" dirty="0">
              <a:latin typeface="Gulim"/>
              <a:ea typeface="Gulim"/>
              <a:cs typeface="Gulim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315200" y="4572000"/>
            <a:ext cx="38862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ECE2D0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강사가 평가서를 저장하면 즉시 학부모 카톡으로 발송됩니다.</a:t>
            </a:r>
            <a:endParaRPr lang="en-US" sz="1400" dirty="0">
              <a:latin typeface="Gulim"/>
              <a:ea typeface="Gulim"/>
              <a:cs typeface="Gulim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F1B2A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발음 점수 14일 그래프</a:t>
            </a:r>
            <a:endParaRPr lang="en-US" sz="3200" dirty="0">
              <a:latin typeface="Gulim"/>
              <a:ea typeface="Gulim"/>
              <a:cs typeface="Gulim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16459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6D2E46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CH 02 · PRONUNCIATION</a:t>
            </a:r>
            <a:endParaRPr lang="en-US" sz="1300" dirty="0">
              <a:latin typeface="Gulim"/>
              <a:ea typeface="Gulim"/>
              <a:cs typeface="Gulim"/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603504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3F1B2A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AI 가 자녀 발음을 강사 모델 발음과 비교</a:t>
            </a:r>
            <a:endParaRPr lang="en-US" sz="1600" dirty="0">
              <a:latin typeface="Gulim"/>
              <a:ea typeface="Gulim"/>
              <a:cs typeface="Gulim"/>
            </a:endParaRPr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3F1B2A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매일 자동 점수화 → 14일 추이 시각화</a:t>
            </a:r>
            <a:endParaRPr lang="en-US" sz="1600" dirty="0">
              <a:latin typeface="Gulim"/>
              <a:ea typeface="Gulim"/>
              <a:cs typeface="Gulim"/>
            </a:endParaRPr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3F1B2A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점수가 떨어지면 강사가 케어 액션으로 연락</a:t>
            </a:r>
            <a:endParaRPr lang="en-US" sz="1600" dirty="0">
              <a:latin typeface="Gulim"/>
              <a:ea typeface="Gulim"/>
              <a:cs typeface="Gulim"/>
            </a:endParaRPr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3F1B2A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며칠 추이 보시고 14일 평균이 계속 낮으면</a:t>
            </a:r>
            <a:endParaRPr lang="en-US" sz="1600" dirty="0">
              <a:latin typeface="Gulim"/>
              <a:ea typeface="Gulim"/>
              <a:cs typeface="Gulim"/>
            </a:endParaRPr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3F1B2A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강사에게 케어 상담을 요청해 주세요</a:t>
            </a:r>
            <a:endParaRPr lang="en-US" sz="1600" dirty="0">
              <a:latin typeface="Gulim"/>
              <a:ea typeface="Gulim"/>
              <a:cs typeface="Gulim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949440" y="1463040"/>
            <a:ext cx="4617720" cy="4846320"/>
          </a:xfrm>
          <a:prstGeom prst="roundRect">
            <a:avLst>
              <a:gd name="adj" fmla="val 3564"/>
            </a:avLst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15300" y="1755648"/>
            <a:ext cx="2286000" cy="2286000"/>
          </a:xfrm>
          <a:prstGeom prst="ellipse">
            <a:avLst/>
          </a:prstGeom>
          <a:solidFill>
            <a:srgbClr val="F96167">
              <a:alpha val="40000"/>
            </a:srgbClr>
          </a:solidFill>
          <a:ln w="12700">
            <a:solidFill>
              <a:srgbClr val="F96167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98180" y="1874520"/>
            <a:ext cx="1920240" cy="1920240"/>
          </a:xfrm>
          <a:prstGeom prst="ellipse">
            <a:avLst/>
          </a:prstGeom>
          <a:solidFill>
            <a:srgbClr val="A26769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43900" y="192024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dirty="0">
                <a:solidFill>
                  <a:srgbClr val="000000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🎙</a:t>
            </a:r>
            <a:endParaRPr lang="en-US" sz="9600" dirty="0">
              <a:latin typeface="Gulim"/>
              <a:ea typeface="Gulim"/>
              <a:cs typeface="Gulim"/>
            </a:endParaRPr>
          </a:p>
        </p:txBody>
      </p:sp>
      <p:sp>
        <p:nvSpPr>
          <p:cNvPr id="9" name="Text 7"/>
          <p:cNvSpPr/>
          <p:nvPr/>
        </p:nvSpPr>
        <p:spPr>
          <a:xfrm>
            <a:off x="7223760" y="3931920"/>
            <a:ext cx="4069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CE2D0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자녀의 진짜 성장</a:t>
            </a:r>
            <a:endParaRPr lang="en-US" sz="2000" dirty="0">
              <a:latin typeface="Gulim"/>
              <a:ea typeface="Gulim"/>
              <a:cs typeface="Gulim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315200" y="4572000"/>
            <a:ext cx="38862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ECE2D0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점수보다 추세가 중요 — 우상향이면 충분히 잘 자라고 있는 거예요.</a:t>
            </a:r>
            <a:endParaRPr lang="en-US" sz="1400" dirty="0">
              <a:latin typeface="Gulim"/>
              <a:ea typeface="Gulim"/>
              <a:cs typeface="Gulim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28600"/>
            <a:ext cx="164592" cy="6629400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874520"/>
            <a:ext cx="3017520" cy="3017520"/>
          </a:xfrm>
          <a:prstGeom prst="ellipse">
            <a:avLst/>
          </a:prstGeom>
          <a:solidFill>
            <a:srgbClr val="7B61FF">
              <a:alpha val="20000"/>
            </a:srgbClr>
          </a:solidFill>
          <a:ln w="12700">
            <a:solidFill>
              <a:srgbClr val="7B61FF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103120"/>
            <a:ext cx="2560320" cy="2560320"/>
          </a:xfrm>
          <a:prstGeom prst="ellipse">
            <a:avLst/>
          </a:prstGeom>
          <a:solidFill>
            <a:srgbClr val="7B61FF"/>
          </a:solidFill>
          <a:ln w="38100">
            <a:solidFill>
              <a:srgbClr val="A267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103120"/>
            <a:ext cx="25603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03</a:t>
            </a:r>
            <a:endParaRPr lang="en-US" sz="9600" dirty="0">
              <a:latin typeface="Gulim"/>
              <a:ea typeface="Gulim"/>
              <a:cs typeface="Gulim"/>
            </a:endParaRPr>
          </a:p>
        </p:txBody>
      </p:sp>
      <p:sp>
        <p:nvSpPr>
          <p:cNvPr id="7" name="Shape 5"/>
          <p:cNvSpPr/>
          <p:nvPr/>
        </p:nvSpPr>
        <p:spPr>
          <a:xfrm>
            <a:off x="9448495" y="1371600"/>
            <a:ext cx="2011680" cy="2011680"/>
          </a:xfrm>
          <a:prstGeom prst="ellipse">
            <a:avLst/>
          </a:prstGeom>
          <a:solidFill>
            <a:srgbClr val="00BFA5">
              <a:alpha val="75000"/>
            </a:srgbClr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48495" y="137160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0" dirty="0">
                <a:solidFill>
                  <a:srgbClr val="000000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🎬</a:t>
            </a:r>
            <a:endParaRPr lang="en-US" sz="9000" dirty="0">
              <a:latin typeface="Gulim"/>
              <a:ea typeface="Gulim"/>
              <a:cs typeface="Gulim"/>
            </a:endParaRPr>
          </a:p>
        </p:txBody>
      </p:sp>
      <p:sp>
        <p:nvSpPr>
          <p:cNvPr id="9" name="Text 7"/>
          <p:cNvSpPr/>
          <p:nvPr/>
        </p:nvSpPr>
        <p:spPr>
          <a:xfrm>
            <a:off x="4023360" y="19202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800" kern="0" dirty="0">
                <a:solidFill>
                  <a:srgbClr val="7B61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CHAPTER 03</a:t>
            </a:r>
            <a:endParaRPr lang="en-US" sz="1300" dirty="0">
              <a:latin typeface="Gulim"/>
              <a:ea typeface="Gulim"/>
              <a:cs typeface="Gulim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023360" y="2331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3F1B2A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월별 보고서 + 반 평균 비교</a:t>
            </a:r>
            <a:endParaRPr lang="en-US" sz="4400" dirty="0">
              <a:latin typeface="Gulim"/>
              <a:ea typeface="Gulim"/>
              <a:cs typeface="Gulim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023360" y="379476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7B61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매월 1일 자동 발송 · 자녀 성장 비교</a:t>
            </a:r>
            <a:endParaRPr lang="en-US" sz="1800" dirty="0">
              <a:latin typeface="Gulim"/>
              <a:ea typeface="Gulim"/>
              <a:cs typeface="Gulim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914400" y="6035040"/>
            <a:ext cx="146304" cy="146304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25296" y="6035040"/>
            <a:ext cx="146304" cy="146304"/>
          </a:xfrm>
          <a:prstGeom prst="ellipse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36192" y="6035040"/>
            <a:ext cx="219456" cy="219456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847088" y="6035040"/>
            <a:ext cx="146304" cy="146304"/>
          </a:xfrm>
          <a:prstGeom prst="ellipse">
            <a:avLst/>
          </a:prstGeom>
          <a:solidFill>
            <a:srgbClr val="E1CDB8"/>
          </a:solidFill>
          <a:ln w="12700">
            <a:solidFill>
              <a:srgbClr val="E1CD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157984" y="6035040"/>
            <a:ext cx="146304" cy="146304"/>
          </a:xfrm>
          <a:prstGeom prst="ellipse">
            <a:avLst/>
          </a:prstGeom>
          <a:solidFill>
            <a:srgbClr val="E1CDB8"/>
          </a:solidFill>
          <a:ln w="12700">
            <a:solidFill>
              <a:srgbClr val="E1CD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468880" y="6035040"/>
            <a:ext cx="146304" cy="146304"/>
          </a:xfrm>
          <a:prstGeom prst="ellipse">
            <a:avLst/>
          </a:prstGeom>
          <a:solidFill>
            <a:srgbClr val="E1CDB8"/>
          </a:solidFill>
          <a:ln w="12700">
            <a:solidFill>
              <a:srgbClr val="E1CD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79776" y="6035040"/>
            <a:ext cx="146304" cy="146304"/>
          </a:xfrm>
          <a:prstGeom prst="ellipse">
            <a:avLst/>
          </a:prstGeom>
          <a:solidFill>
            <a:srgbClr val="E1CDB8"/>
          </a:solidFill>
          <a:ln w="12700">
            <a:solidFill>
              <a:srgbClr val="E1CDB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090672" y="6035040"/>
            <a:ext cx="146304" cy="146304"/>
          </a:xfrm>
          <a:prstGeom prst="ellipse">
            <a:avLst/>
          </a:prstGeom>
          <a:solidFill>
            <a:srgbClr val="E1CDB8"/>
          </a:solidFill>
          <a:ln w="12700">
            <a:solidFill>
              <a:srgbClr val="E1CDB8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F1B2A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월별 보고서 자동 발송</a:t>
            </a:r>
            <a:endParaRPr lang="en-US" sz="3200" dirty="0">
              <a:latin typeface="Gulim"/>
              <a:ea typeface="Gulim"/>
              <a:cs typeface="Gulim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16459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6D2E46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CH 03 · MONTHLY</a:t>
            </a:r>
            <a:endParaRPr lang="en-US" sz="1300" dirty="0">
              <a:latin typeface="Gulim"/>
              <a:ea typeface="Gulim"/>
              <a:cs typeface="Gulim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2537460" cy="16459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874520"/>
            <a:ext cx="2537460" cy="384048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25400">
            <a:solidFill>
              <a:srgbClr val="F9616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4944" y="1874520"/>
            <a:ext cx="2427732" cy="16459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05890" y="2240280"/>
            <a:ext cx="1005840" cy="100584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05890" y="224028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1</a:t>
            </a:r>
            <a:endParaRPr lang="en-US" sz="3600" dirty="0">
              <a:latin typeface="Gulim"/>
              <a:ea typeface="Gulim"/>
              <a:cs typeface="Gulim"/>
            </a:endParaRPr>
          </a:p>
        </p:txBody>
      </p:sp>
      <p:sp>
        <p:nvSpPr>
          <p:cNvPr id="9" name="Text 7"/>
          <p:cNvSpPr/>
          <p:nvPr/>
        </p:nvSpPr>
        <p:spPr>
          <a:xfrm>
            <a:off x="777240" y="3337560"/>
            <a:ext cx="22631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F1B2A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매월 1일</a:t>
            </a:r>
            <a:endParaRPr lang="en-US" sz="1600" dirty="0">
              <a:latin typeface="Gulim"/>
              <a:ea typeface="Gulim"/>
              <a:cs typeface="Gulim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04672" y="4023360"/>
            <a:ext cx="220827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F1B2A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자동 작성</a:t>
            </a:r>
            <a:endParaRPr lang="en-US" sz="1200" dirty="0">
              <a:latin typeface="Gulim"/>
              <a:ea typeface="Gulim"/>
              <a:cs typeface="Gulim"/>
            </a:endParaRPr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F1B2A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→ 카톡 알림톡</a:t>
            </a:r>
            <a:endParaRPr lang="en-US" sz="1200" dirty="0">
              <a:latin typeface="Gulim"/>
              <a:ea typeface="Gulim"/>
              <a:cs typeface="Gulim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451860" y="1874520"/>
            <a:ext cx="2537460" cy="164592"/>
          </a:xfrm>
          <a:prstGeom prst="rect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51860" y="1874520"/>
            <a:ext cx="2537460" cy="384048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25400">
            <a:solidFill>
              <a:srgbClr val="FFA5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06724" y="1874520"/>
            <a:ext cx="2427732" cy="164592"/>
          </a:xfrm>
          <a:prstGeom prst="rect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17670" y="2240280"/>
            <a:ext cx="1005840" cy="1005840"/>
          </a:xfrm>
          <a:prstGeom prst="ellipse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17670" y="224028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2</a:t>
            </a:r>
            <a:endParaRPr lang="en-US" sz="3600" dirty="0">
              <a:latin typeface="Gulim"/>
              <a:ea typeface="Gulim"/>
              <a:cs typeface="Gulim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589020" y="3337560"/>
            <a:ext cx="22631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F1B2A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출석·제시간율</a:t>
            </a:r>
            <a:endParaRPr lang="en-US" sz="1600" dirty="0">
              <a:latin typeface="Gulim"/>
              <a:ea typeface="Gulim"/>
              <a:cs typeface="Gulim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616452" y="4023360"/>
            <a:ext cx="220827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F1B2A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한 달 출석 현황</a:t>
            </a:r>
            <a:endParaRPr lang="en-US" sz="1200" dirty="0">
              <a:latin typeface="Gulim"/>
              <a:ea typeface="Gulim"/>
              <a:cs typeface="Gulim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263640" y="1874520"/>
            <a:ext cx="2537460" cy="164592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63640" y="1874520"/>
            <a:ext cx="2537460" cy="384048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25400">
            <a:solidFill>
              <a:srgbClr val="7B61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18504" y="1874520"/>
            <a:ext cx="2427732" cy="164592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029450" y="2240280"/>
            <a:ext cx="1005840" cy="1005840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29450" y="224028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3</a:t>
            </a:r>
            <a:endParaRPr lang="en-US" sz="3600" dirty="0">
              <a:latin typeface="Gulim"/>
              <a:ea typeface="Gulim"/>
              <a:cs typeface="Gulim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400800" y="3337560"/>
            <a:ext cx="22631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F1B2A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평가 추이</a:t>
            </a:r>
            <a:endParaRPr lang="en-US" sz="1600" dirty="0">
              <a:latin typeface="Gulim"/>
              <a:ea typeface="Gulim"/>
              <a:cs typeface="Gulim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428232" y="4023360"/>
            <a:ext cx="220827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F1B2A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지난달 대비</a:t>
            </a:r>
            <a:endParaRPr lang="en-US" sz="1200" dirty="0">
              <a:latin typeface="Gulim"/>
              <a:ea typeface="Gulim"/>
              <a:cs typeface="Gulim"/>
            </a:endParaRPr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F1B2A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발음·문법·어휘</a:t>
            </a:r>
            <a:endParaRPr lang="en-US" sz="1200" dirty="0">
              <a:latin typeface="Gulim"/>
              <a:ea typeface="Gulim"/>
              <a:cs typeface="Gulim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9075420" y="1874520"/>
            <a:ext cx="2537460" cy="16459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075420" y="1874520"/>
            <a:ext cx="2537460" cy="384048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25400">
            <a:solidFill>
              <a:srgbClr val="00BFA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130284" y="1874520"/>
            <a:ext cx="2427732" cy="16459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841230" y="2240280"/>
            <a:ext cx="1005840" cy="1005840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841230" y="224028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4</a:t>
            </a:r>
            <a:endParaRPr lang="en-US" sz="3600" dirty="0">
              <a:latin typeface="Gulim"/>
              <a:ea typeface="Gulim"/>
              <a:cs typeface="Gulim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9212580" y="3337560"/>
            <a:ext cx="22631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F1B2A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강사 코멘트</a:t>
            </a:r>
            <a:endParaRPr lang="en-US" sz="1600" dirty="0">
              <a:latin typeface="Gulim"/>
              <a:ea typeface="Gulim"/>
              <a:cs typeface="Gulim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9240012" y="4023360"/>
            <a:ext cx="220827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F1B2A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강사가 직접 쓴</a:t>
            </a:r>
            <a:endParaRPr lang="en-US" sz="1200" dirty="0">
              <a:latin typeface="Gulim"/>
              <a:ea typeface="Gulim"/>
              <a:cs typeface="Gulim"/>
            </a:endParaRPr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F1B2A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종합 코멘트</a:t>
            </a:r>
            <a:endParaRPr lang="en-US" sz="1200" dirty="0">
              <a:latin typeface="Gulim"/>
              <a:ea typeface="Gulim"/>
              <a:cs typeface="Gulim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640080" y="5897880"/>
            <a:ext cx="10972800" cy="777240"/>
          </a:xfrm>
          <a:prstGeom prst="roundRect">
            <a:avLst>
              <a:gd name="adj" fmla="val 14118"/>
            </a:avLst>
          </a:prstGeom>
          <a:solidFill>
            <a:srgbClr val="F2E0E4"/>
          </a:solidFill>
          <a:ln w="12700">
            <a:solidFill>
              <a:srgbClr val="F2E0E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7240" y="5897880"/>
            <a:ext cx="640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💡</a:t>
            </a:r>
            <a:endParaRPr lang="en-US" sz="2200" dirty="0">
              <a:latin typeface="Gulim"/>
              <a:ea typeface="Gulim"/>
              <a:cs typeface="Gulim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1417320" y="589788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1828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인쇄 또는 PDF 저장 가능 — 보관용·자녀 격려용으로 활용하세요.</a:t>
            </a:r>
            <a:endParaRPr lang="en-US" sz="1400" dirty="0">
              <a:latin typeface="Gulim"/>
              <a:ea typeface="Gulim"/>
              <a:cs typeface="Gulim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F1B2A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자녀 성장 비교 리포트 📊</a:t>
            </a:r>
            <a:endParaRPr lang="en-US" sz="3200" dirty="0">
              <a:latin typeface="Gulim"/>
              <a:ea typeface="Gulim"/>
              <a:cs typeface="Gulim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16459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6D2E46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CH 03 · COMPARISON</a:t>
            </a:r>
            <a:endParaRPr lang="en-US" sz="1300" dirty="0">
              <a:latin typeface="Gulim"/>
              <a:ea typeface="Gulim"/>
              <a:cs typeface="Gulim"/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603504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3F1B2A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같은 반의 평균 점수 vs 우리 아이 점수</a:t>
            </a:r>
            <a:endParaRPr lang="en-US" sz="1600" dirty="0">
              <a:latin typeface="Gulim"/>
              <a:ea typeface="Gulim"/>
              <a:cs typeface="Gulim"/>
            </a:endParaRPr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3F1B2A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어느 영역이 강한지, 어느 영역을 보완할지 한눈에</a:t>
            </a:r>
            <a:endParaRPr lang="en-US" sz="1600" dirty="0">
              <a:latin typeface="Gulim"/>
              <a:ea typeface="Gulim"/>
              <a:cs typeface="Gulim"/>
            </a:endParaRPr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3F1B2A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다른 아이의 개인 정보는 절대 보이지 않음</a:t>
            </a:r>
            <a:endParaRPr lang="en-US" sz="1600" dirty="0">
              <a:latin typeface="Gulim"/>
              <a:ea typeface="Gulim"/>
              <a:cs typeface="Gulim"/>
            </a:endParaRPr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3F1B2A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평균값만 표시 — 개인정보 안전</a:t>
            </a:r>
            <a:endParaRPr lang="en-US" sz="1600" dirty="0">
              <a:latin typeface="Gulim"/>
              <a:ea typeface="Gulim"/>
              <a:cs typeface="Gulim"/>
            </a:endParaRPr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3F1B2A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라인 차트 2개 (반 평균 점선 / 우리 아이 실선)</a:t>
            </a:r>
            <a:endParaRPr lang="en-US" sz="1600" dirty="0">
              <a:latin typeface="Gulim"/>
              <a:ea typeface="Gulim"/>
              <a:cs typeface="Gulim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949440" y="1463040"/>
            <a:ext cx="4617720" cy="4846320"/>
          </a:xfrm>
          <a:prstGeom prst="roundRect">
            <a:avLst>
              <a:gd name="adj" fmla="val 3564"/>
            </a:avLst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15300" y="1755648"/>
            <a:ext cx="2286000" cy="2286000"/>
          </a:xfrm>
          <a:prstGeom prst="ellipse">
            <a:avLst/>
          </a:prstGeom>
          <a:solidFill>
            <a:srgbClr val="F96167">
              <a:alpha val="40000"/>
            </a:srgbClr>
          </a:solidFill>
          <a:ln w="12700">
            <a:solidFill>
              <a:srgbClr val="F96167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98180" y="1874520"/>
            <a:ext cx="1920240" cy="1920240"/>
          </a:xfrm>
          <a:prstGeom prst="ellipse">
            <a:avLst/>
          </a:prstGeom>
          <a:solidFill>
            <a:srgbClr val="A26769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43900" y="192024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dirty="0">
                <a:solidFill>
                  <a:srgbClr val="000000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📊</a:t>
            </a:r>
            <a:endParaRPr lang="en-US" sz="9600" dirty="0">
              <a:latin typeface="Gulim"/>
              <a:ea typeface="Gulim"/>
              <a:cs typeface="Gulim"/>
            </a:endParaRPr>
          </a:p>
        </p:txBody>
      </p:sp>
      <p:sp>
        <p:nvSpPr>
          <p:cNvPr id="9" name="Text 7"/>
          <p:cNvSpPr/>
          <p:nvPr/>
        </p:nvSpPr>
        <p:spPr>
          <a:xfrm>
            <a:off x="7223760" y="3931920"/>
            <a:ext cx="4069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CE2D0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자녀의 강점 발견</a:t>
            </a:r>
            <a:endParaRPr lang="en-US" sz="2000" dirty="0">
              <a:latin typeface="Gulim"/>
              <a:ea typeface="Gulim"/>
              <a:cs typeface="Gulim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315200" y="4572000"/>
            <a:ext cx="38862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ECE2D0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점수 그 자체보다 어느 영역이 자녀의 강점인지 보는 데에 의미가 있어요.</a:t>
            </a:r>
            <a:endParaRPr lang="en-US" sz="1400" dirty="0">
              <a:latin typeface="Gulim"/>
              <a:ea typeface="Gulim"/>
              <a:cs typeface="Gulim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F1B2A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위클리 카톡 다이제스트</a:t>
            </a:r>
            <a:endParaRPr lang="en-US" sz="3200" dirty="0">
              <a:latin typeface="Gulim"/>
              <a:ea typeface="Gulim"/>
              <a:cs typeface="Gulim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16459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6D2E46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CH 04 · WEEKLY DIGEST</a:t>
            </a:r>
            <a:endParaRPr lang="en-US" sz="1300" dirty="0">
              <a:latin typeface="Gulim"/>
              <a:ea typeface="Gulim"/>
              <a:cs typeface="Gulim"/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603504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3F1B2A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매주 일요일 저녁 자동 발송</a:t>
            </a:r>
            <a:endParaRPr lang="en-US" sz="1600" dirty="0">
              <a:latin typeface="Gulim"/>
              <a:ea typeface="Gulim"/>
              <a:cs typeface="Gulim"/>
            </a:endParaRPr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3F1B2A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한 주 마무리하며 받는 따뜻한 요약</a:t>
            </a:r>
            <a:endParaRPr lang="en-US" sz="1600" dirty="0">
              <a:latin typeface="Gulim"/>
              <a:ea typeface="Gulim"/>
              <a:cs typeface="Gulim"/>
            </a:endParaRPr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3F1B2A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출석 · 발음 점수 변화 · 새 배지 · 다음 주 수업</a:t>
            </a:r>
            <a:endParaRPr lang="en-US" sz="1600" dirty="0">
              <a:latin typeface="Gulim"/>
              <a:ea typeface="Gulim"/>
              <a:cs typeface="Gulim"/>
            </a:endParaRPr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3F1B2A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일주일에 한 번만 — 부담스럽지 않아요</a:t>
            </a:r>
            <a:endParaRPr lang="en-US" sz="1600" dirty="0">
              <a:latin typeface="Gulim"/>
              <a:ea typeface="Gulim"/>
              <a:cs typeface="Gulim"/>
            </a:endParaRPr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3F1B2A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카톡 채널 "다이제스트 끄기" 라고 답장하면 해제</a:t>
            </a:r>
            <a:endParaRPr lang="en-US" sz="1600" dirty="0">
              <a:latin typeface="Gulim"/>
              <a:ea typeface="Gulim"/>
              <a:cs typeface="Gulim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949440" y="1463040"/>
            <a:ext cx="4617720" cy="4846320"/>
          </a:xfrm>
          <a:prstGeom prst="roundRect">
            <a:avLst>
              <a:gd name="adj" fmla="val 3564"/>
            </a:avLst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15300" y="1755648"/>
            <a:ext cx="2286000" cy="2286000"/>
          </a:xfrm>
          <a:prstGeom prst="ellipse">
            <a:avLst/>
          </a:prstGeom>
          <a:solidFill>
            <a:srgbClr val="F96167">
              <a:alpha val="40000"/>
            </a:srgbClr>
          </a:solidFill>
          <a:ln w="12700">
            <a:solidFill>
              <a:srgbClr val="F96167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98180" y="1874520"/>
            <a:ext cx="1920240" cy="1920240"/>
          </a:xfrm>
          <a:prstGeom prst="ellipse">
            <a:avLst/>
          </a:prstGeom>
          <a:solidFill>
            <a:srgbClr val="A26769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43900" y="192024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dirty="0">
                <a:solidFill>
                  <a:srgbClr val="000000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💌</a:t>
            </a:r>
            <a:endParaRPr lang="en-US" sz="9600" dirty="0">
              <a:latin typeface="Gulim"/>
              <a:ea typeface="Gulim"/>
              <a:cs typeface="Gulim"/>
            </a:endParaRPr>
          </a:p>
        </p:txBody>
      </p:sp>
      <p:sp>
        <p:nvSpPr>
          <p:cNvPr id="9" name="Text 7"/>
          <p:cNvSpPr/>
          <p:nvPr/>
        </p:nvSpPr>
        <p:spPr>
          <a:xfrm>
            <a:off x="7223760" y="3931920"/>
            <a:ext cx="4069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CE2D0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한 주 응원</a:t>
            </a:r>
            <a:endParaRPr lang="en-US" sz="2000" dirty="0">
              <a:latin typeface="Gulim"/>
              <a:ea typeface="Gulim"/>
              <a:cs typeface="Gulim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315200" y="4572000"/>
            <a:ext cx="38862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ECE2D0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"이번 주도 멋졌어, 다음 주도 함께해요" — 따뜻한 한 줄이 자녀에게는 가장 큰 동력.</a:t>
            </a:r>
            <a:endParaRPr lang="en-US" sz="1400" dirty="0">
              <a:latin typeface="Gulim"/>
              <a:ea typeface="Gulim"/>
              <a:cs typeface="Gulim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28600"/>
            <a:ext cx="164592" cy="662940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874520"/>
            <a:ext cx="3017520" cy="3017520"/>
          </a:xfrm>
          <a:prstGeom prst="ellipse">
            <a:avLst/>
          </a:prstGeom>
          <a:solidFill>
            <a:srgbClr val="FFC107">
              <a:alpha val="20000"/>
            </a:srgbClr>
          </a:solidFill>
          <a:ln w="12700">
            <a:solidFill>
              <a:srgbClr val="FFC107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103120"/>
            <a:ext cx="2560320" cy="2560320"/>
          </a:xfrm>
          <a:prstGeom prst="ellipse">
            <a:avLst/>
          </a:prstGeom>
          <a:solidFill>
            <a:srgbClr val="FFC107"/>
          </a:solidFill>
          <a:ln w="38100">
            <a:solidFill>
              <a:srgbClr val="A267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103120"/>
            <a:ext cx="25603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05</a:t>
            </a:r>
            <a:endParaRPr lang="en-US" sz="9600" dirty="0">
              <a:latin typeface="Gulim"/>
              <a:ea typeface="Gulim"/>
              <a:cs typeface="Gulim"/>
            </a:endParaRPr>
          </a:p>
        </p:txBody>
      </p:sp>
      <p:sp>
        <p:nvSpPr>
          <p:cNvPr id="7" name="Shape 5"/>
          <p:cNvSpPr/>
          <p:nvPr/>
        </p:nvSpPr>
        <p:spPr>
          <a:xfrm>
            <a:off x="9448495" y="1371600"/>
            <a:ext cx="2011680" cy="2011680"/>
          </a:xfrm>
          <a:prstGeom prst="ellipse">
            <a:avLst/>
          </a:prstGeom>
          <a:solidFill>
            <a:srgbClr val="2196F3">
              <a:alpha val="75000"/>
            </a:srgbClr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48495" y="137160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0" dirty="0">
                <a:solidFill>
                  <a:srgbClr val="000000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💳</a:t>
            </a:r>
            <a:endParaRPr lang="en-US" sz="9000" dirty="0">
              <a:latin typeface="Gulim"/>
              <a:ea typeface="Gulim"/>
              <a:cs typeface="Gulim"/>
            </a:endParaRPr>
          </a:p>
        </p:txBody>
      </p:sp>
      <p:sp>
        <p:nvSpPr>
          <p:cNvPr id="9" name="Text 7"/>
          <p:cNvSpPr/>
          <p:nvPr/>
        </p:nvSpPr>
        <p:spPr>
          <a:xfrm>
            <a:off x="4023360" y="19202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800" kern="0" dirty="0">
                <a:solidFill>
                  <a:srgbClr val="FFC107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CHAPTER 05</a:t>
            </a:r>
            <a:endParaRPr lang="en-US" sz="1300" dirty="0">
              <a:latin typeface="Gulim"/>
              <a:ea typeface="Gulim"/>
              <a:cs typeface="Gulim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023360" y="2331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3F1B2A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상담 예약 · 정기결제</a:t>
            </a:r>
            <a:endParaRPr lang="en-US" sz="4400" dirty="0">
              <a:latin typeface="Gulim"/>
              <a:ea typeface="Gulim"/>
              <a:cs typeface="Gulim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023360" y="379476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FC107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셀프 예약 · 가족 할인 · 결제 안내</a:t>
            </a:r>
            <a:endParaRPr lang="en-US" sz="1800" dirty="0">
              <a:latin typeface="Gulim"/>
              <a:ea typeface="Gulim"/>
              <a:cs typeface="Gulim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914400" y="6035040"/>
            <a:ext cx="146304" cy="146304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25296" y="6035040"/>
            <a:ext cx="146304" cy="146304"/>
          </a:xfrm>
          <a:prstGeom prst="ellipse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36192" y="6035040"/>
            <a:ext cx="146304" cy="146304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847088" y="6035040"/>
            <a:ext cx="146304" cy="146304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157984" y="6035040"/>
            <a:ext cx="219456" cy="219456"/>
          </a:xfrm>
          <a:prstGeom prst="ellipse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468880" y="6035040"/>
            <a:ext cx="146304" cy="146304"/>
          </a:xfrm>
          <a:prstGeom prst="ellipse">
            <a:avLst/>
          </a:prstGeom>
          <a:solidFill>
            <a:srgbClr val="E1CDB8"/>
          </a:solidFill>
          <a:ln w="12700">
            <a:solidFill>
              <a:srgbClr val="E1CD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79776" y="6035040"/>
            <a:ext cx="146304" cy="146304"/>
          </a:xfrm>
          <a:prstGeom prst="ellipse">
            <a:avLst/>
          </a:prstGeom>
          <a:solidFill>
            <a:srgbClr val="E1CDB8"/>
          </a:solidFill>
          <a:ln w="12700">
            <a:solidFill>
              <a:srgbClr val="E1CDB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090672" y="6035040"/>
            <a:ext cx="146304" cy="146304"/>
          </a:xfrm>
          <a:prstGeom prst="ellipse">
            <a:avLst/>
          </a:prstGeom>
          <a:solidFill>
            <a:srgbClr val="E1CDB8"/>
          </a:solidFill>
          <a:ln w="12700">
            <a:solidFill>
              <a:srgbClr val="E1CDB8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F1B2A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셀프 예약 + 정기결제</a:t>
            </a:r>
            <a:endParaRPr lang="en-US" sz="3200" dirty="0">
              <a:latin typeface="Gulim"/>
              <a:ea typeface="Gulim"/>
              <a:cs typeface="Gulim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16459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6D2E46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CH 05 · BOOKING &amp; BILLING</a:t>
            </a:r>
            <a:endParaRPr lang="en-US" sz="1300" dirty="0">
              <a:latin typeface="Gulim"/>
              <a:ea typeface="Gulim"/>
              <a:cs typeface="Gulim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2537460" cy="16459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874520"/>
            <a:ext cx="2537460" cy="384048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25400">
            <a:solidFill>
              <a:srgbClr val="F9616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4944" y="1874520"/>
            <a:ext cx="2427732" cy="16459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05890" y="2240280"/>
            <a:ext cx="1005840" cy="100584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05890" y="224028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1</a:t>
            </a:r>
            <a:endParaRPr lang="en-US" sz="3600" dirty="0">
              <a:latin typeface="Gulim"/>
              <a:ea typeface="Gulim"/>
              <a:cs typeface="Gulim"/>
            </a:endParaRPr>
          </a:p>
        </p:txBody>
      </p:sp>
      <p:sp>
        <p:nvSpPr>
          <p:cNvPr id="9" name="Text 7"/>
          <p:cNvSpPr/>
          <p:nvPr/>
        </p:nvSpPr>
        <p:spPr>
          <a:xfrm>
            <a:off x="777240" y="3337560"/>
            <a:ext cx="22631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F1B2A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상담 셀프 예약</a:t>
            </a:r>
            <a:endParaRPr lang="en-US" sz="1600" dirty="0">
              <a:latin typeface="Gulim"/>
              <a:ea typeface="Gulim"/>
              <a:cs typeface="Gulim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04672" y="4023360"/>
            <a:ext cx="220827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F1B2A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📅 1:1 상담 예약</a:t>
            </a:r>
            <a:endParaRPr lang="en-US" sz="1200" dirty="0">
              <a:latin typeface="Gulim"/>
              <a:ea typeface="Gulim"/>
              <a:cs typeface="Gulim"/>
            </a:endParaRPr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F1B2A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캘린더 클릭 → 완료</a:t>
            </a:r>
            <a:endParaRPr lang="en-US" sz="1200" dirty="0">
              <a:latin typeface="Gulim"/>
              <a:ea typeface="Gulim"/>
              <a:cs typeface="Gulim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451860" y="1874520"/>
            <a:ext cx="2537460" cy="164592"/>
          </a:xfrm>
          <a:prstGeom prst="rect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51860" y="1874520"/>
            <a:ext cx="2537460" cy="384048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25400">
            <a:solidFill>
              <a:srgbClr val="FFA5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06724" y="1874520"/>
            <a:ext cx="2427732" cy="164592"/>
          </a:xfrm>
          <a:prstGeom prst="rect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17670" y="2240280"/>
            <a:ext cx="1005840" cy="1005840"/>
          </a:xfrm>
          <a:prstGeom prst="ellipse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17670" y="224028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2</a:t>
            </a:r>
            <a:endParaRPr lang="en-US" sz="3600" dirty="0">
              <a:latin typeface="Gulim"/>
              <a:ea typeface="Gulim"/>
              <a:cs typeface="Gulim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589020" y="3337560"/>
            <a:ext cx="22631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F1B2A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예약 변경/취소</a:t>
            </a:r>
            <a:endParaRPr lang="en-US" sz="1600" dirty="0">
              <a:latin typeface="Gulim"/>
              <a:ea typeface="Gulim"/>
              <a:cs typeface="Gulim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616452" y="4023360"/>
            <a:ext cx="220827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F1B2A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같은 화면에서</a:t>
            </a:r>
            <a:endParaRPr lang="en-US" sz="1200" dirty="0">
              <a:latin typeface="Gulim"/>
              <a:ea typeface="Gulim"/>
              <a:cs typeface="Gulim"/>
            </a:endParaRPr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F1B2A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24시간 전 양해</a:t>
            </a:r>
            <a:endParaRPr lang="en-US" sz="1200" dirty="0">
              <a:latin typeface="Gulim"/>
              <a:ea typeface="Gulim"/>
              <a:cs typeface="Gulim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263640" y="1874520"/>
            <a:ext cx="2537460" cy="164592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63640" y="1874520"/>
            <a:ext cx="2537460" cy="384048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25400">
            <a:solidFill>
              <a:srgbClr val="7B61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18504" y="1874520"/>
            <a:ext cx="2427732" cy="164592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029450" y="2240280"/>
            <a:ext cx="1005840" cy="1005840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29450" y="224028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3</a:t>
            </a:r>
            <a:endParaRPr lang="en-US" sz="3600" dirty="0">
              <a:latin typeface="Gulim"/>
              <a:ea typeface="Gulim"/>
              <a:cs typeface="Gulim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400800" y="3337560"/>
            <a:ext cx="22631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F1B2A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정기결제</a:t>
            </a:r>
            <a:endParaRPr lang="en-US" sz="1600" dirty="0">
              <a:latin typeface="Gulim"/>
              <a:ea typeface="Gulim"/>
              <a:cs typeface="Gulim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428232" y="4023360"/>
            <a:ext cx="220827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F1B2A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💳 카드 한 번 등록</a:t>
            </a:r>
            <a:endParaRPr lang="en-US" sz="1200" dirty="0">
              <a:latin typeface="Gulim"/>
              <a:ea typeface="Gulim"/>
              <a:cs typeface="Gulim"/>
            </a:endParaRPr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F1B2A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→ 매월 자동</a:t>
            </a:r>
            <a:endParaRPr lang="en-US" sz="1200" dirty="0">
              <a:latin typeface="Gulim"/>
              <a:ea typeface="Gulim"/>
              <a:cs typeface="Gulim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9075420" y="1874520"/>
            <a:ext cx="2537460" cy="16459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075420" y="1874520"/>
            <a:ext cx="2537460" cy="384048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25400">
            <a:solidFill>
              <a:srgbClr val="00BFA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130284" y="1874520"/>
            <a:ext cx="2427732" cy="16459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841230" y="2240280"/>
            <a:ext cx="1005840" cy="1005840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841230" y="224028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4</a:t>
            </a:r>
            <a:endParaRPr lang="en-US" sz="3600" dirty="0">
              <a:latin typeface="Gulim"/>
              <a:ea typeface="Gulim"/>
              <a:cs typeface="Gulim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9212580" y="3337560"/>
            <a:ext cx="22631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F1B2A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가족 할인</a:t>
            </a:r>
            <a:endParaRPr lang="en-US" sz="1600" dirty="0">
              <a:latin typeface="Gulim"/>
              <a:ea typeface="Gulim"/>
              <a:cs typeface="Gulim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9240012" y="4023360"/>
            <a:ext cx="220827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F1B2A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둘째 자녀부터</a:t>
            </a:r>
            <a:endParaRPr lang="en-US" sz="1200" dirty="0">
              <a:latin typeface="Gulim"/>
              <a:ea typeface="Gulim"/>
              <a:cs typeface="Gulim"/>
            </a:endParaRPr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F1B2A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자동 10% 할인</a:t>
            </a:r>
            <a:endParaRPr lang="en-US" sz="1200" dirty="0">
              <a:latin typeface="Gulim"/>
              <a:ea typeface="Gulim"/>
              <a:cs typeface="Gulim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640080" y="5897880"/>
            <a:ext cx="10972800" cy="777240"/>
          </a:xfrm>
          <a:prstGeom prst="roundRect">
            <a:avLst>
              <a:gd name="adj" fmla="val 14118"/>
            </a:avLst>
          </a:prstGeom>
          <a:solidFill>
            <a:srgbClr val="F2E0E4"/>
          </a:solidFill>
          <a:ln w="12700">
            <a:solidFill>
              <a:srgbClr val="F2E0E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7240" y="5897880"/>
            <a:ext cx="640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💡</a:t>
            </a:r>
            <a:endParaRPr lang="en-US" sz="2200" dirty="0">
              <a:latin typeface="Gulim"/>
              <a:ea typeface="Gulim"/>
              <a:cs typeface="Gulim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1417320" y="589788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1828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결제 실패 시 즉시 카톡 알림 + 재시도 3번 자동 — 결제일 까먹어도 걱정 없어요.</a:t>
            </a:r>
            <a:endParaRPr lang="en-US" sz="1400" dirty="0">
              <a:latin typeface="Gulim"/>
              <a:ea typeface="Gulim"/>
              <a:cs typeface="Gulim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E91E63"/>
          </a:solidFill>
          <a:ln w="12700">
            <a:solidFill>
              <a:srgbClr val="E91E6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28600"/>
            <a:ext cx="164592" cy="6629400"/>
          </a:xfrm>
          <a:prstGeom prst="rect">
            <a:avLst/>
          </a:prstGeom>
          <a:solidFill>
            <a:srgbClr val="E91E63"/>
          </a:solidFill>
          <a:ln w="12700">
            <a:solidFill>
              <a:srgbClr val="E91E6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874520"/>
            <a:ext cx="3017520" cy="3017520"/>
          </a:xfrm>
          <a:prstGeom prst="ellipse">
            <a:avLst/>
          </a:prstGeom>
          <a:solidFill>
            <a:srgbClr val="E91E63">
              <a:alpha val="20000"/>
            </a:srgbClr>
          </a:solidFill>
          <a:ln w="12700">
            <a:solidFill>
              <a:srgbClr val="E91E63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103120"/>
            <a:ext cx="2560320" cy="2560320"/>
          </a:xfrm>
          <a:prstGeom prst="ellipse">
            <a:avLst/>
          </a:prstGeom>
          <a:solidFill>
            <a:srgbClr val="E91E63"/>
          </a:solidFill>
          <a:ln w="38100">
            <a:solidFill>
              <a:srgbClr val="A267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103120"/>
            <a:ext cx="25603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07</a:t>
            </a:r>
            <a:endParaRPr lang="en-US" sz="9600" dirty="0">
              <a:latin typeface="Gulim"/>
              <a:ea typeface="Gulim"/>
              <a:cs typeface="Gulim"/>
            </a:endParaRPr>
          </a:p>
        </p:txBody>
      </p:sp>
      <p:sp>
        <p:nvSpPr>
          <p:cNvPr id="7" name="Shape 5"/>
          <p:cNvSpPr/>
          <p:nvPr/>
        </p:nvSpPr>
        <p:spPr>
          <a:xfrm>
            <a:off x="9448495" y="1371600"/>
            <a:ext cx="2011680" cy="2011680"/>
          </a:xfrm>
          <a:prstGeom prst="ellipse">
            <a:avLst/>
          </a:prstGeom>
          <a:solidFill>
            <a:srgbClr val="4CAF50">
              <a:alpha val="75000"/>
            </a:srgbClr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48495" y="137160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0" dirty="0">
                <a:solidFill>
                  <a:srgbClr val="000000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🤖</a:t>
            </a:r>
            <a:endParaRPr lang="en-US" sz="9000" dirty="0">
              <a:latin typeface="Gulim"/>
              <a:ea typeface="Gulim"/>
              <a:cs typeface="Gulim"/>
            </a:endParaRPr>
          </a:p>
        </p:txBody>
      </p:sp>
      <p:sp>
        <p:nvSpPr>
          <p:cNvPr id="9" name="Text 7"/>
          <p:cNvSpPr/>
          <p:nvPr/>
        </p:nvSpPr>
        <p:spPr>
          <a:xfrm>
            <a:off x="4023360" y="19202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800" kern="0" dirty="0">
                <a:solidFill>
                  <a:srgbClr val="E91E63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CHAPTER 07</a:t>
            </a:r>
            <a:endParaRPr lang="en-US" sz="1300" dirty="0">
              <a:latin typeface="Gulim"/>
              <a:ea typeface="Gulim"/>
              <a:cs typeface="Gulim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023360" y="2331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3F1B2A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NPS · 알림톡 · 응원 메시지</a:t>
            </a:r>
            <a:endParaRPr lang="en-US" sz="4400" dirty="0">
              <a:latin typeface="Gulim"/>
              <a:ea typeface="Gulim"/>
              <a:cs typeface="Gulim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023360" y="379476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91E63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월 1회 응답 · 알림 종류 · 자녀에게 한 줄</a:t>
            </a:r>
            <a:endParaRPr lang="en-US" sz="1800" dirty="0">
              <a:latin typeface="Gulim"/>
              <a:ea typeface="Gulim"/>
              <a:cs typeface="Gulim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914400" y="6035040"/>
            <a:ext cx="146304" cy="146304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25296" y="6035040"/>
            <a:ext cx="146304" cy="146304"/>
          </a:xfrm>
          <a:prstGeom prst="ellipse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36192" y="6035040"/>
            <a:ext cx="146304" cy="146304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847088" y="6035040"/>
            <a:ext cx="146304" cy="146304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157984" y="6035040"/>
            <a:ext cx="146304" cy="146304"/>
          </a:xfrm>
          <a:prstGeom prst="ellipse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468880" y="6035040"/>
            <a:ext cx="146304" cy="146304"/>
          </a:xfrm>
          <a:prstGeom prst="ellipse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79776" y="6035040"/>
            <a:ext cx="219456" cy="219456"/>
          </a:xfrm>
          <a:prstGeom prst="ellipse">
            <a:avLst/>
          </a:prstGeom>
          <a:solidFill>
            <a:srgbClr val="E91E63"/>
          </a:solidFill>
          <a:ln w="12700">
            <a:solidFill>
              <a:srgbClr val="E91E6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090672" y="6035040"/>
            <a:ext cx="146304" cy="146304"/>
          </a:xfrm>
          <a:prstGeom prst="ellipse">
            <a:avLst/>
          </a:prstGeom>
          <a:solidFill>
            <a:srgbClr val="E1CDB8"/>
          </a:solidFill>
          <a:ln w="12700">
            <a:solidFill>
              <a:srgbClr val="E1CDB8"/>
            </a:solidFill>
            <a:prstDash val="solid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F1B2A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받게 되는 카톡 알림 종류</a:t>
            </a:r>
            <a:endParaRPr lang="en-US" sz="3200" dirty="0">
              <a:latin typeface="Gulim"/>
              <a:ea typeface="Gulim"/>
              <a:cs typeface="Gulim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85800" y="1764792"/>
            <a:ext cx="2468880" cy="3931920"/>
          </a:xfrm>
          <a:prstGeom prst="roundRect">
            <a:avLst>
              <a:gd name="adj" fmla="val 7407"/>
            </a:avLst>
          </a:prstGeom>
          <a:solidFill>
            <a:srgbClr val="F96167">
              <a:alpha val="22000"/>
            </a:srgbClr>
          </a:solidFill>
          <a:ln w="12700">
            <a:solidFill>
              <a:srgbClr val="F96167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691640"/>
            <a:ext cx="2468880" cy="3931920"/>
          </a:xfrm>
          <a:prstGeom prst="roundRect">
            <a:avLst>
              <a:gd name="adj" fmla="val 7407"/>
            </a:avLst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103120"/>
            <a:ext cx="1920240" cy="1554480"/>
          </a:xfrm>
          <a:prstGeom prst="roundRect">
            <a:avLst>
              <a:gd name="adj" fmla="val 8824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14884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📝</a:t>
            </a:r>
            <a:endParaRPr lang="en-US" sz="6000" dirty="0">
              <a:latin typeface="Gulim"/>
              <a:ea typeface="Gulim"/>
              <a:cs typeface="Gulim"/>
            </a:endParaRPr>
          </a:p>
        </p:txBody>
      </p:sp>
      <p:sp>
        <p:nvSpPr>
          <p:cNvPr id="7" name="Text 5"/>
          <p:cNvSpPr/>
          <p:nvPr/>
        </p:nvSpPr>
        <p:spPr>
          <a:xfrm>
            <a:off x="822960" y="388620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새 평가서</a:t>
            </a:r>
            <a:endParaRPr lang="en-US" sz="1700" dirty="0">
              <a:latin typeface="Gulim"/>
              <a:ea typeface="Gulim"/>
              <a:cs typeface="Gulim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417320" y="4434840"/>
            <a:ext cx="91440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52628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수업 후 강사 작성 즉시</a:t>
            </a:r>
            <a:endParaRPr lang="en-US" sz="1200" dirty="0">
              <a:latin typeface="Gulim"/>
              <a:ea typeface="Gulim"/>
              <a:cs typeface="Gulim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520440" y="1764792"/>
            <a:ext cx="2468880" cy="3931920"/>
          </a:xfrm>
          <a:prstGeom prst="roundRect">
            <a:avLst>
              <a:gd name="adj" fmla="val 7407"/>
            </a:avLst>
          </a:prstGeom>
          <a:solidFill>
            <a:srgbClr val="FFA500">
              <a:alpha val="22000"/>
            </a:srgbClr>
          </a:solidFill>
          <a:ln w="12700">
            <a:solidFill>
              <a:srgbClr val="FFA500">
                <a:alpha val="2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74720" y="1691640"/>
            <a:ext cx="2468880" cy="3931920"/>
          </a:xfrm>
          <a:prstGeom prst="roundRect">
            <a:avLst>
              <a:gd name="adj" fmla="val 7407"/>
            </a:avLst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49040" y="2103120"/>
            <a:ext cx="1920240" cy="1554480"/>
          </a:xfrm>
          <a:prstGeom prst="roundRect">
            <a:avLst>
              <a:gd name="adj" fmla="val 8824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6160" y="214884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📅</a:t>
            </a:r>
            <a:endParaRPr lang="en-US" sz="6000" dirty="0">
              <a:latin typeface="Gulim"/>
              <a:ea typeface="Gulim"/>
              <a:cs typeface="Gulim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657600" y="388620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수업 5분 전</a:t>
            </a:r>
            <a:endParaRPr lang="en-US" sz="1700" dirty="0">
              <a:latin typeface="Gulim"/>
              <a:ea typeface="Gulim"/>
              <a:cs typeface="Gulim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251960" y="4434840"/>
            <a:ext cx="91440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0" y="452628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잊지 않고 입장</a:t>
            </a:r>
            <a:endParaRPr lang="en-US" sz="1200" dirty="0">
              <a:latin typeface="Gulim"/>
              <a:ea typeface="Gulim"/>
              <a:cs typeface="Gulim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355080" y="1764792"/>
            <a:ext cx="2468880" cy="3931920"/>
          </a:xfrm>
          <a:prstGeom prst="roundRect">
            <a:avLst>
              <a:gd name="adj" fmla="val 7407"/>
            </a:avLst>
          </a:prstGeom>
          <a:solidFill>
            <a:srgbClr val="7B61FF">
              <a:alpha val="22000"/>
            </a:srgbClr>
          </a:solidFill>
          <a:ln w="12700">
            <a:solidFill>
              <a:srgbClr val="7B61FF">
                <a:alpha val="2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09360" y="1691640"/>
            <a:ext cx="2468880" cy="3931920"/>
          </a:xfrm>
          <a:prstGeom prst="roundRect">
            <a:avLst>
              <a:gd name="adj" fmla="val 7407"/>
            </a:avLst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2103120"/>
            <a:ext cx="1920240" cy="1554480"/>
          </a:xfrm>
          <a:prstGeom prst="roundRect">
            <a:avLst>
              <a:gd name="adj" fmla="val 8824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214884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🏆</a:t>
            </a:r>
            <a:endParaRPr lang="en-US" sz="6000" dirty="0">
              <a:latin typeface="Gulim"/>
              <a:ea typeface="Gulim"/>
              <a:cs typeface="Gulim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492240" y="388620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자녀 배지 획득</a:t>
            </a:r>
            <a:endParaRPr lang="en-US" sz="1700" dirty="0">
              <a:latin typeface="Gulim"/>
              <a:ea typeface="Gulim"/>
              <a:cs typeface="Gulim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7086600" y="4434840"/>
            <a:ext cx="91440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0" y="452628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자동 부여 시</a:t>
            </a:r>
            <a:endParaRPr lang="en-US" sz="1200" dirty="0">
              <a:latin typeface="Gulim"/>
              <a:ea typeface="Gulim"/>
              <a:cs typeface="Gulim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9189720" y="1764792"/>
            <a:ext cx="2468880" cy="3931920"/>
          </a:xfrm>
          <a:prstGeom prst="roundRect">
            <a:avLst>
              <a:gd name="adj" fmla="val 7407"/>
            </a:avLst>
          </a:prstGeom>
          <a:solidFill>
            <a:srgbClr val="00BFA5">
              <a:alpha val="22000"/>
            </a:srgbClr>
          </a:solidFill>
          <a:ln w="12700">
            <a:solidFill>
              <a:srgbClr val="00BFA5">
                <a:alpha val="22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144000" y="1691640"/>
            <a:ext cx="2468880" cy="3931920"/>
          </a:xfrm>
          <a:prstGeom prst="roundRect">
            <a:avLst>
              <a:gd name="adj" fmla="val 7407"/>
            </a:avLst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418320" y="2103120"/>
            <a:ext cx="1920240" cy="1554480"/>
          </a:xfrm>
          <a:prstGeom prst="roundRect">
            <a:avLst>
              <a:gd name="adj" fmla="val 8824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235440" y="214884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📄</a:t>
            </a:r>
            <a:endParaRPr lang="en-US" sz="6000" dirty="0">
              <a:latin typeface="Gulim"/>
              <a:ea typeface="Gulim"/>
              <a:cs typeface="Gulim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9326880" y="388620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월별 보고서</a:t>
            </a:r>
            <a:endParaRPr lang="en-US" sz="1700" dirty="0">
              <a:latin typeface="Gulim"/>
              <a:ea typeface="Gulim"/>
              <a:cs typeface="Gulim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9921240" y="4434840"/>
            <a:ext cx="91440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326880" y="452628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매월 1일 오전</a:t>
            </a:r>
            <a:endParaRPr lang="en-US" sz="1200" dirty="0">
              <a:latin typeface="Gulim"/>
              <a:ea typeface="Gulim"/>
              <a:cs typeface="Gulim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40080" y="58064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D2E46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결제 안내 · NPS 설문 · 위클리 다이제스트 — 모두 카카오 알림톡으로 자동.</a:t>
            </a:r>
            <a:endParaRPr lang="en-US" sz="1500" dirty="0">
              <a:latin typeface="Gulim"/>
              <a:ea typeface="Gulim"/>
              <a:cs typeface="Gulim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F1B2A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NPS 응답 + 응원 메시지</a:t>
            </a:r>
            <a:endParaRPr lang="en-US" sz="3200" dirty="0">
              <a:latin typeface="Gulim"/>
              <a:ea typeface="Gulim"/>
              <a:cs typeface="Gulim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16459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6D2E46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CH 07 · NPS · MESSAGE</a:t>
            </a:r>
            <a:endParaRPr lang="en-US" sz="1300" dirty="0">
              <a:latin typeface="Gulim"/>
              <a:ea typeface="Gulim"/>
              <a:cs typeface="Gulim"/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603504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3F1B2A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NPS: "망고아이를 친구에게 추천하시겠어요?" 한 질문</a:t>
            </a:r>
            <a:endParaRPr lang="en-US" sz="1600" dirty="0">
              <a:latin typeface="Gulim"/>
              <a:ea typeface="Gulim"/>
              <a:cs typeface="Gulim"/>
            </a:endParaRPr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3F1B2A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0~10점 + 한 줄 자유 코멘트 (익명)</a:t>
            </a:r>
            <a:endParaRPr lang="en-US" sz="1600" dirty="0">
              <a:latin typeface="Gulim"/>
              <a:ea typeface="Gulim"/>
              <a:cs typeface="Gulim"/>
            </a:endParaRPr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3F1B2A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답변하시면 자녀에게 +200P 보너스</a:t>
            </a:r>
            <a:endParaRPr lang="en-US" sz="1600" dirty="0">
              <a:latin typeface="Gulim"/>
              <a:ea typeface="Gulim"/>
              <a:cs typeface="Gulim"/>
            </a:endParaRPr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3F1B2A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응원 메시지: 100자 한 줄 → 자녀 로그인 시 망고이가 전달</a:t>
            </a:r>
            <a:endParaRPr lang="en-US" sz="1600" dirty="0">
              <a:latin typeface="Gulim"/>
              <a:ea typeface="Gulim"/>
              <a:cs typeface="Gulim"/>
            </a:endParaRPr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3F1B2A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큰 성취 시 자동 SNS 카드 — "🎉 축하해요!" 답장</a:t>
            </a:r>
            <a:endParaRPr lang="en-US" sz="1600" dirty="0">
              <a:latin typeface="Gulim"/>
              <a:ea typeface="Gulim"/>
              <a:cs typeface="Gulim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949440" y="1463040"/>
            <a:ext cx="4617720" cy="4846320"/>
          </a:xfrm>
          <a:prstGeom prst="roundRect">
            <a:avLst>
              <a:gd name="adj" fmla="val 3564"/>
            </a:avLst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15300" y="1755648"/>
            <a:ext cx="2286000" cy="2286000"/>
          </a:xfrm>
          <a:prstGeom prst="ellipse">
            <a:avLst/>
          </a:prstGeom>
          <a:solidFill>
            <a:srgbClr val="F96167">
              <a:alpha val="40000"/>
            </a:srgbClr>
          </a:solidFill>
          <a:ln w="12700">
            <a:solidFill>
              <a:srgbClr val="F96167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98180" y="1874520"/>
            <a:ext cx="1920240" cy="1920240"/>
          </a:xfrm>
          <a:prstGeom prst="ellipse">
            <a:avLst/>
          </a:prstGeom>
          <a:solidFill>
            <a:srgbClr val="A26769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43900" y="192024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dirty="0">
                <a:solidFill>
                  <a:srgbClr val="000000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💌</a:t>
            </a:r>
            <a:endParaRPr lang="en-US" sz="9600" dirty="0">
              <a:latin typeface="Gulim"/>
              <a:ea typeface="Gulim"/>
              <a:cs typeface="Gulim"/>
            </a:endParaRPr>
          </a:p>
        </p:txBody>
      </p:sp>
      <p:sp>
        <p:nvSpPr>
          <p:cNvPr id="9" name="Text 7"/>
          <p:cNvSpPr/>
          <p:nvPr/>
        </p:nvSpPr>
        <p:spPr>
          <a:xfrm>
            <a:off x="7223760" y="3931920"/>
            <a:ext cx="4069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CE2D0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점수보다 코멘트</a:t>
            </a:r>
            <a:endParaRPr lang="en-US" sz="2000" dirty="0">
              <a:latin typeface="Gulim"/>
              <a:ea typeface="Gulim"/>
              <a:cs typeface="Gulim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315200" y="4572000"/>
            <a:ext cx="38862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ECE2D0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망고아이가 더 나아지는 가장 큰 동력은 학부모님의 한 줄 코멘트입니다.</a:t>
            </a:r>
            <a:endParaRPr lang="en-US" sz="1400" dirty="0">
              <a:latin typeface="Gulim"/>
              <a:ea typeface="Gulim"/>
              <a:cs typeface="Gulim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F1B2A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자주 묻는 질문</a:t>
            </a:r>
            <a:endParaRPr lang="en-US" sz="3200" dirty="0">
              <a:latin typeface="Gulim"/>
              <a:ea typeface="Gulim"/>
              <a:cs typeface="Gulim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12801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6D2E46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FAQ</a:t>
            </a:r>
            <a:endParaRPr lang="en-US" sz="1300" dirty="0">
              <a:latin typeface="Gulim"/>
              <a:ea typeface="Gulim"/>
              <a:cs typeface="Gulim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5303520" cy="1493520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E1CDB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280160"/>
            <a:ext cx="5303520" cy="10972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536192"/>
            <a:ext cx="548640" cy="54864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5361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Q</a:t>
            </a:r>
            <a:endParaRPr lang="en-US" sz="2000" dirty="0">
              <a:latin typeface="Gulim"/>
              <a:ea typeface="Gulim"/>
              <a:cs typeface="Gulim"/>
            </a:endParaRPr>
          </a:p>
        </p:txBody>
      </p:sp>
      <p:sp>
        <p:nvSpPr>
          <p:cNvPr id="8" name="Text 6"/>
          <p:cNvSpPr/>
          <p:nvPr/>
        </p:nvSpPr>
        <p:spPr>
          <a:xfrm>
            <a:off x="1417320" y="1444752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1B2A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학생 ID 를 어디서 찾나요?</a:t>
            </a:r>
            <a:endParaRPr lang="en-US" sz="1400" dirty="0">
              <a:latin typeface="Gulim"/>
              <a:ea typeface="Gulim"/>
              <a:cs typeface="Gulim"/>
            </a:endParaRPr>
          </a:p>
        </p:txBody>
      </p:sp>
      <p:sp>
        <p:nvSpPr>
          <p:cNvPr id="9" name="Text 7"/>
          <p:cNvSpPr/>
          <p:nvPr/>
        </p:nvSpPr>
        <p:spPr>
          <a:xfrm>
            <a:off x="1417320" y="2057400"/>
            <a:ext cx="4343400" cy="57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3F1B2A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학원 행정실 또는 강사에게 문의하시면 즉시 안내드립니다.</a:t>
            </a:r>
            <a:endParaRPr lang="en-US" sz="1200" dirty="0">
              <a:latin typeface="Gulim"/>
              <a:ea typeface="Gulim"/>
              <a:cs typeface="Gulim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309360" y="1280160"/>
            <a:ext cx="5303520" cy="1493520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E1CDB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09360" y="1280160"/>
            <a:ext cx="5303520" cy="109728"/>
          </a:xfrm>
          <a:prstGeom prst="rect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92240" y="1536192"/>
            <a:ext cx="548640" cy="548640"/>
          </a:xfrm>
          <a:prstGeom prst="ellipse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15361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Q</a:t>
            </a:r>
            <a:endParaRPr lang="en-US" sz="2000" dirty="0">
              <a:latin typeface="Gulim"/>
              <a:ea typeface="Gulim"/>
              <a:cs typeface="Gulim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086600" y="1444752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1B2A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자녀가 2명인데 어떻게 보나요?</a:t>
            </a:r>
            <a:endParaRPr lang="en-US" sz="1400" dirty="0">
              <a:latin typeface="Gulim"/>
              <a:ea typeface="Gulim"/>
              <a:cs typeface="Gulim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086600" y="2057400"/>
            <a:ext cx="4343400" cy="57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3F1B2A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학원에 가족 등록 요청 → 부모 대시보드 상단 탭에서 자녀별 전환.</a:t>
            </a:r>
            <a:endParaRPr lang="en-US" sz="1200" dirty="0">
              <a:latin typeface="Gulim"/>
              <a:ea typeface="Gulim"/>
              <a:cs typeface="Gulim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40080" y="3139440"/>
            <a:ext cx="5303520" cy="1493520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E1CD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139440"/>
            <a:ext cx="5303520" cy="109728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" y="3395472"/>
            <a:ext cx="548640" cy="548640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33954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Q</a:t>
            </a:r>
            <a:endParaRPr lang="en-US" sz="2000" dirty="0">
              <a:latin typeface="Gulim"/>
              <a:ea typeface="Gulim"/>
              <a:cs typeface="Gulim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417320" y="3304032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1B2A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발음이 갑자기 떨어졌어요</a:t>
            </a:r>
            <a:endParaRPr lang="en-US" sz="1400" dirty="0">
              <a:latin typeface="Gulim"/>
              <a:ea typeface="Gulim"/>
              <a:cs typeface="Gulim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417320" y="3916680"/>
            <a:ext cx="4343400" cy="57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3F1B2A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마이크·컨디션 문제일 수 있어요. 14일 평균이 계속 낮으면 강사에게 케어 상담.</a:t>
            </a:r>
            <a:endParaRPr lang="en-US" sz="1200" dirty="0">
              <a:latin typeface="Gulim"/>
              <a:ea typeface="Gulim"/>
              <a:cs typeface="Gulim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309360" y="3139440"/>
            <a:ext cx="5303520" cy="1493520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E1CDB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09360" y="3139440"/>
            <a:ext cx="5303520" cy="109728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92240" y="3395472"/>
            <a:ext cx="548640" cy="548640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0" y="33954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Q</a:t>
            </a:r>
            <a:endParaRPr lang="en-US" sz="2000" dirty="0">
              <a:latin typeface="Gulim"/>
              <a:ea typeface="Gulim"/>
              <a:cs typeface="Gulim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7086600" y="3304032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1B2A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결제를 잠시 멈추고 싶어요</a:t>
            </a:r>
            <a:endParaRPr lang="en-US" sz="1400" dirty="0">
              <a:latin typeface="Gulim"/>
              <a:ea typeface="Gulim"/>
              <a:cs typeface="Gulim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7086600" y="3916680"/>
            <a:ext cx="4343400" cy="57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3F1B2A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마이페이지 → 정기결제 → "일시 정지" 또는 학원 문의. 데이터는 그대로.</a:t>
            </a:r>
            <a:endParaRPr lang="en-US" sz="1200" dirty="0">
              <a:latin typeface="Gulim"/>
              <a:ea typeface="Gulim"/>
              <a:cs typeface="Gulim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640080" y="4998720"/>
            <a:ext cx="5303520" cy="1493520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E1CDB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0080" y="4998720"/>
            <a:ext cx="5303520" cy="109728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2960" y="5254752"/>
            <a:ext cx="548640" cy="548640"/>
          </a:xfrm>
          <a:prstGeom prst="ellipse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2960" y="525475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Q</a:t>
            </a:r>
            <a:endParaRPr lang="en-US" sz="2000" dirty="0">
              <a:latin typeface="Gulim"/>
              <a:ea typeface="Gulim"/>
              <a:cs typeface="Gulim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1417320" y="5163312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1B2A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자녀가 망고아이를 안 해요</a:t>
            </a:r>
            <a:endParaRPr lang="en-US" sz="1400" dirty="0">
              <a:latin typeface="Gulim"/>
              <a:ea typeface="Gulim"/>
              <a:cs typeface="Gulim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1417320" y="5775960"/>
            <a:ext cx="4343400" cy="57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3F1B2A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💌 응원 메시지 한 줄 + 영어 배틀 친구 매칭 요청이 가장 큰 동기부여.</a:t>
            </a:r>
            <a:endParaRPr lang="en-US" sz="1200" dirty="0">
              <a:latin typeface="Gulim"/>
              <a:ea typeface="Gulim"/>
              <a:cs typeface="Gulim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6309360" y="4998720"/>
            <a:ext cx="5303520" cy="1493520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E1CDB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309360" y="4998720"/>
            <a:ext cx="5303520" cy="109728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92240" y="5254752"/>
            <a:ext cx="548640" cy="548640"/>
          </a:xfrm>
          <a:prstGeom prst="ellipse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92240" y="525475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Q</a:t>
            </a:r>
            <a:endParaRPr lang="en-US" sz="2000" dirty="0">
              <a:latin typeface="Gulim"/>
              <a:ea typeface="Gulim"/>
              <a:cs typeface="Gulim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7086600" y="5163312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1B2A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데이터는 어떻게 보호되나요?</a:t>
            </a:r>
            <a:endParaRPr lang="en-US" sz="1400" dirty="0">
              <a:latin typeface="Gulim"/>
              <a:ea typeface="Gulim"/>
              <a:cs typeface="Gulim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7086600" y="5775960"/>
            <a:ext cx="4343400" cy="57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3F1B2A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Cloudflare D1 암호화 저장. 영어 친구 챗봇 대화는 강사·부모도 안 봅니다.</a:t>
            </a:r>
            <a:endParaRPr lang="en-US" sz="1200" dirty="0">
              <a:latin typeface="Gulim"/>
              <a:ea typeface="Gulim"/>
              <a:cs typeface="Gulim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F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51215" y="-1463040"/>
            <a:ext cx="4937760" cy="4937760"/>
          </a:xfrm>
          <a:prstGeom prst="ellipse">
            <a:avLst/>
          </a:prstGeom>
          <a:solidFill>
            <a:srgbClr val="6D2E46">
              <a:alpha val="70000"/>
            </a:srgbClr>
          </a:solidFill>
          <a:ln w="12700">
            <a:solidFill>
              <a:srgbClr val="6D2E46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997135" y="91440"/>
            <a:ext cx="2194560" cy="2194560"/>
          </a:xfrm>
          <a:prstGeom prst="ellipse">
            <a:avLst/>
          </a:prstGeom>
          <a:solidFill>
            <a:srgbClr val="7B61FF">
              <a:alpha val="55000"/>
            </a:srgbClr>
          </a:solidFill>
          <a:ln w="12700">
            <a:solidFill>
              <a:srgbClr val="7B61FF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280160" y="4572000"/>
            <a:ext cx="3291840" cy="3291840"/>
          </a:xfrm>
          <a:prstGeom prst="ellipse">
            <a:avLst/>
          </a:prstGeom>
          <a:solidFill>
            <a:srgbClr val="A26769">
              <a:alpha val="40000"/>
            </a:srgbClr>
          </a:solidFill>
          <a:ln w="12700">
            <a:solidFill>
              <a:srgbClr val="A26769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5120640"/>
            <a:ext cx="1463040" cy="1463040"/>
          </a:xfrm>
          <a:prstGeom prst="ellipse">
            <a:avLst/>
          </a:prstGeom>
          <a:solidFill>
            <a:srgbClr val="F96167">
              <a:alpha val="60000"/>
            </a:srgbClr>
          </a:solidFill>
          <a:ln w="12700">
            <a:solidFill>
              <a:srgbClr val="F96167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411480"/>
            <a:ext cx="1036290" cy="914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731234" y="411480"/>
            <a:ext cx="1036290" cy="91440"/>
          </a:xfrm>
          <a:prstGeom prst="rect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822387" y="411480"/>
            <a:ext cx="1036290" cy="91440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13541" y="411480"/>
            <a:ext cx="1036290" cy="9144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04694" y="411480"/>
            <a:ext cx="1036290" cy="9144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095848" y="411480"/>
            <a:ext cx="1036290" cy="9144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87001" y="411480"/>
            <a:ext cx="1036290" cy="91440"/>
          </a:xfrm>
          <a:prstGeom prst="rect">
            <a:avLst/>
          </a:prstGeom>
          <a:solidFill>
            <a:srgbClr val="E91E63"/>
          </a:solidFill>
          <a:ln w="12700">
            <a:solidFill>
              <a:srgbClr val="E91E6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78155" y="411480"/>
            <a:ext cx="1036290" cy="9144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369308" y="411480"/>
            <a:ext cx="1036290" cy="91440"/>
          </a:xfrm>
          <a:prstGeom prst="rect">
            <a:avLst/>
          </a:prstGeom>
          <a:solidFill>
            <a:srgbClr val="FF5722"/>
          </a:solidFill>
          <a:ln w="12700">
            <a:solidFill>
              <a:srgbClr val="FF572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460462" y="411480"/>
            <a:ext cx="1036290" cy="91440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52848" y="960120"/>
            <a:ext cx="2286000" cy="2286000"/>
          </a:xfrm>
          <a:prstGeom prst="ellipse">
            <a:avLst/>
          </a:prstGeom>
          <a:solidFill>
            <a:srgbClr val="FFA500">
              <a:alpha val="45000"/>
            </a:srgbClr>
          </a:solidFill>
          <a:ln w="12700">
            <a:solidFill>
              <a:srgbClr val="FFA500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81448" y="1188720"/>
            <a:ext cx="1828800" cy="1828800"/>
          </a:xfrm>
          <a:prstGeom prst="ellipse">
            <a:avLst/>
          </a:prstGeom>
          <a:solidFill>
            <a:srgbClr val="6D2E46"/>
          </a:solidFill>
          <a:ln w="38100">
            <a:solidFill>
              <a:srgbClr val="A267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81448" y="118872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0" dirty="0">
                <a:solidFill>
                  <a:srgbClr val="000000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💛</a:t>
            </a:r>
            <a:endParaRPr lang="en-US" sz="9000" dirty="0">
              <a:latin typeface="Gulim"/>
              <a:ea typeface="Gulim"/>
              <a:cs typeface="Gulim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40080" y="32918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CE2D0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함께해 주셔서 감사합니다</a:t>
            </a:r>
            <a:endParaRPr lang="en-US" sz="4000" dirty="0">
              <a:latin typeface="Gulim"/>
              <a:ea typeface="Gulim"/>
              <a:cs typeface="Gulim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371600" y="4251960"/>
            <a:ext cx="94183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700" i="1" dirty="0">
                <a:solidFill>
                  <a:srgbClr val="ECE2D0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"자녀의 영어 학습은 길고 천천히 가는 여정입니다.</a:t>
            </a:r>
            <a:endParaRPr lang="en-US" sz="1700" dirty="0">
              <a:latin typeface="Gulim"/>
              <a:ea typeface="Gulim"/>
              <a:cs typeface="Gulim"/>
            </a:endParaRPr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700" i="1" dirty="0">
                <a:solidFill>
                  <a:srgbClr val="ECE2D0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망고아이는 단순히 점수가 아닌, 자녀가 영어를 좋아하게 되는 경험을 만들고자 합니다.</a:t>
            </a:r>
            <a:endParaRPr lang="en-US" sz="1700" dirty="0">
              <a:latin typeface="Gulim"/>
              <a:ea typeface="Gulim"/>
              <a:cs typeface="Gulim"/>
            </a:endParaRPr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700" i="1" dirty="0">
                <a:solidFill>
                  <a:srgbClr val="ECE2D0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학부모님의 따뜻한 마음과 함께할 때 가장 잘 자랍니다."</a:t>
            </a:r>
            <a:endParaRPr lang="en-US" sz="1700" dirty="0">
              <a:latin typeface="Gulim"/>
              <a:ea typeface="Gulim"/>
              <a:cs typeface="Gulim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40080" y="5897880"/>
            <a:ext cx="103629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731234" y="5897880"/>
            <a:ext cx="1036290" cy="73152"/>
          </a:xfrm>
          <a:prstGeom prst="rect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22387" y="5897880"/>
            <a:ext cx="1036290" cy="73152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913541" y="5897880"/>
            <a:ext cx="1036290" cy="7315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04694" y="5897880"/>
            <a:ext cx="1036290" cy="73152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95848" y="5897880"/>
            <a:ext cx="1036290" cy="73152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87001" y="5897880"/>
            <a:ext cx="1036290" cy="73152"/>
          </a:xfrm>
          <a:prstGeom prst="rect">
            <a:avLst/>
          </a:prstGeom>
          <a:solidFill>
            <a:srgbClr val="E91E63"/>
          </a:solidFill>
          <a:ln w="12700">
            <a:solidFill>
              <a:srgbClr val="E91E6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278155" y="5897880"/>
            <a:ext cx="1036290" cy="73152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369308" y="5897880"/>
            <a:ext cx="1036290" cy="73152"/>
          </a:xfrm>
          <a:prstGeom prst="rect">
            <a:avLst/>
          </a:prstGeom>
          <a:solidFill>
            <a:srgbClr val="FF5722"/>
          </a:solidFill>
          <a:ln w="12700">
            <a:solidFill>
              <a:srgbClr val="FF572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460462" y="5897880"/>
            <a:ext cx="1036290" cy="73152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61264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spc="400" kern="0" dirty="0">
                <a:solidFill>
                  <a:srgbClr val="ECE2D0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— MANGOI TEAM 드림</a:t>
            </a:r>
            <a:endParaRPr lang="en-US" sz="1400" dirty="0">
              <a:latin typeface="Gulim"/>
              <a:ea typeface="Gulim"/>
              <a:cs typeface="Gulim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54667" cy="36576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54666" y="0"/>
            <a:ext cx="1354667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09333" y="0"/>
            <a:ext cx="1354667" cy="3657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064000" y="0"/>
            <a:ext cx="1354667" cy="36576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18666" y="0"/>
            <a:ext cx="1354667" cy="3657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773333" y="0"/>
            <a:ext cx="1354667" cy="3657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128000" y="0"/>
            <a:ext cx="1354667" cy="3657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482666" y="0"/>
            <a:ext cx="1354667" cy="36576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837333" y="0"/>
            <a:ext cx="1354667" cy="3657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914400"/>
            <a:ext cx="11277600" cy="228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0" b="0">
                <a:solidFill>
                  <a:srgbClr val="FBBF24"/>
                </a:solidFill>
                <a:latin typeface="Gulim"/>
              </a:rPr>
              <a:t>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474720"/>
            <a:ext cx="1127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Gulim"/>
              </a:rPr>
              <a:t>영어 약자 쉬운 사전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572000"/>
            <a:ext cx="1127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DE047"/>
                </a:solidFill>
                <a:latin typeface="Gulim"/>
              </a:rPr>
              <a:t>초등 6학년도 한 번에 이해할 수 있게!</a:t>
            </a:r>
          </a:p>
        </p:txBody>
      </p:sp>
      <p:sp>
        <p:nvSpPr>
          <p:cNvPr id="15" name="Oval 14"/>
          <p:cNvSpPr/>
          <p:nvPr/>
        </p:nvSpPr>
        <p:spPr>
          <a:xfrm>
            <a:off x="3657600" y="6035040"/>
            <a:ext cx="320040" cy="32004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72000" y="6035040"/>
            <a:ext cx="320040" cy="3200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486400" y="6035040"/>
            <a:ext cx="320040" cy="32004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00800" y="6035040"/>
            <a:ext cx="320040" cy="32004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315200" y="6035040"/>
            <a:ext cx="320040" cy="3200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29600" y="6035040"/>
            <a:ext cx="320040" cy="32004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400800"/>
            <a:ext cx="1127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4A3B8"/>
                </a:solidFill>
                <a:latin typeface="Gulim"/>
              </a:rPr>
              <a:t>총 16개 약자 · 그림과 함께 쉬운 한국어로 풀이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6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BBF24"/>
                </a:solidFill>
                <a:latin typeface="Gulim"/>
              </a:rPr>
              <a:t>📚 영어 약자 쉬운 사전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685800"/>
            <a:ext cx="5577840" cy="5486400"/>
          </a:xfrm>
          <a:prstGeom prst="roundRect">
            <a:avLst/>
          </a:prstGeom>
          <a:solidFill>
            <a:srgbClr val="4C1D95"/>
          </a:solidFill>
          <a:ln w="31750">
            <a:solidFill>
              <a:srgbClr val="FDE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685800"/>
            <a:ext cx="5577840" cy="128016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280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 b="0">
                <a:solidFill>
                  <a:srgbClr val="FFFFFF"/>
                </a:solidFill>
                <a:latin typeface="Gulim"/>
              </a:rPr>
              <a:t>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822960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DE047"/>
                </a:solidFill>
                <a:latin typeface="Gulim"/>
              </a:rPr>
              <a:t>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46304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Gulim"/>
              </a:rPr>
              <a:t>Artificial Intelligence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94560"/>
            <a:ext cx="5120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1F5F9"/>
                </a:solidFill>
                <a:latin typeface="Gulim"/>
              </a:rPr>
              <a:t>컴퓨터가 사람처럼 생각하고 배우는 '똑똑한 두뇌'. 망고아이에서는 AI가 발음을 들어주고, 영작 숙제를 고쳐주고, 단어 뜻을 알려줘요.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4617720"/>
            <a:ext cx="512064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FDE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70916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FDE68A"/>
                </a:solidFill>
                <a:latin typeface="Gulim"/>
              </a:rPr>
              <a:t>💡 예: 알파고, 챗GPT, 망고아이의 발음 점수 매기는 친구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5352" y="685800"/>
            <a:ext cx="5577840" cy="5486400"/>
          </a:xfrm>
          <a:prstGeom prst="roundRect">
            <a:avLst/>
          </a:prstGeom>
          <a:solidFill>
            <a:srgbClr val="1E3A8A"/>
          </a:solidFill>
          <a:ln w="3175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45352" y="685800"/>
            <a:ext cx="5577840" cy="12801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8232" y="822960"/>
            <a:ext cx="1280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 b="0">
                <a:solidFill>
                  <a:srgbClr val="FFFFFF"/>
                </a:solidFill>
                <a:latin typeface="Gulim"/>
              </a:rPr>
              <a:t>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08392" y="822960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BFDBFE"/>
                </a:solidFill>
                <a:latin typeface="Gulim"/>
              </a:rPr>
              <a:t>PWA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08392" y="146304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Gulim"/>
              </a:rPr>
              <a:t>Progressive Web App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2194560"/>
            <a:ext cx="5120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1F5F9"/>
                </a:solidFill>
                <a:latin typeface="Gulim"/>
              </a:rPr>
              <a:t>홈페이지인데 '앱처럼' 휴대폰 바탕화면에 설치할 수 있는 마법! 인터넷이 잠깐 끊겨도 사용할 수 있어요.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73952" y="4617720"/>
            <a:ext cx="512064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11112" y="470916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FDE68A"/>
                </a:solidFill>
                <a:latin typeface="Gulim"/>
              </a:rPr>
              <a:t>💡 예: '앱 설치' 누르면 바탕화면에 망고아이 아이콘이 생겨요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6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BBF24"/>
                </a:solidFill>
                <a:latin typeface="Gulim"/>
              </a:rPr>
              <a:t>📚 영어 약자 쉬운 사전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685800"/>
            <a:ext cx="5577840" cy="5486400"/>
          </a:xfrm>
          <a:prstGeom prst="roundRect">
            <a:avLst/>
          </a:prstGeom>
          <a:solidFill>
            <a:srgbClr val="064E3B"/>
          </a:solidFill>
          <a:ln w="31750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685800"/>
            <a:ext cx="5577840" cy="12801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280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 b="0">
                <a:solidFill>
                  <a:srgbClr val="FFFFFF"/>
                </a:solidFill>
                <a:latin typeface="Gulim"/>
              </a:rPr>
              <a:t>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822960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6EE7B7"/>
                </a:solidFill>
                <a:latin typeface="Gulim"/>
              </a:rPr>
              <a:t>SSO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46304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Gulim"/>
              </a:rPr>
              <a:t>Single Sign-On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94560"/>
            <a:ext cx="5120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1F5F9"/>
                </a:solidFill>
                <a:latin typeface="Gulim"/>
              </a:rPr>
              <a:t>한 번만 로그인하면 모든 곳에 자동으로 들어가져요. 화상수업, 평가서, 단어장 — 다시 비밀번호 안 적어도 돼요!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4617720"/>
            <a:ext cx="512064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70916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FDE68A"/>
                </a:solidFill>
                <a:latin typeface="Gulim"/>
              </a:rPr>
              <a:t>💡 예: 학생증 하나로 도서관·식당·교실 다 들어가는 것과 같아요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5352" y="685800"/>
            <a:ext cx="5577840" cy="5486400"/>
          </a:xfrm>
          <a:prstGeom prst="roundRect">
            <a:avLst/>
          </a:prstGeom>
          <a:solidFill>
            <a:srgbClr val="831843"/>
          </a:solidFill>
          <a:ln w="31750">
            <a:solidFill>
              <a:srgbClr val="F9A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45352" y="685800"/>
            <a:ext cx="5577840" cy="1280160"/>
          </a:xfrm>
          <a:prstGeom prst="round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8232" y="822960"/>
            <a:ext cx="1280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 b="0">
                <a:solidFill>
                  <a:srgbClr val="FFFFFF"/>
                </a:solidFill>
                <a:latin typeface="Gulim"/>
              </a:rPr>
              <a:t>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08392" y="822960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9A8D4"/>
                </a:solidFill>
                <a:latin typeface="Gulim"/>
              </a:rPr>
              <a:t>WebRTC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08392" y="146304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Gulim"/>
              </a:rPr>
              <a:t>Web Real-Time Communication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2194560"/>
            <a:ext cx="5120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1F5F9"/>
                </a:solidFill>
                <a:latin typeface="Gulim"/>
              </a:rPr>
              <a:t>인터넷으로 얼굴을 보면서 실시간으로 이야기하는 기술! 줌이나 망고아이 화상수업이 이걸로 만들어졌어요.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73952" y="4617720"/>
            <a:ext cx="512064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F9A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11112" y="470916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FDE68A"/>
                </a:solidFill>
                <a:latin typeface="Gulim"/>
              </a:rPr>
              <a:t>💡 예: 멀리 있는 미국 선생님과 옆에 있는 것처럼 영어 수업!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6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BBF24"/>
                </a:solidFill>
                <a:latin typeface="Gulim"/>
              </a:rPr>
              <a:t>📚 영어 약자 쉬운 사전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685800"/>
            <a:ext cx="5577840" cy="5486400"/>
          </a:xfrm>
          <a:prstGeom prst="roundRect">
            <a:avLst/>
          </a:prstGeom>
          <a:solidFill>
            <a:srgbClr val="7C2D12"/>
          </a:solidFill>
          <a:ln w="317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685800"/>
            <a:ext cx="5577840" cy="12801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280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 b="0">
                <a:solidFill>
                  <a:srgbClr val="FFFFFF"/>
                </a:solidFill>
                <a:latin typeface="Gulim"/>
              </a:rPr>
              <a:t>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822960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Gulim"/>
              </a:rPr>
              <a:t>TOEIC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46304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Gulim"/>
              </a:rPr>
              <a:t>Test Of English for International Communication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94560"/>
            <a:ext cx="5120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1F5F9"/>
                </a:solidFill>
                <a:latin typeface="Gulim"/>
              </a:rPr>
              <a:t>'국제 영어 의사소통 시험'. 듣기와 읽기로 영어 실력을 점수로 보여줘요. 망고아이의 미니 토익은 짧고 재밌게 만든 버전!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4617720"/>
            <a:ext cx="512064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70916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FDE68A"/>
                </a:solidFill>
                <a:latin typeface="Gulim"/>
              </a:rPr>
              <a:t>💡 예: 진짜 토익은 990점 만점, 망고아이 미니는 100점 만점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5352" y="685800"/>
            <a:ext cx="5577840" cy="5486400"/>
          </a:xfrm>
          <a:prstGeom prst="roundRect">
            <a:avLst/>
          </a:prstGeom>
          <a:solidFill>
            <a:srgbClr val="7F1D1D"/>
          </a:solidFill>
          <a:ln w="317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45352" y="685800"/>
            <a:ext cx="5577840" cy="128016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8232" y="822960"/>
            <a:ext cx="1280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 b="0">
                <a:solidFill>
                  <a:srgbClr val="FFFFFF"/>
                </a:solidFill>
                <a:latin typeface="Gulim"/>
              </a:rPr>
              <a:t>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08392" y="822960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Gulim"/>
              </a:rPr>
              <a:t>PDF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08392" y="146304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Gulim"/>
              </a:rPr>
              <a:t>Portable Document Format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2194560"/>
            <a:ext cx="5120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1F5F9"/>
                </a:solidFill>
                <a:latin typeface="Gulim"/>
              </a:rPr>
              <a:t>어떤 컴퓨터·휴대폰에서 열어도 '똑같이 보이는' 문서. 교재나 평가서를 PDF로 저장하면 폰트가 깨지지 않아요!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73952" y="4617720"/>
            <a:ext cx="512064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11112" y="470916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FDE68A"/>
                </a:solidFill>
                <a:latin typeface="Gulim"/>
              </a:rPr>
              <a:t>💡 예: 선생님 PDF 교재를 칠판에 띄워서 같이 봐요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6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BBF24"/>
                </a:solidFill>
                <a:latin typeface="Gulim"/>
              </a:rPr>
              <a:t>📚 영어 약자 쉬운 사전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685800"/>
            <a:ext cx="5577840" cy="5486400"/>
          </a:xfrm>
          <a:prstGeom prst="roundRect">
            <a:avLst/>
          </a:prstGeom>
          <a:solidFill>
            <a:srgbClr val="0C4A6E"/>
          </a:solidFill>
          <a:ln w="317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685800"/>
            <a:ext cx="5577840" cy="128016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280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 b="0">
                <a:solidFill>
                  <a:srgbClr val="FFFFFF"/>
                </a:solidFill>
                <a:latin typeface="Gulim"/>
              </a:rPr>
              <a:t>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822960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Gulim"/>
              </a:rPr>
              <a:t>QR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46304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Gulim"/>
              </a:rPr>
              <a:t>Quick Response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94560"/>
            <a:ext cx="5120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1F5F9"/>
                </a:solidFill>
                <a:latin typeface="Gulim"/>
              </a:rPr>
              <a:t>휴대폰 카메라로 찍으면 '뿅' 하고 정보가 열리는 사각형 무늬! 망고아이에서는 출석체크를 QR로 1초만에 해요.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4617720"/>
            <a:ext cx="512064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70916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FDE68A"/>
                </a:solidFill>
                <a:latin typeface="Gulim"/>
              </a:rPr>
              <a:t>💡 예: 식당 메뉴, 백신 인증, 망고아이 출석 — 모두 QR!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5352" y="685800"/>
            <a:ext cx="5577840" cy="5486400"/>
          </a:xfrm>
          <a:prstGeom prst="roundRect">
            <a:avLst/>
          </a:prstGeom>
          <a:solidFill>
            <a:srgbClr val="134E4A"/>
          </a:solidFill>
          <a:ln w="317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45352" y="685800"/>
            <a:ext cx="5577840" cy="128016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8232" y="822960"/>
            <a:ext cx="1280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 b="0">
                <a:solidFill>
                  <a:srgbClr val="FFFFFF"/>
                </a:solidFill>
                <a:latin typeface="Gulim"/>
              </a:rPr>
              <a:t>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08392" y="822960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Gulim"/>
              </a:rPr>
              <a:t>FAQ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08392" y="146304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Gulim"/>
              </a:rPr>
              <a:t>Frequently Asked Questions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2194560"/>
            <a:ext cx="5120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1F5F9"/>
                </a:solidFill>
                <a:latin typeface="Gulim"/>
              </a:rPr>
              <a:t>'자주 묻는 질문'이라는 뜻. 다른 학생들이 많이 궁금해했던 걸 미리 모아둔 도움말이에요!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73952" y="4617720"/>
            <a:ext cx="512064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11112" y="470916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FDE68A"/>
                </a:solidFill>
                <a:latin typeface="Gulim"/>
              </a:rPr>
              <a:t>💡 예: '결제 어떻게?' '수업 빠지면?' 같은 답이 FAQ에 있어요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6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BBF24"/>
                </a:solidFill>
                <a:latin typeface="Gulim"/>
              </a:rPr>
              <a:t>📚 영어 약자 쉬운 사전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685800"/>
            <a:ext cx="5577840" cy="5486400"/>
          </a:xfrm>
          <a:prstGeom prst="roundRect">
            <a:avLst/>
          </a:prstGeom>
          <a:solidFill>
            <a:srgbClr val="312E81"/>
          </a:solidFill>
          <a:ln w="31750">
            <a:solidFill>
              <a:srgbClr val="FDE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685800"/>
            <a:ext cx="5577840" cy="128016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280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 b="0">
                <a:solidFill>
                  <a:srgbClr val="FFFFFF"/>
                </a:solidFill>
                <a:latin typeface="Gulim"/>
              </a:rPr>
              <a:t>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822960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DE047"/>
                </a:solidFill>
                <a:latin typeface="Gulim"/>
              </a:rPr>
              <a:t>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46304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Gulim"/>
              </a:rPr>
              <a:t>Application Programming Interface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94560"/>
            <a:ext cx="5120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1F5F9"/>
                </a:solidFill>
                <a:latin typeface="Gulim"/>
              </a:rPr>
              <a:t>프로그램끼리 서로 이야기할 때 쓰는 '약속된 언어'. 망고아이 화면이 서버랑 대화할 때 API를 써요.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4617720"/>
            <a:ext cx="512064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FDE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70916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FDE68A"/>
                </a:solidFill>
                <a:latin typeface="Gulim"/>
              </a:rPr>
              <a:t>💡 예: 카톡 보내기, 출석부 기록 — 모두 API가 일해요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5352" y="685800"/>
            <a:ext cx="5577840" cy="5486400"/>
          </a:xfrm>
          <a:prstGeom prst="roundRect">
            <a:avLst/>
          </a:prstGeom>
          <a:solidFill>
            <a:srgbClr val="581C87"/>
          </a:solidFill>
          <a:ln w="31750">
            <a:solidFill>
              <a:srgbClr val="FDE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45352" y="685800"/>
            <a:ext cx="5577840" cy="1280160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8232" y="822960"/>
            <a:ext cx="1280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 b="0">
                <a:solidFill>
                  <a:srgbClr val="FFFFFF"/>
                </a:solidFill>
                <a:latin typeface="Gulim"/>
              </a:rPr>
              <a:t>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08392" y="822960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DE047"/>
                </a:solidFill>
                <a:latin typeface="Gulim"/>
              </a:rPr>
              <a:t>STT / TTS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08392" y="146304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Gulim"/>
              </a:rPr>
              <a:t>Speech-to-Text / Text-to-Speech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2194560"/>
            <a:ext cx="5120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1F5F9"/>
                </a:solidFill>
                <a:latin typeface="Gulim"/>
              </a:rPr>
              <a:t>STT는 '말 → 글'(받아쓰기 AI), TTS는 '글 → 말'(읽어주는 AI)! 망고아이 발음 점수와 음성 안내가 이걸로 작동.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73952" y="4617720"/>
            <a:ext cx="512064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FDE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11112" y="470916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FDE68A"/>
                </a:solidFill>
                <a:latin typeface="Gulim"/>
              </a:rPr>
              <a:t>💡 예: 시리가 듣는 게 STT, 시리가 말하는 게 TTS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6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BBF24"/>
                </a:solidFill>
                <a:latin typeface="Gulim"/>
              </a:rPr>
              <a:t>📚 영어 약자 쉬운 사전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685800"/>
            <a:ext cx="5577840" cy="5486400"/>
          </a:xfrm>
          <a:prstGeom prst="roundRect">
            <a:avLst/>
          </a:prstGeom>
          <a:solidFill>
            <a:srgbClr val="14532D"/>
          </a:solidFill>
          <a:ln w="317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685800"/>
            <a:ext cx="5577840" cy="128016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280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 b="0">
                <a:solidFill>
                  <a:srgbClr val="FFFFFF"/>
                </a:solidFill>
                <a:latin typeface="Gulim"/>
              </a:rPr>
              <a:t>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822960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Gulim"/>
              </a:rPr>
              <a:t>KPI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46304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Gulim"/>
              </a:rPr>
              <a:t>Key Performance Indicator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94560"/>
            <a:ext cx="5120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1F5F9"/>
                </a:solidFill>
                <a:latin typeface="Gulim"/>
              </a:rPr>
              <a:t>'핵심 성과 지표' — 학원이 얼마나 잘 되고 있는지 알려주는 중요한 숫자들. 학생 수, 출석률 등.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4617720"/>
            <a:ext cx="512064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70916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FDE68A"/>
                </a:solidFill>
                <a:latin typeface="Gulim"/>
              </a:rPr>
              <a:t>💡 예: 학생 KPI=시험점수, 학원 KPI=학생 만족도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5352" y="685800"/>
            <a:ext cx="5577840" cy="5486400"/>
          </a:xfrm>
          <a:prstGeom prst="roundRect">
            <a:avLst/>
          </a:prstGeom>
          <a:solidFill>
            <a:srgbClr val="7C2D12"/>
          </a:solidFill>
          <a:ln w="317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45352" y="685800"/>
            <a:ext cx="5577840" cy="128016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8232" y="822960"/>
            <a:ext cx="1280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 b="0">
                <a:solidFill>
                  <a:srgbClr val="FFFFFF"/>
                </a:solidFill>
                <a:latin typeface="Gulim"/>
              </a:rPr>
              <a:t>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08392" y="822960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Gulim"/>
              </a:rPr>
              <a:t>NPS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08392" y="146304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Gulim"/>
              </a:rPr>
              <a:t>Net Promoter Score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2194560"/>
            <a:ext cx="5120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1F5F9"/>
                </a:solidFill>
                <a:latin typeface="Gulim"/>
              </a:rPr>
              <a:t>친구에게 추천하고 싶은 정도를 0~10점으로 물어본 점수. '망고아이를 친구에게 추천하실 건가요?' 같은 질문!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73952" y="4617720"/>
            <a:ext cx="512064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11112" y="470916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FDE68A"/>
                </a:solidFill>
                <a:latin typeface="Gulim"/>
              </a:rPr>
              <a:t>💡 예: 9~10=완전 좋아 / 0~6=별로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6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BBF24"/>
                </a:solidFill>
                <a:latin typeface="Gulim"/>
              </a:rPr>
              <a:t>📚 영어 약자 쉬운 사전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685800"/>
            <a:ext cx="5577840" cy="5486400"/>
          </a:xfrm>
          <a:prstGeom prst="roundRect">
            <a:avLst/>
          </a:prstGeom>
          <a:solidFill>
            <a:srgbClr val="881337"/>
          </a:solidFill>
          <a:ln w="317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685800"/>
            <a:ext cx="5577840" cy="1280160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280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 b="0">
                <a:solidFill>
                  <a:srgbClr val="FFFFFF"/>
                </a:solidFill>
                <a:latin typeface="Gulim"/>
              </a:rPr>
              <a:t>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822960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Gulim"/>
              </a:rPr>
              <a:t>P2P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46304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Gulim"/>
              </a:rPr>
              <a:t>Peer-to-Peer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94560"/>
            <a:ext cx="5120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1F5F9"/>
                </a:solidFill>
                <a:latin typeface="Gulim"/>
              </a:rPr>
              <a:t>'친구 대 친구'로 직접 연결한다는 뜻! 망고아이 영어 배틀에서 두 학생이 서버 없이 바로 연결돼서 게임해요.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4617720"/>
            <a:ext cx="512064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70916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FDE68A"/>
                </a:solidFill>
                <a:latin typeface="Gulim"/>
              </a:rPr>
              <a:t>💡 예: 두 폰이 사진 주고받는 에어드롭과 같아요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5352" y="685800"/>
            <a:ext cx="5577840" cy="5486400"/>
          </a:xfrm>
          <a:prstGeom prst="roundRect">
            <a:avLst/>
          </a:prstGeom>
          <a:solidFill>
            <a:srgbClr val="3B0764"/>
          </a:solidFill>
          <a:ln w="31750">
            <a:solidFill>
              <a:srgbClr val="FDE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45352" y="685800"/>
            <a:ext cx="5577840" cy="128016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8232" y="822960"/>
            <a:ext cx="1280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 b="0">
                <a:solidFill>
                  <a:srgbClr val="FFFFFF"/>
                </a:solidFill>
                <a:latin typeface="Gulim"/>
              </a:rPr>
              <a:t>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08392" y="822960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DE047"/>
                </a:solidFill>
                <a:latin typeface="Gulim"/>
              </a:rPr>
              <a:t>MBTI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08392" y="146304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Gulim"/>
              </a:rPr>
              <a:t>Myers-Briggs Type Indicator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2194560"/>
            <a:ext cx="5120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1F5F9"/>
                </a:solidFill>
                <a:latin typeface="Gulim"/>
              </a:rPr>
              <a:t>성격을 16가지 유형으로 나눈 '성격 분류표'. ENFP, INTJ 같은 4글자로 표시. 망고아이는 강사·학생을 MBTI로 매칭!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73952" y="4617720"/>
            <a:ext cx="512064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FDE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11112" y="470916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FDE68A"/>
                </a:solidFill>
                <a:latin typeface="Gulim"/>
              </a:rPr>
              <a:t>💡 예: E=활발, I=조용, N=상상, S=현실, F=감정, T=논리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6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BBF24"/>
                </a:solidFill>
                <a:latin typeface="Gulim"/>
              </a:rPr>
              <a:t>📚 영어 약자 쉬운 사전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685800"/>
            <a:ext cx="5577840" cy="5486400"/>
          </a:xfrm>
          <a:prstGeom prst="roundRect">
            <a:avLst/>
          </a:prstGeom>
          <a:solidFill>
            <a:srgbClr val="0F172A"/>
          </a:solidFill>
          <a:ln w="317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685800"/>
            <a:ext cx="5577840" cy="1280160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280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 b="0">
                <a:solidFill>
                  <a:srgbClr val="FFFFFF"/>
                </a:solidFill>
                <a:latin typeface="Gulim"/>
              </a:rPr>
              <a:t>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822960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BBF24"/>
                </a:solidFill>
                <a:latin typeface="Gulim"/>
              </a:rPr>
              <a:t>JWT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46304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Gulim"/>
              </a:rPr>
              <a:t>JSON Web Token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94560"/>
            <a:ext cx="5120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1F5F9"/>
                </a:solidFill>
                <a:latin typeface="Gulim"/>
              </a:rPr>
              <a:t>놀이공원 입장권 같은 '디지털 티켓'. 망고아이 화상수업에 들어갈 때 JWT 티켓이 있어야 입장 가능!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4617720"/>
            <a:ext cx="512064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70916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FDE68A"/>
                </a:solidFill>
                <a:latin typeface="Gulim"/>
              </a:rPr>
              <a:t>💡 예: 영화 QR 티켓처럼, 비밀번호가 들어간 티켓!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5352" y="685800"/>
            <a:ext cx="5577840" cy="5486400"/>
          </a:xfrm>
          <a:prstGeom prst="roundRect">
            <a:avLst/>
          </a:prstGeom>
          <a:solidFill>
            <a:srgbClr val="164E63"/>
          </a:solidFill>
          <a:ln w="31750">
            <a:solidFill>
              <a:srgbClr val="FDE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45352" y="685800"/>
            <a:ext cx="5577840" cy="128016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8232" y="822960"/>
            <a:ext cx="1280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 b="0">
                <a:solidFill>
                  <a:srgbClr val="FFFFFF"/>
                </a:solidFill>
                <a:latin typeface="Gulim"/>
              </a:rPr>
              <a:t>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08392" y="822960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DE047"/>
                </a:solidFill>
                <a:latin typeface="Gulim"/>
              </a:rPr>
              <a:t>VAPID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08392" y="146304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Gulim"/>
              </a:rPr>
              <a:t>Voluntary Application Server Identification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2194560"/>
            <a:ext cx="5120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1F5F9"/>
                </a:solidFill>
                <a:latin typeface="Gulim"/>
              </a:rPr>
              <a:t>휴대폰에 '띵동!' 알림을 보내려면 망고아이 서버를 증명하는 VAPID 열쇠가 필요. 가짜 광고 차단용 신분증!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73952" y="4617720"/>
            <a:ext cx="512064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FDE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11112" y="470916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FDE68A"/>
                </a:solidFill>
                <a:latin typeface="Gulim"/>
              </a:rPr>
              <a:t>💡 예: 택배기사 신분증처럼, 알림 보낼 때 보여줘요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60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0" b="0">
                <a:solidFill>
                  <a:srgbClr val="F472B6"/>
                </a:solidFill>
                <a:latin typeface="Gulim"/>
              </a:rPr>
              <a:t>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0"/>
            <a:ext cx="1127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Gulim"/>
              </a:rPr>
              <a:t>모르는 약자가 있으면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297680"/>
            <a:ext cx="1127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DE047"/>
                </a:solidFill>
                <a:latin typeface="Gulim"/>
              </a:rPr>
              <a:t>📖 단어 사전(보라색 동그라미 버튼)에 입력해보세요!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0"/>
            <a:ext cx="1127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94A3B8"/>
                </a:solidFill>
                <a:latin typeface="Gulim"/>
              </a:rPr>
              <a:t>AI 가 즉시 한국어로 풀어드립니다 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Gulim"/>
        <a:cs typeface="Gulim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Gulim"/>
        <a:cs typeface="Gulim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망고아이 학부모 안내서</dc:title>
  <dc:subject>PptxGenJS Presentation</dc:subject>
  <dc:creator>PptxGenJS</dc:creator>
  <cp:lastModifiedBy>PptxGenJS</cp:lastModifiedBy>
  <cp:revision>1</cp:revision>
  <dcterms:created xsi:type="dcterms:W3CDTF">2026-05-21T17:10:42Z</dcterms:created>
  <dcterms:modified xsi:type="dcterms:W3CDTF">2026-05-21T17:10:42Z</dcterms:modified>
</cp:coreProperties>
</file>