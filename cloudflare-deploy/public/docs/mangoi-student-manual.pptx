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ulim"/>
                <a:ea typeface="Gulim"/>
                <a:cs typeface="Gulim"/>
              </a:defRPr>
            </a:lvl1pPr>
          </a:lstStyle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ulim"/>
                <a:ea typeface="Gulim"/>
                <a:cs typeface="Gulim"/>
              </a:defRPr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ulim"/>
                <a:ea typeface="Gulim"/>
                <a:cs typeface="Gulim"/>
              </a:defRPr>
            </a:lvl1pPr>
          </a:lstStyle>
          <a:p>
            <a:endParaRPr lang="en-US">
              <a:latin typeface="Gulim"/>
              <a:ea typeface="Gulim"/>
              <a:cs typeface="Gulim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ulim"/>
                <a:ea typeface="Gulim"/>
                <a:cs typeface="Gulim"/>
              </a:defRPr>
            </a:lvl1pPr>
          </a:lstStyle>
          <a:p>
            <a:fld id="{CE5E9CC1-C706-0F49-92D6-E571CC5EEA8F}" type="slidenum">
              <a:rPr lang="en-US"/>
              <a:t>‹#›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>
              <a:latin typeface="Gulim"/>
              <a:ea typeface="Gulim"/>
              <a:cs typeface="Guli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>
              <a:latin typeface="Gulim"/>
              <a:ea typeface="Gulim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latin typeface="Gulim"/>
          <a:ea typeface="Gulim"/>
          <a:cs typeface="Gulim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194560"/>
            <a:ext cx="5486400" cy="5486400"/>
          </a:xfrm>
          <a:prstGeom prst="ellipse">
            <a:avLst/>
          </a:prstGeom>
          <a:solidFill>
            <a:srgbClr val="F96167">
              <a:alpha val="70000"/>
            </a:srgbClr>
          </a:solidFill>
          <a:ln w="12700">
            <a:solidFill>
              <a:srgbClr val="F9616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005840"/>
            <a:ext cx="2743200" cy="2743200"/>
          </a:xfrm>
          <a:prstGeom prst="ellipse">
            <a:avLst/>
          </a:prstGeom>
          <a:solidFill>
            <a:srgbClr val="7B61FF">
              <a:alpha val="45000"/>
            </a:srgbClr>
          </a:solidFill>
          <a:ln w="12700">
            <a:solidFill>
              <a:srgbClr val="7B61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3749040"/>
            <a:ext cx="3840480" cy="3840480"/>
          </a:xfrm>
          <a:prstGeom prst="ellipse">
            <a:avLst/>
          </a:prstGeom>
          <a:solidFill>
            <a:srgbClr val="2F3C7E">
              <a:alpha val="40000"/>
            </a:srgbClr>
          </a:solidFill>
          <a:ln w="12700">
            <a:solidFill>
              <a:srgbClr val="2F3C7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4415" y="3063240"/>
            <a:ext cx="731520" cy="731520"/>
          </a:xfrm>
          <a:prstGeom prst="ellipse">
            <a:avLst/>
          </a:prstGeom>
          <a:solidFill>
            <a:srgbClr val="F96167">
              <a:alpha val="60000"/>
            </a:srgbClr>
          </a:solidFill>
          <a:ln w="12700">
            <a:solidFill>
              <a:srgbClr val="F9616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457200"/>
            <a:ext cx="548640" cy="548640"/>
          </a:xfrm>
          <a:prstGeom prst="ellipse">
            <a:avLst/>
          </a:prstGeom>
          <a:solidFill>
            <a:srgbClr val="00BFA5">
              <a:alpha val="70000"/>
            </a:srgbClr>
          </a:solidFill>
          <a:ln w="12700">
            <a:solidFill>
              <a:srgbClr val="00BFA5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693408"/>
            <a:ext cx="411480" cy="91440"/>
          </a:xfrm>
          <a:prstGeom prst="rect">
            <a:avLst/>
          </a:prstGeom>
          <a:solidFill>
            <a:srgbClr val="F96167">
              <a:alpha val="9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6693408"/>
            <a:ext cx="411480" cy="91440"/>
          </a:xfrm>
          <a:prstGeom prst="rect">
            <a:avLst/>
          </a:prstGeom>
          <a:solidFill>
            <a:srgbClr val="FFA500">
              <a:alpha val="90000"/>
            </a:srgbClr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6693408"/>
            <a:ext cx="411480" cy="91440"/>
          </a:xfrm>
          <a:prstGeom prst="rect">
            <a:avLst/>
          </a:prstGeom>
          <a:solidFill>
            <a:srgbClr val="7B61FF">
              <a:alpha val="9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6693408"/>
            <a:ext cx="411480" cy="91440"/>
          </a:xfrm>
          <a:prstGeom prst="rect">
            <a:avLst/>
          </a:prstGeom>
          <a:solidFill>
            <a:srgbClr val="00BFA5">
              <a:alpha val="9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6693408"/>
            <a:ext cx="411480" cy="91440"/>
          </a:xfrm>
          <a:prstGeom prst="rect">
            <a:avLst/>
          </a:prstGeom>
          <a:solidFill>
            <a:srgbClr val="FFC107">
              <a:alpha val="9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6693408"/>
            <a:ext cx="411480" cy="91440"/>
          </a:xfrm>
          <a:prstGeom prst="rect">
            <a:avLst/>
          </a:prstGeom>
          <a:solidFill>
            <a:srgbClr val="2196F3">
              <a:alpha val="9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640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MANGOI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1234440"/>
            <a:ext cx="1737360" cy="1737360"/>
          </a:xfrm>
          <a:prstGeom prst="ellipse">
            <a:avLst/>
          </a:prstGeom>
          <a:solidFill>
            <a:srgbClr val="F96167">
              <a:alpha val="50000"/>
            </a:srgbClr>
          </a:solidFill>
          <a:ln w="12700">
            <a:solidFill>
              <a:srgbClr val="F96167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371600"/>
            <a:ext cx="1463040" cy="146304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2F3C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3716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🥭</a:t>
            </a:r>
            <a:endParaRPr lang="en-US" sz="7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망고아이</a:t>
            </a:r>
            <a:endParaRPr lang="en-US" sz="5400" dirty="0">
              <a:latin typeface="Gulim"/>
              <a:ea typeface="Gulim"/>
              <a:cs typeface="Gulim"/>
            </a:endParaRPr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학생 안내서</a:t>
            </a:r>
            <a:endParaRPr lang="en-US" sz="5400" dirty="0">
              <a:latin typeface="Gulim"/>
              <a:ea typeface="Gulim"/>
              <a:cs typeface="Gulim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안녕! 망고아이에 온 걸 환영해. 영어가 점점 재미있어지는 곳이야.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Coral Energy · Your English Adventure Starts Here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For Students · 2026 · 10 Chapters · Stay Curious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목차</a:t>
            </a:r>
            <a:endParaRPr lang="en-US" sz="40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spc="4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Contents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01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처음 들어가기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02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4088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화상수업 입장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03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학습 콘텐츠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0" y="2633472"/>
            <a:ext cx="502920" cy="50292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04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0" y="26334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보상 시스템 (포인트·배지)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502920" cy="5029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05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80160" y="33467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영어 배틀 P2P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0" y="3346704"/>
            <a:ext cx="502920" cy="5029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06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040880" y="33467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영어 친구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059936"/>
            <a:ext cx="502920" cy="50292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07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80160" y="40599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알림 받기 (PWA)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4059936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08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40880" y="40599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다국어 지원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4773168"/>
            <a:ext cx="502920" cy="502920"/>
          </a:xfrm>
          <a:prstGeom prst="ellipse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773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09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80160" y="47731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자주 묻는 질문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0" y="4773168"/>
            <a:ext cx="502920" cy="502920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73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10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40880" y="47731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망고아이가 너에게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2F3C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01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FFA500">
              <a:alpha val="75000"/>
            </a:srgbClr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🚀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01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처음 들어가기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홈페이지 · 검색 · 30+ 메뉴 카드 둘러보기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219456" cy="21945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망고아이 홈에 들어가면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01 · HOME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우주 배경 + 망고아이 캐릭터 인트로 영상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가운데: 빠른 버튼 줄 — 마이페이지 / 발음 / 상담 등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아래쪽: 30+ 개의 큰 카드 그리드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우상단: 🔊 음성 / 🏠 홈 / 🌐 EN / 🧹 캐시 비우기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키보드 / 키를 누르면 검색창에 바로 포커스!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🚀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검색이 가장 빨라요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"오늘 수업 언제야?" 같이 자연어로 물어봐도 AI 가 답하면서 이동시켜 줘요.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자주 쓰는 메뉴 카드 BEST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🎤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단계별 발음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1732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단어→문장→문단→대화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044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📚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단어장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519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모르는 단어 자동 저장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💬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영어 친구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866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24시간 채팅 친구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8972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>
              <a:alpha val="22000"/>
            </a:srgbClr>
          </a:solidFill>
          <a:ln w="12700">
            <a:solidFill>
              <a:srgbClr val="00BFA5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🎁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2688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포인트상점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2124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기프티콘 교환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카드를 다 외울 필요 없어요. 검색창에 키워드만 쳐도 다 찾아져요.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FFA500">
              <a:alpha val="20000"/>
            </a:srgbClr>
          </a:solidFill>
          <a:ln w="12700">
            <a:solidFill>
              <a:srgbClr val="FFA5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FFA500"/>
          </a:solidFill>
          <a:ln w="38100">
            <a:solidFill>
              <a:srgbClr val="2F3C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02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👥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A5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02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화상수업 입장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A5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모바일 가로 모드 · PC 도구바 · 채팅 · 손들기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219456" cy="219456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화상수업 입장하기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02 · ENTER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내 수업 확인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마이페이지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📅 내 수업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입장 버튼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시간 다 되면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🎬 입장 빨갛게 활성화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5분 전 알림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Web Push 켜뒀다면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자동 알림 ⏰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입장 완료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화면 회전 → 자동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가로 모드 진입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4B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망고아이 화상수업은 모바일 가로 모드에 최적화되어 있어요.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모바일 가로 모드 — 칠판 중심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02 · MOBILE LANDSCAPE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가운데: 큰 칠판 (강사 그림·필기·PDF)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왼쪽: 정사각 PIP — 내 얼굴/강사 얼굴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PIP 드래그로 이동, 더블탭 = 원위치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아래쪽: 큰 액션 바 (마이크·카메라·손들기·채팅)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액션 바 스와이프로 숨기기/펼치기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📱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몰입감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강사 칠판이 화면의 주인공 — 작은 화면에서도 잘 보입니다.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PC — 폴더 시트 + 도구바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02 · PC TOOLS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📝 칠판 / 📄 PDF 공유 / 🎬 YouTube / 🎵 음악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🗂 교재 폴더 — 강사가 미리 올린 자료 열기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🎤 마이크 볼륨 미터 — 너무 작으면 빨간 표시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✋ 손들기 — 강사한테 질문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💬 채팅 — @이름 으로 멘션 가능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💻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단축키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 = 마이크 / V = 카메라 / Space = 손들기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7B61FF"/>
          </a:solidFill>
          <a:ln w="38100">
            <a:solidFill>
              <a:srgbClr val="2F3C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03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00BFA5">
              <a:alpha val="7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🎬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7B61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03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학습 콘텐츠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B61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비디오 · 발음 4단계 · 단어장 · 영작 · 음성 일기 · 미니 토익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단계별 발음 (Mangoi Speech)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03 · SPEECH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단어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쉬운 단어부터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banana · apple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문장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짧은 문장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I like apples.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문단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 단락 통째로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속도 키우기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대화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와 1:1 대화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실전 회화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4B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가 강사 발음과 비교해서 어디가 틀렸는지까지 알려줘요. 14일 그래프는 부모님이 볼 수 있어요.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학습 4종 베스트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📚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단어장 + 플래시카드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1732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잘 외운 단어는 며칠 뒤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못 외운 단어는 다음 날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044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✍️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영작 첨삭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519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빨강=틀림 / 파랑=자연스럽게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초록=칭찬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📔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음성 일기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866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말한 일기 → STT 변환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문법 분석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8972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>
              <a:alpha val="22000"/>
            </a:srgbClr>
          </a:solidFill>
          <a:ln w="12700">
            <a:solidFill>
              <a:srgbClr val="00BFA5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⚡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2688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Mini TOEIC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2124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10문항 5분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매번 새 문제 자동 생성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비디오 자막은 클릭 한 번으로 단어장에 자동 저장되니까, 따로 적어둘 필요 없어요.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00BFA5">
              <a:alpha val="20000"/>
            </a:srgbClr>
          </a:solidFill>
          <a:ln w="12700">
            <a:solidFill>
              <a:srgbClr val="00BFA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00BFA5"/>
          </a:solidFill>
          <a:ln w="38100">
            <a:solidFill>
              <a:srgbClr val="2F3C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04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FFC107">
              <a:alpha val="7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📝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BFA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04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보상 시스템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FA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포인트 · 배지 · 데일리 스트릭 · SNS 카드 · 추천 친구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219456" cy="21945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이렇게 하면 포인트가 쌓여요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+10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제시간 출석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1732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수업에 정시 입장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044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+20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발음 90+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519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단계별 발음 고득점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+100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배틀 승리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866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영어 배틀 P2P 승리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89720" y="1764792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>
              <a:alpha val="22000"/>
            </a:srgbClr>
          </a:solidFill>
          <a:ln w="12700">
            <a:solidFill>
              <a:srgbClr val="00BFA5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1691640"/>
            <a:ext cx="2468880" cy="3931920"/>
          </a:xfrm>
          <a:prstGeom prst="roundRect">
            <a:avLst>
              <a:gd name="adj" fmla="val 7407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2103120"/>
            <a:ext cx="192024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148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+5K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2688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친구 추천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2124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나도, 친구도!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 잘 받으면 +5~30P, 단어 100개 외우면 +50P 등 활동마다 자동 적립.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배지 10종 + 데일리 스트릭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04 · BADGES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🌟 첫 수업 · 🎤 발음 마스터 · 📚 단어왕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🔥 7일 연속 · 💎 30일 연속 · 🏆 반 1등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✍️ 영작가 · 💬 챗봇 친구 · 🎮 배틀 챔피언 · 🎓 졸업생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신청 안 해도 조건 달성 시 자동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하루 빼먹으면 0으로 리셋 — 스트릭 보호권 사용 가능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🏆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Duolingo 스타일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7일·14일·30일·100일마다 보석 보상이 떨어져요.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영어 배틀 P2P — 친구와 대결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05 · BATTLE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카드 🎮 영어 배틀 클릭 → 자동 매칭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비슷한 레벨의 친구와 매칭됨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3라운드: 퀴즈 / 발음 / 영작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승리 시 +100P · 패배 시 +20P (참가상)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욕설·비방 자동 감지 + 강사 신고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🎮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평일 저녁 7~9시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매칭이 가장 잘 되는 골든타임! 친구와 도전해 봐요.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64592" cy="66294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74520"/>
            <a:ext cx="3017520" cy="3017520"/>
          </a:xfrm>
          <a:prstGeom prst="ellipse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560320" cy="2560320"/>
          </a:xfrm>
          <a:prstGeom prst="ellipse">
            <a:avLst/>
          </a:prstGeom>
          <a:solidFill>
            <a:srgbClr val="2196F3"/>
          </a:solidFill>
          <a:ln w="38100">
            <a:solidFill>
              <a:srgbClr val="2F3C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06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48495" y="1371600"/>
            <a:ext cx="2011680" cy="2011680"/>
          </a:xfrm>
          <a:prstGeom prst="ellipse">
            <a:avLst/>
          </a:prstGeom>
          <a:solidFill>
            <a:srgbClr val="E91E63">
              <a:alpha val="75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8495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📣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2196F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 06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영어 친구 · 알림</a:t>
            </a:r>
            <a:endParaRPr lang="en-US" sz="4400" dirty="0">
              <a:latin typeface="Gulim"/>
              <a:ea typeface="Gulim"/>
              <a:cs typeface="Gulim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3794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196F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24시간 채팅 · 시나리오 · PWA 설치 · 푸시 알림</a:t>
            </a:r>
            <a:endParaRPr lang="en-US" sz="1800" dirty="0">
              <a:latin typeface="Gulim"/>
              <a:ea typeface="Gulim"/>
              <a:cs typeface="Gulim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6035040"/>
            <a:ext cx="146304" cy="146304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6192" y="6035040"/>
            <a:ext cx="146304" cy="14630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6035040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6035040"/>
            <a:ext cx="146304" cy="14630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6035040"/>
            <a:ext cx="219456" cy="219456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6035040"/>
            <a:ext cx="146304" cy="146304"/>
          </a:xfrm>
          <a:prstGeom prst="ellipse">
            <a:avLst/>
          </a:prstGeom>
          <a:solidFill>
            <a:srgbClr val="FBCDB0"/>
          </a:solidFill>
          <a:ln w="12700">
            <a:solidFill>
              <a:srgbClr val="FBCDB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영어 친구 💬 — 24시간 친구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06 · AI FRIEND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카드 💬 AI 영어 친구 → 채팅창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영어로 무엇이든 물어봐도 OK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모르는 단어 자동 번역 토글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음성 모드 — 망고이 목소리 4종 선택</a:t>
            </a:r>
            <a:endParaRPr lang="en-US" sz="1600" dirty="0">
              <a:latin typeface="Gulim"/>
              <a:ea typeface="Gulim"/>
              <a:cs typeface="Gulim"/>
            </a:endParaRPr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시나리오: 카페 주문 / 호텔 / 여행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17720" cy="4846320"/>
          </a:xfrm>
          <a:prstGeom prst="roundRect">
            <a:avLst>
              <a:gd name="adj" fmla="val 356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5300" y="1755648"/>
            <a:ext cx="2286000" cy="2286000"/>
          </a:xfrm>
          <a:prstGeom prst="ellipse">
            <a:avLst/>
          </a:prstGeom>
          <a:solidFill>
            <a:srgbClr val="F96167">
              <a:alpha val="40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1874520"/>
            <a:ext cx="1920240" cy="192024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3900" y="1920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💬</a:t>
            </a:r>
            <a:endParaRPr lang="en-US" sz="9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3760" y="39319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비밀 보장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45720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대화 내용은 절대 강사·부모도 안 봐요. 영어 마음껏 망쳐도 괜찮아요.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앱처럼 설치하기 + 푸시 알림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 07 · NOTIFY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374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74520"/>
            <a:ext cx="242773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5890" y="2240280"/>
            <a:ext cx="1005840" cy="10058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589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PWA 설치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PC Chrome 주소창 +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또는 모바일 홈에 추가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874520"/>
            <a:ext cx="253746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186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1874520"/>
            <a:ext cx="2427732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2240280"/>
            <a:ext cx="1005840" cy="10058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767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902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알림 켜기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645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홈 🔔 알림 받기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→ 브라우저 권한 허용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2537460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874520"/>
            <a:ext cx="2427732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9450" y="2240280"/>
            <a:ext cx="1005840" cy="10058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945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받는 알림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823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수업 5분 전 ⏰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평가서 · 배지 · 추천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75420" y="1874520"/>
            <a:ext cx="2537460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1874520"/>
            <a:ext cx="2537460" cy="38404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0284" y="1874520"/>
            <a:ext cx="2427732" cy="1645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1230" y="2240280"/>
            <a:ext cx="1005840" cy="10058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123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3600" dirty="0">
              <a:latin typeface="Gulim"/>
              <a:ea typeface="Gulim"/>
              <a:cs typeface="Gulim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2580" y="3337560"/>
            <a:ext cx="2263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iOS 주의</a:t>
            </a:r>
            <a:endParaRPr lang="en-US" sz="1600" dirty="0">
              <a:latin typeface="Gulim"/>
              <a:ea typeface="Gulim"/>
              <a:cs typeface="Gulim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40012" y="4023360"/>
            <a:ext cx="22082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Safari 16.4+</a:t>
            </a:r>
            <a:endParaRPr lang="en-US" sz="12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+ PWA 설치 후 가능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💡</a:t>
            </a:r>
            <a:endParaRPr lang="en-US" sz="2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17320" y="5897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4B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PWA 설치하면 진짜 앱처럼 동작 — 오프라인에서도 일부 페이지가 열려요.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자주 묻는 질문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8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FAQ</a:t>
            </a:r>
            <a:endParaRPr lang="en-US" sz="1300" dirty="0">
              <a:latin typeface="Gulim"/>
              <a:ea typeface="Gulim"/>
              <a:cs typeface="Gulim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530352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36192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14447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비밀번호 까먹었어요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205740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로그인 → "비밀번호 찾기" → 등록한 카톡 번호로 인증코드 받기.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280160"/>
            <a:ext cx="5303520" cy="10972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536192"/>
            <a:ext cx="548640" cy="5486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86600" y="14447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발음 점수가 너무 낮아요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86600" y="205740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마이크가 멀거나 시끄러우면 점수가 떨어져요. 가까이 + 조용한 곳에서!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13944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39440"/>
            <a:ext cx="530352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395472"/>
            <a:ext cx="548640" cy="5486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95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17320" y="33040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화면이 이상해요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17320" y="391668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우상단 🧹 캐시 비우기. 그래도 안 되면 Ctrl+Shift+R.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09360" y="313944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139440"/>
            <a:ext cx="530352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395472"/>
            <a:ext cx="548640" cy="5486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95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86600" y="33040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포인트가 안 들어왔어요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86600" y="391668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활동 후 5분쯤 기다려야 반영돼요. 그래도 없으면 강사에게.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499872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998720"/>
            <a:ext cx="5303520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254752"/>
            <a:ext cx="548640" cy="5486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254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417320" y="51633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영어 친구가 답을 안 해요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17320" y="577596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Workers AI 서버가 바쁠 수 있어요. 30초 뒤 다시 보내봐요.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09360" y="4998720"/>
            <a:ext cx="5303520" cy="149352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FBCD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4998720"/>
            <a:ext cx="5303520" cy="1097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5254752"/>
            <a:ext cx="548640" cy="5486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5254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</a:t>
            </a:r>
            <a:endParaRPr lang="en-US" sz="2000" dirty="0">
              <a:latin typeface="Gulim"/>
              <a:ea typeface="Gulim"/>
              <a:cs typeface="Gulim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86600" y="51633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배틀 매칭이 안 돼요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86600" y="5775960"/>
            <a:ext cx="434340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평일 저녁 7~9시가 매칭이 가장 잘 돼요.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망고아이는 5개 언어를 지원해요 🌏</a:t>
            </a:r>
            <a:endParaRPr lang="en-US" sz="3200" dirty="0">
              <a:latin typeface="Gulim"/>
              <a:ea typeface="Gulim"/>
              <a:cs typeface="Gulim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🇰🇷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한국어 / 🇺🇸 영어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8976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기본 2개 언어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6532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>
              <a:alpha val="22000"/>
            </a:srgbClr>
          </a:solidFill>
          <a:ln w="12700">
            <a:solidFill>
              <a:srgbClr val="FFA500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392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🇨🇳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0248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중국어 / 🇯🇵 일본어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248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아시아 친구들과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44840" y="1764792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>
              <a:alpha val="22000"/>
            </a:srgbClr>
          </a:solidFill>
          <a:ln w="12700">
            <a:solidFill>
              <a:srgbClr val="7B61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9120" y="1691640"/>
            <a:ext cx="3413760" cy="3931920"/>
          </a:xfrm>
          <a:prstGeom prst="roundRect">
            <a:avLst>
              <a:gd name="adj" fmla="val 5357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3440" y="2103120"/>
            <a:ext cx="286512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0560" y="2148840"/>
            <a:ext cx="323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🇻🇳</a:t>
            </a:r>
            <a:endParaRPr lang="en-US" sz="6000" dirty="0">
              <a:latin typeface="Gulim"/>
              <a:ea typeface="Gulim"/>
              <a:cs typeface="Gulim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82000" y="3886200"/>
            <a:ext cx="304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베트남어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48800" y="443484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2000" y="4526280"/>
            <a:ext cx="304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글로벌 망고아이</a:t>
            </a:r>
            <a:endParaRPr lang="en-US" sz="1200" dirty="0">
              <a:latin typeface="Gulim"/>
              <a:ea typeface="Gulim"/>
              <a:cs typeface="Gulim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96167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우상단 🌐 EN 클릭 → 언어 선택 → 다음 접속에도 유지!</a:t>
            </a:r>
            <a:endParaRPr lang="en-US" sz="15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463040"/>
            <a:ext cx="4937760" cy="4937760"/>
          </a:xfrm>
          <a:prstGeom prst="ellipse">
            <a:avLst/>
          </a:prstGeom>
          <a:solidFill>
            <a:srgbClr val="F96167">
              <a:alpha val="70000"/>
            </a:srgbClr>
          </a:solidFill>
          <a:ln w="12700">
            <a:solidFill>
              <a:srgbClr val="F9616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97135" y="91440"/>
            <a:ext cx="2194560" cy="2194560"/>
          </a:xfrm>
          <a:prstGeom prst="ellipse">
            <a:avLst/>
          </a:prstGeom>
          <a:solidFill>
            <a:srgbClr val="7B61FF">
              <a:alpha val="55000"/>
            </a:srgbClr>
          </a:solidFill>
          <a:ln w="12700">
            <a:solidFill>
              <a:srgbClr val="7B61F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F3C7E">
              <a:alpha val="40000"/>
            </a:srgbClr>
          </a:solidFill>
          <a:ln w="12700">
            <a:solidFill>
              <a:srgbClr val="2F3C7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120640"/>
            <a:ext cx="1463040" cy="1463040"/>
          </a:xfrm>
          <a:prstGeom prst="ellipse">
            <a:avLst/>
          </a:prstGeom>
          <a:solidFill>
            <a:srgbClr val="F96167">
              <a:alpha val="60000"/>
            </a:srgbClr>
          </a:solidFill>
          <a:ln w="12700">
            <a:solidFill>
              <a:srgbClr val="F9616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11480"/>
            <a:ext cx="103629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1234" y="411480"/>
            <a:ext cx="1036290" cy="914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22387" y="411480"/>
            <a:ext cx="103629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13541" y="411480"/>
            <a:ext cx="103629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04694" y="411480"/>
            <a:ext cx="103629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48" y="411480"/>
            <a:ext cx="1036290" cy="914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87001" y="411480"/>
            <a:ext cx="1036290" cy="914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8155" y="411480"/>
            <a:ext cx="1036290" cy="91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69308" y="411480"/>
            <a:ext cx="1036290" cy="9144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0462" y="411480"/>
            <a:ext cx="1036290" cy="914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2848" y="960120"/>
            <a:ext cx="2286000" cy="2286000"/>
          </a:xfrm>
          <a:prstGeom prst="ellipse">
            <a:avLst/>
          </a:prstGeom>
          <a:solidFill>
            <a:srgbClr val="FFA500">
              <a:alpha val="45000"/>
            </a:srgbClr>
          </a:solidFill>
          <a:ln w="12700">
            <a:solidFill>
              <a:srgbClr val="FFA500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1448" y="1188720"/>
            <a:ext cx="1828800" cy="182880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2F3C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1448" y="1188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🥭</a:t>
            </a:r>
            <a:endParaRPr lang="en-US" sz="9000" dirty="0">
              <a:latin typeface="Gulim"/>
              <a:ea typeface="Gulim"/>
              <a:cs typeface="Gulim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점수보다 즐거움이 먼저!</a:t>
            </a:r>
            <a:endParaRPr lang="en-US" sz="4000" dirty="0">
              <a:latin typeface="Gulim"/>
              <a:ea typeface="Gulim"/>
              <a:cs typeface="Gulim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71600" y="4251960"/>
            <a:ext cx="9418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"영어는 외우는 게 아니라, 매일 조금씩 만나는 거예요.</a:t>
            </a:r>
            <a:endParaRPr lang="en-US" sz="1700" dirty="0">
              <a:latin typeface="Gulim"/>
              <a:ea typeface="Gulim"/>
              <a:cs typeface="Gulim"/>
            </a:endParaRPr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망고아이는 너의 친구. 매일 5분만이라도 들러줘."</a:t>
            </a:r>
            <a:endParaRPr lang="en-US" sz="1700" dirty="0">
              <a:latin typeface="Gulim"/>
              <a:ea typeface="Gulim"/>
              <a:cs typeface="Gulim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5897880"/>
            <a:ext cx="103629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1234" y="5897880"/>
            <a:ext cx="1036290" cy="7315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22387" y="5897880"/>
            <a:ext cx="1036290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13541" y="5897880"/>
            <a:ext cx="103629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04694" y="5897880"/>
            <a:ext cx="103629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5848" y="5897880"/>
            <a:ext cx="103629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001" y="5897880"/>
            <a:ext cx="103629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8155" y="5897880"/>
            <a:ext cx="103629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69308" y="5897880"/>
            <a:ext cx="1036290" cy="73152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60462" y="5897880"/>
            <a:ext cx="1036290" cy="7315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spc="400" kern="0" dirty="0">
                <a:solidFill>
                  <a:srgbClr val="F9E795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— MANGOI 🥭</a:t>
            </a:r>
            <a:endParaRPr lang="en-US" sz="1400" dirty="0">
              <a:latin typeface="Gulim"/>
              <a:ea typeface="Gulim"/>
              <a:cs typeface="Guli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54667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54666" y="0"/>
            <a:ext cx="1354667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9333" y="0"/>
            <a:ext cx="1354667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0"/>
            <a:ext cx="1354667" cy="365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8666" y="0"/>
            <a:ext cx="1354667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73333" y="0"/>
            <a:ext cx="1354667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0" y="0"/>
            <a:ext cx="1354667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82666" y="0"/>
            <a:ext cx="1354667" cy="365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37333" y="0"/>
            <a:ext cx="1354667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914400"/>
            <a:ext cx="112776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0" b="0">
                <a:solidFill>
                  <a:srgbClr val="FBBF24"/>
                </a:solidFill>
                <a:latin typeface="Gulim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127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Gulim"/>
              </a:rPr>
              <a:t>영어 약자 쉬운 사전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DE047"/>
                </a:solidFill>
                <a:latin typeface="Gulim"/>
              </a:rPr>
              <a:t>초등 6학년도 한 번에 이해할 수 있게!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6035040"/>
            <a:ext cx="320040" cy="3200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603504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0" y="603504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6035040"/>
            <a:ext cx="320040" cy="3200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603504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6035040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Gulim"/>
              </a:rPr>
              <a:t>총 16개 약자 · 그림과 함께 쉬운 한국어로 풀이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4C1D95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컴퓨터가 사람처럼 생각하고 배우는 '똑똑한 두뇌'. 망고아이에서는 AI가 발음을 들어주고, 영작 숙제를 고쳐주고, 단어 뜻을 알려줘요.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알파고, 챗GPT, 망고아이의 발음 점수 매기는 친구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BFDBFE"/>
                </a:solidFill>
                <a:latin typeface="Gulim"/>
              </a:rPr>
              <a:t>PWA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Progressive Web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홈페이지인데 '앱처럼' 휴대폰 바탕화면에 설치할 수 있는 마법! 인터넷이 잠깐 끊겨도 사용할 수 있어요.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'앱 설치' 누르면 바탕화면에 망고아이 아이콘이 생겨요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64E3B"/>
          </a:solidFill>
          <a:ln w="317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EE7B7"/>
                </a:solidFill>
                <a:latin typeface="Gulim"/>
              </a:rPr>
              <a:t>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Single Sign-On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한 번만 로그인하면 모든 곳에 자동으로 들어가져요. 화상수업, 평가서, 단어장 — 다시 비밀번호 안 적어도 돼요!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학생증 하나로 도서관·식당·교실 다 들어가는 것과 같아요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831843"/>
          </a:solidFill>
          <a:ln w="3175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9A8D4"/>
                </a:solidFill>
                <a:latin typeface="Gulim"/>
              </a:rPr>
              <a:t>WebRTC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Web Real-Time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인터넷으로 얼굴을 보면서 실시간으로 이야기하는 기술! 줌이나 망고아이 화상수업이 이걸로 만들어졌어요.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멀리 있는 미국 선생님과 옆에 있는 것처럼 영어 수업!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7C2D12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TOEIC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Test Of English for International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'국제 영어 의사소통 시험'. 듣기와 읽기로 영어 실력을 점수로 보여줘요. 망고아이의 미니 토익은 짧고 재밌게 만든 버전!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진짜 토익은 990점 만점, 망고아이 미니는 100점 만점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7F1D1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Portable Document 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어떤 컴퓨터·휴대폰에서 열어도 '똑같이 보이는' 문서. 교재나 평가서를 PDF로 저장하면 폰트가 깨지지 않아요!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선생님 PDF 교재를 칠판에 띄워서 같이 봐요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C4A6E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Quick Response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휴대폰 카메라로 찍으면 '뿅' 하고 정보가 열리는 사각형 무늬! 망고아이에서는 출석체크를 QR로 1초만에 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식당 메뉴, 백신 인증, 망고아이 출석 — 모두 QR!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34E4A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FAQ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Frequently Asked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'자주 묻는 질문'이라는 뜻. 다른 학생들이 많이 궁금해했던 걸 미리 모아둔 도움말이에요!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'결제 어떻게?' '수업 빠지면?' 같은 답이 FAQ에 있어요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312E81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Application Programming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프로그램끼리 서로 이야기할 때 쓰는 '약속된 언어'. 망고아이 화면이 서버랑 대화할 때 API를 써요.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카톡 보내기, 출석부 기록 — 모두 API가 일해요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581C87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STT / TTS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Speech-to-Text / Text-to-Speech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STT는 '말 → 글'(받아쓰기 AI), TTS는 '글 → 말'(읽어주는 AI)! 망고아이 발음 점수와 음성 안내가 이걸로 작동.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시리가 듣는 게 STT, 시리가 말하는 게 TTS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14532D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Key Performance Indicator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'핵심 성과 지표' — 학원이 얼마나 잘 되고 있는지 알려주는 중요한 숫자들. 학생 수, 출석률 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학생 KPI=시험점수, 학원 KPI=학생 만족도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7C2D12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NPS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Net Promoter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친구에게 추천하고 싶은 정도를 0~10점으로 물어본 점수. '망고아이를 친구에게 추천하실 건가요?' 같은 질문!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9~10=완전 좋아 / 0~6=별로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881337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ulim"/>
              </a:rPr>
              <a:t>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Peer-to-Peer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'친구 대 친구'로 직접 연결한다는 뜻! 망고아이 영어 배틀에서 두 학생이 서버 없이 바로 연결돼서 게임해요.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두 폰이 사진 주고받는 에어드롭과 같아요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3B0764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MBTI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Myers-Briggs Type Indicator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성격을 16가지 유형으로 나눈 '성격 분류표'. ENFP, INTJ 같은 4글자로 표시. 망고아이는 강사·학생을 MBTI로 매칭!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E=활발, I=조용, N=상상, S=현실, F=감정, T=논리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Gulim"/>
              </a:rPr>
              <a:t>📚 영어 약자 쉬운 사전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85800"/>
            <a:ext cx="5577840" cy="548640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577840" cy="128016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BBF24"/>
                </a:solidFill>
                <a:latin typeface="Gulim"/>
              </a:rPr>
              <a:t>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JSON Web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놀이공원 입장권 같은 '디지털 티켓'. 망고아이 화상수업에 들어갈 때 JWT 티켓이 있어야 입장 가능!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영화 QR 티켓처럼, 비밀번호가 들어간 티켓!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685800"/>
            <a:ext cx="5577840" cy="5486400"/>
          </a:xfrm>
          <a:prstGeom prst="roundRect">
            <a:avLst/>
          </a:prstGeom>
          <a:solidFill>
            <a:srgbClr val="164E63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685800"/>
            <a:ext cx="5577840" cy="12801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82296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Gulim"/>
              </a:rPr>
              <a:t>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822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DE047"/>
                </a:solidFill>
                <a:latin typeface="Gulim"/>
              </a:rPr>
              <a:t>VAPID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Gulim"/>
              </a:rPr>
              <a:t>Voluntary Application Server 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1F5F9"/>
                </a:solidFill>
                <a:latin typeface="Gulim"/>
              </a:rPr>
              <a:t>휴대폰에 '띵동!' 알림을 보내려면 망고아이 서버를 증명하는 VAPID 열쇠가 필요. 가짜 광고 차단용 신분증!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4617720"/>
            <a:ext cx="51206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DE68A"/>
                </a:solidFill>
                <a:latin typeface="Gulim"/>
              </a:rPr>
              <a:t>💡 예: 택배기사 신분증처럼, 알림 보낼 때 보여줘요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0" b="0">
                <a:solidFill>
                  <a:srgbClr val="F472B6"/>
                </a:solidFill>
                <a:latin typeface="Gulim"/>
              </a:rPr>
              <a:t>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Gulim"/>
              </a:rPr>
              <a:t>모르는 약자가 있으면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DE047"/>
                </a:solidFill>
                <a:latin typeface="Gulim"/>
              </a:rPr>
              <a:t>📖 단어 사전(보라색 동그라미 버튼)에 입력해보세요!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Gulim"/>
              </a:rPr>
              <a:t>AI 가 즉시 한국어로 풀어드립니다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Gulim"/>
        <a:cs typeface="Gulim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Gulim"/>
        <a:cs typeface="Gulim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망고아이 학생 안내서</dc:title>
  <dc:subject>PptxGenJS Presentation</dc:subject>
  <dc:creator>PptxGenJS</dc:creator>
  <cp:lastModifiedBy>PptxGenJS</cp:lastModifiedBy>
  <cp:revision>1</cp:revision>
  <dcterms:created xsi:type="dcterms:W3CDTF">2026-05-21T17:10:42Z</dcterms:created>
  <dcterms:modified xsi:type="dcterms:W3CDTF">2026-05-21T17:10:42Z</dcterms:modified>
</cp:coreProperties>
</file>