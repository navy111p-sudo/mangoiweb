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ulim"/>
                <a:ea typeface="Gulim"/>
                <a:cs typeface="Gulim"/>
              </a:defRPr>
            </a:lvl1pPr>
          </a:lstStyle>
          <a:p>
            <a:endParaRPr lang="en-US">
              <a:latin typeface="Gulim"/>
              <a:ea typeface="Gulim"/>
              <a:cs typeface="Gulim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ulim"/>
                <a:ea typeface="Gulim"/>
                <a:cs typeface="Gulim"/>
              </a:defRPr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>
              <a:latin typeface="Gulim"/>
              <a:ea typeface="Gulim"/>
              <a:cs typeface="Gulim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Gulim"/>
              <a:ea typeface="Gulim"/>
              <a:cs typeface="Gulim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ulim"/>
                <a:ea typeface="Gulim"/>
                <a:cs typeface="Gulim"/>
              </a:defRPr>
            </a:lvl1pPr>
          </a:lstStyle>
          <a:p>
            <a:endParaRPr lang="en-US">
              <a:latin typeface="Gulim"/>
              <a:ea typeface="Gulim"/>
              <a:cs typeface="Gulim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ulim"/>
                <a:ea typeface="Gulim"/>
                <a:cs typeface="Gulim"/>
              </a:defRPr>
            </a:lvl1pPr>
          </a:lstStyle>
          <a:p>
            <a:fld id="{CE5E9CC1-C706-0F49-92D6-E571CC5EEA8F}" type="slidenum">
              <a:rPr lang="en-US"/>
              <a:t>‹#›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latin typeface="Gulim"/>
          <a:ea typeface="Gulim"/>
          <a:cs typeface="Gulim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-2194560"/>
            <a:ext cx="5486400" cy="5486400"/>
          </a:xfrm>
          <a:prstGeom prst="ellipse">
            <a:avLst/>
          </a:prstGeom>
          <a:solidFill>
            <a:srgbClr val="2C5F2D">
              <a:alpha val="70000"/>
            </a:srgbClr>
          </a:solidFill>
          <a:ln w="12700">
            <a:solidFill>
              <a:srgbClr val="2C5F2D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005840"/>
            <a:ext cx="2743200" cy="2743200"/>
          </a:xfrm>
          <a:prstGeom prst="ellipse">
            <a:avLst/>
          </a:prstGeom>
          <a:solidFill>
            <a:srgbClr val="7B61FF">
              <a:alpha val="45000"/>
            </a:srgbClr>
          </a:solidFill>
          <a:ln w="12700">
            <a:solidFill>
              <a:srgbClr val="7B61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3749040"/>
            <a:ext cx="3840480" cy="3840480"/>
          </a:xfrm>
          <a:prstGeom prst="ellipse">
            <a:avLst/>
          </a:prstGeom>
          <a:solidFill>
            <a:srgbClr val="F5F5F5">
              <a:alpha val="40000"/>
            </a:srgbClr>
          </a:solidFill>
          <a:ln w="12700">
            <a:solidFill>
              <a:srgbClr val="F5F5F5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94415" y="3063240"/>
            <a:ext cx="731520" cy="731520"/>
          </a:xfrm>
          <a:prstGeom prst="ellipse">
            <a:avLst/>
          </a:prstGeom>
          <a:solidFill>
            <a:srgbClr val="F96167">
              <a:alpha val="60000"/>
            </a:srgbClr>
          </a:solidFill>
          <a:ln w="12700">
            <a:solidFill>
              <a:srgbClr val="F96167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457200"/>
            <a:ext cx="548640" cy="548640"/>
          </a:xfrm>
          <a:prstGeom prst="ellipse">
            <a:avLst/>
          </a:prstGeom>
          <a:solidFill>
            <a:srgbClr val="00BFA5">
              <a:alpha val="70000"/>
            </a:srgbClr>
          </a:solidFill>
          <a:ln w="12700">
            <a:solidFill>
              <a:srgbClr val="00BFA5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693408"/>
            <a:ext cx="411480" cy="91440"/>
          </a:xfrm>
          <a:prstGeom prst="rect">
            <a:avLst/>
          </a:prstGeom>
          <a:solidFill>
            <a:srgbClr val="F96167">
              <a:alpha val="9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6693408"/>
            <a:ext cx="411480" cy="91440"/>
          </a:xfrm>
          <a:prstGeom prst="rect">
            <a:avLst/>
          </a:prstGeom>
          <a:solidFill>
            <a:srgbClr val="FFA500">
              <a:alpha val="90000"/>
            </a:srgbClr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6693408"/>
            <a:ext cx="411480" cy="91440"/>
          </a:xfrm>
          <a:prstGeom prst="rect">
            <a:avLst/>
          </a:prstGeom>
          <a:solidFill>
            <a:srgbClr val="7B61FF">
              <a:alpha val="9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6693408"/>
            <a:ext cx="411480" cy="91440"/>
          </a:xfrm>
          <a:prstGeom prst="rect">
            <a:avLst/>
          </a:prstGeom>
          <a:solidFill>
            <a:srgbClr val="00BFA5">
              <a:alpha val="90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6693408"/>
            <a:ext cx="411480" cy="91440"/>
          </a:xfrm>
          <a:prstGeom prst="rect">
            <a:avLst/>
          </a:prstGeom>
          <a:solidFill>
            <a:srgbClr val="FFC107">
              <a:alpha val="9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6693408"/>
            <a:ext cx="411480" cy="91440"/>
          </a:xfrm>
          <a:prstGeom prst="rect">
            <a:avLst/>
          </a:prstGeom>
          <a:solidFill>
            <a:srgbClr val="2196F3">
              <a:alpha val="9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640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D4E4B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MANGOI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1234440"/>
            <a:ext cx="1737360" cy="1737360"/>
          </a:xfrm>
          <a:prstGeom prst="ellipse">
            <a:avLst/>
          </a:prstGeom>
          <a:solidFill>
            <a:srgbClr val="F96167">
              <a:alpha val="50000"/>
            </a:srgbClr>
          </a:solidFill>
          <a:ln w="12700">
            <a:solidFill>
              <a:srgbClr val="F96167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371600"/>
            <a:ext cx="1463040" cy="1463040"/>
          </a:xfrm>
          <a:prstGeom prst="ellipse">
            <a:avLst/>
          </a:prstGeom>
          <a:solidFill>
            <a:srgbClr val="2C5F2D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3716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🌿</a:t>
            </a:r>
            <a:endParaRPr lang="en-US" sz="7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063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5F5F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망고아이</a:t>
            </a:r>
            <a:endParaRPr lang="en-US" sz="5400" dirty="0">
              <a:latin typeface="Gulim"/>
              <a:ea typeface="Gulim"/>
              <a:cs typeface="Gulim"/>
            </a:endParaRPr>
          </a:p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5F5F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 안내서</a:t>
            </a:r>
            <a:endParaRPr lang="en-US" sz="5400" dirty="0">
              <a:latin typeface="Gulim"/>
              <a:ea typeface="Gulim"/>
              <a:cs typeface="Gulim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4617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D4E4B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강의실 운영 · 평가서 작성 · 칭찬 통계 · 급여 정산 — 핵심 도구 한 권.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" y="5440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E4B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Forest &amp; Moss · A Practical Guide for Mangoi Teachers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4E4B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For Teachers · 2026 · From First Class to Payroll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목차</a:t>
            </a:r>
            <a:endParaRPr lang="en-US" sz="40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spc="400" kern="0" dirty="0">
                <a:solidFill>
                  <a:srgbClr val="2C5F2D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Contents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01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1920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 등록 · MBTI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02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40880" y="1920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강의실 입장 · 첫 5분 체크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03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80160" y="26334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수업 중 도구 (칠판·PDF·발음)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0" y="2633472"/>
            <a:ext cx="502920" cy="50292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04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40880" y="26334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 모니터링 신호등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346704"/>
            <a:ext cx="502920" cy="50292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46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05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80160" y="334670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평가서 작성 (Quick · AI · Bulk)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0" y="3346704"/>
            <a:ext cx="502920" cy="5029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346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06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040880" y="334670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슈퍼바이저 모드 (멘토)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4059936"/>
            <a:ext cx="502920" cy="502920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59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07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80160" y="405993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칭찬 통계 (Praise Stats)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0" y="4059936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059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08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40880" y="405993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급여 정산 공식 + 명세서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4773168"/>
            <a:ext cx="502920" cy="502920"/>
          </a:xfrm>
          <a:prstGeom prst="ellipse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773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09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280160" y="47731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단축키 · 추천 워크플로우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00800" y="4773168"/>
            <a:ext cx="502920" cy="50292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773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10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40880" y="47731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자주 묻는 질문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F96167">
              <a:alpha val="20000"/>
            </a:srgbClr>
          </a:solidFill>
          <a:ln w="12700">
            <a:solidFill>
              <a:srgbClr val="F96167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F96167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01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FFA500">
              <a:alpha val="75000"/>
            </a:srgbClr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🚀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01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 등록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프로필 · MBTI 매칭 · 자기소개 영상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219456" cy="21945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 등록 — MBTI 매칭이 핵심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2C5F2D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01 · ONBOARDING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필수: 한·영 이름, 카톡 번호, 경력, 자격증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MBTI 16종 — 모르면 폼 안 🧪 빠른 테스트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취미 · 관심사 (학생과 공감대 형성용)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수업 스타일 (조용 / 활기차게 / 엄격)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연령대 선호 (초·중·고·성인)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자기소개 영상 2~3분 R2 업로드 (선택)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F5F5F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🧩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MBTI 자세히 적기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4E4B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 이탈률은 강사-학생 MBTI 궁합과 강한 상관관계가 있어요.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FFA500">
              <a:alpha val="20000"/>
            </a:srgbClr>
          </a:solidFill>
          <a:ln w="12700">
            <a:solidFill>
              <a:srgbClr val="FFA50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FFA500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02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7B61FF">
              <a:alpha val="7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👥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A5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02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강의실 입장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A5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입장 · 첫 5분 체크 · QR 출결 · Ghost View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219456" cy="219456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강의실 입장 + 첫 5분 체크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2C5F2D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02 · FIRST 5 MIN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3746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874520"/>
            <a:ext cx="242773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5890" y="2240280"/>
            <a:ext cx="1005840" cy="10058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589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입장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📅 오늘 수업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 🎬 입장 (JWT 토큰)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51860" y="1874520"/>
            <a:ext cx="2537460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186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1874520"/>
            <a:ext cx="2427732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17670" y="2240280"/>
            <a:ext cx="1005840" cy="10058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767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8902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마이크/카메라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1645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권한 허용 확인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시스템 입력 장치 OK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2537460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1874520"/>
            <a:ext cx="2427732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9450" y="2240280"/>
            <a:ext cx="1005840" cy="10058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945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교재 시트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2823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좌측 폴더 시트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오늘 자료 미리 열기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75420" y="1874520"/>
            <a:ext cx="2537460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542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0284" y="1874520"/>
            <a:ext cx="2427732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41230" y="2240280"/>
            <a:ext cx="1005840" cy="10058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123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1258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Ghost 체크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24001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👁 GHOST 표시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참관 중인지 확인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E6F0D5"/>
          </a:solidFill>
          <a:ln w="12700">
            <a:solidFill>
              <a:srgbClr val="E6F0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897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💡</a:t>
            </a:r>
            <a:endParaRPr lang="en-US" sz="2200" dirty="0">
              <a:latin typeface="Gulim"/>
              <a:ea typeface="Gulim"/>
              <a:cs typeface="Gulim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417320" y="58978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칠판이 깨끗한지 확인 — 이전 수업 자료 자동 클리어가 정상 동작했는지.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QR 출결 — 자동 + 알림톡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2C5F2D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02 · QR ATTENDANCE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도구바 📷 QR 출결 → 화면에 QR 표시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학생이 모바일로 스캔 → 자동 출석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5분 이상 늦으면 자동 late 마킹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학부모에게 카톡 알림톡 자동 발송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출결 데이터는 본사·부모 대시보드에 즉시 반영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F5F5F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📷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단축키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4E4B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 키로 QR 출결 한 번에 — 수업 도중에도 빠르게.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7B61FF">
              <a:alpha val="20000"/>
            </a:srgbClr>
          </a:solidFill>
          <a:ln w="12700">
            <a:solidFill>
              <a:srgbClr val="7B61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7B61FF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03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00BFA5">
              <a:alpha val="7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🎬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7B61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03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수업 중 도구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B61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칠판 · PDF · YouTube · 발음 연습 · 학생 신호등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219456" cy="21945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수업 중 도구 4종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96167">
              <a:alpha val="22000"/>
            </a:srgbClr>
          </a:solidFill>
          <a:ln w="12700">
            <a:solidFill>
              <a:srgbClr val="F9616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📝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칠판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41732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펜·지우개·도형·텍스트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R2 자동 녹화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52044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FA500">
              <a:alpha val="22000"/>
            </a:srgbClr>
          </a:solidFill>
          <a:ln w="12700">
            <a:solidFill>
              <a:srgbClr val="FFA50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📄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PDF 공유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5196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폴더 시트 → 칠판 표시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터치/마우스 필기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7B61FF">
              <a:alpha val="22000"/>
            </a:srgbClr>
          </a:solidFill>
          <a:ln w="12700">
            <a:solidFill>
              <a:srgbClr val="7B61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🎬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YouTube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8660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URL → 모두 동시 재생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강사만 컨트롤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8972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00BFA5">
              <a:alpha val="22000"/>
            </a:srgbClr>
          </a:solidFill>
          <a:ln w="12700">
            <a:solidFill>
              <a:srgbClr val="00BFA5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832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🎤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32688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발음 연습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92124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비교 점수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실시간 강사 화면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학생에게만 보이게 옵션도 있어요 — 칠판에 특정 학생용 메시지 표시 가능.</a:t>
            </a:r>
            <a:endParaRPr lang="en-US" sz="15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 모니터링 신호등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2C5F2D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03 · STUDENT MONITOR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🟢 마이크 정상 / 적극 발화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🟡 마이크 작음 / 약한 발화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🔴 마이크 꺼짐 / 무발화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👀 시선이 화면을 벗어남 (집중도 저하)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발화·시선·집중도 자동 측정 → 부모 보고서 반영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F5F5F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🚦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화면에 다 보여요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4E4B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 화면 우측 — 학생 8명까지 한눈에 상태 확인.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00BFA5">
              <a:alpha val="20000"/>
            </a:srgbClr>
          </a:solidFill>
          <a:ln w="12700">
            <a:solidFill>
              <a:srgbClr val="00BFA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00BFA5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04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FFC107">
              <a:alpha val="7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📝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BFA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04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수업 후 평가서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BFA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Quick · AI 자동 초안 · Bulk · 누락 방지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219456" cy="21945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평가서 — 시간 단축 효과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96167">
              <a:alpha val="22000"/>
            </a:srgbClr>
          </a:solidFill>
          <a:ln w="12700">
            <a:solidFill>
              <a:srgbClr val="F9616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15→3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분 (1건 작성)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8976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 작성 시간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평균 80% 단축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6532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FA500">
              <a:alpha val="22000"/>
            </a:srgbClr>
          </a:solidFill>
          <a:ln w="12700">
            <a:solidFill>
              <a:srgbClr val="FFA50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960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392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0248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키워드 입력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6928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248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발음 · 단어 · 태도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등 5개만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4484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7B61FF">
              <a:alpha val="22000"/>
            </a:srgbClr>
          </a:solidFill>
          <a:ln w="12700">
            <a:solidFill>
              <a:srgbClr val="7B61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912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7344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056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70B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8200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Llama 3.3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44880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200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Workers AI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자연스러운 한국어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키워드를 구체적으로 — "발음 좋아짐" 보다 "today's pronunciation of th sound improved".</a:t>
            </a:r>
            <a:endParaRPr lang="en-US" sz="15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평가서 작성 워크플로우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2C5F2D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04 · EVAL FLOW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3746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874520"/>
            <a:ext cx="242773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5890" y="2240280"/>
            <a:ext cx="1005840" cy="10058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589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5점 + 코멘트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발음·문법·어휘·집중·태도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각 5점 + 2~3줄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51860" y="1874520"/>
            <a:ext cx="2537460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186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1874520"/>
            <a:ext cx="2427732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17670" y="2240280"/>
            <a:ext cx="1005840" cy="10058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767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8902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초안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1645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키워드 5개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 🤖 AI 초안 생성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2537460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1874520"/>
            <a:ext cx="2427732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9450" y="2240280"/>
            <a:ext cx="1005840" cy="10058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945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수정·저장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2823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검토 → 수정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 학부모 카톡 즉시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75420" y="1874520"/>
            <a:ext cx="2537460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542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0284" y="1874520"/>
            <a:ext cx="2427732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41230" y="2240280"/>
            <a:ext cx="1005840" cy="10058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123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1258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Bulk Eval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24001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반 8명 동시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또는 CSV 업로드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E6F0D5"/>
          </a:solidFill>
          <a:ln w="12700">
            <a:solidFill>
              <a:srgbClr val="E6F0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897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💡</a:t>
            </a:r>
            <a:endParaRPr lang="en-US" sz="2200" dirty="0">
              <a:latin typeface="Gulim"/>
              <a:ea typeface="Gulim"/>
              <a:cs typeface="Gulim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417320" y="58978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평가서 누락 시 다음 수업 입장 전 알림이 떠요. 24시간 이내 작성 권장.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2196F3">
              <a:alpha val="20000"/>
            </a:srgbClr>
          </a:solidFill>
          <a:ln w="12700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2196F3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06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E91E63">
              <a:alpha val="75000"/>
            </a:srgbClr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📣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2196F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06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슈퍼바이저 · 칭찬 통계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196F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멘토링 · 노트 · 평가 점수 → 단가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219456" cy="219456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C7DBA1"/>
          </a:solidFill>
          <a:ln w="12700">
            <a:solidFill>
              <a:srgbClr val="C7DBA1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슈퍼바이저 모드 (멘토 강사용)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2C5F2D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06 · SUPERVISOR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경력 6개월+ / 평균 평가 4.5+ / 본사 면담 → 권한 부여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신입 강사 수업에 귓속말(Whisper) 1:1 조언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학생은 강사 귓속말을 보거나 듣지 못함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슈퍼바이저 마이페이지 → 📝 신입 강사 노트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멘티 강사별 주간 노트 → 본사 + 신입 강사 본인 공유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F5F5F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🎯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실시간 코칭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4E4B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"학생 B 에게 좀 더 천천히" 같은 한 마디가 신입 강사의 큰 자산.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칭찬 통계 → 급여 단가 연동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96167">
              <a:alpha val="22000"/>
            </a:srgbClr>
          </a:solidFill>
          <a:ln w="12700">
            <a:solidFill>
              <a:srgbClr val="F9616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+10%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단가 자동 상승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8976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평가 점수 높으면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다음 달 자동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6532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FA500">
              <a:alpha val="22000"/>
            </a:srgbClr>
          </a:solidFill>
          <a:ln w="12700">
            <a:solidFill>
              <a:srgbClr val="FFA50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960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392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5종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0248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집계 항목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6928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248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관리자 칭찬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학부모 NPS · 슈퍼바이저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4484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7B61FF">
              <a:alpha val="22000"/>
            </a:srgbClr>
          </a:solidFill>
          <a:ln w="12700">
            <a:solidFill>
              <a:srgbClr val="7B61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912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7344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056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🌟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8200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우수 강사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44880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200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본사 선정 시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칭찬 통계 참고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본사·학부모·학생이 강사를 칭찬할 때마다 자동 집계 — 마이페이지 🌟 내 칭찬 통계.</a:t>
            </a:r>
            <a:endParaRPr lang="en-US" sz="15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급여 정산 공식 + 명세서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2C5F2D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07 · PAYROLL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공식: 10분 단가 × 수업 시간 × 5카테고리 가중치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매월 말일 자동 계산 → 다음 달 5일 본사 검토 → 10일 송금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마이페이지 → 💰 이번 달 급여 — 실시간 미리보기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📄 급여 명세서 → 월별 PDF (세무·회계용)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이의 제기는 송금 전에 — 송금 후엔 다음 달 반영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F5F5F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💰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실시간 미리보기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4E4B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월 중에도 현재까지 누적 급여를 즉시 확인하실 수 있어요.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4CAF50">
              <a:alpha val="20000"/>
            </a:srgbClr>
          </a:solidFill>
          <a:ln w="12700">
            <a:solidFill>
              <a:srgbClr val="4CAF5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4CAF50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08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FF5722">
              <a:alpha val="75000"/>
            </a:srgbClr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📚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4CAF5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08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단축키 · 추천 워크플로우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CAF5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수업의 5단계 흐름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219456" cy="219456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PC 단축키 7개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96167">
              <a:alpha val="22000"/>
            </a:srgbClr>
          </a:solidFill>
          <a:ln w="12700">
            <a:solidFill>
              <a:srgbClr val="F9616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마이크 토글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41732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키 빠르게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52044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FA500">
              <a:alpha val="22000"/>
            </a:srgbClr>
          </a:solidFill>
          <a:ln w="12700">
            <a:solidFill>
              <a:srgbClr val="FFA50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V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카메라 토글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5196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얼굴 가리기 빠르게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7B61FF">
              <a:alpha val="22000"/>
            </a:srgbClr>
          </a:solidFill>
          <a:ln w="12700">
            <a:solidFill>
              <a:srgbClr val="7B61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B / P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칠판 / PDF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8660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도구 전환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8972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00BFA5">
              <a:alpha val="22000"/>
            </a:srgbClr>
          </a:solidFill>
          <a:ln w="12700">
            <a:solidFill>
              <a:srgbClr val="00BFA5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832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 / R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32688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QR / 녹화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92124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출결 / 녹음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Esc — 모달·도구 닫기. 키보드 한 손으로 수업을 다 운영할 수 있어요.</a:t>
            </a:r>
            <a:endParaRPr lang="en-US" sz="15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추천 워크플로우 (한 수업)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2C5F2D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08 · WORKFLOW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975104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1975104" cy="38404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874520"/>
            <a:ext cx="1865376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" y="2240280"/>
            <a:ext cx="1005840" cy="10058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5분 전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402336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강의실 입장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폴더 시트 점검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89504" y="1874520"/>
            <a:ext cx="1975104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9504" y="1874520"/>
            <a:ext cx="1975104" cy="38404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44368" y="1874520"/>
            <a:ext cx="1865376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4136" y="2240280"/>
            <a:ext cx="1005840" cy="10058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026664" y="333756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시작 정시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054096" y="402336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QR 출결 생성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 입장 대기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138928" y="1874520"/>
            <a:ext cx="1975104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1874520"/>
            <a:ext cx="1975104" cy="38404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93792" y="1874520"/>
            <a:ext cx="1865376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23560" y="2240280"/>
            <a:ext cx="1005840" cy="10058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76088" y="333756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수업 진행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03520" y="402336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칠판 + PDF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+ 발음 연습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388352" y="1874520"/>
            <a:ext cx="1975104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88352" y="1874520"/>
            <a:ext cx="1975104" cy="38404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43216" y="1874520"/>
            <a:ext cx="1865376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72984" y="2240280"/>
            <a:ext cx="1005840" cy="10058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72984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525512" y="333756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직후 5분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552944" y="402336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평가서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자동 초안 → 저장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637776" y="1874520"/>
            <a:ext cx="1975104" cy="16459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37776" y="1874520"/>
            <a:ext cx="1975104" cy="38404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2640" y="1874520"/>
            <a:ext cx="1865376" cy="16459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22408" y="2240280"/>
            <a:ext cx="1005840" cy="10058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22408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774936" y="333756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하루 마무리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802368" y="402336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🌟 칭찬 통계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번 확인 → 퇴근 ☕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40080" y="589788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E6F0D5"/>
          </a:solidFill>
          <a:ln w="12700">
            <a:solidFill>
              <a:srgbClr val="E6F0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5897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💡</a:t>
            </a:r>
            <a:endParaRPr lang="en-US" sz="2200" dirty="0">
              <a:latin typeface="Gulim"/>
              <a:ea typeface="Gulim"/>
              <a:cs typeface="Gulim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417320" y="58978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평가서를 수업 직후 5분 안에 끝내는 것이 강사 워라밸의 핵심입니다.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자주 묻는 질문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2C5F2D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FAQ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530352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36192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17320" y="144475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마이크가 안 들려요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7320" y="205740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주소창 자물쇠 → 마이크 허용 → 시스템 입력 장치 확인 → 헤드셋 재연결.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280160"/>
            <a:ext cx="5303520" cy="109728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536192"/>
            <a:ext cx="548640" cy="5486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86600" y="144475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PDF 가 안 떠요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86600" y="205740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파일 30MB 초과 시 실패. R2 가 느릴 수 있어요. 30초 후 재시도.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13944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39440"/>
            <a:ext cx="5303520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395472"/>
            <a:ext cx="548640" cy="5486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95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17320" y="33040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학생이 갑자기 끊겼어요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17320" y="391668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5분 내 자동 재입장. 안 되면 카톡으로 새로고침 요청 또는 본사 강제 재입장.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09360" y="313944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3139440"/>
            <a:ext cx="5303520" cy="1097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395472"/>
            <a:ext cx="548640" cy="5486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395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086600" y="33040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평가서를 깜빡했어요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86600" y="391668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수업 후 24시간 내 자유롭게 작성. 그 이후엔 본사 관리자에게 요청.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499872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998720"/>
            <a:ext cx="5303520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5254752"/>
            <a:ext cx="548640" cy="5486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254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417320" y="516331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평가서가 어색해요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417320" y="577596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키워드를 더 구체적으로. "발음 좋아짐" → "th 발음이 또렷해짐"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09360" y="499872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7DBA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4998720"/>
            <a:ext cx="5303520" cy="10972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5254752"/>
            <a:ext cx="548640" cy="54864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5254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086600" y="516331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슈퍼바이저는 어떻게?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86600" y="577596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4331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경력 6개월+ / 평균 평가 4.5+ / 본사 면담 → 권한 부여.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3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1463040"/>
            <a:ext cx="4937760" cy="4937760"/>
          </a:xfrm>
          <a:prstGeom prst="ellipse">
            <a:avLst/>
          </a:prstGeom>
          <a:solidFill>
            <a:srgbClr val="2C5F2D">
              <a:alpha val="70000"/>
            </a:srgbClr>
          </a:solidFill>
          <a:ln w="12700">
            <a:solidFill>
              <a:srgbClr val="2C5F2D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97135" y="91440"/>
            <a:ext cx="2194560" cy="2194560"/>
          </a:xfrm>
          <a:prstGeom prst="ellipse">
            <a:avLst/>
          </a:prstGeom>
          <a:solidFill>
            <a:srgbClr val="7B61FF">
              <a:alpha val="55000"/>
            </a:srgbClr>
          </a:solidFill>
          <a:ln w="12700">
            <a:solidFill>
              <a:srgbClr val="7B61F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F5F5F5">
              <a:alpha val="40000"/>
            </a:srgbClr>
          </a:solidFill>
          <a:ln w="12700">
            <a:solidFill>
              <a:srgbClr val="F5F5F5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120640"/>
            <a:ext cx="1463040" cy="1463040"/>
          </a:xfrm>
          <a:prstGeom prst="ellipse">
            <a:avLst/>
          </a:prstGeom>
          <a:solidFill>
            <a:srgbClr val="F96167">
              <a:alpha val="60000"/>
            </a:srgbClr>
          </a:solidFill>
          <a:ln w="12700">
            <a:solidFill>
              <a:srgbClr val="F96167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11480"/>
            <a:ext cx="103629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1234" y="411480"/>
            <a:ext cx="1036290" cy="9144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22387" y="411480"/>
            <a:ext cx="1036290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13541" y="411480"/>
            <a:ext cx="1036290" cy="91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04694" y="411480"/>
            <a:ext cx="103629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5848" y="411480"/>
            <a:ext cx="1036290" cy="914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87001" y="411480"/>
            <a:ext cx="1036290" cy="9144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8155" y="411480"/>
            <a:ext cx="1036290" cy="914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69308" y="411480"/>
            <a:ext cx="1036290" cy="9144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60462" y="411480"/>
            <a:ext cx="1036290" cy="9144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52848" y="960120"/>
            <a:ext cx="2286000" cy="2286000"/>
          </a:xfrm>
          <a:prstGeom prst="ellipse">
            <a:avLst/>
          </a:prstGeom>
          <a:solidFill>
            <a:srgbClr val="FFA500">
              <a:alpha val="45000"/>
            </a:srgbClr>
          </a:solidFill>
          <a:ln w="12700">
            <a:solidFill>
              <a:srgbClr val="FFA500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81448" y="1188720"/>
            <a:ext cx="1828800" cy="1828800"/>
          </a:xfrm>
          <a:prstGeom prst="ellipse">
            <a:avLst/>
          </a:prstGeom>
          <a:solidFill>
            <a:srgbClr val="2C5F2D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1448" y="11887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🌿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5F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강사님의 한마디가 가장 큰 동력</a:t>
            </a:r>
            <a:endParaRPr lang="en-US" sz="4000" dirty="0">
              <a:latin typeface="Gulim"/>
              <a:ea typeface="Gulim"/>
              <a:cs typeface="Gulim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71600" y="4251960"/>
            <a:ext cx="9418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D4E4B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"AI 가 평가서 초안을 만들어 드리고, QR 이 출결을 자동화하지만</a:t>
            </a:r>
            <a:endParaRPr lang="en-US" sz="17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D4E4B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오늘 잘했어, 다음에도 같이 해보자 라는 강사님의 코멘트 한 줄이</a:t>
            </a:r>
            <a:endParaRPr lang="en-US" sz="17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D4E4B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학생에게는 그 어떤 점수보다 큰 동력입니다."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5897880"/>
            <a:ext cx="103629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1234" y="5897880"/>
            <a:ext cx="1036290" cy="7315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22387" y="5897880"/>
            <a:ext cx="1036290" cy="731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13541" y="5897880"/>
            <a:ext cx="103629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04694" y="5897880"/>
            <a:ext cx="103629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5848" y="5897880"/>
            <a:ext cx="1036290" cy="731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001" y="5897880"/>
            <a:ext cx="1036290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78155" y="5897880"/>
            <a:ext cx="103629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69308" y="5897880"/>
            <a:ext cx="1036290" cy="73152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60462" y="5897880"/>
            <a:ext cx="1036290" cy="7315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spc="400" kern="0" dirty="0">
                <a:solidFill>
                  <a:srgbClr val="D4E4B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— MANGOI TEAM 드림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54667" cy="365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54666" y="0"/>
            <a:ext cx="1354667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9333" y="0"/>
            <a:ext cx="1354667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0"/>
            <a:ext cx="1354667" cy="3657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8666" y="0"/>
            <a:ext cx="1354667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73333" y="0"/>
            <a:ext cx="1354667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0" y="0"/>
            <a:ext cx="1354667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82666" y="0"/>
            <a:ext cx="1354667" cy="3657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37333" y="0"/>
            <a:ext cx="1354667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914400"/>
            <a:ext cx="112776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0" b="0">
                <a:solidFill>
                  <a:srgbClr val="FBBF24"/>
                </a:solidFill>
                <a:latin typeface="Gulim"/>
              </a:rP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127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Gulim"/>
              </a:rPr>
              <a:t>영어 약자 쉬운 사전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DE047"/>
                </a:solidFill>
                <a:latin typeface="Gulim"/>
              </a:rPr>
              <a:t>초등 6학년도 한 번에 이해할 수 있게!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0" y="6035040"/>
            <a:ext cx="320040" cy="3200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0" y="6035040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6035040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6035040"/>
            <a:ext cx="320040" cy="3200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0" y="603504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0" y="6035040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Gulim"/>
              </a:rPr>
              <a:t>총 16개 약자 · 그림과 함께 쉬운 한국어로 풀이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4C1D95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컴퓨터가 사람처럼 생각하고 배우는 '똑똑한 두뇌'. 망고아이에서는 AI가 발음을 들어주고, 영작 숙제를 고쳐주고, 단어 뜻을 알려줘요.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알파고, 챗GPT, 망고아이의 발음 점수 매기는 친구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BFDBFE"/>
                </a:solidFill>
                <a:latin typeface="Gulim"/>
              </a:rPr>
              <a:t>PWA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Progressive Web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홈페이지인데 '앱처럼' 휴대폰 바탕화면에 설치할 수 있는 마법! 인터넷이 잠깐 끊겨도 사용할 수 있어요.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'앱 설치' 누르면 바탕화면에 망고아이 아이콘이 생겨요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064E3B"/>
          </a:solidFill>
          <a:ln w="317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EE7B7"/>
                </a:solidFill>
                <a:latin typeface="Gulim"/>
              </a:rPr>
              <a:t>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Single Sign-On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한 번만 로그인하면 모든 곳에 자동으로 들어가져요. 화상수업, 평가서, 단어장 — 다시 비밀번호 안 적어도 돼요!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학생증 하나로 도서관·식당·교실 다 들어가는 것과 같아요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831843"/>
          </a:solidFill>
          <a:ln w="3175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9A8D4"/>
                </a:solidFill>
                <a:latin typeface="Gulim"/>
              </a:rPr>
              <a:t>WebRTC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Web Real-Time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인터넷으로 얼굴을 보면서 실시간으로 이야기하는 기술! 줌이나 망고아이 화상수업이 이걸로 만들어졌어요.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멀리 있는 미국 선생님과 옆에 있는 것처럼 영어 수업!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7C2D12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TOEIC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Test Of English for International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'국제 영어 의사소통 시험'. 듣기와 읽기로 영어 실력을 점수로 보여줘요. 망고아이의 미니 토익은 짧고 재밌게 만든 버전!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진짜 토익은 990점 만점, 망고아이 미니는 100점 만점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7F1D1D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Portable Document 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어떤 컴퓨터·휴대폰에서 열어도 '똑같이 보이는' 문서. 교재나 평가서를 PDF로 저장하면 폰트가 깨지지 않아요!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선생님 PDF 교재를 칠판에 띄워서 같이 봐요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0C4A6E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QR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Quick Response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휴대폰 카메라로 찍으면 '뿅' 하고 정보가 열리는 사각형 무늬! 망고아이에서는 출석체크를 QR로 1초만에 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식당 메뉴, 백신 인증, 망고아이 출석 — 모두 QR!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134E4A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FAQ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Frequently Asked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'자주 묻는 질문'이라는 뜻. 다른 학생들이 많이 궁금해했던 걸 미리 모아둔 도움말이에요!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'결제 어떻게?' '수업 빠지면?' 같은 답이 FAQ에 있어요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312E81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Application Programming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프로그램끼리 서로 이야기할 때 쓰는 '약속된 언어'. 망고아이 화면이 서버랑 대화할 때 API를 써요.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카톡 보내기, 출석부 기록 — 모두 API가 일해요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581C87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STT / TTS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Speech-to-Text / Text-to-Speech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STT는 '말 → 글'(받아쓰기 AI), TTS는 '글 → 말'(읽어주는 AI)! 망고아이 발음 점수와 음성 안내가 이걸로 작동.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시리가 듣는 게 STT, 시리가 말하는 게 TTS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14532D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KPI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Key Performance Indicator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'핵심 성과 지표' — 학원이 얼마나 잘 되고 있는지 알려주는 중요한 숫자들. 학생 수, 출석률 등.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학생 KPI=시험점수, 학원 KPI=학생 만족도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7C2D12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NPS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Net Promoter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친구에게 추천하고 싶은 정도를 0~10점으로 물어본 점수. '망고아이를 친구에게 추천하실 건가요?' 같은 질문!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9~10=완전 좋아 / 0~6=별로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881337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P2P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Peer-to-Peer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'친구 대 친구'로 직접 연결한다는 뜻! 망고아이 영어 배틀에서 두 학생이 서버 없이 바로 연결돼서 게임해요.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두 폰이 사진 주고받는 에어드롭과 같아요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3B0764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MBTI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Myers-Briggs Type Indicator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성격을 16가지 유형으로 나눈 '성격 분류표'. ENFP, INTJ 같은 4글자로 표시. 망고아이는 강사·학생을 MBTI로 매칭!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E=활발, I=조용, N=상상, S=현실, F=감정, T=논리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BBF24"/>
                </a:solidFill>
                <a:latin typeface="Gulim"/>
              </a:rPr>
              <a:t>JWT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JSON Web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놀이공원 입장권 같은 '디지털 티켓'. 망고아이 화상수업에 들어갈 때 JWT 티켓이 있어야 입장 가능!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영화 QR 티켓처럼, 비밀번호가 들어간 티켓!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164E63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VAPID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Voluntary Application Server Identification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휴대폰에 '띵동!' 알림을 보내려면 망고아이 서버를 증명하는 VAPID 열쇠가 필요. 가짜 광고 차단용 신분증!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택배기사 신분증처럼, 알림 보낼 때 보여줘요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0" b="0">
                <a:solidFill>
                  <a:srgbClr val="F472B6"/>
                </a:solidFill>
                <a:latin typeface="Gulim"/>
              </a:rPr>
              <a:t>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Gulim"/>
              </a:rPr>
              <a:t>모르는 약자가 있으면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DE047"/>
                </a:solidFill>
                <a:latin typeface="Gulim"/>
              </a:rPr>
              <a:t>📖 단어 사전(보라색 동그라미 버튼)에 입력해보세요!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Gulim"/>
              </a:rPr>
              <a:t>AI 가 즉시 한국어로 풀어드립니다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Gulim"/>
        <a:cs typeface="Gulim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Gulim"/>
        <a:cs typeface="Gulim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망고아이 강사 안내서</dc:title>
  <dc:subject>PptxGenJS Presentation</dc:subject>
  <dc:creator>PptxGenJS</dc:creator>
  <cp:lastModifiedBy>PptxGenJS</cp:lastModifiedBy>
  <cp:revision>1</cp:revision>
  <dcterms:created xsi:type="dcterms:W3CDTF">2026-05-21T17:10:42Z</dcterms:created>
  <dcterms:modified xsi:type="dcterms:W3CDTF">2026-05-21T17:10:42Z</dcterms:modified>
</cp:coreProperties>
</file>