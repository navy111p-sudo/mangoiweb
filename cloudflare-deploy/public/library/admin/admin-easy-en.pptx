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2563EB"/>
              </a:solidFill>
            </c:spPr>
          </c:dPt>
          <c:dPt>
            <c:idx val="1"/>
            <c:spPr>
              <a:solidFill>
                <a:srgbClr val="0EA5E9"/>
              </a:solidFill>
            </c:spPr>
          </c:dPt>
          <c:dPt>
            <c:idx val="2"/>
            <c:spPr>
              <a:solidFill>
                <a:srgbClr val="00B85C"/>
              </a:solidFill>
            </c:spPr>
          </c:dPt>
          <c:dPt>
            <c:idx val="3"/>
            <c:spPr>
              <a:solidFill>
                <a:srgbClr val="FF9500"/>
              </a:solidFill>
            </c:spPr>
          </c:dPt>
          <c:cat>
            <c:strRef>
              <c:f>Sheet1!$A$2:$A$5</c:f>
              <c:strCache>
                <c:ptCount val="4"/>
                <c:pt idx="0">
                  <c:v>Sign in</c:v>
                </c:pt>
                <c:pt idx="1">
                  <c:v>Learn screen</c:v>
                </c:pt>
                <c:pt idx="2">
                  <c:v>Practise search</c:v>
                </c:pt>
                <c:pt idx="3">
                  <c:v>Test notice</c:v>
                </c:pt>
              </c:strCache>
            </c:strRef>
          </c:cat>
          <c:val>
            <c:numRef>
              <c:f>Sheet1!$B$2:$B$5</c:f>
              <c:numCache>
                <c:formatCode>General</c:formatCode>
                <c:ptCount val="4"/>
                <c:pt idx="0">
                  <c:v>1</c:v>
                </c:pt>
                <c:pt idx="1">
                  <c:v>3</c:v>
                </c:pt>
                <c:pt idx="2">
                  <c:v>2</c:v>
                </c:pt>
                <c:pt idx="3">
                  <c:v>5</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2563EB"/>
              </a:solidFill>
            </c:spPr>
          </c:dPt>
          <c:dPt>
            <c:idx val="1"/>
            <c:spPr>
              <a:solidFill>
                <a:srgbClr val="0EA5E9"/>
              </a:solidFill>
            </c:spPr>
          </c:dPt>
          <c:dPt>
            <c:idx val="2"/>
            <c:spPr>
              <a:solidFill>
                <a:srgbClr val="00B85C"/>
              </a:solidFill>
            </c:spPr>
          </c:dPt>
          <c:dPt>
            <c:idx val="3"/>
            <c:spPr>
              <a:solidFill>
                <a:srgbClr val="FF9500"/>
              </a:solidFill>
            </c:spPr>
          </c:dPt>
          <c:cat>
            <c:strRef>
              <c:f>Sheet1!$A$2:$A$5</c:f>
              <c:strCache>
                <c:ptCount val="4"/>
                <c:pt idx="0">
                  <c:v>Students/Parents</c:v>
                </c:pt>
                <c:pt idx="1">
                  <c:v>Evaluations</c:v>
                </c:pt>
                <c:pt idx="2">
                  <c:v>Notifications</c:v>
                </c:pt>
                <c:pt idx="3">
                  <c:v>Accounting</c:v>
                </c:pt>
              </c:strCache>
            </c:strRef>
          </c:cat>
          <c:val>
            <c:numRef>
              <c:f>Sheet1!$B$2:$B$5</c:f>
              <c:numCache>
                <c:formatCode>General</c:formatCode>
                <c:ptCount val="4"/>
                <c:pt idx="0">
                  <c:v>9</c:v>
                </c:pt>
                <c:pt idx="1">
                  <c:v>7</c:v>
                </c:pt>
                <c:pt idx="2">
                  <c:v>6</c:v>
                </c:pt>
                <c:pt idx="3">
                  <c:v>4</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2563EB"/>
              </a:solidFill>
            </c:spPr>
          </c:dPt>
          <c:dPt>
            <c:idx val="1"/>
            <c:spPr>
              <a:solidFill>
                <a:srgbClr val="0EA5E9"/>
              </a:solidFill>
            </c:spPr>
          </c:dPt>
          <c:dPt>
            <c:idx val="2"/>
            <c:spPr>
              <a:solidFill>
                <a:srgbClr val="FF9500"/>
              </a:solidFill>
            </c:spPr>
          </c:dPt>
          <c:cat>
            <c:strRef>
              <c:f>Sheet1!$A$2:$A$4</c:f>
              <c:strCache>
                <c:ptCount val="3"/>
                <c:pt idx="0">
                  <c:v>Search box</c:v>
                </c:pt>
                <c:pt idx="1">
                  <c:v>A.i assistant</c:v>
                </c:pt>
                <c:pt idx="2">
                  <c:v>KakaoTalk</c:v>
                </c:pt>
              </c:strCache>
            </c:strRef>
          </c:cat>
          <c:val>
            <c:numRef>
              <c:f>Sheet1!$B$2:$B$4</c:f>
              <c:numCache>
                <c:formatCode>General</c:formatCode>
                <c:ptCount val="3"/>
                <c:pt idx="0">
                  <c:v>3</c:v>
                </c:pt>
                <c:pt idx="1">
                  <c:v>2</c:v>
                </c:pt>
                <c:pt idx="2">
                  <c:v>1</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4ED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2563EB"/>
                </a:solidFill>
                <a:latin typeface="Malgun Gothic"/>
              </a:rPr>
              <a:t>💻 EASY ADMIN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Easy Admin Page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Not confident with computers? That's fine — just follow along</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Directors and staff using the admin page for the first time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2563EB"/>
                </a:solidFill>
                <a:latin typeface="Malgun Gothic"/>
              </a:rPr>
              <a:t>Who is this guide for?</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It is fine if you are not confident with computers. This guide picks only the things you will use most often and walks you through them one step at a time, with the screen in front of you.</a:t>
            </a:r>
          </a:p>
          <a:p>
            <a:pPr algn="l">
              <a:lnSpc>
                <a:spcPct val="125000"/>
              </a:lnSpc>
            </a:pPr>
            <a:r>
              <a:rPr sz="1300" b="0">
                <a:solidFill>
                  <a:srgbClr val="334155"/>
                </a:solidFill>
                <a:latin typeface="Malgun Gothic"/>
              </a:rPr>
              <a:t/>
            </a:r>
          </a:p>
          <a:p>
            <a:pPr algn="l">
              <a:lnSpc>
                <a:spcPct val="125000"/>
              </a:lnSpc>
            </a:pPr>
            <a:r>
              <a:rPr sz="1300" b="0">
                <a:solidFill>
                  <a:srgbClr val="334155"/>
                </a:solidFill>
                <a:latin typeface="Malgun Gothic"/>
              </a:rPr>
              <a:t>You do not need to memorise any of it. Stuck? Use the search box. Still stuck? Ask the A.i assistant. Those two things are enough.</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2563EB"/>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Getting in</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Type the address, enter your ID — that's it.</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2563EB"/>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Screen layout</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Only three parts: top, left, middle.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2563EB"/>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Search box</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Don't hunt menus — search one word.</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2563EB"/>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Sending a notice</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Do it once and it takes a minute after that.</a:t>
            </a:r>
          </a:p>
        </p:txBody>
      </p:sp>
      <p:sp>
        <p:nvSpPr>
          <p:cNvPr id="29" name="Rounded Rectangle 28"/>
          <p:cNvSpPr/>
          <p:nvPr/>
        </p:nvSpPr>
        <p:spPr>
          <a:xfrm>
            <a:off x="365760" y="461772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2920" y="4773168"/>
            <a:ext cx="512064" cy="512064"/>
          </a:xfrm>
          <a:prstGeom prst="round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773168"/>
            <a:ext cx="512064" cy="512064"/>
          </a:xfrm>
          <a:prstGeom prst="rect">
            <a:avLst/>
          </a:prstGeom>
          <a:noFill/>
        </p:spPr>
        <p:txBody>
          <a:bodyPr wrap="square" anchor="ctr">
            <a:spAutoFit/>
          </a:bodyPr>
          <a:lstStyle/>
          <a:p>
            <a:pPr algn="ctr">
              <a:lnSpc>
                <a:spcPct val="100000"/>
              </a:lnSpc>
            </a:pPr>
            <a:r>
              <a:rPr sz="2000" b="0">
                <a:solidFill>
                  <a:srgbClr val="2563EB"/>
                </a:solidFill>
                <a:latin typeface="Malgun Gothic"/>
              </a:rPr>
              <a:t>📅</a:t>
            </a:r>
          </a:p>
        </p:txBody>
      </p:sp>
      <p:sp>
        <p:nvSpPr>
          <p:cNvPr id="32" name="TextBox 31"/>
          <p:cNvSpPr txBox="1"/>
          <p:nvPr/>
        </p:nvSpPr>
        <p:spPr>
          <a:xfrm>
            <a:off x="1143000" y="473659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Parent report</a:t>
            </a:r>
          </a:p>
        </p:txBody>
      </p:sp>
      <p:sp>
        <p:nvSpPr>
          <p:cNvPr id="33" name="TextBox 32"/>
          <p:cNvSpPr txBox="1"/>
          <p:nvPr/>
        </p:nvSpPr>
        <p:spPr>
          <a:xfrm>
            <a:off x="1143000" y="504748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Weekly proof of growth, sent for you.</a:t>
            </a:r>
          </a:p>
        </p:txBody>
      </p:sp>
      <p:sp>
        <p:nvSpPr>
          <p:cNvPr id="34" name="Rounded Rectangle 33"/>
          <p:cNvSpPr/>
          <p:nvPr/>
        </p:nvSpPr>
        <p:spPr>
          <a:xfrm>
            <a:off x="6301587" y="461772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438747" y="4773168"/>
            <a:ext cx="512064" cy="512064"/>
          </a:xfrm>
          <a:prstGeom prst="round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8747" y="4773168"/>
            <a:ext cx="512064" cy="512064"/>
          </a:xfrm>
          <a:prstGeom prst="rect">
            <a:avLst/>
          </a:prstGeom>
          <a:noFill/>
        </p:spPr>
        <p:txBody>
          <a:bodyPr wrap="square" anchor="ctr">
            <a:spAutoFit/>
          </a:bodyPr>
          <a:lstStyle/>
          <a:p>
            <a:pPr algn="ctr">
              <a:lnSpc>
                <a:spcPct val="100000"/>
              </a:lnSpc>
            </a:pPr>
            <a:r>
              <a:rPr sz="2000" b="0">
                <a:solidFill>
                  <a:srgbClr val="2563EB"/>
                </a:solidFill>
                <a:latin typeface="Malgun Gothic"/>
              </a:rPr>
              <a:t>🚪</a:t>
            </a:r>
          </a:p>
        </p:txBody>
      </p:sp>
      <p:sp>
        <p:nvSpPr>
          <p:cNvPr id="37" name="TextBox 36"/>
          <p:cNvSpPr txBox="1"/>
          <p:nvPr/>
        </p:nvSpPr>
        <p:spPr>
          <a:xfrm>
            <a:off x="7078827" y="473659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Finishing safely</a:t>
            </a:r>
          </a:p>
        </p:txBody>
      </p:sp>
      <p:sp>
        <p:nvSpPr>
          <p:cNvPr id="38" name="TextBox 37"/>
          <p:cNvSpPr txBox="1"/>
          <p:nvPr/>
        </p:nvSpPr>
        <p:spPr>
          <a:xfrm>
            <a:off x="7078827" y="504748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Always sign out when you're done.</a:t>
            </a:r>
          </a:p>
        </p:txBody>
      </p:sp>
      <p:sp>
        <p:nvSpPr>
          <p:cNvPr id="39" name="TextBox 3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2563EB"/>
                </a:solidFill>
                <a:latin typeface="Malgun Gothic"/>
              </a:rPr>
              <a:t>Your first day (minutes)</a:t>
            </a:r>
          </a:p>
        </p:txBody>
      </p:sp>
      <p:graphicFrame>
        <p:nvGraphicFramePr>
          <p:cNvPr id="40" name="Chart 3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41" name="Rectangle 4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2563EB"/>
                </a:solidFill>
                <a:latin typeface="Malgun Gothic"/>
              </a:rPr>
              <a:t>📑 Contents</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2</a:t>
            </a:r>
          </a:p>
        </p:txBody>
      </p:sp>
      <p:sp>
        <p:nvSpPr>
          <p:cNvPr id="9" name="Rounded Rectangle 8"/>
          <p:cNvSpPr/>
          <p:nvPr/>
        </p:nvSpPr>
        <p:spPr>
          <a:xfrm>
            <a:off x="411480" y="175564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① Getting in (signing in)</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4</a:t>
            </a:r>
          </a:p>
        </p:txBody>
      </p:sp>
      <p:sp>
        <p:nvSpPr>
          <p:cNvPr id="13" name="Rounded Rectangle 12"/>
          <p:cNvSpPr/>
          <p:nvPr/>
        </p:nvSpPr>
        <p:spPr>
          <a:xfrm>
            <a:off x="411480" y="202996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② What the screen looks like</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5</a:t>
            </a:r>
          </a:p>
        </p:txBody>
      </p:sp>
      <p:sp>
        <p:nvSpPr>
          <p:cNvPr id="17" name="Rounded Rectangle 16"/>
          <p:cNvSpPr/>
          <p:nvPr/>
        </p:nvSpPr>
        <p:spPr>
          <a:xfrm>
            <a:off x="411480" y="230428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③ Finding what you need, fast</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6</a:t>
            </a:r>
          </a:p>
        </p:txBody>
      </p:sp>
      <p:sp>
        <p:nvSpPr>
          <p:cNvPr id="21" name="Rounded Rectangle 20"/>
          <p:cNvSpPr/>
          <p:nvPr/>
        </p:nvSpPr>
        <p:spPr>
          <a:xfrm>
            <a:off x="411480" y="257860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④ Viewing evaluations</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7</a:t>
            </a:r>
          </a:p>
        </p:txBody>
      </p:sp>
      <p:sp>
        <p:nvSpPr>
          <p:cNvPr id="25" name="Rounded Rectangle 24"/>
          <p:cNvSpPr/>
          <p:nvPr/>
        </p:nvSpPr>
        <p:spPr>
          <a:xfrm>
            <a:off x="411480" y="285292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⑤ Sending a notice</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8</a:t>
            </a:r>
          </a:p>
        </p:txBody>
      </p:sp>
      <p:sp>
        <p:nvSpPr>
          <p:cNvPr id="29" name="Rounded Rectangle 28"/>
          <p:cNvSpPr/>
          <p:nvPr/>
        </p:nvSpPr>
        <p:spPr>
          <a:xfrm>
            <a:off x="411480" y="312724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⑥ Finding students and parents</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9</a:t>
            </a:r>
          </a:p>
        </p:txBody>
      </p:sp>
      <p:sp>
        <p:nvSpPr>
          <p:cNvPr id="33" name="Rounded Rectangle 32"/>
          <p:cNvSpPr/>
          <p:nvPr/>
        </p:nvSpPr>
        <p:spPr>
          <a:xfrm>
            <a:off x="411480" y="340156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⑦ Sending the parent report</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10</a:t>
            </a:r>
          </a:p>
        </p:txBody>
      </p:sp>
      <p:sp>
        <p:nvSpPr>
          <p:cNvPr id="37" name="Rounded Rectangle 36"/>
          <p:cNvSpPr/>
          <p:nvPr/>
        </p:nvSpPr>
        <p:spPr>
          <a:xfrm>
            <a:off x="411480" y="3675887"/>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⑧ Viewing teachers</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11</a:t>
            </a:r>
          </a:p>
        </p:txBody>
      </p:sp>
      <p:sp>
        <p:nvSpPr>
          <p:cNvPr id="41" name="Rounded Rectangle 40"/>
          <p:cNvSpPr/>
          <p:nvPr/>
        </p:nvSpPr>
        <p:spPr>
          <a:xfrm>
            <a:off x="6141567" y="148132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⑨ Payments and refunds</a:t>
            </a:r>
          </a:p>
        </p:txBody>
      </p:sp>
      <p:sp>
        <p:nvSpPr>
          <p:cNvPr id="44" name="TextBox 4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12</a:t>
            </a:r>
          </a:p>
        </p:txBody>
      </p:sp>
      <p:sp>
        <p:nvSpPr>
          <p:cNvPr id="45" name="Rounded Rectangle 44"/>
          <p:cNvSpPr/>
          <p:nvPr/>
        </p:nvSpPr>
        <p:spPr>
          <a:xfrm>
            <a:off x="6141567" y="175564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⑩ Getting manuals from the Library</a:t>
            </a:r>
          </a:p>
        </p:txBody>
      </p:sp>
      <p:sp>
        <p:nvSpPr>
          <p:cNvPr id="48" name="TextBox 4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13</a:t>
            </a:r>
          </a:p>
        </p:txBody>
      </p:sp>
      <p:sp>
        <p:nvSpPr>
          <p:cNvPr id="49" name="Rounded Rectangle 48"/>
          <p:cNvSpPr/>
          <p:nvPr/>
        </p:nvSpPr>
        <p:spPr>
          <a:xfrm>
            <a:off x="6141567" y="202996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⑪ How our home page looks to visitors</a:t>
            </a:r>
          </a:p>
        </p:txBody>
      </p:sp>
      <p:sp>
        <p:nvSpPr>
          <p:cNvPr id="52" name="TextBox 5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14</a:t>
            </a:r>
          </a:p>
        </p:txBody>
      </p:sp>
      <p:sp>
        <p:nvSpPr>
          <p:cNvPr id="53" name="Rounded Rectangle 52"/>
          <p:cNvSpPr/>
          <p:nvPr/>
        </p:nvSpPr>
        <p:spPr>
          <a:xfrm>
            <a:off x="6141567" y="230428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⑫ Finishing safely</a:t>
            </a:r>
          </a:p>
        </p:txBody>
      </p:sp>
      <p:sp>
        <p:nvSpPr>
          <p:cNvPr id="56" name="TextBox 5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15</a:t>
            </a:r>
          </a:p>
        </p:txBody>
      </p:sp>
      <p:sp>
        <p:nvSpPr>
          <p:cNvPr id="57" name="Rounded Rectangle 56"/>
          <p:cNvSpPr/>
          <p:nvPr/>
        </p:nvSpPr>
        <p:spPr>
          <a:xfrm>
            <a:off x="6141567" y="257860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Summary · Data</a:t>
            </a:r>
          </a:p>
        </p:txBody>
      </p:sp>
      <p:sp>
        <p:nvSpPr>
          <p:cNvPr id="60" name="TextBox 5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16</a:t>
            </a:r>
          </a:p>
        </p:txBody>
      </p:sp>
      <p:sp>
        <p:nvSpPr>
          <p:cNvPr id="61" name="Rounded Rectangle 60"/>
          <p:cNvSpPr/>
          <p:nvPr/>
        </p:nvSpPr>
        <p:spPr>
          <a:xfrm>
            <a:off x="6141567" y="285292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64" name="TextBox 6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17</a:t>
            </a:r>
          </a:p>
        </p:txBody>
      </p:sp>
      <p:sp>
        <p:nvSpPr>
          <p:cNvPr id="65" name="Rounded Rectangle 64"/>
          <p:cNvSpPr/>
          <p:nvPr/>
        </p:nvSpPr>
        <p:spPr>
          <a:xfrm>
            <a:off x="6141567" y="312724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a:t>
            </a:r>
          </a:p>
        </p:txBody>
      </p:sp>
      <p:sp>
        <p:nvSpPr>
          <p:cNvPr id="68" name="TextBox 6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18</a:t>
            </a:r>
          </a:p>
        </p:txBody>
      </p:sp>
      <p:sp>
        <p:nvSpPr>
          <p:cNvPr id="69" name="Rounded Rectangle 68"/>
          <p:cNvSpPr/>
          <p:nvPr/>
        </p:nvSpPr>
        <p:spPr>
          <a:xfrm>
            <a:off x="6141567" y="3401568"/>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First-Day Checklist</a:t>
            </a:r>
          </a:p>
        </p:txBody>
      </p:sp>
      <p:sp>
        <p:nvSpPr>
          <p:cNvPr id="72" name="TextBox 7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19</a:t>
            </a:r>
          </a:p>
        </p:txBody>
      </p:sp>
      <p:sp>
        <p:nvSpPr>
          <p:cNvPr id="73" name="Rounded Rectangle 72"/>
          <p:cNvSpPr/>
          <p:nvPr/>
        </p:nvSpPr>
        <p:spPr>
          <a:xfrm>
            <a:off x="6141567" y="3675887"/>
            <a:ext cx="384048" cy="2286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76" name="TextBox 7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2563EB"/>
                </a:solidFill>
                <a:latin typeface="Malgun Gothic"/>
              </a:rPr>
              <a:t>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① Getting in (signing in)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Type the address · enter your ID · go</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very first thing is getting into the admin page. Open your internet browser (Chrome) and type the address. It is not difficult — do it three times and it becomes automatic.</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1763420"/>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Open your internet browser (Chrome).</a:t>
            </a:r>
          </a:p>
          <a:p>
            <a:pPr>
              <a:lnSpc>
                <a:spcPct val="115000"/>
              </a:lnSpc>
              <a:spcAft>
                <a:spcPts val="300"/>
              </a:spcAft>
            </a:pPr>
            <a:r>
              <a:rPr sz="700" b="1">
                <a:solidFill>
                  <a:srgbClr val="2563EB"/>
                </a:solidFill>
                <a:latin typeface="Malgun Gothic"/>
              </a:rPr>
              <a:t>● </a:t>
            </a:r>
            <a:r>
              <a:rPr sz="900">
                <a:solidFill>
                  <a:srgbClr val="334155"/>
                </a:solidFill>
                <a:latin typeface="Malgun Gothic"/>
              </a:rPr>
              <a:t>Type admin.mangoi.co.kr in the address bar at the top and press Enter.</a:t>
            </a:r>
          </a:p>
          <a:p>
            <a:pPr>
              <a:lnSpc>
                <a:spcPct val="115000"/>
              </a:lnSpc>
              <a:spcAft>
                <a:spcPts val="300"/>
              </a:spcAft>
            </a:pPr>
            <a:r>
              <a:rPr sz="700" b="1">
                <a:solidFill>
                  <a:srgbClr val="2563EB"/>
                </a:solidFill>
                <a:latin typeface="Malgun Gothic"/>
              </a:rPr>
              <a:t>● </a:t>
            </a:r>
            <a:r>
              <a:rPr sz="900">
                <a:solidFill>
                  <a:srgbClr val="334155"/>
                </a:solidFill>
                <a:latin typeface="Malgun Gothic"/>
              </a:rPr>
              <a:t>Enter your ID and password.</a:t>
            </a:r>
          </a:p>
          <a:p>
            <a:pPr>
              <a:lnSpc>
                <a:spcPct val="115000"/>
              </a:lnSpc>
              <a:spcAft>
                <a:spcPts val="300"/>
              </a:spcAft>
            </a:pPr>
            <a:r>
              <a:rPr sz="700" b="1">
                <a:solidFill>
                  <a:srgbClr val="2563EB"/>
                </a:solidFill>
                <a:latin typeface="Malgun Gothic"/>
              </a:rPr>
              <a:t>● </a:t>
            </a:r>
            <a:r>
              <a:rPr sz="900">
                <a:solidFill>
                  <a:srgbClr val="334155"/>
                </a:solidFill>
                <a:latin typeface="Malgun Gothic"/>
              </a:rPr>
              <a:t>Press the Sign in button.</a:t>
            </a:r>
          </a:p>
          <a:p>
            <a:pPr>
              <a:lnSpc>
                <a:spcPct val="115000"/>
              </a:lnSpc>
              <a:spcAft>
                <a:spcPts val="300"/>
              </a:spcAft>
            </a:pPr>
            <a:r>
              <a:rPr sz="700" b="1">
                <a:solidFill>
                  <a:srgbClr val="2563EB"/>
                </a:solidFill>
                <a:latin typeface="Malgun Gothic"/>
              </a:rPr>
              <a:t>● </a:t>
            </a:r>
            <a:r>
              <a:rPr sz="900">
                <a:solidFill>
                  <a:srgbClr val="334155"/>
                </a:solidFill>
                <a:latin typeface="Malgun Gothic"/>
              </a:rPr>
              <a:t>If you forgot your password, press Forgot password.</a:t>
            </a:r>
          </a:p>
        </p:txBody>
      </p:sp>
      <p:sp>
        <p:nvSpPr>
          <p:cNvPr id="14" name="Rounded Rectangle 13"/>
          <p:cNvSpPr/>
          <p:nvPr/>
        </p:nvSpPr>
        <p:spPr>
          <a:xfrm>
            <a:off x="457200" y="5603900"/>
            <a:ext cx="5669280" cy="1522018"/>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49620"/>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5896508"/>
            <a:ext cx="5394960" cy="1192834"/>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It works best in Chrome. Do not use Internet Explorer.</a:t>
            </a:r>
          </a:p>
          <a:p>
            <a:pPr>
              <a:lnSpc>
                <a:spcPct val="115000"/>
              </a:lnSpc>
              <a:spcAft>
                <a:spcPts val="100"/>
              </a:spcAft>
            </a:pPr>
            <a:r>
              <a:rPr sz="650" b="1">
                <a:solidFill>
                  <a:srgbClr val="2563EB"/>
                </a:solidFill>
                <a:latin typeface="Malgun Gothic"/>
              </a:rPr>
              <a:t>● </a:t>
            </a:r>
            <a:r>
              <a:rPr sz="850">
                <a:solidFill>
                  <a:srgbClr val="334155"/>
                </a:solidFill>
                <a:latin typeface="Malgun Gothic"/>
              </a:rPr>
              <a:t>Once you are in, the same computer will not ask again.</a:t>
            </a:r>
          </a:p>
          <a:p>
            <a:pPr>
              <a:lnSpc>
                <a:spcPct val="115000"/>
              </a:lnSpc>
              <a:spcAft>
                <a:spcPts val="100"/>
              </a:spcAft>
            </a:pPr>
            <a:r>
              <a:rPr sz="650" b="1">
                <a:solidFill>
                  <a:srgbClr val="2563EB"/>
                </a:solidFill>
                <a:latin typeface="Malgun Gothic"/>
              </a:rPr>
              <a:t>● </a:t>
            </a:r>
            <a:r>
              <a:rPr sz="850">
                <a:solidFill>
                  <a:srgbClr val="334155"/>
                </a:solidFill>
                <a:latin typeface="Malgun Gothic"/>
              </a:rPr>
              <a:t>You only see the screens for your role (director, HQ, branch, agency) — nothing to break.</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 Be careful · If the computer is shared, always sign out when you finish.</a:t>
            </a:r>
          </a:p>
        </p:txBody>
      </p:sp>
      <p:sp>
        <p:nvSpPr>
          <p:cNvPr id="19" name="Rounded Rectangle 18"/>
          <p:cNvSpPr/>
          <p:nvPr/>
        </p:nvSpPr>
        <p:spPr>
          <a:xfrm>
            <a:off x="6176772" y="6021324"/>
            <a:ext cx="5646420" cy="672084"/>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Easier way · Tired of typing the address? Once you are in, press the star (bookmark). Next time it is one click.</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login.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67051" y="2670048"/>
            <a:ext cx="1155801"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49347"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4934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51099"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Chrome</a:t>
            </a:r>
          </a:p>
        </p:txBody>
      </p:sp>
      <p:sp>
        <p:nvSpPr>
          <p:cNvPr id="28" name="TextBox 27"/>
          <p:cNvSpPr txBox="1"/>
          <p:nvPr/>
        </p:nvSpPr>
        <p:spPr>
          <a:xfrm>
            <a:off x="3622852"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9" name="Rounded Rectangle 28"/>
          <p:cNvSpPr/>
          <p:nvPr/>
        </p:nvSpPr>
        <p:spPr>
          <a:xfrm>
            <a:off x="3805732"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888028"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8802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18978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admin.mang…</a:t>
            </a:r>
          </a:p>
        </p:txBody>
      </p:sp>
      <p:sp>
        <p:nvSpPr>
          <p:cNvPr id="33" name="TextBox 32"/>
          <p:cNvSpPr txBox="1"/>
          <p:nvPr/>
        </p:nvSpPr>
        <p:spPr>
          <a:xfrm>
            <a:off x="5462625"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4" name="Rounded Rectangle 33"/>
          <p:cNvSpPr/>
          <p:nvPr/>
        </p:nvSpPr>
        <p:spPr>
          <a:xfrm>
            <a:off x="5645505" y="2670048"/>
            <a:ext cx="811987"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727801"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2780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029553" y="2670048"/>
            <a:ext cx="3913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ID</a:t>
            </a:r>
          </a:p>
        </p:txBody>
      </p:sp>
      <p:sp>
        <p:nvSpPr>
          <p:cNvPr id="38" name="TextBox 37"/>
          <p:cNvSpPr txBox="1"/>
          <p:nvPr/>
        </p:nvSpPr>
        <p:spPr>
          <a:xfrm>
            <a:off x="6457492"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9" name="Rounded Rectangle 38"/>
          <p:cNvSpPr/>
          <p:nvPr/>
        </p:nvSpPr>
        <p:spPr>
          <a:xfrm>
            <a:off x="6640372" y="2670048"/>
            <a:ext cx="1241755"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722668"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226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024420"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Sign in</a:t>
            </a:r>
          </a:p>
        </p:txBody>
      </p:sp>
      <p:sp>
        <p:nvSpPr>
          <p:cNvPr id="43" name="TextBox 42"/>
          <p:cNvSpPr txBox="1"/>
          <p:nvPr/>
        </p:nvSpPr>
        <p:spPr>
          <a:xfrm>
            <a:off x="7882128"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44" name="Rounded Rectangle 43"/>
          <p:cNvSpPr/>
          <p:nvPr/>
        </p:nvSpPr>
        <p:spPr>
          <a:xfrm>
            <a:off x="8065008"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147304"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473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844905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Forgot pas…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② What the screen looks like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Top · left · middle — three parts</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screen has exactly three parts. Know these and you will never get lost. The top bar is your profile and settings, the left column is the menu, and the middle is whatever you are looking at.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Top bar — your name, language (EN) and the admin button are on the right.</a:t>
            </a:r>
          </a:p>
          <a:p>
            <a:pPr>
              <a:lnSpc>
                <a:spcPct val="115000"/>
              </a:lnSpc>
              <a:spcAft>
                <a:spcPts val="300"/>
              </a:spcAft>
            </a:pPr>
            <a:r>
              <a:rPr sz="700" b="1">
                <a:solidFill>
                  <a:srgbClr val="2563EB"/>
                </a:solidFill>
                <a:latin typeface="Malgun Gothic"/>
              </a:rPr>
              <a:t>● </a:t>
            </a:r>
            <a:r>
              <a:rPr sz="900">
                <a:solidFill>
                  <a:srgbClr val="334155"/>
                </a:solidFill>
                <a:latin typeface="Malgun Gothic"/>
              </a:rPr>
              <a:t>Left column (sidebar) — the menu, organised into 9 groups.</a:t>
            </a:r>
          </a:p>
          <a:p>
            <a:pPr>
              <a:lnSpc>
                <a:spcPct val="115000"/>
              </a:lnSpc>
              <a:spcAft>
                <a:spcPts val="300"/>
              </a:spcAft>
            </a:pPr>
            <a:r>
              <a:rPr sz="700" b="1">
                <a:solidFill>
                  <a:srgbClr val="2563EB"/>
                </a:solidFill>
                <a:latin typeface="Malgun Gothic"/>
              </a:rPr>
              <a:t>● </a:t>
            </a:r>
            <a:r>
              <a:rPr sz="900">
                <a:solidFill>
                  <a:srgbClr val="334155"/>
                </a:solidFill>
                <a:latin typeface="Malgun Gothic"/>
              </a:rPr>
              <a:t>Middle — the content you are currently viewing.</a:t>
            </a:r>
          </a:p>
          <a:p>
            <a:pPr>
              <a:lnSpc>
                <a:spcPct val="115000"/>
              </a:lnSpc>
              <a:spcAft>
                <a:spcPts val="300"/>
              </a:spcAft>
            </a:pPr>
            <a:r>
              <a:rPr sz="700" b="1">
                <a:solidFill>
                  <a:srgbClr val="2563EB"/>
                </a:solidFill>
                <a:latin typeface="Malgun Gothic"/>
              </a:rPr>
              <a:t>● </a:t>
            </a:r>
            <a:r>
              <a:rPr sz="900">
                <a:solidFill>
                  <a:srgbClr val="334155"/>
                </a:solidFill>
                <a:latin typeface="Malgun Gothic"/>
              </a:rPr>
              <a:t>Type a word into the search box above the middle to jump straight to a feature.</a:t>
            </a:r>
          </a:p>
          <a:p>
            <a:pPr>
              <a:lnSpc>
                <a:spcPct val="115000"/>
              </a:lnSpc>
              <a:spcAft>
                <a:spcPts val="300"/>
              </a:spcAft>
            </a:pPr>
            <a:r>
              <a:rPr sz="700" b="1">
                <a:solidFill>
                  <a:srgbClr val="2563EB"/>
                </a:solidFill>
                <a:latin typeface="Malgun Gothic"/>
              </a:rPr>
              <a:t>● </a:t>
            </a:r>
            <a:r>
              <a:rPr sz="900">
                <a:solidFill>
                  <a:srgbClr val="334155"/>
                </a:solidFill>
                <a:latin typeface="Malgun Gothic"/>
              </a:rPr>
              <a:t>Lost? Press the logo at the top left to return to the start.</a:t>
            </a:r>
          </a:p>
        </p:txBody>
      </p:sp>
      <p:sp>
        <p:nvSpPr>
          <p:cNvPr id="14" name="Rounded Rectangle 13"/>
          <p:cNvSpPr/>
          <p:nvPr/>
        </p:nvSpPr>
        <p:spPr>
          <a:xfrm>
            <a:off x="457200" y="6085332"/>
            <a:ext cx="5669280" cy="1522018"/>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6377940"/>
            <a:ext cx="5394960" cy="1192834"/>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The number beside a menu name is how many features it contains.</a:t>
            </a:r>
          </a:p>
          <a:p>
            <a:pPr>
              <a:lnSpc>
                <a:spcPct val="115000"/>
              </a:lnSpc>
              <a:spcAft>
                <a:spcPts val="100"/>
              </a:spcAft>
            </a:pPr>
            <a:r>
              <a:rPr sz="650" b="1">
                <a:solidFill>
                  <a:srgbClr val="2563EB"/>
                </a:solidFill>
                <a:latin typeface="Malgun Gothic"/>
              </a:rPr>
              <a:t>● </a:t>
            </a:r>
            <a:r>
              <a:rPr sz="850">
                <a:solidFill>
                  <a:srgbClr val="334155"/>
                </a:solidFill>
                <a:latin typeface="Malgun Gothic"/>
              </a:rPr>
              <a:t>The search box is the fastest route — do not hunt through menus.</a:t>
            </a:r>
          </a:p>
          <a:p>
            <a:pPr>
              <a:lnSpc>
                <a:spcPct val="115000"/>
              </a:lnSpc>
              <a:spcAft>
                <a:spcPts val="100"/>
              </a:spcAft>
            </a:pPr>
            <a:r>
              <a:rPr sz="650" b="1">
                <a:solidFill>
                  <a:srgbClr val="2563EB"/>
                </a:solidFill>
                <a:latin typeface="Malgun Gothic"/>
              </a:rPr>
              <a:t>● </a:t>
            </a:r>
            <a:r>
              <a:rPr sz="850">
                <a:solidFill>
                  <a:srgbClr val="334155"/>
                </a:solidFill>
                <a:latin typeface="Malgun Gothic"/>
              </a:rPr>
              <a:t>On a small screen the left menu collapses into the ≡ button.</a:t>
            </a:r>
          </a:p>
        </p:txBody>
      </p:sp>
      <p:sp>
        <p:nvSpPr>
          <p:cNvPr id="17" name="Rounded Rectangle 16"/>
          <p:cNvSpPr/>
          <p:nvPr/>
        </p:nvSpPr>
        <p:spPr>
          <a:xfrm>
            <a:off x="365760" y="6172200"/>
            <a:ext cx="11457432" cy="521208"/>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Easier way · Not sure what to press? Just type what you want to do into the search box — e.g. “attendance”, “payroll”, “notice”.</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123236" y="2670048"/>
            <a:ext cx="1241755"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5532"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055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507284"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Top bar</a:t>
            </a:r>
          </a:p>
        </p:txBody>
      </p:sp>
      <p:sp>
        <p:nvSpPr>
          <p:cNvPr id="26" name="TextBox 25"/>
          <p:cNvSpPr txBox="1"/>
          <p:nvPr/>
        </p:nvSpPr>
        <p:spPr>
          <a:xfrm>
            <a:off x="3364991"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7" name="Rounded Rectangle 26"/>
          <p:cNvSpPr/>
          <p:nvPr/>
        </p:nvSpPr>
        <p:spPr>
          <a:xfrm>
            <a:off x="3547872"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30168"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301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93192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Left colum…</a:t>
            </a:r>
          </a:p>
        </p:txBody>
      </p:sp>
      <p:sp>
        <p:nvSpPr>
          <p:cNvPr id="31" name="TextBox 30"/>
          <p:cNvSpPr txBox="1"/>
          <p:nvPr/>
        </p:nvSpPr>
        <p:spPr>
          <a:xfrm>
            <a:off x="5204764"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2" name="Rounded Rectangle 31"/>
          <p:cNvSpPr/>
          <p:nvPr/>
        </p:nvSpPr>
        <p:spPr>
          <a:xfrm>
            <a:off x="5387644" y="2670048"/>
            <a:ext cx="1155801"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469940"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699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771692"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Middle</a:t>
            </a:r>
          </a:p>
        </p:txBody>
      </p:sp>
      <p:sp>
        <p:nvSpPr>
          <p:cNvPr id="36" name="TextBox 35"/>
          <p:cNvSpPr txBox="1"/>
          <p:nvPr/>
        </p:nvSpPr>
        <p:spPr>
          <a:xfrm>
            <a:off x="6543446"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7" name="Rounded Rectangle 36"/>
          <p:cNvSpPr/>
          <p:nvPr/>
        </p:nvSpPr>
        <p:spPr>
          <a:xfrm>
            <a:off x="6726326" y="2670048"/>
            <a:ext cx="1499615"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08622"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0862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110374"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search box</a:t>
            </a:r>
          </a:p>
        </p:txBody>
      </p:sp>
      <p:sp>
        <p:nvSpPr>
          <p:cNvPr id="41" name="TextBox 40"/>
          <p:cNvSpPr txBox="1"/>
          <p:nvPr/>
        </p:nvSpPr>
        <p:spPr>
          <a:xfrm>
            <a:off x="8225942"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42" name="Rounded Rectangle 41"/>
          <p:cNvSpPr/>
          <p:nvPr/>
        </p:nvSpPr>
        <p:spPr>
          <a:xfrm>
            <a:off x="8408822"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91118"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911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79287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logo at th…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③ Finding what you need, fast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One search box is all it takes</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It may look like a lot of features, but do not worry. One word in the search box takes you straight there. You never have to click through menus one by one.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1923897"/>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Click the search box at the top middle.</a:t>
            </a:r>
          </a:p>
          <a:p>
            <a:pPr>
              <a:lnSpc>
                <a:spcPct val="115000"/>
              </a:lnSpc>
              <a:spcAft>
                <a:spcPts val="300"/>
              </a:spcAft>
            </a:pPr>
            <a:r>
              <a:rPr sz="700" b="1">
                <a:solidFill>
                  <a:srgbClr val="2563EB"/>
                </a:solidFill>
                <a:latin typeface="Malgun Gothic"/>
              </a:rPr>
              <a:t>● </a:t>
            </a:r>
            <a:r>
              <a:rPr sz="900">
                <a:solidFill>
                  <a:srgbClr val="334155"/>
                </a:solidFill>
                <a:latin typeface="Malgun Gothic"/>
              </a:rPr>
              <a:t>Type a single word — e.g. “attendance”, “refund”, “teacher”.</a:t>
            </a:r>
          </a:p>
          <a:p>
            <a:pPr>
              <a:lnSpc>
                <a:spcPct val="115000"/>
              </a:lnSpc>
              <a:spcAft>
                <a:spcPts val="300"/>
              </a:spcAft>
            </a:pPr>
            <a:r>
              <a:rPr sz="700" b="1">
                <a:solidFill>
                  <a:srgbClr val="2563EB"/>
                </a:solidFill>
                <a:latin typeface="Malgun Gothic"/>
              </a:rPr>
              <a:t>● </a:t>
            </a:r>
            <a:r>
              <a:rPr sz="900">
                <a:solidFill>
                  <a:srgbClr val="334155"/>
                </a:solidFill>
                <a:latin typeface="Malgun Gothic"/>
              </a:rPr>
              <a:t>Click the item you want from the list.</a:t>
            </a:r>
          </a:p>
          <a:p>
            <a:pPr>
              <a:lnSpc>
                <a:spcPct val="115000"/>
              </a:lnSpc>
              <a:spcAft>
                <a:spcPts val="300"/>
              </a:spcAft>
            </a:pPr>
            <a:r>
              <a:rPr sz="700" b="1">
                <a:solidFill>
                  <a:srgbClr val="2563EB"/>
                </a:solidFill>
                <a:latin typeface="Malgun Gothic"/>
              </a:rPr>
              <a:t>● </a:t>
            </a:r>
            <a:r>
              <a:rPr sz="900">
                <a:solidFill>
                  <a:srgbClr val="334155"/>
                </a:solidFill>
                <a:latin typeface="Malgun Gothic"/>
              </a:rPr>
              <a:t>To find an academy, type part of its name into the academy list search box.</a:t>
            </a:r>
          </a:p>
          <a:p>
            <a:pPr>
              <a:lnSpc>
                <a:spcPct val="115000"/>
              </a:lnSpc>
              <a:spcAft>
                <a:spcPts val="300"/>
              </a:spcAft>
            </a:pPr>
            <a:r>
              <a:rPr sz="700" b="1">
                <a:solidFill>
                  <a:srgbClr val="2563EB"/>
                </a:solidFill>
                <a:latin typeface="Malgun Gothic"/>
              </a:rPr>
              <a:t>● </a:t>
            </a:r>
            <a:r>
              <a:rPr sz="900">
                <a:solidFill>
                  <a:srgbClr val="334155"/>
                </a:solidFill>
                <a:latin typeface="Malgun Gothic"/>
              </a:rPr>
              <a:t>Prefer to speak? Press the microphone button and say it.</a:t>
            </a:r>
          </a:p>
        </p:txBody>
      </p:sp>
      <p:sp>
        <p:nvSpPr>
          <p:cNvPr id="14" name="Rounded Rectangle 13"/>
          <p:cNvSpPr/>
          <p:nvPr/>
        </p:nvSpPr>
        <p:spPr>
          <a:xfrm>
            <a:off x="457200" y="5764377"/>
            <a:ext cx="5669280" cy="1218895"/>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10097"/>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6056985"/>
            <a:ext cx="5394960" cy="889711"/>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One word is enough — no need for full sentences.</a:t>
            </a:r>
          </a:p>
          <a:p>
            <a:pPr>
              <a:lnSpc>
                <a:spcPct val="115000"/>
              </a:lnSpc>
              <a:spcAft>
                <a:spcPts val="100"/>
              </a:spcAft>
            </a:pPr>
            <a:r>
              <a:rPr sz="650" b="1">
                <a:solidFill>
                  <a:srgbClr val="2563EB"/>
                </a:solidFill>
                <a:latin typeface="Malgun Gothic"/>
              </a:rPr>
              <a:t>● </a:t>
            </a:r>
            <a:r>
              <a:rPr sz="850">
                <a:solidFill>
                  <a:srgbClr val="334155"/>
                </a:solidFill>
                <a:latin typeface="Malgun Gothic"/>
              </a:rPr>
              <a:t>Part of a name is enough to find it.</a:t>
            </a:r>
          </a:p>
          <a:p>
            <a:pPr>
              <a:lnSpc>
                <a:spcPct val="115000"/>
              </a:lnSpc>
              <a:spcAft>
                <a:spcPts val="100"/>
              </a:spcAft>
            </a:pPr>
            <a:r>
              <a:rPr sz="650" b="1">
                <a:solidFill>
                  <a:srgbClr val="2563EB"/>
                </a:solidFill>
                <a:latin typeface="Malgun Gothic"/>
              </a:rPr>
              <a:t>● </a:t>
            </a:r>
            <a:r>
              <a:rPr sz="850">
                <a:solidFill>
                  <a:srgbClr val="334155"/>
                </a:solidFill>
                <a:latin typeface="Malgun Gothic"/>
              </a:rPr>
              <a:t>Speaking and typing do exactly the same thing.</a:t>
            </a:r>
          </a:p>
        </p:txBody>
      </p:sp>
      <p:sp>
        <p:nvSpPr>
          <p:cNvPr id="17" name="Rounded Rectangle 16"/>
          <p:cNvSpPr/>
          <p:nvPr/>
        </p:nvSpPr>
        <p:spPr>
          <a:xfrm>
            <a:off x="365760" y="6172200"/>
            <a:ext cx="11457432" cy="521208"/>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Easier way · For screens you check often, memorise two or three letters. That alone opens them instantly.</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08099" y="2670048"/>
            <a:ext cx="1499615"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790395"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9039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092147"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search box</a:t>
            </a:r>
          </a:p>
        </p:txBody>
      </p:sp>
      <p:sp>
        <p:nvSpPr>
          <p:cNvPr id="26" name="TextBox 25"/>
          <p:cNvSpPr txBox="1"/>
          <p:nvPr/>
        </p:nvSpPr>
        <p:spPr>
          <a:xfrm>
            <a:off x="3207715"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7" name="Rounded Rectangle 26"/>
          <p:cNvSpPr/>
          <p:nvPr/>
        </p:nvSpPr>
        <p:spPr>
          <a:xfrm>
            <a:off x="3390595"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472891"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77464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 single w…</a:t>
            </a:r>
          </a:p>
        </p:txBody>
      </p:sp>
      <p:sp>
        <p:nvSpPr>
          <p:cNvPr id="31" name="TextBox 30"/>
          <p:cNvSpPr txBox="1"/>
          <p:nvPr/>
        </p:nvSpPr>
        <p:spPr>
          <a:xfrm>
            <a:off x="5047488"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2" name="Rounded Rectangle 31"/>
          <p:cNvSpPr/>
          <p:nvPr/>
        </p:nvSpPr>
        <p:spPr>
          <a:xfrm>
            <a:off x="5230368" y="2670048"/>
            <a:ext cx="1570939"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12664"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126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614416"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Click the…</a:t>
            </a:r>
          </a:p>
        </p:txBody>
      </p:sp>
      <p:sp>
        <p:nvSpPr>
          <p:cNvPr id="36" name="TextBox 35"/>
          <p:cNvSpPr txBox="1"/>
          <p:nvPr/>
        </p:nvSpPr>
        <p:spPr>
          <a:xfrm>
            <a:off x="6801307"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7" name="Rounded Rectangle 36"/>
          <p:cNvSpPr/>
          <p:nvPr/>
        </p:nvSpPr>
        <p:spPr>
          <a:xfrm>
            <a:off x="6984187"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66483"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664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36823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academy li…</a:t>
            </a:r>
          </a:p>
        </p:txBody>
      </p:sp>
      <p:sp>
        <p:nvSpPr>
          <p:cNvPr id="41" name="TextBox 40"/>
          <p:cNvSpPr txBox="1"/>
          <p:nvPr/>
        </p:nvSpPr>
        <p:spPr>
          <a:xfrm>
            <a:off x="8641080"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42" name="Rounded Rectangle 41"/>
          <p:cNvSpPr/>
          <p:nvPr/>
        </p:nvSpPr>
        <p:spPr>
          <a:xfrm>
            <a:off x="8823959"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906255"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062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920800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microphone…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④ Viewing evaluations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How the children are doing</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An evaluation is what the teacher writes after a lesson — what the child did well and what comes next. When a parent calls, start here.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Click Evaluations in the left menu.</a:t>
            </a:r>
          </a:p>
          <a:p>
            <a:pPr>
              <a:lnSpc>
                <a:spcPct val="115000"/>
              </a:lnSpc>
              <a:spcAft>
                <a:spcPts val="300"/>
              </a:spcAft>
            </a:pPr>
            <a:r>
              <a:rPr sz="700" b="1">
                <a:solidFill>
                  <a:srgbClr val="2563EB"/>
                </a:solidFill>
                <a:latin typeface="Malgun Gothic"/>
              </a:rPr>
              <a:t>● </a:t>
            </a:r>
            <a:r>
              <a:rPr sz="900">
                <a:solidFill>
                  <a:srgbClr val="334155"/>
                </a:solidFill>
                <a:latin typeface="Malgun Gothic"/>
              </a:rPr>
              <a:t>Search by student name or date.</a:t>
            </a:r>
          </a:p>
          <a:p>
            <a:pPr>
              <a:lnSpc>
                <a:spcPct val="115000"/>
              </a:lnSpc>
              <a:spcAft>
                <a:spcPts val="300"/>
              </a:spcAft>
            </a:pPr>
            <a:r>
              <a:rPr sz="700" b="1">
                <a:solidFill>
                  <a:srgbClr val="2563EB"/>
                </a:solidFill>
                <a:latin typeface="Malgun Gothic"/>
              </a:rPr>
              <a:t>● </a:t>
            </a:r>
            <a:r>
              <a:rPr sz="900">
                <a:solidFill>
                  <a:srgbClr val="334155"/>
                </a:solidFill>
                <a:latin typeface="Malgun Gothic"/>
              </a:rPr>
              <a:t>Click an evaluation to read it.</a:t>
            </a:r>
          </a:p>
          <a:p>
            <a:pPr>
              <a:lnSpc>
                <a:spcPct val="115000"/>
              </a:lnSpc>
              <a:spcAft>
                <a:spcPts val="300"/>
              </a:spcAft>
            </a:pPr>
            <a:r>
              <a:rPr sz="700" b="1">
                <a:solidFill>
                  <a:srgbClr val="2563EB"/>
                </a:solidFill>
                <a:latin typeface="Malgun Gothic"/>
              </a:rPr>
              <a:t>● </a:t>
            </a:r>
            <a:r>
              <a:rPr sz="900">
                <a:solidFill>
                  <a:srgbClr val="334155"/>
                </a:solidFill>
                <a:latin typeface="Malgun Gothic"/>
              </a:rPr>
              <a:t>If needed, send it to the parent as a link.</a:t>
            </a:r>
          </a:p>
        </p:txBody>
      </p:sp>
      <p:sp>
        <p:nvSpPr>
          <p:cNvPr id="14" name="Rounded Rectangle 13"/>
          <p:cNvSpPr/>
          <p:nvPr/>
        </p:nvSpPr>
        <p:spPr>
          <a:xfrm>
            <a:off x="457200" y="4994452"/>
            <a:ext cx="5669280" cy="1522018"/>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5287060"/>
            <a:ext cx="5394960" cy="1192834"/>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An empty evaluation means the teacher has not written it yet.</a:t>
            </a:r>
          </a:p>
          <a:p>
            <a:pPr>
              <a:lnSpc>
                <a:spcPct val="115000"/>
              </a:lnSpc>
              <a:spcAft>
                <a:spcPts val="100"/>
              </a:spcAft>
            </a:pPr>
            <a:r>
              <a:rPr sz="650" b="1">
                <a:solidFill>
                  <a:srgbClr val="2563EB"/>
                </a:solidFill>
                <a:latin typeface="Malgun Gothic"/>
              </a:rPr>
              <a:t>● </a:t>
            </a:r>
            <a:r>
              <a:rPr sz="850">
                <a:solidFill>
                  <a:srgbClr val="334155"/>
                </a:solidFill>
                <a:latin typeface="Malgun Gothic"/>
              </a:rPr>
              <a:t>What accumulates here becomes the monthly report card.</a:t>
            </a:r>
          </a:p>
          <a:p>
            <a:pPr>
              <a:lnSpc>
                <a:spcPct val="115000"/>
              </a:lnSpc>
              <a:spcAft>
                <a:spcPts val="100"/>
              </a:spcAft>
            </a:pPr>
            <a:r>
              <a:rPr sz="650" b="1">
                <a:solidFill>
                  <a:srgbClr val="2563EB"/>
                </a:solidFill>
                <a:latin typeface="Malgun Gothic"/>
              </a:rPr>
              <a:t>● </a:t>
            </a:r>
            <a:r>
              <a:rPr sz="850">
                <a:solidFill>
                  <a:srgbClr val="334155"/>
                </a:solidFill>
                <a:latin typeface="Malgun Gothic"/>
              </a:rPr>
              <a:t>Most parent questions are answered from this one screen.</a:t>
            </a:r>
          </a:p>
        </p:txBody>
      </p:sp>
      <p:sp>
        <p:nvSpPr>
          <p:cNvPr id="17" name="Rounded Rectangle 16"/>
          <p:cNvSpPr/>
          <p:nvPr/>
        </p:nvSpPr>
        <p:spPr>
          <a:xfrm>
            <a:off x="365760" y="6172200"/>
            <a:ext cx="11457432" cy="521208"/>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Easier way · Open this screen while you are on the phone with a parent. The conversation goes far more smoothly.</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port.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964484"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046780"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678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34853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Evaluation…</a:t>
            </a:r>
          </a:p>
        </p:txBody>
      </p:sp>
      <p:sp>
        <p:nvSpPr>
          <p:cNvPr id="26" name="TextBox 25"/>
          <p:cNvSpPr txBox="1"/>
          <p:nvPr/>
        </p:nvSpPr>
        <p:spPr>
          <a:xfrm>
            <a:off x="4621377"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7" name="Rounded Rectangle 26"/>
          <p:cNvSpPr/>
          <p:nvPr/>
        </p:nvSpPr>
        <p:spPr>
          <a:xfrm>
            <a:off x="4804257" y="2670048"/>
            <a:ext cx="1155801"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886553"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8655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188305"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Search</a:t>
            </a:r>
          </a:p>
        </p:txBody>
      </p:sp>
      <p:sp>
        <p:nvSpPr>
          <p:cNvPr id="31" name="TextBox 30"/>
          <p:cNvSpPr txBox="1"/>
          <p:nvPr/>
        </p:nvSpPr>
        <p:spPr>
          <a:xfrm>
            <a:off x="5960059"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2" name="Rounded Rectangle 31"/>
          <p:cNvSpPr/>
          <p:nvPr/>
        </p:nvSpPr>
        <p:spPr>
          <a:xfrm>
            <a:off x="6142939" y="2670048"/>
            <a:ext cx="1241755"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25235"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252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26987"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read it</a:t>
            </a:r>
          </a:p>
        </p:txBody>
      </p:sp>
      <p:sp>
        <p:nvSpPr>
          <p:cNvPr id="36" name="TextBox 35"/>
          <p:cNvSpPr txBox="1"/>
          <p:nvPr/>
        </p:nvSpPr>
        <p:spPr>
          <a:xfrm>
            <a:off x="7384694"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7" name="Rounded Rectangle 36"/>
          <p:cNvSpPr/>
          <p:nvPr/>
        </p:nvSpPr>
        <p:spPr>
          <a:xfrm>
            <a:off x="7567574"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49870"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4987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95162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send it 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⑤ Sending a notice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Do it once and it's easy</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Sending notifications to parents or teachers is one of the most common admin tasks. Walk through it once and it takes a minute after that.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1602943"/>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Click Notification Center in the left menu.</a:t>
            </a:r>
          </a:p>
          <a:p>
            <a:pPr>
              <a:lnSpc>
                <a:spcPct val="115000"/>
              </a:lnSpc>
              <a:spcAft>
                <a:spcPts val="300"/>
              </a:spcAft>
            </a:pPr>
            <a:r>
              <a:rPr sz="700" b="1">
                <a:solidFill>
                  <a:srgbClr val="2563EB"/>
                </a:solidFill>
                <a:latin typeface="Malgun Gothic"/>
              </a:rPr>
              <a:t>● </a:t>
            </a:r>
            <a:r>
              <a:rPr sz="900">
                <a:solidFill>
                  <a:srgbClr val="334155"/>
                </a:solidFill>
                <a:latin typeface="Malgun Gothic"/>
              </a:rPr>
              <a:t>Press New notice.</a:t>
            </a:r>
          </a:p>
          <a:p>
            <a:pPr>
              <a:lnSpc>
                <a:spcPct val="115000"/>
              </a:lnSpc>
              <a:spcAft>
                <a:spcPts val="300"/>
              </a:spcAft>
            </a:pPr>
            <a:r>
              <a:rPr sz="700" b="1">
                <a:solidFill>
                  <a:srgbClr val="2563EB"/>
                </a:solidFill>
                <a:latin typeface="Malgun Gothic"/>
              </a:rPr>
              <a:t>● </a:t>
            </a:r>
            <a:r>
              <a:rPr sz="900">
                <a:solidFill>
                  <a:srgbClr val="334155"/>
                </a:solidFill>
                <a:latin typeface="Malgun Gothic"/>
              </a:rPr>
              <a:t>Choose the recipients (everyone, a year group, a specific academy).</a:t>
            </a:r>
          </a:p>
          <a:p>
            <a:pPr>
              <a:lnSpc>
                <a:spcPct val="115000"/>
              </a:lnSpc>
              <a:spcAft>
                <a:spcPts val="300"/>
              </a:spcAft>
            </a:pPr>
            <a:r>
              <a:rPr sz="700" b="1">
                <a:solidFill>
                  <a:srgbClr val="2563EB"/>
                </a:solidFill>
                <a:latin typeface="Malgun Gothic"/>
              </a:rPr>
              <a:t>● </a:t>
            </a:r>
            <a:r>
              <a:rPr sz="900">
                <a:solidFill>
                  <a:srgbClr val="334155"/>
                </a:solidFill>
                <a:latin typeface="Malgun Gothic"/>
              </a:rPr>
              <a:t>Write the subject and message.</a:t>
            </a:r>
          </a:p>
          <a:p>
            <a:pPr>
              <a:lnSpc>
                <a:spcPct val="115000"/>
              </a:lnSpc>
              <a:spcAft>
                <a:spcPts val="300"/>
              </a:spcAft>
            </a:pPr>
            <a:r>
              <a:rPr sz="700" b="1">
                <a:solidFill>
                  <a:srgbClr val="2563EB"/>
                </a:solidFill>
                <a:latin typeface="Malgun Gothic"/>
              </a:rPr>
              <a:t>● </a:t>
            </a:r>
            <a:r>
              <a:rPr sz="900">
                <a:solidFill>
                  <a:srgbClr val="334155"/>
                </a:solidFill>
                <a:latin typeface="Malgun Gothic"/>
              </a:rPr>
              <a:t>Check it with Preview, then press Send.</a:t>
            </a:r>
          </a:p>
        </p:txBody>
      </p:sp>
      <p:sp>
        <p:nvSpPr>
          <p:cNvPr id="14" name="Rounded Rectangle 13"/>
          <p:cNvSpPr/>
          <p:nvPr/>
        </p:nvSpPr>
        <p:spPr>
          <a:xfrm>
            <a:off x="457200" y="5443423"/>
            <a:ext cx="5669280" cy="1218895"/>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489143"/>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5736031"/>
            <a:ext cx="5394960" cy="889711"/>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Always look at the Preview before sending.</a:t>
            </a:r>
          </a:p>
          <a:p>
            <a:pPr>
              <a:lnSpc>
                <a:spcPct val="115000"/>
              </a:lnSpc>
              <a:spcAft>
                <a:spcPts val="100"/>
              </a:spcAft>
            </a:pPr>
            <a:r>
              <a:rPr sz="650" b="1">
                <a:solidFill>
                  <a:srgbClr val="2563EB"/>
                </a:solidFill>
                <a:latin typeface="Malgun Gothic"/>
              </a:rPr>
              <a:t>● </a:t>
            </a:r>
            <a:r>
              <a:rPr sz="850">
                <a:solidFill>
                  <a:srgbClr val="334155"/>
                </a:solidFill>
                <a:latin typeface="Malgun Gothic"/>
              </a:rPr>
              <a:t>The narrower the recipient group, the safer.</a:t>
            </a:r>
          </a:p>
          <a:p>
            <a:pPr>
              <a:lnSpc>
                <a:spcPct val="115000"/>
              </a:lnSpc>
              <a:spcAft>
                <a:spcPts val="100"/>
              </a:spcAft>
            </a:pPr>
            <a:r>
              <a:rPr sz="650" b="1">
                <a:solidFill>
                  <a:srgbClr val="2563EB"/>
                </a:solidFill>
                <a:latin typeface="Malgun Gothic"/>
              </a:rPr>
              <a:t>● </a:t>
            </a:r>
            <a:r>
              <a:rPr sz="850">
                <a:solidFill>
                  <a:srgbClr val="334155"/>
                </a:solidFill>
                <a:latin typeface="Malgun Gothic"/>
              </a:rPr>
              <a:t>Sent notices are kept on record so you can check them later.</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 Be careful · ‘Send to everyone’ really does go to everyone. The first time, send a test to yourself.</a:t>
            </a:r>
          </a:p>
        </p:txBody>
      </p:sp>
      <p:sp>
        <p:nvSpPr>
          <p:cNvPr id="19" name="Rounded Rectangle 18"/>
          <p:cNvSpPr/>
          <p:nvPr/>
        </p:nvSpPr>
        <p:spPr>
          <a:xfrm>
            <a:off x="6176772" y="6021324"/>
            <a:ext cx="5646420" cy="672084"/>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Easier way · Save the wording you use often — after that it is just picking from a list.</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51329"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033625"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336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3353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Notificati…</a:t>
            </a:r>
          </a:p>
        </p:txBody>
      </p:sp>
      <p:sp>
        <p:nvSpPr>
          <p:cNvPr id="28" name="TextBox 27"/>
          <p:cNvSpPr txBox="1"/>
          <p:nvPr/>
        </p:nvSpPr>
        <p:spPr>
          <a:xfrm>
            <a:off x="3608222"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9" name="Rounded Rectangle 28"/>
          <p:cNvSpPr/>
          <p:nvPr/>
        </p:nvSpPr>
        <p:spPr>
          <a:xfrm>
            <a:off x="3791102" y="2670048"/>
            <a:ext cx="1499615"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873398"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733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175150"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notice</a:t>
            </a:r>
          </a:p>
        </p:txBody>
      </p:sp>
      <p:sp>
        <p:nvSpPr>
          <p:cNvPr id="33" name="TextBox 32"/>
          <p:cNvSpPr txBox="1"/>
          <p:nvPr/>
        </p:nvSpPr>
        <p:spPr>
          <a:xfrm>
            <a:off x="5290718"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4" name="Rounded Rectangle 33"/>
          <p:cNvSpPr/>
          <p:nvPr/>
        </p:nvSpPr>
        <p:spPr>
          <a:xfrm>
            <a:off x="5473598" y="2670048"/>
            <a:ext cx="1499615"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555894"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5589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85764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recipients</a:t>
            </a:r>
          </a:p>
        </p:txBody>
      </p:sp>
      <p:sp>
        <p:nvSpPr>
          <p:cNvPr id="38" name="TextBox 37"/>
          <p:cNvSpPr txBox="1"/>
          <p:nvPr/>
        </p:nvSpPr>
        <p:spPr>
          <a:xfrm>
            <a:off x="6973214"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9" name="Rounded Rectangle 38"/>
          <p:cNvSpPr/>
          <p:nvPr/>
        </p:nvSpPr>
        <p:spPr>
          <a:xfrm>
            <a:off x="7156094"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238390"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839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54014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subject an…</a:t>
            </a:r>
          </a:p>
        </p:txBody>
      </p:sp>
      <p:sp>
        <p:nvSpPr>
          <p:cNvPr id="43" name="TextBox 42"/>
          <p:cNvSpPr txBox="1"/>
          <p:nvPr/>
        </p:nvSpPr>
        <p:spPr>
          <a:xfrm>
            <a:off x="8812987"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44" name="Rounded Rectangle 43"/>
          <p:cNvSpPr/>
          <p:nvPr/>
        </p:nvSpPr>
        <p:spPr>
          <a:xfrm>
            <a:off x="8995867" y="2670048"/>
            <a:ext cx="1241755"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078163"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781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379915"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⑥ Finding students and parents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Contacts and lesson status</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Students / Parents menu lets you find your students and see their contact details and lesson status. Open this first when a consultation call comes in.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1474927"/>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Click Students / Parents in the left menu.</a:t>
            </a:r>
          </a:p>
          <a:p>
            <a:pPr>
              <a:lnSpc>
                <a:spcPct val="115000"/>
              </a:lnSpc>
              <a:spcAft>
                <a:spcPts val="300"/>
              </a:spcAft>
            </a:pPr>
            <a:r>
              <a:rPr sz="700" b="1">
                <a:solidFill>
                  <a:srgbClr val="2563EB"/>
                </a:solidFill>
                <a:latin typeface="Malgun Gothic"/>
              </a:rPr>
              <a:t>● </a:t>
            </a:r>
            <a:r>
              <a:rPr sz="900">
                <a:solidFill>
                  <a:srgbClr val="334155"/>
                </a:solidFill>
                <a:latin typeface="Malgun Gothic"/>
              </a:rPr>
              <a:t>Search by name or ID.</a:t>
            </a:r>
          </a:p>
          <a:p>
            <a:pPr>
              <a:lnSpc>
                <a:spcPct val="115000"/>
              </a:lnSpc>
              <a:spcAft>
                <a:spcPts val="300"/>
              </a:spcAft>
            </a:pPr>
            <a:r>
              <a:rPr sz="700" b="1">
                <a:solidFill>
                  <a:srgbClr val="2563EB"/>
                </a:solidFill>
                <a:latin typeface="Malgun Gothic"/>
              </a:rPr>
              <a:t>● </a:t>
            </a:r>
            <a:r>
              <a:rPr sz="900">
                <a:solidFill>
                  <a:srgbClr val="334155"/>
                </a:solidFill>
                <a:latin typeface="Malgun Gothic"/>
              </a:rPr>
              <a:t>Click a student to see their lessons, attendance and payments.</a:t>
            </a:r>
          </a:p>
          <a:p>
            <a:pPr>
              <a:lnSpc>
                <a:spcPct val="115000"/>
              </a:lnSpc>
              <a:spcAft>
                <a:spcPts val="300"/>
              </a:spcAft>
            </a:pPr>
            <a:r>
              <a:rPr sz="700" b="1">
                <a:solidFill>
                  <a:srgbClr val="2563EB"/>
                </a:solidFill>
                <a:latin typeface="Malgun Gothic"/>
              </a:rPr>
              <a:t>● </a:t>
            </a:r>
            <a:r>
              <a:rPr sz="900">
                <a:solidFill>
                  <a:srgbClr val="334155"/>
                </a:solidFill>
                <a:latin typeface="Malgun Gothic"/>
              </a:rPr>
              <a:t>If the parent's contact number is empty, add it.</a:t>
            </a:r>
          </a:p>
        </p:txBody>
      </p:sp>
      <p:sp>
        <p:nvSpPr>
          <p:cNvPr id="14" name="Rounded Rectangle 13"/>
          <p:cNvSpPr/>
          <p:nvPr/>
        </p:nvSpPr>
        <p:spPr>
          <a:xfrm>
            <a:off x="457200" y="5315407"/>
            <a:ext cx="5669280" cy="1522018"/>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61127"/>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5608015"/>
            <a:ext cx="5394960" cy="1192834"/>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Reports and text messages only go out if a contact number is registered.</a:t>
            </a:r>
          </a:p>
          <a:p>
            <a:pPr>
              <a:lnSpc>
                <a:spcPct val="115000"/>
              </a:lnSpc>
              <a:spcAft>
                <a:spcPts val="100"/>
              </a:spcAft>
            </a:pPr>
            <a:r>
              <a:rPr sz="650" b="1">
                <a:solidFill>
                  <a:srgbClr val="2563EB"/>
                </a:solidFill>
                <a:latin typeface="Malgun Gothic"/>
              </a:rPr>
              <a:t>● </a:t>
            </a:r>
            <a:r>
              <a:rPr sz="850">
                <a:solidFill>
                  <a:srgbClr val="334155"/>
                </a:solidFill>
                <a:latin typeface="Malgun Gothic"/>
              </a:rPr>
              <a:t>With a number on file, parents can reset their own password.</a:t>
            </a:r>
          </a:p>
          <a:p>
            <a:pPr>
              <a:lnSpc>
                <a:spcPct val="115000"/>
              </a:lnSpc>
              <a:spcAft>
                <a:spcPts val="100"/>
              </a:spcAft>
            </a:pPr>
            <a:r>
              <a:rPr sz="650" b="1">
                <a:solidFill>
                  <a:srgbClr val="2563EB"/>
                </a:solidFill>
                <a:latin typeface="Malgun Gothic"/>
              </a:rPr>
              <a:t>● </a:t>
            </a:r>
            <a:r>
              <a:rPr sz="850">
                <a:solidFill>
                  <a:srgbClr val="334155"/>
                </a:solidFill>
                <a:latin typeface="Malgun Gothic"/>
              </a:rPr>
              <a:t>If attendance suddenly drops, it is worth reaching out first.</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 Be careful · Student records are personal data. Do not screenshot them and send them outside the company.</a:t>
            </a:r>
          </a:p>
        </p:txBody>
      </p:sp>
      <p:sp>
        <p:nvSpPr>
          <p:cNvPr id="19" name="Rounded Rectangle 18"/>
          <p:cNvSpPr/>
          <p:nvPr/>
        </p:nvSpPr>
        <p:spPr>
          <a:xfrm>
            <a:off x="6176772" y="6021324"/>
            <a:ext cx="5646420" cy="672084"/>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Easier way · Check the contact number on every consultation call and fill it in on the spot. It pays off later.</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menu_students.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007461"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089757"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897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39150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Students /…</a:t>
            </a:r>
          </a:p>
        </p:txBody>
      </p:sp>
      <p:sp>
        <p:nvSpPr>
          <p:cNvPr id="28" name="TextBox 27"/>
          <p:cNvSpPr txBox="1"/>
          <p:nvPr/>
        </p:nvSpPr>
        <p:spPr>
          <a:xfrm>
            <a:off x="4664354"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9" name="Rounded Rectangle 28"/>
          <p:cNvSpPr/>
          <p:nvPr/>
        </p:nvSpPr>
        <p:spPr>
          <a:xfrm>
            <a:off x="4847234" y="2670048"/>
            <a:ext cx="1155801"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929530"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2953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231282"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Search</a:t>
            </a:r>
          </a:p>
        </p:txBody>
      </p:sp>
      <p:sp>
        <p:nvSpPr>
          <p:cNvPr id="33" name="TextBox 32"/>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4" name="Rounded Rectangle 33"/>
          <p:cNvSpPr/>
          <p:nvPr/>
        </p:nvSpPr>
        <p:spPr>
          <a:xfrm>
            <a:off x="6185916"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68212"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lessons, a…</a:t>
            </a:r>
          </a:p>
        </p:txBody>
      </p:sp>
      <p:sp>
        <p:nvSpPr>
          <p:cNvPr id="38" name="TextBox 37"/>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9" name="Rounded Rectangle 38"/>
          <p:cNvSpPr/>
          <p:nvPr/>
        </p:nvSpPr>
        <p:spPr>
          <a:xfrm>
            <a:off x="8025688" y="2670048"/>
            <a:ext cx="1155801"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7984"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9736"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add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⑦ Sending the parent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Weekly proof of growth</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This is the report sent to parents summarising the child's week — attendance, AI chats, words conquered and pronunciation. It is the strongest tool you have for re-enrolment.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1923897"/>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Click Parent Weekly Report in the left menu.</a:t>
            </a:r>
          </a:p>
          <a:p>
            <a:pPr>
              <a:lnSpc>
                <a:spcPct val="115000"/>
              </a:lnSpc>
              <a:spcAft>
                <a:spcPts val="300"/>
              </a:spcAft>
            </a:pPr>
            <a:r>
              <a:rPr sz="700" b="1">
                <a:solidFill>
                  <a:srgbClr val="2563EB"/>
                </a:solidFill>
                <a:latin typeface="Malgun Gothic"/>
              </a:rPr>
              <a:t>● </a:t>
            </a:r>
            <a:r>
              <a:rPr sz="900">
                <a:solidFill>
                  <a:srgbClr val="334155"/>
                </a:solidFill>
                <a:latin typeface="Malgun Gothic"/>
              </a:rPr>
              <a:t>Enter a student ID and check it with Preview.</a:t>
            </a:r>
          </a:p>
          <a:p>
            <a:pPr>
              <a:lnSpc>
                <a:spcPct val="115000"/>
              </a:lnSpc>
              <a:spcAft>
                <a:spcPts val="300"/>
              </a:spcAft>
            </a:pPr>
            <a:r>
              <a:rPr sz="700" b="1">
                <a:solidFill>
                  <a:srgbClr val="2563EB"/>
                </a:solidFill>
                <a:latin typeface="Malgun Gothic"/>
              </a:rPr>
              <a:t>● </a:t>
            </a:r>
            <a:r>
              <a:rPr sz="900">
                <a:solidFill>
                  <a:srgbClr val="334155"/>
                </a:solidFill>
                <a:latin typeface="Malgun Gothic"/>
              </a:rPr>
              <a:t>Use Send to this parent to test with a single recipient.</a:t>
            </a:r>
          </a:p>
          <a:p>
            <a:pPr>
              <a:lnSpc>
                <a:spcPct val="115000"/>
              </a:lnSpc>
              <a:spcAft>
                <a:spcPts val="300"/>
              </a:spcAft>
            </a:pPr>
            <a:r>
              <a:rPr sz="700" b="1">
                <a:solidFill>
                  <a:srgbClr val="2563EB"/>
                </a:solidFill>
                <a:latin typeface="Malgun Gothic"/>
              </a:rPr>
              <a:t>● </a:t>
            </a:r>
            <a:r>
              <a:rPr sz="900">
                <a:solidFill>
                  <a:srgbClr val="334155"/>
                </a:solidFill>
                <a:latin typeface="Malgun Gothic"/>
              </a:rPr>
              <a:t>Use Count recipients to see how many can receive it.</a:t>
            </a:r>
          </a:p>
          <a:p>
            <a:pPr>
              <a:lnSpc>
                <a:spcPct val="115000"/>
              </a:lnSpc>
              <a:spcAft>
                <a:spcPts val="300"/>
              </a:spcAft>
            </a:pPr>
            <a:r>
              <a:rPr sz="700" b="1">
                <a:solidFill>
                  <a:srgbClr val="2563EB"/>
                </a:solidFill>
                <a:latin typeface="Malgun Gothic"/>
              </a:rPr>
              <a:t>● </a:t>
            </a:r>
            <a:r>
              <a:rPr sz="900">
                <a:solidFill>
                  <a:srgbClr val="334155"/>
                </a:solidFill>
                <a:latin typeface="Malgun Gothic"/>
              </a:rPr>
              <a:t>Check Recent send log for what actually went out.</a:t>
            </a:r>
          </a:p>
        </p:txBody>
      </p:sp>
      <p:sp>
        <p:nvSpPr>
          <p:cNvPr id="14" name="Rounded Rectangle 13"/>
          <p:cNvSpPr/>
          <p:nvPr/>
        </p:nvSpPr>
        <p:spPr>
          <a:xfrm>
            <a:off x="457200" y="5764377"/>
            <a:ext cx="5669280" cy="1522018"/>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10097"/>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6056985"/>
            <a:ext cx="5394960" cy="1192834"/>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Only students with a registered phone number can receive it.</a:t>
            </a:r>
          </a:p>
          <a:p>
            <a:pPr>
              <a:lnSpc>
                <a:spcPct val="115000"/>
              </a:lnSpc>
              <a:spcAft>
                <a:spcPts val="100"/>
              </a:spcAft>
            </a:pPr>
            <a:r>
              <a:rPr sz="650" b="1">
                <a:solidFill>
                  <a:srgbClr val="2563EB"/>
                </a:solidFill>
                <a:latin typeface="Malgun Gothic"/>
              </a:rPr>
              <a:t>● </a:t>
            </a:r>
            <a:r>
              <a:rPr sz="850">
                <a:solidFill>
                  <a:srgbClr val="334155"/>
                </a:solidFill>
                <a:latin typeface="Malgun Gothic"/>
              </a:rPr>
              <a:t>The report contains only real activity — no invented numbers.</a:t>
            </a:r>
          </a:p>
          <a:p>
            <a:pPr>
              <a:lnSpc>
                <a:spcPct val="115000"/>
              </a:lnSpc>
              <a:spcAft>
                <a:spcPts val="100"/>
              </a:spcAft>
            </a:pPr>
            <a:r>
              <a:rPr sz="650" b="1">
                <a:solidFill>
                  <a:srgbClr val="2563EB"/>
                </a:solidFill>
                <a:latin typeface="Malgun Gothic"/>
              </a:rPr>
              <a:t>● </a:t>
            </a:r>
            <a:r>
              <a:rPr sz="850">
                <a:solidFill>
                  <a:srgbClr val="334155"/>
                </a:solidFill>
                <a:latin typeface="Malgun Gothic"/>
              </a:rPr>
              <a:t>A Friday-evening automatic send is ready and waiting.</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 Be careful · 🔴 The full automatic send is OFF by default. It is a safeguard against accidentally messaging 29,000 people. Turn it on only after management decides.</a:t>
            </a:r>
          </a:p>
        </p:txBody>
      </p:sp>
      <p:sp>
        <p:nvSpPr>
          <p:cNvPr id="19" name="Rounded Rectangle 18"/>
          <p:cNvSpPr/>
          <p:nvPr/>
        </p:nvSpPr>
        <p:spPr>
          <a:xfrm>
            <a:off x="6176772" y="5870448"/>
            <a:ext cx="5646420" cy="822960"/>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Easier way · Send one to yourself or a colleague's number first. Once you are happy with the wording, turning it on is stress-free.</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_weekly.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794052"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76348"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763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17810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Parent Wee…</a:t>
            </a:r>
          </a:p>
        </p:txBody>
      </p:sp>
      <p:sp>
        <p:nvSpPr>
          <p:cNvPr id="28" name="TextBox 27"/>
          <p:cNvSpPr txBox="1"/>
          <p:nvPr/>
        </p:nvSpPr>
        <p:spPr>
          <a:xfrm>
            <a:off x="3450945"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9" name="Rounded Rectangle 28"/>
          <p:cNvSpPr/>
          <p:nvPr/>
        </p:nvSpPr>
        <p:spPr>
          <a:xfrm>
            <a:off x="3633825" y="2670048"/>
            <a:ext cx="1241755"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16121"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16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017873"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Preview</a:t>
            </a:r>
          </a:p>
        </p:txBody>
      </p:sp>
      <p:sp>
        <p:nvSpPr>
          <p:cNvPr id="33" name="TextBox 32"/>
          <p:cNvSpPr txBox="1"/>
          <p:nvPr/>
        </p:nvSpPr>
        <p:spPr>
          <a:xfrm>
            <a:off x="4875580"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4" name="Rounded Rectangle 33"/>
          <p:cNvSpPr/>
          <p:nvPr/>
        </p:nvSpPr>
        <p:spPr>
          <a:xfrm>
            <a:off x="5058460"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140756"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407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44250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Send to th…</a:t>
            </a:r>
          </a:p>
        </p:txBody>
      </p:sp>
      <p:sp>
        <p:nvSpPr>
          <p:cNvPr id="38" name="TextBox 37"/>
          <p:cNvSpPr txBox="1"/>
          <p:nvPr/>
        </p:nvSpPr>
        <p:spPr>
          <a:xfrm>
            <a:off x="6715353"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9" name="Rounded Rectangle 38"/>
          <p:cNvSpPr/>
          <p:nvPr/>
        </p:nvSpPr>
        <p:spPr>
          <a:xfrm>
            <a:off x="6898233"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980529"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80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282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Count reci…</a:t>
            </a:r>
          </a:p>
        </p:txBody>
      </p:sp>
      <p:sp>
        <p:nvSpPr>
          <p:cNvPr id="43" name="TextBox 42"/>
          <p:cNvSpPr txBox="1"/>
          <p:nvPr/>
        </p:nvSpPr>
        <p:spPr>
          <a:xfrm>
            <a:off x="8555126"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44" name="Rounded Rectangle 43"/>
          <p:cNvSpPr/>
          <p:nvPr/>
        </p:nvSpPr>
        <p:spPr>
          <a:xfrm>
            <a:off x="8738006"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820302"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0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12205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Recent sen…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⑧ Viewing teachers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Roster · schedule · payroll</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Teachers menu shows the roster, working schedules and payroll. It has been reorganised to be much easier to search.</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2084374"/>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Click Teachers in the left menu.</a:t>
            </a:r>
          </a:p>
          <a:p>
            <a:pPr>
              <a:lnSpc>
                <a:spcPct val="115000"/>
              </a:lnSpc>
              <a:spcAft>
                <a:spcPts val="300"/>
              </a:spcAft>
            </a:pPr>
            <a:r>
              <a:rPr sz="700" b="1">
                <a:solidFill>
                  <a:srgbClr val="2563EB"/>
                </a:solidFill>
                <a:latin typeface="Malgun Gothic"/>
              </a:rPr>
              <a:t>● </a:t>
            </a:r>
            <a:r>
              <a:rPr sz="900">
                <a:solidFill>
                  <a:srgbClr val="334155"/>
                </a:solidFill>
                <a:latin typeface="Malgun Gothic"/>
              </a:rPr>
              <a:t>Use the status and group dropdowns at the top to filter.</a:t>
            </a:r>
          </a:p>
          <a:p>
            <a:pPr>
              <a:lnSpc>
                <a:spcPct val="115000"/>
              </a:lnSpc>
              <a:spcAft>
                <a:spcPts val="300"/>
              </a:spcAft>
            </a:pPr>
            <a:r>
              <a:rPr sz="700" b="1">
                <a:solidFill>
                  <a:srgbClr val="2563EB"/>
                </a:solidFill>
                <a:latin typeface="Malgun Gothic"/>
              </a:rPr>
              <a:t>● </a:t>
            </a:r>
            <a:r>
              <a:rPr sz="900">
                <a:solidFill>
                  <a:srgbClr val="334155"/>
                </a:solidFill>
                <a:latin typeface="Malgun Gothic"/>
              </a:rPr>
              <a:t>Click a teacher to open the Profile · Payroll · Evaluation tabs.</a:t>
            </a:r>
          </a:p>
          <a:p>
            <a:pPr>
              <a:lnSpc>
                <a:spcPct val="115000"/>
              </a:lnSpc>
              <a:spcAft>
                <a:spcPts val="300"/>
              </a:spcAft>
            </a:pPr>
            <a:r>
              <a:rPr sz="700" b="1">
                <a:solidFill>
                  <a:srgbClr val="2563EB"/>
                </a:solidFill>
                <a:latin typeface="Malgun Gothic"/>
              </a:rPr>
              <a:t>● </a:t>
            </a:r>
            <a:r>
              <a:rPr sz="900">
                <a:solidFill>
                  <a:srgbClr val="334155"/>
                </a:solidFill>
                <a:latin typeface="Malgun Gothic"/>
              </a:rPr>
              <a:t>Use the Work / Break / Leave shortcut to manage schedules.</a:t>
            </a:r>
          </a:p>
          <a:p>
            <a:pPr>
              <a:lnSpc>
                <a:spcPct val="115000"/>
              </a:lnSpc>
              <a:spcAft>
                <a:spcPts val="300"/>
              </a:spcAft>
            </a:pPr>
            <a:r>
              <a:rPr sz="700" b="1">
                <a:solidFill>
                  <a:srgbClr val="2563EB"/>
                </a:solidFill>
                <a:latin typeface="Malgun Gothic"/>
              </a:rPr>
              <a:t>● </a:t>
            </a:r>
            <a:r>
              <a:rPr sz="900">
                <a:solidFill>
                  <a:srgbClr val="334155"/>
                </a:solidFill>
                <a:latin typeface="Malgun Gothic"/>
              </a:rPr>
              <a:t>Scroll the table sideways — the teacher's name stays pinned.</a:t>
            </a:r>
          </a:p>
        </p:txBody>
      </p:sp>
      <p:sp>
        <p:nvSpPr>
          <p:cNvPr id="14" name="Rounded Rectangle 13"/>
          <p:cNvSpPr/>
          <p:nvPr/>
        </p:nvSpPr>
        <p:spPr>
          <a:xfrm>
            <a:off x="457200" y="5924854"/>
            <a:ext cx="5669280" cy="1370457"/>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70574"/>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6217462"/>
            <a:ext cx="5394960" cy="1041273"/>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The more teachers you have, the more the filters help.</a:t>
            </a:r>
          </a:p>
          <a:p>
            <a:pPr>
              <a:lnSpc>
                <a:spcPct val="115000"/>
              </a:lnSpc>
              <a:spcAft>
                <a:spcPts val="100"/>
              </a:spcAft>
            </a:pPr>
            <a:r>
              <a:rPr sz="650" b="1">
                <a:solidFill>
                  <a:srgbClr val="2563EB"/>
                </a:solidFill>
                <a:latin typeface="Malgun Gothic"/>
              </a:rPr>
              <a:t>● </a:t>
            </a:r>
            <a:r>
              <a:rPr sz="850">
                <a:solidFill>
                  <a:srgbClr val="334155"/>
                </a:solidFill>
                <a:latin typeface="Malgun Gothic"/>
              </a:rPr>
              <a:t>Managers are marked with a badge, with employment status alongside.</a:t>
            </a:r>
          </a:p>
          <a:p>
            <a:pPr>
              <a:lnSpc>
                <a:spcPct val="115000"/>
              </a:lnSpc>
              <a:spcAft>
                <a:spcPts val="100"/>
              </a:spcAft>
            </a:pPr>
            <a:r>
              <a:rPr sz="650" b="1">
                <a:solidFill>
                  <a:srgbClr val="2563EB"/>
                </a:solidFill>
                <a:latin typeface="Malgun Gothic"/>
              </a:rPr>
              <a:t>● </a:t>
            </a:r>
            <a:r>
              <a:rPr sz="850">
                <a:solidFill>
                  <a:srgbClr val="334155"/>
                </a:solidFill>
                <a:latin typeface="Malgun Gothic"/>
              </a:rPr>
              <a:t>If a name is blank, the ID is shown instead.</a:t>
            </a:r>
          </a:p>
        </p:txBody>
      </p:sp>
      <p:sp>
        <p:nvSpPr>
          <p:cNvPr id="17" name="Rounded Rectangle 16"/>
          <p:cNvSpPr/>
          <p:nvPr/>
        </p:nvSpPr>
        <p:spPr>
          <a:xfrm>
            <a:off x="365760" y="6172200"/>
            <a:ext cx="11457432" cy="521208"/>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Easier way · When a teacher says “this feature doesn't exist”, it usually does — they just could not find the route. Look for it together first.</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teachers.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7029" y="2670048"/>
            <a:ext cx="1327708"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919325"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919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221077"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Teachers</a:t>
            </a:r>
          </a:p>
        </p:txBody>
      </p:sp>
      <p:sp>
        <p:nvSpPr>
          <p:cNvPr id="26" name="TextBox 25"/>
          <p:cNvSpPr txBox="1"/>
          <p:nvPr/>
        </p:nvSpPr>
        <p:spPr>
          <a:xfrm>
            <a:off x="3164738"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7" name="Rounded Rectangle 26"/>
          <p:cNvSpPr/>
          <p:nvPr/>
        </p:nvSpPr>
        <p:spPr>
          <a:xfrm>
            <a:off x="3347618"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429914"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2991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73166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status and…</a:t>
            </a:r>
          </a:p>
        </p:txBody>
      </p:sp>
      <p:sp>
        <p:nvSpPr>
          <p:cNvPr id="31" name="TextBox 30"/>
          <p:cNvSpPr txBox="1"/>
          <p:nvPr/>
        </p:nvSpPr>
        <p:spPr>
          <a:xfrm>
            <a:off x="5004511"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2" name="Rounded Rectangle 31"/>
          <p:cNvSpPr/>
          <p:nvPr/>
        </p:nvSpPr>
        <p:spPr>
          <a:xfrm>
            <a:off x="5187391" y="2670048"/>
            <a:ext cx="1570939"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269687"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696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571439"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Profile ·…</a:t>
            </a:r>
          </a:p>
        </p:txBody>
      </p:sp>
      <p:sp>
        <p:nvSpPr>
          <p:cNvPr id="36" name="TextBox 35"/>
          <p:cNvSpPr txBox="1"/>
          <p:nvPr/>
        </p:nvSpPr>
        <p:spPr>
          <a:xfrm>
            <a:off x="6758330"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7" name="Rounded Rectangle 36"/>
          <p:cNvSpPr/>
          <p:nvPr/>
        </p:nvSpPr>
        <p:spPr>
          <a:xfrm>
            <a:off x="6941210"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23506"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2350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32525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Work / Bre…</a:t>
            </a:r>
          </a:p>
        </p:txBody>
      </p:sp>
      <p:sp>
        <p:nvSpPr>
          <p:cNvPr id="41" name="TextBox 40"/>
          <p:cNvSpPr txBox="1"/>
          <p:nvPr/>
        </p:nvSpPr>
        <p:spPr>
          <a:xfrm>
            <a:off x="8598103"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42" name="Rounded Rectangle 41"/>
          <p:cNvSpPr/>
          <p:nvPr/>
        </p:nvSpPr>
        <p:spPr>
          <a:xfrm>
            <a:off x="8780983" y="2670048"/>
            <a:ext cx="1570939"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863279"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32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9165031"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⑨ Payments and refunds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Anything involving money</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Tuition payments and refunds live under Accounting / Points. The new payment screen now asks who the lessons are for first, which makes it far easier for parents to choose.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1923897"/>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Click Accounting / Points in the left menu.</a:t>
            </a:r>
          </a:p>
          <a:p>
            <a:pPr>
              <a:lnSpc>
                <a:spcPct val="115000"/>
              </a:lnSpc>
              <a:spcAft>
                <a:spcPts val="300"/>
              </a:spcAft>
            </a:pPr>
            <a:r>
              <a:rPr sz="700" b="1">
                <a:solidFill>
                  <a:srgbClr val="2563EB"/>
                </a:solidFill>
                <a:latin typeface="Malgun Gothic"/>
              </a:rPr>
              <a:t>● </a:t>
            </a:r>
            <a:r>
              <a:rPr sz="900">
                <a:solidFill>
                  <a:srgbClr val="334155"/>
                </a:solidFill>
                <a:latin typeface="Malgun Gothic"/>
              </a:rPr>
              <a:t>Find the record by date or student under Payment history.</a:t>
            </a:r>
          </a:p>
          <a:p>
            <a:pPr>
              <a:lnSpc>
                <a:spcPct val="115000"/>
              </a:lnSpc>
              <a:spcAft>
                <a:spcPts val="300"/>
              </a:spcAft>
            </a:pPr>
            <a:r>
              <a:rPr sz="700" b="1">
                <a:solidFill>
                  <a:srgbClr val="2563EB"/>
                </a:solidFill>
                <a:latin typeface="Malgun Gothic"/>
              </a:rPr>
              <a:t>● </a:t>
            </a:r>
            <a:r>
              <a:rPr sz="900">
                <a:solidFill>
                  <a:srgbClr val="334155"/>
                </a:solidFill>
                <a:latin typeface="Malgun Gothic"/>
              </a:rPr>
              <a:t>For a refund, check the refund policy first.</a:t>
            </a:r>
          </a:p>
          <a:p>
            <a:pPr>
              <a:lnSpc>
                <a:spcPct val="115000"/>
              </a:lnSpc>
              <a:spcAft>
                <a:spcPts val="300"/>
              </a:spcAft>
            </a:pPr>
            <a:r>
              <a:rPr sz="700" b="1">
                <a:solidFill>
                  <a:srgbClr val="2563EB"/>
                </a:solidFill>
                <a:latin typeface="Malgun Gothic"/>
              </a:rPr>
              <a:t>● </a:t>
            </a:r>
            <a:r>
              <a:rPr sz="900">
                <a:solidFill>
                  <a:srgbClr val="334155"/>
                </a:solidFill>
                <a:latin typeface="Malgun Gothic"/>
              </a:rPr>
              <a:t>Guide parents through the choose-the-audience-first flow.</a:t>
            </a:r>
          </a:p>
          <a:p>
            <a:pPr>
              <a:lnSpc>
                <a:spcPct val="115000"/>
              </a:lnSpc>
              <a:spcAft>
                <a:spcPts val="300"/>
              </a:spcAft>
            </a:pPr>
            <a:r>
              <a:rPr sz="700" b="1">
                <a:solidFill>
                  <a:srgbClr val="2563EB"/>
                </a:solidFill>
                <a:latin typeface="Malgun Gothic"/>
              </a:rPr>
              <a:t>● </a:t>
            </a:r>
            <a:r>
              <a:rPr sz="900">
                <a:solidFill>
                  <a:srgbClr val="334155"/>
                </a:solidFill>
                <a:latin typeface="Malgun Gothic"/>
              </a:rPr>
              <a:t>If they want to compare everything, press See Full Price List.</a:t>
            </a:r>
          </a:p>
        </p:txBody>
      </p:sp>
      <p:sp>
        <p:nvSpPr>
          <p:cNvPr id="14" name="Rounded Rectangle 13"/>
          <p:cNvSpPr/>
          <p:nvPr/>
        </p:nvSpPr>
        <p:spPr>
          <a:xfrm>
            <a:off x="457200" y="5764377"/>
            <a:ext cx="5669280" cy="1522018"/>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10097"/>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6056985"/>
            <a:ext cx="5394960" cy="1192834"/>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A refund always starts with checking the policy.</a:t>
            </a:r>
          </a:p>
          <a:p>
            <a:pPr>
              <a:lnSpc>
                <a:spcPct val="115000"/>
              </a:lnSpc>
              <a:spcAft>
                <a:spcPts val="100"/>
              </a:spcAft>
            </a:pPr>
            <a:r>
              <a:rPr sz="650" b="1">
                <a:solidFill>
                  <a:srgbClr val="2563EB"/>
                </a:solidFill>
                <a:latin typeface="Malgun Gothic"/>
              </a:rPr>
              <a:t>● </a:t>
            </a:r>
            <a:r>
              <a:rPr sz="850">
                <a:solidFill>
                  <a:srgbClr val="334155"/>
                </a:solidFill>
                <a:latin typeface="Malgun Gothic"/>
              </a:rPr>
              <a:t>Prices and products are unchanged — only the way you choose got easier.</a:t>
            </a:r>
          </a:p>
          <a:p>
            <a:pPr>
              <a:lnSpc>
                <a:spcPct val="115000"/>
              </a:lnSpc>
              <a:spcAft>
                <a:spcPts val="100"/>
              </a:spcAft>
            </a:pPr>
            <a:r>
              <a:rPr sz="650" b="1">
                <a:solidFill>
                  <a:srgbClr val="2563EB"/>
                </a:solidFill>
                <a:latin typeface="Malgun Gothic"/>
              </a:rPr>
              <a:t>● </a:t>
            </a:r>
            <a:r>
              <a:rPr sz="850">
                <a:solidFill>
                  <a:srgbClr val="334155"/>
                </a:solidFill>
                <a:latin typeface="Malgun Gothic"/>
              </a:rPr>
              <a:t>If a number looks wrong, do not fix it yourself — ask HQ.</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 Be careful · Payments and refunds move real money. If you are not certain, ask before you click.</a:t>
            </a:r>
          </a:p>
        </p:txBody>
      </p:sp>
      <p:sp>
        <p:nvSpPr>
          <p:cNvPr id="19" name="Rounded Rectangle 18"/>
          <p:cNvSpPr/>
          <p:nvPr/>
        </p:nvSpPr>
        <p:spPr>
          <a:xfrm>
            <a:off x="6176772" y="6021324"/>
            <a:ext cx="5646420" cy="672084"/>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Easier way · Note down two or three common refund cases and your consultation time halves.</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629460"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11756"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117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01350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Accounting…</a:t>
            </a:r>
          </a:p>
        </p:txBody>
      </p:sp>
      <p:sp>
        <p:nvSpPr>
          <p:cNvPr id="28" name="TextBox 27"/>
          <p:cNvSpPr txBox="1"/>
          <p:nvPr/>
        </p:nvSpPr>
        <p:spPr>
          <a:xfrm>
            <a:off x="3286353"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9" name="Rounded Rectangle 28"/>
          <p:cNvSpPr/>
          <p:nvPr/>
        </p:nvSpPr>
        <p:spPr>
          <a:xfrm>
            <a:off x="3469233"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51529"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Payment hi…</a:t>
            </a:r>
          </a:p>
        </p:txBody>
      </p:sp>
      <p:sp>
        <p:nvSpPr>
          <p:cNvPr id="33" name="TextBox 32"/>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4" name="Rounded Rectangle 33"/>
          <p:cNvSpPr/>
          <p:nvPr/>
        </p:nvSpPr>
        <p:spPr>
          <a:xfrm>
            <a:off x="5309006" y="2670048"/>
            <a:ext cx="1570939"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91302"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69305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check the…</a:t>
            </a:r>
          </a:p>
        </p:txBody>
      </p:sp>
      <p:sp>
        <p:nvSpPr>
          <p:cNvPr id="38" name="TextBox 37"/>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9" name="Rounded Rectangle 38"/>
          <p:cNvSpPr/>
          <p:nvPr/>
        </p:nvSpPr>
        <p:spPr>
          <a:xfrm>
            <a:off x="7062825"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145121"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446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choose-the…</a:t>
            </a:r>
          </a:p>
        </p:txBody>
      </p:sp>
      <p:sp>
        <p:nvSpPr>
          <p:cNvPr id="43" name="TextBox 42"/>
          <p:cNvSpPr txBox="1"/>
          <p:nvPr/>
        </p:nvSpPr>
        <p:spPr>
          <a:xfrm>
            <a:off x="8719718"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44" name="Rounded Rectangle 43"/>
          <p:cNvSpPr/>
          <p:nvPr/>
        </p:nvSpPr>
        <p:spPr>
          <a:xfrm>
            <a:off x="8902598"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984894"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8489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28664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See Full 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⑩ Getting manuals from the Library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document in one place</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Library holds all the manuals and videos for admins, teachers, branches, agencies, students and parents. Just send the right person the right link.</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1923897"/>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Click Library in the left menu.</a:t>
            </a:r>
          </a:p>
          <a:p>
            <a:pPr>
              <a:lnSpc>
                <a:spcPct val="115000"/>
              </a:lnSpc>
              <a:spcAft>
                <a:spcPts val="300"/>
              </a:spcAft>
            </a:pPr>
            <a:r>
              <a:rPr sz="700" b="1">
                <a:solidFill>
                  <a:srgbClr val="2563EB"/>
                </a:solidFill>
                <a:latin typeface="Malgun Gothic"/>
              </a:rPr>
              <a:t>● </a:t>
            </a:r>
            <a:r>
              <a:rPr sz="900">
                <a:solidFill>
                  <a:srgbClr val="334155"/>
                </a:solidFill>
                <a:latin typeface="Malgun Gothic"/>
              </a:rPr>
              <a:t>Choose the room (admin, teacher, branch, agency, student).</a:t>
            </a:r>
          </a:p>
          <a:p>
            <a:pPr>
              <a:lnSpc>
                <a:spcPct val="115000"/>
              </a:lnSpc>
              <a:spcAft>
                <a:spcPts val="300"/>
              </a:spcAft>
            </a:pPr>
            <a:r>
              <a:rPr sz="700" b="1">
                <a:solidFill>
                  <a:srgbClr val="2563EB"/>
                </a:solidFill>
                <a:latin typeface="Malgun Gothic"/>
              </a:rPr>
              <a:t>● </a:t>
            </a:r>
            <a:r>
              <a:rPr sz="900">
                <a:solidFill>
                  <a:srgbClr val="334155"/>
                </a:solidFill>
                <a:latin typeface="Malgun Gothic"/>
              </a:rPr>
              <a:t>Pick PDF · PPT · Excel — it downloads immediately.</a:t>
            </a:r>
          </a:p>
          <a:p>
            <a:pPr>
              <a:lnSpc>
                <a:spcPct val="115000"/>
              </a:lnSpc>
              <a:spcAft>
                <a:spcPts val="300"/>
              </a:spcAft>
            </a:pPr>
            <a:r>
              <a:rPr sz="700" b="1">
                <a:solidFill>
                  <a:srgbClr val="2563EB"/>
                </a:solidFill>
                <a:latin typeface="Malgun Gothic"/>
              </a:rPr>
              <a:t>● </a:t>
            </a:r>
            <a:r>
              <a:rPr sz="900">
                <a:solidFill>
                  <a:srgbClr val="334155"/>
                </a:solidFill>
                <a:latin typeface="Malgun Gothic"/>
              </a:rPr>
              <a:t>For videos use ▶ Play, or 💬 Copy Link to share.</a:t>
            </a:r>
          </a:p>
          <a:p>
            <a:pPr>
              <a:lnSpc>
                <a:spcPct val="115000"/>
              </a:lnSpc>
              <a:spcAft>
                <a:spcPts val="300"/>
              </a:spcAft>
            </a:pPr>
            <a:r>
              <a:rPr sz="700" b="1">
                <a:solidFill>
                  <a:srgbClr val="2563EB"/>
                </a:solidFill>
                <a:latin typeface="Malgun Gothic"/>
              </a:rPr>
              <a:t>● </a:t>
            </a:r>
            <a:r>
              <a:rPr sz="900">
                <a:solidFill>
                  <a:srgbClr val="334155"/>
                </a:solidFill>
                <a:latin typeface="Malgun Gothic"/>
              </a:rPr>
              <a:t>On KakaoTalk, send the link, not the file.</a:t>
            </a:r>
          </a:p>
        </p:txBody>
      </p:sp>
      <p:sp>
        <p:nvSpPr>
          <p:cNvPr id="14" name="Rounded Rectangle 13"/>
          <p:cNvSpPr/>
          <p:nvPr/>
        </p:nvSpPr>
        <p:spPr>
          <a:xfrm>
            <a:off x="457200" y="5764377"/>
            <a:ext cx="5669280" cy="1522018"/>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10097"/>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6056985"/>
            <a:ext cx="5394960" cy="1192834"/>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Attaching a video file to KakaoTalk ruins the quality — send the link.</a:t>
            </a:r>
          </a:p>
          <a:p>
            <a:pPr>
              <a:lnSpc>
                <a:spcPct val="115000"/>
              </a:lnSpc>
              <a:spcAft>
                <a:spcPts val="100"/>
              </a:spcAft>
            </a:pPr>
            <a:r>
              <a:rPr sz="650" b="1">
                <a:solidFill>
                  <a:srgbClr val="2563EB"/>
                </a:solidFill>
                <a:latin typeface="Malgun Gothic"/>
              </a:rPr>
              <a:t>● </a:t>
            </a:r>
            <a:r>
              <a:rPr sz="850">
                <a:solidFill>
                  <a:srgbClr val="334155"/>
                </a:solidFill>
                <a:latin typeface="Malgun Gothic"/>
              </a:rPr>
              <a:t>Manuals are updated whenever new features ship.</a:t>
            </a:r>
          </a:p>
          <a:p>
            <a:pPr>
              <a:lnSpc>
                <a:spcPct val="115000"/>
              </a:lnSpc>
              <a:spcAft>
                <a:spcPts val="100"/>
              </a:spcAft>
            </a:pPr>
            <a:r>
              <a:rPr sz="650" b="1">
                <a:solidFill>
                  <a:srgbClr val="2563EB"/>
                </a:solidFill>
                <a:latin typeface="Malgun Gothic"/>
              </a:rPr>
              <a:t>● </a:t>
            </a:r>
            <a:r>
              <a:rPr sz="850">
                <a:solidFill>
                  <a:srgbClr val="334155"/>
                </a:solidFill>
                <a:latin typeface="Malgun Gothic"/>
              </a:rPr>
              <a:t>Each room has a password, but your own role's rooms open automatically.</a:t>
            </a:r>
          </a:p>
        </p:txBody>
      </p:sp>
      <p:sp>
        <p:nvSpPr>
          <p:cNvPr id="17" name="Rounded Rectangle 16"/>
          <p:cNvSpPr/>
          <p:nvPr/>
        </p:nvSpPr>
        <p:spPr>
          <a:xfrm>
            <a:off x="365760" y="6172200"/>
            <a:ext cx="11457432" cy="521208"/>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Easier way · When a new staff member starts, send them the ‘Easy Guide’ link. It saves a lot of explaining.</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094890" y="2670048"/>
            <a:ext cx="1241755"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177186"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771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478938"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Library</a:t>
            </a:r>
          </a:p>
        </p:txBody>
      </p:sp>
      <p:sp>
        <p:nvSpPr>
          <p:cNvPr id="26" name="TextBox 25"/>
          <p:cNvSpPr txBox="1"/>
          <p:nvPr/>
        </p:nvSpPr>
        <p:spPr>
          <a:xfrm>
            <a:off x="3336645"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7" name="Rounded Rectangle 26"/>
          <p:cNvSpPr/>
          <p:nvPr/>
        </p:nvSpPr>
        <p:spPr>
          <a:xfrm>
            <a:off x="3519525"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01821"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018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9035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Choose the…</a:t>
            </a:r>
          </a:p>
        </p:txBody>
      </p:sp>
      <p:sp>
        <p:nvSpPr>
          <p:cNvPr id="31" name="TextBox 30"/>
          <p:cNvSpPr txBox="1"/>
          <p:nvPr/>
        </p:nvSpPr>
        <p:spPr>
          <a:xfrm>
            <a:off x="5176418"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2" name="Rounded Rectangle 31"/>
          <p:cNvSpPr/>
          <p:nvPr/>
        </p:nvSpPr>
        <p:spPr>
          <a:xfrm>
            <a:off x="5359298" y="2670048"/>
            <a:ext cx="1570939"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441594"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4159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743346"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PDF · PPT…</a:t>
            </a:r>
          </a:p>
        </p:txBody>
      </p:sp>
      <p:sp>
        <p:nvSpPr>
          <p:cNvPr id="36" name="TextBox 35"/>
          <p:cNvSpPr txBox="1"/>
          <p:nvPr/>
        </p:nvSpPr>
        <p:spPr>
          <a:xfrm>
            <a:off x="6930237"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7" name="Rounded Rectangle 36"/>
          <p:cNvSpPr/>
          <p:nvPr/>
        </p:nvSpPr>
        <p:spPr>
          <a:xfrm>
            <a:off x="7113117" y="2670048"/>
            <a:ext cx="1227124"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195413"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9541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497165" y="2670048"/>
            <a:ext cx="8065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Play</a:t>
            </a:r>
          </a:p>
        </p:txBody>
      </p:sp>
      <p:sp>
        <p:nvSpPr>
          <p:cNvPr id="41" name="TextBox 40"/>
          <p:cNvSpPr txBox="1"/>
          <p:nvPr/>
        </p:nvSpPr>
        <p:spPr>
          <a:xfrm>
            <a:off x="8340242"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42" name="Rounded Rectangle 41"/>
          <p:cNvSpPr/>
          <p:nvPr/>
        </p:nvSpPr>
        <p:spPr>
          <a:xfrm>
            <a:off x="8523122" y="2670048"/>
            <a:ext cx="1570939"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605418"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054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907170"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the link,…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⑪ How our home page looks to visitors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a new parent sees</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first screen of our website changes depending on who is looking. A first-time parent sees Book a Free Trial; a logged-in student sees Enter Class.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Open a new incognito window in your browser (Ctrl+Shift+N).</a:t>
            </a:r>
          </a:p>
          <a:p>
            <a:pPr>
              <a:lnSpc>
                <a:spcPct val="115000"/>
              </a:lnSpc>
              <a:spcAft>
                <a:spcPts val="300"/>
              </a:spcAft>
            </a:pPr>
            <a:r>
              <a:rPr sz="700" b="1">
                <a:solidFill>
                  <a:srgbClr val="2563EB"/>
                </a:solidFill>
                <a:latin typeface="Malgun Gothic"/>
              </a:rPr>
              <a:t>● </a:t>
            </a:r>
            <a:r>
              <a:rPr sz="900">
                <a:solidFill>
                  <a:srgbClr val="334155"/>
                </a:solidFill>
                <a:latin typeface="Malgun Gothic"/>
              </a:rPr>
              <a:t>Go to our website address.</a:t>
            </a:r>
          </a:p>
          <a:p>
            <a:pPr>
              <a:lnSpc>
                <a:spcPct val="115000"/>
              </a:lnSpc>
              <a:spcAft>
                <a:spcPts val="300"/>
              </a:spcAft>
            </a:pPr>
            <a:r>
              <a:rPr sz="700" b="1">
                <a:solidFill>
                  <a:srgbClr val="2563EB"/>
                </a:solidFill>
                <a:latin typeface="Malgun Gothic"/>
              </a:rPr>
              <a:t>● </a:t>
            </a:r>
            <a:r>
              <a:rPr sz="900">
                <a:solidFill>
                  <a:srgbClr val="334155"/>
                </a:solidFill>
                <a:latin typeface="Malgun Gothic"/>
              </a:rPr>
              <a:t>Check that the Book a Free Trial button is large and prominent.</a:t>
            </a:r>
          </a:p>
          <a:p>
            <a:pPr>
              <a:lnSpc>
                <a:spcPct val="115000"/>
              </a:lnSpc>
              <a:spcAft>
                <a:spcPts val="300"/>
              </a:spcAft>
            </a:pPr>
            <a:r>
              <a:rPr sz="700" b="1">
                <a:solidFill>
                  <a:srgbClr val="2563EB"/>
                </a:solidFill>
                <a:latin typeface="Malgun Gothic"/>
              </a:rPr>
              <a:t>● </a:t>
            </a:r>
            <a:r>
              <a:rPr sz="900">
                <a:solidFill>
                  <a:srgbClr val="334155"/>
                </a:solidFill>
                <a:latin typeface="Malgun Gothic"/>
              </a:rPr>
              <a:t>In promotional messages, just use the plain website address.</a:t>
            </a:r>
          </a:p>
        </p:txBody>
      </p:sp>
      <p:sp>
        <p:nvSpPr>
          <p:cNvPr id="14" name="Rounded Rectangle 13"/>
          <p:cNvSpPr/>
          <p:nvPr/>
        </p:nvSpPr>
        <p:spPr>
          <a:xfrm>
            <a:off x="457200" y="5475884"/>
            <a:ext cx="5669280" cy="1522018"/>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5768492"/>
            <a:ext cx="5394960" cy="1192834"/>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No separate marketing page is needed — the same address adapts.</a:t>
            </a:r>
          </a:p>
          <a:p>
            <a:pPr>
              <a:lnSpc>
                <a:spcPct val="115000"/>
              </a:lnSpc>
              <a:spcAft>
                <a:spcPts val="100"/>
              </a:spcAft>
            </a:pPr>
            <a:r>
              <a:rPr sz="650" b="1">
                <a:solidFill>
                  <a:srgbClr val="2563EB"/>
                </a:solidFill>
                <a:latin typeface="Malgun Gothic"/>
              </a:rPr>
              <a:t>● </a:t>
            </a:r>
            <a:r>
              <a:rPr sz="850">
                <a:solidFill>
                  <a:srgbClr val="334155"/>
                </a:solidFill>
                <a:latin typeface="Malgun Gothic"/>
              </a:rPr>
              <a:t>You can check what a parent sees at any time with an incognito window.</a:t>
            </a:r>
          </a:p>
          <a:p>
            <a:pPr>
              <a:lnSpc>
                <a:spcPct val="115000"/>
              </a:lnSpc>
              <a:spcAft>
                <a:spcPts val="100"/>
              </a:spcAft>
            </a:pPr>
            <a:r>
              <a:rPr sz="650" b="1">
                <a:solidFill>
                  <a:srgbClr val="2563EB"/>
                </a:solidFill>
                <a:latin typeface="Malgun Gothic"/>
              </a:rPr>
              <a:t>● </a:t>
            </a:r>
            <a:r>
              <a:rPr sz="850">
                <a:solidFill>
                  <a:srgbClr val="334155"/>
                </a:solidFill>
                <a:latin typeface="Malgun Gothic"/>
              </a:rPr>
              <a:t>When logged in, it shows the countdown to the next class.</a:t>
            </a:r>
          </a:p>
        </p:txBody>
      </p:sp>
      <p:sp>
        <p:nvSpPr>
          <p:cNvPr id="17" name="Rounded Rectangle 16"/>
          <p:cNvSpPr/>
          <p:nvPr/>
        </p:nvSpPr>
        <p:spPr>
          <a:xfrm>
            <a:off x="365760" y="6172200"/>
            <a:ext cx="11457432" cy="521208"/>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Easier way · Open the incognito home page before a consultation. You and the parent can then look at the same screen.</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49347"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631643"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316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93339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incogn…</a:t>
            </a:r>
          </a:p>
        </p:txBody>
      </p:sp>
      <p:sp>
        <p:nvSpPr>
          <p:cNvPr id="26" name="TextBox 25"/>
          <p:cNvSpPr txBox="1"/>
          <p:nvPr/>
        </p:nvSpPr>
        <p:spPr>
          <a:xfrm>
            <a:off x="4206240"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7" name="Rounded Rectangle 26"/>
          <p:cNvSpPr/>
          <p:nvPr/>
        </p:nvSpPr>
        <p:spPr>
          <a:xfrm>
            <a:off x="4389120" y="2670048"/>
            <a:ext cx="1570939"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71416"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714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73168"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Go to our…</a:t>
            </a:r>
          </a:p>
        </p:txBody>
      </p:sp>
      <p:sp>
        <p:nvSpPr>
          <p:cNvPr id="31" name="TextBox 30"/>
          <p:cNvSpPr txBox="1"/>
          <p:nvPr/>
        </p:nvSpPr>
        <p:spPr>
          <a:xfrm>
            <a:off x="5960059"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2" name="Rounded Rectangle 31"/>
          <p:cNvSpPr/>
          <p:nvPr/>
        </p:nvSpPr>
        <p:spPr>
          <a:xfrm>
            <a:off x="6142939"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25235"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252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2698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Book a Fre…</a:t>
            </a:r>
          </a:p>
        </p:txBody>
      </p:sp>
      <p:sp>
        <p:nvSpPr>
          <p:cNvPr id="36" name="TextBox 35"/>
          <p:cNvSpPr txBox="1"/>
          <p:nvPr/>
        </p:nvSpPr>
        <p:spPr>
          <a:xfrm>
            <a:off x="7799832"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7" name="Rounded Rectangle 36"/>
          <p:cNvSpPr/>
          <p:nvPr/>
        </p:nvSpPr>
        <p:spPr>
          <a:xfrm>
            <a:off x="7982712"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65008"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6500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6676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plain webs…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One Step at a Time</a:t>
            </a:r>
          </a:p>
        </p:txBody>
      </p:sp>
      <p:sp>
        <p:nvSpPr>
          <p:cNvPr id="6" name="Rounded Rectangle 5"/>
          <p:cNvSpPr/>
          <p:nvPr/>
        </p:nvSpPr>
        <p:spPr>
          <a:xfrm>
            <a:off x="365760" y="822960"/>
            <a:ext cx="86868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⑫ Finishing safely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Sign out + where to ask</a:t>
            </a:r>
          </a:p>
        </p:txBody>
      </p:sp>
      <p:sp>
        <p:nvSpPr>
          <p:cNvPr id="10" name="Rounded Rectangle 9"/>
          <p:cNvSpPr/>
          <p:nvPr/>
        </p:nvSpPr>
        <p:spPr>
          <a:xfrm>
            <a:off x="365760" y="1828800"/>
            <a:ext cx="11430000" cy="73152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Finish by signing out. Then all you need to know is where to ask when you get stuck — and you are ready.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2563EB"/>
                </a:solidFill>
                <a:latin typeface="Malgun Gothic"/>
              </a:rPr>
              <a:t>Do this</a:t>
            </a:r>
          </a:p>
        </p:txBody>
      </p:sp>
      <p:sp>
        <p:nvSpPr>
          <p:cNvPr id="13" name="TextBox 12"/>
          <p:cNvSpPr txBox="1"/>
          <p:nvPr/>
        </p:nvSpPr>
        <p:spPr>
          <a:xfrm>
            <a:off x="457200" y="3749040"/>
            <a:ext cx="5669280" cy="1923897"/>
          </a:xfrm>
          <a:prstGeom prst="rect">
            <a:avLst/>
          </a:prstGeom>
          <a:noFill/>
        </p:spPr>
        <p:txBody>
          <a:bodyPr wrap="square">
            <a:spAutoFit/>
          </a:bodyPr>
          <a:lstStyle/>
          <a:p>
            <a:pPr>
              <a:lnSpc>
                <a:spcPct val="115000"/>
              </a:lnSpc>
              <a:spcAft>
                <a:spcPts val="300"/>
              </a:spcAft>
            </a:pPr>
            <a:r>
              <a:rPr sz="700" b="1">
                <a:solidFill>
                  <a:srgbClr val="2563EB"/>
                </a:solidFill>
                <a:latin typeface="Malgun Gothic"/>
              </a:rPr>
              <a:t>● </a:t>
            </a:r>
            <a:r>
              <a:rPr sz="900">
                <a:solidFill>
                  <a:srgbClr val="334155"/>
                </a:solidFill>
                <a:latin typeface="Malgun Gothic"/>
              </a:rPr>
              <a:t>Click your name at the top right.</a:t>
            </a:r>
          </a:p>
          <a:p>
            <a:pPr>
              <a:lnSpc>
                <a:spcPct val="115000"/>
              </a:lnSpc>
              <a:spcAft>
                <a:spcPts val="300"/>
              </a:spcAft>
            </a:pPr>
            <a:r>
              <a:rPr sz="700" b="1">
                <a:solidFill>
                  <a:srgbClr val="2563EB"/>
                </a:solidFill>
                <a:latin typeface="Malgun Gothic"/>
              </a:rPr>
              <a:t>● </a:t>
            </a:r>
            <a:r>
              <a:rPr sz="900">
                <a:solidFill>
                  <a:srgbClr val="334155"/>
                </a:solidFill>
                <a:latin typeface="Malgun Gothic"/>
              </a:rPr>
              <a:t>Press Sign out.</a:t>
            </a:r>
          </a:p>
          <a:p>
            <a:pPr>
              <a:lnSpc>
                <a:spcPct val="115000"/>
              </a:lnSpc>
              <a:spcAft>
                <a:spcPts val="300"/>
              </a:spcAft>
            </a:pPr>
            <a:r>
              <a:rPr sz="700" b="1">
                <a:solidFill>
                  <a:srgbClr val="2563EB"/>
                </a:solidFill>
                <a:latin typeface="Malgun Gothic"/>
              </a:rPr>
              <a:t>● </a:t>
            </a:r>
            <a:r>
              <a:rPr sz="900">
                <a:solidFill>
                  <a:srgbClr val="334155"/>
                </a:solidFill>
                <a:latin typeface="Malgun Gothic"/>
              </a:rPr>
              <a:t>On a shared computer, close the browser window too.</a:t>
            </a:r>
          </a:p>
          <a:p>
            <a:pPr>
              <a:lnSpc>
                <a:spcPct val="115000"/>
              </a:lnSpc>
              <a:spcAft>
                <a:spcPts val="300"/>
              </a:spcAft>
            </a:pPr>
            <a:r>
              <a:rPr sz="700" b="1">
                <a:solidFill>
                  <a:srgbClr val="2563EB"/>
                </a:solidFill>
                <a:latin typeface="Malgun Gothic"/>
              </a:rPr>
              <a:t>● </a:t>
            </a:r>
            <a:r>
              <a:rPr sz="900">
                <a:solidFill>
                  <a:srgbClr val="334155"/>
                </a:solidFill>
                <a:latin typeface="Malgun Gothic"/>
              </a:rPr>
              <a:t>Stuck? Ask the A.i assistant at the bottom right.</a:t>
            </a:r>
          </a:p>
          <a:p>
            <a:pPr>
              <a:lnSpc>
                <a:spcPct val="115000"/>
              </a:lnSpc>
              <a:spcAft>
                <a:spcPts val="300"/>
              </a:spcAft>
            </a:pPr>
            <a:r>
              <a:rPr sz="700" b="1">
                <a:solidFill>
                  <a:srgbClr val="2563EB"/>
                </a:solidFill>
                <a:latin typeface="Malgun Gothic"/>
              </a:rPr>
              <a:t>● </a:t>
            </a:r>
            <a:r>
              <a:rPr sz="900">
                <a:solidFill>
                  <a:srgbClr val="334155"/>
                </a:solidFill>
                <a:latin typeface="Malgun Gothic"/>
              </a:rPr>
              <a:t>Still stuck? Message the KakaoTalk channel (10:00–23:00).</a:t>
            </a:r>
          </a:p>
        </p:txBody>
      </p:sp>
      <p:sp>
        <p:nvSpPr>
          <p:cNvPr id="14" name="Rounded Rectangle 13"/>
          <p:cNvSpPr/>
          <p:nvPr/>
        </p:nvSpPr>
        <p:spPr>
          <a:xfrm>
            <a:off x="457200" y="5764377"/>
            <a:ext cx="5669280" cy="1370457"/>
          </a:xfrm>
          <a:prstGeom prst="roundRect">
            <a:avLst/>
          </a:prstGeom>
          <a:solidFill>
            <a:srgbClr val="F4F7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10097"/>
            <a:ext cx="5394960" cy="274320"/>
          </a:xfrm>
          <a:prstGeom prst="rect">
            <a:avLst/>
          </a:prstGeom>
          <a:noFill/>
        </p:spPr>
        <p:txBody>
          <a:bodyPr wrap="square" anchor="t">
            <a:spAutoFit/>
          </a:bodyPr>
          <a:lstStyle/>
          <a:p>
            <a:pPr algn="l">
              <a:lnSpc>
                <a:spcPct val="100000"/>
              </a:lnSpc>
            </a:pPr>
            <a:r>
              <a:rPr sz="1100" b="1">
                <a:solidFill>
                  <a:srgbClr val="2563EB"/>
                </a:solidFill>
                <a:latin typeface="Malgun Gothic"/>
              </a:rPr>
              <a:t>✅ Just remember this</a:t>
            </a:r>
          </a:p>
        </p:txBody>
      </p:sp>
      <p:sp>
        <p:nvSpPr>
          <p:cNvPr id="16" name="TextBox 15"/>
          <p:cNvSpPr txBox="1"/>
          <p:nvPr/>
        </p:nvSpPr>
        <p:spPr>
          <a:xfrm>
            <a:off x="594360" y="6056985"/>
            <a:ext cx="5394960" cy="1041273"/>
          </a:xfrm>
          <a:prstGeom prst="rect">
            <a:avLst/>
          </a:prstGeom>
          <a:noFill/>
        </p:spPr>
        <p:txBody>
          <a:bodyPr wrap="square">
            <a:spAutoFit/>
          </a:bodyPr>
          <a:lstStyle/>
          <a:p>
            <a:pPr>
              <a:lnSpc>
                <a:spcPct val="115000"/>
              </a:lnSpc>
              <a:spcAft>
                <a:spcPts val="100"/>
              </a:spcAft>
            </a:pPr>
            <a:r>
              <a:rPr sz="650" b="1">
                <a:solidFill>
                  <a:srgbClr val="2563EB"/>
                </a:solidFill>
                <a:latin typeface="Malgun Gothic"/>
              </a:rPr>
              <a:t>● </a:t>
            </a:r>
            <a:r>
              <a:rPr sz="850">
                <a:solidFill>
                  <a:srgbClr val="334155"/>
                </a:solidFill>
                <a:latin typeface="Malgun Gothic"/>
              </a:rPr>
              <a:t>Signing out is the habit that protects personal data.</a:t>
            </a:r>
          </a:p>
          <a:p>
            <a:pPr>
              <a:lnSpc>
                <a:spcPct val="115000"/>
              </a:lnSpc>
              <a:spcAft>
                <a:spcPts val="100"/>
              </a:spcAft>
            </a:pPr>
            <a:r>
              <a:rPr sz="650" b="1">
                <a:solidFill>
                  <a:srgbClr val="2563EB"/>
                </a:solidFill>
                <a:latin typeface="Malgun Gothic"/>
              </a:rPr>
              <a:t>● </a:t>
            </a:r>
            <a:r>
              <a:rPr sz="850">
                <a:solidFill>
                  <a:srgbClr val="334155"/>
                </a:solidFill>
                <a:latin typeface="Malgun Gothic"/>
              </a:rPr>
              <a:t>If the screen looks wrong, try refresh (Ctrl+F5) first.</a:t>
            </a:r>
          </a:p>
          <a:p>
            <a:pPr>
              <a:lnSpc>
                <a:spcPct val="115000"/>
              </a:lnSpc>
              <a:spcAft>
                <a:spcPts val="100"/>
              </a:spcAft>
            </a:pPr>
            <a:r>
              <a:rPr sz="650" b="1">
                <a:solidFill>
                  <a:srgbClr val="2563EB"/>
                </a:solidFill>
                <a:latin typeface="Malgun Gothic"/>
              </a:rPr>
              <a:t>● </a:t>
            </a:r>
            <a:r>
              <a:rPr sz="850">
                <a:solidFill>
                  <a:srgbClr val="334155"/>
                </a:solidFill>
                <a:latin typeface="Malgun Gothic"/>
              </a:rPr>
              <a:t>For enquiries, KakaoTalk is fastest.</a:t>
            </a:r>
          </a:p>
        </p:txBody>
      </p:sp>
      <p:sp>
        <p:nvSpPr>
          <p:cNvPr id="17" name="Rounded Rectangle 16"/>
          <p:cNvSpPr/>
          <p:nvPr/>
        </p:nvSpPr>
        <p:spPr>
          <a:xfrm>
            <a:off x="365760" y="6172200"/>
            <a:ext cx="11457432" cy="521208"/>
          </a:xfrm>
          <a:prstGeom prst="roundRect">
            <a:avLst/>
          </a:prstGeom>
          <a:solidFill>
            <a:srgbClr val="FFF7E6"/>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Easier way · Do not experiment with buttons you do not recognise — ask first. Payments, refunds and deletions are especially hard to undo.</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58644" y="2670048"/>
            <a:ext cx="141366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040940"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409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342692"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your name</a:t>
            </a:r>
          </a:p>
        </p:txBody>
      </p:sp>
      <p:sp>
        <p:nvSpPr>
          <p:cNvPr id="26" name="TextBox 25"/>
          <p:cNvSpPr txBox="1"/>
          <p:nvPr/>
        </p:nvSpPr>
        <p:spPr>
          <a:xfrm>
            <a:off x="3372307"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27" name="Rounded Rectangle 26"/>
          <p:cNvSpPr/>
          <p:nvPr/>
        </p:nvSpPr>
        <p:spPr>
          <a:xfrm>
            <a:off x="3555187" y="2670048"/>
            <a:ext cx="1327708"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37483"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374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939235"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Sign out</a:t>
            </a:r>
          </a:p>
        </p:txBody>
      </p:sp>
      <p:sp>
        <p:nvSpPr>
          <p:cNvPr id="31" name="TextBox 30"/>
          <p:cNvSpPr txBox="1"/>
          <p:nvPr/>
        </p:nvSpPr>
        <p:spPr>
          <a:xfrm>
            <a:off x="4882896"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2" name="Rounded Rectangle 31"/>
          <p:cNvSpPr/>
          <p:nvPr/>
        </p:nvSpPr>
        <p:spPr>
          <a:xfrm>
            <a:off x="5065776" y="2670048"/>
            <a:ext cx="1570939"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148072"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480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44982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close the…</a:t>
            </a:r>
          </a:p>
        </p:txBody>
      </p:sp>
      <p:sp>
        <p:nvSpPr>
          <p:cNvPr id="36" name="TextBox 35"/>
          <p:cNvSpPr txBox="1"/>
          <p:nvPr/>
        </p:nvSpPr>
        <p:spPr>
          <a:xfrm>
            <a:off x="6636715"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37" name="Rounded Rectangle 36"/>
          <p:cNvSpPr/>
          <p:nvPr/>
        </p:nvSpPr>
        <p:spPr>
          <a:xfrm>
            <a:off x="6819595" y="2670048"/>
            <a:ext cx="1656892"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901891"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01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20364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assist…</a:t>
            </a:r>
          </a:p>
        </p:txBody>
      </p:sp>
      <p:sp>
        <p:nvSpPr>
          <p:cNvPr id="41" name="TextBox 40"/>
          <p:cNvSpPr txBox="1"/>
          <p:nvPr/>
        </p:nvSpPr>
        <p:spPr>
          <a:xfrm>
            <a:off x="8476488" y="2670048"/>
            <a:ext cx="182880" cy="457200"/>
          </a:xfrm>
          <a:prstGeom prst="rect">
            <a:avLst/>
          </a:prstGeom>
          <a:noFill/>
        </p:spPr>
        <p:txBody>
          <a:bodyPr wrap="square" anchor="ctr">
            <a:spAutoFit/>
          </a:bodyPr>
          <a:lstStyle/>
          <a:p>
            <a:pPr algn="ctr">
              <a:lnSpc>
                <a:spcPct val="100000"/>
              </a:lnSpc>
            </a:pPr>
            <a:r>
              <a:rPr sz="1500" b="1">
                <a:solidFill>
                  <a:srgbClr val="2563EB"/>
                </a:solidFill>
                <a:latin typeface="Malgun Gothic"/>
              </a:rPr>
              <a:t>›</a:t>
            </a:r>
          </a:p>
        </p:txBody>
      </p:sp>
      <p:sp>
        <p:nvSpPr>
          <p:cNvPr id="42" name="Rounded Rectangle 41"/>
          <p:cNvSpPr/>
          <p:nvPr/>
        </p:nvSpPr>
        <p:spPr>
          <a:xfrm>
            <a:off x="8659367" y="2670048"/>
            <a:ext cx="1570939" cy="45720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741663" y="2761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416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9043415"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KakaoTalk…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Summary · Data</a:t>
            </a:r>
          </a:p>
        </p:txBody>
      </p:sp>
      <p:sp>
        <p:nvSpPr>
          <p:cNvPr id="6" name="Rounded Rectangle 5"/>
          <p:cNvSpPr/>
          <p:nvPr/>
        </p:nvSpPr>
        <p:spPr>
          <a:xfrm>
            <a:off x="365760" y="841248"/>
            <a:ext cx="658368"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13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2563EB"/>
                </a:solidFill>
                <a:latin typeface="Malgun Gothic"/>
              </a:rPr>
              <a:t>📋 🧰 What you can do on day one</a:t>
            </a:r>
          </a:p>
        </p:txBody>
      </p:sp>
      <p:graphicFrame>
        <p:nvGraphicFramePr>
          <p:cNvPr id="9" name="Table 8"/>
          <p:cNvGraphicFramePr>
            <a:graphicFrameLocks noGrp="1"/>
          </p:cNvGraphicFramePr>
          <p:nvPr/>
        </p:nvGraphicFramePr>
        <p:xfrm>
          <a:off x="365760" y="1463040"/>
          <a:ext cx="11460175" cy="5120640"/>
        </p:xfrm>
        <a:graphic>
          <a:graphicData uri="http://schemas.openxmlformats.org/drawingml/2006/table">
            <a:tbl>
              <a:tblPr firstRow="1" bandRow="1">
                <a:tableStyleId>{5C22544A-7EE6-4342-B048-85BDC9FD1C3A}</a:tableStyleId>
              </a:tblPr>
              <a:tblGrid>
                <a:gridCol w="2865043"/>
                <a:gridCol w="2865043"/>
                <a:gridCol w="2865043"/>
                <a:gridCol w="2865046"/>
              </a:tblGrid>
              <a:tr h="426720">
                <a:tc>
                  <a:txBody>
                    <a:bodyPr/>
                    <a:lstStyle/>
                    <a:p>
                      <a:pPr algn="ctr"/>
                      <a:r>
                        <a:rPr sz="1300" b="1">
                          <a:solidFill>
                            <a:srgbClr val="FFFFFF"/>
                          </a:solidFill>
                          <a:latin typeface="Malgun Gothic"/>
                        </a:rPr>
                        <a:t>Task</a:t>
                      </a:r>
                    </a:p>
                  </a:txBody>
                  <a:tcPr>
                    <a:solidFill>
                      <a:srgbClr val="2563EB"/>
                    </a:solidFill>
                  </a:tcPr>
                </a:tc>
                <a:tc>
                  <a:txBody>
                    <a:bodyPr/>
                    <a:lstStyle/>
                    <a:p>
                      <a:pPr algn="ctr"/>
                      <a:r>
                        <a:rPr sz="1300" b="1">
                          <a:solidFill>
                            <a:srgbClr val="FFFFFF"/>
                          </a:solidFill>
                          <a:latin typeface="Malgun Gothic"/>
                        </a:rPr>
                        <a:t>Where</a:t>
                      </a:r>
                    </a:p>
                  </a:txBody>
                  <a:tcPr>
                    <a:solidFill>
                      <a:srgbClr val="2563EB"/>
                    </a:solidFill>
                  </a:tcPr>
                </a:tc>
                <a:tc>
                  <a:txBody>
                    <a:bodyPr/>
                    <a:lstStyle/>
                    <a:p>
                      <a:pPr algn="ctr"/>
                      <a:r>
                        <a:rPr sz="1300" b="1">
                          <a:solidFill>
                            <a:srgbClr val="FFFFFF"/>
                          </a:solidFill>
                          <a:latin typeface="Malgun Gothic"/>
                        </a:rPr>
                        <a:t>What it does</a:t>
                      </a:r>
                    </a:p>
                  </a:txBody>
                  <a:tcPr>
                    <a:solidFill>
                      <a:srgbClr val="2563EB"/>
                    </a:solidFill>
                  </a:tcPr>
                </a:tc>
                <a:tc>
                  <a:txBody>
                    <a:bodyPr/>
                    <a:lstStyle/>
                    <a:p>
                      <a:pPr algn="ctr"/>
                      <a:r>
                        <a:rPr sz="1300" b="1">
                          <a:solidFill>
                            <a:srgbClr val="FFFFFF"/>
                          </a:solidFill>
                          <a:latin typeface="Malgun Gothic"/>
                        </a:rPr>
                        <a:t>Time</a:t>
                      </a:r>
                    </a:p>
                  </a:txBody>
                  <a:tcPr>
                    <a:solidFill>
                      <a:srgbClr val="2563EB"/>
                    </a:solidFill>
                  </a:tcPr>
                </a:tc>
              </a:tr>
              <a:tr h="426720">
                <a:tc>
                  <a:txBody>
                    <a:bodyPr/>
                    <a:lstStyle/>
                    <a:p>
                      <a:pPr algn="l"/>
                      <a:r>
                        <a:rPr sz="1200" b="1">
                          <a:solidFill>
                            <a:srgbClr val="334155"/>
                          </a:solidFill>
                          <a:latin typeface="Malgun Gothic"/>
                        </a:rPr>
                        <a:t>Sign in</a:t>
                      </a:r>
                    </a:p>
                  </a:txBody>
                  <a:tcPr>
                    <a:solidFill>
                      <a:srgbClr val="FFFFFF"/>
                    </a:solidFill>
                  </a:tcPr>
                </a:tc>
                <a:tc>
                  <a:txBody>
                    <a:bodyPr/>
                    <a:lstStyle/>
                    <a:p>
                      <a:pPr algn="ctr"/>
                      <a:r>
                        <a:rPr sz="1200">
                          <a:solidFill>
                            <a:srgbClr val="334155"/>
                          </a:solidFill>
                          <a:latin typeface="Malgun Gothic"/>
                        </a:rPr>
                        <a:t>admin.mangoi.co.kr</a:t>
                      </a:r>
                    </a:p>
                  </a:txBody>
                  <a:tcPr>
                    <a:solidFill>
                      <a:srgbClr val="FFFFFF"/>
                    </a:solidFill>
                  </a:tcPr>
                </a:tc>
                <a:tc>
                  <a:txBody>
                    <a:bodyPr/>
                    <a:lstStyle/>
                    <a:p>
                      <a:pPr algn="ctr"/>
                      <a:r>
                        <a:rPr sz="1200">
                          <a:solidFill>
                            <a:srgbClr val="334155"/>
                          </a:solidFill>
                          <a:latin typeface="Malgun Gothic"/>
                        </a:rPr>
                        <a:t>Enter your ID and password</a:t>
                      </a:r>
                    </a:p>
                  </a:txBody>
                  <a:tcPr>
                    <a:solidFill>
                      <a:srgbClr val="FFFFFF"/>
                    </a:solidFill>
                  </a:tcPr>
                </a:tc>
                <a:tc>
                  <a:txBody>
                    <a:bodyPr/>
                    <a:lstStyle/>
                    <a:p>
                      <a:pPr algn="ctr"/>
                      <a:r>
                        <a:rPr sz="1200">
                          <a:solidFill>
                            <a:srgbClr val="334155"/>
                          </a:solidFill>
                          <a:latin typeface="Malgun Gothic"/>
                        </a:rPr>
                        <a:t>1 min</a:t>
                      </a:r>
                    </a:p>
                  </a:txBody>
                  <a:tcPr>
                    <a:solidFill>
                      <a:srgbClr val="FFFFFF"/>
                    </a:solidFill>
                  </a:tcPr>
                </a:tc>
              </a:tr>
              <a:tr h="426720">
                <a:tc>
                  <a:txBody>
                    <a:bodyPr/>
                    <a:lstStyle/>
                    <a:p>
                      <a:pPr algn="l"/>
                      <a:r>
                        <a:rPr sz="1200" b="1">
                          <a:solidFill>
                            <a:srgbClr val="334155"/>
                          </a:solidFill>
                          <a:latin typeface="Malgun Gothic"/>
                        </a:rPr>
                        <a:t>Learn the screen</a:t>
                      </a:r>
                    </a:p>
                  </a:txBody>
                  <a:tcPr>
                    <a:solidFill>
                      <a:srgbClr val="F8FAFC"/>
                    </a:solidFill>
                  </a:tcPr>
                </a:tc>
                <a:tc>
                  <a:txBody>
                    <a:bodyPr/>
                    <a:lstStyle/>
                    <a:p>
                      <a:pPr algn="ctr"/>
                      <a:r>
                        <a:rPr sz="1200">
                          <a:solidFill>
                            <a:srgbClr val="334155"/>
                          </a:solidFill>
                          <a:latin typeface="Malgun Gothic"/>
                        </a:rPr>
                        <a:t>Home screen</a:t>
                      </a:r>
                    </a:p>
                  </a:txBody>
                  <a:tcPr>
                    <a:solidFill>
                      <a:srgbClr val="F8FAFC"/>
                    </a:solidFill>
                  </a:tcPr>
                </a:tc>
                <a:tc>
                  <a:txBody>
                    <a:bodyPr/>
                    <a:lstStyle/>
                    <a:p>
                      <a:pPr algn="ctr"/>
                      <a:r>
                        <a:rPr sz="1200">
                          <a:solidFill>
                            <a:srgbClr val="334155"/>
                          </a:solidFill>
                          <a:latin typeface="Malgun Gothic"/>
                        </a:rPr>
                        <a:t>Identify top, left and middle</a:t>
                      </a:r>
                    </a:p>
                  </a:txBody>
                  <a:tcPr>
                    <a:solidFill>
                      <a:srgbClr val="F8FAFC"/>
                    </a:solidFill>
                  </a:tcPr>
                </a:tc>
                <a:tc>
                  <a:txBody>
                    <a:bodyPr/>
                    <a:lstStyle/>
                    <a:p>
                      <a:pPr algn="ctr"/>
                      <a:r>
                        <a:rPr sz="1200">
                          <a:solidFill>
                            <a:srgbClr val="334155"/>
                          </a:solidFill>
                          <a:latin typeface="Malgun Gothic"/>
                        </a:rPr>
                        <a:t>3 min</a:t>
                      </a:r>
                    </a:p>
                  </a:txBody>
                  <a:tcPr>
                    <a:solidFill>
                      <a:srgbClr val="F8FAFC"/>
                    </a:solidFill>
                  </a:tcPr>
                </a:tc>
              </a:tr>
              <a:tr h="426720">
                <a:tc>
                  <a:txBody>
                    <a:bodyPr/>
                    <a:lstStyle/>
                    <a:p>
                      <a:pPr algn="l"/>
                      <a:r>
                        <a:rPr sz="1200" b="1">
                          <a:solidFill>
                            <a:srgbClr val="334155"/>
                          </a:solidFill>
                          <a:latin typeface="Malgun Gothic"/>
                        </a:rPr>
                        <a:t>Find a feature</a:t>
                      </a:r>
                    </a:p>
                  </a:txBody>
                  <a:tcPr>
                    <a:solidFill>
                      <a:srgbClr val="FFFFFF"/>
                    </a:solidFill>
                  </a:tcPr>
                </a:tc>
                <a:tc>
                  <a:txBody>
                    <a:bodyPr/>
                    <a:lstStyle/>
                    <a:p>
                      <a:pPr algn="ctr"/>
                      <a:r>
                        <a:rPr sz="1200">
                          <a:solidFill>
                            <a:srgbClr val="334155"/>
                          </a:solidFill>
                          <a:latin typeface="Malgun Gothic"/>
                        </a:rPr>
                        <a:t>Search box</a:t>
                      </a:r>
                    </a:p>
                  </a:txBody>
                  <a:tcPr>
                    <a:solidFill>
                      <a:srgbClr val="FFFFFF"/>
                    </a:solidFill>
                  </a:tcPr>
                </a:tc>
                <a:tc>
                  <a:txBody>
                    <a:bodyPr/>
                    <a:lstStyle/>
                    <a:p>
                      <a:pPr algn="ctr"/>
                      <a:r>
                        <a:rPr sz="1200">
                          <a:solidFill>
                            <a:srgbClr val="334155"/>
                          </a:solidFill>
                          <a:latin typeface="Malgun Gothic"/>
                        </a:rPr>
                        <a:t>Open any feature with one word</a:t>
                      </a:r>
                    </a:p>
                  </a:txBody>
                  <a:tcPr>
                    <a:solidFill>
                      <a:srgbClr val="FFFFFF"/>
                    </a:solidFill>
                  </a:tcPr>
                </a:tc>
                <a:tc>
                  <a:txBody>
                    <a:bodyPr/>
                    <a:lstStyle/>
                    <a:p>
                      <a:pPr algn="ctr"/>
                      <a:r>
                        <a:rPr sz="1200">
                          <a:solidFill>
                            <a:srgbClr val="334155"/>
                          </a:solidFill>
                          <a:latin typeface="Malgun Gothic"/>
                        </a:rPr>
                        <a:t>10 sec</a:t>
                      </a:r>
                    </a:p>
                  </a:txBody>
                  <a:tcPr>
                    <a:solidFill>
                      <a:srgbClr val="FFFFFF"/>
                    </a:solidFill>
                  </a:tcPr>
                </a:tc>
              </a:tr>
              <a:tr h="426720">
                <a:tc>
                  <a:txBody>
                    <a:bodyPr/>
                    <a:lstStyle/>
                    <a:p>
                      <a:pPr algn="l"/>
                      <a:r>
                        <a:rPr sz="1200" b="1">
                          <a:solidFill>
                            <a:srgbClr val="334155"/>
                          </a:solidFill>
                          <a:latin typeface="Malgun Gothic"/>
                        </a:rPr>
                        <a:t>View evaluations</a:t>
                      </a:r>
                    </a:p>
                  </a:txBody>
                  <a:tcPr>
                    <a:solidFill>
                      <a:srgbClr val="F8FAFC"/>
                    </a:solidFill>
                  </a:tcPr>
                </a:tc>
                <a:tc>
                  <a:txBody>
                    <a:bodyPr/>
                    <a:lstStyle/>
                    <a:p>
                      <a:pPr algn="ctr"/>
                      <a:r>
                        <a:rPr sz="1200">
                          <a:solidFill>
                            <a:srgbClr val="334155"/>
                          </a:solidFill>
                          <a:latin typeface="Malgun Gothic"/>
                        </a:rPr>
                        <a:t>Evaluations</a:t>
                      </a:r>
                    </a:p>
                  </a:txBody>
                  <a:tcPr>
                    <a:solidFill>
                      <a:srgbClr val="F8FAFC"/>
                    </a:solidFill>
                  </a:tcPr>
                </a:tc>
                <a:tc>
                  <a:txBody>
                    <a:bodyPr/>
                    <a:lstStyle/>
                    <a:p>
                      <a:pPr algn="ctr"/>
                      <a:r>
                        <a:rPr sz="1200">
                          <a:solidFill>
                            <a:srgbClr val="334155"/>
                          </a:solidFill>
                          <a:latin typeface="Malgun Gothic"/>
                        </a:rPr>
                        <a:t>Check a student's lesson records</a:t>
                      </a:r>
                    </a:p>
                  </a:txBody>
                  <a:tcPr>
                    <a:solidFill>
                      <a:srgbClr val="F8FAFC"/>
                    </a:solidFill>
                  </a:tcPr>
                </a:tc>
                <a:tc>
                  <a:txBody>
                    <a:bodyPr/>
                    <a:lstStyle/>
                    <a:p>
                      <a:pPr algn="ctr"/>
                      <a:r>
                        <a:rPr sz="1200">
                          <a:solidFill>
                            <a:srgbClr val="334155"/>
                          </a:solidFill>
                          <a:latin typeface="Malgun Gothic"/>
                        </a:rPr>
                        <a:t>2 min</a:t>
                      </a:r>
                    </a:p>
                  </a:txBody>
                  <a:tcPr>
                    <a:solidFill>
                      <a:srgbClr val="F8FAFC"/>
                    </a:solidFill>
                  </a:tcPr>
                </a:tc>
              </a:tr>
              <a:tr h="426720">
                <a:tc>
                  <a:txBody>
                    <a:bodyPr/>
                    <a:lstStyle/>
                    <a:p>
                      <a:pPr algn="l"/>
                      <a:r>
                        <a:rPr sz="1200" b="1">
                          <a:solidFill>
                            <a:srgbClr val="334155"/>
                          </a:solidFill>
                          <a:latin typeface="Malgun Gothic"/>
                        </a:rPr>
                        <a:t>Send a notice</a:t>
                      </a:r>
                    </a:p>
                  </a:txBody>
                  <a:tcPr>
                    <a:solidFill>
                      <a:srgbClr val="FFFFFF"/>
                    </a:solidFill>
                  </a:tcPr>
                </a:tc>
                <a:tc>
                  <a:txBody>
                    <a:bodyPr/>
                    <a:lstStyle/>
                    <a:p>
                      <a:pPr algn="ctr"/>
                      <a:r>
                        <a:rPr sz="1200">
                          <a:solidFill>
                            <a:srgbClr val="334155"/>
                          </a:solidFill>
                          <a:latin typeface="Malgun Gothic"/>
                        </a:rPr>
                        <a:t>Notification Center</a:t>
                      </a:r>
                    </a:p>
                  </a:txBody>
                  <a:tcPr>
                    <a:solidFill>
                      <a:srgbClr val="FFFFFF"/>
                    </a:solidFill>
                  </a:tcPr>
                </a:tc>
                <a:tc>
                  <a:txBody>
                    <a:bodyPr/>
                    <a:lstStyle/>
                    <a:p>
                      <a:pPr algn="ctr"/>
                      <a:r>
                        <a:rPr sz="1200">
                          <a:solidFill>
                            <a:srgbClr val="334155"/>
                          </a:solidFill>
                          <a:latin typeface="Malgun Gothic"/>
                        </a:rPr>
                        <a:t>Choose recipients, preview, send</a:t>
                      </a:r>
                    </a:p>
                  </a:txBody>
                  <a:tcPr>
                    <a:solidFill>
                      <a:srgbClr val="FFFFFF"/>
                    </a:solidFill>
                  </a:tcPr>
                </a:tc>
                <a:tc>
                  <a:txBody>
                    <a:bodyPr/>
                    <a:lstStyle/>
                    <a:p>
                      <a:pPr algn="ctr"/>
                      <a:r>
                        <a:rPr sz="1200">
                          <a:solidFill>
                            <a:srgbClr val="334155"/>
                          </a:solidFill>
                          <a:latin typeface="Malgun Gothic"/>
                        </a:rPr>
                        <a:t>5 min</a:t>
                      </a:r>
                    </a:p>
                  </a:txBody>
                  <a:tcPr>
                    <a:solidFill>
                      <a:srgbClr val="FFFFFF"/>
                    </a:solidFill>
                  </a:tcPr>
                </a:tc>
              </a:tr>
              <a:tr h="426720">
                <a:tc>
                  <a:txBody>
                    <a:bodyPr/>
                    <a:lstStyle/>
                    <a:p>
                      <a:pPr algn="l"/>
                      <a:r>
                        <a:rPr sz="1200" b="1">
                          <a:solidFill>
                            <a:srgbClr val="334155"/>
                          </a:solidFill>
                          <a:latin typeface="Malgun Gothic"/>
                        </a:rPr>
                        <a:t>Find a student</a:t>
                      </a:r>
                    </a:p>
                  </a:txBody>
                  <a:tcPr>
                    <a:solidFill>
                      <a:srgbClr val="F8FAFC"/>
                    </a:solidFill>
                  </a:tcPr>
                </a:tc>
                <a:tc>
                  <a:txBody>
                    <a:bodyPr/>
                    <a:lstStyle/>
                    <a:p>
                      <a:pPr algn="ctr"/>
                      <a:r>
                        <a:rPr sz="1200">
                          <a:solidFill>
                            <a:srgbClr val="334155"/>
                          </a:solidFill>
                          <a:latin typeface="Malgun Gothic"/>
                        </a:rPr>
                        <a:t>Students / Parents</a:t>
                      </a:r>
                    </a:p>
                  </a:txBody>
                  <a:tcPr>
                    <a:solidFill>
                      <a:srgbClr val="F8FAFC"/>
                    </a:solidFill>
                  </a:tcPr>
                </a:tc>
                <a:tc>
                  <a:txBody>
                    <a:bodyPr/>
                    <a:lstStyle/>
                    <a:p>
                      <a:pPr algn="ctr"/>
                      <a:r>
                        <a:rPr sz="1200">
                          <a:solidFill>
                            <a:srgbClr val="334155"/>
                          </a:solidFill>
                          <a:latin typeface="Malgun Gothic"/>
                        </a:rPr>
                        <a:t>Search by name, check contact</a:t>
                      </a:r>
                    </a:p>
                  </a:txBody>
                  <a:tcPr>
                    <a:solidFill>
                      <a:srgbClr val="F8FAFC"/>
                    </a:solidFill>
                  </a:tcPr>
                </a:tc>
                <a:tc>
                  <a:txBody>
                    <a:bodyPr/>
                    <a:lstStyle/>
                    <a:p>
                      <a:pPr algn="ctr"/>
                      <a:r>
                        <a:rPr sz="1200">
                          <a:solidFill>
                            <a:srgbClr val="334155"/>
                          </a:solidFill>
                          <a:latin typeface="Malgun Gothic"/>
                        </a:rPr>
                        <a:t>1 min</a:t>
                      </a:r>
                    </a:p>
                  </a:txBody>
                  <a:tcPr>
                    <a:solidFill>
                      <a:srgbClr val="F8FAFC"/>
                    </a:solidFill>
                  </a:tcPr>
                </a:tc>
              </a:tr>
              <a:tr h="426720">
                <a:tc>
                  <a:txBody>
                    <a:bodyPr/>
                    <a:lstStyle/>
                    <a:p>
                      <a:pPr algn="l"/>
                      <a:r>
                        <a:rPr sz="1200" b="1">
                          <a:solidFill>
                            <a:srgbClr val="334155"/>
                          </a:solidFill>
                          <a:latin typeface="Malgun Gothic"/>
                        </a:rPr>
                        <a:t>Weekly report</a:t>
                      </a:r>
                    </a:p>
                  </a:txBody>
                  <a:tcPr>
                    <a:solidFill>
                      <a:srgbClr val="FFFFFF"/>
                    </a:solidFill>
                  </a:tcPr>
                </a:tc>
                <a:tc>
                  <a:txBody>
                    <a:bodyPr/>
                    <a:lstStyle/>
                    <a:p>
                      <a:pPr algn="ctr"/>
                      <a:r>
                        <a:rPr sz="1200">
                          <a:solidFill>
                            <a:srgbClr val="334155"/>
                          </a:solidFill>
                          <a:latin typeface="Malgun Gothic"/>
                        </a:rPr>
                        <a:t>Parent Weekly Report</a:t>
                      </a:r>
                    </a:p>
                  </a:txBody>
                  <a:tcPr>
                    <a:solidFill>
                      <a:srgbClr val="FFFFFF"/>
                    </a:solidFill>
                  </a:tcPr>
                </a:tc>
                <a:tc>
                  <a:txBody>
                    <a:bodyPr/>
                    <a:lstStyle/>
                    <a:p>
                      <a:pPr algn="ctr"/>
                      <a:r>
                        <a:rPr sz="1200">
                          <a:solidFill>
                            <a:srgbClr val="334155"/>
                          </a:solidFill>
                          <a:latin typeface="Malgun Gothic"/>
                        </a:rPr>
                        <a:t>Preview and test-send</a:t>
                      </a:r>
                    </a:p>
                  </a:txBody>
                  <a:tcPr>
                    <a:solidFill>
                      <a:srgbClr val="FFFFFF"/>
                    </a:solidFill>
                  </a:tcPr>
                </a:tc>
                <a:tc>
                  <a:txBody>
                    <a:bodyPr/>
                    <a:lstStyle/>
                    <a:p>
                      <a:pPr algn="ctr"/>
                      <a:r>
                        <a:rPr sz="1200">
                          <a:solidFill>
                            <a:srgbClr val="334155"/>
                          </a:solidFill>
                          <a:latin typeface="Malgun Gothic"/>
                        </a:rPr>
                        <a:t>5 min</a:t>
                      </a:r>
                    </a:p>
                  </a:txBody>
                  <a:tcPr>
                    <a:solidFill>
                      <a:srgbClr val="FFFFFF"/>
                    </a:solidFill>
                  </a:tcPr>
                </a:tc>
              </a:tr>
              <a:tr h="426720">
                <a:tc>
                  <a:txBody>
                    <a:bodyPr/>
                    <a:lstStyle/>
                    <a:p>
                      <a:pPr algn="l"/>
                      <a:r>
                        <a:rPr sz="1200" b="1">
                          <a:solidFill>
                            <a:srgbClr val="334155"/>
                          </a:solidFill>
                          <a:latin typeface="Malgun Gothic"/>
                        </a:rPr>
                        <a:t>View teachers</a:t>
                      </a:r>
                    </a:p>
                  </a:txBody>
                  <a:tcPr>
                    <a:solidFill>
                      <a:srgbClr val="F8FAFC"/>
                    </a:solidFill>
                  </a:tcPr>
                </a:tc>
                <a:tc>
                  <a:txBody>
                    <a:bodyPr/>
                    <a:lstStyle/>
                    <a:p>
                      <a:pPr algn="ctr"/>
                      <a:r>
                        <a:rPr sz="1200">
                          <a:solidFill>
                            <a:srgbClr val="334155"/>
                          </a:solidFill>
                          <a:latin typeface="Malgun Gothic"/>
                        </a:rPr>
                        <a:t>Teachers</a:t>
                      </a:r>
                    </a:p>
                  </a:txBody>
                  <a:tcPr>
                    <a:solidFill>
                      <a:srgbClr val="F8FAFC"/>
                    </a:solidFill>
                  </a:tcPr>
                </a:tc>
                <a:tc>
                  <a:txBody>
                    <a:bodyPr/>
                    <a:lstStyle/>
                    <a:p>
                      <a:pPr algn="ctr"/>
                      <a:r>
                        <a:rPr sz="1200">
                          <a:solidFill>
                            <a:srgbClr val="334155"/>
                          </a:solidFill>
                          <a:latin typeface="Malgun Gothic"/>
                        </a:rPr>
                        <a:t>Filter the roster</a:t>
                      </a:r>
                    </a:p>
                  </a:txBody>
                  <a:tcPr>
                    <a:solidFill>
                      <a:srgbClr val="F8FAFC"/>
                    </a:solidFill>
                  </a:tcPr>
                </a:tc>
                <a:tc>
                  <a:txBody>
                    <a:bodyPr/>
                    <a:lstStyle/>
                    <a:p>
                      <a:pPr algn="ctr"/>
                      <a:r>
                        <a:rPr sz="1200">
                          <a:solidFill>
                            <a:srgbClr val="334155"/>
                          </a:solidFill>
                          <a:latin typeface="Malgun Gothic"/>
                        </a:rPr>
                        <a:t>2 min</a:t>
                      </a:r>
                    </a:p>
                  </a:txBody>
                  <a:tcPr>
                    <a:solidFill>
                      <a:srgbClr val="F8FAFC"/>
                    </a:solidFill>
                  </a:tcPr>
                </a:tc>
              </a:tr>
              <a:tr h="426720">
                <a:tc>
                  <a:txBody>
                    <a:bodyPr/>
                    <a:lstStyle/>
                    <a:p>
                      <a:pPr algn="l"/>
                      <a:r>
                        <a:rPr sz="1200" b="1">
                          <a:solidFill>
                            <a:srgbClr val="334155"/>
                          </a:solidFill>
                          <a:latin typeface="Malgun Gothic"/>
                        </a:rPr>
                        <a:t>Check payments</a:t>
                      </a:r>
                    </a:p>
                  </a:txBody>
                  <a:tcPr>
                    <a:solidFill>
                      <a:srgbClr val="FFFFFF"/>
                    </a:solidFill>
                  </a:tcPr>
                </a:tc>
                <a:tc>
                  <a:txBody>
                    <a:bodyPr/>
                    <a:lstStyle/>
                    <a:p>
                      <a:pPr algn="ctr"/>
                      <a:r>
                        <a:rPr sz="1200">
                          <a:solidFill>
                            <a:srgbClr val="334155"/>
                          </a:solidFill>
                          <a:latin typeface="Malgun Gothic"/>
                        </a:rPr>
                        <a:t>Accounting / Points</a:t>
                      </a:r>
                    </a:p>
                  </a:txBody>
                  <a:tcPr>
                    <a:solidFill>
                      <a:srgbClr val="FFFFFF"/>
                    </a:solidFill>
                  </a:tcPr>
                </a:tc>
                <a:tc>
                  <a:txBody>
                    <a:bodyPr/>
                    <a:lstStyle/>
                    <a:p>
                      <a:pPr algn="ctr"/>
                      <a:r>
                        <a:rPr sz="1200">
                          <a:solidFill>
                            <a:srgbClr val="334155"/>
                          </a:solidFill>
                          <a:latin typeface="Malgun Gothic"/>
                        </a:rPr>
                        <a:t>Review payments and refunds</a:t>
                      </a:r>
                    </a:p>
                  </a:txBody>
                  <a:tcPr>
                    <a:solidFill>
                      <a:srgbClr val="FFFFFF"/>
                    </a:solidFill>
                  </a:tcPr>
                </a:tc>
                <a:tc>
                  <a:txBody>
                    <a:bodyPr/>
                    <a:lstStyle/>
                    <a:p>
                      <a:pPr algn="ctr"/>
                      <a:r>
                        <a:rPr sz="1200">
                          <a:solidFill>
                            <a:srgbClr val="334155"/>
                          </a:solidFill>
                          <a:latin typeface="Malgun Gothic"/>
                        </a:rPr>
                        <a:t>3 min</a:t>
                      </a:r>
                    </a:p>
                  </a:txBody>
                  <a:tcPr>
                    <a:solidFill>
                      <a:srgbClr val="FFFFFF"/>
                    </a:solidFill>
                  </a:tcPr>
                </a:tc>
              </a:tr>
              <a:tr h="426720">
                <a:tc>
                  <a:txBody>
                    <a:bodyPr/>
                    <a:lstStyle/>
                    <a:p>
                      <a:pPr algn="l"/>
                      <a:r>
                        <a:rPr sz="1200" b="1">
                          <a:solidFill>
                            <a:srgbClr val="334155"/>
                          </a:solidFill>
                          <a:latin typeface="Malgun Gothic"/>
                        </a:rPr>
                        <a:t>Get manuals</a:t>
                      </a:r>
                    </a:p>
                  </a:txBody>
                  <a:tcPr>
                    <a:solidFill>
                      <a:srgbClr val="F8FAFC"/>
                    </a:solidFill>
                  </a:tcPr>
                </a:tc>
                <a:tc>
                  <a:txBody>
                    <a:bodyPr/>
                    <a:lstStyle/>
                    <a:p>
                      <a:pPr algn="ctr"/>
                      <a:r>
                        <a:rPr sz="1200">
                          <a:solidFill>
                            <a:srgbClr val="334155"/>
                          </a:solidFill>
                          <a:latin typeface="Malgun Gothic"/>
                        </a:rPr>
                        <a:t>Library</a:t>
                      </a:r>
                    </a:p>
                  </a:txBody>
                  <a:tcPr>
                    <a:solidFill>
                      <a:srgbClr val="F8FAFC"/>
                    </a:solidFill>
                  </a:tcPr>
                </a:tc>
                <a:tc>
                  <a:txBody>
                    <a:bodyPr/>
                    <a:lstStyle/>
                    <a:p>
                      <a:pPr algn="ctr"/>
                      <a:r>
                        <a:rPr sz="1200">
                          <a:solidFill>
                            <a:srgbClr val="334155"/>
                          </a:solidFill>
                          <a:latin typeface="Malgun Gothic"/>
                        </a:rPr>
                        <a:t>Download PDF, PPT and videos</a:t>
                      </a:r>
                    </a:p>
                  </a:txBody>
                  <a:tcPr>
                    <a:solidFill>
                      <a:srgbClr val="F8FAFC"/>
                    </a:solidFill>
                  </a:tcPr>
                </a:tc>
                <a:tc>
                  <a:txBody>
                    <a:bodyPr/>
                    <a:lstStyle/>
                    <a:p>
                      <a:pPr algn="ctr"/>
                      <a:r>
                        <a:rPr sz="1200">
                          <a:solidFill>
                            <a:srgbClr val="334155"/>
                          </a:solidFill>
                          <a:latin typeface="Malgun Gothic"/>
                        </a:rPr>
                        <a:t>1 min</a:t>
                      </a:r>
                    </a:p>
                  </a:txBody>
                  <a:tcPr>
                    <a:solidFill>
                      <a:srgbClr val="F8FAFC"/>
                    </a:solidFill>
                  </a:tcPr>
                </a:tc>
              </a:tr>
              <a:tr h="426720">
                <a:tc>
                  <a:txBody>
                    <a:bodyPr/>
                    <a:lstStyle/>
                    <a:p>
                      <a:pPr algn="l"/>
                      <a:r>
                        <a:rPr sz="1200" b="1">
                          <a:solidFill>
                            <a:srgbClr val="334155"/>
                          </a:solidFill>
                          <a:latin typeface="Malgun Gothic"/>
                        </a:rPr>
                        <a:t>Sign out</a:t>
                      </a:r>
                    </a:p>
                  </a:txBody>
                  <a:tcPr>
                    <a:solidFill>
                      <a:srgbClr val="FFFFFF"/>
                    </a:solidFill>
                  </a:tcPr>
                </a:tc>
                <a:tc>
                  <a:txBody>
                    <a:bodyPr/>
                    <a:lstStyle/>
                    <a:p>
                      <a:pPr algn="ctr"/>
                      <a:r>
                        <a:rPr sz="1200">
                          <a:solidFill>
                            <a:srgbClr val="334155"/>
                          </a:solidFill>
                          <a:latin typeface="Malgun Gothic"/>
                        </a:rPr>
                        <a:t>Your name, top right</a:t>
                      </a:r>
                    </a:p>
                  </a:txBody>
                  <a:tcPr>
                    <a:solidFill>
                      <a:srgbClr val="FFFFFF"/>
                    </a:solidFill>
                  </a:tcPr>
                </a:tc>
                <a:tc>
                  <a:txBody>
                    <a:bodyPr/>
                    <a:lstStyle/>
                    <a:p>
                      <a:pPr algn="ctr"/>
                      <a:r>
                        <a:rPr sz="1200">
                          <a:solidFill>
                            <a:srgbClr val="334155"/>
                          </a:solidFill>
                          <a:latin typeface="Malgun Gothic"/>
                        </a:rPr>
                        <a:t>Finish safely</a:t>
                      </a:r>
                    </a:p>
                  </a:txBody>
                  <a:tcPr>
                    <a:solidFill>
                      <a:srgbClr val="FFFFFF"/>
                    </a:solidFill>
                  </a:tcPr>
                </a:tc>
                <a:tc>
                  <a:txBody>
                    <a:bodyPr/>
                    <a:lstStyle/>
                    <a:p>
                      <a:pPr algn="ctr"/>
                      <a:r>
                        <a:rPr sz="1200">
                          <a:solidFill>
                            <a:srgbClr val="334155"/>
                          </a:solidFill>
                          <a:latin typeface="Malgun Gothic"/>
                        </a:rPr>
                        <a:t>5 sec</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14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2563EB"/>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Menus you'll use most</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When you're stuck — in order</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a:t>
            </a:r>
          </a:p>
        </p:txBody>
      </p:sp>
      <p:sp>
        <p:nvSpPr>
          <p:cNvPr id="6" name="Rounded Rectangle 5"/>
          <p:cNvSpPr/>
          <p:nvPr/>
        </p:nvSpPr>
        <p:spPr>
          <a:xfrm>
            <a:off x="365760" y="841248"/>
            <a:ext cx="658368"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15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2563EB"/>
                </a:solidFill>
                <a:latin typeface="Malgun Gothic"/>
              </a:rPr>
              <a:t>❓ Frequently Asked Questions</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2563EB"/>
                </a:solidFill>
                <a:latin typeface="Malgun Gothic"/>
              </a:rPr>
              <a:t>Q. Where exactly do I type the address?</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long bar at the very top of your Chrome window — the address bar, not a search box. Type `admin.mangoi.co.kr` and press Enter. Once you are in, press the star to bookmark it and it is one click from then on.</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2563EB"/>
                </a:solidFill>
                <a:latin typeface="Malgun Gothic"/>
              </a:rPr>
              <a:t>Q. I forgot my password.</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Press Forgot password on the sign-in screen. A 6-digit code is sent by text to your registered phone number. If it says no number is registered, contact HQ or the KakaoTalk channel.</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2563EB"/>
                </a:solidFill>
                <a:latin typeface="Malgun Gothic"/>
              </a:rPr>
              <a:t>Q. There are too many menus — I can't find anything.</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Do not click through the menus. Type one word into the search box at the top middle — “attendance”, “refund”, “notice”. It takes you straight there.</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2563EB"/>
                </a:solidFill>
                <a:latin typeface="Malgun Gothic"/>
              </a:rPr>
              <a:t>Q. The screen looks broken.</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First press Ctrl and F5 together (a hard refresh). That fixes it most of the time. If it still looks wrong, take a screenshot and send it to us.</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2563EB"/>
                </a:solidFill>
                <a:latin typeface="Malgun Gothic"/>
              </a:rPr>
              <a:t>Q. What happens if I click the wrong thing?</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Most buttons ask for confirmation before anything is saved. However payments, refunds and deletions are hard to undo, so ask before clicking if you are unsure.</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2563EB"/>
                </a:solidFill>
                <a:latin typeface="Malgun Gothic"/>
              </a:rPr>
              <a:t>Q. I sent a notice by mistake.</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A notification that has gone out cannot be recalled. That is why we recommend sending a test to yourself first. The send record stays in the Notification Center.</a:t>
            </a:r>
          </a:p>
        </p:txBody>
      </p:sp>
      <p:sp>
        <p:nvSpPr>
          <p:cNvPr id="27" name="Rounded Rectangle 26"/>
          <p:cNvSpPr/>
          <p:nvPr/>
        </p:nvSpPr>
        <p:spPr>
          <a:xfrm>
            <a:off x="365760" y="747979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7552944"/>
            <a:ext cx="11094415" cy="365760"/>
          </a:xfrm>
          <a:prstGeom prst="rect">
            <a:avLst/>
          </a:prstGeom>
          <a:noFill/>
        </p:spPr>
        <p:txBody>
          <a:bodyPr wrap="square" anchor="t">
            <a:spAutoFit/>
          </a:bodyPr>
          <a:lstStyle/>
          <a:p>
            <a:pPr algn="l">
              <a:lnSpc>
                <a:spcPct val="100000"/>
              </a:lnSpc>
            </a:pPr>
            <a:r>
              <a:rPr sz="1350" b="1">
                <a:solidFill>
                  <a:srgbClr val="2563EB"/>
                </a:solidFill>
                <a:latin typeface="Malgun Gothic"/>
              </a:rPr>
              <a:t>Q. Can I turn on the parent report?</a:t>
            </a:r>
          </a:p>
        </p:txBody>
      </p:sp>
      <p:sp>
        <p:nvSpPr>
          <p:cNvPr id="29" name="TextBox 28"/>
          <p:cNvSpPr txBox="1"/>
          <p:nvPr/>
        </p:nvSpPr>
        <p:spPr>
          <a:xfrm>
            <a:off x="548640" y="7891271"/>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The full automatic send is off by default — a safeguard against accidentally messaging 29,000 people. Use preview and a single test send only; turning it on is a management decision.</a:t>
            </a:r>
          </a:p>
        </p:txBody>
      </p:sp>
      <p:sp>
        <p:nvSpPr>
          <p:cNvPr id="30" name="Rounded Rectangle 29"/>
          <p:cNvSpPr/>
          <p:nvPr/>
        </p:nvSpPr>
        <p:spPr>
          <a:xfrm>
            <a:off x="365760" y="846734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8540496"/>
            <a:ext cx="11094415" cy="365760"/>
          </a:xfrm>
          <a:prstGeom prst="rect">
            <a:avLst/>
          </a:prstGeom>
          <a:noFill/>
        </p:spPr>
        <p:txBody>
          <a:bodyPr wrap="square" anchor="t">
            <a:spAutoFit/>
          </a:bodyPr>
          <a:lstStyle/>
          <a:p>
            <a:pPr algn="l">
              <a:lnSpc>
                <a:spcPct val="100000"/>
              </a:lnSpc>
            </a:pPr>
            <a:r>
              <a:rPr sz="1350" b="1">
                <a:solidFill>
                  <a:srgbClr val="2563EB"/>
                </a:solidFill>
                <a:latin typeface="Malgun Gothic"/>
              </a:rPr>
              <a:t>Q. Where should I ask for help?</a:t>
            </a:r>
          </a:p>
        </p:txBody>
      </p:sp>
      <p:sp>
        <p:nvSpPr>
          <p:cNvPr id="32" name="TextBox 31"/>
          <p:cNvSpPr txBox="1"/>
          <p:nvPr/>
        </p:nvSpPr>
        <p:spPr>
          <a:xfrm>
            <a:off x="548640" y="887882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Ask the A.i assistant at the bottom right of the screen first. If that does not solve it, the KakaoTalk channel (10:00–23:00, closed weekends and holidays) is fastest.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FF6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First-Day Checklist</a:t>
            </a:r>
          </a:p>
        </p:txBody>
      </p:sp>
      <p:sp>
        <p:nvSpPr>
          <p:cNvPr id="6" name="Rounded Rectangle 5"/>
          <p:cNvSpPr/>
          <p:nvPr/>
        </p:nvSpPr>
        <p:spPr>
          <a:xfrm>
            <a:off x="365760" y="841248"/>
            <a:ext cx="658368"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16</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2563EB"/>
                </a:solidFill>
                <a:latin typeface="Malgun Gothic"/>
              </a:rPr>
              <a:t>✅ First-Day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reach admin.mangoi.co.kr in Chrome?</a:t>
            </a:r>
          </a:p>
        </p:txBody>
      </p:sp>
      <p:sp>
        <p:nvSpPr>
          <p:cNvPr id="11" name="Rounded Rectangle 10"/>
          <p:cNvSpPr/>
          <p:nvPr/>
        </p:nvSpPr>
        <p:spPr>
          <a:xfrm>
            <a:off x="457200" y="2212848"/>
            <a:ext cx="292608" cy="292608"/>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bookmark it with the star?</a:t>
            </a:r>
          </a:p>
        </p:txBody>
      </p:sp>
      <p:sp>
        <p:nvSpPr>
          <p:cNvPr id="13" name="Rounded Rectangle 12"/>
          <p:cNvSpPr/>
          <p:nvPr/>
        </p:nvSpPr>
        <p:spPr>
          <a:xfrm>
            <a:off x="457200" y="2779776"/>
            <a:ext cx="292608" cy="292608"/>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identify the three parts of the screen?</a:t>
            </a:r>
          </a:p>
        </p:txBody>
      </p:sp>
      <p:sp>
        <p:nvSpPr>
          <p:cNvPr id="15" name="Rounded Rectangle 14"/>
          <p:cNvSpPr/>
          <p:nvPr/>
        </p:nvSpPr>
        <p:spPr>
          <a:xfrm>
            <a:off x="457200" y="3346704"/>
            <a:ext cx="292608" cy="292608"/>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open a feature using the search box?</a:t>
            </a:r>
          </a:p>
        </p:txBody>
      </p:sp>
      <p:sp>
        <p:nvSpPr>
          <p:cNvPr id="17" name="Rounded Rectangle 16"/>
          <p:cNvSpPr/>
          <p:nvPr/>
        </p:nvSpPr>
        <p:spPr>
          <a:xfrm>
            <a:off x="457200" y="3913632"/>
            <a:ext cx="292608" cy="292608"/>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look at a student record in Evaluations?</a:t>
            </a:r>
          </a:p>
        </p:txBody>
      </p:sp>
      <p:sp>
        <p:nvSpPr>
          <p:cNvPr id="19" name="Rounded Rectangle 18"/>
          <p:cNvSpPr/>
          <p:nvPr/>
        </p:nvSpPr>
        <p:spPr>
          <a:xfrm>
            <a:off x="457200" y="4480560"/>
            <a:ext cx="292608" cy="292608"/>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send a test notice to yourself?</a:t>
            </a:r>
          </a:p>
        </p:txBody>
      </p:sp>
      <p:sp>
        <p:nvSpPr>
          <p:cNvPr id="21" name="Rounded Rectangle 20"/>
          <p:cNvSpPr/>
          <p:nvPr/>
        </p:nvSpPr>
        <p:spPr>
          <a:xfrm>
            <a:off x="457200" y="5047488"/>
            <a:ext cx="292608" cy="292608"/>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that one student has a contact number?</a:t>
            </a:r>
          </a:p>
        </p:txBody>
      </p:sp>
      <p:sp>
        <p:nvSpPr>
          <p:cNvPr id="23" name="Rounded Rectangle 22"/>
          <p:cNvSpPr/>
          <p:nvPr/>
        </p:nvSpPr>
        <p:spPr>
          <a:xfrm>
            <a:off x="457200" y="5614416"/>
            <a:ext cx="292608" cy="292608"/>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download a manual from the Library?</a:t>
            </a:r>
          </a:p>
        </p:txBody>
      </p:sp>
      <p:sp>
        <p:nvSpPr>
          <p:cNvPr id="25" name="Rounded Rectangle 24"/>
          <p:cNvSpPr/>
          <p:nvPr/>
        </p:nvSpPr>
        <p:spPr>
          <a:xfrm>
            <a:off x="457200" y="6181344"/>
            <a:ext cx="292608" cy="292608"/>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611733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view the home page in an incognito window?</a:t>
            </a:r>
          </a:p>
        </p:txBody>
      </p:sp>
      <p:sp>
        <p:nvSpPr>
          <p:cNvPr id="27" name="Rounded Rectangle 26"/>
          <p:cNvSpPr/>
          <p:nvPr/>
        </p:nvSpPr>
        <p:spPr>
          <a:xfrm>
            <a:off x="457200" y="6748272"/>
            <a:ext cx="292608" cy="292608"/>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668426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sign out when you finished?</a:t>
            </a:r>
          </a:p>
        </p:txBody>
      </p:sp>
      <p:pic>
        <p:nvPicPr>
          <p:cNvPr id="29" name="Picture 28"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Easy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17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2563EB"/>
                </a:solidFill>
                <a:latin typeface="Malgun Gothic"/>
              </a:rPr>
              <a:t>🏁 You're all set!</a:t>
            </a:r>
          </a:p>
        </p:txBody>
      </p:sp>
      <p:sp>
        <p:nvSpPr>
          <p:cNvPr id="9" name="Rounded Rectangle 8"/>
          <p:cNvSpPr/>
          <p:nvPr/>
        </p:nvSpPr>
        <p:spPr>
          <a:xfrm>
            <a:off x="365760" y="1371600"/>
            <a:ext cx="11430000" cy="868680"/>
          </a:xfrm>
          <a:prstGeom prst="round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If you have followed this far, you can already do almost everything you need on the admin page. You do not have to memorise it — just remember the search box and the A.i assistant.</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2563EB"/>
                </a:solidFill>
                <a:latin typeface="Malgun Gothic"/>
              </a:rPr>
              <a:t>🔄 Your Day at a Glance</a:t>
            </a:r>
          </a:p>
        </p:txBody>
      </p:sp>
      <p:sp>
        <p:nvSpPr>
          <p:cNvPr id="12" name="Rounded Rectangle 11"/>
          <p:cNvSpPr/>
          <p:nvPr/>
        </p:nvSpPr>
        <p:spPr>
          <a:xfrm>
            <a:off x="457200" y="2788920"/>
            <a:ext cx="1600200" cy="38404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Sign in → check today's lessons and attendance on the home screen</a:t>
            </a:r>
          </a:p>
        </p:txBody>
      </p:sp>
      <p:sp>
        <p:nvSpPr>
          <p:cNvPr id="15" name="Rounded Rectangle 14"/>
          <p:cNvSpPr/>
          <p:nvPr/>
        </p:nvSpPr>
        <p:spPr>
          <a:xfrm>
            <a:off x="457200" y="3246120"/>
            <a:ext cx="1600200" cy="38404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Review evaluations and student questions; call parents if needed</a:t>
            </a:r>
          </a:p>
        </p:txBody>
      </p:sp>
      <p:sp>
        <p:nvSpPr>
          <p:cNvPr id="18" name="Rounded Rectangle 17"/>
          <p:cNvSpPr/>
          <p:nvPr/>
        </p:nvSpPr>
        <p:spPr>
          <a:xfrm>
            <a:off x="457200" y="3703320"/>
            <a:ext cx="1600200" cy="38404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Send notices; check payments and refunds</a:t>
            </a:r>
          </a:p>
        </p:txBody>
      </p:sp>
      <p:sp>
        <p:nvSpPr>
          <p:cNvPr id="21" name="Rounded Rectangle 20"/>
          <p:cNvSpPr/>
          <p:nvPr/>
        </p:nvSpPr>
        <p:spPr>
          <a:xfrm>
            <a:off x="457200" y="4160520"/>
            <a:ext cx="1600200" cy="38404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Preview the parent weekly report; review the teacher roster</a:t>
            </a:r>
          </a:p>
        </p:txBody>
      </p:sp>
      <p:sp>
        <p:nvSpPr>
          <p:cNvPr id="24" name="Rounded Rectangle 23"/>
          <p:cNvSpPr/>
          <p:nvPr/>
        </p:nvSpPr>
        <p:spPr>
          <a:xfrm>
            <a:off x="457200" y="4617720"/>
            <a:ext cx="1600200" cy="38404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End of day</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Sign out (and close the window on a shared computer)</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2563EB"/>
                </a:solidFill>
                <a:latin typeface="Malgun Gothic"/>
              </a:rPr>
              <a:t>⭐ Core Principles</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2563EB"/>
                </a:solidFill>
                <a:latin typeface="Malgun Gothic"/>
              </a:rPr>
              <a:t>● </a:t>
            </a:r>
            <a:r>
              <a:rPr sz="1100">
                <a:solidFill>
                  <a:srgbClr val="334155"/>
                </a:solidFill>
                <a:latin typeface="Malgun Gothic"/>
              </a:rPr>
              <a:t>Stuck? Use the search box — do not click through menus.</a:t>
            </a:r>
          </a:p>
          <a:p>
            <a:pPr>
              <a:lnSpc>
                <a:spcPct val="115000"/>
              </a:lnSpc>
              <a:spcAft>
                <a:spcPts val="500"/>
              </a:spcAft>
            </a:pPr>
            <a:r>
              <a:rPr sz="900" b="1">
                <a:solidFill>
                  <a:srgbClr val="2563EB"/>
                </a:solidFill>
                <a:latin typeface="Malgun Gothic"/>
              </a:rPr>
              <a:t>● </a:t>
            </a:r>
            <a:r>
              <a:rPr sz="1100">
                <a:solidFill>
                  <a:srgbClr val="334155"/>
                </a:solidFill>
                <a:latin typeface="Malgun Gothic"/>
              </a:rPr>
              <a:t>Ask before you act — especially payments, refunds and deletions.</a:t>
            </a:r>
          </a:p>
          <a:p>
            <a:pPr>
              <a:lnSpc>
                <a:spcPct val="115000"/>
              </a:lnSpc>
              <a:spcAft>
                <a:spcPts val="500"/>
              </a:spcAft>
            </a:pPr>
            <a:r>
              <a:rPr sz="900" b="1">
                <a:solidFill>
                  <a:srgbClr val="2563EB"/>
                </a:solidFill>
                <a:latin typeface="Malgun Gothic"/>
              </a:rPr>
              <a:t>● </a:t>
            </a:r>
            <a:r>
              <a:rPr sz="1100">
                <a:solidFill>
                  <a:srgbClr val="334155"/>
                </a:solidFill>
                <a:latin typeface="Malgun Gothic"/>
              </a:rPr>
              <a:t>Preview before sending — notifications cannot be recalled.</a:t>
            </a:r>
          </a:p>
          <a:p>
            <a:pPr>
              <a:lnSpc>
                <a:spcPct val="115000"/>
              </a:lnSpc>
              <a:spcAft>
                <a:spcPts val="500"/>
              </a:spcAft>
            </a:pPr>
            <a:r>
              <a:rPr sz="900" b="1">
                <a:solidFill>
                  <a:srgbClr val="2563EB"/>
                </a:solidFill>
                <a:latin typeface="Malgun Gothic"/>
              </a:rPr>
              <a:t>● </a:t>
            </a:r>
            <a:r>
              <a:rPr sz="1100">
                <a:solidFill>
                  <a:srgbClr val="334155"/>
                </a:solidFill>
                <a:latin typeface="Malgun Gothic"/>
              </a:rPr>
              <a:t>Fill in contact numbers — that is where reports and texts go.</a:t>
            </a:r>
          </a:p>
          <a:p>
            <a:pPr>
              <a:lnSpc>
                <a:spcPct val="115000"/>
              </a:lnSpc>
              <a:spcAft>
                <a:spcPts val="500"/>
              </a:spcAft>
            </a:pPr>
            <a:r>
              <a:rPr sz="900" b="1">
                <a:solidFill>
                  <a:srgbClr val="2563EB"/>
                </a:solidFill>
                <a:latin typeface="Malgun Gothic"/>
              </a:rPr>
              <a:t>● </a:t>
            </a:r>
            <a:r>
              <a:rPr sz="1100">
                <a:solidFill>
                  <a:srgbClr val="334155"/>
                </a:solidFill>
                <a:latin typeface="Malgun Gothic"/>
              </a:rPr>
              <a:t>Sign out when done — it is the habit that protects personal data.</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2563EB"/>
                </a:solidFill>
                <a:latin typeface="Malgun Gothic"/>
              </a:rPr>
              <a:t>📌 Remember</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500"/>
                </a:solidFill>
                <a:latin typeface="Malgun Gothic"/>
              </a:rPr>
              <a:t>● </a:t>
            </a:r>
            <a:r>
              <a:rPr sz="1050">
                <a:solidFill>
                  <a:srgbClr val="334155"/>
                </a:solidFill>
                <a:latin typeface="Malgun Gothic"/>
              </a:rPr>
              <a:t>Address: admin.mangoi.co.kr · Browser: Chrome.</a:t>
            </a:r>
          </a:p>
          <a:p>
            <a:pPr>
              <a:lnSpc>
                <a:spcPct val="115000"/>
              </a:lnSpc>
              <a:spcAft>
                <a:spcPts val="400"/>
              </a:spcAft>
            </a:pPr>
            <a:r>
              <a:rPr sz="850" b="1">
                <a:solidFill>
                  <a:srgbClr val="FF9500"/>
                </a:solidFill>
                <a:latin typeface="Malgun Gothic"/>
              </a:rPr>
              <a:t>● </a:t>
            </a:r>
            <a:r>
              <a:rPr sz="1050">
                <a:solidFill>
                  <a:srgbClr val="334155"/>
                </a:solidFill>
                <a:latin typeface="Malgun Gothic"/>
              </a:rPr>
              <a:t>Screen looks wrong? Ctrl + F5.</a:t>
            </a:r>
          </a:p>
          <a:p>
            <a:pPr>
              <a:lnSpc>
                <a:spcPct val="115000"/>
              </a:lnSpc>
              <a:spcAft>
                <a:spcPts val="400"/>
              </a:spcAft>
            </a:pPr>
            <a:r>
              <a:rPr sz="850" b="1">
                <a:solidFill>
                  <a:srgbClr val="FF9500"/>
                </a:solidFill>
                <a:latin typeface="Malgun Gothic"/>
              </a:rPr>
              <a:t>● </a:t>
            </a:r>
            <a:r>
              <a:rPr sz="1050">
                <a:solidFill>
                  <a:srgbClr val="334155"/>
                </a:solidFill>
                <a:latin typeface="Malgun Gothic"/>
              </a:rPr>
              <a:t>Full automatic send is off by default — management decides.</a:t>
            </a:r>
          </a:p>
          <a:p>
            <a:pPr>
              <a:lnSpc>
                <a:spcPct val="115000"/>
              </a:lnSpc>
              <a:spcAft>
                <a:spcPts val="400"/>
              </a:spcAft>
            </a:pPr>
            <a:r>
              <a:rPr sz="850" b="1">
                <a:solidFill>
                  <a:srgbClr val="FF9500"/>
                </a:solidFill>
                <a:latin typeface="Malgun Gothic"/>
              </a:rPr>
              <a:t>● </a:t>
            </a:r>
            <a:r>
              <a:rPr sz="1050">
                <a:solidFill>
                  <a:srgbClr val="334155"/>
                </a:solidFill>
                <a:latin typeface="Malgun Gothic"/>
              </a:rPr>
              <a:t>KakaoTalk is the fastest way to reach us (10:00–23:00).</a:t>
            </a:r>
          </a:p>
          <a:p>
            <a:pPr>
              <a:lnSpc>
                <a:spcPct val="115000"/>
              </a:lnSpc>
              <a:spcAft>
                <a:spcPts val="400"/>
              </a:spcAft>
            </a:pPr>
            <a:r>
              <a:rPr sz="850" b="1">
                <a:solidFill>
                  <a:srgbClr val="FF9500"/>
                </a:solidFill>
                <a:latin typeface="Malgun Gothic"/>
              </a:rPr>
              <a:t>● </a:t>
            </a:r>
            <a:r>
              <a:rPr sz="1050">
                <a:solidFill>
                  <a:srgbClr val="334155"/>
                </a:solidFill>
                <a:latin typeface="Malgun Gothic"/>
              </a:rPr>
              <a:t>Student records are personal data — never send them outside.</a:t>
            </a:r>
          </a:p>
        </p:txBody>
      </p:sp>
      <p:sp>
        <p:nvSpPr>
          <p:cNvPr id="31" name="Rounded Rectangle 30"/>
          <p:cNvSpPr/>
          <p:nvPr/>
        </p:nvSpPr>
        <p:spPr>
          <a:xfrm>
            <a:off x="457200" y="6172200"/>
            <a:ext cx="11338560" cy="566928"/>
          </a:xfrm>
          <a:prstGeom prst="roundRect">
            <a:avLst/>
          </a:prstGeom>
          <a:solidFill>
            <a:srgbClr val="EFF6FF"/>
          </a:solidFill>
          <a:ln w="12700">
            <a:solidFill>
              <a:srgbClr val="FF9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It feels unfamiliar at first, but after three days it is second nature. Ask whenever you are unsure — asking is always the fastest route. Thank you for your work today!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You're all set!</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Stuck? Ask the A.i assistant at the bottom right of the screen.</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