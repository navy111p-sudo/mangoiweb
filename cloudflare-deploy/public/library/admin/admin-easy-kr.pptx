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2563EB"/>
              </a:solidFill>
            </c:spPr>
          </c:dPt>
          <c:dPt>
            <c:idx val="1"/>
            <c:spPr>
              <a:solidFill>
                <a:srgbClr val="0EA5E9"/>
              </a:solidFill>
            </c:spPr>
          </c:dPt>
          <c:dPt>
            <c:idx val="2"/>
            <c:spPr>
              <a:solidFill>
                <a:srgbClr val="00B85C"/>
              </a:solidFill>
            </c:spPr>
          </c:dPt>
          <c:dPt>
            <c:idx val="3"/>
            <c:spPr>
              <a:solidFill>
                <a:srgbClr val="FF9500"/>
              </a:solidFill>
            </c:spPr>
          </c:dPt>
          <c:cat>
            <c:strRef>
              <c:f>Sheet1!$A$2:$A$5</c:f>
              <c:strCache>
                <c:ptCount val="4"/>
                <c:pt idx="0">
                  <c:v>로그인</c:v>
                </c:pt>
                <c:pt idx="1">
                  <c:v>화면 익히기</c:v>
                </c:pt>
                <c:pt idx="2">
                  <c:v>검색 연습</c:v>
                </c:pt>
                <c:pt idx="3">
                  <c:v>공지 시험발송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3</c:v>
                </c:pt>
                <c:pt idx="2">
                  <c:v>2</c:v>
                </c:pt>
                <c:pt idx="3">
                  <c:v>5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2563EB"/>
              </a:solidFill>
            </c:spPr>
          </c:dPt>
          <c:dPt>
            <c:idx val="1"/>
            <c:spPr>
              <a:solidFill>
                <a:srgbClr val="0EA5E9"/>
              </a:solidFill>
            </c:spPr>
          </c:dPt>
          <c:dPt>
            <c:idx val="2"/>
            <c:spPr>
              <a:solidFill>
                <a:srgbClr val="00B85C"/>
              </a:solidFill>
            </c:spPr>
          </c:dPt>
          <c:dPt>
            <c:idx val="3"/>
            <c:spPr>
              <a:solidFill>
                <a:srgbClr val="FF9500"/>
              </a:solidFill>
            </c:spPr>
          </c:dPt>
          <c:cat>
            <c:strRef>
              <c:f>Sheet1!$A$2:$A$5</c:f>
              <c:strCache>
                <c:ptCount val="4"/>
                <c:pt idx="0">
                  <c:v>학생·학부모</c:v>
                </c:pt>
                <c:pt idx="1">
                  <c:v>평가서</c:v>
                </c:pt>
                <c:pt idx="2">
                  <c:v>알림 센터</c:v>
                </c:pt>
                <c:pt idx="3">
                  <c:v>회계·포인트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</c:v>
                </c:pt>
                <c:pt idx="1">
                  <c:v>7</c:v>
                </c:pt>
                <c:pt idx="2">
                  <c:v>6</c:v>
                </c:pt>
                <c:pt idx="3">
                  <c:v>4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2563EB"/>
              </a:solidFill>
            </c:spPr>
          </c:dPt>
          <c:dPt>
            <c:idx val="1"/>
            <c:spPr>
              <a:solidFill>
                <a:srgbClr val="0EA5E9"/>
              </a:solidFill>
            </c:spPr>
          </c:dPt>
          <c:dPt>
            <c:idx val="2"/>
            <c:spPr>
              <a:solidFill>
                <a:srgbClr val="FF9500"/>
              </a:solidFill>
            </c:spPr>
          </c:dPt>
          <c:cat>
            <c:strRef>
              <c:f>Sheet1!$A$2:$A$4</c:f>
              <c:strCache>
                <c:ptCount val="3"/>
                <c:pt idx="0">
                  <c:v>검색칸</c:v>
                </c:pt>
                <c:pt idx="1">
                  <c:v>A.i 상담사</c:v>
                </c:pt>
                <c:pt idx="2">
                  <c:v>카카오 채널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</c:v>
                </c:pt>
                <c:pt idx="1">
                  <c:v>2</c:v>
                </c:pt>
                <c:pt idx="2">
                  <c:v>1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  <c:txPr>
        <a:bodyPr/>
        <a:lstStyle/>
        <a:p>
          <a:pPr>
            <a:defRPr sz="1100">
              <a:latin typeface="Malgun Gothic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4E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-1097280"/>
            <a:ext cx="3840480" cy="3840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280160" y="5669280"/>
            <a:ext cx="2926080" cy="29260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1097280"/>
            <a:ext cx="1280160" cy="1280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822960"/>
            <a:ext cx="246888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822960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2563EB"/>
                </a:solidFill>
                <a:latin typeface="Malgun Gothic"/>
              </a:rPr>
              <a:t>💻 EASY ADMIN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망고아이 · MANGOI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7772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Malgun Gothic"/>
              </a:rPr>
              <a:t>관리자 페이지 쉬운 사용법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1480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Malgun Gothic"/>
              </a:rPr>
              <a:t>컴퓨터가 익숙하지 않아도 괜찮아요 — 하나씩 따라만 하세요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436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FFFFF"/>
                </a:solidFill>
                <a:latin typeface="Malgun Gothic"/>
              </a:rPr>
              <a:t>대상 · 관리자 페이지를 처음 쓰는 원장·직원   |   www.mangoi.co.kr</a:t>
            </a:r>
          </a:p>
        </p:txBody>
      </p:sp>
      <p:pic>
        <p:nvPicPr>
          <p:cNvPr id="12" name="Picture 11" descr="mango_ch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7245" y="3108960"/>
            <a:ext cx="4074369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💻 망고아이 관리자 쉬운 사용법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소개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68680"/>
            <a:ext cx="11460175" cy="1554480"/>
          </a:xfrm>
          <a:prstGeom prst="round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0584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563EB"/>
                </a:solidFill>
                <a:latin typeface="Malgun Gothic"/>
              </a:rPr>
              <a:t>이 안내는 누구를 위한 건가요?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81328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334155"/>
                </a:solidFill>
                <a:latin typeface="Malgun Gothic"/>
              </a:rPr>
              <a:t>컴퓨터가 익숙하지 않아도 괜찮습니다. 이 안내는 관리자 페이지를 처음 여는 분을 위해 가장 자주 쓰는 것만 골라, 화면을 보며 하나씩 따라 하도록 만들었어요.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34155"/>
                </a:solidFill>
                <a:latin typeface="Malgun Gothic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34155"/>
                </a:solidFill>
                <a:latin typeface="Malgun Gothic"/>
              </a:rPr>
              <a:t>전부 외울 필요는 없습니다. 막히면 검색칸, 그래도 막히면 A.i 상담사. 이 두 가지만 기억하면 충분해요.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269748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2852928"/>
            <a:ext cx="512064" cy="512064"/>
          </a:xfrm>
          <a:prstGeom prst="roundRect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85292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2563EB"/>
                </a:solidFill>
                <a:latin typeface="Malgun Gothic"/>
              </a:rPr>
              <a:t>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81635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들어가기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12724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주소 치고 아이디 넣으면 끝이에요.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1587" y="269748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8747" y="2852928"/>
            <a:ext cx="512064" cy="512064"/>
          </a:xfrm>
          <a:prstGeom prst="roundRect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8747" y="285292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2563EB"/>
                </a:solidFill>
                <a:latin typeface="Malgun Gothic"/>
              </a:rPr>
              <a:t>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78827" y="281635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화면 구조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78827" y="312724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위 · 왼쪽 · 가운데 세 부분뿐입니다.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65760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920" y="3813048"/>
            <a:ext cx="512064" cy="512064"/>
          </a:xfrm>
          <a:prstGeom prst="roundRect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81304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2563EB"/>
                </a:solidFill>
                <a:latin typeface="Malgun Gothic"/>
              </a:rPr>
              <a:t>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77647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검색칸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08736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메뉴를 뒤지지 말고 한 단어로 찾으세요.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1587" y="365760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8747" y="3813048"/>
            <a:ext cx="512064" cy="512064"/>
          </a:xfrm>
          <a:prstGeom prst="roundRect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8747" y="381304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2563EB"/>
                </a:solidFill>
                <a:latin typeface="Malgun Gothic"/>
              </a:rPr>
              <a:t>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78827" y="377647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공지 보내기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78827" y="408736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한 번만 해 보면 다음부터 1분이에요.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5760" y="461772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02920" y="4773168"/>
            <a:ext cx="512064" cy="512064"/>
          </a:xfrm>
          <a:prstGeom prst="roundRect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477316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2563EB"/>
                </a:solidFill>
                <a:latin typeface="Malgun Gothic"/>
              </a:rPr>
              <a:t>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473659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학부모 리포트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" y="504748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매주 성장의 증거를 보냅니다.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01587" y="461772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438747" y="4773168"/>
            <a:ext cx="512064" cy="512064"/>
          </a:xfrm>
          <a:prstGeom prst="roundRect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8747" y="477316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2563EB"/>
                </a:solidFill>
                <a:latin typeface="Malgun Gothic"/>
              </a:rPr>
              <a:t>🚪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78827" y="473659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안전하게 마치기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78827" y="504748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끝나면 로그아웃하세요.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47548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563EB"/>
                </a:solidFill>
                <a:latin typeface="Malgun Gothic"/>
              </a:rPr>
              <a:t>첫날 순서 (분)</a:t>
            </a:r>
          </a:p>
        </p:txBody>
      </p:sp>
      <p:graphicFrame>
        <p:nvGraphicFramePr>
          <p:cNvPr id="40" name="Chart 39"/>
          <p:cNvGraphicFramePr>
            <a:graphicFrameLocks noGrp="1"/>
          </p:cNvGraphicFramePr>
          <p:nvPr/>
        </p:nvGraphicFramePr>
        <p:xfrm>
          <a:off x="365760" y="5074920"/>
          <a:ext cx="5669280" cy="1554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1" name="Rectangle 40"/>
          <p:cNvSpPr/>
          <p:nvPr/>
        </p:nvSpPr>
        <p:spPr>
          <a:xfrm>
            <a:off x="7470648" y="4654296"/>
            <a:ext cx="3255264" cy="2075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admin_log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512" y="4709160"/>
            <a:ext cx="3145536" cy="1965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💻 망고아이 관리자 쉬운 사용법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차례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2296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2563EB"/>
                </a:solidFill>
                <a:latin typeface="Malgun Gothic"/>
              </a:rPr>
              <a:t>📑 차례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145389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소개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3199" y="145389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2563EB"/>
                </a:solidFill>
                <a:latin typeface="Malgun Gothic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755648"/>
            <a:ext cx="384048" cy="2286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73736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172821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① 들어가기 (로그인)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3199" y="172821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2563EB"/>
                </a:solidFill>
                <a:latin typeface="Malgun Gothic"/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029968"/>
            <a:ext cx="384048" cy="2286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201168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200253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② 화면이 어떻게 생겼나요?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3199" y="200253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2563EB"/>
                </a:solidFill>
                <a:latin typeface="Malgun Gothic"/>
              </a:rPr>
              <a:t>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2304288"/>
            <a:ext cx="384048" cy="2286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228600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" y="227685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③ 찾고 싶은 걸 바로 찾기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3199" y="227685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2563EB"/>
                </a:solidFill>
                <a:latin typeface="Malgun Gothic"/>
              </a:rPr>
              <a:t>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578608"/>
            <a:ext cx="384048" cy="2286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256032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" y="255117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④ 평가서 보기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3199" y="255117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2563EB"/>
                </a:solidFill>
                <a:latin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2852928"/>
            <a:ext cx="384048" cy="2286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283464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282549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⑤ 공지 보내보기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3199" y="282549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2563EB"/>
                </a:solidFill>
                <a:latin typeface="Malgun Gothic"/>
              </a:rPr>
              <a:t>8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" y="3127248"/>
            <a:ext cx="384048" cy="2286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310896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" y="309981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⑥ 학생·학부모 찾기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3199" y="309981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2563EB"/>
                </a:solidFill>
                <a:latin typeface="Malgun Gothic"/>
              </a:rPr>
              <a:t>9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3401568"/>
            <a:ext cx="384048" cy="2286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338328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6968" y="337413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⑦ 학부모에게 리포트 보내기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3199" y="337413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2563EB"/>
                </a:solidFill>
                <a:latin typeface="Malgun Gothic"/>
              </a:rPr>
              <a:t>10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11480" y="3675887"/>
            <a:ext cx="384048" cy="2286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3657599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968" y="364845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⑧ 강사 보기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3199" y="364845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2563EB"/>
                </a:solidFill>
                <a:latin typeface="Malgun Gothic"/>
              </a:rPr>
              <a:t>11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41567" y="1481328"/>
            <a:ext cx="384048" cy="2286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41567" y="146304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17055" y="145389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⑨ 결제·환불 보기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13287" y="145389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2563EB"/>
                </a:solidFill>
                <a:latin typeface="Malgun Gothic"/>
              </a:rPr>
              <a:t>12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141567" y="1755648"/>
            <a:ext cx="384048" cy="2286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41567" y="173736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17055" y="172821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⑩ 자료실에서 설명서 받기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213287" y="172821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2563EB"/>
                </a:solidFill>
                <a:latin typeface="Malgun Gothic"/>
              </a:rPr>
              <a:t>13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41567" y="2029968"/>
            <a:ext cx="384048" cy="2286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41567" y="201168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17055" y="200253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⑪ 우리 홈페이지가 어떻게 보이나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213287" y="200253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2563EB"/>
                </a:solidFill>
                <a:latin typeface="Malgun Gothic"/>
              </a:rPr>
              <a:t>14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41567" y="2304288"/>
            <a:ext cx="384048" cy="2286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41567" y="228600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17055" y="227685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⑫ 안전하게 마치기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213287" y="227685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2563EB"/>
                </a:solidFill>
                <a:latin typeface="Malgun Gothic"/>
              </a:rPr>
              <a:t>15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141567" y="2578608"/>
            <a:ext cx="384048" cy="2286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41567" y="256032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17055" y="255117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기능 요약 · 데이터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213287" y="255117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2563EB"/>
                </a:solidFill>
                <a:latin typeface="Malgun Gothic"/>
              </a:rPr>
              <a:t>16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141567" y="2852928"/>
            <a:ext cx="384048" cy="2286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41567" y="283464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617055" y="282549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한눈에 보는 데이터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213287" y="282549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2563EB"/>
                </a:solidFill>
                <a:latin typeface="Malgun Gothic"/>
              </a:rPr>
              <a:t>17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141567" y="3127248"/>
            <a:ext cx="384048" cy="2286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141567" y="310896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617055" y="309981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자주 묻는 질문 (FAQ)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213287" y="309981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2563EB"/>
                </a:solidFill>
                <a:latin typeface="Malgun Gothic"/>
              </a:rPr>
              <a:t>18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141567" y="3401568"/>
            <a:ext cx="384048" cy="2286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141567" y="338328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617055" y="337413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첫날 체크리스트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213287" y="337413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2563EB"/>
                </a:solidFill>
                <a:latin typeface="Malgun Gothic"/>
              </a:rPr>
              <a:t>19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141567" y="3675887"/>
            <a:ext cx="384048" cy="2286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141567" y="3657599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617055" y="364845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마무리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213287" y="364845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2563EB"/>
                </a:solidFill>
                <a:latin typeface="Malgun Gothic"/>
              </a:rPr>
              <a:t>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💻 망고아이 관리자 쉬운 사용법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하나씩 따라해요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🔐 ① 들어가기 (로그인)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주소 치고 · 아이디 넣고 · 들어가기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31520"/>
          </a:xfrm>
          <a:prstGeom prst="round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874519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334155"/>
                </a:solidFill>
                <a:latin typeface="Malgun Gothic"/>
              </a:rPr>
              <a:t>가장 먼저 할 일은 관리자 페이지에 들어가는 것이에요. 인터넷 창(크롬)을 열고 주소만 치면 됩니다. 어렵지 않아요 — 딱 세 번만 하면 손에 익습니다.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38328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563EB"/>
                </a:solidFill>
                <a:latin typeface="Malgun Gothic"/>
              </a:rPr>
              <a:t>이렇게 하세요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749040"/>
            <a:ext cx="5669280" cy="14424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70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900">
                <a:solidFill>
                  <a:srgbClr val="334155"/>
                </a:solidFill>
                <a:latin typeface="Malgun Gothic"/>
              </a:rPr>
              <a:t>인터넷 창(크롬)을 열어요.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70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900">
                <a:solidFill>
                  <a:srgbClr val="334155"/>
                </a:solidFill>
                <a:latin typeface="Malgun Gothic"/>
              </a:rPr>
              <a:t>위쪽 주소칸에 admin.mangoi.co.kr 을 치고 엔터를 눌러요.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70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900">
                <a:solidFill>
                  <a:srgbClr val="334155"/>
                </a:solidFill>
                <a:latin typeface="Malgun Gothic"/>
              </a:rPr>
              <a:t>아이디와 비밀번호를 넣어요.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70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900">
                <a:solidFill>
                  <a:srgbClr val="334155"/>
                </a:solidFill>
                <a:latin typeface="Malgun Gothic"/>
              </a:rPr>
              <a:t>로그인 버튼을 눌러요.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70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900">
                <a:solidFill>
                  <a:srgbClr val="334155"/>
                </a:solidFill>
                <a:latin typeface="Malgun Gothic"/>
              </a:rPr>
              <a:t>비밀번호가 기억 안 나면 비밀번호 찾기를 눌러요.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282946"/>
            <a:ext cx="5669280" cy="1218895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328666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563EB"/>
                </a:solidFill>
                <a:latin typeface="Malgun Gothic"/>
              </a:rPr>
              <a:t>✅ 이것만 기억하세요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575554"/>
            <a:ext cx="5394960" cy="8897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65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850">
                <a:solidFill>
                  <a:srgbClr val="334155"/>
                </a:solidFill>
                <a:latin typeface="Malgun Gothic"/>
              </a:rPr>
              <a:t>크롬에서 가장 잘 됩니다. 인터넷 익스플로러는 쓰지 마세요.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65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850">
                <a:solidFill>
                  <a:srgbClr val="334155"/>
                </a:solidFill>
                <a:latin typeface="Malgun Gothic"/>
              </a:rPr>
              <a:t>한 번 들어가면 같은 컴퓨터에서는 다시 안 물어봅니다.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65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850">
                <a:solidFill>
                  <a:srgbClr val="334155"/>
                </a:solidFill>
                <a:latin typeface="Malgun Gothic"/>
              </a:rPr>
              <a:t>내 역할(원장·본사·지사·대리점) 에 맞는 화면만 보여요 — 잘못 누를 걱정이 없어요.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6172200"/>
            <a:ext cx="5646420" cy="521208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217920"/>
            <a:ext cx="5372100" cy="4297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2670A"/>
                </a:solidFill>
                <a:latin typeface="Malgun Gothic"/>
              </a:rPr>
              <a:t>⚠️ 조심할 것 · 여러 사람이 쓰는 컴퓨터라면 일이 끝난 뒤 꼭 로그아웃하세요.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6772" y="6172200"/>
            <a:ext cx="5646420" cy="52120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13932" y="6217920"/>
            <a:ext cx="5372100" cy="4297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4A2A"/>
                </a:solidFill>
                <a:latin typeface="Malgun Gothic"/>
              </a:rPr>
              <a:t>💡 쉬운 방법 · 주소를 매번 치기 번거로우면 들어간 뒤 즐겨찾기(별표) 를 눌러 두세요. 다음부터는 한 번에 들어갑니다.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6171" y="3255264"/>
            <a:ext cx="4484217" cy="28437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log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1035" y="3310128"/>
            <a:ext cx="4374489" cy="2734056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365760" y="2578608"/>
            <a:ext cx="11457432" cy="65836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476195" y="2670048"/>
            <a:ext cx="954633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558491" y="276148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558491" y="2761488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60243" y="2670048"/>
            <a:ext cx="534009" cy="457200"/>
          </a:xfrm>
          <a:prstGeom prst="rect">
            <a:avLst/>
          </a:prstGeom>
          <a:noFill/>
        </p:spPr>
        <p:txBody>
          <a:bodyPr wrap="none" anchor="ctr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크롬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30828" y="2670048"/>
            <a:ext cx="182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Malgun Gothic"/>
              </a:rPr>
              <a:t>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13708" y="2670048"/>
            <a:ext cx="1656892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696004" y="276148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96004" y="2761488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97756" y="2670048"/>
            <a:ext cx="1236268" cy="457200"/>
          </a:xfrm>
          <a:prstGeom prst="rect">
            <a:avLst/>
          </a:prstGeom>
          <a:noFill/>
        </p:spPr>
        <p:txBody>
          <a:bodyPr wrap="none" anchor="ctr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admin.mang…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70601" y="2670048"/>
            <a:ext cx="182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Malgun Gothic"/>
              </a:rPr>
              <a:t>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53481" y="2670048"/>
            <a:ext cx="111191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535777" y="276148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535777" y="2761488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37529" y="2670048"/>
            <a:ext cx="691286" cy="457200"/>
          </a:xfrm>
          <a:prstGeom prst="rect">
            <a:avLst/>
          </a:prstGeom>
          <a:noFill/>
        </p:spPr>
        <p:txBody>
          <a:bodyPr wrap="none" anchor="ctr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아이디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65392" y="2670048"/>
            <a:ext cx="182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Malgun Gothic"/>
              </a:rPr>
              <a:t>›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748272" y="2670048"/>
            <a:ext cx="111191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830568" y="276148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30568" y="2761488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32320" y="2670048"/>
            <a:ext cx="691286" cy="457200"/>
          </a:xfrm>
          <a:prstGeom prst="rect">
            <a:avLst/>
          </a:prstGeom>
          <a:noFill/>
        </p:spPr>
        <p:txBody>
          <a:bodyPr wrap="none" anchor="ctr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로그인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60182" y="2670048"/>
            <a:ext cx="182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Malgun Gothic"/>
              </a:rPr>
              <a:t>›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043062" y="2670048"/>
            <a:ext cx="1669694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125358" y="276148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25358" y="2761488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7110" y="2670048"/>
            <a:ext cx="1249070" cy="457200"/>
          </a:xfrm>
          <a:prstGeom prst="rect">
            <a:avLst/>
          </a:prstGeom>
          <a:noFill/>
        </p:spPr>
        <p:txBody>
          <a:bodyPr wrap="none" anchor="ctr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비밀번호 찾기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💻 망고아이 관리자 쉬운 사용법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하나씩 따라해요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🖥 ② 화면이 어떻게 생겼나요?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위 · 왼쪽 · 가운데 세 부분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31520"/>
          </a:xfrm>
          <a:prstGeom prst="round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874519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334155"/>
                </a:solidFill>
                <a:latin typeface="Malgun Gothic"/>
              </a:rPr>
              <a:t>화면은 딱 세 부분입니다. 이것만 알면 길을 잃지 않아요. 위쪽 줄은 내 정보와 설정, 왼쪽 줄은 메뉴, 가운데는 지금 보고 있는 내용이에요.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38328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563EB"/>
                </a:solidFill>
                <a:latin typeface="Malgun Gothic"/>
              </a:rPr>
              <a:t>이렇게 하세요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749040"/>
            <a:ext cx="5669280" cy="14424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70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900">
                <a:solidFill>
                  <a:srgbClr val="334155"/>
                </a:solidFill>
                <a:latin typeface="Malgun Gothic"/>
              </a:rPr>
              <a:t>위쪽 줄 — 오른쪽에 내 이름, 언어(EN), 관리자 버튼이 있어요.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70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900">
                <a:solidFill>
                  <a:srgbClr val="334155"/>
                </a:solidFill>
                <a:latin typeface="Malgun Gothic"/>
              </a:rPr>
              <a:t>왼쪽 줄(사이드바) — 메뉴가 9개 묶음으로 정리돼 있어요.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70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900">
                <a:solidFill>
                  <a:srgbClr val="334155"/>
                </a:solidFill>
                <a:latin typeface="Malgun Gothic"/>
              </a:rPr>
              <a:t>가운데 — 지금 보고 있는 내용이 나와요.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70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900">
                <a:solidFill>
                  <a:srgbClr val="334155"/>
                </a:solidFill>
                <a:latin typeface="Malgun Gothic"/>
              </a:rPr>
              <a:t>가운데 위쪽 검색칸에 단어를 치면 그 기능으로 바로 갑니다.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70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900">
                <a:solidFill>
                  <a:srgbClr val="334155"/>
                </a:solidFill>
                <a:latin typeface="Malgun Gothic"/>
              </a:rPr>
              <a:t>길을 잃으면 왼쪽 위 로고를 누르면 처음 화면으로 돌아와요.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282946"/>
            <a:ext cx="5669280" cy="1067333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328666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563EB"/>
                </a:solidFill>
                <a:latin typeface="Malgun Gothic"/>
              </a:rPr>
              <a:t>✅ 이것만 기억하세요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575554"/>
            <a:ext cx="5394960" cy="7381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65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850">
                <a:solidFill>
                  <a:srgbClr val="334155"/>
                </a:solidFill>
                <a:latin typeface="Malgun Gothic"/>
              </a:rPr>
              <a:t>메뉴 이름 옆 숫자는 그 안에 든 기능 개수예요.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65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850">
                <a:solidFill>
                  <a:srgbClr val="334155"/>
                </a:solidFill>
                <a:latin typeface="Malgun Gothic"/>
              </a:rPr>
              <a:t>검색칸이 가장 빠른 길입니다 — 메뉴를 뒤지지 마세요.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65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850">
                <a:solidFill>
                  <a:srgbClr val="334155"/>
                </a:solidFill>
                <a:latin typeface="Malgun Gothic"/>
              </a:rPr>
              <a:t>화면이 작으면 왼쪽 메뉴가 ≡ 버튼으로 접혀요.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6217920"/>
            <a:ext cx="11457432" cy="47548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263640"/>
            <a:ext cx="11183111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4A2A"/>
                </a:solidFill>
                <a:latin typeface="Malgun Gothic"/>
              </a:rPr>
              <a:t>💡 쉬운 방법 · 무엇을 눌러야 할지 모를 땐 그냥 검색칸에 하고 싶은 말을 넣어 보세요. 예: “출석”, “급여”, “공지”.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19595" y="3255264"/>
            <a:ext cx="4557369" cy="2889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4459" y="3310128"/>
            <a:ext cx="4447641" cy="2779776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365760" y="2578608"/>
            <a:ext cx="11457432" cy="65836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219248" y="2670048"/>
            <a:ext cx="1197863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301544" y="276148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301544" y="2761488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3296" y="2670048"/>
            <a:ext cx="777239" cy="457200"/>
          </a:xfrm>
          <a:prstGeom prst="rect">
            <a:avLst/>
          </a:prstGeom>
          <a:noFill/>
        </p:spPr>
        <p:txBody>
          <a:bodyPr wrap="none" anchor="ctr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위쪽 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17112" y="2670048"/>
            <a:ext cx="182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Malgun Gothic"/>
              </a:rPr>
              <a:t>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99992" y="2670048"/>
            <a:ext cx="199887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682288" y="276148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82288" y="2761488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84040" y="2670048"/>
            <a:ext cx="1578254" cy="457200"/>
          </a:xfrm>
          <a:prstGeom prst="rect">
            <a:avLst/>
          </a:prstGeom>
          <a:noFill/>
        </p:spPr>
        <p:txBody>
          <a:bodyPr wrap="none" anchor="ctr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왼쪽 줄(사이드바)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98871" y="2670048"/>
            <a:ext cx="182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Malgun Gothic"/>
              </a:rPr>
              <a:t>›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781751" y="2670048"/>
            <a:ext cx="111191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864047" y="276148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64047" y="2761488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65799" y="2670048"/>
            <a:ext cx="691286" cy="457200"/>
          </a:xfrm>
          <a:prstGeom prst="rect">
            <a:avLst/>
          </a:prstGeom>
          <a:noFill/>
        </p:spPr>
        <p:txBody>
          <a:bodyPr wrap="none" anchor="ctr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가운데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93661" y="2670048"/>
            <a:ext cx="182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Malgun Gothic"/>
              </a:rPr>
              <a:t>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076541" y="2670048"/>
            <a:ext cx="111191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158837" y="276148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58837" y="2761488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60589" y="2670048"/>
            <a:ext cx="691286" cy="457200"/>
          </a:xfrm>
          <a:prstGeom prst="rect">
            <a:avLst/>
          </a:prstGeom>
          <a:noFill/>
        </p:spPr>
        <p:txBody>
          <a:bodyPr wrap="none" anchor="ctr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검색칸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88452" y="2670048"/>
            <a:ext cx="182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Malgun Gothic"/>
              </a:rPr>
              <a:t>›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371331" y="2670048"/>
            <a:ext cx="1598371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453628" y="276148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53628" y="2761488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55380" y="2670048"/>
            <a:ext cx="1177747" cy="457200"/>
          </a:xfrm>
          <a:prstGeom prst="rect">
            <a:avLst/>
          </a:prstGeom>
          <a:noFill/>
        </p:spPr>
        <p:txBody>
          <a:bodyPr wrap="none" anchor="ctr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왼쪽 위 로고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💻 망고아이 관리자 쉬운 사용법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하나씩 따라해요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🔎 ③ 찾고 싶은 걸 바로 찾기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검색칸 하나면 됩니다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31520"/>
          </a:xfrm>
          <a:prstGeom prst="round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874519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334155"/>
                </a:solidFill>
                <a:latin typeface="Malgun Gothic"/>
              </a:rPr>
              <a:t>기능이 많아 보여도 걱정 없어요. 검색칸에 단어 하나만 넣으면 그 기능으로 바로 갑니다. 메뉴를 하나씩 눌러 볼 필요가 없어요.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38328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563EB"/>
                </a:solidFill>
                <a:latin typeface="Malgun Gothic"/>
              </a:rPr>
              <a:t>이렇게 하세요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749040"/>
            <a:ext cx="5669280" cy="14424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70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900">
                <a:solidFill>
                  <a:srgbClr val="334155"/>
                </a:solidFill>
                <a:latin typeface="Malgun Gothic"/>
              </a:rPr>
              <a:t>가운데 위 검색칸을 눌러요.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70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900">
                <a:solidFill>
                  <a:srgbClr val="334155"/>
                </a:solidFill>
                <a:latin typeface="Malgun Gothic"/>
              </a:rPr>
              <a:t>찾고 싶은 것을 한 단어로 쳐요 — 예: “출석”, “환불”, “강사”.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70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900">
                <a:solidFill>
                  <a:srgbClr val="334155"/>
                </a:solidFill>
                <a:latin typeface="Malgun Gothic"/>
              </a:rPr>
              <a:t>나온 목록에서 원하는 것을 한 번 눌러요.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70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900">
                <a:solidFill>
                  <a:srgbClr val="334155"/>
                </a:solidFill>
                <a:latin typeface="Malgun Gothic"/>
              </a:rPr>
              <a:t>학원을 찾을 때는 학원 목록의 검색칸에 이름 일부만 넣어도 돼요.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70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900">
                <a:solidFill>
                  <a:srgbClr val="334155"/>
                </a:solidFill>
                <a:latin typeface="Malgun Gothic"/>
              </a:rPr>
              <a:t>말로 시키고 싶으면 마이크 버튼을 눌러 말해도 돼요.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282946"/>
            <a:ext cx="5669280" cy="1067333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328666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563EB"/>
                </a:solidFill>
                <a:latin typeface="Malgun Gothic"/>
              </a:rPr>
              <a:t>✅ 이것만 기억하세요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575554"/>
            <a:ext cx="5394960" cy="7381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65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850">
                <a:solidFill>
                  <a:srgbClr val="334155"/>
                </a:solidFill>
                <a:latin typeface="Malgun Gothic"/>
              </a:rPr>
              <a:t>한 단어면 충분해요. 문장으로 안 써도 됩니다.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65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850">
                <a:solidFill>
                  <a:srgbClr val="334155"/>
                </a:solidFill>
                <a:latin typeface="Malgun Gothic"/>
              </a:rPr>
              <a:t>이름 일부만 넣어도 찾아집니다.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65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850">
                <a:solidFill>
                  <a:srgbClr val="334155"/>
                </a:solidFill>
                <a:latin typeface="Malgun Gothic"/>
              </a:rPr>
              <a:t>말로 시키는 것과 글로 치는 것이 똑같이 동작해요.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6217920"/>
            <a:ext cx="11457432" cy="47548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263640"/>
            <a:ext cx="11183111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4A2A"/>
                </a:solidFill>
                <a:latin typeface="Malgun Gothic"/>
              </a:rPr>
              <a:t>💡 쉬운 방법 · 자주 보는 화면은 검색어 두세 글자만 외워 두세요. 클릭 없이 바로 열립니다.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19595" y="3255264"/>
            <a:ext cx="4557369" cy="2889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4459" y="3310128"/>
            <a:ext cx="4447641" cy="2779776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365760" y="2578608"/>
            <a:ext cx="11457432" cy="65836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940356" y="2670048"/>
            <a:ext cx="111191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022652" y="276148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22652" y="2761488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24404" y="2670048"/>
            <a:ext cx="691286" cy="457200"/>
          </a:xfrm>
          <a:prstGeom prst="rect">
            <a:avLst/>
          </a:prstGeom>
          <a:noFill/>
        </p:spPr>
        <p:txBody>
          <a:bodyPr wrap="none" anchor="ctr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검색칸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52267" y="2670048"/>
            <a:ext cx="182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Malgun Gothic"/>
              </a:rPr>
              <a:t>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35147" y="2670048"/>
            <a:ext cx="1197864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317443" y="276148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317443" y="2761488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9195" y="2670048"/>
            <a:ext cx="777240" cy="457200"/>
          </a:xfrm>
          <a:prstGeom prst="rect">
            <a:avLst/>
          </a:prstGeom>
          <a:noFill/>
        </p:spPr>
        <p:txBody>
          <a:bodyPr wrap="none" anchor="ctr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한 단어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3011" y="2670048"/>
            <a:ext cx="182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Malgun Gothic"/>
              </a:rPr>
              <a:t>›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615891" y="2670048"/>
            <a:ext cx="1684324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698187" y="276148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98187" y="2761488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99939" y="2670048"/>
            <a:ext cx="1263700" cy="457200"/>
          </a:xfrm>
          <a:prstGeom prst="rect">
            <a:avLst/>
          </a:prstGeom>
          <a:noFill/>
        </p:spPr>
        <p:txBody>
          <a:bodyPr wrap="none" anchor="ctr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한 번 눌러요.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0216" y="2670048"/>
            <a:ext cx="182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Malgun Gothic"/>
              </a:rPr>
              <a:t>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83096" y="2670048"/>
            <a:ext cx="2070201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565392" y="276148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65392" y="2761488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67144" y="2670048"/>
            <a:ext cx="1649577" cy="457200"/>
          </a:xfrm>
          <a:prstGeom prst="rect">
            <a:avLst/>
          </a:prstGeom>
          <a:noFill/>
        </p:spPr>
        <p:txBody>
          <a:bodyPr wrap="none" anchor="ctr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학원 목록의 검색칸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53297" y="2670048"/>
            <a:ext cx="182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Malgun Gothic"/>
              </a:rPr>
              <a:t>›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736177" y="2670048"/>
            <a:ext cx="1512417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818473" y="276148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18473" y="2761488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20225" y="2670048"/>
            <a:ext cx="1091793" cy="457200"/>
          </a:xfrm>
          <a:prstGeom prst="rect">
            <a:avLst/>
          </a:prstGeom>
          <a:noFill/>
        </p:spPr>
        <p:txBody>
          <a:bodyPr wrap="none" anchor="ctr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마이크 버튼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💻 망고아이 관리자 쉬운 사용법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하나씩 따라해요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📋 ④ 평가서 보기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아이들이 어떻게 하고 있나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31520"/>
          </a:xfrm>
          <a:prstGeom prst="round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874519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334155"/>
                </a:solidFill>
                <a:latin typeface="Malgun Gothic"/>
              </a:rPr>
              <a:t>평가서는 선생님이 수업 뒤에 남긴 기록이에요. 아이가 무엇을 잘했고 다음에 무엇을 할지가 적혀 있습니다. 학부모 문의가 오면 여기부터 보면 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38328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563EB"/>
                </a:solidFill>
                <a:latin typeface="Malgun Gothic"/>
              </a:rPr>
              <a:t>이렇게 하세요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749040"/>
            <a:ext cx="5669280" cy="1153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70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900">
                <a:solidFill>
                  <a:srgbClr val="334155"/>
                </a:solidFill>
                <a:latin typeface="Malgun Gothic"/>
              </a:rPr>
              <a:t>왼쪽 메뉴에서 평가서 통합을 눌러요.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70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900">
                <a:solidFill>
                  <a:srgbClr val="334155"/>
                </a:solidFill>
                <a:latin typeface="Malgun Gothic"/>
              </a:rPr>
              <a:t>학생 이름이나 날짜로 찾아요.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70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900">
                <a:solidFill>
                  <a:srgbClr val="334155"/>
                </a:solidFill>
                <a:latin typeface="Malgun Gothic"/>
              </a:rPr>
              <a:t>평가서를 눌러 내용을 봐요.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70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900">
                <a:solidFill>
                  <a:srgbClr val="334155"/>
                </a:solidFill>
                <a:latin typeface="Malgun Gothic"/>
              </a:rPr>
              <a:t>필요하면 학부모에게 링크로 보내요.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994452"/>
            <a:ext cx="5669280" cy="1067333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040172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563EB"/>
                </a:solidFill>
                <a:latin typeface="Malgun Gothic"/>
              </a:rPr>
              <a:t>✅ 이것만 기억하세요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287060"/>
            <a:ext cx="5394960" cy="7381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65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850">
                <a:solidFill>
                  <a:srgbClr val="334155"/>
                </a:solidFill>
                <a:latin typeface="Malgun Gothic"/>
              </a:rPr>
              <a:t>평가서가 비어 있으면 선생님이 아직 안 쓴 것이에요.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65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850">
                <a:solidFill>
                  <a:srgbClr val="334155"/>
                </a:solidFill>
                <a:latin typeface="Malgun Gothic"/>
              </a:rPr>
              <a:t>여기 쌓인 내용이 월간 성적표가 됩니다.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65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850">
                <a:solidFill>
                  <a:srgbClr val="334155"/>
                </a:solidFill>
                <a:latin typeface="Malgun Gothic"/>
              </a:rPr>
              <a:t>학부모 문의의 대부분은 이 화면에서 답이 나와요.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6217920"/>
            <a:ext cx="11457432" cy="47548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263640"/>
            <a:ext cx="11183111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4A2A"/>
                </a:solidFill>
                <a:latin typeface="Malgun Gothic"/>
              </a:rPr>
              <a:t>💡 쉬운 방법 · 학부모 전화가 오면 통화하면서 이 화면을 열어 두세요. 대화가 훨씬 매끄러워집니다.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19595" y="3255264"/>
            <a:ext cx="4557369" cy="2889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4459" y="3310128"/>
            <a:ext cx="4447641" cy="2779776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365760" y="2578608"/>
            <a:ext cx="11457432" cy="65836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788005" y="2670048"/>
            <a:ext cx="1512417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870301" y="276148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70301" y="2761488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72053" y="2670048"/>
            <a:ext cx="1091793" cy="457200"/>
          </a:xfrm>
          <a:prstGeom prst="rect">
            <a:avLst/>
          </a:prstGeom>
          <a:noFill/>
        </p:spPr>
        <p:txBody>
          <a:bodyPr wrap="none" anchor="ctr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평가서 통합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00423" y="2670048"/>
            <a:ext cx="182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Malgun Gothic"/>
              </a:rPr>
              <a:t>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3303" y="2670048"/>
            <a:ext cx="1197864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565599" y="276148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65599" y="2761488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67351" y="2670048"/>
            <a:ext cx="777240" cy="457200"/>
          </a:xfrm>
          <a:prstGeom prst="rect">
            <a:avLst/>
          </a:prstGeom>
          <a:noFill/>
        </p:spPr>
        <p:txBody>
          <a:bodyPr wrap="none" anchor="ctr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찾아요.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81167" y="2670048"/>
            <a:ext cx="182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Malgun Gothic"/>
              </a:rPr>
              <a:t>›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864047" y="2670048"/>
            <a:ext cx="1598371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946343" y="276148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6343" y="2761488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8095" y="2670048"/>
            <a:ext cx="1177747" cy="457200"/>
          </a:xfrm>
          <a:prstGeom prst="rect">
            <a:avLst/>
          </a:prstGeom>
          <a:noFill/>
        </p:spPr>
        <p:txBody>
          <a:bodyPr wrap="none" anchor="ctr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내용을 봐요.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2418" y="2670048"/>
            <a:ext cx="182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Malgun Gothic"/>
              </a:rPr>
              <a:t>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645298" y="2670048"/>
            <a:ext cx="175564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727594" y="276148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27594" y="2761488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29346" y="2670048"/>
            <a:ext cx="1335024" cy="457200"/>
          </a:xfrm>
          <a:prstGeom prst="rect">
            <a:avLst/>
          </a:prstGeom>
          <a:noFill/>
        </p:spPr>
        <p:txBody>
          <a:bodyPr wrap="none" anchor="ctr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링크로 보내요.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💻 망고아이 관리자 쉬운 사용법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하나씩 따라해요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📢 ⑤ 공지 보내보기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한 번만 해보면 쉬워요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31520"/>
          </a:xfrm>
          <a:prstGeom prst="round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874519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334155"/>
                </a:solidFill>
                <a:latin typeface="Malgun Gothic"/>
              </a:rPr>
              <a:t>학부모나 강사에게 알림을 보내는 것은 관리자가 가장 자주 하는 일 중 하나예요. 한 번만 따라 해 보면 다음부터는 1분이면 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38328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563EB"/>
                </a:solidFill>
                <a:latin typeface="Malgun Gothic"/>
              </a:rPr>
              <a:t>이렇게 하세요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749040"/>
            <a:ext cx="5669280" cy="14424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70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900">
                <a:solidFill>
                  <a:srgbClr val="334155"/>
                </a:solidFill>
                <a:latin typeface="Malgun Gothic"/>
              </a:rPr>
              <a:t>왼쪽 메뉴에서 알림 센터를 눌러요.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70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900">
                <a:solidFill>
                  <a:srgbClr val="334155"/>
                </a:solidFill>
                <a:latin typeface="Malgun Gothic"/>
              </a:rPr>
              <a:t>새 공지를 눌러요.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70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900">
                <a:solidFill>
                  <a:srgbClr val="334155"/>
                </a:solidFill>
                <a:latin typeface="Malgun Gothic"/>
              </a:rPr>
              <a:t>받는 사람을 골라요(전체·특정 학년·특정 학원 등).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70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900">
                <a:solidFill>
                  <a:srgbClr val="334155"/>
                </a:solidFill>
                <a:latin typeface="Malgun Gothic"/>
              </a:rPr>
              <a:t>제목과 내용을 써요.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70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900">
                <a:solidFill>
                  <a:srgbClr val="334155"/>
                </a:solidFill>
                <a:latin typeface="Malgun Gothic"/>
              </a:rPr>
              <a:t>미리보기로 확인한 뒤 보내기를 눌러요.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282946"/>
            <a:ext cx="5669280" cy="1067333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328666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563EB"/>
                </a:solidFill>
                <a:latin typeface="Malgun Gothic"/>
              </a:rPr>
              <a:t>✅ 이것만 기억하세요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575554"/>
            <a:ext cx="5394960" cy="7381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65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850">
                <a:solidFill>
                  <a:srgbClr val="334155"/>
                </a:solidFill>
                <a:latin typeface="Malgun Gothic"/>
              </a:rPr>
              <a:t>보내기 전에 미리보기를 꼭 한 번 보세요.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65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850">
                <a:solidFill>
                  <a:srgbClr val="334155"/>
                </a:solidFill>
                <a:latin typeface="Malgun Gothic"/>
              </a:rPr>
              <a:t>받는 사람을 좁게 고를수록 안전합니다.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65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850">
                <a:solidFill>
                  <a:srgbClr val="334155"/>
                </a:solidFill>
                <a:latin typeface="Malgun Gothic"/>
              </a:rPr>
              <a:t>보낸 기록은 남아 있어서 나중에 확인할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6172200"/>
            <a:ext cx="5646420" cy="521208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217920"/>
            <a:ext cx="5372100" cy="4297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2670A"/>
                </a:solidFill>
                <a:latin typeface="Malgun Gothic"/>
              </a:rPr>
              <a:t>⚠️ 조심할 것 · ‘전체 보내기’는 정말 전체에게 갑니다. 처음에는 나 자신에게 먼저 시험 발송해 보세요.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6772" y="6172200"/>
            <a:ext cx="5646420" cy="52120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13932" y="6217920"/>
            <a:ext cx="5372100" cy="4297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4A2A"/>
                </a:solidFill>
                <a:latin typeface="Malgun Gothic"/>
              </a:rPr>
              <a:t>💡 쉬운 방법 · 자주 쓰는 문구는 저장해 두면 다음부터 고르기만 하면 됩니다.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6171" y="3255264"/>
            <a:ext cx="4484217" cy="28437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noticestud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1035" y="3310128"/>
            <a:ext cx="4374489" cy="2734056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365760" y="2578608"/>
            <a:ext cx="11457432" cy="65836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383840" y="2670048"/>
            <a:ext cx="135514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466136" y="276148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66136" y="2761488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67888" y="2670048"/>
            <a:ext cx="934516" cy="457200"/>
          </a:xfrm>
          <a:prstGeom prst="rect">
            <a:avLst/>
          </a:prstGeom>
          <a:noFill/>
        </p:spPr>
        <p:txBody>
          <a:bodyPr wrap="none" anchor="ctr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알림 센터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38981" y="2670048"/>
            <a:ext cx="182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Malgun Gothic"/>
              </a:rPr>
              <a:t>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921861" y="2670048"/>
            <a:ext cx="1197864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004157" y="276148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004157" y="2761488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05909" y="2670048"/>
            <a:ext cx="777240" cy="457200"/>
          </a:xfrm>
          <a:prstGeom prst="rect">
            <a:avLst/>
          </a:prstGeom>
          <a:noFill/>
        </p:spPr>
        <p:txBody>
          <a:bodyPr wrap="none" anchor="ctr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새 공지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19725" y="2670048"/>
            <a:ext cx="182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Malgun Gothic"/>
              </a:rPr>
              <a:t>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02605" y="2670048"/>
            <a:ext cx="135514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384901" y="276148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84901" y="2761488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86653" y="2670048"/>
            <a:ext cx="934516" cy="457200"/>
          </a:xfrm>
          <a:prstGeom prst="rect">
            <a:avLst/>
          </a:prstGeom>
          <a:noFill/>
        </p:spPr>
        <p:txBody>
          <a:bodyPr wrap="none" anchor="ctr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받는 사람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57746" y="2670048"/>
            <a:ext cx="182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Malgun Gothic"/>
              </a:rPr>
              <a:t>›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840626" y="2670048"/>
            <a:ext cx="1512417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922922" y="276148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22922" y="2761488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24674" y="2670048"/>
            <a:ext cx="1091793" cy="457200"/>
          </a:xfrm>
          <a:prstGeom prst="rect">
            <a:avLst/>
          </a:prstGeom>
          <a:noFill/>
        </p:spPr>
        <p:txBody>
          <a:bodyPr wrap="none" anchor="ctr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제목과 내용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53044" y="2670048"/>
            <a:ext cx="182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Malgun Gothic"/>
              </a:rPr>
              <a:t>›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535924" y="2670048"/>
            <a:ext cx="1269187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618220" y="276148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18220" y="2761488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19972" y="2670048"/>
            <a:ext cx="848563" cy="457200"/>
          </a:xfrm>
          <a:prstGeom prst="rect">
            <a:avLst/>
          </a:prstGeom>
          <a:noFill/>
        </p:spPr>
        <p:txBody>
          <a:bodyPr wrap="none" anchor="ctr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미리보기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💻 망고아이 관리자 쉬운 사용법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하나씩 따라해요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👪 ⑥ 학생·학부모 찾기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연락처와 수업 현황 보기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31520"/>
          </a:xfrm>
          <a:prstGeom prst="round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874519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334155"/>
                </a:solidFill>
                <a:latin typeface="Malgun Gothic"/>
              </a:rPr>
              <a:t>학생·학부모 메뉴에서 우리 학원 학생을 찾고, 연락처와 수업 상황을 볼 수 있어요. 상담 전화가 오면 이 화면을 먼저 여세요.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38328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563EB"/>
                </a:solidFill>
                <a:latin typeface="Malgun Gothic"/>
              </a:rPr>
              <a:t>이렇게 하세요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749040"/>
            <a:ext cx="5669280" cy="1153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70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900">
                <a:solidFill>
                  <a:srgbClr val="334155"/>
                </a:solidFill>
                <a:latin typeface="Malgun Gothic"/>
              </a:rPr>
              <a:t>왼쪽 메뉴에서 학생 / 학부모를 눌러요.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70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900">
                <a:solidFill>
                  <a:srgbClr val="334155"/>
                </a:solidFill>
                <a:latin typeface="Malgun Gothic"/>
              </a:rPr>
              <a:t>이름이나 아이디로 검색해요.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70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900">
                <a:solidFill>
                  <a:srgbClr val="334155"/>
                </a:solidFill>
                <a:latin typeface="Malgun Gothic"/>
              </a:rPr>
              <a:t>학생을 누르면 수업·출석·결제 현황이 보여요.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70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900">
                <a:solidFill>
                  <a:srgbClr val="334155"/>
                </a:solidFill>
                <a:latin typeface="Malgun Gothic"/>
              </a:rPr>
              <a:t>학부모 연락처가 비어 있으면 등록해 주세요.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994452"/>
            <a:ext cx="5669280" cy="1067333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040172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563EB"/>
                </a:solidFill>
                <a:latin typeface="Malgun Gothic"/>
              </a:rPr>
              <a:t>✅ 이것만 기억하세요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287060"/>
            <a:ext cx="5394960" cy="7381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65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850">
                <a:solidFill>
                  <a:srgbClr val="334155"/>
                </a:solidFill>
                <a:latin typeface="Malgun Gothic"/>
              </a:rPr>
              <a:t>연락처가 등록돼 있어야 리포트와 문자가 갑니다.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65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850">
                <a:solidFill>
                  <a:srgbClr val="334155"/>
                </a:solidFill>
                <a:latin typeface="Malgun Gothic"/>
              </a:rPr>
              <a:t>연락처를 채워 두면 학부모가 스스로 비밀번호를 찾을 수 있어요.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65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850">
                <a:solidFill>
                  <a:srgbClr val="334155"/>
                </a:solidFill>
                <a:latin typeface="Malgun Gothic"/>
              </a:rPr>
              <a:t>출석이 갑자기 줄어든 학생은 먼저 연락하는 게 좋아요.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6172200"/>
            <a:ext cx="5646420" cy="521208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217920"/>
            <a:ext cx="5372100" cy="4297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2670A"/>
                </a:solidFill>
                <a:latin typeface="Malgun Gothic"/>
              </a:rPr>
              <a:t>⚠️ 조심할 것 · 학생 정보는 개인정보입니다. 화면을 캡처해 외부로 보내지 마세요.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6772" y="6172200"/>
            <a:ext cx="5646420" cy="52120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13932" y="6217920"/>
            <a:ext cx="5372100" cy="4297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4A2A"/>
                </a:solidFill>
                <a:latin typeface="Malgun Gothic"/>
              </a:rPr>
              <a:t>💡 쉬운 방법 · 상담 전화가 올 때마다 연락처를 확인하고 비어 있으면 그 자리에서 등록하세요. 나중에 큰 도움이 됩니다.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6171" y="3255264"/>
            <a:ext cx="4484217" cy="28437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menu_stu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1035" y="3310128"/>
            <a:ext cx="4374489" cy="2734056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365760" y="2578608"/>
            <a:ext cx="11457432" cy="65836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945282" y="2670048"/>
            <a:ext cx="1684324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027578" y="276148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027578" y="2761488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29330" y="2670048"/>
            <a:ext cx="1263700" cy="457200"/>
          </a:xfrm>
          <a:prstGeom prst="rect">
            <a:avLst/>
          </a:prstGeom>
          <a:noFill/>
        </p:spPr>
        <p:txBody>
          <a:bodyPr wrap="none" anchor="ctr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학생 / 학부모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29607" y="2670048"/>
            <a:ext cx="182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Malgun Gothic"/>
              </a:rPr>
              <a:t>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812487" y="2670048"/>
            <a:ext cx="954633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894783" y="276148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94783" y="2761488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96535" y="2670048"/>
            <a:ext cx="534009" cy="457200"/>
          </a:xfrm>
          <a:prstGeom prst="rect">
            <a:avLst/>
          </a:prstGeom>
          <a:noFill/>
        </p:spPr>
        <p:txBody>
          <a:bodyPr wrap="none" anchor="ctr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검색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67120" y="2670048"/>
            <a:ext cx="182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Malgun Gothic"/>
              </a:rPr>
              <a:t>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50000" y="2670048"/>
            <a:ext cx="2156155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032296" y="276148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32296" y="2761488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34048" y="2670048"/>
            <a:ext cx="1735531" cy="457200"/>
          </a:xfrm>
          <a:prstGeom prst="rect">
            <a:avLst/>
          </a:prstGeom>
          <a:noFill/>
        </p:spPr>
        <p:txBody>
          <a:bodyPr wrap="none" anchor="ctr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수업·출석·결제 현…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06155" y="2670048"/>
            <a:ext cx="182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Malgun Gothic"/>
              </a:rPr>
              <a:t>›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89035" y="2670048"/>
            <a:ext cx="954633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371331" y="276148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71331" y="2761488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73083" y="2670048"/>
            <a:ext cx="534009" cy="457200"/>
          </a:xfrm>
          <a:prstGeom prst="rect">
            <a:avLst/>
          </a:prstGeom>
          <a:noFill/>
        </p:spPr>
        <p:txBody>
          <a:bodyPr wrap="none" anchor="ctr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등록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💻 망고아이 관리자 쉬운 사용법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하나씩 따라해요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📅 ⑦ 학부모에게 리포트 보내기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매주 성장의 증거를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31520"/>
          </a:xfrm>
          <a:prstGeom prst="round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874519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334155"/>
                </a:solidFill>
                <a:latin typeface="Malgun Gothic"/>
              </a:rPr>
              <a:t>아이가 한 주 동안 무엇을 했는지 담아 학부모에게 보내는 리포트예요. 출석·AI 대화·정복한 단어·발음이 들어갑니다. 재등록을 이끄는 가장 강력한 도구예요.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38328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563EB"/>
                </a:solidFill>
                <a:latin typeface="Malgun Gothic"/>
              </a:rPr>
              <a:t>이렇게 하세요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749040"/>
            <a:ext cx="5669280" cy="14424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70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900">
                <a:solidFill>
                  <a:srgbClr val="334155"/>
                </a:solidFill>
                <a:latin typeface="Malgun Gothic"/>
              </a:rPr>
              <a:t>왼쪽 메뉴에서 학부모 주간 리포트를 눌러요.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70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900">
                <a:solidFill>
                  <a:srgbClr val="334155"/>
                </a:solidFill>
                <a:latin typeface="Malgun Gothic"/>
              </a:rPr>
              <a:t>학생 아이디를 넣고 미리보기로 확인해요.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70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900">
                <a:solidFill>
                  <a:srgbClr val="334155"/>
                </a:solidFill>
                <a:latin typeface="Malgun Gothic"/>
              </a:rPr>
              <a:t>이 학부모에게 실제 발송으로 한 명에게만 시험 발송해 봐요.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70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900">
                <a:solidFill>
                  <a:srgbClr val="334155"/>
                </a:solidFill>
                <a:latin typeface="Malgun Gothic"/>
              </a:rPr>
              <a:t>발송 대상 집계로 몇 명이 받을 수 있는지 확인해요.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70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900">
                <a:solidFill>
                  <a:srgbClr val="334155"/>
                </a:solidFill>
                <a:latin typeface="Malgun Gothic"/>
              </a:rPr>
              <a:t>최근 발송 로그에서 실제로 나간 기록을 봐요.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282946"/>
            <a:ext cx="5669280" cy="1067333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328666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563EB"/>
                </a:solidFill>
                <a:latin typeface="Malgun Gothic"/>
              </a:rPr>
              <a:t>✅ 이것만 기억하세요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575554"/>
            <a:ext cx="5394960" cy="7381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65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850">
                <a:solidFill>
                  <a:srgbClr val="334155"/>
                </a:solidFill>
                <a:latin typeface="Malgun Gothic"/>
              </a:rPr>
              <a:t>전화번호가 등록된 학생만 받을 수 있어요.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65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850">
                <a:solidFill>
                  <a:srgbClr val="334155"/>
                </a:solidFill>
                <a:latin typeface="Malgun Gothic"/>
              </a:rPr>
              <a:t>리포트에는 실제 활동만 들어갑니다 — 지어낸 숫자가 없어요.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65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850">
                <a:solidFill>
                  <a:srgbClr val="334155"/>
                </a:solidFill>
                <a:latin typeface="Malgun Gothic"/>
              </a:rPr>
              <a:t>매주 금요일 저녁 자동 발송이 준비돼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6172200"/>
            <a:ext cx="5646420" cy="521208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217920"/>
            <a:ext cx="5372100" cy="4297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2670A"/>
                </a:solidFill>
                <a:latin typeface="Malgun Gothic"/>
              </a:rPr>
              <a:t>⚠️ 조심할 것 · 🔴 전체 자동 발송은 기본으로 꺼져 있습니다. 실수로 29,000명에게 나가는 것을 막기 위한 안전장치예요. 대표 결정 뒤에 켜세요.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6772" y="6172200"/>
            <a:ext cx="5646420" cy="52120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13932" y="6217920"/>
            <a:ext cx="5372100" cy="4297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4A2A"/>
                </a:solidFill>
                <a:latin typeface="Malgun Gothic"/>
              </a:rPr>
              <a:t>💡 쉬운 방법 · 먼저 나 자신이나 직원 번호로 한 번 받아 보세요. 문구를 확인한 뒤 켜면 안심입니다.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6171" y="3255264"/>
            <a:ext cx="4484217" cy="28437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parent_weekl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1035" y="3310128"/>
            <a:ext cx="4374489" cy="2734056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365760" y="2578608"/>
            <a:ext cx="11457432" cy="65836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89634" y="2670048"/>
            <a:ext cx="2070201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271930" y="276148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71930" y="2761488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73682" y="2670048"/>
            <a:ext cx="1649577" cy="457200"/>
          </a:xfrm>
          <a:prstGeom prst="rect">
            <a:avLst/>
          </a:prstGeom>
          <a:noFill/>
        </p:spPr>
        <p:txBody>
          <a:bodyPr wrap="none" anchor="ctr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학부모 주간 리포트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59835" y="2670048"/>
            <a:ext cx="182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Malgun Gothic"/>
              </a:rPr>
              <a:t>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42715" y="2670048"/>
            <a:ext cx="1269187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25011" y="276148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25011" y="2761488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26763" y="2670048"/>
            <a:ext cx="848563" cy="457200"/>
          </a:xfrm>
          <a:prstGeom prst="rect">
            <a:avLst/>
          </a:prstGeom>
          <a:noFill/>
        </p:spPr>
        <p:txBody>
          <a:bodyPr wrap="none" anchor="ctr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미리보기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11903" y="2670048"/>
            <a:ext cx="182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Malgun Gothic"/>
              </a:rPr>
              <a:t>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894783" y="2670048"/>
            <a:ext cx="222747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977079" y="276148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77079" y="2761488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78831" y="2670048"/>
            <a:ext cx="1806854" cy="457200"/>
          </a:xfrm>
          <a:prstGeom prst="rect">
            <a:avLst/>
          </a:prstGeom>
          <a:noFill/>
        </p:spPr>
        <p:txBody>
          <a:bodyPr wrap="none" anchor="ctr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이 학부모에게 실제…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22261" y="2670048"/>
            <a:ext cx="182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Malgun Gothic"/>
              </a:rPr>
              <a:t>›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05141" y="2670048"/>
            <a:ext cx="1755647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387437" y="276148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87437" y="2761488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89189" y="2670048"/>
            <a:ext cx="1335023" cy="457200"/>
          </a:xfrm>
          <a:prstGeom prst="rect">
            <a:avLst/>
          </a:prstGeom>
          <a:noFill/>
        </p:spPr>
        <p:txBody>
          <a:bodyPr wrap="none" anchor="ctr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발송 대상 집계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60789" y="2670048"/>
            <a:ext cx="182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Malgun Gothic"/>
              </a:rPr>
              <a:t>›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243669" y="2670048"/>
            <a:ext cx="1755647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325965" y="276148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325965" y="2761488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27717" y="2670048"/>
            <a:ext cx="1335023" cy="457200"/>
          </a:xfrm>
          <a:prstGeom prst="rect">
            <a:avLst/>
          </a:prstGeom>
          <a:noFill/>
        </p:spPr>
        <p:txBody>
          <a:bodyPr wrap="none" anchor="ctr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최근 발송 로그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💻 망고아이 관리자 쉬운 사용법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하나씩 따라해요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🏫 ⑧ 강사 보기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명부 · 근무 · 급여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31520"/>
          </a:xfrm>
          <a:prstGeom prst="round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874519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334155"/>
                </a:solidFill>
                <a:latin typeface="Malgun Gothic"/>
              </a:rPr>
              <a:t>강사 통합 메뉴에서 선생님 명부와 근무 상황, 급여를 봅니다. 예전보다 찾기 쉽게 정리됐어요.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38328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563EB"/>
                </a:solidFill>
                <a:latin typeface="Malgun Gothic"/>
              </a:rPr>
              <a:t>이렇게 하세요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749040"/>
            <a:ext cx="5669280" cy="14424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70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900">
                <a:solidFill>
                  <a:srgbClr val="334155"/>
                </a:solidFill>
                <a:latin typeface="Malgun Gothic"/>
              </a:rPr>
              <a:t>왼쪽 메뉴에서 강사 통합을 눌러요.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70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900">
                <a:solidFill>
                  <a:srgbClr val="334155"/>
                </a:solidFill>
                <a:latin typeface="Malgun Gothic"/>
              </a:rPr>
              <a:t>위쪽 상태·그룹 드롭다운으로 원하는 강사만 걸러요.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70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900">
                <a:solidFill>
                  <a:srgbClr val="334155"/>
                </a:solidFill>
                <a:latin typeface="Malgun Gothic"/>
              </a:rPr>
              <a:t>강사를 누르면 프로필 · 급여 · 평가 탭이 열려요.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70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900">
                <a:solidFill>
                  <a:srgbClr val="334155"/>
                </a:solidFill>
                <a:latin typeface="Malgun Gothic"/>
              </a:rPr>
              <a:t>근무·휴식·휴가 바로가기로 일정도 등록할 수 있어요.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70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900">
                <a:solidFill>
                  <a:srgbClr val="334155"/>
                </a:solidFill>
                <a:latin typeface="Malgun Gothic"/>
              </a:rPr>
              <a:t>표를 옆으로 밀어도 강사 이름은 그대로 붙어 있어요.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282946"/>
            <a:ext cx="5669280" cy="1067333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328666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563EB"/>
                </a:solidFill>
                <a:latin typeface="Malgun Gothic"/>
              </a:rPr>
              <a:t>✅ 이것만 기억하세요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575554"/>
            <a:ext cx="5394960" cy="7381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65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850">
                <a:solidFill>
                  <a:srgbClr val="334155"/>
                </a:solidFill>
                <a:latin typeface="Malgun Gothic"/>
              </a:rPr>
              <a:t>강사가 많을수록 필터가 큰 힘을 발휘해요.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65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850">
                <a:solidFill>
                  <a:srgbClr val="334155"/>
                </a:solidFill>
                <a:latin typeface="Malgun Gothic"/>
              </a:rPr>
              <a:t>매니저는 배지로 구분되고 재직 상태가 함께 보여요.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65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850">
                <a:solidFill>
                  <a:srgbClr val="334155"/>
                </a:solidFill>
                <a:latin typeface="Malgun Gothic"/>
              </a:rPr>
              <a:t>이름이 비어 있으면 아이디로 대신 표시돼요.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6217920"/>
            <a:ext cx="11457432" cy="47548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263640"/>
            <a:ext cx="11183111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4A2A"/>
                </a:solidFill>
                <a:latin typeface="Malgun Gothic"/>
              </a:rPr>
              <a:t>💡 쉬운 방법 · 강사가 “이 기능이 없어요”라고 하면, 대부분 기능이 없는 게 아니라 가는 길을 못 찾은 것입니다. 먼저 함께 찾아 주세요.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19595" y="3255264"/>
            <a:ext cx="4557369" cy="2889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teach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4459" y="3310128"/>
            <a:ext cx="4447641" cy="2779776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365760" y="2578608"/>
            <a:ext cx="11457432" cy="65836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96112" y="2670048"/>
            <a:ext cx="135514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78408" y="276148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8408" y="2761488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2670048"/>
            <a:ext cx="934516" cy="457200"/>
          </a:xfrm>
          <a:prstGeom prst="rect">
            <a:avLst/>
          </a:prstGeom>
          <a:noFill/>
        </p:spPr>
        <p:txBody>
          <a:bodyPr wrap="none" anchor="ctr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강사 통합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51252" y="2670048"/>
            <a:ext cx="182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Malgun Gothic"/>
              </a:rPr>
              <a:t>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434132" y="2670048"/>
            <a:ext cx="2070201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516428" y="276148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516428" y="2761488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18180" y="2670048"/>
            <a:ext cx="1649577" cy="457200"/>
          </a:xfrm>
          <a:prstGeom prst="rect">
            <a:avLst/>
          </a:prstGeom>
          <a:noFill/>
        </p:spPr>
        <p:txBody>
          <a:bodyPr wrap="none" anchor="ctr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상태·그룹 드롭다운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04334" y="2670048"/>
            <a:ext cx="182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Malgun Gothic"/>
              </a:rPr>
              <a:t>›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687214" y="2670048"/>
            <a:ext cx="201350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769510" y="276148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69510" y="2761488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71262" y="2670048"/>
            <a:ext cx="1592884" cy="457200"/>
          </a:xfrm>
          <a:prstGeom prst="rect">
            <a:avLst/>
          </a:prstGeom>
          <a:noFill/>
        </p:spPr>
        <p:txBody>
          <a:bodyPr wrap="none" anchor="ctr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프로필 · 급여 ·…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00723" y="2670048"/>
            <a:ext cx="182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Malgun Gothic"/>
              </a:rPr>
              <a:t>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83603" y="2670048"/>
            <a:ext cx="2156155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965899" y="276148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65899" y="2761488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67651" y="2670048"/>
            <a:ext cx="1735531" cy="457200"/>
          </a:xfrm>
          <a:prstGeom prst="rect">
            <a:avLst/>
          </a:prstGeom>
          <a:noFill/>
        </p:spPr>
        <p:txBody>
          <a:bodyPr wrap="none" anchor="ctr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근무·휴식·휴가 바…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39758" y="2670048"/>
            <a:ext cx="182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Malgun Gothic"/>
              </a:rPr>
              <a:t>›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222638" y="2670048"/>
            <a:ext cx="2070201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304934" y="276148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04934" y="2761488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6686" y="2670048"/>
            <a:ext cx="1649577" cy="457200"/>
          </a:xfrm>
          <a:prstGeom prst="rect">
            <a:avLst/>
          </a:prstGeom>
          <a:noFill/>
        </p:spPr>
        <p:txBody>
          <a:bodyPr wrap="none" anchor="ctr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강사 이름은 그대로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💻 망고아이 관리자 쉬운 사용법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하나씩 따라해요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💳 ⑨ 결제·환불 보기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돈 관련은 여기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31520"/>
          </a:xfrm>
          <a:prstGeom prst="round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874519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334155"/>
                </a:solidFill>
                <a:latin typeface="Malgun Gothic"/>
              </a:rPr>
              <a:t>수강료 결제와 환불은 회계 / 포인트 메뉴에서 봅니다. 새 결제 화면은 누가 배울지 먼저 고르는 방식으로 바뀌어 학부모가 훨씬 쉽게 고릅니다.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38328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563EB"/>
                </a:solidFill>
                <a:latin typeface="Malgun Gothic"/>
              </a:rPr>
              <a:t>이렇게 하세요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749040"/>
            <a:ext cx="5669280" cy="14424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70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900">
                <a:solidFill>
                  <a:srgbClr val="334155"/>
                </a:solidFill>
                <a:latin typeface="Malgun Gothic"/>
              </a:rPr>
              <a:t>왼쪽 메뉴에서 회계 / 포인트를 눌러요.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70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900">
                <a:solidFill>
                  <a:srgbClr val="334155"/>
                </a:solidFill>
                <a:latin typeface="Malgun Gothic"/>
              </a:rPr>
              <a:t>결제 내역에서 날짜·학생으로 찾아요.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70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900">
                <a:solidFill>
                  <a:srgbClr val="334155"/>
                </a:solidFill>
                <a:latin typeface="Malgun Gothic"/>
              </a:rPr>
              <a:t>환불이 필요하면 환불 규정을 먼저 확인해요.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70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900">
                <a:solidFill>
                  <a:srgbClr val="334155"/>
                </a:solidFill>
                <a:latin typeface="Malgun Gothic"/>
              </a:rPr>
              <a:t>학부모에게는 대상 먼저 고르기 방식으로 안내해요.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70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900">
                <a:solidFill>
                  <a:srgbClr val="334155"/>
                </a:solidFill>
                <a:latin typeface="Malgun Gothic"/>
              </a:rPr>
              <a:t>전부 비교하고 싶어 하면 전체 요금표 보기를 눌러 줘요.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282946"/>
            <a:ext cx="5669280" cy="1067333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328666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563EB"/>
                </a:solidFill>
                <a:latin typeface="Malgun Gothic"/>
              </a:rPr>
              <a:t>✅ 이것만 기억하세요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575554"/>
            <a:ext cx="5394960" cy="7381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65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850">
                <a:solidFill>
                  <a:srgbClr val="334155"/>
                </a:solidFill>
                <a:latin typeface="Malgun Gothic"/>
              </a:rPr>
              <a:t>환불은 규정 확인이 먼저입니다.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65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850">
                <a:solidFill>
                  <a:srgbClr val="334155"/>
                </a:solidFill>
                <a:latin typeface="Malgun Gothic"/>
              </a:rPr>
              <a:t>결제 금액과 상품은 예전과 똑같아요 — 고르는 방법만 쉬워졌어요.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65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850">
                <a:solidFill>
                  <a:srgbClr val="334155"/>
                </a:solidFill>
                <a:latin typeface="Malgun Gothic"/>
              </a:rPr>
              <a:t>숫자가 이상하면 혼자 고치지 말고 본사에 문의하세요.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6172200"/>
            <a:ext cx="5646420" cy="521208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217920"/>
            <a:ext cx="5372100" cy="4297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2670A"/>
                </a:solidFill>
                <a:latin typeface="Malgun Gothic"/>
              </a:rPr>
              <a:t>⚠️ 조심할 것 · 결제·환불은 실제 돈이 오가는 기능입니다. 확실하지 않으면 누르기 전에 물어보세요.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6772" y="6172200"/>
            <a:ext cx="5646420" cy="52120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13932" y="6217920"/>
            <a:ext cx="5372100" cy="4297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4A2A"/>
                </a:solidFill>
                <a:latin typeface="Malgun Gothic"/>
              </a:rPr>
              <a:t>💡 쉬운 방법 · 자주 묻는 환불 사례 두세 가지를 메모해 두면 상담 시간이 절반으로 줄어요.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6171" y="3255264"/>
            <a:ext cx="4484217" cy="28437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ref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1035" y="3310128"/>
            <a:ext cx="4374489" cy="2734056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365760" y="2578608"/>
            <a:ext cx="11457432" cy="65836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618488" y="2670048"/>
            <a:ext cx="1684324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700784" y="276148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00784" y="2761488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02536" y="2670048"/>
            <a:ext cx="1263700" cy="457200"/>
          </a:xfrm>
          <a:prstGeom prst="rect">
            <a:avLst/>
          </a:prstGeom>
          <a:noFill/>
        </p:spPr>
        <p:txBody>
          <a:bodyPr wrap="none" anchor="ctr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회계 / 포인트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02812" y="2670048"/>
            <a:ext cx="182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Malgun Gothic"/>
              </a:rPr>
              <a:t>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85692" y="2670048"/>
            <a:ext cx="135514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67988" y="276148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7988" y="2761488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69740" y="2670048"/>
            <a:ext cx="934516" cy="457200"/>
          </a:xfrm>
          <a:prstGeom prst="rect">
            <a:avLst/>
          </a:prstGeom>
          <a:noFill/>
        </p:spPr>
        <p:txBody>
          <a:bodyPr wrap="none" anchor="ctr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결제 내역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40833" y="2670048"/>
            <a:ext cx="182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Malgun Gothic"/>
              </a:rPr>
              <a:t>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3713" y="2670048"/>
            <a:ext cx="135514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106009" y="276148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06009" y="2761488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07761" y="2670048"/>
            <a:ext cx="934516" cy="457200"/>
          </a:xfrm>
          <a:prstGeom prst="rect">
            <a:avLst/>
          </a:prstGeom>
          <a:noFill/>
        </p:spPr>
        <p:txBody>
          <a:bodyPr wrap="none" anchor="ctr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환불 규정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78854" y="2670048"/>
            <a:ext cx="182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Malgun Gothic"/>
              </a:rPr>
              <a:t>›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61734" y="2670048"/>
            <a:ext cx="1912924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644030" y="276148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44030" y="2761488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45782" y="2670048"/>
            <a:ext cx="1492300" cy="457200"/>
          </a:xfrm>
          <a:prstGeom prst="rect">
            <a:avLst/>
          </a:prstGeom>
          <a:noFill/>
        </p:spPr>
        <p:txBody>
          <a:bodyPr wrap="none" anchor="ctr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대상 먼저 고르기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74659" y="2670048"/>
            <a:ext cx="182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Malgun Gothic"/>
              </a:rPr>
              <a:t>›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657539" y="2670048"/>
            <a:ext cx="1912924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739835" y="276148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739835" y="2761488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41587" y="2670048"/>
            <a:ext cx="1492300" cy="457200"/>
          </a:xfrm>
          <a:prstGeom prst="rect">
            <a:avLst/>
          </a:prstGeom>
          <a:noFill/>
        </p:spPr>
        <p:txBody>
          <a:bodyPr wrap="none" anchor="ctr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전체 요금표 보기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💻 망고아이 관리자 쉬운 사용법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하나씩 따라해요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📚 ⑩ 자료실에서 설명서 받기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필요한 문서 한곳에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31520"/>
          </a:xfrm>
          <a:prstGeom prst="round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874519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334155"/>
                </a:solidFill>
                <a:latin typeface="Malgun Gothic"/>
              </a:rPr>
              <a:t>자료실에는 관리자·강사·지사·대리점·학생용 설명서와 동영상이 전부 모여 있어요. 필요한 사람에게 링크만 보내 주면 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38328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563EB"/>
                </a:solidFill>
                <a:latin typeface="Malgun Gothic"/>
              </a:rPr>
              <a:t>이렇게 하세요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749040"/>
            <a:ext cx="5669280" cy="14424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70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900">
                <a:solidFill>
                  <a:srgbClr val="334155"/>
                </a:solidFill>
                <a:latin typeface="Malgun Gothic"/>
              </a:rPr>
              <a:t>왼쪽 메뉴에서 자료실을 눌러요.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70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900">
                <a:solidFill>
                  <a:srgbClr val="334155"/>
                </a:solidFill>
                <a:latin typeface="Malgun Gothic"/>
              </a:rPr>
              <a:t>필요한 방을 골라요(관리자·강사·지사·대리점·학생).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70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900">
                <a:solidFill>
                  <a:srgbClr val="334155"/>
                </a:solidFill>
                <a:latin typeface="Malgun Gothic"/>
              </a:rPr>
              <a:t>PDF · PPT · Excel 중에 골라 눌러요 — 바로 받아집니다.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70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900">
                <a:solidFill>
                  <a:srgbClr val="334155"/>
                </a:solidFill>
                <a:latin typeface="Malgun Gothic"/>
              </a:rPr>
              <a:t>동영상은 ▶ 재생으로 보거나 💬 카톡 링크로 보내요.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70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900">
                <a:solidFill>
                  <a:srgbClr val="334155"/>
                </a:solidFill>
                <a:latin typeface="Malgun Gothic"/>
              </a:rPr>
              <a:t>카톡으로는 파일이 아니라 링크를 보내세요.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282946"/>
            <a:ext cx="5669280" cy="1067333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328666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563EB"/>
                </a:solidFill>
                <a:latin typeface="Malgun Gothic"/>
              </a:rPr>
              <a:t>✅ 이것만 기억하세요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575554"/>
            <a:ext cx="5394960" cy="7381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65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850">
                <a:solidFill>
                  <a:srgbClr val="334155"/>
                </a:solidFill>
                <a:latin typeface="Malgun Gothic"/>
              </a:rPr>
              <a:t>동영상 파일을 카톡에 붙이면 화질이 깨집니다 — 링크로 보내세요.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65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850">
                <a:solidFill>
                  <a:srgbClr val="334155"/>
                </a:solidFill>
                <a:latin typeface="Malgun Gothic"/>
              </a:rPr>
              <a:t>설명서는 새 기능이 나올 때마다 갱신됩니다.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65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850">
                <a:solidFill>
                  <a:srgbClr val="334155"/>
                </a:solidFill>
                <a:latin typeface="Malgun Gothic"/>
              </a:rPr>
              <a:t>방마다 비밀번호가 있지만, 내 역할 범위는 자동으로 열려요.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6217920"/>
            <a:ext cx="11457432" cy="47548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263640"/>
            <a:ext cx="11183111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4A2A"/>
                </a:solidFill>
                <a:latin typeface="Malgun Gothic"/>
              </a:rPr>
              <a:t>💡 쉬운 방법 · 새 직원이 오면 자료실의 ‘쉬운 사용법’ 링크 하나만 보내 주세요. 설명 시간이 크게 줄어듭니다.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19595" y="3255264"/>
            <a:ext cx="4557369" cy="2889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4459" y="3310128"/>
            <a:ext cx="4447641" cy="2779776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365760" y="2578608"/>
            <a:ext cx="11457432" cy="65836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639519" y="2670048"/>
            <a:ext cx="111191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721815" y="276148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21815" y="2761488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23567" y="2670048"/>
            <a:ext cx="691286" cy="457200"/>
          </a:xfrm>
          <a:prstGeom prst="rect">
            <a:avLst/>
          </a:prstGeom>
          <a:noFill/>
        </p:spPr>
        <p:txBody>
          <a:bodyPr wrap="none" anchor="ctr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자료실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51429" y="2670048"/>
            <a:ext cx="182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Malgun Gothic"/>
              </a:rPr>
              <a:t>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934309" y="2670048"/>
            <a:ext cx="222747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016605" y="276148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016605" y="2761488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18357" y="2670048"/>
            <a:ext cx="1806854" cy="457200"/>
          </a:xfrm>
          <a:prstGeom prst="rect">
            <a:avLst/>
          </a:prstGeom>
          <a:noFill/>
        </p:spPr>
        <p:txBody>
          <a:bodyPr wrap="none" anchor="ctr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필요한 방을 골라요…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61788" y="2670048"/>
            <a:ext cx="182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Malgun Gothic"/>
              </a:rPr>
              <a:t>›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344668" y="2670048"/>
            <a:ext cx="1570939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426964" y="276148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26964" y="2761488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28716" y="2670048"/>
            <a:ext cx="1150315" cy="457200"/>
          </a:xfrm>
          <a:prstGeom prst="rect">
            <a:avLst/>
          </a:prstGeom>
          <a:noFill/>
        </p:spPr>
        <p:txBody>
          <a:bodyPr wrap="none" anchor="ctr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PDF · PPT…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15607" y="2670048"/>
            <a:ext cx="182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Malgun Gothic"/>
              </a:rPr>
              <a:t>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098487" y="2670048"/>
            <a:ext cx="1197864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180783" y="276148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80783" y="2761488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82535" y="2670048"/>
            <a:ext cx="777240" cy="457200"/>
          </a:xfrm>
          <a:prstGeom prst="rect">
            <a:avLst/>
          </a:prstGeom>
          <a:noFill/>
        </p:spPr>
        <p:txBody>
          <a:bodyPr wrap="none" anchor="ctr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▶ 재생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96351" y="2670048"/>
            <a:ext cx="182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Malgun Gothic"/>
              </a:rPr>
              <a:t>›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479231" y="2670048"/>
            <a:ext cx="2070201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561527" y="276148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61527" y="2761488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63279" y="2670048"/>
            <a:ext cx="1649577" cy="457200"/>
          </a:xfrm>
          <a:prstGeom prst="rect">
            <a:avLst/>
          </a:prstGeom>
          <a:noFill/>
        </p:spPr>
        <p:txBody>
          <a:bodyPr wrap="none" anchor="ctr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파일이 아니라 링크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💻 망고아이 관리자 쉬운 사용법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하나씩 따라해요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🏠 ⑪ 우리 홈페이지가 어떻게 보이나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처음 온 학부모의 화면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31520"/>
          </a:xfrm>
          <a:prstGeom prst="round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874519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334155"/>
                </a:solidFill>
                <a:latin typeface="Malgun Gothic"/>
              </a:rPr>
              <a:t>우리 홈페이지 첫 화면은 보는 사람에 따라 달라집니다. 처음 온 학부모에게는 무료 체험 신청이, 로그인한 학생에게는 수업 입장이 크게 보여요.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38328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563EB"/>
                </a:solidFill>
                <a:latin typeface="Malgun Gothic"/>
              </a:rPr>
              <a:t>이렇게 하세요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749040"/>
            <a:ext cx="5669280" cy="1153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70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900">
                <a:solidFill>
                  <a:srgbClr val="334155"/>
                </a:solidFill>
                <a:latin typeface="Malgun Gothic"/>
              </a:rPr>
              <a:t>인터넷 창에서 새 시크릿 창을 열어요(Ctrl+Shift+N).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70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900">
                <a:solidFill>
                  <a:srgbClr val="334155"/>
                </a:solidFill>
                <a:latin typeface="Malgun Gothic"/>
              </a:rPr>
              <a:t>우리 홈페이지 주소를 넣어요.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70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900">
                <a:solidFill>
                  <a:srgbClr val="334155"/>
                </a:solidFill>
                <a:latin typeface="Malgun Gothic"/>
              </a:rPr>
              <a:t>무료 체험 신청 버튼이 크게 보이는지 확인해요.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70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900">
                <a:solidFill>
                  <a:srgbClr val="334155"/>
                </a:solidFill>
                <a:latin typeface="Malgun Gothic"/>
              </a:rPr>
              <a:t>홍보 문자에는 홈페이지 주소 그대로 넣으면 돼요.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994452"/>
            <a:ext cx="5669280" cy="1067333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040172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563EB"/>
                </a:solidFill>
                <a:latin typeface="Malgun Gothic"/>
              </a:rPr>
              <a:t>✅ 이것만 기억하세요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287060"/>
            <a:ext cx="5394960" cy="7381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65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850">
                <a:solidFill>
                  <a:srgbClr val="334155"/>
                </a:solidFill>
                <a:latin typeface="Malgun Gothic"/>
              </a:rPr>
              <a:t>따로 만든 홍보용 페이지가 필요 없어요 — 같은 주소가 알아서 바뀝니다.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65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850">
                <a:solidFill>
                  <a:srgbClr val="334155"/>
                </a:solidFill>
                <a:latin typeface="Malgun Gothic"/>
              </a:rPr>
              <a:t>학부모가 처음 보는 화면을 시크릿 창으로 언제든 확인할 수 있어요.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65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850">
                <a:solidFill>
                  <a:srgbClr val="334155"/>
                </a:solidFill>
                <a:latin typeface="Malgun Gothic"/>
              </a:rPr>
              <a:t>로그인하면 다음 수업까지 남은 시간이 뜹니다.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6217920"/>
            <a:ext cx="11457432" cy="47548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263640"/>
            <a:ext cx="11183111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4A2A"/>
                </a:solidFill>
                <a:latin typeface="Malgun Gothic"/>
              </a:rPr>
              <a:t>💡 쉬운 방법 · 상담 전에 시크릿 창으로 홈 화면을 띄워 두세요. 학부모와 같은 화면을 보며 이야기할 수 있습니다.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19595" y="3255264"/>
            <a:ext cx="4557369" cy="2889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4459" y="3310128"/>
            <a:ext cx="4447641" cy="2779776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365760" y="2578608"/>
            <a:ext cx="11457432" cy="65836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915668" y="2670048"/>
            <a:ext cx="1598371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997964" y="276148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97964" y="2761488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99716" y="2670048"/>
            <a:ext cx="1177747" cy="457200"/>
          </a:xfrm>
          <a:prstGeom prst="rect">
            <a:avLst/>
          </a:prstGeom>
          <a:noFill/>
        </p:spPr>
        <p:txBody>
          <a:bodyPr wrap="none" anchor="ctr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새 시크릿 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14039" y="2670048"/>
            <a:ext cx="182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Malgun Gothic"/>
              </a:rPr>
              <a:t>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96919" y="2670048"/>
            <a:ext cx="222747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779215" y="276148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79215" y="2761488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80967" y="2670048"/>
            <a:ext cx="1806854" cy="457200"/>
          </a:xfrm>
          <a:prstGeom prst="rect">
            <a:avLst/>
          </a:prstGeom>
          <a:noFill/>
        </p:spPr>
        <p:txBody>
          <a:bodyPr wrap="none" anchor="ctr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우리 홈페이지 주소…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24397" y="2670048"/>
            <a:ext cx="182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Malgun Gothic"/>
              </a:rPr>
              <a:t>›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07277" y="2670048"/>
            <a:ext cx="1755647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189573" y="276148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89573" y="2761488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1325" y="2670048"/>
            <a:ext cx="1335023" cy="457200"/>
          </a:xfrm>
          <a:prstGeom prst="rect">
            <a:avLst/>
          </a:prstGeom>
          <a:noFill/>
        </p:spPr>
        <p:txBody>
          <a:bodyPr wrap="none" anchor="ctr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무료 체험 신청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2925" y="2670048"/>
            <a:ext cx="182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Malgun Gothic"/>
              </a:rPr>
              <a:t>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45805" y="2670048"/>
            <a:ext cx="222747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128101" y="276148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28101" y="2761488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29853" y="2670048"/>
            <a:ext cx="1806854" cy="457200"/>
          </a:xfrm>
          <a:prstGeom prst="rect">
            <a:avLst/>
          </a:prstGeom>
          <a:noFill/>
        </p:spPr>
        <p:txBody>
          <a:bodyPr wrap="none" anchor="ctr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홈페이지 주소 그대…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💻 망고아이 관리자 쉬운 사용법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하나씩 따라해요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🚪 ⑫ 안전하게 마치기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로그아웃 + 막혔을 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31520"/>
          </a:xfrm>
          <a:prstGeom prst="round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874519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334155"/>
                </a:solidFill>
                <a:latin typeface="Malgun Gothic"/>
              </a:rPr>
              <a:t>일이 끝나면 로그아웃하는 것으로 마무리해요. 그리고 막혔을 때 어디에 물어보면 되는지만 알면 준비가 끝입니다.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38328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563EB"/>
                </a:solidFill>
                <a:latin typeface="Malgun Gothic"/>
              </a:rPr>
              <a:t>이렇게 하세요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749040"/>
            <a:ext cx="5669280" cy="14424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70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900">
                <a:solidFill>
                  <a:srgbClr val="334155"/>
                </a:solidFill>
                <a:latin typeface="Malgun Gothic"/>
              </a:rPr>
              <a:t>오른쪽 위 내 이름을 눌러요.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70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900">
                <a:solidFill>
                  <a:srgbClr val="334155"/>
                </a:solidFill>
                <a:latin typeface="Malgun Gothic"/>
              </a:rPr>
              <a:t>로그아웃을 눌러요.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70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900">
                <a:solidFill>
                  <a:srgbClr val="334155"/>
                </a:solidFill>
                <a:latin typeface="Malgun Gothic"/>
              </a:rPr>
              <a:t>여러 사람이 쓰는 컴퓨터면 인터넷 창도 닫아요.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70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900">
                <a:solidFill>
                  <a:srgbClr val="334155"/>
                </a:solidFill>
                <a:latin typeface="Malgun Gothic"/>
              </a:rPr>
              <a:t>막히면 오른쪽 아래 A.i 상담사에게 물어봐요.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70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900">
                <a:solidFill>
                  <a:srgbClr val="334155"/>
                </a:solidFill>
                <a:latin typeface="Malgun Gothic"/>
              </a:rPr>
              <a:t>그래도 안 되면 카카오 채널로 문의해요(10:00~23:00).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282946"/>
            <a:ext cx="5669280" cy="1067333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328666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563EB"/>
                </a:solidFill>
                <a:latin typeface="Malgun Gothic"/>
              </a:rPr>
              <a:t>✅ 이것만 기억하세요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575554"/>
            <a:ext cx="5394960" cy="7381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65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850">
                <a:solidFill>
                  <a:srgbClr val="334155"/>
                </a:solidFill>
                <a:latin typeface="Malgun Gothic"/>
              </a:rPr>
              <a:t>로그아웃은 개인정보를 지키는 습관이에요.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65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850">
                <a:solidFill>
                  <a:srgbClr val="334155"/>
                </a:solidFill>
                <a:latin typeface="Malgun Gothic"/>
              </a:rPr>
              <a:t>화면이 이상하면 먼저 새로고침(Ctrl+F5) 을 해 보세요.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65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850">
                <a:solidFill>
                  <a:srgbClr val="334155"/>
                </a:solidFill>
                <a:latin typeface="Malgun Gothic"/>
              </a:rPr>
              <a:t>문의는 카카오가 가장 빠릅니다.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6217920"/>
            <a:ext cx="11457432" cy="47548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263640"/>
            <a:ext cx="11183111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4A2A"/>
                </a:solidFill>
                <a:latin typeface="Malgun Gothic"/>
              </a:rPr>
              <a:t>💡 쉬운 방법 · 잘 모르겠는 버튼은 그냥 눌러 보지 말고 먼저 물어보세요. 특히 결제·환불·삭제는 되돌리기 어렵습니다.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19595" y="3255264"/>
            <a:ext cx="4557369" cy="2889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log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4459" y="3310128"/>
            <a:ext cx="4447641" cy="2779776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365760" y="2578608"/>
            <a:ext cx="11457432" cy="65836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897379" y="2670048"/>
            <a:ext cx="1197864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979675" y="276148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79675" y="2761488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1427" y="2670048"/>
            <a:ext cx="777240" cy="457200"/>
          </a:xfrm>
          <a:prstGeom prst="rect">
            <a:avLst/>
          </a:prstGeom>
          <a:noFill/>
        </p:spPr>
        <p:txBody>
          <a:bodyPr wrap="none" anchor="ctr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내 이름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95244" y="2670048"/>
            <a:ext cx="182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Malgun Gothic"/>
              </a:rPr>
              <a:t>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78124" y="2670048"/>
            <a:ext cx="1269187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360420" y="276148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360420" y="2761488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62172" y="2670048"/>
            <a:ext cx="848563" cy="457200"/>
          </a:xfrm>
          <a:prstGeom prst="rect">
            <a:avLst/>
          </a:prstGeom>
          <a:noFill/>
        </p:spPr>
        <p:txBody>
          <a:bodyPr wrap="none" anchor="ctr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로그아웃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47311" y="2670048"/>
            <a:ext cx="182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Malgun Gothic"/>
              </a:rPr>
              <a:t>›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30191" y="2670048"/>
            <a:ext cx="2227478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812487" y="276148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12487" y="2761488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14239" y="2670048"/>
            <a:ext cx="1806854" cy="457200"/>
          </a:xfrm>
          <a:prstGeom prst="rect">
            <a:avLst/>
          </a:prstGeom>
          <a:noFill/>
        </p:spPr>
        <p:txBody>
          <a:bodyPr wrap="none" anchor="ctr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인터넷 창도 닫아요…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57669" y="2670048"/>
            <a:ext cx="182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Malgun Gothic"/>
              </a:rPr>
              <a:t>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140549" y="2670048"/>
            <a:ext cx="1455724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222845" y="276148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22845" y="2761488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24597" y="2670048"/>
            <a:ext cx="1035100" cy="457200"/>
          </a:xfrm>
          <a:prstGeom prst="rect">
            <a:avLst/>
          </a:prstGeom>
          <a:noFill/>
        </p:spPr>
        <p:txBody>
          <a:bodyPr wrap="none" anchor="ctr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A.i 상담사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96274" y="2670048"/>
            <a:ext cx="182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Malgun Gothic"/>
              </a:rPr>
              <a:t>›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779154" y="2670048"/>
            <a:ext cx="1512417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861450" y="276148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61450" y="2761488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63202" y="2670048"/>
            <a:ext cx="1091793" cy="457200"/>
          </a:xfrm>
          <a:prstGeom prst="rect">
            <a:avLst/>
          </a:prstGeom>
          <a:noFill/>
        </p:spPr>
        <p:txBody>
          <a:bodyPr wrap="none" anchor="ctr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카카오 채널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💻 망고아이 관리자 쉬운 사용법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기능 요약 · 데이터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41248"/>
            <a:ext cx="658368" cy="5120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8"/>
            <a:ext cx="65836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Malgun Gothic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2563EB"/>
                </a:solidFill>
                <a:latin typeface="Malgun Gothic"/>
              </a:rPr>
              <a:t>📋 🧰 첫날에 할 수 있는 일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463040"/>
          <a:ext cx="11460175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043"/>
                <a:gridCol w="2865043"/>
                <a:gridCol w="2865043"/>
                <a:gridCol w="2865046"/>
              </a:tblGrid>
              <a:tr h="4267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할 일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어디에서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무엇을 하나요?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걸리는 시간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로그인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admin.mangoi.co.kr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아이디·비밀번호 넣고 들어가기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1분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화면 익히기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첫 화면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위·왼쪽·가운데 세 부분 확인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3분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기능 찾기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검색칸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한 단어로 원하는 기능 열기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10초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평가서 보기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평가서 통합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학생별 수업 기록 확인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2분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공지 보내기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알림 센터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받는 사람 고르고 미리보기 후 발송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5분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학생 찾기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학생 / 학부모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이름으로 검색, 연락처 확인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1분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주간 리포트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학부모 주간 리포트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미리보기 후 테스트 발송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5분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강사 보기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강사 통합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필터로 원하는 강사만 보기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2분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결제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회계 / 포인트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결제·환불 내역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3분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설명서 받기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자료실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PDF·PPT·동영상 내려받기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1분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로그아웃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오른쪽 위 내 이름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안전하게 마치기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5초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💻 망고아이 관리자 쉬운 사용법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한눈에 보는 데이터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41248"/>
            <a:ext cx="658368" cy="5120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8"/>
            <a:ext cx="65836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Malgun Gothic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2563EB"/>
                </a:solidFill>
                <a:latin typeface="Malgun Gothic"/>
              </a:rPr>
              <a:t>📊 한눈에 보는 데이터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가장 자주 쓰는 메뉴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57200" y="1920240"/>
          <a:ext cx="54864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막혔을 때 순서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309360" y="1920240"/>
          <a:ext cx="548640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💻 망고아이 관리자 쉬운 사용법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자주 묻는 질문 (FAQ)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41248"/>
            <a:ext cx="658368" cy="5120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8"/>
            <a:ext cx="65836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Malgun Gothic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2563EB"/>
                </a:solidFill>
                <a:latin typeface="Malgun Gothic"/>
              </a:rPr>
              <a:t>❓ 자주 묻는 질문 (FAQ)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554480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27632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563EB"/>
                </a:solidFill>
                <a:latin typeface="Malgun Gothic"/>
              </a:rPr>
              <a:t>Q. 주소를 어디에 쳐야 하나요?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65960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인터넷 창(크롬) 맨 위 긴 칸에 `admin.mangoi.co.kr` 을 치고 엔터를 누르면 됩니다. 검색창이 아니라 주소칸이에요. 한 번 들어간 뒤 별표(즐겨찾기)를 눌러 두면 다음부터는 한 번에 갑니다.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2542032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615184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563EB"/>
                </a:solidFill>
                <a:latin typeface="Malgun Gothic"/>
              </a:rPr>
              <a:t>Q. 비밀번호를 잊어버렸어요.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953512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로그인 화면의 비밀번호 찾기를 누르면 등록된 전화번호로 6자리 숫자가 문자로 옵니다. 번호가 등록돼 있지 않다는 안내가 뜨면 본사나 카카오 채널로 문의해 주세요.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529584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602736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563EB"/>
                </a:solidFill>
                <a:latin typeface="Malgun Gothic"/>
              </a:rPr>
              <a:t>Q. 메뉴가 너무 많아서 못 찾겠어요.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941064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메뉴를 하나씩 눌러 보지 마시고 가운데 위 검색칸에 한 단어만 치세요. 예를 들어 “출석”, “환불”, “공지” 처럼요. 바로 그 기능으로 갑니다.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517136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590288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563EB"/>
                </a:solidFill>
                <a:latin typeface="Malgun Gothic"/>
              </a:rPr>
              <a:t>Q. 화면이 이상하게 나와요.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928616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먼저 키보드에서 Ctrl 키와 F5 키를 함께 눌러 보세요(강력 새로고침). 대부분 이걸로 해결됩니다. 그래도 이상하면 화면을 캡처해서 문의해 주세요.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5504688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57784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563EB"/>
                </a:solidFill>
                <a:latin typeface="Malgun Gothic"/>
              </a:rPr>
              <a:t>Q. 실수로 잘못 누르면 어떻게 되나요?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916168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대부분의 버튼은 눌러도 바로 저장되지 않고 확인 창이 한 번 더 뜹니다. 다만 결제·환불·삭제는 되돌리기 어려우니, 확실하지 않으면 누르기 전에 물어보세요.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6492240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6565392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563EB"/>
                </a:solidFill>
                <a:latin typeface="Malgun Gothic"/>
              </a:rPr>
              <a:t>Q. 공지를 잘못 보냈어요.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903720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이미 나간 알림은 회수할 수 없습니다. 그래서 처음에는 나 자신에게 시험 발송부터 해 보시길 권합니다. 발송 기록은 알림 센터에 남아 있어요.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5760" y="7479792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7552944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563EB"/>
                </a:solidFill>
                <a:latin typeface="Malgun Gothic"/>
              </a:rPr>
              <a:t>Q. 학부모 리포트를 켜도 되나요?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7891271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전체 자동 발송은 기본으로 꺼져 있습니다. 실수로 29,000명에게 나가는 것을 막기 위한 장치예요. 미리보기와 한 명 테스트 발송까지만 해 보시고, 켜는 것은 대표 결정 뒤에 하세요.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8467344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8540496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563EB"/>
                </a:solidFill>
                <a:latin typeface="Malgun Gothic"/>
              </a:rPr>
              <a:t>Q. 어디에 물어봐야 하나요?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8878824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화면 오른쪽 아래 A.i 상담사에게 먼저 물어보세요. 그래도 해결이 안 되면 카카오 채널(10:00~23:00, 주말·공휴일 휴무)이 가장 빠릅니다.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6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💻 망고아이 관리자 쉬운 사용법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첫날 체크리스트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41248"/>
            <a:ext cx="658368" cy="5120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8"/>
            <a:ext cx="65836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Malgun Gothic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2563EB"/>
                </a:solidFill>
                <a:latin typeface="Malgun Gothic"/>
              </a:rPr>
              <a:t>✅ 첫날 체크리스트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45920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58191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크롬으로 admin.mangoi.co.kr 에 들어갔나요?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212848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4884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즐겨찾기(별표)를 눌러 두었나요?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779776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715768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화면의 세 부분(위·왼쪽·가운데)을 확인했나요?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46704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282696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검색칸에 단어를 넣어 기능을 열어 봤나요?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913632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849624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평가서 통합에서 학생 기록을 한 번 봤나요?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480560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41655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알림 센터에서 나 자신에게 시험 발송을 해 봤나요?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047488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98348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학생 한 명의 연락처가 등록돼 있는지 확인했나요?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614416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550408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자료실에서 설명서를 한 번 내려받아 봤나요?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6181344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6117336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시크릿 창으로 홈 화면(학부모 시선)을 확인했나요?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748272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6684264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일을 마치고 로그아웃했나요?</a:t>
            </a:r>
          </a:p>
        </p:txBody>
      </p:sp>
      <p:pic>
        <p:nvPicPr>
          <p:cNvPr id="29" name="Picture 28" descr="mango_ch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3162" y="4480559"/>
            <a:ext cx="2489892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💻 망고아이 관리자 쉬운 사용법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마무리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41248"/>
            <a:ext cx="658368" cy="5120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8"/>
            <a:ext cx="65836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Malgun Gothic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2563EB"/>
                </a:solidFill>
                <a:latin typeface="Malgun Gothic"/>
              </a:rPr>
              <a:t>🏁 이제 준비 끝!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371600"/>
            <a:ext cx="11430000" cy="868680"/>
          </a:xfrm>
          <a:prstGeom prst="round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42646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4155"/>
                </a:solidFill>
                <a:latin typeface="Malgun Gothic"/>
              </a:rPr>
              <a:t>여기까지 따라오셨다면 관리자 페이지에서 필요한 일은 거의 다 하실 수 있습니다. 전부 외우지 않아도 괜찮아요 — 검색칸과 A.i 상담사 두 가지만 기억하세요.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423160"/>
            <a:ext cx="5760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563EB"/>
                </a:solidFill>
                <a:latin typeface="Malgun Gothic"/>
              </a:rPr>
              <a:t>🔄 하루 흐름 한눈에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788920"/>
            <a:ext cx="1600200" cy="38404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7889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아침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27706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로그인 → 첫 화면에서 오늘 수업·출석 확인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46120"/>
            <a:ext cx="1600200" cy="38404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2461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오전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32278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평가서·학생 문의 확인, 필요하면 학부모에게 연락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03320"/>
            <a:ext cx="1600200" cy="38404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7033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오후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36850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공지 발송, 결제·환불 확인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160520"/>
            <a:ext cx="1600200" cy="38404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1605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주간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41422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학부모 주간 리포트 미리보기, 강사 명부 점검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617720"/>
            <a:ext cx="1600200" cy="38404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6177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마칠 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48840" y="45994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로그아웃 (여러 사람이 쓰는 컴퓨터라면 창도 닫기)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42316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563EB"/>
                </a:solidFill>
                <a:latin typeface="Malgun Gothic"/>
              </a:rPr>
              <a:t>⭐ 핵심 원칙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788920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막히면 검색칸 — 메뉴를 하나씩 눌러 보지 마세요.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모르면 먼저 물어보기 — 특히 결제·환불·삭제.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보내기 전 미리보기 — 알림은 회수가 안 됩니다.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연락처를 채우기 — 리포트와 문자가 거기서 나갑니다.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2563EB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끝나면 로그아웃 — 개인정보를 지키는 습관이에요.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489204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563EB"/>
                </a:solidFill>
                <a:latin typeface="Malgun Gothic"/>
              </a:rPr>
              <a:t>📌 꼭 기억하세요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257800"/>
            <a:ext cx="5394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9500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주소는 admin.mangoi.co.kr, 브라우저는 크롬.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9500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화면이 이상하면 Ctrl + F5.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9500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전체 자동 발송은 기본 꺼짐 — 대표 결정 뒤에 켜세요.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9500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문의는 카카오 채널이 가장 빠릅니다 (10:00~23:00).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9500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학생 정보는 개인정보 — 밖으로 보내지 마세요.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6172200"/>
            <a:ext cx="11338560" cy="56692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FF9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208776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5B4A2A"/>
                </a:solidFill>
                <a:latin typeface="Malgun Gothic"/>
              </a:rPr>
              <a:t>🍊 처음에는 낯설어도 사흘만 쓰면 손에 익습니다. 모르는 것이 있으면 언제든 물어보세요 — 물어보는 게 가장 빠른 방법입니다. 오늘도 고생 많으셨습니다! 🥭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A5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-1371600"/>
            <a:ext cx="3657600" cy="3657600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0" y="4572000"/>
            <a:ext cx="3657600" cy="3657600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194560"/>
            <a:ext cx="12191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algun Gothic"/>
              </a:rPr>
              <a:t>이제 준비 끝!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29184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Malgun Gothic"/>
              </a:rPr>
              <a:t>막히면 화면 오른쪽 아래 A.i 상담사에게 물어보세요.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11480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Malgun Gothic"/>
              </a:rPr>
              <a:t>🌐 www.mangoi.co.kr    📞 1644-0561    ✉ support@mangoi.co.kr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