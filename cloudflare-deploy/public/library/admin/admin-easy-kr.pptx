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망고아이 관리자 페이지 상세 사용법. 사이드바 9개 메뉴 그룹의 역할·하위메뉴·사용법·제작 이유를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관리자 페이지는 학원의 조종석. 학생/강사/수업 관리, 통계/급여, 공지/알림을 한 화면에서 처리.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화면은 왼쪽 메뉴 서랍(9개)과 가운데 내용 영역. 서랍을 눌러 펼치고 기능을 고르면 가운데에 표시됨.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주소 test.mangoi.co.kr/admin 접속 → 아이디·비번 입력 → 파란 로그인 버튼. 비밀번호 보안 주의.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사이드바 9개 그룹: 평가서통합·알림센터·강사통합·통계KPI·회계포인트·학생학부모·교육콘텐츠·자료실·시스템.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평가서 통합 — 학생의 실력·성취를 평가하고, 학부모에게 보낼 리포트를 만드는 곳이에요. 왜: 선생님마다 제각각이던 평가 방식을 하나의 틀로 모아, 공정하게 매기고 학부모 신뢰를 높이려고 만들었어요. 하위메뉴 6개: 평가서 작성, 일괄 평가, AI 수업 리포트, AI 초안, 월별 리포트, 📊 비교 리포트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알림 센터 — 학생·학부모에게 소식을 보내고, 화면에 뜨는 공지·팝업을 관리하는 곳이에요. 왜: 전화·문자로 일일이 알리던 일을 버튼 한 번으로 한꺼번에 전하려고 만들었어요. 하위메뉴 6개: 웹 푸시, 카카오 알림, 📢 공지 스튜디오, 📢 팝업 게시, 이벤트 알림, 📌 공지사항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강사 통합 — 강사 정보·급여·시간표·평가 등 선생님과 관련된 모든 것을 관리해요. 왜: 강사 정보가 여기저기 흩어져 급여·근태를 손으로 계산하던 일을 자동으로 처리하려고 만들었어요. 하위메뉴 12개: 강사 관리, 자동 급여, 📅 연기·변경 요청, ⭐ 학생 수업 평가, 급여 관리, MBTI, 칭찬 통계, 🔎 강사 슈퍼바이저, 📨 방 초대 관리, 📅 시간표, 📝 수업 일지, 📋 보고서 양식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 · KPI — 매출·출석·수업·랭킹 등 학원의 숫자를 그래프로 한눈에 볼 수 있어요. 왜: 감으로 하던 운영 판단을 실제 데이터로 바꿔, 무엇이 잘되고 안되는지 바로 알려고 만들었어요. 하위메뉴 9개: KPI 대시보드, 일별 차트, 랭킹, 이탈 위험, 보관기간 파기, 🔴 실시간 수업, 📈 월별 NPS, 🔮 AI 예측, 🎤 음성 통계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회계 · 포인트 — 결제·정산·포인트 등 돈과 관련된 모든 것을 관리하는 곳이에요. 왜: 지사·대리점 정산과 수강료 결제를 손 계산 없이 자동으로 처리하려고 만들었어요. 하위메뉴 8개: 회계 관리, 🏢 BtoB 결제관리, 👪 BtoC 결제관리, 🔄 정기 결제, 💸 자동 수금, 📊 정산 통계, 포인트 관리, 🏢 캐피타운 정산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· 학부모 — 학생·가족·상담·등록 등 우리 고객(학생과 학부모)을 관리하는 곳이에요. 왜: 학생·학부모 정보를 한곳에 모아 상담·관리·재등록을 놓치지 않으려고 만들었어요. 하위메뉴 13개: 학생 관리, 📊 학원별 수업현황, 👪 가족 관리, 문의 관리, 등록 관리, 뱃지 관리, 커뮤니티, 📅 상담 예약, 📰 학부모 요약, 🤖 학부모 FAQ봇, 🎁 친구 추천, 🎓 졸업생 커뮤니티, 📷 사진·영상 갤러리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 · 콘텐츠 — 교재·퀴즈·게임 등 학생이 공부할 학습 콘텐츠를 만들고 관리해요. 왜: 여기저기 흩어진 학습 자료를 한곳에서 만들고 배포하려고 만들었어요. 하위메뉴 11개: 🔁 복습퀴즈 출제, 교재 콘텐츠, 📖 마이크로러닝, 🎯 미니 토익, 🔊 발음 교정, 🎬 영상 사전, 🎤 음성 일기, 📊 레벨테스트, 🎮 영어 배틀, 💾 녹화 보관, 📚 숙제 관리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자료실 — 대상별(관리자·강사·지사·대리점·학생) 사용설명서와 자료를 내려받는 곳이에요. 왜: 매뉴얼을 파일로 주고받던 번거로움을 없애고, 한 창고에 모아 언제든 받게 하려고 만들었어요. 하위메뉴 5개: 📕 관리자 자료실, 🏫 강사 자료실, 🏢 지사 자료실, 🏬 대리점 자료실, 🎒 학생·학부모 자료실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시스템 — 권한·가맹점·출결·캘린더 등 시스템 전반을 설정하는 곳이에요. 왜: 누가 무엇을 볼 수 있는지(권한)와 기본 설정을 안전하게 관리하려고 만들었어요. 하위메뉴 12개: 📅 캘린더 관리, 권한 관리, 가맹점, 센터, 데이터 추출, 🔔 관리자 알림, 👻 Ghost View, 💬 귓속말, 📋 출결 상태, 📷 QR 출결, 📝 수업 출결, 📋 보고서 양식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자주 쓰는 3기능: 공지 올리기(알림센터&gt;공지스튜디오), 통계 보기(통계KPI&gt;대시보드), 설명서 받기(자료실).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공지 보내기 4단계: 알림센터 열기→공지스튜디오 클릭→내용 입력→저장·게시. 저장 전엔 반영 안 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로그아웃: 오른쪽 위 이름 클릭 후 로그아웃. 팁: 홈 버튼 복귀, 자료실서 설명서 재열람, 자리 비울 때 로그아웃.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사이드바 '사용 방법이 궁금하신가요?'로 언제든 다시 볼 수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572000" cy="4572000"/>
          </a:xfrm>
          <a:prstGeom prst="ellipse">
            <a:avLst/>
          </a:prstGeom>
          <a:solidFill>
            <a:srgbClr val="3A2A18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206240"/>
            <a:ext cx="4754880" cy="4754880"/>
          </a:xfrm>
          <a:prstGeom prst="ellipse">
            <a:avLst/>
          </a:prstGeom>
          <a:solidFill>
            <a:srgbClr val="3A2A18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822960"/>
            <a:ext cx="914400" cy="9144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8229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60120" y="1965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망고아이 학원 관리 시스템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8961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페이지</a:t>
            </a:r>
            <a:endParaRPr lang="en-US" sz="5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메뉴·기능 상세 안내서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960120" y="45720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9D8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메뉴가 있고, 무슨 일을 하며, 왜 만들었는지 — 하나씩 쉽게 알려드려요.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5074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99A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 처음이어도 괜찮아요. 그림을 보며 천천히 넘겨보세요.</a:t>
            </a:r>
            <a:endParaRPr lang="en-US" sz="1450" dirty="0"/>
          </a:p>
        </p:txBody>
      </p:sp>
      <p:pic>
        <p:nvPicPr>
          <p:cNvPr id="10" name="Image 0" descr="C:/Users/Admin/Desktop/mangoi_develop2-main/cloudflare-deploy/public/img/mango-ch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0" y="9144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58368" cy="6583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4864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53035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페이지란 무엇인가요?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4663440" cy="4343400"/>
          </a:xfrm>
          <a:prstGeom prst="roundRect">
            <a:avLst>
              <a:gd name="adj" fmla="val 2737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19659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한마디로,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학원의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‘조종석’ 입니다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05840" y="4023360"/>
            <a:ext cx="4069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자동차 운전석에 필요한 버튼이 모두 모여 있듯,</a:t>
            </a:r>
            <a:endParaRPr lang="en-US" sz="15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학원을 움직이는 버튼이 이 한 화면에 다 있어요.</a:t>
            </a:r>
            <a:endParaRPr lang="en-US" sz="15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메뉴에서 원하는 기능을 골라 쓰면 됩니다.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23560" y="1737360"/>
            <a:ext cx="5897880" cy="1298448"/>
          </a:xfrm>
          <a:prstGeom prst="roundRect">
            <a:avLst>
              <a:gd name="adj" fmla="val 9155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897880" y="2057400"/>
            <a:ext cx="658368" cy="65836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0" y="205740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12280" y="193852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학생·강사·수업 관리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812280" y="241401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공부했는지 한 곳에서 확인해요.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23560" y="3218688"/>
            <a:ext cx="5897880" cy="1298448"/>
          </a:xfrm>
          <a:prstGeom prst="roundRect">
            <a:avLst>
              <a:gd name="adj" fmla="val 9155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3538728"/>
            <a:ext cx="658368" cy="65836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0" y="3538728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12280" y="3419856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통계·급여·정산 보기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812280" y="3895344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계산할 필요 없이 버튼만 누르면 돼요.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23560" y="4700016"/>
            <a:ext cx="5897880" cy="1298448"/>
          </a:xfrm>
          <a:prstGeom prst="roundRect">
            <a:avLst>
              <a:gd name="adj" fmla="val 9155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97880" y="5020056"/>
            <a:ext cx="658368" cy="65836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0" y="5020056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📢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12280" y="4901184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공지·알림 보내기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812280" y="5376672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학부모·학생에게 소식을 바로 전달해요.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58368" cy="65836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4864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🖥️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530352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이렇게 생겼어요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81328" y="1243584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 두 부분만 기억하세요 — 왼쪽 ‘메뉴’, 가운데 ‘내용’.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6583680" cy="4251960"/>
          </a:xfrm>
          <a:prstGeom prst="roundRect">
            <a:avLst>
              <a:gd name="adj" fmla="val 2151"/>
            </a:avLst>
          </a:prstGeom>
          <a:solidFill>
            <a:srgbClr val="F4F6FA"/>
          </a:solidFill>
          <a:ln w="19050">
            <a:solidFill>
              <a:srgbClr val="D8DE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65960"/>
            <a:ext cx="6583680" cy="548640"/>
          </a:xfrm>
          <a:prstGeom prst="roundRect">
            <a:avLst>
              <a:gd name="adj" fmla="val 16667"/>
            </a:avLst>
          </a:prstGeom>
          <a:solidFill>
            <a:srgbClr val="241A10"/>
          </a:solidFill>
          <a:ln/>
        </p:spPr>
      </p:sp>
      <p:sp>
        <p:nvSpPr>
          <p:cNvPr id="8" name="Shape 6"/>
          <p:cNvSpPr/>
          <p:nvPr/>
        </p:nvSpPr>
        <p:spPr>
          <a:xfrm>
            <a:off x="923544" y="2075688"/>
            <a:ext cx="329184" cy="32918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07568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44168" y="19659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망고아이 관리자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6968" y="2697480"/>
            <a:ext cx="1783080" cy="3337560"/>
          </a:xfrm>
          <a:prstGeom prst="rect">
            <a:avLst/>
          </a:prstGeom>
          <a:solidFill>
            <a:srgbClr val="FDEFD6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292608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342900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51560" y="393192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443484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493776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1560" y="5440680"/>
            <a:ext cx="14630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BE6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80360" y="2834640"/>
            <a:ext cx="4251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80360" y="4343400"/>
            <a:ext cx="4251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0360" y="4343400"/>
            <a:ext cx="4251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AA6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기능이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9AA6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크게 나와요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635240" y="233172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FFF7E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18120" y="2450592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줄 = 메뉴 서랍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서랍이 있어요. 누르면 아래로 펼쳐지고, 그 안에서 원하는 기능을 고릅니다.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635240" y="4206240"/>
            <a:ext cx="3931920" cy="1691640"/>
          </a:xfrm>
          <a:prstGeom prst="roundRect">
            <a:avLst>
              <a:gd name="adj" fmla="val 6486"/>
            </a:avLst>
          </a:prstGeom>
          <a:solidFill>
            <a:srgbClr val="EAF3FB"/>
          </a:solidFill>
          <a:ln w="19050">
            <a:solidFill>
              <a:srgbClr val="2E90D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18120" y="4325112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E6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넓은 곳 = 내용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기능의 실제 화면이 이곳에 나타나요. 여기서 보고 입력하고 저장합니다.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30352"/>
            <a:ext cx="713232" cy="71323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3035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12064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(입장하기)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27048" y="1225296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컴퓨터·휴대폰 인터넷 창에서 시작해요.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828800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417320" y="17830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주소창에 입력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417320" y="2231136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주소창(맨 위 긴 칸)에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test.mangoi.co.kr/admin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입력하고 Enter.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85800" y="3200400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417320" y="31546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아이디·비밀번호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417320" y="3602736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받으신 아이디와 비밀번호를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칸에 또박또박 입력해요.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85800" y="4572000"/>
            <a:ext cx="566928" cy="5669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572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417320" y="45262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파란 버튼 누르기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417320" y="4974336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파란색 [로그인] 버튼을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누르면 끝!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85800" y="5989320"/>
            <a:ext cx="5212080" cy="731520"/>
          </a:xfrm>
          <a:prstGeom prst="roundRect">
            <a:avLst>
              <a:gd name="adj" fmla="val 16250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9893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비밀번호는 남에게 알려주지 마세요. 자리 뜰 땐 꼭 로그아웃!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0" y="1600200"/>
            <a:ext cx="5257800" cy="4892040"/>
          </a:xfrm>
          <a:prstGeom prst="roundRect">
            <a:avLst>
              <a:gd name="adj" fmla="val 2991"/>
            </a:avLst>
          </a:prstGeom>
          <a:solidFill>
            <a:srgbClr val="241A10"/>
          </a:solidFill>
          <a:ln w="19050">
            <a:solidFill>
              <a:srgbClr val="D97706"/>
            </a:solidFill>
            <a:prstDash val="solid"/>
          </a:ln>
          <a:effectLst>
            <a:outerShdw sx="100000" sy="100000" kx="0" ky="0" algn="bl" rotWithShape="0" blurRad="127000" dist="50800" dir="5400000">
              <a:srgbClr val="9A7A40">
                <a:alpha val="35000"/>
              </a:srgbClr>
            </a:outerShdw>
          </a:effectLst>
        </p:spPr>
      </p:sp>
      <p:pic>
        <p:nvPicPr>
          <p:cNvPr id="21" name="Image 0" descr="C:/Users/Admin/AppData/Local/Temp/claude/C--Users-Admin-Desktop-mangoi-develop2-main/5be29eee-81e9-4385-88c8-f6685e2334bc/scratchpad/login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83080"/>
            <a:ext cx="4892040" cy="34381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583680" y="58064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0DC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로그인 화면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58368" cy="65836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4864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🗂️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530352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 한눈에 — 9개 메뉴 그룹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1481328" y="1243584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메뉴는 아래 9개 그룹으로 나뉩니다. 다음 장부터 하나씩 자세히 볼게요.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58368" y="1874520"/>
            <a:ext cx="361188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240280"/>
            <a:ext cx="658368" cy="6583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224028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481328" y="266090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1481328" y="2660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956816" y="2093976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평가서 통합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956816" y="258775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평가·리포트 작성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453128" y="1874520"/>
            <a:ext cx="361188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90872" y="2240280"/>
            <a:ext cx="658368" cy="65836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15" name="Text 13"/>
          <p:cNvSpPr/>
          <p:nvPr/>
        </p:nvSpPr>
        <p:spPr>
          <a:xfrm>
            <a:off x="4553712" y="224028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📢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276088" y="2660904"/>
            <a:ext cx="365760" cy="365760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17" name="Text 15"/>
          <p:cNvSpPr/>
          <p:nvPr/>
        </p:nvSpPr>
        <p:spPr>
          <a:xfrm>
            <a:off x="5276088" y="2660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751576" y="2093976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센터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751576" y="258775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공지·문자 보내기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47888" y="1874520"/>
            <a:ext cx="361188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85632" y="2240280"/>
            <a:ext cx="658368" cy="65836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22" name="Text 20"/>
          <p:cNvSpPr/>
          <p:nvPr/>
        </p:nvSpPr>
        <p:spPr>
          <a:xfrm>
            <a:off x="8348472" y="224028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070848" y="2660904"/>
            <a:ext cx="365760" cy="365760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24" name="Text 22"/>
          <p:cNvSpPr/>
          <p:nvPr/>
        </p:nvSpPr>
        <p:spPr>
          <a:xfrm>
            <a:off x="9070848" y="2660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546336" y="2093976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통합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546336" y="258775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강사·급여·시간표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8368" y="3410712"/>
            <a:ext cx="361188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96112" y="3776472"/>
            <a:ext cx="658368" cy="65836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29" name="Text 27"/>
          <p:cNvSpPr/>
          <p:nvPr/>
        </p:nvSpPr>
        <p:spPr>
          <a:xfrm>
            <a:off x="758952" y="3776472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481328" y="4197096"/>
            <a:ext cx="365760" cy="365760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31" name="Text 29"/>
          <p:cNvSpPr/>
          <p:nvPr/>
        </p:nvSpPr>
        <p:spPr>
          <a:xfrm>
            <a:off x="1481328" y="4197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956816" y="363016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 · KPI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956816" y="41239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숫자·차트로 보기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453128" y="3410712"/>
            <a:ext cx="361188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90872" y="3776472"/>
            <a:ext cx="658368" cy="65836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36" name="Text 34"/>
          <p:cNvSpPr/>
          <p:nvPr/>
        </p:nvSpPr>
        <p:spPr>
          <a:xfrm>
            <a:off x="4553712" y="3776472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5276088" y="4197096"/>
            <a:ext cx="365760" cy="365760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38" name="Text 36"/>
          <p:cNvSpPr/>
          <p:nvPr/>
        </p:nvSpPr>
        <p:spPr>
          <a:xfrm>
            <a:off x="5276088" y="4197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5751576" y="363016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 · 포인트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5751576" y="41239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결제·정산·포인트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8247888" y="3410712"/>
            <a:ext cx="361188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485632" y="3776472"/>
            <a:ext cx="658368" cy="65836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43" name="Text 41"/>
          <p:cNvSpPr/>
          <p:nvPr/>
        </p:nvSpPr>
        <p:spPr>
          <a:xfrm>
            <a:off x="8348472" y="3776472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👪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9070848" y="4197096"/>
            <a:ext cx="365760" cy="365760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45" name="Text 43"/>
          <p:cNvSpPr/>
          <p:nvPr/>
        </p:nvSpPr>
        <p:spPr>
          <a:xfrm>
            <a:off x="9070848" y="4197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9546336" y="363016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· 학부모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9546336" y="4123944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학생·상담·등록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58368" y="4946904"/>
            <a:ext cx="361188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96112" y="5312664"/>
            <a:ext cx="658368" cy="65836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50" name="Text 48"/>
          <p:cNvSpPr/>
          <p:nvPr/>
        </p:nvSpPr>
        <p:spPr>
          <a:xfrm>
            <a:off x="758952" y="5312664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</a:t>
            </a:r>
            <a:endParaRPr lang="en-US" sz="2200" dirty="0"/>
          </a:p>
        </p:txBody>
      </p:sp>
      <p:sp>
        <p:nvSpPr>
          <p:cNvPr id="51" name="Shape 49"/>
          <p:cNvSpPr/>
          <p:nvPr/>
        </p:nvSpPr>
        <p:spPr>
          <a:xfrm>
            <a:off x="1481328" y="5733288"/>
            <a:ext cx="365760" cy="365760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52" name="Text 50"/>
          <p:cNvSpPr/>
          <p:nvPr/>
        </p:nvSpPr>
        <p:spPr>
          <a:xfrm>
            <a:off x="1481328" y="5733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1956816" y="51663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· 콘텐츠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1956816" y="5660136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교재·퀴즈·게임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4453128" y="4946904"/>
            <a:ext cx="361188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4690872" y="5312664"/>
            <a:ext cx="658368" cy="65836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57" name="Text 55"/>
          <p:cNvSpPr/>
          <p:nvPr/>
        </p:nvSpPr>
        <p:spPr>
          <a:xfrm>
            <a:off x="4553712" y="5312664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📕</a:t>
            </a:r>
            <a:endParaRPr lang="en-US" sz="2200" dirty="0"/>
          </a:p>
        </p:txBody>
      </p:sp>
      <p:sp>
        <p:nvSpPr>
          <p:cNvPr id="58" name="Shape 56"/>
          <p:cNvSpPr/>
          <p:nvPr/>
        </p:nvSpPr>
        <p:spPr>
          <a:xfrm>
            <a:off x="5276088" y="5733288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59" name="Text 57"/>
          <p:cNvSpPr/>
          <p:nvPr/>
        </p:nvSpPr>
        <p:spPr>
          <a:xfrm>
            <a:off x="5276088" y="5733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000" dirty="0"/>
          </a:p>
        </p:txBody>
      </p:sp>
      <p:sp>
        <p:nvSpPr>
          <p:cNvPr id="60" name="Text 58"/>
          <p:cNvSpPr/>
          <p:nvPr/>
        </p:nvSpPr>
        <p:spPr>
          <a:xfrm>
            <a:off x="5751576" y="51663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자료실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5751576" y="5660136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설명서·영상 받기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8247888" y="4946904"/>
            <a:ext cx="3611880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8485632" y="5312664"/>
            <a:ext cx="658368" cy="65836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64" name="Text 62"/>
          <p:cNvSpPr/>
          <p:nvPr/>
        </p:nvSpPr>
        <p:spPr>
          <a:xfrm>
            <a:off x="8348472" y="5312664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</a:t>
            </a:r>
            <a:endParaRPr lang="en-US" sz="2200" dirty="0"/>
          </a:p>
        </p:txBody>
      </p:sp>
      <p:sp>
        <p:nvSpPr>
          <p:cNvPr id="65" name="Shape 63"/>
          <p:cNvSpPr/>
          <p:nvPr/>
        </p:nvSpPr>
        <p:spPr>
          <a:xfrm>
            <a:off x="9070848" y="5733288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66" name="Text 64"/>
          <p:cNvSpPr/>
          <p:nvPr/>
        </p:nvSpPr>
        <p:spPr>
          <a:xfrm>
            <a:off x="9070848" y="5733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2000" dirty="0"/>
          </a:p>
        </p:txBody>
      </p:sp>
      <p:sp>
        <p:nvSpPr>
          <p:cNvPr id="67" name="Text 65"/>
          <p:cNvSpPr/>
          <p:nvPr/>
        </p:nvSpPr>
        <p:spPr>
          <a:xfrm>
            <a:off x="9546336" y="51663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1800" dirty="0"/>
          </a:p>
        </p:txBody>
      </p:sp>
      <p:sp>
        <p:nvSpPr>
          <p:cNvPr id="68" name="Text 66"/>
          <p:cNvSpPr/>
          <p:nvPr/>
        </p:nvSpPr>
        <p:spPr>
          <a:xfrm>
            <a:off x="9546336" y="5660136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권한·출결·설정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49808" cy="74980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429768" y="475488"/>
            <a:ext cx="10241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81328" y="4572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63040" y="7315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평가서 통합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4160520" cy="1783080"/>
          </a:xfrm>
          <a:prstGeom prst="roundRect">
            <a:avLst>
              <a:gd name="adj" fmla="val 6667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무슨 일을 하나요?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267712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학생의 실력·성취를 평가하고, 학부모에게 보낼 리포트를 만드는 곳이에요.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4160520" cy="2606040"/>
          </a:xfrm>
          <a:prstGeom prst="roundRect">
            <a:avLst>
              <a:gd name="adj" fmla="val 4561"/>
            </a:avLst>
          </a:prstGeom>
          <a:solidFill>
            <a:srgbClr val="EAF3FB"/>
          </a:solidFill>
          <a:ln w="12700">
            <a:solidFill>
              <a:srgbClr val="BEDCF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7947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6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왜 만들었나요?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4187952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선생님마다 제각각이던 평가 방식을 하나의 틀로 모아, 공정하게 매기고 학부모 신뢰를 높이려고 만들었어요.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783080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메뉴 6개  —  눌러서 사용해요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37760" y="2496312"/>
            <a:ext cx="109728" cy="1097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5138928" y="23682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평가서 작성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한 명씩 평가서 작성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37760" y="3154680"/>
            <a:ext cx="109728" cy="1097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5138928" y="302666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일괄 평가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학생 한 번에 평가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37760" y="3813048"/>
            <a:ext cx="109728" cy="1097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5138928" y="368503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수업 리포트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수업을 요약해 리포트로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394192" y="2496312"/>
            <a:ext cx="109728" cy="1097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8595360" y="23682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초안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문구를 AI가 먼저 써줌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394192" y="3154680"/>
            <a:ext cx="109728" cy="1097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8595360" y="302666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리포트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 학습을 정리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394192" y="3813048"/>
            <a:ext cx="109728" cy="10972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8595360" y="368503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비교 리포트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지난달·반 평균과 비교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49808" cy="74980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3" name="Text 1"/>
          <p:cNvSpPr/>
          <p:nvPr/>
        </p:nvSpPr>
        <p:spPr>
          <a:xfrm>
            <a:off x="429768" y="475488"/>
            <a:ext cx="10241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81328" y="4572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63040" y="7315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센터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4160520" cy="1783080"/>
          </a:xfrm>
          <a:prstGeom prst="roundRect">
            <a:avLst>
              <a:gd name="adj" fmla="val 6667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무슨 일을 하나요?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267712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학생·학부모에게 소식을 보내고, 화면에 뜨는 공지·팝업을 관리하는 곳이에요.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4160520" cy="2606040"/>
          </a:xfrm>
          <a:prstGeom prst="roundRect">
            <a:avLst>
              <a:gd name="adj" fmla="val 4561"/>
            </a:avLst>
          </a:prstGeom>
          <a:solidFill>
            <a:srgbClr val="EAF3FB"/>
          </a:solidFill>
          <a:ln w="12700">
            <a:solidFill>
              <a:srgbClr val="BEDCF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7947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6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왜 만들었나요?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4187952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전화·문자로 일일이 알리던 일을 버튼 한 번으로 한꺼번에 전하려고 만들었어요.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783080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메뉴 6개  —  눌러서 사용해요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37760" y="2496312"/>
            <a:ext cx="109728" cy="10972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38928" y="23682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푸시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앱·브라우저 알림 발송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37760" y="3154680"/>
            <a:ext cx="109728" cy="10972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16" name="Text 14"/>
          <p:cNvSpPr/>
          <p:nvPr/>
        </p:nvSpPr>
        <p:spPr>
          <a:xfrm>
            <a:off x="5138928" y="302666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알림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카카오톡으로 알림 보내기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37760" y="3813048"/>
            <a:ext cx="109728" cy="10972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18" name="Text 16"/>
          <p:cNvSpPr/>
          <p:nvPr/>
        </p:nvSpPr>
        <p:spPr>
          <a:xfrm>
            <a:off x="5138928" y="368503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📢 공지 스튜디오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공지·안내 포스터 만들기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394192" y="2496312"/>
            <a:ext cx="109728" cy="10972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20" name="Text 18"/>
          <p:cNvSpPr/>
          <p:nvPr/>
        </p:nvSpPr>
        <p:spPr>
          <a:xfrm>
            <a:off x="8595360" y="23682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📢 팝업 게시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시 뜨는 팝업 공지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394192" y="3154680"/>
            <a:ext cx="109728" cy="10972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22" name="Text 20"/>
          <p:cNvSpPr/>
          <p:nvPr/>
        </p:nvSpPr>
        <p:spPr>
          <a:xfrm>
            <a:off x="8595360" y="302666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알림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행사·이벤트 알림 발송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394192" y="3813048"/>
            <a:ext cx="109728" cy="10972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24" name="Text 22"/>
          <p:cNvSpPr/>
          <p:nvPr/>
        </p:nvSpPr>
        <p:spPr>
          <a:xfrm>
            <a:off x="8595360" y="368503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공지사항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게시판형 공지 등록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49808" cy="74980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3" name="Text 1"/>
          <p:cNvSpPr/>
          <p:nvPr/>
        </p:nvSpPr>
        <p:spPr>
          <a:xfrm>
            <a:off x="429768" y="475488"/>
            <a:ext cx="10241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81328" y="4572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63040" y="7315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통합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4160520" cy="1783080"/>
          </a:xfrm>
          <a:prstGeom prst="roundRect">
            <a:avLst>
              <a:gd name="adj" fmla="val 6667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무슨 일을 하나요?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267712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정보·급여·시간표·평가 등 선생님과 관련된 모든 것을 관리해요.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4160520" cy="2606040"/>
          </a:xfrm>
          <a:prstGeom prst="roundRect">
            <a:avLst>
              <a:gd name="adj" fmla="val 4561"/>
            </a:avLst>
          </a:prstGeom>
          <a:solidFill>
            <a:srgbClr val="EAF3FB"/>
          </a:solidFill>
          <a:ln w="12700">
            <a:solidFill>
              <a:srgbClr val="BEDCF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7947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6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왜 만들었나요?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4187952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정보가 여기저기 흩어져 급여·근태를 손으로 계산하던 일을 자동으로 처리하려고 만들었어요.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783080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0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메뉴 12개  —  눌러서 사용해요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37760" y="2496312"/>
            <a:ext cx="109728" cy="1097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14" name="Text 12"/>
          <p:cNvSpPr/>
          <p:nvPr/>
        </p:nvSpPr>
        <p:spPr>
          <a:xfrm>
            <a:off x="5138928" y="236829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등록·정보·배정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37760" y="3151632"/>
            <a:ext cx="109728" cy="1097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16" name="Text 14"/>
          <p:cNvSpPr/>
          <p:nvPr/>
        </p:nvSpPr>
        <p:spPr>
          <a:xfrm>
            <a:off x="5138928" y="302361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급여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수 기준 급여 자동집계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37760" y="3806952"/>
            <a:ext cx="109728" cy="1097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18" name="Text 16"/>
          <p:cNvSpPr/>
          <p:nvPr/>
        </p:nvSpPr>
        <p:spPr>
          <a:xfrm>
            <a:off x="5138928" y="367893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연기·변경 요청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수업 연기 승인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937760" y="4462272"/>
            <a:ext cx="109728" cy="1097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433425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 학생 수업 평가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학생이 준 강사 별점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937760" y="5117592"/>
            <a:ext cx="109728" cy="1097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22" name="Text 20"/>
          <p:cNvSpPr/>
          <p:nvPr/>
        </p:nvSpPr>
        <p:spPr>
          <a:xfrm>
            <a:off x="5138928" y="498957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급여 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급여 상세·공제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937760" y="5772912"/>
            <a:ext cx="109728" cy="1097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24" name="Text 22"/>
          <p:cNvSpPr/>
          <p:nvPr/>
        </p:nvSpPr>
        <p:spPr>
          <a:xfrm>
            <a:off x="5138928" y="564489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MBTI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성향 진단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394192" y="2496312"/>
            <a:ext cx="109728" cy="1097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26" name="Text 24"/>
          <p:cNvSpPr/>
          <p:nvPr/>
        </p:nvSpPr>
        <p:spPr>
          <a:xfrm>
            <a:off x="8595360" y="236829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칭찬 통계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칭찬 포인트 통계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394192" y="3151632"/>
            <a:ext cx="109728" cy="1097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302361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🔎 강사 슈퍼바이저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품질 모니터링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394192" y="3806952"/>
            <a:ext cx="109728" cy="1097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30" name="Text 28"/>
          <p:cNvSpPr/>
          <p:nvPr/>
        </p:nvSpPr>
        <p:spPr>
          <a:xfrm>
            <a:off x="8595360" y="367893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📨 방 초대 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화상수업 방 초대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394192" y="4462272"/>
            <a:ext cx="109728" cy="1097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32" name="Text 30"/>
          <p:cNvSpPr/>
          <p:nvPr/>
        </p:nvSpPr>
        <p:spPr>
          <a:xfrm>
            <a:off x="8595360" y="433425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시간표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강사별 수업 시간표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394192" y="5117592"/>
            <a:ext cx="109728" cy="1097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498957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 수업 일지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강사가 쓴 수업 기록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394192" y="5772912"/>
            <a:ext cx="109728" cy="1097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36" name="Text 34"/>
          <p:cNvSpPr/>
          <p:nvPr/>
        </p:nvSpPr>
        <p:spPr>
          <a:xfrm>
            <a:off x="8595360" y="564489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보고서 양식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서식 관리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49808" cy="74980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3" name="Text 1"/>
          <p:cNvSpPr/>
          <p:nvPr/>
        </p:nvSpPr>
        <p:spPr>
          <a:xfrm>
            <a:off x="429768" y="475488"/>
            <a:ext cx="10241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81328" y="4572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5C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63040" y="7315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 · KPI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4160520" cy="1783080"/>
          </a:xfrm>
          <a:prstGeom prst="roundRect">
            <a:avLst>
              <a:gd name="adj" fmla="val 6667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무슨 일을 하나요?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267712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매출·출석·수업·랭킹 등 학원의 숫자를 그래프로 한눈에 볼 수 있어요.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4160520" cy="2606040"/>
          </a:xfrm>
          <a:prstGeom prst="roundRect">
            <a:avLst>
              <a:gd name="adj" fmla="val 4561"/>
            </a:avLst>
          </a:prstGeom>
          <a:solidFill>
            <a:srgbClr val="EAF3FB"/>
          </a:solidFill>
          <a:ln w="12700">
            <a:solidFill>
              <a:srgbClr val="BEDCF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7947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6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왜 만들었나요?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4187952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하던 운영 판단을 실제 데이터로 바꿔, 무엇이 잘되고 안되는지 바로 알려고 만들었어요.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783080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5C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메뉴 9개  —  눌러서 사용해요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37760" y="2496312"/>
            <a:ext cx="109728" cy="10972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14" name="Text 12"/>
          <p:cNvSpPr/>
          <p:nvPr/>
        </p:nvSpPr>
        <p:spPr>
          <a:xfrm>
            <a:off x="5138928" y="23682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대시보드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 한 화면 요약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37760" y="3154680"/>
            <a:ext cx="109728" cy="10972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16" name="Text 14"/>
          <p:cNvSpPr/>
          <p:nvPr/>
        </p:nvSpPr>
        <p:spPr>
          <a:xfrm>
            <a:off x="5138928" y="302666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차트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날짜별 추이 그래프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37760" y="3813048"/>
            <a:ext cx="109728" cy="10972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18" name="Text 16"/>
          <p:cNvSpPr/>
          <p:nvPr/>
        </p:nvSpPr>
        <p:spPr>
          <a:xfrm>
            <a:off x="5138928" y="368503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학생·반 순위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937760" y="4471416"/>
            <a:ext cx="109728" cy="10972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43434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위험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그만둘 위험 학생 예측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937760" y="5129784"/>
            <a:ext cx="109728" cy="10972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22" name="Text 20"/>
          <p:cNvSpPr/>
          <p:nvPr/>
        </p:nvSpPr>
        <p:spPr>
          <a:xfrm>
            <a:off x="5138928" y="500176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보관기간 파기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데이터 정리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394192" y="2496312"/>
            <a:ext cx="109728" cy="10972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24" name="Text 22"/>
          <p:cNvSpPr/>
          <p:nvPr/>
        </p:nvSpPr>
        <p:spPr>
          <a:xfrm>
            <a:off x="8595360" y="23682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실시간 수업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진행 중인 수업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394192" y="3154680"/>
            <a:ext cx="109728" cy="10972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26" name="Text 24"/>
          <p:cNvSpPr/>
          <p:nvPr/>
        </p:nvSpPr>
        <p:spPr>
          <a:xfrm>
            <a:off x="8595360" y="302666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📈 월별 NPS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만족도 지표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394192" y="3813048"/>
            <a:ext cx="109728" cy="10972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368503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AI 예측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추세 예측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394192" y="4471416"/>
            <a:ext cx="109728" cy="10972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30" name="Text 28"/>
          <p:cNvSpPr/>
          <p:nvPr/>
        </p:nvSpPr>
        <p:spPr>
          <a:xfrm>
            <a:off x="8595360" y="43434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🎤 음성 통계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발화·음성 데이터 통계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49808" cy="74980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3" name="Text 1"/>
          <p:cNvSpPr/>
          <p:nvPr/>
        </p:nvSpPr>
        <p:spPr>
          <a:xfrm>
            <a:off x="429768" y="475488"/>
            <a:ext cx="10241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81328" y="4572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9E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63040" y="7315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 · 포인트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4160520" cy="1783080"/>
          </a:xfrm>
          <a:prstGeom prst="roundRect">
            <a:avLst>
              <a:gd name="adj" fmla="val 6667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무슨 일을 하나요?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267712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결제·정산·포인트 등 돈과 관련된 모든 것을 관리하는 곳이에요.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4160520" cy="2606040"/>
          </a:xfrm>
          <a:prstGeom prst="roundRect">
            <a:avLst>
              <a:gd name="adj" fmla="val 4561"/>
            </a:avLst>
          </a:prstGeom>
          <a:solidFill>
            <a:srgbClr val="EAF3FB"/>
          </a:solidFill>
          <a:ln w="12700">
            <a:solidFill>
              <a:srgbClr val="BEDCF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7947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6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왜 만들었나요?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4187952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지사·대리점 정산과 수강료 결제를 손 계산 없이 자동으로 처리하려고 만들었어요.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783080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9E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메뉴 8개  —  눌러서 사용해요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37760" y="2496312"/>
            <a:ext cx="109728" cy="10972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14" name="Text 12"/>
          <p:cNvSpPr/>
          <p:nvPr/>
        </p:nvSpPr>
        <p:spPr>
          <a:xfrm>
            <a:off x="5138928" y="23682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회계 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수입·지출 장부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37760" y="3154680"/>
            <a:ext cx="109728" cy="10972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16" name="Text 14"/>
          <p:cNvSpPr/>
          <p:nvPr/>
        </p:nvSpPr>
        <p:spPr>
          <a:xfrm>
            <a:off x="5138928" y="302666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🏢 BtoB 결제관리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기업·기관 결제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37760" y="3813048"/>
            <a:ext cx="109728" cy="10972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18" name="Text 16"/>
          <p:cNvSpPr/>
          <p:nvPr/>
        </p:nvSpPr>
        <p:spPr>
          <a:xfrm>
            <a:off x="5138928" y="368503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👪 BtoC 결제관리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개인(학부모) 결제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937760" y="4471416"/>
            <a:ext cx="109728" cy="10972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43434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 정기 결제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매달 자동 결제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394192" y="2496312"/>
            <a:ext cx="109728" cy="10972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22" name="Text 20"/>
          <p:cNvSpPr/>
          <p:nvPr/>
        </p:nvSpPr>
        <p:spPr>
          <a:xfrm>
            <a:off x="8595360" y="23682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 자동 수금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미납금 자동 청구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394192" y="3154680"/>
            <a:ext cx="109728" cy="10972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24" name="Text 22"/>
          <p:cNvSpPr/>
          <p:nvPr/>
        </p:nvSpPr>
        <p:spPr>
          <a:xfrm>
            <a:off x="8595360" y="302666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정산 통계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현황 통계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394192" y="3813048"/>
            <a:ext cx="109728" cy="10972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26" name="Text 24"/>
          <p:cNvSpPr/>
          <p:nvPr/>
        </p:nvSpPr>
        <p:spPr>
          <a:xfrm>
            <a:off x="8595360" y="368503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포인트 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포인트·기프트콘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394192" y="4471416"/>
            <a:ext cx="109728" cy="10972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434340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🏢 캐피타운 정산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본사·지사 수수료 정산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49808" cy="74980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3" name="Text 1"/>
          <p:cNvSpPr/>
          <p:nvPr/>
        </p:nvSpPr>
        <p:spPr>
          <a:xfrm>
            <a:off x="429768" y="475488"/>
            <a:ext cx="10241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👪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81328" y="4572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63040" y="7315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· 학부모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4160520" cy="1783080"/>
          </a:xfrm>
          <a:prstGeom prst="roundRect">
            <a:avLst>
              <a:gd name="adj" fmla="val 6667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무슨 일을 하나요?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267712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학생·가족·상담·등록 등 우리 고객(학생과 학부모)을 관리하는 곳이에요.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4160520" cy="2606040"/>
          </a:xfrm>
          <a:prstGeom prst="roundRect">
            <a:avLst>
              <a:gd name="adj" fmla="val 4561"/>
            </a:avLst>
          </a:prstGeom>
          <a:solidFill>
            <a:srgbClr val="EAF3FB"/>
          </a:solidFill>
          <a:ln w="12700">
            <a:solidFill>
              <a:srgbClr val="BEDCF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7947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6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왜 만들었나요?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4187952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학생·학부모 정보를 한곳에 모아 상담·관리·재등록을 놓치지 않으려고 만들었어요.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783080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8A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메뉴 13개  —  눌러서 사용해요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37760" y="2496312"/>
            <a:ext cx="109728" cy="10972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14" name="Text 12"/>
          <p:cNvSpPr/>
          <p:nvPr/>
        </p:nvSpPr>
        <p:spPr>
          <a:xfrm>
            <a:off x="5138928" y="2368296"/>
            <a:ext cx="31089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등록·정보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37760" y="3058015"/>
            <a:ext cx="109728" cy="10972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16" name="Text 14"/>
          <p:cNvSpPr/>
          <p:nvPr/>
        </p:nvSpPr>
        <p:spPr>
          <a:xfrm>
            <a:off x="5138928" y="2929999"/>
            <a:ext cx="31089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학원별 수업현황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지점별 수업 현황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37760" y="3619718"/>
            <a:ext cx="109728" cy="10972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18" name="Text 16"/>
          <p:cNvSpPr/>
          <p:nvPr/>
        </p:nvSpPr>
        <p:spPr>
          <a:xfrm>
            <a:off x="5138928" y="3491702"/>
            <a:ext cx="31089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👪 가족 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형제·가족 묶어 관리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937760" y="4181421"/>
            <a:ext cx="109728" cy="10972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4053405"/>
            <a:ext cx="31089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 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접수된 문의 처리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937760" y="4743123"/>
            <a:ext cx="109728" cy="10972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22" name="Text 20"/>
          <p:cNvSpPr/>
          <p:nvPr/>
        </p:nvSpPr>
        <p:spPr>
          <a:xfrm>
            <a:off x="5138928" y="4615107"/>
            <a:ext cx="31089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신규·재등록 관리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937760" y="5304826"/>
            <a:ext cx="109728" cy="10972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24" name="Text 22"/>
          <p:cNvSpPr/>
          <p:nvPr/>
        </p:nvSpPr>
        <p:spPr>
          <a:xfrm>
            <a:off x="5138928" y="5176810"/>
            <a:ext cx="31089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뱃지 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성취 배지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37760" y="5866529"/>
            <a:ext cx="109728" cy="10972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26" name="Text 24"/>
          <p:cNvSpPr/>
          <p:nvPr/>
        </p:nvSpPr>
        <p:spPr>
          <a:xfrm>
            <a:off x="5138928" y="5738513"/>
            <a:ext cx="31089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커뮤니티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394192" y="2496312"/>
            <a:ext cx="109728" cy="10972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2368296"/>
            <a:ext cx="31089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상담 예약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일정 예약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394192" y="3058015"/>
            <a:ext cx="109728" cy="10972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30" name="Text 28"/>
          <p:cNvSpPr/>
          <p:nvPr/>
        </p:nvSpPr>
        <p:spPr>
          <a:xfrm>
            <a:off x="8595360" y="2929999"/>
            <a:ext cx="31089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📰 학부모 요약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학부모용 학습 요약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394192" y="3619718"/>
            <a:ext cx="109728" cy="10972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32" name="Text 30"/>
          <p:cNvSpPr/>
          <p:nvPr/>
        </p:nvSpPr>
        <p:spPr>
          <a:xfrm>
            <a:off x="8595360" y="3491702"/>
            <a:ext cx="31089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학부모 FAQ봇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 자동응답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394192" y="4181421"/>
            <a:ext cx="109728" cy="10972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4053405"/>
            <a:ext cx="31089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🎁 친구 추천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이벤트 관리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394192" y="4743123"/>
            <a:ext cx="109728" cy="10972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36" name="Text 34"/>
          <p:cNvSpPr/>
          <p:nvPr/>
        </p:nvSpPr>
        <p:spPr>
          <a:xfrm>
            <a:off x="8595360" y="4615107"/>
            <a:ext cx="31089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🎓 졸업생 커뮤니티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졸업생 관리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394192" y="5304826"/>
            <a:ext cx="109728" cy="109728"/>
          </a:xfrm>
          <a:prstGeom prst="ellipse">
            <a:avLst/>
          </a:prstGeom>
          <a:solidFill>
            <a:srgbClr val="E08A2B"/>
          </a:solidFill>
          <a:ln/>
        </p:spPr>
      </p:sp>
      <p:sp>
        <p:nvSpPr>
          <p:cNvPr id="38" name="Text 36"/>
          <p:cNvSpPr/>
          <p:nvPr/>
        </p:nvSpPr>
        <p:spPr>
          <a:xfrm>
            <a:off x="8595360" y="5176810"/>
            <a:ext cx="3108960" cy="561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사진·영상 갤러리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사진·영상 공유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49808" cy="74980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3" name="Text 1"/>
          <p:cNvSpPr/>
          <p:nvPr/>
        </p:nvSpPr>
        <p:spPr>
          <a:xfrm>
            <a:off x="429768" y="475488"/>
            <a:ext cx="10241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81328" y="4572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63040" y="7315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· 콘텐츠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4160520" cy="1783080"/>
          </a:xfrm>
          <a:prstGeom prst="roundRect">
            <a:avLst>
              <a:gd name="adj" fmla="val 6667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무슨 일을 하나요?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267712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교재·퀴즈·게임 등 학생이 공부할 학습 콘텐츠를 만들고 관리해요.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4160520" cy="2606040"/>
          </a:xfrm>
          <a:prstGeom prst="roundRect">
            <a:avLst>
              <a:gd name="adj" fmla="val 4561"/>
            </a:avLst>
          </a:prstGeom>
          <a:solidFill>
            <a:srgbClr val="EAF3FB"/>
          </a:solidFill>
          <a:ln w="12700">
            <a:solidFill>
              <a:srgbClr val="BEDCF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7947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6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왜 만들었나요?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4187952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여기저기 흩어진 학습 자료를 한곳에서 만들고 배포하려고 만들었어요.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783080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메뉴 11개  —  눌러서 사용해요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37760" y="2496312"/>
            <a:ext cx="109728" cy="10972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14" name="Text 12"/>
          <p:cNvSpPr/>
          <p:nvPr/>
        </p:nvSpPr>
        <p:spPr>
          <a:xfrm>
            <a:off x="5138928" y="236829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복습퀴즈 출제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복습 문제 만들기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37760" y="3151632"/>
            <a:ext cx="109728" cy="10972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16" name="Text 14"/>
          <p:cNvSpPr/>
          <p:nvPr/>
        </p:nvSpPr>
        <p:spPr>
          <a:xfrm>
            <a:off x="5138928" y="302361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 콘텐츠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 등록·관리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37760" y="3806952"/>
            <a:ext cx="109728" cy="10972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18" name="Text 16"/>
          <p:cNvSpPr/>
          <p:nvPr/>
        </p:nvSpPr>
        <p:spPr>
          <a:xfrm>
            <a:off x="5138928" y="367893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📖 마이크로러닝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학습 콘텐츠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937760" y="4462272"/>
            <a:ext cx="109728" cy="10972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433425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미니 토익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토익형 문제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937760" y="5117592"/>
            <a:ext cx="109728" cy="10972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22" name="Text 20"/>
          <p:cNvSpPr/>
          <p:nvPr/>
        </p:nvSpPr>
        <p:spPr>
          <a:xfrm>
            <a:off x="5138928" y="498957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🔊 발음 교정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발음 연습·교정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937760" y="5772912"/>
            <a:ext cx="109728" cy="10972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24" name="Text 22"/>
          <p:cNvSpPr/>
          <p:nvPr/>
        </p:nvSpPr>
        <p:spPr>
          <a:xfrm>
            <a:off x="5138928" y="564489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영상 사전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영상으로 배우는 단어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394192" y="2496312"/>
            <a:ext cx="109728" cy="10972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26" name="Text 24"/>
          <p:cNvSpPr/>
          <p:nvPr/>
        </p:nvSpPr>
        <p:spPr>
          <a:xfrm>
            <a:off x="8595360" y="236829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🎤 음성 일기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음성 일기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394192" y="3151632"/>
            <a:ext cx="109728" cy="10972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302361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레벨테스트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수준 진단 시험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394192" y="3806952"/>
            <a:ext cx="109728" cy="10972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30" name="Text 28"/>
          <p:cNvSpPr/>
          <p:nvPr/>
        </p:nvSpPr>
        <p:spPr>
          <a:xfrm>
            <a:off x="8595360" y="367893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🎮 영어 배틀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대결형 학습 게임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394192" y="4462272"/>
            <a:ext cx="109728" cy="10972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32" name="Text 30"/>
          <p:cNvSpPr/>
          <p:nvPr/>
        </p:nvSpPr>
        <p:spPr>
          <a:xfrm>
            <a:off x="8595360" y="433425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💾 녹화 보관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녹화 관리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394192" y="5117592"/>
            <a:ext cx="109728" cy="109728"/>
          </a:xfrm>
          <a:prstGeom prst="ellipse">
            <a:avLst/>
          </a:prstGeom>
          <a:solidFill>
            <a:srgbClr val="2E7D6E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498957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 숙제 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숙제 내고 확인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49808" cy="74980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429768" y="475488"/>
            <a:ext cx="10241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81328" y="4572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63040" y="7315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자료실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4160520" cy="1783080"/>
          </a:xfrm>
          <a:prstGeom prst="roundRect">
            <a:avLst>
              <a:gd name="adj" fmla="val 6667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무슨 일을 하나요?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267712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대상별(관리자·강사·지사·대리점·학생) 사용설명서와 자료를 내려받는 곳이에요.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4160520" cy="2606040"/>
          </a:xfrm>
          <a:prstGeom prst="roundRect">
            <a:avLst>
              <a:gd name="adj" fmla="val 4561"/>
            </a:avLst>
          </a:prstGeom>
          <a:solidFill>
            <a:srgbClr val="EAF3FB"/>
          </a:solidFill>
          <a:ln w="12700">
            <a:solidFill>
              <a:srgbClr val="BEDCF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7947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6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왜 만들었나요?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4187952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매뉴얼을 파일로 주고받던 번거로움을 없애고, 한 창고에 모아 언제든 받게 하려고 만들었어요.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532120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1E6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각 방은 비밀번호로 잠겨 있어요. 대상에게 받은 방 비밀번호를 넣으면 열립니다.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메뉴 5개  —  눌러서 사용해요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937760" y="2496312"/>
            <a:ext cx="109728" cy="1097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5138928" y="23682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📕 관리자 자료실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관리자용 설명서·영상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937760" y="3154680"/>
            <a:ext cx="109728" cy="1097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5138928" y="302666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🏫 강사 자료실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강사용 매뉴얼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937760" y="3813048"/>
            <a:ext cx="109728" cy="1097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9" name="Text 17"/>
          <p:cNvSpPr/>
          <p:nvPr/>
        </p:nvSpPr>
        <p:spPr>
          <a:xfrm>
            <a:off x="5138928" y="368503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🏢 지사 자료실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지사용 자료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394192" y="2496312"/>
            <a:ext cx="109728" cy="1097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8595360" y="23682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🏬 대리점 자료실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대리점용 자료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394192" y="3154680"/>
            <a:ext cx="109728" cy="10972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3" name="Text 21"/>
          <p:cNvSpPr/>
          <p:nvPr/>
        </p:nvSpPr>
        <p:spPr>
          <a:xfrm>
            <a:off x="8595360" y="302666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🎒 학생·학부모 자료실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학생·학부모용 안내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749808" cy="74980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3" name="Text 1"/>
          <p:cNvSpPr/>
          <p:nvPr/>
        </p:nvSpPr>
        <p:spPr>
          <a:xfrm>
            <a:off x="429768" y="475488"/>
            <a:ext cx="10241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481328" y="45720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9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463040" y="731520"/>
            <a:ext cx="6858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4160520" cy="1783080"/>
          </a:xfrm>
          <a:prstGeom prst="roundRect">
            <a:avLst>
              <a:gd name="adj" fmla="val 6667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❓ 무슨 일을 하나요?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267712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권한·가맹점·출결·캘린더 등 시스템 전반을 설정하는 곳이에요.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4160520" cy="2606040"/>
          </a:xfrm>
          <a:prstGeom prst="roundRect">
            <a:avLst>
              <a:gd name="adj" fmla="val 4561"/>
            </a:avLst>
          </a:prstGeom>
          <a:solidFill>
            <a:srgbClr val="EAF3FB"/>
          </a:solidFill>
          <a:ln w="12700">
            <a:solidFill>
              <a:srgbClr val="BEDCF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7947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6F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왜 만들었나요?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4187952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무엇을 볼 수 있는지(권한)와 기본 설정을 안전하게 관리하려고 만들었어요.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783080"/>
            <a:ext cx="6766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메뉴 12개  —  눌러서 사용해요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37760" y="2496312"/>
            <a:ext cx="109728" cy="10972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Text 12"/>
          <p:cNvSpPr/>
          <p:nvPr/>
        </p:nvSpPr>
        <p:spPr>
          <a:xfrm>
            <a:off x="5138928" y="236829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캘린더 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학원 일정 관리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37760" y="3151632"/>
            <a:ext cx="109728" cy="10972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6" name="Text 14"/>
          <p:cNvSpPr/>
          <p:nvPr/>
        </p:nvSpPr>
        <p:spPr>
          <a:xfrm>
            <a:off x="5138928" y="302361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관리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역할별 메뉴 권한 설정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937760" y="3806952"/>
            <a:ext cx="109728" cy="10972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8" name="Text 16"/>
          <p:cNvSpPr/>
          <p:nvPr/>
        </p:nvSpPr>
        <p:spPr>
          <a:xfrm>
            <a:off x="5138928" y="367893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가맹점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지사·대리점 관리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937760" y="4462272"/>
            <a:ext cx="109728" cy="10972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433425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센터·지점 관리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937760" y="5117592"/>
            <a:ext cx="109728" cy="10972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2" name="Text 20"/>
          <p:cNvSpPr/>
          <p:nvPr/>
        </p:nvSpPr>
        <p:spPr>
          <a:xfrm>
            <a:off x="5138928" y="498957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추출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내려받기(CSV)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937760" y="5772912"/>
            <a:ext cx="109728" cy="10972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4" name="Text 22"/>
          <p:cNvSpPr/>
          <p:nvPr/>
        </p:nvSpPr>
        <p:spPr>
          <a:xfrm>
            <a:off x="5138928" y="564489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🔔 관리자 알림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내부 알림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394192" y="2496312"/>
            <a:ext cx="109728" cy="10972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6" name="Text 24"/>
          <p:cNvSpPr/>
          <p:nvPr/>
        </p:nvSpPr>
        <p:spPr>
          <a:xfrm>
            <a:off x="8595360" y="236829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👻 Ghost View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 화면 그대로 보기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394192" y="3151632"/>
            <a:ext cx="109728" cy="10972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302361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귓속말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중 조용히 메시지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394192" y="3806952"/>
            <a:ext cx="109728" cy="10972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30" name="Text 28"/>
          <p:cNvSpPr/>
          <p:nvPr/>
        </p:nvSpPr>
        <p:spPr>
          <a:xfrm>
            <a:off x="8595360" y="367893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출결 상태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출석 현황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394192" y="4462272"/>
            <a:ext cx="109728" cy="10972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32" name="Text 30"/>
          <p:cNvSpPr/>
          <p:nvPr/>
        </p:nvSpPr>
        <p:spPr>
          <a:xfrm>
            <a:off x="8595360" y="433425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QR 출결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QR로 출석 체크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394192" y="5117592"/>
            <a:ext cx="109728" cy="10972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498957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 수업 출결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수업별 출석 기록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394192" y="5772912"/>
            <a:ext cx="109728" cy="109728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36" name="Text 34"/>
          <p:cNvSpPr/>
          <p:nvPr/>
        </p:nvSpPr>
        <p:spPr>
          <a:xfrm>
            <a:off x="8595360" y="5644896"/>
            <a:ext cx="310896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보고서 양식  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서식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58368" cy="65836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4864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530352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기능 3가지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81328" y="1243584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처음엔 이 3가지만 익혀도 충분해요.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" y="2011680"/>
            <a:ext cx="3611880" cy="4023360"/>
          </a:xfrm>
          <a:prstGeom prst="roundRect">
            <a:avLst>
              <a:gd name="adj" fmla="val 3291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61388" y="2423160"/>
            <a:ext cx="1005840" cy="1005840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8" name="Text 6"/>
          <p:cNvSpPr/>
          <p:nvPr/>
        </p:nvSpPr>
        <p:spPr>
          <a:xfrm>
            <a:off x="1824228" y="242316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📢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6118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 올리기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932688" y="4206240"/>
            <a:ext cx="306324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060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420624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60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센터 → 공지 스튜디오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86968" y="4937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학생·학부모에게 소식을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전할 때 사용해요.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453128" y="2011680"/>
            <a:ext cx="3611880" cy="4023360"/>
          </a:xfrm>
          <a:prstGeom prst="roundRect">
            <a:avLst>
              <a:gd name="adj" fmla="val 3291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56148" y="2423160"/>
            <a:ext cx="1005840" cy="1005840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15" name="Text 13"/>
          <p:cNvSpPr/>
          <p:nvPr/>
        </p:nvSpPr>
        <p:spPr>
          <a:xfrm>
            <a:off x="5618988" y="242316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453128" y="36118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 보기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727448" y="4206240"/>
            <a:ext cx="306324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C5C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0288" y="420624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5C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통계·KPI → 대시보드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81728" y="4937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수업·매출·출석을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숫자와 그래프로 봐요.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247888" y="2011680"/>
            <a:ext cx="3611880" cy="4023360"/>
          </a:xfrm>
          <a:prstGeom prst="roundRect">
            <a:avLst>
              <a:gd name="adj" fmla="val 3291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550908" y="2423160"/>
            <a:ext cx="1005840" cy="10058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9413748" y="242316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📕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8247888" y="361188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설명서 받기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522208" y="4206240"/>
            <a:ext cx="306324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85048" y="420624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자료실 → 관리자 자료실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76488" y="4937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사용법 PDF·동영상을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언제든 내려받아요.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713232" cy="713232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1206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08760" y="512064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따라하기 — 공지 하나 보내보기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1527048" y="1225296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많이 쓰는 ‘공지 보내기’를 예로 4단계만 따라 해봐요.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20344" y="2240280"/>
            <a:ext cx="2286000" cy="27432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60424" y="2560320"/>
            <a:ext cx="1005840" cy="1005840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8" name="Text 6"/>
          <p:cNvSpPr/>
          <p:nvPr/>
        </p:nvSpPr>
        <p:spPr>
          <a:xfrm>
            <a:off x="1423264" y="256032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📂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1779880" y="3566160"/>
            <a:ext cx="566928" cy="56692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10" name="Text 8"/>
          <p:cNvSpPr/>
          <p:nvPr/>
        </p:nvSpPr>
        <p:spPr>
          <a:xfrm>
            <a:off x="1779880" y="3566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11784" y="4206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왼쪽에서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‘알림 센터’ 열기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24632" y="31546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E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3800" dirty="0"/>
          </a:p>
        </p:txBody>
      </p:sp>
      <p:sp>
        <p:nvSpPr>
          <p:cNvPr id="13" name="Shape 11"/>
          <p:cNvSpPr/>
          <p:nvPr/>
        </p:nvSpPr>
        <p:spPr>
          <a:xfrm>
            <a:off x="3608680" y="2240280"/>
            <a:ext cx="2286000" cy="27432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48760" y="2560320"/>
            <a:ext cx="1005840" cy="1005840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15" name="Text 13"/>
          <p:cNvSpPr/>
          <p:nvPr/>
        </p:nvSpPr>
        <p:spPr>
          <a:xfrm>
            <a:off x="4111600" y="256032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📢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4468216" y="3566160"/>
            <a:ext cx="566928" cy="56692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17" name="Text 15"/>
          <p:cNvSpPr/>
          <p:nvPr/>
        </p:nvSpPr>
        <p:spPr>
          <a:xfrm>
            <a:off x="4468216" y="3566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700120" y="4206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‘공지 스튜디오’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12968" y="31546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E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3800" dirty="0"/>
          </a:p>
        </p:txBody>
      </p:sp>
      <p:sp>
        <p:nvSpPr>
          <p:cNvPr id="20" name="Shape 18"/>
          <p:cNvSpPr/>
          <p:nvPr/>
        </p:nvSpPr>
        <p:spPr>
          <a:xfrm>
            <a:off x="6297016" y="2240280"/>
            <a:ext cx="2286000" cy="27432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37096" y="2560320"/>
            <a:ext cx="1005840" cy="1005840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22" name="Text 20"/>
          <p:cNvSpPr/>
          <p:nvPr/>
        </p:nvSpPr>
        <p:spPr>
          <a:xfrm>
            <a:off x="6799936" y="256032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</a:t>
            </a:r>
            <a:endParaRPr lang="en-US" sz="3400" dirty="0"/>
          </a:p>
        </p:txBody>
      </p:sp>
      <p:sp>
        <p:nvSpPr>
          <p:cNvPr id="23" name="Shape 21"/>
          <p:cNvSpPr/>
          <p:nvPr/>
        </p:nvSpPr>
        <p:spPr>
          <a:xfrm>
            <a:off x="7156552" y="3566160"/>
            <a:ext cx="566928" cy="56692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24" name="Text 22"/>
          <p:cNvSpPr/>
          <p:nvPr/>
        </p:nvSpPr>
        <p:spPr>
          <a:xfrm>
            <a:off x="7156552" y="3566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388456" y="4206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제목과 내용을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601304" y="31546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E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3800" dirty="0"/>
          </a:p>
        </p:txBody>
      </p:sp>
      <p:sp>
        <p:nvSpPr>
          <p:cNvPr id="27" name="Shape 25"/>
          <p:cNvSpPr/>
          <p:nvPr/>
        </p:nvSpPr>
        <p:spPr>
          <a:xfrm>
            <a:off x="8985352" y="2240280"/>
            <a:ext cx="2286000" cy="2743200"/>
          </a:xfrm>
          <a:prstGeom prst="roundRect">
            <a:avLst>
              <a:gd name="adj" fmla="val 5200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625432" y="2560320"/>
            <a:ext cx="1005840" cy="1005840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29" name="Text 27"/>
          <p:cNvSpPr/>
          <p:nvPr/>
        </p:nvSpPr>
        <p:spPr>
          <a:xfrm>
            <a:off x="9488272" y="256032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💾</a:t>
            </a:r>
            <a:endParaRPr lang="en-US" sz="3400" dirty="0"/>
          </a:p>
        </p:txBody>
      </p:sp>
      <p:sp>
        <p:nvSpPr>
          <p:cNvPr id="30" name="Shape 28"/>
          <p:cNvSpPr/>
          <p:nvPr/>
        </p:nvSpPr>
        <p:spPr>
          <a:xfrm>
            <a:off x="9844888" y="3566160"/>
            <a:ext cx="566928" cy="566928"/>
          </a:xfrm>
          <a:prstGeom prst="ellipse">
            <a:avLst/>
          </a:prstGeom>
          <a:solidFill>
            <a:srgbClr val="1B9E5A"/>
          </a:solidFill>
          <a:ln/>
        </p:spPr>
      </p:sp>
      <p:sp>
        <p:nvSpPr>
          <p:cNvPr id="31" name="Text 29"/>
          <p:cNvSpPr/>
          <p:nvPr/>
        </p:nvSpPr>
        <p:spPr>
          <a:xfrm>
            <a:off x="9844888" y="3566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9076792" y="4206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[저장·게시]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누르기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14400" y="5532120"/>
            <a:ext cx="10360152" cy="1005840"/>
          </a:xfrm>
          <a:prstGeom prst="roundRect">
            <a:avLst>
              <a:gd name="adj" fmla="val 11818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188720" y="553212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안심하세요!  </a:t>
            </a:r>
            <a:pPr indent="0" marL="0">
              <a:buNone/>
            </a:pPr>
            <a:r>
              <a:rPr lang="en-US" sz="145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[저장·게시] 버튼을 누르기 전까지는 아무 일도 일어나지 않아요. 잘못 눌러도 괜찮습니다.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58368" cy="65836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4864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🚪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530352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안전하게 나가기 + 꿀팁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4754880" cy="4297680"/>
          </a:xfrm>
          <a:prstGeom prst="roundRect">
            <a:avLst>
              <a:gd name="adj" fmla="val 2766"/>
            </a:avLst>
          </a:prstGeom>
          <a:solidFill>
            <a:srgbClr val="FFF7EA"/>
          </a:solidFill>
          <a:ln w="12700">
            <a:solidFill>
              <a:srgbClr val="FBE6C2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651760" y="2103120"/>
            <a:ext cx="1051560" cy="105156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2514600" y="2103120"/>
            <a:ext cx="1325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🚪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85800" y="33375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 하는 법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097280" y="3931920"/>
            <a:ext cx="4023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내 이름(사람 모양)을 누르기
</a:t>
            </a:r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[로그아웃] 을 선택하기
</a:t>
            </a:r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1B9E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끝!  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이러면 다른 사람이 못 들어와요.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806440" y="1783080"/>
            <a:ext cx="5715000" cy="1298448"/>
          </a:xfrm>
          <a:prstGeom prst="roundRect">
            <a:avLst>
              <a:gd name="adj" fmla="val 9155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053328" y="2103120"/>
            <a:ext cx="658368" cy="658368"/>
          </a:xfrm>
          <a:prstGeom prst="ellipse">
            <a:avLst/>
          </a:prstGeom>
          <a:solidFill>
            <a:srgbClr val="2E90D9"/>
          </a:solidFill>
          <a:ln/>
        </p:spPr>
      </p:sp>
      <p:sp>
        <p:nvSpPr>
          <p:cNvPr id="12" name="Text 10"/>
          <p:cNvSpPr/>
          <p:nvPr/>
        </p:nvSpPr>
        <p:spPr>
          <a:xfrm>
            <a:off x="5916168" y="210312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949440" y="198424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길을 잃으면 홈으로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949440" y="2441448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위 집 모양(🏠)을 누르면 첫 화면으로 돌아와요.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806440" y="3246120"/>
            <a:ext cx="5715000" cy="1298448"/>
          </a:xfrm>
          <a:prstGeom prst="roundRect">
            <a:avLst>
              <a:gd name="adj" fmla="val 9155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53328" y="3566160"/>
            <a:ext cx="658368" cy="658368"/>
          </a:xfrm>
          <a:prstGeom prst="ellipse">
            <a:avLst/>
          </a:prstGeom>
          <a:solidFill>
            <a:srgbClr val="7C5CD9"/>
          </a:solidFill>
          <a:ln/>
        </p:spPr>
      </p:sp>
      <p:sp>
        <p:nvSpPr>
          <p:cNvPr id="17" name="Text 15"/>
          <p:cNvSpPr/>
          <p:nvPr/>
        </p:nvSpPr>
        <p:spPr>
          <a:xfrm>
            <a:off x="5916168" y="356616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📕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949440" y="344728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설명서 다시 보기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49440" y="3904488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자료실에서 이 사용법(PDF·동영상)을 언제든 다시 볼 수 있어요.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806440" y="4709160"/>
            <a:ext cx="5715000" cy="1298448"/>
          </a:xfrm>
          <a:prstGeom prst="roundRect">
            <a:avLst>
              <a:gd name="adj" fmla="val 9155"/>
            </a:avLst>
          </a:prstGeom>
          <a:solidFill>
            <a:srgbClr val="FFFFFF"/>
          </a:solidFill>
          <a:ln w="12700">
            <a:solidFill>
              <a:srgbClr val="EADBC4"/>
            </a:solidFill>
            <a:prstDash val="solid"/>
          </a:ln>
          <a:effectLst>
            <a:outerShdw sx="100000" sy="100000" kx="0" ky="0" algn="bl" rotWithShape="0" blurRad="88900" dist="38100" dir="5400000">
              <a:srgbClr val="C9A96A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53328" y="5029200"/>
            <a:ext cx="658368" cy="658368"/>
          </a:xfrm>
          <a:prstGeom prst="ellipse">
            <a:avLst/>
          </a:prstGeom>
          <a:solidFill>
            <a:srgbClr val="E0607A"/>
          </a:solidFill>
          <a:ln/>
        </p:spPr>
      </p:sp>
      <p:sp>
        <p:nvSpPr>
          <p:cNvPr id="22" name="Text 20"/>
          <p:cNvSpPr/>
          <p:nvPr/>
        </p:nvSpPr>
        <p:spPr>
          <a:xfrm>
            <a:off x="5916168" y="502920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49440" y="4910328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자리 뜰 땐 로그아웃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949440" y="5367528"/>
            <a:ext cx="4434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A6A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잠깐이라도 컴퓨터를 떠날 땐 꼭 로그아웃 하세요.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41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023360"/>
            <a:ext cx="4572000" cy="4572000"/>
          </a:xfrm>
          <a:prstGeom prst="ellipse">
            <a:avLst/>
          </a:prstGeom>
          <a:solidFill>
            <a:srgbClr val="3A2A18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645920"/>
            <a:ext cx="4572000" cy="4572000"/>
          </a:xfrm>
          <a:prstGeom prst="ellipse">
            <a:avLst/>
          </a:prstGeom>
          <a:solidFill>
            <a:srgbClr val="3A2A18"/>
          </a:solidFill>
          <a:ln/>
        </p:spPr>
      </p:sp>
      <p:pic>
        <p:nvPicPr>
          <p:cNvPr id="4" name="Image 0" descr="C:/Users/Admin/Desktop/mangoi_develop2-main/cloudflare-deploy/public/img/mango-ch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777240"/>
            <a:ext cx="2011680" cy="2011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92608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준비 끝!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914400" y="3886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AD9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하나씩 눌러보며 익히면 금방 익숙해집니다.</a:t>
            </a:r>
            <a:endParaRPr lang="en-US" sz="17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AD9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헷갈리면 왼쪽 위 ‘사용 방법이 궁금하신가요?’를 눌러 이 안내서를 다시 보세요.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9184" y="5303520"/>
            <a:ext cx="932688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3069184" y="5303520"/>
            <a:ext cx="932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166464" y="5303520"/>
            <a:ext cx="1298448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4166464" y="5303520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메뉴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29504" y="5303520"/>
            <a:ext cx="1298448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5629504" y="5303520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사용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7092544" y="5303520"/>
            <a:ext cx="749808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7092544" y="5303520"/>
            <a:ext cx="749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006944" y="5303520"/>
            <a:ext cx="1115568" cy="5303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006944" y="5303520"/>
            <a:ext cx="1115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41A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914400" y="621792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9A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망고아이 관리자 페이지 · 메뉴·기능 상세 안내서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망고아이 관리자 페이지 상세 사용법</dc:title>
  <dc:subject>PptxGenJS Presentation</dc:subject>
  <dc:creator>MangoAI</dc:creator>
  <cp:lastModifiedBy>MangoAI</cp:lastModifiedBy>
  <cp:revision>1</cp:revision>
  <dcterms:created xsi:type="dcterms:W3CDTF">2026-07-13T09:16:38Z</dcterms:created>
  <dcterms:modified xsi:type="dcterms:W3CDTF">2026-07-13T09:16:38Z</dcterms:modified>
</cp:coreProperties>
</file>