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4F46E5"/>
              </a:solidFill>
            </c:spPr>
          </c:dPt>
          <c:dPt>
            <c:idx val="1"/>
            <c:spPr>
              <a:solidFill>
                <a:srgbClr val="0EA5E9"/>
              </a:solidFill>
            </c:spPr>
          </c:dPt>
          <c:dPt>
            <c:idx val="2"/>
            <c:spPr>
              <a:solidFill>
                <a:srgbClr val="10B981"/>
              </a:solidFill>
            </c:spPr>
          </c:dPt>
          <c:cat>
            <c:strRef>
              <c:f>Sheet1!$A$2:$A$4</c:f>
              <c:strCache>
                <c:ptCount val="3"/>
                <c:pt idx="0">
                  <c:v>Revenue (10k KRW)</c:v>
                </c:pt>
                <c:pt idx="1">
                  <c:v>Enrolled</c:v>
                </c:pt>
                <c:pt idx="2">
                  <c:v>Attendance (%)</c:v>
                </c:pt>
              </c:strCache>
            </c:strRef>
          </c:cat>
          <c:val>
            <c:numRef>
              <c:f>Sheet1!$B$2:$B$4</c:f>
              <c:numCache>
                <c:formatCode>General</c:formatCode>
                <c:ptCount val="3"/>
                <c:pt idx="0">
                  <c:v>82</c:v>
                </c:pt>
                <c:pt idx="1">
                  <c:v>312</c:v>
                </c:pt>
                <c:pt idx="2">
                  <c:v>94</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4F46E5"/>
              </a:solidFill>
            </c:spPr>
          </c:dPt>
          <c:dPt>
            <c:idx val="1"/>
            <c:spPr>
              <a:solidFill>
                <a:srgbClr val="7C3AED"/>
              </a:solidFill>
            </c:spPr>
          </c:dPt>
          <c:dPt>
            <c:idx val="2"/>
            <c:spPr>
              <a:solidFill>
                <a:srgbClr val="0EA5E9"/>
              </a:solidFill>
            </c:spPr>
          </c:dPt>
          <c:dPt>
            <c:idx val="3"/>
            <c:spPr>
              <a:solidFill>
                <a:srgbClr val="F59E0B"/>
              </a:solidFill>
            </c:spPr>
          </c:dPt>
          <c:dPt>
            <c:idx val="4"/>
            <c:spPr>
              <a:solidFill>
                <a:srgbClr val="10B981"/>
              </a:solidFill>
            </c:spPr>
          </c:dPt>
          <c:cat>
            <c:strRef>
              <c:f>Sheet1!$A$2:$A$6</c:f>
              <c:strCache>
                <c:ptCount val="5"/>
                <c:pt idx="0">
                  <c:v>Teachers</c:v>
                </c:pt>
                <c:pt idx="1">
                  <c:v>Accounting</c:v>
                </c:pt>
                <c:pt idx="2">
                  <c:v>Students</c:v>
                </c:pt>
                <c:pt idx="3">
                  <c:v>Content</c:v>
                </c:pt>
                <c:pt idx="4">
                  <c:v>System</c:v>
                </c:pt>
              </c:strCache>
            </c:strRef>
          </c:cat>
          <c:val>
            <c:numRef>
              <c:f>Sheet1!$B$2:$B$6</c:f>
              <c:numCache>
                <c:formatCode>General</c:formatCode>
                <c:ptCount val="5"/>
                <c:pt idx="0">
                  <c:v>11</c:v>
                </c:pt>
                <c:pt idx="1">
                  <c:v>8</c:v>
                </c:pt>
                <c:pt idx="2">
                  <c:v>14</c:v>
                </c:pt>
                <c:pt idx="3">
                  <c:v>11</c:v>
                </c:pt>
                <c:pt idx="4">
                  <c:v>12</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Safe</c:v>
                </c:pt>
                <c:pt idx="1">
                  <c:v>Watch</c:v>
                </c:pt>
                <c:pt idx="2">
                  <c:v>At risk</c:v>
                </c:pt>
              </c:strCache>
            </c:strRef>
          </c:cat>
          <c:val>
            <c:numRef>
              <c:f>Sheet1!$B$2:$B$4</c:f>
              <c:numCache>
                <c:formatCode>General</c:formatCode>
                <c:ptCount val="3"/>
                <c:pt idx="0">
                  <c:v>68</c:v>
                </c:pt>
                <c:pt idx="1">
                  <c:v>22</c:v>
                </c:pt>
                <c:pt idx="2">
                  <c:v>10</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image" Target="../media/image7.jpg"/><Relationship Id="rId4" Type="http://schemas.openxmlformats.org/officeDocument/2006/relationships/image" Target="../media/image8.jpg"/><Relationship Id="rId5" Type="http://schemas.openxmlformats.org/officeDocument/2006/relationships/image" Target="../media/image9.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730A3"/>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4F46E5"/>
                </a:solidFill>
                <a:latin typeface="Malgun Gothic"/>
              </a:rPr>
              <a:t>🏫 ADMIN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Admin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Everything about running your academy, in one book</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Academy directors · HQ · operations managers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4F46E5"/>
                </a:solidFill>
                <a:latin typeface="Malgun Gothic"/>
              </a:rPr>
              <a:t>What is the Admin Page?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The admin page gathers everything you need to run an academy — students, teachers, payments, parents and content — on one screen. In particular, the AI Operations Assistant looks things up and even handles tasks when you tell it by voice or text, making operations much faster. Menus and data scope adjust automatically based on your role (permissions).</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AI Ops Assistant</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Tell it by voice/text; it finds and handles it.</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 search · card menus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Type part of a name to jump right there.</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Retention Center</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Churn risk · contagion · settlement · coaching hub.</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E0E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4F46E5"/>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Org settlement</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HQ → branch → agency auto-settlement.</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4F46E5"/>
                </a:solidFill>
                <a:latin typeface="Malgun Gothic"/>
              </a:rPr>
              <a:t>Today's Key Metrics (example)</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Contents  (1/2)</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Introduction</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a:t>
            </a:r>
          </a:p>
        </p:txBody>
      </p:sp>
      <p:sp>
        <p:nvSpPr>
          <p:cNvPr id="9" name="Rounded Rectangle 8"/>
          <p:cNvSpPr/>
          <p:nvPr/>
        </p:nvSpPr>
        <p:spPr>
          <a:xfrm>
            <a:off x="411480"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Admin Login &amp; Permissions</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5</a:t>
            </a:r>
          </a:p>
        </p:txBody>
      </p:sp>
      <p:sp>
        <p:nvSpPr>
          <p:cNvPr id="13" name="Rounded Rectangle 12"/>
          <p:cNvSpPr/>
          <p:nvPr/>
        </p:nvSpPr>
        <p:spPr>
          <a:xfrm>
            <a:off x="411480"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Dashboard &amp; Feature Search</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6</a:t>
            </a:r>
          </a:p>
        </p:txBody>
      </p:sp>
      <p:sp>
        <p:nvSpPr>
          <p:cNvPr id="17" name="Rounded Rectangle 16"/>
          <p:cNvSpPr/>
          <p:nvPr/>
        </p:nvSpPr>
        <p:spPr>
          <a:xfrm>
            <a:off x="411480"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Operations Assistant</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7</a:t>
            </a:r>
          </a:p>
        </p:txBody>
      </p:sp>
      <p:sp>
        <p:nvSpPr>
          <p:cNvPr id="21" name="Rounded Rectangle 20"/>
          <p:cNvSpPr/>
          <p:nvPr/>
        </p:nvSpPr>
        <p:spPr>
          <a:xfrm>
            <a:off x="411480"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Understand Lesson Entry</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8</a:t>
            </a:r>
          </a:p>
        </p:txBody>
      </p:sp>
      <p:sp>
        <p:nvSpPr>
          <p:cNvPr id="25" name="Rounded Rectangle 24"/>
          <p:cNvSpPr/>
          <p:nvPr/>
        </p:nvSpPr>
        <p:spPr>
          <a:xfrm>
            <a:off x="411480"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Understand the Classroom Layout</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9</a:t>
            </a:r>
          </a:p>
        </p:txBody>
      </p:sp>
      <p:sp>
        <p:nvSpPr>
          <p:cNvPr id="29" name="Rounded Rectangle 28"/>
          <p:cNvSpPr/>
          <p:nvPr/>
        </p:nvSpPr>
        <p:spPr>
          <a:xfrm>
            <a:off x="411480"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Understand the Classroom Tools</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10</a:t>
            </a:r>
          </a:p>
        </p:txBody>
      </p:sp>
      <p:sp>
        <p:nvSpPr>
          <p:cNvPr id="33" name="Rounded Rectangle 32"/>
          <p:cNvSpPr/>
          <p:nvPr/>
        </p:nvSpPr>
        <p:spPr>
          <a:xfrm>
            <a:off x="411480"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In-class Praise Points (give &amp; accrue)</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11</a:t>
            </a:r>
          </a:p>
        </p:txBody>
      </p:sp>
      <p:sp>
        <p:nvSpPr>
          <p:cNvPr id="37" name="Rounded Rectangle 36"/>
          <p:cNvSpPr/>
          <p:nvPr/>
        </p:nvSpPr>
        <p:spPr>
          <a:xfrm>
            <a:off x="411480"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Teacher Management</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12</a:t>
            </a:r>
          </a:p>
        </p:txBody>
      </p:sp>
      <p:sp>
        <p:nvSpPr>
          <p:cNvPr id="41" name="Rounded Rectangle 40"/>
          <p:cNvSpPr/>
          <p:nvPr/>
        </p:nvSpPr>
        <p:spPr>
          <a:xfrm>
            <a:off x="411480"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Accounting · Points</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13</a:t>
            </a:r>
          </a:p>
        </p:txBody>
      </p:sp>
      <p:sp>
        <p:nvSpPr>
          <p:cNvPr id="45" name="Rounded Rectangle 44"/>
          <p:cNvSpPr/>
          <p:nvPr/>
        </p:nvSpPr>
        <p:spPr>
          <a:xfrm>
            <a:off x="411480" y="42245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Points &amp; Reward Policy</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14</a:t>
            </a:r>
          </a:p>
        </p:txBody>
      </p:sp>
      <p:sp>
        <p:nvSpPr>
          <p:cNvPr id="49" name="Rounded Rectangle 48"/>
          <p:cNvSpPr/>
          <p:nvPr/>
        </p:nvSpPr>
        <p:spPr>
          <a:xfrm>
            <a:off x="6141567" y="14813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Refund Policy &amp; Processing</a:t>
            </a:r>
          </a:p>
        </p:txBody>
      </p:sp>
      <p:sp>
        <p:nvSpPr>
          <p:cNvPr id="52" name="TextBox 51"/>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15</a:t>
            </a:r>
          </a:p>
        </p:txBody>
      </p:sp>
      <p:sp>
        <p:nvSpPr>
          <p:cNvPr id="53" name="Rounded Rectangle 52"/>
          <p:cNvSpPr/>
          <p:nvPr/>
        </p:nvSpPr>
        <p:spPr>
          <a:xfrm>
            <a:off x="6141567"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Student · Parent Management</a:t>
            </a:r>
          </a:p>
        </p:txBody>
      </p:sp>
      <p:sp>
        <p:nvSpPr>
          <p:cNvPr id="56" name="TextBox 55"/>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16</a:t>
            </a:r>
          </a:p>
        </p:txBody>
      </p:sp>
      <p:sp>
        <p:nvSpPr>
          <p:cNvPr id="57" name="Rounded Rectangle 56"/>
          <p:cNvSpPr/>
          <p:nvPr/>
        </p:nvSpPr>
        <p:spPr>
          <a:xfrm>
            <a:off x="6141567"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 My-Page</a:t>
            </a:r>
          </a:p>
        </p:txBody>
      </p:sp>
      <p:sp>
        <p:nvSpPr>
          <p:cNvPr id="60" name="TextBox 59"/>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17</a:t>
            </a:r>
          </a:p>
        </p:txBody>
      </p:sp>
      <p:sp>
        <p:nvSpPr>
          <p:cNvPr id="61" name="Rounded Rectangle 60"/>
          <p:cNvSpPr/>
          <p:nvPr/>
        </p:nvSpPr>
        <p:spPr>
          <a:xfrm>
            <a:off x="6141567"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Booking Management</a:t>
            </a:r>
          </a:p>
        </p:txBody>
      </p:sp>
      <p:sp>
        <p:nvSpPr>
          <p:cNvPr id="64" name="TextBox 63"/>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18</a:t>
            </a:r>
          </a:p>
        </p:txBody>
      </p:sp>
      <p:sp>
        <p:nvSpPr>
          <p:cNvPr id="65" name="Rounded Rectangle 64"/>
          <p:cNvSpPr/>
          <p:nvPr/>
        </p:nvSpPr>
        <p:spPr>
          <a:xfrm>
            <a:off x="6141567"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Postpone Management</a:t>
            </a:r>
          </a:p>
        </p:txBody>
      </p:sp>
      <p:sp>
        <p:nvSpPr>
          <p:cNvPr id="68" name="TextBox 67"/>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19</a:t>
            </a:r>
          </a:p>
        </p:txBody>
      </p:sp>
      <p:sp>
        <p:nvSpPr>
          <p:cNvPr id="69" name="Rounded Rectangle 68"/>
          <p:cNvSpPr/>
          <p:nvPr/>
        </p:nvSpPr>
        <p:spPr>
          <a:xfrm>
            <a:off x="6141567"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Content · Curriculum</a:t>
            </a:r>
          </a:p>
        </p:txBody>
      </p:sp>
      <p:sp>
        <p:nvSpPr>
          <p:cNvPr id="72" name="TextBox 71"/>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20</a:t>
            </a:r>
          </a:p>
        </p:txBody>
      </p:sp>
      <p:sp>
        <p:nvSpPr>
          <p:cNvPr id="73" name="Rounded Rectangle 72"/>
          <p:cNvSpPr/>
          <p:nvPr/>
        </p:nvSpPr>
        <p:spPr>
          <a:xfrm>
            <a:off x="6141567"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Retention Center</a:t>
            </a:r>
          </a:p>
        </p:txBody>
      </p:sp>
      <p:sp>
        <p:nvSpPr>
          <p:cNvPr id="76" name="TextBox 75"/>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21</a:t>
            </a:r>
          </a:p>
        </p:txBody>
      </p:sp>
      <p:sp>
        <p:nvSpPr>
          <p:cNvPr id="77" name="Rounded Rectangle 76"/>
          <p:cNvSpPr/>
          <p:nvPr/>
        </p:nvSpPr>
        <p:spPr>
          <a:xfrm>
            <a:off x="6141567"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Org Settlement · Monthly Report</a:t>
            </a:r>
          </a:p>
        </p:txBody>
      </p:sp>
      <p:sp>
        <p:nvSpPr>
          <p:cNvPr id="80" name="TextBox 79"/>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22</a:t>
            </a:r>
          </a:p>
        </p:txBody>
      </p:sp>
      <p:sp>
        <p:nvSpPr>
          <p:cNvPr id="81" name="Rounded Rectangle 80"/>
          <p:cNvSpPr/>
          <p:nvPr/>
        </p:nvSpPr>
        <p:spPr>
          <a:xfrm>
            <a:off x="6141567"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Support · FAQ Operations</a:t>
            </a:r>
          </a:p>
        </p:txBody>
      </p:sp>
      <p:sp>
        <p:nvSpPr>
          <p:cNvPr id="84" name="TextBox 83"/>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23</a:t>
            </a:r>
          </a:p>
        </p:txBody>
      </p:sp>
      <p:sp>
        <p:nvSpPr>
          <p:cNvPr id="85" name="Rounded Rectangle 84"/>
          <p:cNvSpPr/>
          <p:nvPr/>
        </p:nvSpPr>
        <p:spPr>
          <a:xfrm>
            <a:off x="6141567"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Korea·Philippines Dual Clock</a:t>
            </a:r>
          </a:p>
        </p:txBody>
      </p:sp>
      <p:sp>
        <p:nvSpPr>
          <p:cNvPr id="88" name="TextBox 87"/>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24</a:t>
            </a:r>
          </a:p>
        </p:txBody>
      </p:sp>
      <p:sp>
        <p:nvSpPr>
          <p:cNvPr id="89" name="Rounded Rectangle 88"/>
          <p:cNvSpPr/>
          <p:nvPr/>
        </p:nvSpPr>
        <p:spPr>
          <a:xfrm>
            <a:off x="6141567" y="42245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1" name="TextBox 90"/>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Chinese Pronunciation Coach</a:t>
            </a:r>
          </a:p>
        </p:txBody>
      </p:sp>
      <p:sp>
        <p:nvSpPr>
          <p:cNvPr id="92" name="TextBox 91"/>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Contents  (2/2)</a:t>
            </a:r>
          </a:p>
        </p:txBody>
      </p:sp>
      <p:sp>
        <p:nvSpPr>
          <p:cNvPr id="7" name="Rounded Rectangle 6"/>
          <p:cNvSpPr/>
          <p:nvPr/>
        </p:nvSpPr>
        <p:spPr>
          <a:xfrm>
            <a:off x="411480" y="14813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9" name="TextBox 8"/>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Notice Studio (Poster + Popup)</a:t>
            </a:r>
          </a:p>
        </p:txBody>
      </p:sp>
      <p:sp>
        <p:nvSpPr>
          <p:cNvPr id="10" name="TextBox 9"/>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26</a:t>
            </a:r>
          </a:p>
        </p:txBody>
      </p:sp>
      <p:sp>
        <p:nvSpPr>
          <p:cNvPr id="11" name="Rounded Rectangle 10"/>
          <p:cNvSpPr/>
          <p:nvPr/>
        </p:nvSpPr>
        <p:spPr>
          <a:xfrm>
            <a:off x="411480"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13" name="TextBox 12"/>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Command the AI Operations Assistant</a:t>
            </a:r>
          </a:p>
        </p:txBody>
      </p:sp>
      <p:sp>
        <p:nvSpPr>
          <p:cNvPr id="14" name="TextBox 13"/>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27</a:t>
            </a:r>
          </a:p>
        </p:txBody>
      </p:sp>
      <p:sp>
        <p:nvSpPr>
          <p:cNvPr id="15" name="Rounded Rectangle 14"/>
          <p:cNvSpPr/>
          <p:nvPr/>
        </p:nvSpPr>
        <p:spPr>
          <a:xfrm>
            <a:off x="411480"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17" name="TextBox 16"/>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Student Voice-Diary Monitor</a:t>
            </a:r>
          </a:p>
        </p:txBody>
      </p:sp>
      <p:sp>
        <p:nvSpPr>
          <p:cNvPr id="18" name="TextBox 17"/>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28</a:t>
            </a:r>
          </a:p>
        </p:txBody>
      </p:sp>
      <p:sp>
        <p:nvSpPr>
          <p:cNvPr id="19" name="Rounded Rectangle 18"/>
          <p:cNvSpPr/>
          <p:nvPr/>
        </p:nvSpPr>
        <p:spPr>
          <a:xfrm>
            <a:off x="411480"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21" name="TextBox 20"/>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Teacher AI-Coaching Review (Ops)</a:t>
            </a:r>
          </a:p>
        </p:txBody>
      </p:sp>
      <p:sp>
        <p:nvSpPr>
          <p:cNvPr id="22" name="TextBox 21"/>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29</a:t>
            </a:r>
          </a:p>
        </p:txBody>
      </p:sp>
      <p:sp>
        <p:nvSpPr>
          <p:cNvPr id="23" name="Rounded Rectangle 22"/>
          <p:cNvSpPr/>
          <p:nvPr/>
        </p:nvSpPr>
        <p:spPr>
          <a:xfrm>
            <a:off x="411480"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25" name="TextBox 24"/>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QR Attendance Check-in</a:t>
            </a:r>
          </a:p>
        </p:txBody>
      </p:sp>
      <p:sp>
        <p:nvSpPr>
          <p:cNvPr id="26" name="TextBox 25"/>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30</a:t>
            </a:r>
          </a:p>
        </p:txBody>
      </p:sp>
      <p:sp>
        <p:nvSpPr>
          <p:cNvPr id="27" name="Rounded Rectangle 26"/>
          <p:cNvSpPr/>
          <p:nvPr/>
        </p:nvSpPr>
        <p:spPr>
          <a:xfrm>
            <a:off x="411480"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29" name="TextBox 28"/>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Consultation Booking Management</a:t>
            </a:r>
          </a:p>
        </p:txBody>
      </p:sp>
      <p:sp>
        <p:nvSpPr>
          <p:cNvPr id="30" name="TextBox 29"/>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31</a:t>
            </a:r>
          </a:p>
        </p:txBody>
      </p:sp>
      <p:sp>
        <p:nvSpPr>
          <p:cNvPr id="31" name="Rounded Rectangle 30"/>
          <p:cNvSpPr/>
          <p:nvPr/>
        </p:nvSpPr>
        <p:spPr>
          <a:xfrm>
            <a:off x="411480"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28</a:t>
            </a:r>
          </a:p>
        </p:txBody>
      </p:sp>
      <p:sp>
        <p:nvSpPr>
          <p:cNvPr id="33" name="TextBox 32"/>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Friend-Referral Rewards</a:t>
            </a:r>
          </a:p>
        </p:txBody>
      </p:sp>
      <p:sp>
        <p:nvSpPr>
          <p:cNvPr id="34" name="TextBox 33"/>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32</a:t>
            </a:r>
          </a:p>
        </p:txBody>
      </p:sp>
      <p:sp>
        <p:nvSpPr>
          <p:cNvPr id="35" name="Rounded Rectangle 34"/>
          <p:cNvSpPr/>
          <p:nvPr/>
        </p:nvSpPr>
        <p:spPr>
          <a:xfrm>
            <a:off x="411480"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29</a:t>
            </a:r>
          </a:p>
        </p:txBody>
      </p:sp>
      <p:sp>
        <p:nvSpPr>
          <p:cNvPr id="37" name="TextBox 36"/>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Approving Postpone/Change Requests</a:t>
            </a:r>
          </a:p>
        </p:txBody>
      </p:sp>
      <p:sp>
        <p:nvSpPr>
          <p:cNvPr id="38" name="TextBox 37"/>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33</a:t>
            </a:r>
          </a:p>
        </p:txBody>
      </p:sp>
      <p:sp>
        <p:nvSpPr>
          <p:cNvPr id="39" name="Rounded Rectangle 38"/>
          <p:cNvSpPr/>
          <p:nvPr/>
        </p:nvSpPr>
        <p:spPr>
          <a:xfrm>
            <a:off x="411480"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30</a:t>
            </a:r>
          </a:p>
        </p:txBody>
      </p:sp>
      <p:sp>
        <p:nvSpPr>
          <p:cNvPr id="41" name="TextBox 40"/>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Share Library Links via KakaoTalk</a:t>
            </a:r>
          </a:p>
        </p:txBody>
      </p:sp>
      <p:sp>
        <p:nvSpPr>
          <p:cNvPr id="42" name="TextBox 41"/>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34</a:t>
            </a:r>
          </a:p>
        </p:txBody>
      </p:sp>
      <p:sp>
        <p:nvSpPr>
          <p:cNvPr id="43" name="Rounded Rectangle 42"/>
          <p:cNvSpPr/>
          <p:nvPr/>
        </p:nvSpPr>
        <p:spPr>
          <a:xfrm>
            <a:off x="411480"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31</a:t>
            </a:r>
          </a:p>
        </p:txBody>
      </p:sp>
      <p:sp>
        <p:nvSpPr>
          <p:cNvPr id="45" name="TextBox 44"/>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Enrolment &amp; payment → automatic lesson creation</a:t>
            </a:r>
          </a:p>
        </p:txBody>
      </p:sp>
      <p:sp>
        <p:nvSpPr>
          <p:cNvPr id="46" name="TextBox 45"/>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35</a:t>
            </a:r>
          </a:p>
        </p:txBody>
      </p:sp>
      <p:sp>
        <p:nvSpPr>
          <p:cNvPr id="47" name="Rounded Rectangle 46"/>
          <p:cNvSpPr/>
          <p:nvPr/>
        </p:nvSpPr>
        <p:spPr>
          <a:xfrm>
            <a:off x="411480" y="42245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32</a:t>
            </a:r>
          </a:p>
        </p:txBody>
      </p:sp>
      <p:sp>
        <p:nvSpPr>
          <p:cNvPr id="49" name="TextBox 48"/>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Class Observation (live)</a:t>
            </a:r>
          </a:p>
        </p:txBody>
      </p:sp>
      <p:sp>
        <p:nvSpPr>
          <p:cNvPr id="50" name="TextBox 49"/>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36</a:t>
            </a:r>
          </a:p>
        </p:txBody>
      </p:sp>
      <p:sp>
        <p:nvSpPr>
          <p:cNvPr id="51" name="Rounded Rectangle 50"/>
          <p:cNvSpPr/>
          <p:nvPr/>
        </p:nvSpPr>
        <p:spPr>
          <a:xfrm>
            <a:off x="6141567" y="14813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33</a:t>
            </a:r>
          </a:p>
        </p:txBody>
      </p:sp>
      <p:sp>
        <p:nvSpPr>
          <p:cNvPr id="53" name="TextBox 52"/>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 refreshed admin screen</a:t>
            </a:r>
          </a:p>
        </p:txBody>
      </p:sp>
      <p:sp>
        <p:nvSpPr>
          <p:cNvPr id="54" name="TextBox 53"/>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37</a:t>
            </a:r>
          </a:p>
        </p:txBody>
      </p:sp>
      <p:sp>
        <p:nvSpPr>
          <p:cNvPr id="55" name="Rounded Rectangle 54"/>
          <p:cNvSpPr/>
          <p:nvPr/>
        </p:nvSpPr>
        <p:spPr>
          <a:xfrm>
            <a:off x="6141567" y="17556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34</a:t>
            </a:r>
          </a:p>
        </p:txBody>
      </p:sp>
      <p:sp>
        <p:nvSpPr>
          <p:cNvPr id="57" name="TextBox 56"/>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interface language sets itself</a:t>
            </a:r>
          </a:p>
        </p:txBody>
      </p:sp>
      <p:sp>
        <p:nvSpPr>
          <p:cNvPr id="58" name="TextBox 57"/>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38</a:t>
            </a:r>
          </a:p>
        </p:txBody>
      </p:sp>
      <p:sp>
        <p:nvSpPr>
          <p:cNvPr id="59" name="Rounded Rectangle 58"/>
          <p:cNvSpPr/>
          <p:nvPr/>
        </p:nvSpPr>
        <p:spPr>
          <a:xfrm>
            <a:off x="6141567" y="20299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35</a:t>
            </a:r>
          </a:p>
        </p:txBody>
      </p:sp>
      <p:sp>
        <p:nvSpPr>
          <p:cNvPr id="61" name="TextBox 60"/>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Running Judgment Training (student judgment index)</a:t>
            </a:r>
          </a:p>
        </p:txBody>
      </p:sp>
      <p:sp>
        <p:nvSpPr>
          <p:cNvPr id="62" name="TextBox 61"/>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39</a:t>
            </a:r>
          </a:p>
        </p:txBody>
      </p:sp>
      <p:sp>
        <p:nvSpPr>
          <p:cNvPr id="63" name="Rounded Rectangle 62"/>
          <p:cNvSpPr/>
          <p:nvPr/>
        </p:nvSpPr>
        <p:spPr>
          <a:xfrm>
            <a:off x="6141567" y="230428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36</a:t>
            </a:r>
          </a:p>
        </p:txBody>
      </p:sp>
      <p:sp>
        <p:nvSpPr>
          <p:cNvPr id="65" name="TextBox 64"/>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Teacher accounts (password reset · access limits)</a:t>
            </a:r>
          </a:p>
        </p:txBody>
      </p:sp>
      <p:sp>
        <p:nvSpPr>
          <p:cNvPr id="66" name="TextBox 65"/>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40</a:t>
            </a:r>
          </a:p>
        </p:txBody>
      </p:sp>
      <p:sp>
        <p:nvSpPr>
          <p:cNvPr id="67" name="Rounded Rectangle 66"/>
          <p:cNvSpPr/>
          <p:nvPr/>
        </p:nvSpPr>
        <p:spPr>
          <a:xfrm>
            <a:off x="6141567" y="25786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37</a:t>
            </a:r>
          </a:p>
        </p:txBody>
      </p:sp>
      <p:sp>
        <p:nvSpPr>
          <p:cNvPr id="69" name="TextBox 68"/>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Teacher Management, redesigned (roster filters · groups · detail tabs)</a:t>
            </a:r>
          </a:p>
        </p:txBody>
      </p:sp>
      <p:sp>
        <p:nvSpPr>
          <p:cNvPr id="70" name="TextBox 69"/>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41</a:t>
            </a:r>
          </a:p>
        </p:txBody>
      </p:sp>
      <p:sp>
        <p:nvSpPr>
          <p:cNvPr id="71" name="Rounded Rectangle 70"/>
          <p:cNvSpPr/>
          <p:nvPr/>
        </p:nvSpPr>
        <p:spPr>
          <a:xfrm>
            <a:off x="6141567" y="28529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38</a:t>
            </a:r>
          </a:p>
        </p:txBody>
      </p:sp>
      <p:sp>
        <p:nvSpPr>
          <p:cNvPr id="73" name="TextBox 72"/>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Sending the Parent Monthly Report (pentagon)</a:t>
            </a:r>
          </a:p>
        </p:txBody>
      </p:sp>
      <p:sp>
        <p:nvSpPr>
          <p:cNvPr id="74" name="TextBox 73"/>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42</a:t>
            </a:r>
          </a:p>
        </p:txBody>
      </p:sp>
      <p:sp>
        <p:nvSpPr>
          <p:cNvPr id="75" name="Rounded Rectangle 74"/>
          <p:cNvSpPr/>
          <p:nvPr/>
        </p:nvSpPr>
        <p:spPr>
          <a:xfrm>
            <a:off x="6141567" y="312724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39</a:t>
            </a:r>
          </a:p>
        </p:txBody>
      </p:sp>
      <p:sp>
        <p:nvSpPr>
          <p:cNvPr id="77" name="TextBox 76"/>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Feature Summary · Data</a:t>
            </a:r>
          </a:p>
        </p:txBody>
      </p:sp>
      <p:sp>
        <p:nvSpPr>
          <p:cNvPr id="78" name="TextBox 77"/>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43</a:t>
            </a:r>
          </a:p>
        </p:txBody>
      </p:sp>
      <p:sp>
        <p:nvSpPr>
          <p:cNvPr id="79" name="Rounded Rectangle 78"/>
          <p:cNvSpPr/>
          <p:nvPr/>
        </p:nvSpPr>
        <p:spPr>
          <a:xfrm>
            <a:off x="6141567" y="340156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40</a:t>
            </a:r>
          </a:p>
        </p:txBody>
      </p:sp>
      <p:sp>
        <p:nvSpPr>
          <p:cNvPr id="81" name="TextBox 80"/>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Data at a Glance</a:t>
            </a:r>
          </a:p>
        </p:txBody>
      </p:sp>
      <p:sp>
        <p:nvSpPr>
          <p:cNvPr id="82" name="TextBox 81"/>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44</a:t>
            </a:r>
          </a:p>
        </p:txBody>
      </p:sp>
      <p:sp>
        <p:nvSpPr>
          <p:cNvPr id="83" name="Rounded Rectangle 82"/>
          <p:cNvSpPr/>
          <p:nvPr/>
        </p:nvSpPr>
        <p:spPr>
          <a:xfrm>
            <a:off x="6141567" y="3675887"/>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41</a:t>
            </a:r>
          </a:p>
        </p:txBody>
      </p:sp>
      <p:sp>
        <p:nvSpPr>
          <p:cNvPr id="85" name="TextBox 84"/>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Frequently Asked Questions (FAQ)</a:t>
            </a:r>
          </a:p>
        </p:txBody>
      </p:sp>
      <p:sp>
        <p:nvSpPr>
          <p:cNvPr id="86" name="TextBox 85"/>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45</a:t>
            </a:r>
          </a:p>
        </p:txBody>
      </p:sp>
      <p:sp>
        <p:nvSpPr>
          <p:cNvPr id="87" name="Rounded Rectangle 86"/>
          <p:cNvSpPr/>
          <p:nvPr/>
        </p:nvSpPr>
        <p:spPr>
          <a:xfrm>
            <a:off x="6141567" y="395020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42</a:t>
            </a:r>
          </a:p>
        </p:txBody>
      </p:sp>
      <p:sp>
        <p:nvSpPr>
          <p:cNvPr id="89" name="TextBox 88"/>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Checklist</a:t>
            </a:r>
          </a:p>
        </p:txBody>
      </p:sp>
      <p:sp>
        <p:nvSpPr>
          <p:cNvPr id="90" name="TextBox 89"/>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46</a:t>
            </a:r>
          </a:p>
        </p:txBody>
      </p:sp>
      <p:sp>
        <p:nvSpPr>
          <p:cNvPr id="91" name="Rounded Rectangle 90"/>
          <p:cNvSpPr/>
          <p:nvPr/>
        </p:nvSpPr>
        <p:spPr>
          <a:xfrm>
            <a:off x="6141567" y="4224528"/>
            <a:ext cx="384048" cy="2286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TextBox 91"/>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43</a:t>
            </a:r>
          </a:p>
        </p:txBody>
      </p:sp>
      <p:sp>
        <p:nvSpPr>
          <p:cNvPr id="93" name="TextBox 92"/>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Conclusion</a:t>
            </a:r>
          </a:p>
        </p:txBody>
      </p:sp>
      <p:sp>
        <p:nvSpPr>
          <p:cNvPr id="94" name="TextBox 93"/>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4F46E5"/>
                </a:solidFill>
                <a:latin typeface="Malgun Gothic"/>
              </a:rPr>
              <a:t>47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Admin Login &amp; Permissions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Data scope by role, automatically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Logging in with an admin account shows only the menus and data that match your role (director, HQ, staff, etc.). Social login and password reset are supported.</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Log in with ID and password (Kakao, Naver, Google also work).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Forgot your password? Reset via 'Find password' (SMS/email/Kakao).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Visible menus and data scope change automatically by role.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New here? Preview with 'View demo account'.</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Permission settings let you split access per staff member.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Turn on 'Save ID' only on your own trusted PC.</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shared PCs, turn off auto-login and always log out when done.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Dashboard &amp; Feature Search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Every feature as a card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login, categories (Teachers, Accounting, Students, Content, System) are organized as cards. Just type a word in the top search box to jump straight to a feature.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From the category cards (Teachers·Accounting·Students·Content·System), tap the feature you want.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Type a word in the feature search box to jump right there.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number beside each category is how many features it holds.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Self-check · Color/Bright · EN at the top to change screen and language.</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If you can't find a feature, search is fastest.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You can also tell the AI assistant 'open ○○' to jump there.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Remember search terms for features you use often to cut clicks.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Tell it by voice/text; it acts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Speak or type into the search/mic and the AI looks up numbers or opens screens. Important actions are confirmed first, and it only does what your permissions allow — so it's safe.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Speak or type into the center search/mic. e.g. 'How's today's revenue?'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AI looks up numbers or opens a screen. e.g. 'Open student management.'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Important actions are confirmed with 'Shall I?' first. e.g. 'Push Jung Woo-young's next lesson by 1 hour.'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assistant only executes tasks you have permission for.</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Can't find a button? Just say 'show me ○○'.</a:t>
            </a:r>
          </a:p>
          <a:p>
            <a:pPr>
              <a:lnSpc>
                <a:spcPct val="115000"/>
              </a:lnSpc>
              <a:spcAft>
                <a:spcPts val="200"/>
              </a:spcAft>
            </a:pPr>
            <a:r>
              <a:rPr sz="900" b="1">
                <a:solidFill>
                  <a:srgbClr val="4F46E5"/>
                </a:solidFill>
                <a:latin typeface="Malgun Gothic"/>
              </a:rPr>
              <a:t>● </a:t>
            </a:r>
            <a:r>
              <a:rPr sz="1100">
                <a:solidFill>
                  <a:srgbClr val="334155"/>
                </a:solidFill>
                <a:latin typeface="Malgun Gothic"/>
              </a:rPr>
              <a:t>Voice and text both work the same.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busy, telling it by voice is much faster than clicking.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Lesson Entry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To support students &amp; teachers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Even without teaching, admins should know how students and teachers enter so you can answer questions and fix problems. Entry uses a name and a room code (or the shared room).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On the entry screen, enter a name and room code, then press Enter.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the room code is empty, you go to the shared lesson room.</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Advise that the browser's camera/mic permission is required.</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trouble, first advise reconnecting in Chrome/Edge.</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KakaoTalk's in-app browser blocks the camera — 'open in an external browser' is needed.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Lessons needing room/token management can be checked from the admin screen.</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Most 'can't enter' tickets are browser permission issues — check permissions and browser first.</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frequent entry questions into an FAQ to cut support load.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Layout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Screen structure for support</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Admins don't teach, but knowing the classroom layout makes support easy. It has a top bar (room info, timer, REC, EN, dark), a center workspace (tab tools), and a bottom control dock (camera, screen share, chat, leave).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Top bar: room name · user count · timer · recording (REC) · language (EN) · dark mode.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Center tabs: Board · Video · Games · Background · AI Warm-up · Review Quiz + Materials Tools · Writing Tools.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Bottom dock: Settings · Camera · Screen Share · Chat · Native · Leave.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 praise basket at the top-left collects praise during class.</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For 'no sound/video' tickets, tell users to check the dock's camera/mic and ⚙️ Settings.</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REC indicator shows whether a lesson is being recorded.</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common classroom questions into an FAQ with these screenshots.</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Understand the Classroom Tools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Board · materials · background · video</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Knowing the tools students and teachers use makes guidance easier. The core ones are the board (draw/save), materials tools (upload PDF/photos, library), background (backdrop &amp; face decorations), and video (YouTube/file).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 Board: pen, shapes, text, AI shapes, save.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Materials Tools: upload (PDF/JPG/PNG), library, page turning, fit-to-screen.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Background: change backdrop, decorate face.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 Video: share YouTube links / video files.</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materials 'Library' shows textbooks the admin uploaded — it ties into content management.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Coach teachers on the 'pre-upload materials → share in class' flow.</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well-stocked textbook library helps teachers prep faster.</a:t>
            </a:r>
          </a:p>
        </p:txBody>
      </p:sp>
      <p:sp>
        <p:nvSpPr>
          <p:cNvPr id="19" name="Rectangle 18"/>
          <p:cNvSpPr/>
          <p:nvPr/>
        </p:nvSpPr>
        <p:spPr>
          <a:xfrm>
            <a:off x="6300216" y="208293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137802"/>
            <a:ext cx="2651760" cy="1576554"/>
          </a:xfrm>
          <a:prstGeom prst="rect">
            <a:avLst/>
          </a:prstGeom>
        </p:spPr>
      </p:pic>
      <p:sp>
        <p:nvSpPr>
          <p:cNvPr id="21" name="Rectangle 20"/>
          <p:cNvSpPr/>
          <p:nvPr/>
        </p:nvSpPr>
        <p:spPr>
          <a:xfrm>
            <a:off x="9134856" y="208293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materials_dock.jpg"/>
          <p:cNvPicPr>
            <a:picLocks noChangeAspect="1"/>
          </p:cNvPicPr>
          <p:nvPr/>
        </p:nvPicPr>
        <p:blipFill>
          <a:blip r:embed="rId3"/>
          <a:stretch>
            <a:fillRect/>
          </a:stretch>
        </p:blipFill>
        <p:spPr>
          <a:xfrm>
            <a:off x="9189720" y="2137802"/>
            <a:ext cx="2651760" cy="1576554"/>
          </a:xfrm>
          <a:prstGeom prst="rect">
            <a:avLst/>
          </a:prstGeom>
        </p:spPr>
      </p:pic>
      <p:sp>
        <p:nvSpPr>
          <p:cNvPr id="23" name="Rectangle 22"/>
          <p:cNvSpPr/>
          <p:nvPr/>
        </p:nvSpPr>
        <p:spPr>
          <a:xfrm>
            <a:off x="6300216" y="446037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room_bg.jpg"/>
          <p:cNvPicPr>
            <a:picLocks noChangeAspect="1"/>
          </p:cNvPicPr>
          <p:nvPr/>
        </p:nvPicPr>
        <p:blipFill>
          <a:blip r:embed="rId4"/>
          <a:stretch>
            <a:fillRect/>
          </a:stretch>
        </p:blipFill>
        <p:spPr>
          <a:xfrm>
            <a:off x="6355080" y="4515242"/>
            <a:ext cx="2651760" cy="1576554"/>
          </a:xfrm>
          <a:prstGeom prst="rect">
            <a:avLst/>
          </a:prstGeom>
        </p:spPr>
      </p:pic>
      <p:sp>
        <p:nvSpPr>
          <p:cNvPr id="25" name="Rectangle 24"/>
          <p:cNvSpPr/>
          <p:nvPr/>
        </p:nvSpPr>
        <p:spPr>
          <a:xfrm>
            <a:off x="9134856" y="4460378"/>
            <a:ext cx="2761488" cy="168628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room_video.jpg"/>
          <p:cNvPicPr>
            <a:picLocks noChangeAspect="1"/>
          </p:cNvPicPr>
          <p:nvPr/>
        </p:nvPicPr>
        <p:blipFill>
          <a:blip r:embed="rId5"/>
          <a:stretch>
            <a:fillRect/>
          </a:stretch>
        </p:blipFill>
        <p:spPr>
          <a:xfrm>
            <a:off x="9189720" y="4515242"/>
            <a:ext cx="2651760" cy="1576554"/>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In-class Praise Points (give &amp; accrue)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Teacher gives → adds to student points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During class the teacher instantly gives praise points (+1P) to students, and a post-class star rating adds +10P. These sum into the student's total points and are spent in the point shop, roulette, etc. Admins manage the points policy and shop.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The teacher gives +1P instantly via the 🌟 praise button on a student's video.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It accrues in real time in the student's 🧺 point basket and sums into their total (P).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 post-class star rating gives the student an extra +10P.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Accrued points connect to rewards in the point shop / roulette.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Admins manage accrual/usage policy under Accounting/Points.</a:t>
            </a:r>
          </a:p>
        </p:txBody>
      </p:sp>
      <p:sp>
        <p:nvSpPr>
          <p:cNvPr id="14" name="Rounded Rectangle 13"/>
          <p:cNvSpPr/>
          <p:nvPr/>
        </p:nvSpPr>
        <p:spPr>
          <a:xfrm>
            <a:off x="457200" y="5166360"/>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Instant rewards help participation and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Shaping shop rewards lets you tune learning motivation.</a:t>
            </a:r>
          </a:p>
        </p:txBody>
      </p:sp>
      <p:sp>
        <p:nvSpPr>
          <p:cNvPr id="17" name="Rounded Rectangle 16"/>
          <p:cNvSpPr/>
          <p:nvPr/>
        </p:nvSpPr>
        <p:spPr>
          <a:xfrm>
            <a:off x="457200" y="6281928"/>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Praise points are given by the teacher; the points policy and shop are the admin's job.</a:t>
            </a:r>
          </a:p>
        </p:txBody>
      </p:sp>
      <p:sp>
        <p:nvSpPr>
          <p:cNvPr id="19" name="Rounded Rectangle 18"/>
          <p:cNvSpPr/>
          <p:nvPr/>
        </p:nvSpPr>
        <p:spPr>
          <a:xfrm>
            <a:off x="457200" y="7013448"/>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05916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Periodically check that points flow well (given &amp; spent) to manage motivation.</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Payroll · matching · reviews · MBTI</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teacher list, profiles, payroll, matching and reviews in one place. Gather star ratings students leave, by teacher, to use in coaching.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Teachers, check the teacher list, profiles and matching.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Manage payroll, MBTI/style and student↔teacher matching.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Gather each teacher's lesson reviews (stars).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Better matching raises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Link low-rated teachers to the coaching tab.</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Assign top teachers to popular slots first to boost satisfaction.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Accounting · Points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Payments · overdue · points · gifts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payments, overdue balances and refunds, plus point/gift accrual and use. Amounts are auto-calculated by policy to reduce mistakes.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Accounting/Points, process payments, overdue balances and refunds.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point/gift accrual and usage history.</a:t>
            </a:r>
          </a:p>
          <a:p>
            <a:pPr>
              <a:lnSpc>
                <a:spcPct val="115000"/>
              </a:lnSpc>
              <a:spcAft>
                <a:spcPts val="600"/>
              </a:spcAft>
            </a:pPr>
            <a:r>
              <a:rPr sz="1050" b="1">
                <a:solidFill>
                  <a:srgbClr val="4F46E5"/>
                </a:solidFill>
                <a:latin typeface="Malgun Gothic"/>
              </a:rPr>
              <a:t>● </a:t>
            </a:r>
            <a:r>
              <a:rPr sz="1250">
                <a:solidFill>
                  <a:srgbClr val="334155"/>
                </a:solidFill>
                <a:latin typeface="Malgun Gothic"/>
              </a:rPr>
              <a:t>Notify overdue items via alert-talk/SMS.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Manage recurring payments and overdue on one screen.</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Points drive learning motivation.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Automating overdue alerts raises collection rates.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Points &amp; Reward Policy</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Praise points → shop → gifts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 praise points a student gets during class and the star rating (+10P) all accrue to the student's total points, leading to point-shop, roulette and gift rewards. Admins manage this accrual/usage flow and the reward line-up.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accrual paths: points build from in-class teacher praise (+1P), end-of-class rating (+10P), game learning, etc.</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Accounting/Points, check each student's accrual/usage history.</a:t>
            </a:r>
          </a:p>
          <a:p>
            <a:pPr>
              <a:lnSpc>
                <a:spcPct val="115000"/>
              </a:lnSpc>
              <a:spcAft>
                <a:spcPts val="600"/>
              </a:spcAft>
            </a:pPr>
            <a:r>
              <a:rPr sz="1050" b="1">
                <a:solidFill>
                  <a:srgbClr val="4F46E5"/>
                </a:solidFill>
                <a:latin typeface="Malgun Gothic"/>
              </a:rPr>
              <a:t>● </a:t>
            </a:r>
            <a:r>
              <a:rPr sz="1250">
                <a:solidFill>
                  <a:srgbClr val="334155"/>
                </a:solidFill>
                <a:latin typeface="Malgun Gothic"/>
              </a:rPr>
              <a:t>Manage the point-shop / roulette rewards and gift line-up.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abnormal accrual/errors are suspected, look up the history and adjust.</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Instant rewards (praise points) boost participation and re-enrollment.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Shaping rewards lets you tune motivation and cost together.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Points are summed into the student's top-bar P and My Page.</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Teachers give praise points; admins configure the shop/reward/gift policy.</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Setting stock/limits on popular rewards keeps costs stable.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Refund Policy &amp; Processing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Auto-calculated by the table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Amounts are auto-calculated per the refund table (100% before the lesson starts, tiered by progress). Discounted payments are recalculated at the list price.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refund request timing and calculate by the table.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discounted payments, apply the list-price recalculation rule.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absence rule for lessons missed without postponing.</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table reduces disputes.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Explain the policy to parents before processing.</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For discounted lessons, already-taken lessons are deducted at list price, then the balance is refunded.</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Explaining refund/postpone policies at signup greatly reduces conflict.</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 Parent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Real-data roster · attendance · grades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enrolled roster, attendance and grades. The student list is linked to real member data, and you can see each student's history at a glance.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Students/Parents, check the enrolled roster.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View attendance/reviews/points/chat history by student.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Flag students who need counseling/management.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student list is linked to real members.</a:t>
            </a:r>
          </a:p>
          <a:p>
            <a:pPr>
              <a:lnSpc>
                <a:spcPct val="115000"/>
              </a:lnSpc>
              <a:spcAft>
                <a:spcPts val="200"/>
              </a:spcAft>
            </a:pPr>
            <a:r>
              <a:rPr sz="900" b="1">
                <a:solidFill>
                  <a:srgbClr val="4F46E5"/>
                </a:solidFill>
                <a:latin typeface="Malgun Gothic"/>
              </a:rPr>
              <a:t>● </a:t>
            </a:r>
            <a:r>
              <a:rPr sz="1100">
                <a:solidFill>
                  <a:srgbClr val="334155"/>
                </a:solidFill>
                <a:latin typeface="Malgun Gothic"/>
              </a:rPr>
              <a:t>At-risk students link to the Retention Center.</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Counsel frequently-absent students quickly to prevent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My-Page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learning with just a student ID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Parents can see attendance, reviews, payments and AI-recommended study on one screen just by entering their child's student ID. It reduces support questions and raises satisfaction.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Share the my-page link with parents.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parent enters the child's student ID and looks it up.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They see 30-day attendance, points, payments, reviews and the monthly report.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Easy access with just the student ID.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monthly report can be printed or saved as PDF.</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Advise parents to manage the student ID like a password.</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Explaining my-page at signup reduces questions.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Booking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Schedule assignment</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booking screen to assign lesson type, teacher, date and time. You can review and adjust students' booking status.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Booking, assign lesson type, teacher and time.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empty slots and overlaps and adjust.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Once confirmed, students and teachers are notified.</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Spread popular slots to balance teacher load.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Recurring bookings can be set.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Pre-register each teacher's available times to speed up assignment.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Postpone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&amp; process requests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Review students' postpone/change requests and process them per policy. Last-minute requests outside policy link to the absence/deduction rule.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students' postpone/change requests.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within policy (advance notice), adjust the schedule.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Changes are auto-announced to both sides.</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Clearly announce the postpone cutoff.</a:t>
            </a:r>
          </a:p>
          <a:p>
            <a:pPr>
              <a:lnSpc>
                <a:spcPct val="115000"/>
              </a:lnSpc>
              <a:spcAft>
                <a:spcPts val="200"/>
              </a:spcAft>
            </a:pPr>
            <a:r>
              <a:rPr sz="900" b="1">
                <a:solidFill>
                  <a:srgbClr val="4F46E5"/>
                </a:solidFill>
                <a:latin typeface="Malgun Gothic"/>
              </a:rPr>
              <a:t>● </a:t>
            </a:r>
            <a:r>
              <a:rPr sz="1100">
                <a:solidFill>
                  <a:srgbClr val="334155"/>
                </a:solidFill>
                <a:latin typeface="Malgun Gothic"/>
              </a:rPr>
              <a:t>Guide out-of-policy requests per policy.</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Enforcing the postpone cutoff reduces no-show losses.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Content · Curriculum</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Levels · textbooks · game reports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Manage the Levels 1–10 curriculum, textbook status and game learning reports (weak words). Improve content based on learning data.</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Levels 1–10 curriculum structure.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Review textbook upload status.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Find weak words in the game learning report.</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Surface weak words more in games/reviews.</a:t>
            </a:r>
          </a:p>
          <a:p>
            <a:pPr>
              <a:lnSpc>
                <a:spcPct val="115000"/>
              </a:lnSpc>
              <a:spcAft>
                <a:spcPts val="200"/>
              </a:spcAft>
            </a:pPr>
            <a:r>
              <a:rPr sz="900" b="1">
                <a:solidFill>
                  <a:srgbClr val="4F46E5"/>
                </a:solidFill>
                <a:latin typeface="Malgun Gothic"/>
              </a:rPr>
              <a:t>● </a:t>
            </a:r>
            <a:r>
              <a:rPr sz="1100">
                <a:solidFill>
                  <a:srgbClr val="334155"/>
                </a:solidFill>
                <a:latin typeface="Malgun Gothic"/>
              </a:rPr>
              <a:t>Clear level goals raise achievement.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Reviewing the curriculum at the start of the year makes it easy.</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curriculu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Retention Center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Churn risk · contagion · settlement · coaching</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hub to find students likely to quit early and to prevent chain churn spread through family, joint lessons and referrals. Manage four tabs in one place.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Find at-risk students with the churn-risk graph.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Prevent chain churn with the churn contagion network.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Deliver review-based feedback in the teacher coaching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Intervene on at-risk students with alert-talk/counseling.</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Intervening early raises retention.</a:t>
            </a:r>
          </a:p>
          <a:p>
            <a:pPr>
              <a:lnSpc>
                <a:spcPct val="115000"/>
              </a:lnSpc>
              <a:spcAft>
                <a:spcPts val="200"/>
              </a:spcAft>
            </a:pPr>
            <a:r>
              <a:rPr sz="900" b="1">
                <a:solidFill>
                  <a:srgbClr val="4F46E5"/>
                </a:solidFill>
                <a:latin typeface="Malgun Gothic"/>
              </a:rPr>
              <a:t>● </a:t>
            </a:r>
            <a:r>
              <a:rPr sz="1100">
                <a:solidFill>
                  <a:srgbClr val="334155"/>
                </a:solidFill>
                <a:latin typeface="Malgun Gothic"/>
              </a:rPr>
              <a:t>Manage family/referral relationships together.</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Just caring for the top at-risk students weekly noticeably cuts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Org Settlement · Monthly Report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HQ → branch → agency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Revenue and commissions auto-settle down the org tree, and the monthly report shows branch/agency performance. AI insights summarize the state.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Revenue/commissions auto-settle down the org tree.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branch/agency performance with the monthly report.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Watch today's revenue, enrollment and attendance daily on the dashboard.</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Distributing the settlement report early builds partner trust.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A 5-minute daily check of the metrics is recommended.</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The sooner you catch warning signs (revenue drop, attendance dip), the easier to respond.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 · FAQ Operations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Inquiries · refunds · postpone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Guide phone, email, Kakao and remote-support channels, and organize frequent questions into an FAQ to reduce inquiries.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Support, guide channels and hours.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Share refund/postpone policies with students/parents.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Add repeat questions to the FAQ.</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Growing the FAQ cuts support load.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Help directly with remote support for hard issues.</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Turn repeat questions like 'can't enter' into an FAQ with screenshots.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and 🇵🇭 Philippines time together. It lets you check the time difference instantly when coordinating lessons between Philippine teachers and Korean students.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4F46E5"/>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offers not only English but also a Chinese course. With a Darakwon Chinese Master (Lv 1–20) pronunciation coach (characters+pinyin, AI voice recognition, native comparison), you can attract and manage students who want Chinese.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Notice Studio (Poster + Popup)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Design notice/event posters and push them as app popups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merges the old ‘Poster Maker’ and ‘Popup Notice’ tools into one place. In the ①Create tab you design a notice/event poster, then hand it straight to the ②Publish·Popup tab to show it as a popup in your academy's student app.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Go to the admin menu Notification Center → 📢 Notice Studio.</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①Create tab, design a poster with text, images, and video (resize · save on server · reuse).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 Publish as popup’ on the finished poster to auto-switch to the ②Publish·Popup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publish tab, set the display period / stop and publish it as a student-app popup.</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Poster creation and popup publishing flow through one screen, two tabs — no more confusion.</a:t>
            </a:r>
          </a:p>
          <a:p>
            <a:pPr>
              <a:lnSpc>
                <a:spcPct val="115000"/>
              </a:lnSpc>
              <a:spcAft>
                <a:spcPts val="200"/>
              </a:spcAft>
            </a:pPr>
            <a:r>
              <a:rPr sz="900" b="1">
                <a:solidFill>
                  <a:srgbClr val="4F46E5"/>
                </a:solidFill>
                <a:latin typeface="Malgun Gothic"/>
              </a:rPr>
              <a:t>● </a:t>
            </a:r>
            <a:r>
              <a:rPr sz="1100">
                <a:solidFill>
                  <a:srgbClr val="334155"/>
                </a:solidFill>
                <a:latin typeface="Malgun Gothic"/>
              </a:rPr>
              <a:t>Posters you make can be saved and reused.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Whichever route you enter from — AI assistant or sidebar search — the correct tab opens.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Existing posters/popups are preserved (it was only merged, nothing was deleted).</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Promoting an event takes just one flow: ‘Create → Publish as popup’ right away.</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Command the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Navigate with one phrase: “Take me to ○○”</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Type what you want to do into the top search bar (or the bottom-right AI assistant) in plain language, and the AI understands and jumps straight to that screen. It now reliably follows navigation commands like ‘Take me to teacher ○○'s schedule’ or ‘Open auto-scheduling’.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Type a command in the top search bar or speak with the 🎤 mic.</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e.g. “Take me to teacher Kim Minji's schedule” → auto-finds that teacher in the weekly schedule and opens 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e.g. “Open auto-scheduling,” “Go to settlement” to navigate menus.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‘Go now →’ on the AI response card to move to that screen.</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Navigation commands actually navigate — far fewer ‘explain only, do nothing’ replies.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Searching a schedule by teacher name auto-fills the search box + filters + scrolls.</a:t>
            </a:r>
          </a:p>
          <a:p>
            <a:pPr>
              <a:lnSpc>
                <a:spcPct val="115000"/>
              </a:lnSpc>
              <a:spcAft>
                <a:spcPts val="200"/>
              </a:spcAft>
            </a:pPr>
            <a:r>
              <a:rPr sz="900" b="1">
                <a:solidFill>
                  <a:srgbClr val="4F46E5"/>
                </a:solidFill>
                <a:latin typeface="Malgun Gothic"/>
              </a:rPr>
              <a:t>● </a:t>
            </a:r>
            <a:r>
              <a:rPr sz="1100">
                <a:solidFill>
                  <a:srgbClr val="334155"/>
                </a:solidFill>
                <a:latin typeface="Malgun Gothic"/>
              </a:rPr>
              <a:t>For data/statistics questions it also helps with card-style answers.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Commands that actually change things — ‘register · send · modify’ — ask for one more confirmation (a safety guard).</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 can't recall a menu name, just say what you want to do — it finds its way there.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Voice-Diary Monitor</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View each student's English diary · AI correction · score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View the AI voice diaries students leave, right from the admin screen. Per student, check the transcript · AI correction · encouragement · score by month to encourage consistent writers and gauge their learning.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 Voice Diary (monitor)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Enter the student UID, pick the month to look up, and press ‘Search’.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Open an entry from the list to see the transcript · correction · encouragement · score.</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It only shows up once a student actually writes a diary (the entry point is the 📔 card on the student home).</a:t>
            </a:r>
          </a:p>
          <a:p>
            <a:pPr>
              <a:lnSpc>
                <a:spcPct val="115000"/>
              </a:lnSpc>
              <a:spcAft>
                <a:spcPts val="200"/>
              </a:spcAft>
            </a:pPr>
            <a:r>
              <a:rPr sz="900" b="1">
                <a:solidFill>
                  <a:srgbClr val="4F46E5"/>
                </a:solidFill>
                <a:latin typeface="Malgun Gothic"/>
              </a:rPr>
              <a:t>● </a:t>
            </a:r>
            <a:r>
              <a:rPr sz="1100">
                <a:solidFill>
                  <a:srgbClr val="334155"/>
                </a:solidFill>
                <a:latin typeface="Malgun Gothic"/>
              </a:rPr>
              <a:t>Find consistent writers and connect them to praise/rewards to lock in the habit.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‘Nothing shows up’ usually just means that student hasn't left a diary yet.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voicediary.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AI-Coaching Review (Ops)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Collected per-class AI coaching · quality scores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After every class, the AI leaves the teacher a coaching card (strengths · areas to improve · a class-quality score). From the admin screen you can see these gathered by most-recent. Use it as a growth-support / coaching-quality tool — not surveillance.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Go to admin 🧲 Retention Center → 💼 Teacher Coaching tab.</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In the ‘🤖 Per-class AI coaching (recent)’ section, review each teacher's latest coaching.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each card's quality score · talk ratio · improvement point to plan coaching and training.</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See every teacher's recent coaching at a glance.</a:t>
            </a:r>
          </a:p>
          <a:p>
            <a:pPr>
              <a:lnSpc>
                <a:spcPct val="115000"/>
              </a:lnSpc>
              <a:spcAft>
                <a:spcPts val="200"/>
              </a:spcAft>
            </a:pPr>
            <a:r>
              <a:rPr sz="900" b="1">
                <a:solidFill>
                  <a:srgbClr val="4F46E5"/>
                </a:solidFill>
                <a:latin typeface="Malgun Gothic"/>
              </a:rPr>
              <a:t>● </a:t>
            </a:r>
            <a:r>
              <a:rPr sz="1100">
                <a:solidFill>
                  <a:srgbClr val="334155"/>
                </a:solidFill>
                <a:latin typeface="Malgun Gothic"/>
              </a:rPr>
              <a:t>Admins get a monthly rollup focus, so it's low-pressure.</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Coaching text is for a teacher's personal growth. We recommend using it as a support tool, not for evaluation/discipline.</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For teachers whose quality score stays low, coach them together with the teacher training manual.</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QR Attendance Check-in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One scan and attendance is done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Post an attendance QR code at the entrance, and the moment a student scans it with their phone, attendance is recorded automatically. The admin dashboard shows today's attendance in real time — no more paper rosters.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QR Attendance card in the admin menu and generate your academy's QR code.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Print the QR and post it at the entrance or front desk.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Students scan with their phone camera and check in on the check-in screen.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Watch today's arrivals and times live on the dashboard's attendance view.</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Arrival times are recorded automatically — fast and accurate.</a:t>
            </a:r>
          </a:p>
          <a:p>
            <a:pPr>
              <a:lnSpc>
                <a:spcPct val="115000"/>
              </a:lnSpc>
              <a:spcAft>
                <a:spcPts val="200"/>
              </a:spcAft>
            </a:pPr>
            <a:r>
              <a:rPr sz="900" b="1">
                <a:solidFill>
                  <a:srgbClr val="4F46E5"/>
                </a:solidFill>
                <a:latin typeface="Malgun Gothic"/>
              </a:rPr>
              <a:t>● </a:t>
            </a:r>
            <a:r>
              <a:rPr sz="1100">
                <a:solidFill>
                  <a:srgbClr val="334155"/>
                </a:solidFill>
                <a:latin typeface="Malgun Gothic"/>
              </a:rPr>
              <a:t>Attendance data flows into student management and reports.</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The QR code is unique to your academy. Keep it from being shared outside.</a:t>
            </a:r>
          </a:p>
        </p:txBody>
      </p:sp>
      <p:sp>
        <p:nvSpPr>
          <p:cNvPr id="19" name="Rounded Rectangle 18"/>
          <p:cNvSpPr/>
          <p:nvPr/>
        </p:nvSpPr>
        <p:spPr>
          <a:xfrm>
            <a:off x="457200" y="662939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Stand a tablet at the desk during arrival hours so students can scan without queuing.</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Consultation Booking Management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From new inquiries to scheduled consults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Take consultation bookings from parents and prospects and manage them on one screen. Track each booking's schedule and status (pending/done) and carry the consult onward toward enrollment.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Consultation Booking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Register a new booking (name, contact, preferred time) or review incoming ones.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After the consult, set the status to done and leave a note.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Carry it forward: consult → level test → enrollment.</a:t>
            </a:r>
          </a:p>
        </p:txBody>
      </p:sp>
      <p:sp>
        <p:nvSpPr>
          <p:cNvPr id="14" name="Rounded Rectangle 13"/>
          <p:cNvSpPr/>
          <p:nvPr/>
        </p:nvSpPr>
        <p:spPr>
          <a:xfrm>
            <a:off x="457200" y="4782312"/>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Bookings live in one place, so no consult slips through.</a:t>
            </a:r>
          </a:p>
          <a:p>
            <a:pPr>
              <a:lnSpc>
                <a:spcPct val="115000"/>
              </a:lnSpc>
              <a:spcAft>
                <a:spcPts val="200"/>
              </a:spcAft>
            </a:pPr>
            <a:r>
              <a:rPr sz="900" b="1">
                <a:solidFill>
                  <a:srgbClr val="4F46E5"/>
                </a:solidFill>
                <a:latin typeface="Malgun Gothic"/>
              </a:rPr>
              <a:t>● </a:t>
            </a:r>
            <a:r>
              <a:rPr sz="1100">
                <a:solidFill>
                  <a:srgbClr val="334155"/>
                </a:solidFill>
                <a:latin typeface="Malgun Gothic"/>
              </a:rPr>
              <a:t>Consult history makes repeat inquiries easy to handle.</a:t>
            </a:r>
          </a:p>
        </p:txBody>
      </p:sp>
      <p:sp>
        <p:nvSpPr>
          <p:cNvPr id="17" name="Rounded Rectangle 16"/>
          <p:cNvSpPr/>
          <p:nvPr/>
        </p:nvSpPr>
        <p:spPr>
          <a:xfrm>
            <a:off x="457200" y="5897879"/>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quick follow-up call the day after a consult noticeably lifts enrollment conversion.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Friend-Referral Rewards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Track referrals · pay out rewards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See the referral status of enrolled students bringing friends, and process reward payouts. Who referred whom, and whether the reward was paid — all on one screen, turning word-of-mouth into a system.</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Referral Rewards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Review the list of referrer · referred friend · enrollment status.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For qualifying cases, process the reward payout (points, gift vouchers, etc.).</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Referral history is kept as data — transparent, no disputes.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Linking rewards to student points and the shop multiplies the effect.</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Pair it with a 'refer a friend' event before each semester and watch inquiries jump.</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Approving Postpone/Change Requests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Review and approve teacher-submitted requests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Class postpone and time-change requests submitted by teachers gather on the admin screen in real time. Check the reason and approve or decline — the schedule updates immediately, replacing phone-and-messenger juggling with one screen.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Class Postpone/Change Requests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Review each pending request's teacher · class · reason.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Approve or Decline — the result flows to the schedule and the teacher.</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Request and decision history is kept, so everything stays transparent.</a:t>
            </a:r>
          </a:p>
          <a:p>
            <a:pPr>
              <a:lnSpc>
                <a:spcPct val="115000"/>
              </a:lnSpc>
              <a:spcAft>
                <a:spcPts val="200"/>
              </a:spcAft>
            </a:pPr>
            <a:r>
              <a:rPr sz="900" b="1">
                <a:solidFill>
                  <a:srgbClr val="4F46E5"/>
                </a:solidFill>
                <a:latin typeface="Malgun Gothic"/>
              </a:rPr>
              <a:t>● </a:t>
            </a:r>
            <a:r>
              <a:rPr sz="1100">
                <a:solidFill>
                  <a:srgbClr val="334155"/>
                </a:solidFill>
                <a:latin typeface="Malgun Gothic"/>
              </a:rPr>
              <a:t>For changes parents should know about, follow approval with a notification.</a:t>
            </a:r>
          </a:p>
        </p:txBody>
      </p:sp>
      <p:sp>
        <p:nvSpPr>
          <p:cNvPr id="17" name="Rounded Rectangle 16"/>
          <p:cNvSpPr/>
          <p:nvPr/>
        </p:nvSpPr>
        <p:spPr>
          <a:xfrm>
            <a:off x="457200" y="551383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Clearing pending requests every morning prevents same-day confusion.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Share Library Links via KakaoTalk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Send videos &amp; docs in original quality</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Every guide and video in the library now has a '💬 Copy KakaoTalk link' button. Attaching a file to KakaoTalk crushes the quality, but sending a link plays the original as-is. One tap copies the link — guiding parents and teachers gets much easier.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In the admin Library, press 💬 Copy KakaoTalk link next to the file.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Paste it into the KakaoTalk chat room.</a:t>
            </a:r>
          </a:p>
          <a:p>
            <a:pPr>
              <a:lnSpc>
                <a:spcPct val="115000"/>
              </a:lnSpc>
              <a:spcAft>
                <a:spcPts val="600"/>
              </a:spcAft>
            </a:pPr>
            <a:r>
              <a:rPr sz="1050" b="1">
                <a:solidFill>
                  <a:srgbClr val="4F46E5"/>
                </a:solidFill>
                <a:latin typeface="Malgun Gothic"/>
              </a:rPr>
              <a:t>● </a:t>
            </a:r>
            <a:r>
              <a:rPr sz="1250">
                <a:solidFill>
                  <a:srgbClr val="334155"/>
                </a:solidFill>
                <a:latin typeface="Malgun Gothic"/>
              </a:rPr>
              <a:t>Recipients tap the link to watch or download in original quality.</a:t>
            </a:r>
          </a:p>
        </p:txBody>
      </p:sp>
      <p:sp>
        <p:nvSpPr>
          <p:cNvPr id="14" name="Rounded Rectangle 13"/>
          <p:cNvSpPr/>
          <p:nvPr/>
        </p:nvSpPr>
        <p:spPr>
          <a:xfrm>
            <a:off x="457200" y="4398264"/>
            <a:ext cx="5669280" cy="1005840"/>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For videos, link sharing = original quality; file attachments degrade it.</a:t>
            </a:r>
          </a:p>
          <a:p>
            <a:pPr>
              <a:lnSpc>
                <a:spcPct val="115000"/>
              </a:lnSpc>
              <a:spcAft>
                <a:spcPts val="200"/>
              </a:spcAft>
            </a:pPr>
            <a:r>
              <a:rPr sz="900" b="1">
                <a:solidFill>
                  <a:srgbClr val="4F46E5"/>
                </a:solidFill>
                <a:latin typeface="Malgun Gothic"/>
              </a:rPr>
              <a:t>● </a:t>
            </a:r>
            <a:r>
              <a:rPr sz="1100">
                <a:solidFill>
                  <a:srgbClr val="334155"/>
                </a:solidFill>
                <a:latin typeface="Malgun Gothic"/>
              </a:rPr>
              <a:t>Works the same for PDFs, PPTs, and videos anywhere in the library.</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Anyone with the link can open it. For internal-only material, check who you share with.</a:t>
            </a:r>
          </a:p>
        </p:txBody>
      </p:sp>
      <p:sp>
        <p:nvSpPr>
          <p:cNvPr id="19" name="Rounded Rectangle 18"/>
          <p:cNvSpPr/>
          <p:nvPr/>
        </p:nvSpPr>
        <p:spPr>
          <a:xfrm>
            <a:off x="457200" y="6245351"/>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In a parents' group chat, one video-guide link does all the explaining.</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Enrolment &amp; payment → automatic lesson creation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Once payment is confirmed, every session is scheduled</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Enrolment screen a student picks teacher, days and time and pays — and all lesson sessions are created automatically the moment payment is confirmed. The old manual timetable entry after payment is gone. If the slot clashes with an existing lesson, the conflict is detected before payment.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Send students and parents the enrolment link.</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They choose teacher → lesson options (weekly count, term, length) → days &amp; time.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slot check must pass before the pay button unlocks (payment is blocked on a clash).</a:t>
            </a:r>
          </a:p>
          <a:p>
            <a:pPr>
              <a:lnSpc>
                <a:spcPct val="115000"/>
              </a:lnSpc>
              <a:spcAft>
                <a:spcPts val="600"/>
              </a:spcAft>
            </a:pPr>
            <a:r>
              <a:rPr sz="1050" b="1">
                <a:solidFill>
                  <a:srgbClr val="4F46E5"/>
                </a:solidFill>
                <a:latin typeface="Malgun Gothic"/>
              </a:rPr>
              <a:t>● </a:t>
            </a:r>
            <a:r>
              <a:rPr sz="1250">
                <a:solidFill>
                  <a:srgbClr val="334155"/>
                </a:solidFill>
                <a:latin typeface="Malgun Gothic"/>
              </a:rPr>
              <a:t>On confirmed payment, all sessions are created at once — verify in the admin lesson list.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Head-office prices and discount rates are managed on the pricing screen.</a:t>
            </a:r>
          </a:p>
        </p:txBody>
      </p:sp>
      <p:sp>
        <p:nvSpPr>
          <p:cNvPr id="14" name="Rounded Rectangle 13"/>
          <p:cNvSpPr/>
          <p:nvPr/>
        </p:nvSpPr>
        <p:spPr>
          <a:xfrm>
            <a:off x="457200" y="5166360"/>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Idempotent — a duplicated payment callback will not create the sessions twice.</a:t>
            </a:r>
          </a:p>
          <a:p>
            <a:pPr>
              <a:lnSpc>
                <a:spcPct val="115000"/>
              </a:lnSpc>
              <a:spcAft>
                <a:spcPts val="200"/>
              </a:spcAft>
            </a:pPr>
            <a:r>
              <a:rPr sz="900" b="1">
                <a:solidFill>
                  <a:srgbClr val="4F46E5"/>
                </a:solidFill>
                <a:latin typeface="Malgun Gothic"/>
              </a:rPr>
              <a:t>● </a:t>
            </a:r>
            <a:r>
              <a:rPr sz="1100">
                <a:solidFill>
                  <a:srgbClr val="334155"/>
                </a:solidFill>
                <a:latin typeface="Malgun Gothic"/>
              </a:rPr>
              <a:t>Clashes with holidays or existing lessons are pushed back so the session count is still met.</a:t>
            </a:r>
          </a:p>
          <a:p>
            <a:pPr>
              <a:lnSpc>
                <a:spcPct val="115000"/>
              </a:lnSpc>
              <a:spcAft>
                <a:spcPts val="200"/>
              </a:spcAft>
            </a:pPr>
            <a:r>
              <a:rPr sz="900" b="1">
                <a:solidFill>
                  <a:srgbClr val="4F46E5"/>
                </a:solidFill>
                <a:latin typeface="Malgun Gothic"/>
              </a:rPr>
              <a:t>● </a:t>
            </a:r>
            <a:r>
              <a:rPr sz="1100">
                <a:solidFill>
                  <a:srgbClr val="334155"/>
                </a:solidFill>
                <a:latin typeface="Malgun Gothic"/>
              </a:rPr>
              <a:t>Term discounts (6 months −5%, 12 months −10%) are applied to the amount automatically.</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Stage 1 (enrol → pay → auto-create sessions) is live today. Later stages will follow.</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Consultation → level test → send the enrolment link is the smoothest conversion path.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enrol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Class Observation (live)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Quietly look in on a lesson in progress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You can sit in on a live lesson without the student or teacher knowing. No join notification is sent, so the lesson isn't disturbed — use it for mentoring new teachers, quality checks and parent complaints. Every observation is permanently written to the audit log.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Class Observation (Live) card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Enter your admin UID and the room ID.</a:t>
            </a:r>
          </a:p>
          <a:p>
            <a:pPr>
              <a:lnSpc>
                <a:spcPct val="115000"/>
              </a:lnSpc>
              <a:spcAft>
                <a:spcPts val="600"/>
              </a:spcAft>
            </a:pPr>
            <a:r>
              <a:rPr sz="1050" b="1">
                <a:solidFill>
                  <a:srgbClr val="4F46E5"/>
                </a:solidFill>
                <a:latin typeface="Malgun Gothic"/>
              </a:rPr>
              <a:t>● </a:t>
            </a:r>
            <a:r>
              <a:rPr sz="1250">
                <a:solidFill>
                  <a:srgbClr val="334155"/>
                </a:solidFill>
                <a:latin typeface="Malgun Gothic"/>
              </a:rPr>
              <a:t>Write an observation reason — this is required (e.g. new-teacher mentoring).</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Start observing; press Stop observing when done.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Past sessions are listed under Observation log.</a:t>
            </a:r>
          </a:p>
        </p:txBody>
      </p:sp>
      <p:sp>
        <p:nvSpPr>
          <p:cNvPr id="14" name="Rounded Rectangle 13"/>
          <p:cNvSpPr/>
          <p:nvPr/>
        </p:nvSpPr>
        <p:spPr>
          <a:xfrm>
            <a:off x="457200" y="5166360"/>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While observing, your audio and video are not transmitted.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A reason is mandatory — this is student privacy policy.</a:t>
            </a:r>
          </a:p>
          <a:p>
            <a:pPr>
              <a:lnSpc>
                <a:spcPct val="115000"/>
              </a:lnSpc>
              <a:spcAft>
                <a:spcPts val="200"/>
              </a:spcAft>
            </a:pPr>
            <a:r>
              <a:rPr sz="900" b="1">
                <a:solidFill>
                  <a:srgbClr val="4F46E5"/>
                </a:solidFill>
                <a:latin typeface="Malgun Gothic"/>
              </a:rPr>
              <a:t>● </a:t>
            </a:r>
            <a:r>
              <a:rPr sz="1100">
                <a:solidFill>
                  <a:srgbClr val="334155"/>
                </a:solidFill>
                <a:latin typeface="Malgun Gothic"/>
              </a:rPr>
              <a:t>Who observed, when and why is fully recorded.</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This touches student privacy directly. Use it only when there is a business need, and write a specific reason.</a:t>
            </a:r>
          </a:p>
        </p:txBody>
      </p:sp>
      <p:sp>
        <p:nvSpPr>
          <p:cNvPr id="19" name="Rounded Rectangle 18"/>
          <p:cNvSpPr/>
          <p:nvPr/>
        </p:nvSpPr>
        <p:spPr>
          <a:xfrm>
            <a:off x="457200" y="7324344"/>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Observe new teachers once a week for their first two weeks, then coach — quality stabilises quickly.</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ghos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 refreshed admin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Collapsible sidebar · lighter background · line icons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admin screen is now easier on the eyes and wider. The left menu collapses to a narrow icon rail via the ‹ Collapse button, and the background is now a consistent light tone. Menu icons were redrawn as line icons so labels read clearly.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Press ‹ Collapse at the top of the left menu — it shrinks to an icon rail and the content gets wider.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Press the › button in the same place to expand it again.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collapsed state is remembered for your next visit.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Too many menus to find one? Type its name into menu search at the top.</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Screens full of tables and lists gain a lot of horizontal space.</a:t>
            </a:r>
          </a:p>
          <a:p>
            <a:pPr>
              <a:lnSpc>
                <a:spcPct val="115000"/>
              </a:lnSpc>
              <a:spcAft>
                <a:spcPts val="200"/>
              </a:spcAft>
            </a:pPr>
            <a:r>
              <a:rPr sz="900" b="1">
                <a:solidFill>
                  <a:srgbClr val="4F46E5"/>
                </a:solidFill>
                <a:latin typeface="Malgun Gothic"/>
              </a:rPr>
              <a:t>● </a:t>
            </a:r>
            <a:r>
              <a:rPr sz="1100">
                <a:solidFill>
                  <a:srgbClr val="334155"/>
                </a:solidFill>
                <a:latin typeface="Malgun Gothic"/>
              </a:rPr>
              <a:t>15 sub-pages were moved onto the same light theme, so the colour jump between screens is gone.</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collapse animation was removed so low-spec PCs don't stutter.</a:t>
            </a:r>
          </a:p>
        </p:txBody>
      </p:sp>
      <p:sp>
        <p:nvSpPr>
          <p:cNvPr id="17" name="Rounded Rectangle 16"/>
          <p:cNvSpPr/>
          <p:nvPr/>
        </p:nvSpPr>
        <p:spPr>
          <a:xfrm>
            <a:off x="457200" y="620877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Wide-table screens like settlement and payroll are far easier to read with the menu collapsed.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sidebar_rai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interface language sets itself</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Overseas staff and teachers start in English</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Filipino teachers and overseas staff now start in English from the first screen. The interface language is decided from the account's nationality, and teacher accounts are always English regardless of name or previous choice. You can still switch any time with the 🌐 EN / KR button at the top.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If the account has a nationality on file, the right language appears automatically at login.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To change it manually, press the 🌐 EN / KR button at the top.</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 manual choice is stored per account — several people can share one PC without interference.</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Teacher guide slides and manuals switch to the English editions with it.</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Teacher accounts are always English — no more getting lost in a Korean screen.</a:t>
            </a:r>
          </a:p>
          <a:p>
            <a:pPr>
              <a:lnSpc>
                <a:spcPct val="115000"/>
              </a:lnSpc>
              <a:spcAft>
                <a:spcPts val="200"/>
              </a:spcAft>
            </a:pPr>
            <a:r>
              <a:rPr sz="900" b="1">
                <a:solidFill>
                  <a:srgbClr val="4F46E5"/>
                </a:solidFill>
                <a:latin typeface="Malgun Gothic"/>
              </a:rPr>
              <a:t>● </a:t>
            </a:r>
            <a:r>
              <a:rPr sz="1100">
                <a:solidFill>
                  <a:srgbClr val="334155"/>
                </a:solidFill>
                <a:latin typeface="Malgun Gothic"/>
              </a:rPr>
              <a:t>Accounts with an English name no longer flip to Korean because of a Korean job title.</a:t>
            </a:r>
          </a:p>
          <a:p>
            <a:pPr>
              <a:lnSpc>
                <a:spcPct val="115000"/>
              </a:lnSpc>
              <a:spcAft>
                <a:spcPts val="200"/>
              </a:spcAft>
            </a:pPr>
            <a:r>
              <a:rPr sz="900" b="1">
                <a:solidFill>
                  <a:srgbClr val="4F46E5"/>
                </a:solidFill>
                <a:latin typeface="Malgun Gothic"/>
              </a:rPr>
              <a:t>● </a:t>
            </a:r>
            <a:r>
              <a:rPr sz="1100">
                <a:solidFill>
                  <a:srgbClr val="334155"/>
                </a:solidFill>
                <a:latin typeface="Malgun Gothic"/>
              </a:rPr>
              <a:t>Language choice is isolated per account, so an overseas account isn't overwritten by someone else's pick.</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Accounts with no nationality fall back to the old name/ID heuristic. Please fill in nationality when registering teachers.</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nationality when registering a new teacher and their very first login is in English — fewer support requests.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Running Judgment Training (student judgment index)</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Not memorisation but judgment — a new outcome metric</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In Judgment Training, a student picks the expression that fits a situation and explains why. Results accumulate into a judgment index across 5 axes — evidence you can show in parent consultations that answers “how well do they judge for themselves”, not just “what did they memorise”.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The feature lives at AI Learning Tools → Judgment Training on the student screen.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Per-student results appear on the My Growth screen and in learning reports.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Show the index trend chart as supporting evidence during consultations.</a:t>
            </a:r>
          </a:p>
        </p:txBody>
      </p:sp>
      <p:sp>
        <p:nvSpPr>
          <p:cNvPr id="14" name="Rounded Rectangle 13"/>
          <p:cNvSpPr/>
          <p:nvPr/>
        </p:nvSpPr>
        <p:spPr>
          <a:xfrm>
            <a:off x="457200" y="4398264"/>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4727448"/>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Recent answers are weighted more (half-life weighting), so current ability shows up fast.</a:t>
            </a:r>
          </a:p>
          <a:p>
            <a:pPr>
              <a:lnSpc>
                <a:spcPct val="115000"/>
              </a:lnSpc>
              <a:spcAft>
                <a:spcPts val="200"/>
              </a:spcAft>
            </a:pPr>
            <a:r>
              <a:rPr sz="900" b="1">
                <a:solidFill>
                  <a:srgbClr val="4F46E5"/>
                </a:solidFill>
                <a:latin typeface="Malgun Gothic"/>
              </a:rPr>
              <a:t>● </a:t>
            </a:r>
            <a:r>
              <a:rPr sz="1100">
                <a:solidFill>
                  <a:srgbClr val="334155"/>
                </a:solidFill>
                <a:latin typeface="Malgun Gothic"/>
              </a:rPr>
              <a:t>Partial credit means one wrong answer doesn't crash the index.</a:t>
            </a:r>
          </a:p>
          <a:p>
            <a:pPr>
              <a:lnSpc>
                <a:spcPct val="115000"/>
              </a:lnSpc>
              <a:spcAft>
                <a:spcPts val="200"/>
              </a:spcAft>
            </a:pPr>
            <a:r>
              <a:rPr sz="900" b="1">
                <a:solidFill>
                  <a:srgbClr val="4F46E5"/>
                </a:solidFill>
                <a:latin typeface="Malgun Gothic"/>
              </a:rPr>
              <a:t>● </a:t>
            </a:r>
            <a:r>
              <a:rPr sz="1100">
                <a:solidFill>
                  <a:srgbClr val="334155"/>
                </a:solidFill>
                <a:latin typeface="Malgun Gothic"/>
              </a:rPr>
              <a:t>Questions combine 24 topics × 12 angles, so students get different questions.</a:t>
            </a:r>
          </a:p>
        </p:txBody>
      </p:sp>
      <p:sp>
        <p:nvSpPr>
          <p:cNvPr id="17" name="Rounded Rectangle 16"/>
          <p:cNvSpPr/>
          <p:nvPr/>
        </p:nvSpPr>
        <p:spPr>
          <a:xfrm>
            <a:off x="457200" y="5824727"/>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870447"/>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Read the judgment index as a growth trend, not an exam score. The direction matters more than the absolute number.</a:t>
            </a:r>
          </a:p>
        </p:txBody>
      </p:sp>
      <p:sp>
        <p:nvSpPr>
          <p:cNvPr id="19" name="Rounded Rectangle 18"/>
          <p:cNvSpPr/>
          <p:nvPr/>
        </p:nvSpPr>
        <p:spPr>
          <a:xfrm>
            <a:off x="457200" y="6556247"/>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01967"/>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This is the best material to answer the classic parent question: “They know the words but can't speak.”</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judgm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accounts (password reset · access limits)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Handling lost passwords · scoping permissions</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When a teacher forgets their password you can reset it directly from the admin screen. Teacher account access was also tightened so that operations and settlement features a teacher doesn't need simply don't open.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Find the teacher under Teachers in the admin menu.</a:t>
            </a:r>
          </a:p>
          <a:p>
            <a:pPr>
              <a:lnSpc>
                <a:spcPct val="115000"/>
              </a:lnSpc>
              <a:spcAft>
                <a:spcPts val="600"/>
              </a:spcAft>
            </a:pPr>
            <a:r>
              <a:rPr sz="1050" b="1">
                <a:solidFill>
                  <a:srgbClr val="4F46E5"/>
                </a:solidFill>
                <a:latin typeface="Malgun Gothic"/>
              </a:rPr>
              <a:t>● </a:t>
            </a:r>
            <a:r>
              <a:rPr sz="1250">
                <a:solidFill>
                  <a:srgbClr val="334155"/>
                </a:solidFill>
                <a:latin typeface="Malgun Gothic"/>
              </a:rPr>
              <a:t>Use Reset password to issue a temporary password.</a:t>
            </a:r>
          </a:p>
          <a:p>
            <a:pPr>
              <a:lnSpc>
                <a:spcPct val="115000"/>
              </a:lnSpc>
              <a:spcAft>
                <a:spcPts val="600"/>
              </a:spcAft>
            </a:pPr>
            <a:r>
              <a:rPr sz="1050" b="1">
                <a:solidFill>
                  <a:srgbClr val="4F46E5"/>
                </a:solidFill>
                <a:latin typeface="Malgun Gothic"/>
              </a:rPr>
              <a:t>● </a:t>
            </a:r>
            <a:r>
              <a:rPr sz="1250">
                <a:solidFill>
                  <a:srgbClr val="334155"/>
                </a:solidFill>
                <a:latin typeface="Malgun Gothic"/>
              </a:rPr>
              <a:t>Pass it on and tell them to change it right after logging in.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If the teacher's nationality is blank, fill it in so their screen opens in English.</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Teacher accounts cannot reach operations or settlement features (32 areas blocked).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Reset actions are logged.</a:t>
            </a:r>
          </a:p>
          <a:p>
            <a:pPr>
              <a:lnSpc>
                <a:spcPct val="115000"/>
              </a:lnSpc>
              <a:spcAft>
                <a:spcPts val="200"/>
              </a:spcAft>
            </a:pPr>
            <a:r>
              <a:rPr sz="900" b="1">
                <a:solidFill>
                  <a:srgbClr val="4F46E5"/>
                </a:solidFill>
                <a:latin typeface="Malgun Gothic"/>
              </a:rPr>
              <a:t>● </a:t>
            </a:r>
            <a:r>
              <a:rPr sz="1100">
                <a:solidFill>
                  <a:srgbClr val="334155"/>
                </a:solidFill>
                <a:latin typeface="Malgun Gothic"/>
              </a:rPr>
              <a:t>Teachers with a nationality on file start in English from their first login.</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Send temporary passwords only over a channel where you can verify who you're talking to.</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Fill in nationality and contact details when registering a new teacher — later questions drop sharply.</a:t>
            </a:r>
          </a:p>
        </p:txBody>
      </p:sp>
      <p:sp>
        <p:nvSpPr>
          <p:cNvPr id="21" name="Rectangle 20"/>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Management, redesigned (roster filters · groups · detail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Easy-to-search roster · detail at a glance</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teacher-management screen is now easier to search and read. Scattered menus are grouped into four bundles in the sidebar, and above the roster there are status/group dropdown filters with applied-filter chips. Tapping a teacher opens a detail view split into Profile / Payroll / Evaluation tabs, with a manager badge and employment status (active / on-leave / left) shown at a glance.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Teachers in the admin menu (menus are tidied into four bundles).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Filter to just the teachers you want with the status/group dropdowns above the roster.</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Applied filters show as chips; remove a chip to clear it.</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Tap a teacher to open the Profile / Payroll / Evaluation detail tabs.</a:t>
            </a:r>
          </a:p>
          <a:p>
            <a:pPr>
              <a:lnSpc>
                <a:spcPct val="115000"/>
              </a:lnSpc>
              <a:spcAft>
                <a:spcPts val="600"/>
              </a:spcAft>
            </a:pPr>
            <a:r>
              <a:rPr sz="1050" b="1">
                <a:solidFill>
                  <a:srgbClr val="4F46E5"/>
                </a:solidFill>
                <a:latin typeface="Malgun Gothic"/>
              </a:rPr>
              <a:t>● </a:t>
            </a:r>
            <a:r>
              <a:rPr sz="1250">
                <a:solidFill>
                  <a:srgbClr val="334155"/>
                </a:solidFill>
                <a:latin typeface="Malgun Gothic"/>
              </a:rPr>
              <a:t>The summary numbers on the payroll/evaluation tabs load only as needed when opened.</a:t>
            </a:r>
          </a:p>
        </p:txBody>
      </p:sp>
      <p:sp>
        <p:nvSpPr>
          <p:cNvPr id="14" name="Rounded Rectangle 13"/>
          <p:cNvSpPr/>
          <p:nvPr/>
        </p:nvSpPr>
        <p:spPr>
          <a:xfrm>
            <a:off x="457200" y="5166360"/>
            <a:ext cx="5669280" cy="1627632"/>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495544"/>
            <a:ext cx="5394960" cy="1261872"/>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Managers are marked with a badge, and status shows as active / on-leave / left (3 states).</a:t>
            </a:r>
          </a:p>
          <a:p>
            <a:pPr>
              <a:lnSpc>
                <a:spcPct val="115000"/>
              </a:lnSpc>
              <a:spcAft>
                <a:spcPts val="200"/>
              </a:spcAft>
            </a:pPr>
            <a:r>
              <a:rPr sz="900" b="1">
                <a:solidFill>
                  <a:srgbClr val="4F46E5"/>
                </a:solidFill>
                <a:latin typeface="Malgun Gothic"/>
              </a:rPr>
              <a:t>● </a:t>
            </a:r>
            <a:r>
              <a:rPr sz="1100">
                <a:solidFill>
                  <a:srgbClr val="334155"/>
                </a:solidFill>
                <a:latin typeface="Malgun Gothic"/>
              </a:rPr>
              <a:t>A blank name falls back to the ID, so there are no empty cells.</a:t>
            </a:r>
          </a:p>
          <a:p>
            <a:pPr>
              <a:lnSpc>
                <a:spcPct val="115000"/>
              </a:lnSpc>
              <a:spcAft>
                <a:spcPts val="200"/>
              </a:spcAft>
            </a:pPr>
            <a:r>
              <a:rPr sz="900" b="1">
                <a:solidFill>
                  <a:srgbClr val="4F46E5"/>
                </a:solidFill>
                <a:latin typeface="Malgun Gothic"/>
              </a:rPr>
              <a:t>● </a:t>
            </a:r>
            <a:r>
              <a:rPr sz="1100">
                <a:solidFill>
                  <a:srgbClr val="334155"/>
                </a:solidFill>
                <a:latin typeface="Malgun Gothic"/>
              </a:rPr>
              <a:t>Detail tabs reuse existing APIs for speed, and the screen is bilingual (KO/EN).</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duplicate payroll entry was tidied and bug reports moved to a separate system.</a:t>
            </a:r>
          </a:p>
        </p:txBody>
      </p:sp>
      <p:sp>
        <p:nvSpPr>
          <p:cNvPr id="17" name="Rounded Rectangle 16"/>
          <p:cNvSpPr/>
          <p:nvPr/>
        </p:nvSpPr>
        <p:spPr>
          <a:xfrm>
            <a:off x="457200" y="6903720"/>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949440"/>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This is a filtering/detail cleanup. Registering, editing and deleting teachers works exactly as before.</a:t>
            </a:r>
          </a:p>
        </p:txBody>
      </p:sp>
      <p:sp>
        <p:nvSpPr>
          <p:cNvPr id="19" name="Rounded Rectangle 18"/>
          <p:cNvSpPr/>
          <p:nvPr/>
        </p:nvSpPr>
        <p:spPr>
          <a:xfrm>
            <a:off x="457200" y="7635240"/>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680960"/>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The more teachers you have, the more the status/group filters help. Keep your usual conditions filtered.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teacher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Sending the Parent Monthly Report (pentagon)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Preview the 5-axis report, then share the link</a:t>
            </a:r>
          </a:p>
        </p:txBody>
      </p:sp>
      <p:sp>
        <p:nvSpPr>
          <p:cNvPr id="10" name="Rounded Rectangle 9"/>
          <p:cNvSpPr/>
          <p:nvPr/>
        </p:nvSpPr>
        <p:spPr>
          <a:xfrm>
            <a:off x="365760" y="1828800"/>
            <a:ext cx="11430000" cy="77724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monthly report sent to parents is renewed as a pentagon 5-axis graph — Pronunciation &amp; Fluency / Vocabulary / Sentence Building / Class Attitude / Participation — at a glance, with attendance, judgment and a teacher's note. Admins and teachers enter a student ID and month to preview, then send the KakaoTalk link.</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4F46E5"/>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4F46E5"/>
                </a:solidFill>
                <a:latin typeface="Malgun Gothic"/>
              </a:rPr>
              <a:t>● </a:t>
            </a:r>
            <a:r>
              <a:rPr sz="1250">
                <a:solidFill>
                  <a:srgbClr val="334155"/>
                </a:solidFill>
                <a:latin typeface="Malgun Gothic"/>
              </a:rPr>
              <a:t>Open the Monthly Report screen.</a:t>
            </a:r>
          </a:p>
          <a:p>
            <a:pPr>
              <a:lnSpc>
                <a:spcPct val="115000"/>
              </a:lnSpc>
              <a:spcAft>
                <a:spcPts val="600"/>
              </a:spcAft>
            </a:pPr>
            <a:r>
              <a:rPr sz="1050" b="1">
                <a:solidFill>
                  <a:srgbClr val="4F46E5"/>
                </a:solidFill>
                <a:latin typeface="Malgun Gothic"/>
              </a:rPr>
              <a:t>● </a:t>
            </a:r>
            <a:r>
              <a:rPr sz="1250">
                <a:solidFill>
                  <a:srgbClr val="334155"/>
                </a:solidFill>
                <a:latin typeface="Malgun Gothic"/>
              </a:rPr>
              <a:t>Enter a student ID and month, press View Report to preview.</a:t>
            </a:r>
          </a:p>
          <a:p>
            <a:pPr>
              <a:lnSpc>
                <a:spcPct val="115000"/>
              </a:lnSpc>
              <a:spcAft>
                <a:spcPts val="600"/>
              </a:spcAft>
            </a:pPr>
            <a:r>
              <a:rPr sz="1050" b="1">
                <a:solidFill>
                  <a:srgbClr val="4F46E5"/>
                </a:solidFill>
                <a:latin typeface="Malgun Gothic"/>
              </a:rPr>
              <a:t>● </a:t>
            </a:r>
            <a:r>
              <a:rPr sz="1250">
                <a:solidFill>
                  <a:srgbClr val="334155"/>
                </a:solidFill>
                <a:latin typeface="Malgun Gothic"/>
              </a:rPr>
              <a:t>Check the pentagon and teacher's note; top up evaluations if needed.</a:t>
            </a:r>
          </a:p>
          <a:p>
            <a:pPr>
              <a:lnSpc>
                <a:spcPct val="115000"/>
              </a:lnSpc>
              <a:spcAft>
                <a:spcPts val="600"/>
              </a:spcAft>
            </a:pPr>
            <a:r>
              <a:rPr sz="1050" b="1">
                <a:solidFill>
                  <a:srgbClr val="4F46E5"/>
                </a:solidFill>
                <a:latin typeface="Malgun Gothic"/>
              </a:rPr>
              <a:t>● </a:t>
            </a:r>
            <a:r>
              <a:rPr sz="1250">
                <a:solidFill>
                  <a:srgbClr val="334155"/>
                </a:solidFill>
                <a:latin typeface="Malgun Gothic"/>
              </a:rPr>
              <a:t>Append ?uid=ID&amp;period=YYYY-MM to the URL and send the KakaoTalk link.</a:t>
            </a:r>
          </a:p>
        </p:txBody>
      </p:sp>
      <p:sp>
        <p:nvSpPr>
          <p:cNvPr id="14" name="Rounded Rectangle 13"/>
          <p:cNvSpPr/>
          <p:nvPr/>
        </p:nvSpPr>
        <p:spPr>
          <a:xfrm>
            <a:off x="457200" y="4782312"/>
            <a:ext cx="5669280" cy="1316736"/>
          </a:xfrm>
          <a:prstGeom prst="roundRect">
            <a:avLst/>
          </a:prstGeom>
          <a:solidFill>
            <a:srgbClr val="F4F7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4F46E5"/>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4F46E5"/>
                </a:solidFill>
                <a:latin typeface="Malgun Gothic"/>
              </a:rPr>
              <a:t>● </a:t>
            </a:r>
            <a:r>
              <a:rPr sz="1100">
                <a:solidFill>
                  <a:srgbClr val="334155"/>
                </a:solidFill>
                <a:latin typeface="Malgun Gothic"/>
              </a:rPr>
              <a:t>Only axes with real records are filled, so it's trustworthy.</a:t>
            </a:r>
          </a:p>
          <a:p>
            <a:pPr>
              <a:lnSpc>
                <a:spcPct val="115000"/>
              </a:lnSpc>
              <a:spcAft>
                <a:spcPts val="200"/>
              </a:spcAft>
            </a:pPr>
            <a:r>
              <a:rPr sz="900" b="1">
                <a:solidFill>
                  <a:srgbClr val="4F46E5"/>
                </a:solidFill>
                <a:latin typeface="Malgun Gothic"/>
              </a:rPr>
              <a:t>● </a:t>
            </a:r>
            <a:r>
              <a:rPr sz="1100">
                <a:solidFill>
                  <a:srgbClr val="334155"/>
                </a:solidFill>
                <a:latin typeface="Malgun Gothic"/>
              </a:rPr>
              <a:t>Compiled on a two-month cycle — conveys change without tiring parents.</a:t>
            </a:r>
          </a:p>
          <a:p>
            <a:pPr>
              <a:lnSpc>
                <a:spcPct val="115000"/>
              </a:lnSpc>
              <a:spcAft>
                <a:spcPts val="200"/>
              </a:spcAft>
            </a:pPr>
            <a:r>
              <a:rPr sz="900" b="1">
                <a:solidFill>
                  <a:srgbClr val="4F46E5"/>
                </a:solidFill>
                <a:latin typeface="Malgun Gothic"/>
              </a:rPr>
              <a:t>● </a:t>
            </a:r>
            <a:r>
              <a:rPr sz="1100">
                <a:solidFill>
                  <a:srgbClr val="334155"/>
                </a:solidFill>
                <a:latin typeface="Malgun Gothic"/>
              </a:rPr>
              <a:t>The Print/PDF button makes a paper report for consultations instantly.</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Report access passes an approval gate — admins via their login session, parents only via the issued link (token).</a:t>
            </a:r>
          </a:p>
        </p:txBody>
      </p:sp>
      <p:sp>
        <p:nvSpPr>
          <p:cNvPr id="19" name="Rounded Rectangle 18"/>
          <p:cNvSpPr/>
          <p:nvPr/>
        </p:nvSpPr>
        <p:spPr>
          <a:xfrm>
            <a:off x="457200" y="6940295"/>
            <a:ext cx="5669280" cy="658368"/>
          </a:xfrm>
          <a:prstGeom prst="roundRect">
            <a:avLst/>
          </a:prstGeom>
          <a:solidFill>
            <a:srgbClr val="FFF7E6"/>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Sending the report link ahead of a booked consultation makes the meeting much smoother.</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port_pentago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39</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Admin Feature Categories</a:t>
            </a:r>
          </a:p>
        </p:txBody>
      </p:sp>
      <p:graphicFrame>
        <p:nvGraphicFramePr>
          <p:cNvPr id="9" name="Table 8"/>
          <p:cNvGraphicFramePr>
            <a:graphicFrameLocks noGrp="1"/>
          </p:cNvGraphicFramePr>
          <p:nvPr/>
        </p:nvGraphicFramePr>
        <p:xfrm>
          <a:off x="365760" y="1463040"/>
          <a:ext cx="11460175" cy="3657600"/>
        </p:xfrm>
        <a:graphic>
          <a:graphicData uri="http://schemas.openxmlformats.org/drawingml/2006/table">
            <a:tbl>
              <a:tblPr firstRow="1" bandRow="1">
                <a:tableStyleId>{5C22544A-7EE6-4342-B048-85BDC9FD1C3A}</a:tableStyleId>
              </a:tblPr>
              <a:tblGrid>
                <a:gridCol w="2865043"/>
                <a:gridCol w="2865043"/>
                <a:gridCol w="2865043"/>
                <a:gridCol w="2865046"/>
              </a:tblGrid>
              <a:tr h="522514">
                <a:tc>
                  <a:txBody>
                    <a:bodyPr/>
                    <a:lstStyle/>
                    <a:p>
                      <a:pPr algn="ctr"/>
                      <a:r>
                        <a:rPr sz="1300" b="1">
                          <a:solidFill>
                            <a:srgbClr val="FFFFFF"/>
                          </a:solidFill>
                          <a:latin typeface="Malgun Gothic"/>
                        </a:rPr>
                        <a:t>Category</a:t>
                      </a:r>
                    </a:p>
                  </a:txBody>
                  <a:tcPr>
                    <a:solidFill>
                      <a:srgbClr val="4F46E5"/>
                    </a:solidFill>
                  </a:tcPr>
                </a:tc>
                <a:tc>
                  <a:txBody>
                    <a:bodyPr/>
                    <a:lstStyle/>
                    <a:p>
                      <a:pPr algn="ctr"/>
                      <a:r>
                        <a:rPr sz="1300" b="1">
                          <a:solidFill>
                            <a:srgbClr val="FFFFFF"/>
                          </a:solidFill>
                          <a:latin typeface="Malgun Gothic"/>
                        </a:rPr>
                        <a:t>Key features</a:t>
                      </a:r>
                    </a:p>
                  </a:txBody>
                  <a:tcPr>
                    <a:solidFill>
                      <a:srgbClr val="4F46E5"/>
                    </a:solidFill>
                  </a:tcPr>
                </a:tc>
                <a:tc>
                  <a:txBody>
                    <a:bodyPr/>
                    <a:lstStyle/>
                    <a:p>
                      <a:pPr algn="ctr"/>
                      <a:r>
                        <a:rPr sz="1300" b="1">
                          <a:solidFill>
                            <a:srgbClr val="FFFFFF"/>
                          </a:solidFill>
                          <a:latin typeface="Malgun Gothic"/>
                        </a:rPr>
                        <a:t>Count (ex.)</a:t>
                      </a:r>
                    </a:p>
                  </a:txBody>
                  <a:tcPr>
                    <a:solidFill>
                      <a:srgbClr val="4F46E5"/>
                    </a:solidFill>
                  </a:tcPr>
                </a:tc>
                <a:tc>
                  <a:txBody>
                    <a:bodyPr/>
                    <a:lstStyle/>
                    <a:p>
                      <a:pPr algn="ctr"/>
                      <a:r>
                        <a:rPr sz="1300" b="1">
                          <a:solidFill>
                            <a:srgbClr val="FFFFFF"/>
                          </a:solidFill>
                          <a:latin typeface="Malgun Gothic"/>
                        </a:rPr>
                        <a:t>Core benefit</a:t>
                      </a:r>
                    </a:p>
                  </a:txBody>
                  <a:tcPr>
                    <a:solidFill>
                      <a:srgbClr val="4F46E5"/>
                    </a:solidFill>
                  </a:tcPr>
                </a:tc>
              </a:tr>
              <a:tr h="522514">
                <a:tc>
                  <a:txBody>
                    <a:bodyPr/>
                    <a:lstStyle/>
                    <a:p>
                      <a:pPr algn="l"/>
                      <a:r>
                        <a:rPr sz="1200" b="1">
                          <a:solidFill>
                            <a:srgbClr val="334155"/>
                          </a:solidFill>
                          <a:latin typeface="Malgun Gothic"/>
                        </a:rPr>
                        <a:t>Teachers</a:t>
                      </a:r>
                    </a:p>
                  </a:txBody>
                  <a:tcPr>
                    <a:solidFill>
                      <a:srgbClr val="FFFFFF"/>
                    </a:solidFill>
                  </a:tcPr>
                </a:tc>
                <a:tc>
                  <a:txBody>
                    <a:bodyPr/>
                    <a:lstStyle/>
                    <a:p>
                      <a:pPr algn="ctr"/>
                      <a:r>
                        <a:rPr sz="1200">
                          <a:solidFill>
                            <a:srgbClr val="334155"/>
                          </a:solidFill>
                          <a:latin typeface="Malgun Gothic"/>
                        </a:rPr>
                        <a:t>Payroll·matching·reviews·MBTI</a:t>
                      </a:r>
                    </a:p>
                  </a:txBody>
                  <a:tcPr>
                    <a:solidFill>
                      <a:srgbClr val="FFFFFF"/>
                    </a:solidFill>
                  </a:tcPr>
                </a:tc>
                <a:tc>
                  <a:txBody>
                    <a:bodyPr/>
                    <a:lstStyle/>
                    <a:p>
                      <a:pPr algn="ctr"/>
                      <a:r>
                        <a:rPr sz="1200">
                          <a:solidFill>
                            <a:srgbClr val="334155"/>
                          </a:solidFill>
                          <a:latin typeface="Malgun Gothic"/>
                        </a:rPr>
                        <a:t>11</a:t>
                      </a:r>
                    </a:p>
                  </a:txBody>
                  <a:tcPr>
                    <a:solidFill>
                      <a:srgbClr val="FFFFFF"/>
                    </a:solidFill>
                  </a:tcPr>
                </a:tc>
                <a:tc>
                  <a:txBody>
                    <a:bodyPr/>
                    <a:lstStyle/>
                    <a:p>
                      <a:pPr algn="ctr"/>
                      <a:r>
                        <a:rPr sz="1200">
                          <a:solidFill>
                            <a:srgbClr val="334155"/>
                          </a:solidFill>
                          <a:latin typeface="Malgun Gothic"/>
                        </a:rPr>
                        <a:t>Efficient teacher mgmt</a:t>
                      </a:r>
                    </a:p>
                  </a:txBody>
                  <a:tcPr>
                    <a:solidFill>
                      <a:srgbClr val="FFFFFF"/>
                    </a:solidFill>
                  </a:tcPr>
                </a:tc>
              </a:tr>
              <a:tr h="522514">
                <a:tc>
                  <a:txBody>
                    <a:bodyPr/>
                    <a:lstStyle/>
                    <a:p>
                      <a:pPr algn="l"/>
                      <a:r>
                        <a:rPr sz="1200" b="1">
                          <a:solidFill>
                            <a:srgbClr val="334155"/>
                          </a:solidFill>
                          <a:latin typeface="Malgun Gothic"/>
                        </a:rPr>
                        <a:t>Accounting / Points</a:t>
                      </a:r>
                    </a:p>
                  </a:txBody>
                  <a:tcPr>
                    <a:solidFill>
                      <a:srgbClr val="F8FAFC"/>
                    </a:solidFill>
                  </a:tcPr>
                </a:tc>
                <a:tc>
                  <a:txBody>
                    <a:bodyPr/>
                    <a:lstStyle/>
                    <a:p>
                      <a:pPr algn="ctr"/>
                      <a:r>
                        <a:rPr sz="1200">
                          <a:solidFill>
                            <a:srgbClr val="334155"/>
                          </a:solidFill>
                          <a:latin typeface="Malgun Gothic"/>
                        </a:rPr>
                        <a:t>Payments·overdue·refunds·points</a:t>
                      </a:r>
                    </a:p>
                  </a:txBody>
                  <a:tcPr>
                    <a:solidFill>
                      <a:srgbClr val="F8FAFC"/>
                    </a:solidFill>
                  </a:tcPr>
                </a:tc>
                <a:tc>
                  <a:txBody>
                    <a:bodyPr/>
                    <a:lstStyle/>
                    <a:p>
                      <a:pPr algn="ctr"/>
                      <a:r>
                        <a:rPr sz="1200">
                          <a:solidFill>
                            <a:srgbClr val="334155"/>
                          </a:solidFill>
                          <a:latin typeface="Malgun Gothic"/>
                        </a:rPr>
                        <a:t>8</a:t>
                      </a:r>
                    </a:p>
                  </a:txBody>
                  <a:tcPr>
                    <a:solidFill>
                      <a:srgbClr val="F8FAFC"/>
                    </a:solidFill>
                  </a:tcPr>
                </a:tc>
                <a:tc>
                  <a:txBody>
                    <a:bodyPr/>
                    <a:lstStyle/>
                    <a:p>
                      <a:pPr algn="ctr"/>
                      <a:r>
                        <a:rPr sz="1200">
                          <a:solidFill>
                            <a:srgbClr val="334155"/>
                          </a:solidFill>
                          <a:latin typeface="Malgun Gothic"/>
                        </a:rPr>
                        <a:t>Accurate settlement</a:t>
                      </a:r>
                    </a:p>
                  </a:txBody>
                  <a:tcPr>
                    <a:solidFill>
                      <a:srgbClr val="F8FAFC"/>
                    </a:solidFill>
                  </a:tcPr>
                </a:tc>
              </a:tr>
              <a:tr h="522514">
                <a:tc>
                  <a:txBody>
                    <a:bodyPr/>
                    <a:lstStyle/>
                    <a:p>
                      <a:pPr algn="l"/>
                      <a:r>
                        <a:rPr sz="1200" b="1">
                          <a:solidFill>
                            <a:srgbClr val="334155"/>
                          </a:solidFill>
                          <a:latin typeface="Malgun Gothic"/>
                        </a:rPr>
                        <a:t>Students / Parents</a:t>
                      </a:r>
                    </a:p>
                  </a:txBody>
                  <a:tcPr>
                    <a:solidFill>
                      <a:srgbClr val="FFFFFF"/>
                    </a:solidFill>
                  </a:tcPr>
                </a:tc>
                <a:tc>
                  <a:txBody>
                    <a:bodyPr/>
                    <a:lstStyle/>
                    <a:p>
                      <a:pPr algn="ctr"/>
                      <a:r>
                        <a:rPr sz="1200">
                          <a:solidFill>
                            <a:srgbClr val="334155"/>
                          </a:solidFill>
                          <a:latin typeface="Malgun Gothic"/>
                        </a:rPr>
                        <a:t>Roster·attendance·grades·parents</a:t>
                      </a:r>
                    </a:p>
                  </a:txBody>
                  <a:tcPr>
                    <a:solidFill>
                      <a:srgbClr val="FFFFFF"/>
                    </a:solidFill>
                  </a:tcPr>
                </a:tc>
                <a:tc>
                  <a:txBody>
                    <a:bodyPr/>
                    <a:lstStyle/>
                    <a:p>
                      <a:pPr algn="ctr"/>
                      <a:r>
                        <a:rPr sz="1200">
                          <a:solidFill>
                            <a:srgbClr val="334155"/>
                          </a:solidFill>
                          <a:latin typeface="Malgun Gothic"/>
                        </a:rPr>
                        <a:t>14</a:t>
                      </a:r>
                    </a:p>
                  </a:txBody>
                  <a:tcPr>
                    <a:solidFill>
                      <a:srgbClr val="FFFFFF"/>
                    </a:solidFill>
                  </a:tcPr>
                </a:tc>
                <a:tc>
                  <a:txBody>
                    <a:bodyPr/>
                    <a:lstStyle/>
                    <a:p>
                      <a:pPr algn="ctr"/>
                      <a:r>
                        <a:rPr sz="1200">
                          <a:solidFill>
                            <a:srgbClr val="334155"/>
                          </a:solidFill>
                          <a:latin typeface="Malgun Gothic"/>
                        </a:rPr>
                        <a:t>Churn prevention</a:t>
                      </a:r>
                    </a:p>
                  </a:txBody>
                  <a:tcPr>
                    <a:solidFill>
                      <a:srgbClr val="FFFFFF"/>
                    </a:solidFill>
                  </a:tcPr>
                </a:tc>
              </a:tr>
              <a:tr h="522514">
                <a:tc>
                  <a:txBody>
                    <a:bodyPr/>
                    <a:lstStyle/>
                    <a:p>
                      <a:pPr algn="l"/>
                      <a:r>
                        <a:rPr sz="1200" b="1">
                          <a:solidFill>
                            <a:srgbClr val="334155"/>
                          </a:solidFill>
                          <a:latin typeface="Malgun Gothic"/>
                        </a:rPr>
                        <a:t>Content</a:t>
                      </a:r>
                    </a:p>
                  </a:txBody>
                  <a:tcPr>
                    <a:solidFill>
                      <a:srgbClr val="F8FAFC"/>
                    </a:solidFill>
                  </a:tcPr>
                </a:tc>
                <a:tc>
                  <a:txBody>
                    <a:bodyPr/>
                    <a:lstStyle/>
                    <a:p>
                      <a:pPr algn="ctr"/>
                      <a:r>
                        <a:rPr sz="1200">
                          <a:solidFill>
                            <a:srgbClr val="334155"/>
                          </a:solidFill>
                          <a:latin typeface="Malgun Gothic"/>
                        </a:rPr>
                        <a:t>Curriculum·textbooks·game reports</a:t>
                      </a:r>
                    </a:p>
                  </a:txBody>
                  <a:tcPr>
                    <a:solidFill>
                      <a:srgbClr val="F8FAFC"/>
                    </a:solidFill>
                  </a:tcPr>
                </a:tc>
                <a:tc>
                  <a:txBody>
                    <a:bodyPr/>
                    <a:lstStyle/>
                    <a:p>
                      <a:pPr algn="ctr"/>
                      <a:r>
                        <a:rPr sz="1200">
                          <a:solidFill>
                            <a:srgbClr val="334155"/>
                          </a:solidFill>
                          <a:latin typeface="Malgun Gothic"/>
                        </a:rPr>
                        <a:t>11</a:t>
                      </a:r>
                    </a:p>
                  </a:txBody>
                  <a:tcPr>
                    <a:solidFill>
                      <a:srgbClr val="F8FAFC"/>
                    </a:solidFill>
                  </a:tcPr>
                </a:tc>
                <a:tc>
                  <a:txBody>
                    <a:bodyPr/>
                    <a:lstStyle/>
                    <a:p>
                      <a:pPr algn="ctr"/>
                      <a:r>
                        <a:rPr sz="1200">
                          <a:solidFill>
                            <a:srgbClr val="334155"/>
                          </a:solidFill>
                          <a:latin typeface="Malgun Gothic"/>
                        </a:rPr>
                        <a:t>Learning quality ↑</a:t>
                      </a:r>
                    </a:p>
                  </a:txBody>
                  <a:tcPr>
                    <a:solidFill>
                      <a:srgbClr val="F8FAFC"/>
                    </a:solidFill>
                  </a:tcPr>
                </a:tc>
              </a:tr>
              <a:tr h="522514">
                <a:tc>
                  <a:txBody>
                    <a:bodyPr/>
                    <a:lstStyle/>
                    <a:p>
                      <a:pPr algn="l"/>
                      <a:r>
                        <a:rPr sz="1200" b="1">
                          <a:solidFill>
                            <a:srgbClr val="334155"/>
                          </a:solidFill>
                          <a:latin typeface="Malgun Gothic"/>
                        </a:rPr>
                        <a:t>System</a:t>
                      </a:r>
                    </a:p>
                  </a:txBody>
                  <a:tcPr>
                    <a:solidFill>
                      <a:srgbClr val="FFFFFF"/>
                    </a:solidFill>
                  </a:tcPr>
                </a:tc>
                <a:tc>
                  <a:txBody>
                    <a:bodyPr/>
                    <a:lstStyle/>
                    <a:p>
                      <a:pPr algn="ctr"/>
                      <a:r>
                        <a:rPr sz="1200">
                          <a:solidFill>
                            <a:srgbClr val="334155"/>
                          </a:solidFill>
                          <a:latin typeface="Malgun Gothic"/>
                        </a:rPr>
                        <a:t>Settings·permissions·logs</a:t>
                      </a:r>
                    </a:p>
                  </a:txBody>
                  <a:tcPr>
                    <a:solidFill>
                      <a:srgbClr val="FFFFFF"/>
                    </a:solidFill>
                  </a:tcPr>
                </a:tc>
                <a:tc>
                  <a:txBody>
                    <a:bodyPr/>
                    <a:lstStyle/>
                    <a:p>
                      <a:pPr algn="ctr"/>
                      <a:r>
                        <a:rPr sz="1200">
                          <a:solidFill>
                            <a:srgbClr val="334155"/>
                          </a:solidFill>
                          <a:latin typeface="Malgun Gothic"/>
                        </a:rPr>
                        <a:t>12</a:t>
                      </a:r>
                    </a:p>
                  </a:txBody>
                  <a:tcPr>
                    <a:solidFill>
                      <a:srgbClr val="FFFFFF"/>
                    </a:solidFill>
                  </a:tcPr>
                </a:tc>
                <a:tc>
                  <a:txBody>
                    <a:bodyPr/>
                    <a:lstStyle/>
                    <a:p>
                      <a:pPr algn="ctr"/>
                      <a:r>
                        <a:rPr sz="1200">
                          <a:solidFill>
                            <a:srgbClr val="334155"/>
                          </a:solidFill>
                          <a:latin typeface="Malgun Gothic"/>
                        </a:rPr>
                        <a:t>Safe operations</a:t>
                      </a:r>
                    </a:p>
                  </a:txBody>
                  <a:tcPr>
                    <a:solidFill>
                      <a:srgbClr val="FFFFFF"/>
                    </a:solidFill>
                  </a:tcPr>
                </a:tc>
              </a:tr>
              <a:tr h="522516">
                <a:tc>
                  <a:txBody>
                    <a:bodyPr/>
                    <a:lstStyle/>
                    <a:p>
                      <a:pPr algn="l"/>
                      <a:r>
                        <a:rPr sz="1200" b="1">
                          <a:solidFill>
                            <a:srgbClr val="334155"/>
                          </a:solidFill>
                          <a:latin typeface="Malgun Gothic"/>
                        </a:rPr>
                        <a:t>AI Ops Assistant</a:t>
                      </a:r>
                    </a:p>
                  </a:txBody>
                  <a:tcPr>
                    <a:solidFill>
                      <a:srgbClr val="F8FAFC"/>
                    </a:solidFill>
                  </a:tcPr>
                </a:tc>
                <a:tc>
                  <a:txBody>
                    <a:bodyPr/>
                    <a:lstStyle/>
                    <a:p>
                      <a:pPr algn="ctr"/>
                      <a:r>
                        <a:rPr sz="1200">
                          <a:solidFill>
                            <a:srgbClr val="334155"/>
                          </a:solidFill>
                          <a:latin typeface="Malgun Gothic"/>
                        </a:rPr>
                        <a:t>Look up/act by voice·text</a:t>
                      </a:r>
                    </a:p>
                  </a:txBody>
                  <a:tcPr>
                    <a:solidFill>
                      <a:srgbClr val="F8FAFC"/>
                    </a:solidFill>
                  </a:tcPr>
                </a:tc>
                <a:tc>
                  <a:txBody>
                    <a:bodyPr/>
                    <a:lstStyle/>
                    <a:p>
                      <a:pPr algn="ctr"/>
                      <a:r>
                        <a:rPr sz="1200">
                          <a:solidFill>
                            <a:srgbClr val="334155"/>
                          </a:solidFill>
                          <a:latin typeface="Malgun Gothic"/>
                        </a:rPr>
                        <a:t>-</a:t>
                      </a:r>
                    </a:p>
                  </a:txBody>
                  <a:tcPr>
                    <a:solidFill>
                      <a:srgbClr val="F8FAFC"/>
                    </a:solidFill>
                  </a:tcPr>
                </a:tc>
                <a:tc>
                  <a:txBody>
                    <a:bodyPr/>
                    <a:lstStyle/>
                    <a:p>
                      <a:pPr algn="ctr"/>
                      <a:r>
                        <a:rPr sz="1200">
                          <a:solidFill>
                            <a:srgbClr val="334155"/>
                          </a:solidFill>
                          <a:latin typeface="Malgun Gothic"/>
                        </a:rPr>
                        <a:t>Faster operations</a:t>
                      </a:r>
                    </a:p>
                  </a:txBody>
                  <a:tcPr>
                    <a:solidFill>
                      <a:srgbClr val="F8FAFC"/>
                    </a:solidFill>
                  </a:tcPr>
                </a:tc>
              </a:tr>
            </a:tbl>
          </a:graphicData>
        </a:graphic>
      </p:graphicFrame>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40</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Data at a Glance</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Features per Category</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Churn-risk Distribution (example)</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41</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Frequently Asked Questions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Where do I log in?</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Log in at admin.mangoi.co.kr. Phone, tablet and PC all connect right from the web.</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 can't see a feature.</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Menus vary by role. Use the top feature search or ask the AI assistant by name.</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A student can't enter a lesson.</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Usually a browser permission issue. Advise reconnecting in Chrome/Edge and allowing camera/mic. Inside KakaoTalk, open in an external browser.</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Does the AI assistant execute tasks?</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Look-ups happen instantly; important actions are confirmed with 'Shall I?' It only does what you have permission for.</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Refund math is confusing.</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It's auto-calculated by the refund table; discounted payments are recalculated at list price.</a:t>
            </a:r>
          </a:p>
        </p:txBody>
      </p:sp>
      <p:sp>
        <p:nvSpPr>
          <p:cNvPr id="24" name="Rounded Rectangle 23"/>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4F46E5"/>
                </a:solidFill>
                <a:latin typeface="Malgun Gothic"/>
              </a:rPr>
              <a:t>Q. I'm worried about churn.</a:t>
            </a:r>
          </a:p>
        </p:txBody>
      </p:sp>
      <p:sp>
        <p:nvSpPr>
          <p:cNvPr id="26" name="TextBox 25"/>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Find at-risk students early with the Retention Center's churn-risk/contagion network and intervene via alert-talk/counseling.</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EF2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42</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4F46E5"/>
                </a:solidFill>
                <a:latin typeface="Malgun Gothic"/>
              </a:rPr>
              <a:t>✅ Daily Operations Checklist</a:t>
            </a:r>
          </a:p>
        </p:txBody>
      </p:sp>
      <p:sp>
        <p:nvSpPr>
          <p:cNvPr id="9" name="Rounded Rectangle 8"/>
          <p:cNvSpPr/>
          <p:nvPr/>
        </p:nvSpPr>
        <p:spPr>
          <a:xfrm>
            <a:off x="457200" y="164592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today's revenue, enrollment and attendance?</a:t>
            </a:r>
          </a:p>
        </p:txBody>
      </p:sp>
      <p:sp>
        <p:nvSpPr>
          <p:cNvPr id="11" name="Rounded Rectangle 10"/>
          <p:cNvSpPr/>
          <p:nvPr/>
        </p:nvSpPr>
        <p:spPr>
          <a:xfrm>
            <a:off x="457200" y="221284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handle new counseling/inquiries?</a:t>
            </a:r>
          </a:p>
        </p:txBody>
      </p:sp>
      <p:sp>
        <p:nvSpPr>
          <p:cNvPr id="13" name="Rounded Rectangle 12"/>
          <p:cNvSpPr/>
          <p:nvPr/>
        </p:nvSpPr>
        <p:spPr>
          <a:xfrm>
            <a:off x="457200" y="2779776"/>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overdue and refund items?</a:t>
            </a:r>
          </a:p>
        </p:txBody>
      </p:sp>
      <p:sp>
        <p:nvSpPr>
          <p:cNvPr id="15" name="Rounded Rectangle 14"/>
          <p:cNvSpPr/>
          <p:nvPr/>
        </p:nvSpPr>
        <p:spPr>
          <a:xfrm>
            <a:off x="457200" y="3346704"/>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the live (LIVE) lesson status?</a:t>
            </a:r>
          </a:p>
        </p:txBody>
      </p:sp>
      <p:sp>
        <p:nvSpPr>
          <p:cNvPr id="17" name="Rounded Rectangle 16"/>
          <p:cNvSpPr/>
          <p:nvPr/>
        </p:nvSpPr>
        <p:spPr>
          <a:xfrm>
            <a:off x="457200" y="3913632"/>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care for students whose churn risk rose?</a:t>
            </a:r>
          </a:p>
        </p:txBody>
      </p:sp>
      <p:sp>
        <p:nvSpPr>
          <p:cNvPr id="19" name="Rounded Rectangle 18"/>
          <p:cNvSpPr/>
          <p:nvPr/>
        </p:nvSpPr>
        <p:spPr>
          <a:xfrm>
            <a:off x="457200" y="4480560"/>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reflect teacher reviews/coaching feedback?</a:t>
            </a:r>
          </a:p>
        </p:txBody>
      </p:sp>
      <p:sp>
        <p:nvSpPr>
          <p:cNvPr id="21" name="Rounded Rectangle 20"/>
          <p:cNvSpPr/>
          <p:nvPr/>
        </p:nvSpPr>
        <p:spPr>
          <a:xfrm>
            <a:off x="457200" y="5047488"/>
            <a:ext cx="292608" cy="292608"/>
          </a:xfrm>
          <a:prstGeom prst="roundRect">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add repeat questions to the FAQ?</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9F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Admin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Rounded Rectangle 5"/>
          <p:cNvSpPr/>
          <p:nvPr/>
        </p:nvSpPr>
        <p:spPr>
          <a:xfrm>
            <a:off x="365760" y="841248"/>
            <a:ext cx="658368" cy="512064"/>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43</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4F46E5"/>
                </a:solidFill>
                <a:latin typeface="Malgun Gothic"/>
              </a:rPr>
              <a:t>🏁 Conclusion · A Practical Guide to Stable Academy Operations</a:t>
            </a:r>
          </a:p>
        </p:txBody>
      </p:sp>
      <p:sp>
        <p:nvSpPr>
          <p:cNvPr id="9" name="Rounded Rectangle 8"/>
          <p:cNvSpPr/>
          <p:nvPr/>
        </p:nvSpPr>
        <p:spPr>
          <a:xfrm>
            <a:off x="365760" y="1371600"/>
            <a:ext cx="11430000" cy="868680"/>
          </a:xfrm>
          <a:prstGeom prst="roundRect">
            <a:avLst/>
          </a:prstGeom>
          <a:solidFill>
            <a:srgbClr val="EEF2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You've now reviewed every feature of the admin page. Finally, here's one page on how a day of operations flows and the principles to keep for stable running. Keep just this rhythm and operations get much lighter.</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4F46E5"/>
                </a:solidFill>
                <a:latin typeface="Malgun Gothic"/>
              </a:rPr>
              <a:t>🔄 The Flow at a Glance</a:t>
            </a:r>
          </a:p>
        </p:txBody>
      </p:sp>
      <p:sp>
        <p:nvSpPr>
          <p:cNvPr id="12" name="Rounded Rectangle 11"/>
          <p:cNvSpPr/>
          <p:nvPr/>
        </p:nvSpPr>
        <p:spPr>
          <a:xfrm>
            <a:off x="457200" y="27889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Morning (5 min)</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today's revenue, enrollment and attendance on the dashboard; read the AI insight summary</a:t>
            </a:r>
          </a:p>
        </p:txBody>
      </p:sp>
      <p:sp>
        <p:nvSpPr>
          <p:cNvPr id="15" name="Rounded Rectangle 14"/>
          <p:cNvSpPr/>
          <p:nvPr/>
        </p:nvSpPr>
        <p:spPr>
          <a:xfrm>
            <a:off x="457200" y="32461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Late morning</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Handle new counseling/inquiries; check overdue/refund items and send alert-talk</a:t>
            </a:r>
          </a:p>
        </p:txBody>
      </p:sp>
      <p:sp>
        <p:nvSpPr>
          <p:cNvPr id="18" name="Rounded Rectangle 17"/>
          <p:cNvSpPr/>
          <p:nvPr/>
        </p:nvSpPr>
        <p:spPr>
          <a:xfrm>
            <a:off x="457200" y="37033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Class hours</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Monitor live (LIVE) lessons; for 'can't enter' tickets, guide browser/permission first</a:t>
            </a:r>
          </a:p>
        </p:txBody>
      </p:sp>
      <p:sp>
        <p:nvSpPr>
          <p:cNvPr id="21" name="Rounded Rectangle 20"/>
          <p:cNvSpPr/>
          <p:nvPr/>
        </p:nvSpPr>
        <p:spPr>
          <a:xfrm>
            <a:off x="457200" y="41605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Afternoon</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Care for at-risk students in the 🧲 Retention Center; reflect teacher reviews/coaching</a:t>
            </a:r>
          </a:p>
        </p:txBody>
      </p:sp>
      <p:sp>
        <p:nvSpPr>
          <p:cNvPr id="24" name="Rounded Rectangle 23"/>
          <p:cNvSpPr/>
          <p:nvPr/>
        </p:nvSpPr>
        <p:spPr>
          <a:xfrm>
            <a:off x="457200" y="4617720"/>
            <a:ext cx="1600200" cy="384048"/>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Weekly · Monthly</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Distribute org settlement/monthly reports, check points/rewards (shop/gifts), improve the FAQ</a:t>
            </a:r>
          </a:p>
        </p:txBody>
      </p:sp>
      <p:sp>
        <p:nvSpPr>
          <p:cNvPr id="27" name="TextBox 26"/>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Key Principles</a:t>
            </a:r>
          </a:p>
        </p:txBody>
      </p:sp>
      <p:sp>
        <p:nvSpPr>
          <p:cNvPr id="28" name="TextBox 27"/>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4F46E5"/>
                </a:solidFill>
                <a:latin typeface="Malgun Gothic"/>
              </a:rPr>
              <a:t>● </a:t>
            </a:r>
            <a:r>
              <a:rPr sz="1100">
                <a:solidFill>
                  <a:srgbClr val="334155"/>
                </a:solidFill>
                <a:latin typeface="Malgun Gothic"/>
              </a:rPr>
              <a:t>Metrics, 5 minutes each morning — catching revenue/attendance signals early makes response easy.</a:t>
            </a:r>
          </a:p>
          <a:p>
            <a:pPr>
              <a:lnSpc>
                <a:spcPct val="115000"/>
              </a:lnSpc>
              <a:spcAft>
                <a:spcPts val="500"/>
              </a:spcAft>
            </a:pPr>
            <a:r>
              <a:rPr sz="900" b="1">
                <a:solidFill>
                  <a:srgbClr val="4F46E5"/>
                </a:solidFill>
                <a:latin typeface="Malgun Gothic"/>
              </a:rPr>
              <a:t>● </a:t>
            </a:r>
            <a:r>
              <a:rPr sz="1100">
                <a:solidFill>
                  <a:srgbClr val="334155"/>
                </a:solidFill>
                <a:latin typeface="Malgun Gothic"/>
              </a:rPr>
              <a:t>Intervene on churn early — the sooner you care for at-risk students, the higher retention.</a:t>
            </a:r>
          </a:p>
          <a:p>
            <a:pPr>
              <a:lnSpc>
                <a:spcPct val="115000"/>
              </a:lnSpc>
              <a:spcAft>
                <a:spcPts val="500"/>
              </a:spcAft>
            </a:pPr>
            <a:r>
              <a:rPr sz="900" b="1">
                <a:solidFill>
                  <a:srgbClr val="4F46E5"/>
                </a:solidFill>
                <a:latin typeface="Malgun Gothic"/>
              </a:rPr>
              <a:t>● </a:t>
            </a:r>
            <a:r>
              <a:rPr sz="1100">
                <a:solidFill>
                  <a:srgbClr val="334155"/>
                </a:solidFill>
                <a:latin typeface="Malgun Gothic"/>
              </a:rPr>
              <a:t>Announce policies upfront — sharing refund/postpone policies at signup greatly cuts disputes.</a:t>
            </a:r>
          </a:p>
          <a:p>
            <a:pPr>
              <a:lnSpc>
                <a:spcPct val="115000"/>
              </a:lnSpc>
              <a:spcAft>
                <a:spcPts val="500"/>
              </a:spcAft>
            </a:pPr>
            <a:r>
              <a:rPr sz="900" b="1">
                <a:solidFill>
                  <a:srgbClr val="4F46E5"/>
                </a:solidFill>
                <a:latin typeface="Malgun Gothic"/>
              </a:rPr>
              <a:t>● </a:t>
            </a:r>
            <a:r>
              <a:rPr sz="1100">
                <a:solidFill>
                  <a:srgbClr val="334155"/>
                </a:solidFill>
                <a:latin typeface="Malgun Gothic"/>
              </a:rPr>
              <a:t>Turn repeats into FAQ — make frequent questions into an FAQ with screenshots.</a:t>
            </a:r>
          </a:p>
          <a:p>
            <a:pPr>
              <a:lnSpc>
                <a:spcPct val="115000"/>
              </a:lnSpc>
              <a:spcAft>
                <a:spcPts val="500"/>
              </a:spcAft>
            </a:pPr>
            <a:r>
              <a:rPr sz="900" b="1">
                <a:solidFill>
                  <a:srgbClr val="4F46E5"/>
                </a:solidFill>
                <a:latin typeface="Malgun Gothic"/>
              </a:rPr>
              <a:t>● </a:t>
            </a:r>
            <a:r>
              <a:rPr sz="1100">
                <a:solidFill>
                  <a:srgbClr val="334155"/>
                </a:solidFill>
                <a:latin typeface="Malgun Gothic"/>
              </a:rPr>
              <a:t>Decide with data — judge and improve by metrics/graphs, not gut feeling.</a:t>
            </a:r>
          </a:p>
        </p:txBody>
      </p:sp>
      <p:sp>
        <p:nvSpPr>
          <p:cNvPr id="29" name="TextBox 28"/>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4F46E5"/>
                </a:solidFill>
                <a:latin typeface="Malgun Gothic"/>
              </a:rPr>
              <a:t>📌 Remember</a:t>
            </a:r>
          </a:p>
        </p:txBody>
      </p:sp>
      <p:sp>
        <p:nvSpPr>
          <p:cNvPr id="30" name="TextBox 29"/>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9F1C"/>
                </a:solidFill>
                <a:latin typeface="Malgun Gothic"/>
              </a:rPr>
              <a:t>● </a:t>
            </a:r>
            <a:r>
              <a:rPr sz="1050">
                <a:solidFill>
                  <a:srgbClr val="334155"/>
                </a:solidFill>
                <a:latin typeface="Malgun Gothic"/>
              </a:rPr>
              <a:t>Log in at admin.mangoi.co.kr; menus and data scope change by role (permissions)</a:t>
            </a:r>
          </a:p>
          <a:p>
            <a:pPr>
              <a:lnSpc>
                <a:spcPct val="115000"/>
              </a:lnSpc>
              <a:spcAft>
                <a:spcPts val="400"/>
              </a:spcAft>
            </a:pPr>
            <a:r>
              <a:rPr sz="850" b="1">
                <a:solidFill>
                  <a:srgbClr val="FF9F1C"/>
                </a:solidFill>
                <a:latin typeface="Malgun Gothic"/>
              </a:rPr>
              <a:t>● </a:t>
            </a:r>
            <a:r>
              <a:rPr sz="1050">
                <a:solidFill>
                  <a:srgbClr val="334155"/>
                </a:solidFill>
                <a:latin typeface="Malgun Gothic"/>
              </a:rPr>
              <a:t>The AI assistant looks up instantly, confirms important actions, and only does what you're permitted</a:t>
            </a:r>
          </a:p>
          <a:p>
            <a:pPr>
              <a:lnSpc>
                <a:spcPct val="115000"/>
              </a:lnSpc>
              <a:spcAft>
                <a:spcPts val="400"/>
              </a:spcAft>
            </a:pPr>
            <a:r>
              <a:rPr sz="850" b="1">
                <a:solidFill>
                  <a:srgbClr val="FF9F1C"/>
                </a:solidFill>
                <a:latin typeface="Malgun Gothic"/>
              </a:rPr>
              <a:t>● </a:t>
            </a:r>
            <a:r>
              <a:rPr sz="1050">
                <a:solidFill>
                  <a:srgbClr val="334155"/>
                </a:solidFill>
                <a:latin typeface="Malgun Gothic"/>
              </a:rPr>
              <a:t>Most 'can't enter class' tickets are browser and camera/mic permission issues</a:t>
            </a:r>
          </a:p>
          <a:p>
            <a:pPr>
              <a:lnSpc>
                <a:spcPct val="115000"/>
              </a:lnSpc>
              <a:spcAft>
                <a:spcPts val="400"/>
              </a:spcAft>
            </a:pPr>
            <a:r>
              <a:rPr sz="850" b="1">
                <a:solidFill>
                  <a:srgbClr val="FF9F1C"/>
                </a:solidFill>
                <a:latin typeface="Malgun Gothic"/>
              </a:rPr>
              <a:t>● </a:t>
            </a:r>
            <a:r>
              <a:rPr sz="1050">
                <a:solidFill>
                  <a:srgbClr val="334155"/>
                </a:solidFill>
                <a:latin typeface="Malgun Gothic"/>
              </a:rPr>
              <a:t>Praise points → student total → shop/gifts; the policy and rewards are the admin's job</a:t>
            </a:r>
          </a:p>
        </p:txBody>
      </p:sp>
      <p:sp>
        <p:nvSpPr>
          <p:cNvPr id="31" name="Rounded Rectangle 30"/>
          <p:cNvSpPr/>
          <p:nvPr/>
        </p:nvSpPr>
        <p:spPr>
          <a:xfrm>
            <a:off x="457200" y="6172200"/>
            <a:ext cx="11338560" cy="566928"/>
          </a:xfrm>
          <a:prstGeom prst="roundRect">
            <a:avLst/>
          </a:prstGeom>
          <a:solidFill>
            <a:srgbClr val="EEF2FF"/>
          </a:solidFill>
          <a:ln w="12700">
            <a:solidFill>
              <a:srgbClr val="FF9F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Good operations come not from fancy features but from 'small daily checks.' Watch your metrics, prevent churn early, and announce policies clearly. The AI Operations Assistant and Retention Center help you do it. Questions? Contact support anytime — cheering on your steadily growing academy! 🍊</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0EA5E9"/>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3730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