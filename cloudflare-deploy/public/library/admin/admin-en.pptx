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값</c:v>
                </c:pt>
              </c:strCache>
            </c:strRef>
          </c:tx>
          <c:dPt>
            <c:idx val="0"/>
            <c:spPr>
              <a:solidFill>
                <a:srgbClr val="4F46E5"/>
              </a:solidFill>
            </c:spPr>
          </c:dPt>
          <c:dPt>
            <c:idx val="1"/>
            <c:spPr>
              <a:solidFill>
                <a:srgbClr val="0EA5E9"/>
              </a:solidFill>
            </c:spPr>
          </c:dPt>
          <c:dPt>
            <c:idx val="2"/>
            <c:spPr>
              <a:solidFill>
                <a:srgbClr val="10B981"/>
              </a:solidFill>
            </c:spPr>
          </c:dPt>
          <c:cat>
            <c:strRef>
              <c:f>Sheet1!$A$2:$A$4</c:f>
              <c:strCache>
                <c:ptCount val="3"/>
                <c:pt idx="0">
                  <c:v>Revenue (10k KRW)</c:v>
                </c:pt>
                <c:pt idx="1">
                  <c:v>Enrolled</c:v>
                </c:pt>
                <c:pt idx="2">
                  <c:v>Attendance (%)</c:v>
                </c:pt>
              </c:strCache>
            </c:strRef>
          </c:cat>
          <c:val>
            <c:numRef>
              <c:f>Sheet1!$B$2:$B$4</c:f>
              <c:numCache>
                <c:formatCode>General</c:formatCode>
                <c:ptCount val="3"/>
                <c:pt idx="0">
                  <c:v>82</c:v>
                </c:pt>
                <c:pt idx="1">
                  <c:v>312</c:v>
                </c:pt>
                <c:pt idx="2">
                  <c:v>94</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값</c:v>
                </c:pt>
              </c:strCache>
            </c:strRef>
          </c:tx>
          <c:dPt>
            <c:idx val="0"/>
            <c:spPr>
              <a:solidFill>
                <a:srgbClr val="4F46E5"/>
              </a:solidFill>
            </c:spPr>
          </c:dPt>
          <c:dPt>
            <c:idx val="1"/>
            <c:spPr>
              <a:solidFill>
                <a:srgbClr val="7C3AED"/>
              </a:solidFill>
            </c:spPr>
          </c:dPt>
          <c:dPt>
            <c:idx val="2"/>
            <c:spPr>
              <a:solidFill>
                <a:srgbClr val="0EA5E9"/>
              </a:solidFill>
            </c:spPr>
          </c:dPt>
          <c:dPt>
            <c:idx val="3"/>
            <c:spPr>
              <a:solidFill>
                <a:srgbClr val="F59E0B"/>
              </a:solidFill>
            </c:spPr>
          </c:dPt>
          <c:dPt>
            <c:idx val="4"/>
            <c:spPr>
              <a:solidFill>
                <a:srgbClr val="10B981"/>
              </a:solidFill>
            </c:spPr>
          </c:dPt>
          <c:cat>
            <c:strRef>
              <c:f>Sheet1!$A$2:$A$6</c:f>
              <c:strCache>
                <c:ptCount val="5"/>
                <c:pt idx="0">
                  <c:v>Teachers</c:v>
                </c:pt>
                <c:pt idx="1">
                  <c:v>Accounting</c:v>
                </c:pt>
                <c:pt idx="2">
                  <c:v>Students</c:v>
                </c:pt>
                <c:pt idx="3">
                  <c:v>Content</c:v>
                </c:pt>
                <c:pt idx="4">
                  <c:v>System</c:v>
                </c:pt>
              </c:strCache>
            </c:strRef>
          </c:cat>
          <c:val>
            <c:numRef>
              <c:f>Sheet1!$B$2:$B$6</c:f>
              <c:numCache>
                <c:formatCode>General</c:formatCode>
                <c:ptCount val="5"/>
                <c:pt idx="0">
                  <c:v>11</c:v>
                </c:pt>
                <c:pt idx="1">
                  <c:v>8</c:v>
                </c:pt>
                <c:pt idx="2">
                  <c:v>14</c:v>
                </c:pt>
                <c:pt idx="3">
                  <c:v>11</c:v>
                </c:pt>
                <c:pt idx="4">
                  <c:v>12</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값</c:v>
                </c:pt>
              </c:strCache>
            </c:strRef>
          </c:tx>
          <c:dPt>
            <c:idx val="0"/>
            <c:spPr>
              <a:solidFill>
                <a:srgbClr val="10B981"/>
              </a:solidFill>
            </c:spPr>
          </c:dPt>
          <c:dPt>
            <c:idx val="1"/>
            <c:spPr>
              <a:solidFill>
                <a:srgbClr val="F59E0B"/>
              </a:solidFill>
            </c:spPr>
          </c:dPt>
          <c:dPt>
            <c:idx val="2"/>
            <c:spPr>
              <a:solidFill>
                <a:srgbClr val="EF4444"/>
              </a:solidFill>
            </c:spPr>
          </c:dPt>
          <c:cat>
            <c:strRef>
              <c:f>Sheet1!$A$2:$A$4</c:f>
              <c:strCache>
                <c:ptCount val="3"/>
                <c:pt idx="0">
                  <c:v>Safe</c:v>
                </c:pt>
                <c:pt idx="1">
                  <c:v>Watch</c:v>
                </c:pt>
                <c:pt idx="2">
                  <c:v>At risk</c:v>
                </c:pt>
              </c:strCache>
            </c:strRef>
          </c:cat>
          <c:val>
            <c:numRef>
              <c:f>Sheet1!$B$2:$B$4</c:f>
              <c:numCache>
                <c:formatCode>General</c:formatCode>
                <c:ptCount val="3"/>
                <c:pt idx="0">
                  <c:v>68</c:v>
                </c:pt>
                <c:pt idx="1">
                  <c:v>22</c:v>
                </c:pt>
                <c:pt idx="2">
                  <c:v>10</c:v>
                </c:pt>
              </c:numCache>
            </c:numRef>
          </c:val>
        </c:ser>
        <c:dLbls>
          <c:txPr>
            <a:bodyPr/>
            <a:lstStyle/>
            <a:p>
              <a:pPr>
                <a:defRPr sz="1100" b="1">
                  <a:latin typeface="Malgun Gothic"/>
                </a:defRPr>
              </a:pPr>
            </a:p>
          </c:txPr>
          <c:showLegendKey val="0"/>
          <c:showVal val="0"/>
          <c:showCatName val="0"/>
          <c:showSerName val="0"/>
          <c:showPercent val="0"/>
          <c:showBubbleSize val="0"/>
          <c:showLeaderLines val="1"/>
        </c:dLbls>
        <c:firstSliceAng val="0"/>
        <c:holeSize val="50"/>
      </c:doughnutChart>
    </c:plotArea>
    <c:legend>
      <c:legendPos/>
      <c:layout/>
      <c:overlay val="0"/>
      <c:txPr>
        <a:bodyPr/>
        <a:lstStyle/>
        <a:p>
          <a:pPr>
            <a:defRPr sz="1100">
              <a:latin typeface="Malgun Gothic"/>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7.jpg"/><Relationship Id="rId4" Type="http://schemas.openxmlformats.org/officeDocument/2006/relationships/image" Target="../media/image8.jpg"/><Relationship Id="rId5" Type="http://schemas.openxmlformats.org/officeDocument/2006/relationships/image" Target="../media/image9.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3730A3"/>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1097280"/>
            <a:ext cx="3840480" cy="3840480"/>
          </a:xfrm>
          <a:prstGeom prst="ellipse">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280160" y="5669280"/>
            <a:ext cx="2926080" cy="2926080"/>
          </a:xfrm>
          <a:prstGeom prst="ellipse">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 y="1097280"/>
            <a:ext cx="1280160" cy="12801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22960" y="822960"/>
            <a:ext cx="2468880" cy="457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822960"/>
            <a:ext cx="2468880" cy="457200"/>
          </a:xfrm>
          <a:prstGeom prst="rect">
            <a:avLst/>
          </a:prstGeom>
          <a:noFill/>
        </p:spPr>
        <p:txBody>
          <a:bodyPr wrap="square" anchor="ctr">
            <a:spAutoFit/>
          </a:bodyPr>
          <a:lstStyle/>
          <a:p>
            <a:pPr algn="ctr">
              <a:lnSpc>
                <a:spcPct val="100000"/>
              </a:lnSpc>
            </a:pPr>
            <a:r>
              <a:rPr sz="1300" b="1">
                <a:solidFill>
                  <a:srgbClr val="4F46E5"/>
                </a:solidFill>
                <a:latin typeface="Malgun Gothic"/>
              </a:rPr>
              <a:t>🏫 ADMIN GUIDE</a:t>
            </a:r>
          </a:p>
        </p:txBody>
      </p:sp>
      <p:sp>
        <p:nvSpPr>
          <p:cNvPr id="8" name="TextBox 7"/>
          <p:cNvSpPr txBox="1"/>
          <p:nvPr/>
        </p:nvSpPr>
        <p:spPr>
          <a:xfrm>
            <a:off x="822960" y="2286000"/>
            <a:ext cx="7315200" cy="457200"/>
          </a:xfrm>
          <a:prstGeom prst="rect">
            <a:avLst/>
          </a:prstGeom>
          <a:noFill/>
        </p:spPr>
        <p:txBody>
          <a:bodyPr wrap="square" anchor="t">
            <a:spAutoFit/>
          </a:bodyPr>
          <a:lstStyle/>
          <a:p>
            <a:pPr algn="l">
              <a:lnSpc>
                <a:spcPct val="100000"/>
              </a:lnSpc>
            </a:pPr>
            <a:r>
              <a:rPr sz="1600" b="1">
                <a:solidFill>
                  <a:srgbClr val="FFFFFF"/>
                </a:solidFill>
                <a:latin typeface="Malgun Gothic"/>
              </a:rPr>
              <a:t>Mangoi · MANGOI</a:t>
            </a:r>
          </a:p>
        </p:txBody>
      </p:sp>
      <p:sp>
        <p:nvSpPr>
          <p:cNvPr id="9" name="TextBox 8"/>
          <p:cNvSpPr txBox="1"/>
          <p:nvPr/>
        </p:nvSpPr>
        <p:spPr>
          <a:xfrm>
            <a:off x="777240" y="2697480"/>
            <a:ext cx="7772400" cy="1371600"/>
          </a:xfrm>
          <a:prstGeom prst="rect">
            <a:avLst/>
          </a:prstGeom>
          <a:noFill/>
        </p:spPr>
        <p:txBody>
          <a:bodyPr wrap="square" anchor="t">
            <a:spAutoFit/>
          </a:bodyPr>
          <a:lstStyle/>
          <a:p>
            <a:pPr algn="l">
              <a:lnSpc>
                <a:spcPct val="100000"/>
              </a:lnSpc>
            </a:pPr>
            <a:r>
              <a:rPr sz="4600" b="1">
                <a:solidFill>
                  <a:srgbClr val="FFFFFF"/>
                </a:solidFill>
                <a:latin typeface="Malgun Gothic"/>
              </a:rPr>
              <a:t>Admin User Guide</a:t>
            </a:r>
          </a:p>
        </p:txBody>
      </p:sp>
      <p:sp>
        <p:nvSpPr>
          <p:cNvPr id="10" name="TextBox 9"/>
          <p:cNvSpPr txBox="1"/>
          <p:nvPr/>
        </p:nvSpPr>
        <p:spPr>
          <a:xfrm>
            <a:off x="822960" y="4114800"/>
            <a:ext cx="7315200" cy="548640"/>
          </a:xfrm>
          <a:prstGeom prst="rect">
            <a:avLst/>
          </a:prstGeom>
          <a:noFill/>
        </p:spPr>
        <p:txBody>
          <a:bodyPr wrap="square" anchor="t">
            <a:spAutoFit/>
          </a:bodyPr>
          <a:lstStyle/>
          <a:p>
            <a:pPr algn="l">
              <a:lnSpc>
                <a:spcPct val="100000"/>
              </a:lnSpc>
            </a:pPr>
            <a:r>
              <a:rPr sz="1900" b="1">
                <a:solidFill>
                  <a:srgbClr val="FFFFFF"/>
                </a:solidFill>
                <a:latin typeface="Malgun Gothic"/>
              </a:rPr>
              <a:t>Everything about running your academy, in one book</a:t>
            </a:r>
          </a:p>
        </p:txBody>
      </p:sp>
      <p:sp>
        <p:nvSpPr>
          <p:cNvPr id="11" name="TextBox 10"/>
          <p:cNvSpPr txBox="1"/>
          <p:nvPr/>
        </p:nvSpPr>
        <p:spPr>
          <a:xfrm>
            <a:off x="822960" y="5943600"/>
            <a:ext cx="7315200" cy="457200"/>
          </a:xfrm>
          <a:prstGeom prst="rect">
            <a:avLst/>
          </a:prstGeom>
          <a:noFill/>
        </p:spPr>
        <p:txBody>
          <a:bodyPr wrap="square" anchor="t">
            <a:spAutoFit/>
          </a:bodyPr>
          <a:lstStyle/>
          <a:p>
            <a:pPr algn="l">
              <a:lnSpc>
                <a:spcPct val="100000"/>
              </a:lnSpc>
            </a:pPr>
            <a:r>
              <a:rPr sz="1300" b="0">
                <a:solidFill>
                  <a:srgbClr val="FFFFFF"/>
                </a:solidFill>
                <a:latin typeface="Malgun Gothic"/>
              </a:rPr>
              <a:t>For · Academy directors · HQ · operations managers   |   www.mangoi.co.kr</a:t>
            </a:r>
          </a:p>
        </p:txBody>
      </p:sp>
      <p:pic>
        <p:nvPicPr>
          <p:cNvPr id="12" name="Picture 11" descr="mango_char.png"/>
          <p:cNvPicPr>
            <a:picLocks noChangeAspect="1"/>
          </p:cNvPicPr>
          <p:nvPr/>
        </p:nvPicPr>
        <p:blipFill>
          <a:blip r:embed="rId2"/>
          <a:stretch>
            <a:fillRect/>
          </a:stretch>
        </p:blipFill>
        <p:spPr>
          <a:xfrm>
            <a:off x="7477245" y="3108960"/>
            <a:ext cx="4074369" cy="32918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Introduction</a:t>
            </a:r>
          </a:p>
        </p:txBody>
      </p:sp>
      <p:sp>
        <p:nvSpPr>
          <p:cNvPr id="6" name="Rounded Rectangle 5"/>
          <p:cNvSpPr/>
          <p:nvPr/>
        </p:nvSpPr>
        <p:spPr>
          <a:xfrm>
            <a:off x="365760" y="868680"/>
            <a:ext cx="11460175" cy="155448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005840"/>
            <a:ext cx="10881360" cy="457200"/>
          </a:xfrm>
          <a:prstGeom prst="rect">
            <a:avLst/>
          </a:prstGeom>
          <a:noFill/>
        </p:spPr>
        <p:txBody>
          <a:bodyPr wrap="square" anchor="t">
            <a:spAutoFit/>
          </a:bodyPr>
          <a:lstStyle/>
          <a:p>
            <a:pPr algn="l">
              <a:lnSpc>
                <a:spcPct val="100000"/>
              </a:lnSpc>
            </a:pPr>
            <a:r>
              <a:rPr sz="2400" b="1">
                <a:solidFill>
                  <a:srgbClr val="4F46E5"/>
                </a:solidFill>
                <a:latin typeface="Malgun Gothic"/>
              </a:rPr>
              <a:t>What is the Admin Page?</a:t>
            </a:r>
          </a:p>
        </p:txBody>
      </p:sp>
      <p:sp>
        <p:nvSpPr>
          <p:cNvPr id="8" name="TextBox 7"/>
          <p:cNvSpPr txBox="1"/>
          <p:nvPr/>
        </p:nvSpPr>
        <p:spPr>
          <a:xfrm>
            <a:off x="640080" y="1481328"/>
            <a:ext cx="10972800" cy="914400"/>
          </a:xfrm>
          <a:prstGeom prst="rect">
            <a:avLst/>
          </a:prstGeom>
          <a:noFill/>
        </p:spPr>
        <p:txBody>
          <a:bodyPr wrap="square" anchor="t">
            <a:spAutoFit/>
          </a:bodyPr>
          <a:lstStyle/>
          <a:p>
            <a:pPr algn="l">
              <a:lnSpc>
                <a:spcPct val="125000"/>
              </a:lnSpc>
            </a:pPr>
            <a:r>
              <a:rPr sz="1300" b="0">
                <a:solidFill>
                  <a:srgbClr val="334155"/>
                </a:solidFill>
                <a:latin typeface="Malgun Gothic"/>
              </a:rPr>
              <a:t>The admin page gathers everything you need to run an academy — students, teachers, payments, parents and content — on one screen. In particular, the AI Operations Assistant looks things up and even handles tasks when you tell it by voice or text, making operations much faster. Menus and data scope adjust automatically based on your role (permissions).</a:t>
            </a:r>
          </a:p>
        </p:txBody>
      </p:sp>
      <p:sp>
        <p:nvSpPr>
          <p:cNvPr id="9" name="Rounded Rectangle 8"/>
          <p:cNvSpPr/>
          <p:nvPr/>
        </p:nvSpPr>
        <p:spPr>
          <a:xfrm>
            <a:off x="365760"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2920" y="2852928"/>
            <a:ext cx="512064" cy="512064"/>
          </a:xfrm>
          <a:prstGeom prst="roundRect">
            <a:avLst/>
          </a:prstGeom>
          <a:solidFill>
            <a:srgbClr val="E0E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852928"/>
            <a:ext cx="512064" cy="512064"/>
          </a:xfrm>
          <a:prstGeom prst="rect">
            <a:avLst/>
          </a:prstGeom>
          <a:noFill/>
        </p:spPr>
        <p:txBody>
          <a:bodyPr wrap="square" anchor="ctr">
            <a:spAutoFit/>
          </a:bodyPr>
          <a:lstStyle/>
          <a:p>
            <a:pPr algn="ctr">
              <a:lnSpc>
                <a:spcPct val="100000"/>
              </a:lnSpc>
            </a:pPr>
            <a:r>
              <a:rPr sz="2000" b="0">
                <a:solidFill>
                  <a:srgbClr val="4F46E5"/>
                </a:solidFill>
                <a:latin typeface="Malgun Gothic"/>
              </a:rPr>
              <a:t>🤖</a:t>
            </a:r>
          </a:p>
        </p:txBody>
      </p:sp>
      <p:sp>
        <p:nvSpPr>
          <p:cNvPr id="12" name="TextBox 11"/>
          <p:cNvSpPr txBox="1"/>
          <p:nvPr/>
        </p:nvSpPr>
        <p:spPr>
          <a:xfrm>
            <a:off x="1143000"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AI Ops Assistant</a:t>
            </a:r>
          </a:p>
        </p:txBody>
      </p:sp>
      <p:sp>
        <p:nvSpPr>
          <p:cNvPr id="13" name="TextBox 12"/>
          <p:cNvSpPr txBox="1"/>
          <p:nvPr/>
        </p:nvSpPr>
        <p:spPr>
          <a:xfrm>
            <a:off x="1143000"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Tell it by voice/text; it finds and handles it.</a:t>
            </a:r>
          </a:p>
        </p:txBody>
      </p:sp>
      <p:sp>
        <p:nvSpPr>
          <p:cNvPr id="14" name="Rounded Rectangle 13"/>
          <p:cNvSpPr/>
          <p:nvPr/>
        </p:nvSpPr>
        <p:spPr>
          <a:xfrm>
            <a:off x="6301587"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38747" y="2852928"/>
            <a:ext cx="512064" cy="512064"/>
          </a:xfrm>
          <a:prstGeom prst="roundRect">
            <a:avLst/>
          </a:prstGeom>
          <a:solidFill>
            <a:srgbClr val="E0E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8747" y="2852928"/>
            <a:ext cx="512064" cy="512064"/>
          </a:xfrm>
          <a:prstGeom prst="rect">
            <a:avLst/>
          </a:prstGeom>
          <a:noFill/>
        </p:spPr>
        <p:txBody>
          <a:bodyPr wrap="square" anchor="ctr">
            <a:spAutoFit/>
          </a:bodyPr>
          <a:lstStyle/>
          <a:p>
            <a:pPr algn="ctr">
              <a:lnSpc>
                <a:spcPct val="100000"/>
              </a:lnSpc>
            </a:pPr>
            <a:r>
              <a:rPr sz="2000" b="0">
                <a:solidFill>
                  <a:srgbClr val="4F46E5"/>
                </a:solidFill>
                <a:latin typeface="Malgun Gothic"/>
              </a:rPr>
              <a:t>🔎</a:t>
            </a:r>
          </a:p>
        </p:txBody>
      </p:sp>
      <p:sp>
        <p:nvSpPr>
          <p:cNvPr id="17" name="TextBox 16"/>
          <p:cNvSpPr txBox="1"/>
          <p:nvPr/>
        </p:nvSpPr>
        <p:spPr>
          <a:xfrm>
            <a:off x="7078827"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Feature search · card menus</a:t>
            </a:r>
          </a:p>
        </p:txBody>
      </p:sp>
      <p:sp>
        <p:nvSpPr>
          <p:cNvPr id="18" name="TextBox 17"/>
          <p:cNvSpPr txBox="1"/>
          <p:nvPr/>
        </p:nvSpPr>
        <p:spPr>
          <a:xfrm>
            <a:off x="7078827"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Type part of a name to jump right there.</a:t>
            </a:r>
          </a:p>
        </p:txBody>
      </p:sp>
      <p:sp>
        <p:nvSpPr>
          <p:cNvPr id="19" name="Rounded Rectangle 18"/>
          <p:cNvSpPr/>
          <p:nvPr/>
        </p:nvSpPr>
        <p:spPr>
          <a:xfrm>
            <a:off x="365760"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2920" y="3813048"/>
            <a:ext cx="512064" cy="512064"/>
          </a:xfrm>
          <a:prstGeom prst="roundRect">
            <a:avLst/>
          </a:prstGeom>
          <a:solidFill>
            <a:srgbClr val="E0E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3813048"/>
            <a:ext cx="512064" cy="512064"/>
          </a:xfrm>
          <a:prstGeom prst="rect">
            <a:avLst/>
          </a:prstGeom>
          <a:noFill/>
        </p:spPr>
        <p:txBody>
          <a:bodyPr wrap="square" anchor="ctr">
            <a:spAutoFit/>
          </a:bodyPr>
          <a:lstStyle/>
          <a:p>
            <a:pPr algn="ctr">
              <a:lnSpc>
                <a:spcPct val="100000"/>
              </a:lnSpc>
            </a:pPr>
            <a:r>
              <a:rPr sz="2000" b="0">
                <a:solidFill>
                  <a:srgbClr val="4F46E5"/>
                </a:solidFill>
                <a:latin typeface="Malgun Gothic"/>
              </a:rPr>
              <a:t>🧲</a:t>
            </a:r>
          </a:p>
        </p:txBody>
      </p:sp>
      <p:sp>
        <p:nvSpPr>
          <p:cNvPr id="22" name="TextBox 21"/>
          <p:cNvSpPr txBox="1"/>
          <p:nvPr/>
        </p:nvSpPr>
        <p:spPr>
          <a:xfrm>
            <a:off x="1143000"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Retention Center</a:t>
            </a:r>
          </a:p>
        </p:txBody>
      </p:sp>
      <p:sp>
        <p:nvSpPr>
          <p:cNvPr id="23" name="TextBox 22"/>
          <p:cNvSpPr txBox="1"/>
          <p:nvPr/>
        </p:nvSpPr>
        <p:spPr>
          <a:xfrm>
            <a:off x="1143000"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Churn risk · contagion · settlement · coaching hub.</a:t>
            </a:r>
          </a:p>
        </p:txBody>
      </p:sp>
      <p:sp>
        <p:nvSpPr>
          <p:cNvPr id="24" name="Rounded Rectangle 23"/>
          <p:cNvSpPr/>
          <p:nvPr/>
        </p:nvSpPr>
        <p:spPr>
          <a:xfrm>
            <a:off x="6301587"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38747" y="3813048"/>
            <a:ext cx="512064" cy="512064"/>
          </a:xfrm>
          <a:prstGeom prst="roundRect">
            <a:avLst/>
          </a:prstGeom>
          <a:solidFill>
            <a:srgbClr val="E0E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47" y="3813048"/>
            <a:ext cx="512064" cy="512064"/>
          </a:xfrm>
          <a:prstGeom prst="rect">
            <a:avLst/>
          </a:prstGeom>
          <a:noFill/>
        </p:spPr>
        <p:txBody>
          <a:bodyPr wrap="square" anchor="ctr">
            <a:spAutoFit/>
          </a:bodyPr>
          <a:lstStyle/>
          <a:p>
            <a:pPr algn="ctr">
              <a:lnSpc>
                <a:spcPct val="100000"/>
              </a:lnSpc>
            </a:pPr>
            <a:r>
              <a:rPr sz="2000" b="0">
                <a:solidFill>
                  <a:srgbClr val="4F46E5"/>
                </a:solidFill>
                <a:latin typeface="Malgun Gothic"/>
              </a:rPr>
              <a:t>🌳</a:t>
            </a:r>
          </a:p>
        </p:txBody>
      </p:sp>
      <p:sp>
        <p:nvSpPr>
          <p:cNvPr id="27" name="TextBox 26"/>
          <p:cNvSpPr txBox="1"/>
          <p:nvPr/>
        </p:nvSpPr>
        <p:spPr>
          <a:xfrm>
            <a:off x="7078827"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Org settlement</a:t>
            </a:r>
          </a:p>
        </p:txBody>
      </p:sp>
      <p:sp>
        <p:nvSpPr>
          <p:cNvPr id="28" name="TextBox 27"/>
          <p:cNvSpPr txBox="1"/>
          <p:nvPr/>
        </p:nvSpPr>
        <p:spPr>
          <a:xfrm>
            <a:off x="7078827"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HQ → branch → agency auto-settlement.</a:t>
            </a:r>
          </a:p>
        </p:txBody>
      </p:sp>
      <p:sp>
        <p:nvSpPr>
          <p:cNvPr id="29" name="TextBox 28"/>
          <p:cNvSpPr txBox="1"/>
          <p:nvPr/>
        </p:nvSpPr>
        <p:spPr>
          <a:xfrm>
            <a:off x="365760" y="4754880"/>
            <a:ext cx="5486400" cy="365760"/>
          </a:xfrm>
          <a:prstGeom prst="rect">
            <a:avLst/>
          </a:prstGeom>
          <a:noFill/>
        </p:spPr>
        <p:txBody>
          <a:bodyPr wrap="square" anchor="t">
            <a:spAutoFit/>
          </a:bodyPr>
          <a:lstStyle/>
          <a:p>
            <a:pPr algn="l">
              <a:lnSpc>
                <a:spcPct val="100000"/>
              </a:lnSpc>
            </a:pPr>
            <a:r>
              <a:rPr sz="1300" b="1">
                <a:solidFill>
                  <a:srgbClr val="4F46E5"/>
                </a:solidFill>
                <a:latin typeface="Malgun Gothic"/>
              </a:rPr>
              <a:t>Today's Key Metrics (example)</a:t>
            </a:r>
          </a:p>
        </p:txBody>
      </p:sp>
      <p:graphicFrame>
        <p:nvGraphicFramePr>
          <p:cNvPr id="30" name="Chart 29"/>
          <p:cNvGraphicFramePr>
            <a:graphicFrameLocks noGrp="1"/>
          </p:cNvGraphicFramePr>
          <p:nvPr/>
        </p:nvGraphicFramePr>
        <p:xfrm>
          <a:off x="365760" y="5074920"/>
          <a:ext cx="5669280" cy="1554480"/>
        </p:xfrm>
        <a:graphic>
          <a:graphicData uri="http://schemas.openxmlformats.org/drawingml/2006/chart">
            <c:chart xmlns:c="http://schemas.openxmlformats.org/drawingml/2006/chart" r:id="rId2"/>
          </a:graphicData>
        </a:graphic>
      </p:graphicFrame>
      <p:sp>
        <p:nvSpPr>
          <p:cNvPr id="31" name="Rectangle 30"/>
          <p:cNvSpPr/>
          <p:nvPr/>
        </p:nvSpPr>
        <p:spPr>
          <a:xfrm>
            <a:off x="7470648" y="4654296"/>
            <a:ext cx="3255264" cy="20756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admin_login.jpg"/>
          <p:cNvPicPr>
            <a:picLocks noChangeAspect="1"/>
          </p:cNvPicPr>
          <p:nvPr/>
        </p:nvPicPr>
        <p:blipFill>
          <a:blip r:embed="rId3"/>
          <a:stretch>
            <a:fillRect/>
          </a:stretch>
        </p:blipFill>
        <p:spPr>
          <a:xfrm>
            <a:off x="7525512" y="4709160"/>
            <a:ext cx="3145536" cy="19659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Admin Login &amp; Permissions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Data scope by role, automatically</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Logging in with an admin account shows only the menus and data that match your role (director, HQ, staff, etc.). Social login and password reset are supported.</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Log in with ID and password (Kakao, Naver, Google also work).</a:t>
            </a:r>
          </a:p>
          <a:p>
            <a:pPr>
              <a:lnSpc>
                <a:spcPct val="115000"/>
              </a:lnSpc>
              <a:spcAft>
                <a:spcPts val="600"/>
              </a:spcAft>
            </a:pPr>
            <a:r>
              <a:rPr sz="1050" b="1">
                <a:solidFill>
                  <a:srgbClr val="4F46E5"/>
                </a:solidFill>
                <a:latin typeface="Malgun Gothic"/>
              </a:rPr>
              <a:t>● </a:t>
            </a:r>
            <a:r>
              <a:rPr sz="1250">
                <a:solidFill>
                  <a:srgbClr val="334155"/>
                </a:solidFill>
                <a:latin typeface="Malgun Gothic"/>
              </a:rPr>
              <a:t>Forgot your password? Reset via 'Find password' (SMS/email/Kakao).</a:t>
            </a:r>
          </a:p>
          <a:p>
            <a:pPr>
              <a:lnSpc>
                <a:spcPct val="115000"/>
              </a:lnSpc>
              <a:spcAft>
                <a:spcPts val="600"/>
              </a:spcAft>
            </a:pPr>
            <a:r>
              <a:rPr sz="1050" b="1">
                <a:solidFill>
                  <a:srgbClr val="4F46E5"/>
                </a:solidFill>
                <a:latin typeface="Malgun Gothic"/>
              </a:rPr>
              <a:t>● </a:t>
            </a:r>
            <a:r>
              <a:rPr sz="1250">
                <a:solidFill>
                  <a:srgbClr val="334155"/>
                </a:solidFill>
                <a:latin typeface="Malgun Gothic"/>
              </a:rPr>
              <a:t>Visible menus and data scope change automatically by role.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New here? Preview with 'View demo account'.</a:t>
            </a:r>
          </a:p>
        </p:txBody>
      </p:sp>
      <p:sp>
        <p:nvSpPr>
          <p:cNvPr id="14" name="Rounded Rectangle 13"/>
          <p:cNvSpPr/>
          <p:nvPr/>
        </p:nvSpPr>
        <p:spPr>
          <a:xfrm>
            <a:off x="457200" y="4782312"/>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Permission settings let you split access per staff member.</a:t>
            </a:r>
          </a:p>
          <a:p>
            <a:pPr>
              <a:lnSpc>
                <a:spcPct val="115000"/>
              </a:lnSpc>
              <a:spcAft>
                <a:spcPts val="200"/>
              </a:spcAft>
            </a:pPr>
            <a:r>
              <a:rPr sz="900" b="1">
                <a:solidFill>
                  <a:srgbClr val="4F46E5"/>
                </a:solidFill>
                <a:latin typeface="Malgun Gothic"/>
              </a:rPr>
              <a:t>● </a:t>
            </a:r>
            <a:r>
              <a:rPr sz="1100">
                <a:solidFill>
                  <a:srgbClr val="334155"/>
                </a:solidFill>
                <a:latin typeface="Malgun Gothic"/>
              </a:rPr>
              <a:t>Turn on 'Save ID' only on your own trusted PC.</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On shared PCs, turn off auto-login and always log out when done.</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login.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Dashboard &amp; Feature Search</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Every feature as a card</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After login, categories (Teachers, Accounting, Students, Content, System) are organized as cards. Just type a word in the top search box to jump straight to a feature.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From the category cards (Teachers·Accounting·Students·Content·System), tap the feature you want.</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Type a word in the feature search box to jump right there.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The number beside each category is how many features it holds.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Use Self-check · Color/Bright · EN at the top to change screen and language.</a:t>
            </a:r>
          </a:p>
        </p:txBody>
      </p:sp>
      <p:sp>
        <p:nvSpPr>
          <p:cNvPr id="14" name="Rounded Rectangle 13"/>
          <p:cNvSpPr/>
          <p:nvPr/>
        </p:nvSpPr>
        <p:spPr>
          <a:xfrm>
            <a:off x="457200" y="4782312"/>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If you can't find a feature, search is fastest.</a:t>
            </a:r>
          </a:p>
          <a:p>
            <a:pPr>
              <a:lnSpc>
                <a:spcPct val="115000"/>
              </a:lnSpc>
              <a:spcAft>
                <a:spcPts val="200"/>
              </a:spcAft>
            </a:pPr>
            <a:r>
              <a:rPr sz="900" b="1">
                <a:solidFill>
                  <a:srgbClr val="4F46E5"/>
                </a:solidFill>
                <a:latin typeface="Malgun Gothic"/>
              </a:rPr>
              <a:t>● </a:t>
            </a:r>
            <a:r>
              <a:rPr sz="1100">
                <a:solidFill>
                  <a:srgbClr val="334155"/>
                </a:solidFill>
                <a:latin typeface="Malgun Gothic"/>
              </a:rPr>
              <a:t>You can also tell the AI assistant 'open ○○' to jump there.</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Remember search terms for features you use often to cut clicks.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Operations Assistant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Tell it by voice/text; it acts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Speak or type into the search/mic and the AI looks up numbers or opens screens. Important actions are confirmed first, and it only does what your permissions allow — so it's safe.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Speak or type into the center search/mic. e.g. 'How's today's revenue?'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The AI looks up numbers or opens a screen. e.g. 'Open student management.'</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Important actions are confirmed with 'Shall I?' first. e.g. 'Push Jung Woo-young's next lesson by 1 hour.'</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The assistant only executes tasks you have permission for.</a:t>
            </a:r>
          </a:p>
        </p:txBody>
      </p:sp>
      <p:sp>
        <p:nvSpPr>
          <p:cNvPr id="14" name="Rounded Rectangle 13"/>
          <p:cNvSpPr/>
          <p:nvPr/>
        </p:nvSpPr>
        <p:spPr>
          <a:xfrm>
            <a:off x="457200" y="4782312"/>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Can't find a button? Just say 'show me ○○'.</a:t>
            </a:r>
          </a:p>
          <a:p>
            <a:pPr>
              <a:lnSpc>
                <a:spcPct val="115000"/>
              </a:lnSpc>
              <a:spcAft>
                <a:spcPts val="200"/>
              </a:spcAft>
            </a:pPr>
            <a:r>
              <a:rPr sz="900" b="1">
                <a:solidFill>
                  <a:srgbClr val="4F46E5"/>
                </a:solidFill>
                <a:latin typeface="Malgun Gothic"/>
              </a:rPr>
              <a:t>● </a:t>
            </a:r>
            <a:r>
              <a:rPr sz="1100">
                <a:solidFill>
                  <a:srgbClr val="334155"/>
                </a:solidFill>
                <a:latin typeface="Malgun Gothic"/>
              </a:rPr>
              <a:t>Voice and text both work the same.</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When busy, telling it by voice is much faster than clicking.</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Understand Lesson Entry</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To support students &amp; teachers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Even without teaching, admins should know how students and teachers enter so you can answer questions and fix problems. Entry uses a name and a room code (or the shared room).</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On the entry screen, enter a name and room code, then press Enter.</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If the room code is empty, you go to the shared lesson room.</a:t>
            </a:r>
          </a:p>
          <a:p>
            <a:pPr>
              <a:lnSpc>
                <a:spcPct val="115000"/>
              </a:lnSpc>
              <a:spcAft>
                <a:spcPts val="600"/>
              </a:spcAft>
            </a:pPr>
            <a:r>
              <a:rPr sz="1050" b="1">
                <a:solidFill>
                  <a:srgbClr val="4F46E5"/>
                </a:solidFill>
                <a:latin typeface="Malgun Gothic"/>
              </a:rPr>
              <a:t>● </a:t>
            </a:r>
            <a:r>
              <a:rPr sz="1250">
                <a:solidFill>
                  <a:srgbClr val="334155"/>
                </a:solidFill>
                <a:latin typeface="Malgun Gothic"/>
              </a:rPr>
              <a:t>Advise that the browser's camera/mic permission is required.</a:t>
            </a:r>
          </a:p>
          <a:p>
            <a:pPr>
              <a:lnSpc>
                <a:spcPct val="115000"/>
              </a:lnSpc>
              <a:spcAft>
                <a:spcPts val="600"/>
              </a:spcAft>
            </a:pPr>
            <a:r>
              <a:rPr sz="1050" b="1">
                <a:solidFill>
                  <a:srgbClr val="4F46E5"/>
                </a:solidFill>
                <a:latin typeface="Malgun Gothic"/>
              </a:rPr>
              <a:t>● </a:t>
            </a:r>
            <a:r>
              <a:rPr sz="1250">
                <a:solidFill>
                  <a:srgbClr val="334155"/>
                </a:solidFill>
                <a:latin typeface="Malgun Gothic"/>
              </a:rPr>
              <a:t>For trouble, first advise reconnecting in Chrome/Edge.</a:t>
            </a:r>
          </a:p>
        </p:txBody>
      </p:sp>
      <p:sp>
        <p:nvSpPr>
          <p:cNvPr id="14" name="Rounded Rectangle 13"/>
          <p:cNvSpPr/>
          <p:nvPr/>
        </p:nvSpPr>
        <p:spPr>
          <a:xfrm>
            <a:off x="457200" y="4782312"/>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KakaoTalk's in-app browser blocks the camera — 'open in an external browser' is needed.</a:t>
            </a:r>
          </a:p>
          <a:p>
            <a:pPr>
              <a:lnSpc>
                <a:spcPct val="115000"/>
              </a:lnSpc>
              <a:spcAft>
                <a:spcPts val="200"/>
              </a:spcAft>
            </a:pPr>
            <a:r>
              <a:rPr sz="900" b="1">
                <a:solidFill>
                  <a:srgbClr val="4F46E5"/>
                </a:solidFill>
                <a:latin typeface="Malgun Gothic"/>
              </a:rPr>
              <a:t>● </a:t>
            </a:r>
            <a:r>
              <a:rPr sz="1100">
                <a:solidFill>
                  <a:srgbClr val="334155"/>
                </a:solidFill>
                <a:latin typeface="Malgun Gothic"/>
              </a:rPr>
              <a:t>Lessons needing room/token management can be checked from the admin screen.</a:t>
            </a:r>
          </a:p>
        </p:txBody>
      </p:sp>
      <p:sp>
        <p:nvSpPr>
          <p:cNvPr id="17" name="Rounded Rectangle 16"/>
          <p:cNvSpPr/>
          <p:nvPr/>
        </p:nvSpPr>
        <p:spPr>
          <a:xfrm>
            <a:off x="457200" y="5897879"/>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Most 'can't enter' tickets are browser permission issues — check permissions and browser first.</a:t>
            </a:r>
          </a:p>
        </p:txBody>
      </p:sp>
      <p:sp>
        <p:nvSpPr>
          <p:cNvPr id="19" name="Rounded Rectangle 18"/>
          <p:cNvSpPr/>
          <p:nvPr/>
        </p:nvSpPr>
        <p:spPr>
          <a:xfrm>
            <a:off x="457200" y="662939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7511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Turn frequent entry questions into an FAQ to cut support load.</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room.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Understand the Classroom Layout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Screen structure for support</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Admins don't teach, but knowing the classroom layout makes support easy. It has a top bar (room info, timer, REC, EN, dark), a center workspace (tab tools), and a bottom control dock (camera, screen share, chat, leave).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Top bar: room name · user count · timer · recording (REC) · language (EN) · dark mode.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Center tabs: Board · Video · Games · Background · AI Warm-up · Review Quiz + Materials Tools · Writing Tools.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Bottom dock: Settings · Camera · Screen Share · Chat · Native · Leave.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The 🧺 praise basket at the top-left collects praise during class.</a:t>
            </a:r>
          </a:p>
        </p:txBody>
      </p:sp>
      <p:sp>
        <p:nvSpPr>
          <p:cNvPr id="14" name="Rounded Rectangle 13"/>
          <p:cNvSpPr/>
          <p:nvPr/>
        </p:nvSpPr>
        <p:spPr>
          <a:xfrm>
            <a:off x="457200" y="4782312"/>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For 'no sound/video' tickets, tell users to check the dock's camera/mic and ⚙️ Settings.</a:t>
            </a:r>
          </a:p>
          <a:p>
            <a:pPr>
              <a:lnSpc>
                <a:spcPct val="115000"/>
              </a:lnSpc>
              <a:spcAft>
                <a:spcPts val="200"/>
              </a:spcAft>
            </a:pPr>
            <a:r>
              <a:rPr sz="900" b="1">
                <a:solidFill>
                  <a:srgbClr val="4F46E5"/>
                </a:solidFill>
                <a:latin typeface="Malgun Gothic"/>
              </a:rPr>
              <a:t>● </a:t>
            </a:r>
            <a:r>
              <a:rPr sz="1100">
                <a:solidFill>
                  <a:srgbClr val="334155"/>
                </a:solidFill>
                <a:latin typeface="Malgun Gothic"/>
              </a:rPr>
              <a:t>The REC indicator shows whether a lesson is being recorded.</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Turn common classroom questions into an FAQ with these screenshots.</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base.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Understand the Classroom Tools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Board · materials · background · video</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Knowing the tools students and teachers use makes guidance easier. The core ones are the board (draw/save), materials tools (upload PDF/photos, library), background (backdrop &amp; face decorations), and video (YouTube/file).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 Board: pen, shapes, text, AI shapes, save.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 Materials Tools: upload (PDF/JPG/PNG), library, page turning, fit-to-screen.</a:t>
            </a:r>
          </a:p>
          <a:p>
            <a:pPr>
              <a:lnSpc>
                <a:spcPct val="115000"/>
              </a:lnSpc>
              <a:spcAft>
                <a:spcPts val="600"/>
              </a:spcAft>
            </a:pPr>
            <a:r>
              <a:rPr sz="1050" b="1">
                <a:solidFill>
                  <a:srgbClr val="4F46E5"/>
                </a:solidFill>
                <a:latin typeface="Malgun Gothic"/>
              </a:rPr>
              <a:t>● </a:t>
            </a:r>
            <a:r>
              <a:rPr sz="1250">
                <a:solidFill>
                  <a:srgbClr val="334155"/>
                </a:solidFill>
                <a:latin typeface="Malgun Gothic"/>
              </a:rPr>
              <a:t>🎨 Background: change backdrop, decorate face.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 Video: share YouTube links / video files.</a:t>
            </a:r>
          </a:p>
        </p:txBody>
      </p:sp>
      <p:sp>
        <p:nvSpPr>
          <p:cNvPr id="14" name="Rounded Rectangle 13"/>
          <p:cNvSpPr/>
          <p:nvPr/>
        </p:nvSpPr>
        <p:spPr>
          <a:xfrm>
            <a:off x="457200" y="4782312"/>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The materials 'Library' shows textbooks the admin uploaded — it ties into content management.</a:t>
            </a:r>
          </a:p>
          <a:p>
            <a:pPr>
              <a:lnSpc>
                <a:spcPct val="115000"/>
              </a:lnSpc>
              <a:spcAft>
                <a:spcPts val="200"/>
              </a:spcAft>
            </a:pPr>
            <a:r>
              <a:rPr sz="900" b="1">
                <a:solidFill>
                  <a:srgbClr val="4F46E5"/>
                </a:solidFill>
                <a:latin typeface="Malgun Gothic"/>
              </a:rPr>
              <a:t>● </a:t>
            </a:r>
            <a:r>
              <a:rPr sz="1100">
                <a:solidFill>
                  <a:srgbClr val="334155"/>
                </a:solidFill>
                <a:latin typeface="Malgun Gothic"/>
              </a:rPr>
              <a:t>Coach teachers on the 'pre-upload materials → share in class' flow.</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A well-stocked textbook library helps teachers prep faster.</a:t>
            </a:r>
          </a:p>
        </p:txBody>
      </p:sp>
      <p:sp>
        <p:nvSpPr>
          <p:cNvPr id="19" name="Rectangle 18"/>
          <p:cNvSpPr/>
          <p:nvPr/>
        </p:nvSpPr>
        <p:spPr>
          <a:xfrm>
            <a:off x="6300216" y="2082938"/>
            <a:ext cx="2761488" cy="168628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hiteboard.jpg"/>
          <p:cNvPicPr>
            <a:picLocks noChangeAspect="1"/>
          </p:cNvPicPr>
          <p:nvPr/>
        </p:nvPicPr>
        <p:blipFill>
          <a:blip r:embed="rId2"/>
          <a:stretch>
            <a:fillRect/>
          </a:stretch>
        </p:blipFill>
        <p:spPr>
          <a:xfrm>
            <a:off x="6355080" y="2137802"/>
            <a:ext cx="2651760" cy="1576554"/>
          </a:xfrm>
          <a:prstGeom prst="rect">
            <a:avLst/>
          </a:prstGeom>
        </p:spPr>
      </p:pic>
      <p:sp>
        <p:nvSpPr>
          <p:cNvPr id="21" name="Rectangle 20"/>
          <p:cNvSpPr/>
          <p:nvPr/>
        </p:nvSpPr>
        <p:spPr>
          <a:xfrm>
            <a:off x="9134856" y="2082938"/>
            <a:ext cx="2761488" cy="168628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materials_dock.jpg"/>
          <p:cNvPicPr>
            <a:picLocks noChangeAspect="1"/>
          </p:cNvPicPr>
          <p:nvPr/>
        </p:nvPicPr>
        <p:blipFill>
          <a:blip r:embed="rId3"/>
          <a:stretch>
            <a:fillRect/>
          </a:stretch>
        </p:blipFill>
        <p:spPr>
          <a:xfrm>
            <a:off x="9189720" y="2137802"/>
            <a:ext cx="2651760" cy="1576554"/>
          </a:xfrm>
          <a:prstGeom prst="rect">
            <a:avLst/>
          </a:prstGeom>
        </p:spPr>
      </p:pic>
      <p:sp>
        <p:nvSpPr>
          <p:cNvPr id="23" name="Rectangle 22"/>
          <p:cNvSpPr/>
          <p:nvPr/>
        </p:nvSpPr>
        <p:spPr>
          <a:xfrm>
            <a:off x="6300216" y="4460378"/>
            <a:ext cx="2761488" cy="168628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room_bg.jpg"/>
          <p:cNvPicPr>
            <a:picLocks noChangeAspect="1"/>
          </p:cNvPicPr>
          <p:nvPr/>
        </p:nvPicPr>
        <p:blipFill>
          <a:blip r:embed="rId4"/>
          <a:stretch>
            <a:fillRect/>
          </a:stretch>
        </p:blipFill>
        <p:spPr>
          <a:xfrm>
            <a:off x="6355080" y="4515242"/>
            <a:ext cx="2651760" cy="1576554"/>
          </a:xfrm>
          <a:prstGeom prst="rect">
            <a:avLst/>
          </a:prstGeom>
        </p:spPr>
      </p:pic>
      <p:sp>
        <p:nvSpPr>
          <p:cNvPr id="25" name="Rectangle 24"/>
          <p:cNvSpPr/>
          <p:nvPr/>
        </p:nvSpPr>
        <p:spPr>
          <a:xfrm>
            <a:off x="9134856" y="4460378"/>
            <a:ext cx="2761488" cy="168628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room_video.jpg"/>
          <p:cNvPicPr>
            <a:picLocks noChangeAspect="1"/>
          </p:cNvPicPr>
          <p:nvPr/>
        </p:nvPicPr>
        <p:blipFill>
          <a:blip r:embed="rId5"/>
          <a:stretch>
            <a:fillRect/>
          </a:stretch>
        </p:blipFill>
        <p:spPr>
          <a:xfrm>
            <a:off x="9189720" y="4515242"/>
            <a:ext cx="2651760" cy="1576554"/>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In-class Praise Points (give &amp; accrue)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Teacher gives → adds to student points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During class the teacher instantly gives praise points (+1P) to students, and a post-class star rating adds +10P. These sum into the student's total points and are spent in the point shop, roulette, etc. Admins manage the points policy and shop.</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The teacher gives +1P instantly via the 🌟 praise button on a student's video.</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It accrues in real time in the student's 🧺 point basket and sums into their total (P).</a:t>
            </a:r>
          </a:p>
          <a:p>
            <a:pPr>
              <a:lnSpc>
                <a:spcPct val="115000"/>
              </a:lnSpc>
              <a:spcAft>
                <a:spcPts val="600"/>
              </a:spcAft>
            </a:pPr>
            <a:r>
              <a:rPr sz="1050" b="1">
                <a:solidFill>
                  <a:srgbClr val="4F46E5"/>
                </a:solidFill>
                <a:latin typeface="Malgun Gothic"/>
              </a:rPr>
              <a:t>● </a:t>
            </a:r>
            <a:r>
              <a:rPr sz="1250">
                <a:solidFill>
                  <a:srgbClr val="334155"/>
                </a:solidFill>
                <a:latin typeface="Malgun Gothic"/>
              </a:rPr>
              <a:t>A post-class star rating gives the student an extra +10P.</a:t>
            </a:r>
          </a:p>
          <a:p>
            <a:pPr>
              <a:lnSpc>
                <a:spcPct val="115000"/>
              </a:lnSpc>
              <a:spcAft>
                <a:spcPts val="600"/>
              </a:spcAft>
            </a:pPr>
            <a:r>
              <a:rPr sz="1050" b="1">
                <a:solidFill>
                  <a:srgbClr val="4F46E5"/>
                </a:solidFill>
                <a:latin typeface="Malgun Gothic"/>
              </a:rPr>
              <a:t>● </a:t>
            </a:r>
            <a:r>
              <a:rPr sz="1250">
                <a:solidFill>
                  <a:srgbClr val="334155"/>
                </a:solidFill>
                <a:latin typeface="Malgun Gothic"/>
              </a:rPr>
              <a:t>Accrued points connect to rewards in the point shop / roulette.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Admins manage accrual/usage policy under Accounting/Points.</a:t>
            </a:r>
          </a:p>
        </p:txBody>
      </p:sp>
      <p:sp>
        <p:nvSpPr>
          <p:cNvPr id="14" name="Rounded Rectangle 13"/>
          <p:cNvSpPr/>
          <p:nvPr/>
        </p:nvSpPr>
        <p:spPr>
          <a:xfrm>
            <a:off x="457200" y="5166360"/>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495544"/>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Instant rewards help participation and re-enrollment.</a:t>
            </a:r>
          </a:p>
          <a:p>
            <a:pPr>
              <a:lnSpc>
                <a:spcPct val="115000"/>
              </a:lnSpc>
              <a:spcAft>
                <a:spcPts val="200"/>
              </a:spcAft>
            </a:pPr>
            <a:r>
              <a:rPr sz="900" b="1">
                <a:solidFill>
                  <a:srgbClr val="4F46E5"/>
                </a:solidFill>
                <a:latin typeface="Malgun Gothic"/>
              </a:rPr>
              <a:t>● </a:t>
            </a:r>
            <a:r>
              <a:rPr sz="1100">
                <a:solidFill>
                  <a:srgbClr val="334155"/>
                </a:solidFill>
                <a:latin typeface="Malgun Gothic"/>
              </a:rPr>
              <a:t>Shaping shop rewards lets you tune learning motivation.</a:t>
            </a:r>
          </a:p>
        </p:txBody>
      </p:sp>
      <p:sp>
        <p:nvSpPr>
          <p:cNvPr id="17" name="Rounded Rectangle 16"/>
          <p:cNvSpPr/>
          <p:nvPr/>
        </p:nvSpPr>
        <p:spPr>
          <a:xfrm>
            <a:off x="457200" y="6281928"/>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327648"/>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Praise points are given by the teacher; the points policy and shop are the admin's job.</a:t>
            </a:r>
          </a:p>
        </p:txBody>
      </p:sp>
      <p:sp>
        <p:nvSpPr>
          <p:cNvPr id="19" name="Rounded Rectangle 18"/>
          <p:cNvSpPr/>
          <p:nvPr/>
        </p:nvSpPr>
        <p:spPr>
          <a:xfrm>
            <a:off x="457200" y="7013448"/>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059168"/>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Periodically check that points flow well (given &amp; spent) to manage motivation.</a:t>
            </a:r>
          </a:p>
        </p:txBody>
      </p:sp>
      <p:sp>
        <p:nvSpPr>
          <p:cNvPr id="21" name="Rectangle 20"/>
          <p:cNvSpPr/>
          <p:nvPr/>
        </p:nvSpPr>
        <p:spPr>
          <a:xfrm>
            <a:off x="6300216" y="3266070"/>
            <a:ext cx="5596128" cy="169745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praise.jpg"/>
          <p:cNvPicPr>
            <a:picLocks noChangeAspect="1"/>
          </p:cNvPicPr>
          <p:nvPr/>
        </p:nvPicPr>
        <p:blipFill>
          <a:blip r:embed="rId2"/>
          <a:stretch>
            <a:fillRect/>
          </a:stretch>
        </p:blipFill>
        <p:spPr>
          <a:xfrm>
            <a:off x="6355080" y="3320934"/>
            <a:ext cx="5486400" cy="158773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Teacher Management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Payroll · matching · reviews · MBTI</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Manage the teacher list, profiles, payroll, matching and reviews in one place. Gather star ratings students leave, by teacher, to use in coaching.</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In Teachers, check the teacher list, profiles and matching.</a:t>
            </a:r>
          </a:p>
          <a:p>
            <a:pPr>
              <a:lnSpc>
                <a:spcPct val="115000"/>
              </a:lnSpc>
              <a:spcAft>
                <a:spcPts val="600"/>
              </a:spcAft>
            </a:pPr>
            <a:r>
              <a:rPr sz="1050" b="1">
                <a:solidFill>
                  <a:srgbClr val="4F46E5"/>
                </a:solidFill>
                <a:latin typeface="Malgun Gothic"/>
              </a:rPr>
              <a:t>● </a:t>
            </a:r>
            <a:r>
              <a:rPr sz="1250">
                <a:solidFill>
                  <a:srgbClr val="334155"/>
                </a:solidFill>
                <a:latin typeface="Malgun Gothic"/>
              </a:rPr>
              <a:t>Manage payroll, MBTI/style and student↔teacher matching.</a:t>
            </a:r>
          </a:p>
          <a:p>
            <a:pPr>
              <a:lnSpc>
                <a:spcPct val="115000"/>
              </a:lnSpc>
              <a:spcAft>
                <a:spcPts val="600"/>
              </a:spcAft>
            </a:pPr>
            <a:r>
              <a:rPr sz="1050" b="1">
                <a:solidFill>
                  <a:srgbClr val="4F46E5"/>
                </a:solidFill>
                <a:latin typeface="Malgun Gothic"/>
              </a:rPr>
              <a:t>● </a:t>
            </a:r>
            <a:r>
              <a:rPr sz="1250">
                <a:solidFill>
                  <a:srgbClr val="334155"/>
                </a:solidFill>
                <a:latin typeface="Malgun Gothic"/>
              </a:rPr>
              <a:t>Gather each teacher's lesson reviews (stars).</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Better matching raises re-enrollment.</a:t>
            </a:r>
          </a:p>
          <a:p>
            <a:pPr>
              <a:lnSpc>
                <a:spcPct val="115000"/>
              </a:lnSpc>
              <a:spcAft>
                <a:spcPts val="200"/>
              </a:spcAft>
            </a:pPr>
            <a:r>
              <a:rPr sz="900" b="1">
                <a:solidFill>
                  <a:srgbClr val="4F46E5"/>
                </a:solidFill>
                <a:latin typeface="Malgun Gothic"/>
              </a:rPr>
              <a:t>● </a:t>
            </a:r>
            <a:r>
              <a:rPr sz="1100">
                <a:solidFill>
                  <a:srgbClr val="334155"/>
                </a:solidFill>
                <a:latin typeface="Malgun Gothic"/>
              </a:rPr>
              <a:t>Link low-rated teachers to the coaching tab.</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Assign top teachers to popular slots first to boost satisfaction.</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menu_students.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Accounting · Points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Payments · overdue · points · gifts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Manage payments, overdue balances and refunds, plus point/gift accrual and use. Amounts are auto-calculated by policy to reduce mistakes.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In Accounting/Points, process payments, overdue balances and refunds.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Check point/gift accrual and usage history.</a:t>
            </a:r>
          </a:p>
          <a:p>
            <a:pPr>
              <a:lnSpc>
                <a:spcPct val="115000"/>
              </a:lnSpc>
              <a:spcAft>
                <a:spcPts val="600"/>
              </a:spcAft>
            </a:pPr>
            <a:r>
              <a:rPr sz="1050" b="1">
                <a:solidFill>
                  <a:srgbClr val="4F46E5"/>
                </a:solidFill>
                <a:latin typeface="Malgun Gothic"/>
              </a:rPr>
              <a:t>● </a:t>
            </a:r>
            <a:r>
              <a:rPr sz="1250">
                <a:solidFill>
                  <a:srgbClr val="334155"/>
                </a:solidFill>
                <a:latin typeface="Malgun Gothic"/>
              </a:rPr>
              <a:t>Notify overdue items via alert-talk/SMS.</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Manage recurring payments and overdue on one screen.</a:t>
            </a:r>
          </a:p>
          <a:p>
            <a:pPr>
              <a:lnSpc>
                <a:spcPct val="115000"/>
              </a:lnSpc>
              <a:spcAft>
                <a:spcPts val="200"/>
              </a:spcAft>
            </a:pPr>
            <a:r>
              <a:rPr sz="900" b="1">
                <a:solidFill>
                  <a:srgbClr val="4F46E5"/>
                </a:solidFill>
                <a:latin typeface="Malgun Gothic"/>
              </a:rPr>
              <a:t>● </a:t>
            </a:r>
            <a:r>
              <a:rPr sz="1100">
                <a:solidFill>
                  <a:srgbClr val="334155"/>
                </a:solidFill>
                <a:latin typeface="Malgun Gothic"/>
              </a:rPr>
              <a:t>Points drive learning motivation.</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Automating overdue alerts raises collection rates.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refu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Points &amp; Reward Policy</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Praise points → shop → gifts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The 🌟 praise points a student gets during class and the star rating (+10P) all accrue to the student's total points, leading to point-shop, roulette and gift rewards. Admins manage this accrual/usage flow and the reward line-up.</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Check accrual paths: points build from in-class teacher praise (+1P), end-of-class rating (+10P), game learning, etc.</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In Accounting/Points, check each student's accrual/usage history.</a:t>
            </a:r>
          </a:p>
          <a:p>
            <a:pPr>
              <a:lnSpc>
                <a:spcPct val="115000"/>
              </a:lnSpc>
              <a:spcAft>
                <a:spcPts val="600"/>
              </a:spcAft>
            </a:pPr>
            <a:r>
              <a:rPr sz="1050" b="1">
                <a:solidFill>
                  <a:srgbClr val="4F46E5"/>
                </a:solidFill>
                <a:latin typeface="Malgun Gothic"/>
              </a:rPr>
              <a:t>● </a:t>
            </a:r>
            <a:r>
              <a:rPr sz="1250">
                <a:solidFill>
                  <a:srgbClr val="334155"/>
                </a:solidFill>
                <a:latin typeface="Malgun Gothic"/>
              </a:rPr>
              <a:t>Manage the point-shop / roulette rewards and gift line-up.</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If abnormal accrual/errors are suspected, look up the history and adjust.</a:t>
            </a:r>
          </a:p>
        </p:txBody>
      </p:sp>
      <p:sp>
        <p:nvSpPr>
          <p:cNvPr id="14" name="Rounded Rectangle 13"/>
          <p:cNvSpPr/>
          <p:nvPr/>
        </p:nvSpPr>
        <p:spPr>
          <a:xfrm>
            <a:off x="457200" y="4782312"/>
            <a:ext cx="5669280" cy="1316736"/>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Instant rewards (praise points) boost participation and re-enrollment.</a:t>
            </a:r>
          </a:p>
          <a:p>
            <a:pPr>
              <a:lnSpc>
                <a:spcPct val="115000"/>
              </a:lnSpc>
              <a:spcAft>
                <a:spcPts val="200"/>
              </a:spcAft>
            </a:pPr>
            <a:r>
              <a:rPr sz="900" b="1">
                <a:solidFill>
                  <a:srgbClr val="4F46E5"/>
                </a:solidFill>
                <a:latin typeface="Malgun Gothic"/>
              </a:rPr>
              <a:t>● </a:t>
            </a:r>
            <a:r>
              <a:rPr sz="1100">
                <a:solidFill>
                  <a:srgbClr val="334155"/>
                </a:solidFill>
                <a:latin typeface="Malgun Gothic"/>
              </a:rPr>
              <a:t>Shaping rewards lets you tune motivation and cost together.</a:t>
            </a:r>
          </a:p>
          <a:p>
            <a:pPr>
              <a:lnSpc>
                <a:spcPct val="115000"/>
              </a:lnSpc>
              <a:spcAft>
                <a:spcPts val="200"/>
              </a:spcAft>
            </a:pPr>
            <a:r>
              <a:rPr sz="900" b="1">
                <a:solidFill>
                  <a:srgbClr val="4F46E5"/>
                </a:solidFill>
                <a:latin typeface="Malgun Gothic"/>
              </a:rPr>
              <a:t>● </a:t>
            </a:r>
            <a:r>
              <a:rPr sz="1100">
                <a:solidFill>
                  <a:srgbClr val="334155"/>
                </a:solidFill>
                <a:latin typeface="Malgun Gothic"/>
              </a:rPr>
              <a:t>Points are summed into the student's top-bar P and My Page.</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Teachers give praise points; admins configure the shop/reward/gift policy.</a:t>
            </a:r>
          </a:p>
        </p:txBody>
      </p:sp>
      <p:sp>
        <p:nvSpPr>
          <p:cNvPr id="19" name="Rounded Rectangle 18"/>
          <p:cNvSpPr/>
          <p:nvPr/>
        </p:nvSpPr>
        <p:spPr>
          <a:xfrm>
            <a:off x="457200" y="694029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Setting stock/limits on popular rewards keeps costs stable.</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refu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Refund Policy &amp; Processing</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Auto-calculated by the table</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Amounts are auto-calculated per the refund table (100% before the lesson starts, tiered by progress). Discounted payments are recalculated at the list price.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Check the refund request timing and calculate by the table.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For discounted payments, apply the list-price recalculation rule.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Check the absence rule for lessons missed without postponing.</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The table reduces disputes.</a:t>
            </a:r>
          </a:p>
          <a:p>
            <a:pPr>
              <a:lnSpc>
                <a:spcPct val="115000"/>
              </a:lnSpc>
              <a:spcAft>
                <a:spcPts val="200"/>
              </a:spcAft>
            </a:pPr>
            <a:r>
              <a:rPr sz="900" b="1">
                <a:solidFill>
                  <a:srgbClr val="4F46E5"/>
                </a:solidFill>
                <a:latin typeface="Malgun Gothic"/>
              </a:rPr>
              <a:t>● </a:t>
            </a:r>
            <a:r>
              <a:rPr sz="1100">
                <a:solidFill>
                  <a:srgbClr val="334155"/>
                </a:solidFill>
                <a:latin typeface="Malgun Gothic"/>
              </a:rPr>
              <a:t>Explain the policy to parents before processing.</a:t>
            </a:r>
          </a:p>
        </p:txBody>
      </p:sp>
      <p:sp>
        <p:nvSpPr>
          <p:cNvPr id="17" name="Rounded Rectangle 16"/>
          <p:cNvSpPr/>
          <p:nvPr/>
        </p:nvSpPr>
        <p:spPr>
          <a:xfrm>
            <a:off x="457200" y="5513831"/>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For discounted lessons, already-taken lessons are deducted at list price, then the balance is refunded.</a:t>
            </a:r>
          </a:p>
        </p:txBody>
      </p:sp>
      <p:sp>
        <p:nvSpPr>
          <p:cNvPr id="19" name="Rounded Rectangle 18"/>
          <p:cNvSpPr/>
          <p:nvPr/>
        </p:nvSpPr>
        <p:spPr>
          <a:xfrm>
            <a:off x="457200" y="624535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29107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Explaining refund/postpone policies at signup greatly reduces conflict.</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refu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Student · Parent Management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Real-data roster · attendance · grades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Manage the enrolled roster, attendance and grades. The student list is linked to real member data, and you can see each student's history at a glance.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In Students/Parents, check the enrolled roster.</a:t>
            </a:r>
          </a:p>
          <a:p>
            <a:pPr>
              <a:lnSpc>
                <a:spcPct val="115000"/>
              </a:lnSpc>
              <a:spcAft>
                <a:spcPts val="600"/>
              </a:spcAft>
            </a:pPr>
            <a:r>
              <a:rPr sz="1050" b="1">
                <a:solidFill>
                  <a:srgbClr val="4F46E5"/>
                </a:solidFill>
                <a:latin typeface="Malgun Gothic"/>
              </a:rPr>
              <a:t>● </a:t>
            </a:r>
            <a:r>
              <a:rPr sz="1250">
                <a:solidFill>
                  <a:srgbClr val="334155"/>
                </a:solidFill>
                <a:latin typeface="Malgun Gothic"/>
              </a:rPr>
              <a:t>View attendance/reviews/points/chat history by student.</a:t>
            </a:r>
          </a:p>
          <a:p>
            <a:pPr>
              <a:lnSpc>
                <a:spcPct val="115000"/>
              </a:lnSpc>
              <a:spcAft>
                <a:spcPts val="600"/>
              </a:spcAft>
            </a:pPr>
            <a:r>
              <a:rPr sz="1050" b="1">
                <a:solidFill>
                  <a:srgbClr val="4F46E5"/>
                </a:solidFill>
                <a:latin typeface="Malgun Gothic"/>
              </a:rPr>
              <a:t>● </a:t>
            </a:r>
            <a:r>
              <a:rPr sz="1250">
                <a:solidFill>
                  <a:srgbClr val="334155"/>
                </a:solidFill>
                <a:latin typeface="Malgun Gothic"/>
              </a:rPr>
              <a:t>Flag students who need counseling/management.</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The student list is linked to real members.</a:t>
            </a:r>
          </a:p>
          <a:p>
            <a:pPr>
              <a:lnSpc>
                <a:spcPct val="115000"/>
              </a:lnSpc>
              <a:spcAft>
                <a:spcPts val="200"/>
              </a:spcAft>
            </a:pPr>
            <a:r>
              <a:rPr sz="900" b="1">
                <a:solidFill>
                  <a:srgbClr val="4F46E5"/>
                </a:solidFill>
                <a:latin typeface="Malgun Gothic"/>
              </a:rPr>
              <a:t>● </a:t>
            </a:r>
            <a:r>
              <a:rPr sz="1100">
                <a:solidFill>
                  <a:srgbClr val="334155"/>
                </a:solidFill>
                <a:latin typeface="Malgun Gothic"/>
              </a:rPr>
              <a:t>At-risk students link to the Retention Center.</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Counsel frequently-absent students quickly to prevent churn.</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menu_students.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Parent My-Page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View learning with just a student ID</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Parents can see attendance, reviews, payments and AI-recommended study on one screen just by entering their child's student ID. It reduces support questions and raises satisfaction.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Share the my-page link with parents.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The parent enters the child's student ID and looks it up.</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They see 30-day attendance, points, payments, reviews and the monthly report.</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Easy access with just the student ID.</a:t>
            </a:r>
          </a:p>
          <a:p>
            <a:pPr>
              <a:lnSpc>
                <a:spcPct val="115000"/>
              </a:lnSpc>
              <a:spcAft>
                <a:spcPts val="200"/>
              </a:spcAft>
            </a:pPr>
            <a:r>
              <a:rPr sz="900" b="1">
                <a:solidFill>
                  <a:srgbClr val="4F46E5"/>
                </a:solidFill>
                <a:latin typeface="Malgun Gothic"/>
              </a:rPr>
              <a:t>● </a:t>
            </a:r>
            <a:r>
              <a:rPr sz="1100">
                <a:solidFill>
                  <a:srgbClr val="334155"/>
                </a:solidFill>
                <a:latin typeface="Malgun Gothic"/>
              </a:rPr>
              <a:t>The monthly report can be printed or saved as PDF.</a:t>
            </a:r>
          </a:p>
        </p:txBody>
      </p:sp>
      <p:sp>
        <p:nvSpPr>
          <p:cNvPr id="17" name="Rounded Rectangle 16"/>
          <p:cNvSpPr/>
          <p:nvPr/>
        </p:nvSpPr>
        <p:spPr>
          <a:xfrm>
            <a:off x="457200" y="5513831"/>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Advise parents to manage the student ID like a password.</a:t>
            </a:r>
          </a:p>
        </p:txBody>
      </p:sp>
      <p:sp>
        <p:nvSpPr>
          <p:cNvPr id="19" name="Rounded Rectangle 18"/>
          <p:cNvSpPr/>
          <p:nvPr/>
        </p:nvSpPr>
        <p:spPr>
          <a:xfrm>
            <a:off x="457200" y="624535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29107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Explaining my-page at signup reduces questions.</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paren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Booking Management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Schedule assignment</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booking screen to assign lesson type, teacher, date and time. You can review and adjust students' booking status.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In Booking, assign lesson type, teacher and time.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Check empty slots and overlaps and adjust.</a:t>
            </a:r>
          </a:p>
          <a:p>
            <a:pPr>
              <a:lnSpc>
                <a:spcPct val="115000"/>
              </a:lnSpc>
              <a:spcAft>
                <a:spcPts val="600"/>
              </a:spcAft>
            </a:pPr>
            <a:r>
              <a:rPr sz="1050" b="1">
                <a:solidFill>
                  <a:srgbClr val="4F46E5"/>
                </a:solidFill>
                <a:latin typeface="Malgun Gothic"/>
              </a:rPr>
              <a:t>● </a:t>
            </a:r>
            <a:r>
              <a:rPr sz="1250">
                <a:solidFill>
                  <a:srgbClr val="334155"/>
                </a:solidFill>
                <a:latin typeface="Malgun Gothic"/>
              </a:rPr>
              <a:t>Once confirmed, students and teachers are notified.</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Spread popular slots to balance teacher load.</a:t>
            </a:r>
          </a:p>
          <a:p>
            <a:pPr>
              <a:lnSpc>
                <a:spcPct val="115000"/>
              </a:lnSpc>
              <a:spcAft>
                <a:spcPts val="200"/>
              </a:spcAft>
            </a:pPr>
            <a:r>
              <a:rPr sz="900" b="1">
                <a:solidFill>
                  <a:srgbClr val="4F46E5"/>
                </a:solidFill>
                <a:latin typeface="Malgun Gothic"/>
              </a:rPr>
              <a:t>● </a:t>
            </a:r>
            <a:r>
              <a:rPr sz="1100">
                <a:solidFill>
                  <a:srgbClr val="334155"/>
                </a:solidFill>
                <a:latin typeface="Malgun Gothic"/>
              </a:rPr>
              <a:t>Recurring bookings can be set.</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Pre-register each teacher's available times to speed up assignment.</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booking.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Postpone Management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Review &amp; process requests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Review students' postpone/change requests and process them per policy. Last-minute requests outside policy link to the absence/deduction rule.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Check students' postpone/change requests.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If within policy (advance notice), adjust the schedule.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Changes are auto-announced to both sides.</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Clearly announce the postpone cutoff.</a:t>
            </a:r>
          </a:p>
          <a:p>
            <a:pPr>
              <a:lnSpc>
                <a:spcPct val="115000"/>
              </a:lnSpc>
              <a:spcAft>
                <a:spcPts val="200"/>
              </a:spcAft>
            </a:pPr>
            <a:r>
              <a:rPr sz="900" b="1">
                <a:solidFill>
                  <a:srgbClr val="4F46E5"/>
                </a:solidFill>
                <a:latin typeface="Malgun Gothic"/>
              </a:rPr>
              <a:t>● </a:t>
            </a:r>
            <a:r>
              <a:rPr sz="1100">
                <a:solidFill>
                  <a:srgbClr val="334155"/>
                </a:solidFill>
                <a:latin typeface="Malgun Gothic"/>
              </a:rPr>
              <a:t>Guide out-of-policy requests per policy.</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Enforcing the postpone cutoff reduces no-show losses.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postpon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Content · Curriculum</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Levels · textbooks · game reports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Manage the Levels 1–10 curriculum, textbook status and game learning reports (weak words). Improve content based on learning data.</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Check the Levels 1–10 curriculum structure.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Review textbook upload status.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Find weak words in the game learning report.</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Surface weak words more in games/reviews.</a:t>
            </a:r>
          </a:p>
          <a:p>
            <a:pPr>
              <a:lnSpc>
                <a:spcPct val="115000"/>
              </a:lnSpc>
              <a:spcAft>
                <a:spcPts val="200"/>
              </a:spcAft>
            </a:pPr>
            <a:r>
              <a:rPr sz="900" b="1">
                <a:solidFill>
                  <a:srgbClr val="4F46E5"/>
                </a:solidFill>
                <a:latin typeface="Malgun Gothic"/>
              </a:rPr>
              <a:t>● </a:t>
            </a:r>
            <a:r>
              <a:rPr sz="1100">
                <a:solidFill>
                  <a:srgbClr val="334155"/>
                </a:solidFill>
                <a:latin typeface="Malgun Gothic"/>
              </a:rPr>
              <a:t>Clear level goals raise achievement.</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Reviewing the curriculum at the start of the year makes it easy.</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curriculum.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Retention Center</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Churn risk · contagion · settlement · coaching</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hub to find students likely to quit early and to prevent chain churn spread through family, joint lessons and referrals. Manage four tabs in one place.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Find at-risk students with the churn-risk graph.</a:t>
            </a:r>
          </a:p>
          <a:p>
            <a:pPr>
              <a:lnSpc>
                <a:spcPct val="115000"/>
              </a:lnSpc>
              <a:spcAft>
                <a:spcPts val="600"/>
              </a:spcAft>
            </a:pPr>
            <a:r>
              <a:rPr sz="1050" b="1">
                <a:solidFill>
                  <a:srgbClr val="4F46E5"/>
                </a:solidFill>
                <a:latin typeface="Malgun Gothic"/>
              </a:rPr>
              <a:t>● </a:t>
            </a:r>
            <a:r>
              <a:rPr sz="1250">
                <a:solidFill>
                  <a:srgbClr val="334155"/>
                </a:solidFill>
                <a:latin typeface="Malgun Gothic"/>
              </a:rPr>
              <a:t>Prevent chain churn with the churn contagion network.</a:t>
            </a:r>
          </a:p>
          <a:p>
            <a:pPr>
              <a:lnSpc>
                <a:spcPct val="115000"/>
              </a:lnSpc>
              <a:spcAft>
                <a:spcPts val="600"/>
              </a:spcAft>
            </a:pPr>
            <a:r>
              <a:rPr sz="1050" b="1">
                <a:solidFill>
                  <a:srgbClr val="4F46E5"/>
                </a:solidFill>
                <a:latin typeface="Malgun Gothic"/>
              </a:rPr>
              <a:t>● </a:t>
            </a:r>
            <a:r>
              <a:rPr sz="1250">
                <a:solidFill>
                  <a:srgbClr val="334155"/>
                </a:solidFill>
                <a:latin typeface="Malgun Gothic"/>
              </a:rPr>
              <a:t>Deliver review-based feedback in the teacher coaching tab.</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Intervene on at-risk students with alert-talk/counseling.</a:t>
            </a:r>
          </a:p>
        </p:txBody>
      </p:sp>
      <p:sp>
        <p:nvSpPr>
          <p:cNvPr id="14" name="Rounded Rectangle 13"/>
          <p:cNvSpPr/>
          <p:nvPr/>
        </p:nvSpPr>
        <p:spPr>
          <a:xfrm>
            <a:off x="457200" y="4782312"/>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Intervening early raises retention.</a:t>
            </a:r>
          </a:p>
          <a:p>
            <a:pPr>
              <a:lnSpc>
                <a:spcPct val="115000"/>
              </a:lnSpc>
              <a:spcAft>
                <a:spcPts val="200"/>
              </a:spcAft>
            </a:pPr>
            <a:r>
              <a:rPr sz="900" b="1">
                <a:solidFill>
                  <a:srgbClr val="4F46E5"/>
                </a:solidFill>
                <a:latin typeface="Malgun Gothic"/>
              </a:rPr>
              <a:t>● </a:t>
            </a:r>
            <a:r>
              <a:rPr sz="1100">
                <a:solidFill>
                  <a:srgbClr val="334155"/>
                </a:solidFill>
                <a:latin typeface="Malgun Gothic"/>
              </a:rPr>
              <a:t>Manage family/referral relationships together.</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Just caring for the top at-risk students weekly noticeably cuts churn.</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Org Settlement · Monthly Report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HQ → branch → agency</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Revenue and commissions auto-settle down the org tree, and the monthly report shows branch/agency performance. AI insights summarize the state.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Revenue/commissions auto-settle down the org tree.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Check branch/agency performance with the monthly report.</a:t>
            </a:r>
          </a:p>
          <a:p>
            <a:pPr>
              <a:lnSpc>
                <a:spcPct val="115000"/>
              </a:lnSpc>
              <a:spcAft>
                <a:spcPts val="600"/>
              </a:spcAft>
            </a:pPr>
            <a:r>
              <a:rPr sz="1050" b="1">
                <a:solidFill>
                  <a:srgbClr val="4F46E5"/>
                </a:solidFill>
                <a:latin typeface="Malgun Gothic"/>
              </a:rPr>
              <a:t>● </a:t>
            </a:r>
            <a:r>
              <a:rPr sz="1250">
                <a:solidFill>
                  <a:srgbClr val="334155"/>
                </a:solidFill>
                <a:latin typeface="Malgun Gothic"/>
              </a:rPr>
              <a:t>Watch today's revenue, enrollment and attendance daily on the dashboard.</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Distributing the settlement report early builds partner trust.</a:t>
            </a:r>
          </a:p>
          <a:p>
            <a:pPr>
              <a:lnSpc>
                <a:spcPct val="115000"/>
              </a:lnSpc>
              <a:spcAft>
                <a:spcPts val="200"/>
              </a:spcAft>
            </a:pPr>
            <a:r>
              <a:rPr sz="900" b="1">
                <a:solidFill>
                  <a:srgbClr val="4F46E5"/>
                </a:solidFill>
                <a:latin typeface="Malgun Gothic"/>
              </a:rPr>
              <a:t>● </a:t>
            </a:r>
            <a:r>
              <a:rPr sz="1100">
                <a:solidFill>
                  <a:srgbClr val="334155"/>
                </a:solidFill>
                <a:latin typeface="Malgun Gothic"/>
              </a:rPr>
              <a:t>A 5-minute daily check of the metrics is recommended.</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The sooner you catch warning signs (revenue drop, attendance dip), the easier to respond.</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monthlyrepor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Support · FAQ Operations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Inquiries · refunds · postpone</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Guide phone, email, Kakao and remote-support channels, and organize frequent questions into an FAQ to reduce inquiries.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In Support, guide channels and hours.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Share refund/postpone policies with students/parents.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Add repeat questions to the FAQ.</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Growing the FAQ cuts support load.</a:t>
            </a:r>
          </a:p>
          <a:p>
            <a:pPr>
              <a:lnSpc>
                <a:spcPct val="115000"/>
              </a:lnSpc>
              <a:spcAft>
                <a:spcPts val="200"/>
              </a:spcAft>
            </a:pPr>
            <a:r>
              <a:rPr sz="900" b="1">
                <a:solidFill>
                  <a:srgbClr val="4F46E5"/>
                </a:solidFill>
                <a:latin typeface="Malgun Gothic"/>
              </a:rPr>
              <a:t>● </a:t>
            </a:r>
            <a:r>
              <a:rPr sz="1100">
                <a:solidFill>
                  <a:srgbClr val="334155"/>
                </a:solidFill>
                <a:latin typeface="Malgun Gothic"/>
              </a:rPr>
              <a:t>Help directly with remote support for hard issues.</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Turn repeat questions like 'can't enter' into an FAQ with screenshots.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contac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Korea·Philippines Dual Clock</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Two countries' time on screen</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clock on screen shows 🇰🇷 Korea and 🇵🇭 Philippines time together. It lets you check the time difference instantly when coordinating lessons between Philippine teachers and Korean students.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On the on-screen dual clock, see 🇰🇷 Korea and 🇵🇭 Philippines time at once.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Drag the clock to move it anywhere you like.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Tap (click) the clock to go to the home screen.</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The Philippines is 1 hour behind Korea (−1 hour).</a:t>
            </a:r>
          </a:p>
          <a:p>
            <a:pPr>
              <a:lnSpc>
                <a:spcPct val="115000"/>
              </a:lnSpc>
              <a:spcAft>
                <a:spcPts val="200"/>
              </a:spcAft>
            </a:pPr>
            <a:r>
              <a:rPr sz="900" b="1">
                <a:solidFill>
                  <a:srgbClr val="4F46E5"/>
                </a:solidFill>
                <a:latin typeface="Malgun Gothic"/>
              </a:rPr>
              <a:t>● </a:t>
            </a:r>
            <a:r>
              <a:rPr sz="1100">
                <a:solidFill>
                  <a:srgbClr val="334155"/>
                </a:solidFill>
                <a:latin typeface="Malgun Gothic"/>
              </a:rPr>
              <a:t>You can check booking/entry times in both countries' time.</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When a lesson time is confusing due to the time difference, this clock clears it up instantly.</a:t>
            </a:r>
          </a:p>
        </p:txBody>
      </p:sp>
      <p:sp>
        <p:nvSpPr>
          <p:cNvPr id="19" name="Rectangle 18"/>
          <p:cNvSpPr/>
          <p:nvPr/>
        </p:nvSpPr>
        <p:spPr>
          <a:xfrm>
            <a:off x="6300216" y="2356264"/>
            <a:ext cx="5596128" cy="351707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world_clock.jpg"/>
          <p:cNvPicPr>
            <a:picLocks noChangeAspect="1"/>
          </p:cNvPicPr>
          <p:nvPr/>
        </p:nvPicPr>
        <p:blipFill>
          <a:blip r:embed="rId2"/>
          <a:stretch>
            <a:fillRect/>
          </a:stretch>
        </p:blipFill>
        <p:spPr>
          <a:xfrm>
            <a:off x="6355080" y="2411128"/>
            <a:ext cx="5486400" cy="3407343"/>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Chinese Pronunciation Coach</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Darakwon Chinese Master Lv1–20</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Mangoi offers not only English but also a Chinese course. With a Darakwon Chinese Master (Lv 1–20) pronunciation coach (characters+pinyin, AI voice recognition, native comparison), you can attract and manage students who want Chinese.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In the AI voice coach, pick the CN Chinese level (or go to the Chinese pronunciation coach).</a:t>
            </a:r>
          </a:p>
          <a:p>
            <a:pPr>
              <a:lnSpc>
                <a:spcPct val="115000"/>
              </a:lnSpc>
              <a:spcAft>
                <a:spcPts val="600"/>
              </a:spcAft>
            </a:pPr>
            <a:r>
              <a:rPr sz="1050" b="1">
                <a:solidFill>
                  <a:srgbClr val="4F46E5"/>
                </a:solidFill>
                <a:latin typeface="Malgun Gothic"/>
              </a:rPr>
              <a:t>● </a:t>
            </a:r>
            <a:r>
              <a:rPr sz="1250">
                <a:solidFill>
                  <a:srgbClr val="334155"/>
                </a:solidFill>
                <a:latin typeface="Malgun Gothic"/>
              </a:rPr>
              <a:t>Choose a Master series (1–6, HSK 1–6) and a unit.</a:t>
            </a:r>
          </a:p>
          <a:p>
            <a:pPr>
              <a:lnSpc>
                <a:spcPct val="115000"/>
              </a:lnSpc>
              <a:spcAft>
                <a:spcPts val="600"/>
              </a:spcAft>
            </a:pPr>
            <a:r>
              <a:rPr sz="1050" b="1">
                <a:solidFill>
                  <a:srgbClr val="4F46E5"/>
                </a:solidFill>
                <a:latin typeface="Malgun Gothic"/>
              </a:rPr>
              <a:t>● </a:t>
            </a:r>
            <a:r>
              <a:rPr sz="1250">
                <a:solidFill>
                  <a:srgbClr val="334155"/>
                </a:solidFill>
                <a:latin typeface="Malgun Gothic"/>
              </a:rPr>
              <a:t>Read the sentence (characters + pinyin) and compare with 'Play native audio'.</a:t>
            </a:r>
          </a:p>
          <a:p>
            <a:pPr>
              <a:lnSpc>
                <a:spcPct val="115000"/>
              </a:lnSpc>
              <a:spcAft>
                <a:spcPts val="600"/>
              </a:spcAft>
            </a:pPr>
            <a:r>
              <a:rPr sz="1050" b="1">
                <a:solidFill>
                  <a:srgbClr val="4F46E5"/>
                </a:solidFill>
                <a:latin typeface="Malgun Gothic"/>
              </a:rPr>
              <a:t>● </a:t>
            </a:r>
            <a:r>
              <a:rPr sz="1250">
                <a:solidFill>
                  <a:srgbClr val="334155"/>
                </a:solidFill>
                <a:latin typeface="Malgun Gothic"/>
              </a:rPr>
              <a:t>Practice hard sounds/tones with repeat and slow (0.85x).</a:t>
            </a:r>
          </a:p>
        </p:txBody>
      </p:sp>
      <p:sp>
        <p:nvSpPr>
          <p:cNvPr id="14" name="Rounded Rectangle 13"/>
          <p:cNvSpPr/>
          <p:nvPr/>
        </p:nvSpPr>
        <p:spPr>
          <a:xfrm>
            <a:off x="457200" y="4782312"/>
            <a:ext cx="5669280" cy="1316736"/>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Characters and pinyin appear together, so it's easy to read.</a:t>
            </a:r>
          </a:p>
          <a:p>
            <a:pPr>
              <a:lnSpc>
                <a:spcPct val="115000"/>
              </a:lnSpc>
              <a:spcAft>
                <a:spcPts val="200"/>
              </a:spcAft>
            </a:pPr>
            <a:r>
              <a:rPr sz="900" b="1">
                <a:solidFill>
                  <a:srgbClr val="4F46E5"/>
                </a:solidFill>
                <a:latin typeface="Malgun Gothic"/>
              </a:rPr>
              <a:t>● </a:t>
            </a:r>
            <a:r>
              <a:rPr sz="1100">
                <a:solidFill>
                  <a:srgbClr val="334155"/>
                </a:solidFill>
                <a:latin typeface="Malgun Gothic"/>
              </a:rPr>
              <a:t>The AI recognizes your voice and compares it to a native speaker.</a:t>
            </a:r>
          </a:p>
          <a:p>
            <a:pPr>
              <a:lnSpc>
                <a:spcPct val="115000"/>
              </a:lnSpc>
              <a:spcAft>
                <a:spcPts val="200"/>
              </a:spcAft>
            </a:pPr>
            <a:r>
              <a:rPr sz="900" b="1">
                <a:solidFill>
                  <a:srgbClr val="4F46E5"/>
                </a:solidFill>
                <a:latin typeface="Malgun Gothic"/>
              </a:rPr>
              <a:t>● </a:t>
            </a:r>
            <a:r>
              <a:rPr sz="1100">
                <a:solidFill>
                  <a:srgbClr val="334155"/>
                </a:solidFill>
                <a:latin typeface="Malgun Gothic"/>
              </a:rPr>
              <a:t>The learning games hub supports Chinese too.</a:t>
            </a:r>
          </a:p>
        </p:txBody>
      </p:sp>
      <p:sp>
        <p:nvSpPr>
          <p:cNvPr id="17" name="Rounded Rectangle 16"/>
          <p:cNvSpPr/>
          <p:nvPr/>
        </p:nvSpPr>
        <p:spPr>
          <a:xfrm>
            <a:off x="457200" y="620877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Listen slowly and repeat clearly to nail the four tones.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_cn.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Notice Studio (Poster + Popup)</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Design notice/event posters and push them as app popups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This merges the old ‘Poster Maker’ and ‘Popup Notice’ tools into one place. In the ①Create tab you design a notice/event poster, then hand it straight to the ②Publish·Popup tab to show it as a popup in your academy's student app.</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Go to the admin menu Notification Center → 📢 Notice Studio.</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In the ①Create tab, design a poster with text, images, and video (resize · save on server · reuse).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Press ‘📢 Publish as popup’ on the finished poster to auto-switch to the ②Publish·Popup tab.</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In the publish tab, set the display period / stop and publish it as a student-app popup.</a:t>
            </a:r>
          </a:p>
        </p:txBody>
      </p:sp>
      <p:sp>
        <p:nvSpPr>
          <p:cNvPr id="14" name="Rounded Rectangle 13"/>
          <p:cNvSpPr/>
          <p:nvPr/>
        </p:nvSpPr>
        <p:spPr>
          <a:xfrm>
            <a:off x="457200" y="4782312"/>
            <a:ext cx="5669280" cy="1316736"/>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Poster creation and popup publishing flow through one screen, two tabs — no more confusion.</a:t>
            </a:r>
          </a:p>
          <a:p>
            <a:pPr>
              <a:lnSpc>
                <a:spcPct val="115000"/>
              </a:lnSpc>
              <a:spcAft>
                <a:spcPts val="200"/>
              </a:spcAft>
            </a:pPr>
            <a:r>
              <a:rPr sz="900" b="1">
                <a:solidFill>
                  <a:srgbClr val="4F46E5"/>
                </a:solidFill>
                <a:latin typeface="Malgun Gothic"/>
              </a:rPr>
              <a:t>● </a:t>
            </a:r>
            <a:r>
              <a:rPr sz="1100">
                <a:solidFill>
                  <a:srgbClr val="334155"/>
                </a:solidFill>
                <a:latin typeface="Malgun Gothic"/>
              </a:rPr>
              <a:t>Posters you make can be saved and reused.</a:t>
            </a:r>
          </a:p>
          <a:p>
            <a:pPr>
              <a:lnSpc>
                <a:spcPct val="115000"/>
              </a:lnSpc>
              <a:spcAft>
                <a:spcPts val="200"/>
              </a:spcAft>
            </a:pPr>
            <a:r>
              <a:rPr sz="900" b="1">
                <a:solidFill>
                  <a:srgbClr val="4F46E5"/>
                </a:solidFill>
                <a:latin typeface="Malgun Gothic"/>
              </a:rPr>
              <a:t>● </a:t>
            </a:r>
            <a:r>
              <a:rPr sz="1100">
                <a:solidFill>
                  <a:srgbClr val="334155"/>
                </a:solidFill>
                <a:latin typeface="Malgun Gothic"/>
              </a:rPr>
              <a:t>Whichever route you enter from — AI assistant or sidebar search — the correct tab opens.</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Existing posters/popups are preserved (it was only merged, nothing was deleted).</a:t>
            </a:r>
          </a:p>
        </p:txBody>
      </p:sp>
      <p:sp>
        <p:nvSpPr>
          <p:cNvPr id="19" name="Rounded Rectangle 18"/>
          <p:cNvSpPr/>
          <p:nvPr/>
        </p:nvSpPr>
        <p:spPr>
          <a:xfrm>
            <a:off x="457200" y="694029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Promoting an event takes just one flow: ‘Create → Publish as popup’ right away.</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noticestudio.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Command the AI Operations Assistant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Navigate with one phrase: “Take me to ○○”</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Type what you want to do into the top search bar (or the bottom-right AI assistant) in plain language, and the AI understands and jumps straight to that screen. It now reliably follows navigation commands like ‘Take me to teacher ○○'s schedule’ or ‘Open auto-scheduling’.</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Type a command in the top search bar or speak with the 🎤 mic.</a:t>
            </a:r>
          </a:p>
          <a:p>
            <a:pPr>
              <a:lnSpc>
                <a:spcPct val="115000"/>
              </a:lnSpc>
              <a:spcAft>
                <a:spcPts val="600"/>
              </a:spcAft>
            </a:pPr>
            <a:r>
              <a:rPr sz="1050" b="1">
                <a:solidFill>
                  <a:srgbClr val="4F46E5"/>
                </a:solidFill>
                <a:latin typeface="Malgun Gothic"/>
              </a:rPr>
              <a:t>● </a:t>
            </a:r>
            <a:r>
              <a:rPr sz="1250">
                <a:solidFill>
                  <a:srgbClr val="334155"/>
                </a:solidFill>
                <a:latin typeface="Malgun Gothic"/>
              </a:rPr>
              <a:t>e.g. “Take me to teacher Kim Minji's schedule” → auto-finds that teacher in the weekly schedule and opens it.</a:t>
            </a:r>
          </a:p>
          <a:p>
            <a:pPr>
              <a:lnSpc>
                <a:spcPct val="115000"/>
              </a:lnSpc>
              <a:spcAft>
                <a:spcPts val="600"/>
              </a:spcAft>
            </a:pPr>
            <a:r>
              <a:rPr sz="1050" b="1">
                <a:solidFill>
                  <a:srgbClr val="4F46E5"/>
                </a:solidFill>
                <a:latin typeface="Malgun Gothic"/>
              </a:rPr>
              <a:t>● </a:t>
            </a:r>
            <a:r>
              <a:rPr sz="1250">
                <a:solidFill>
                  <a:srgbClr val="334155"/>
                </a:solidFill>
                <a:latin typeface="Malgun Gothic"/>
              </a:rPr>
              <a:t>e.g. “Open auto-scheduling,” “Go to settlement” to navigate menus.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Press ‘Go now →’ on the AI response card to move to that screen.</a:t>
            </a:r>
          </a:p>
        </p:txBody>
      </p:sp>
      <p:sp>
        <p:nvSpPr>
          <p:cNvPr id="14" name="Rounded Rectangle 13"/>
          <p:cNvSpPr/>
          <p:nvPr/>
        </p:nvSpPr>
        <p:spPr>
          <a:xfrm>
            <a:off x="457200" y="4782312"/>
            <a:ext cx="5669280" cy="1316736"/>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Navigation commands actually navigate — far fewer ‘explain only, do nothing’ replies.</a:t>
            </a:r>
          </a:p>
          <a:p>
            <a:pPr>
              <a:lnSpc>
                <a:spcPct val="115000"/>
              </a:lnSpc>
              <a:spcAft>
                <a:spcPts val="200"/>
              </a:spcAft>
            </a:pPr>
            <a:r>
              <a:rPr sz="900" b="1">
                <a:solidFill>
                  <a:srgbClr val="4F46E5"/>
                </a:solidFill>
                <a:latin typeface="Malgun Gothic"/>
              </a:rPr>
              <a:t>● </a:t>
            </a:r>
            <a:r>
              <a:rPr sz="1100">
                <a:solidFill>
                  <a:srgbClr val="334155"/>
                </a:solidFill>
                <a:latin typeface="Malgun Gothic"/>
              </a:rPr>
              <a:t>Searching a schedule by teacher name auto-fills the search box + filters + scrolls.</a:t>
            </a:r>
          </a:p>
          <a:p>
            <a:pPr>
              <a:lnSpc>
                <a:spcPct val="115000"/>
              </a:lnSpc>
              <a:spcAft>
                <a:spcPts val="200"/>
              </a:spcAft>
            </a:pPr>
            <a:r>
              <a:rPr sz="900" b="1">
                <a:solidFill>
                  <a:srgbClr val="4F46E5"/>
                </a:solidFill>
                <a:latin typeface="Malgun Gothic"/>
              </a:rPr>
              <a:t>● </a:t>
            </a:r>
            <a:r>
              <a:rPr sz="1100">
                <a:solidFill>
                  <a:srgbClr val="334155"/>
                </a:solidFill>
                <a:latin typeface="Malgun Gothic"/>
              </a:rPr>
              <a:t>For data/statistics questions it also helps with card-style answers.</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Commands that actually change things — ‘register · send · modify’ — ask for one more confirmation (a safety guard).</a:t>
            </a:r>
          </a:p>
        </p:txBody>
      </p:sp>
      <p:sp>
        <p:nvSpPr>
          <p:cNvPr id="19" name="Rounded Rectangle 18"/>
          <p:cNvSpPr/>
          <p:nvPr/>
        </p:nvSpPr>
        <p:spPr>
          <a:xfrm>
            <a:off x="457200" y="694029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When you can't recall a menu name, just say what you want to do — it finds its way there.</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aicomma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Student Voice-Diary Monitor</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View each student's English diary · AI correction · score</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View the AI voice diaries students leave, right from the admin screen. Per student, check the transcript · AI correction · encouragement · score by month to encourage consistent writers and gauge their learning.</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Open the 📔 Voice Diary (monitor) card in the admin menu.</a:t>
            </a:r>
          </a:p>
          <a:p>
            <a:pPr>
              <a:lnSpc>
                <a:spcPct val="115000"/>
              </a:lnSpc>
              <a:spcAft>
                <a:spcPts val="600"/>
              </a:spcAft>
            </a:pPr>
            <a:r>
              <a:rPr sz="1050" b="1">
                <a:solidFill>
                  <a:srgbClr val="4F46E5"/>
                </a:solidFill>
                <a:latin typeface="Malgun Gothic"/>
              </a:rPr>
              <a:t>● </a:t>
            </a:r>
            <a:r>
              <a:rPr sz="1250">
                <a:solidFill>
                  <a:srgbClr val="334155"/>
                </a:solidFill>
                <a:latin typeface="Malgun Gothic"/>
              </a:rPr>
              <a:t>Enter the student UID, pick the month to look up, and press ‘Search’.</a:t>
            </a:r>
          </a:p>
          <a:p>
            <a:pPr>
              <a:lnSpc>
                <a:spcPct val="115000"/>
              </a:lnSpc>
              <a:spcAft>
                <a:spcPts val="600"/>
              </a:spcAft>
            </a:pPr>
            <a:r>
              <a:rPr sz="1050" b="1">
                <a:solidFill>
                  <a:srgbClr val="4F46E5"/>
                </a:solidFill>
                <a:latin typeface="Malgun Gothic"/>
              </a:rPr>
              <a:t>● </a:t>
            </a:r>
            <a:r>
              <a:rPr sz="1250">
                <a:solidFill>
                  <a:srgbClr val="334155"/>
                </a:solidFill>
                <a:latin typeface="Malgun Gothic"/>
              </a:rPr>
              <a:t>Open an entry from the list to see the transcript · correction · encouragement · score.</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It only shows up once a student actually writes a diary (the entry point is the 📔 card on the student home).</a:t>
            </a:r>
          </a:p>
          <a:p>
            <a:pPr>
              <a:lnSpc>
                <a:spcPct val="115000"/>
              </a:lnSpc>
              <a:spcAft>
                <a:spcPts val="200"/>
              </a:spcAft>
            </a:pPr>
            <a:r>
              <a:rPr sz="900" b="1">
                <a:solidFill>
                  <a:srgbClr val="4F46E5"/>
                </a:solidFill>
                <a:latin typeface="Malgun Gothic"/>
              </a:rPr>
              <a:t>● </a:t>
            </a:r>
            <a:r>
              <a:rPr sz="1100">
                <a:solidFill>
                  <a:srgbClr val="334155"/>
                </a:solidFill>
                <a:latin typeface="Malgun Gothic"/>
              </a:rPr>
              <a:t>Find consistent writers and connect them to praise/rewards to lock in the habit.</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‘Nothing shows up’ usually just means that student hasn't left a diary yet.</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voicediary.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Teacher AI-Coaching Review (Ops)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Collected per-class AI coaching · quality scores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After every class, the AI leaves the teacher a coaching card (strengths · areas to improve · a class-quality score). From the admin screen you can see these gathered by most-recent. Use it as a growth-support / coaching-quality tool — not surveillance.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Go to admin 🧲 Retention Center → 💼 Teacher Coaching tab.</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In the ‘🤖 Per-class AI coaching (recent)’ section, review each teacher's latest coaching.</a:t>
            </a:r>
          </a:p>
          <a:p>
            <a:pPr>
              <a:lnSpc>
                <a:spcPct val="115000"/>
              </a:lnSpc>
              <a:spcAft>
                <a:spcPts val="600"/>
              </a:spcAft>
            </a:pPr>
            <a:r>
              <a:rPr sz="1050" b="1">
                <a:solidFill>
                  <a:srgbClr val="4F46E5"/>
                </a:solidFill>
                <a:latin typeface="Malgun Gothic"/>
              </a:rPr>
              <a:t>● </a:t>
            </a:r>
            <a:r>
              <a:rPr sz="1250">
                <a:solidFill>
                  <a:srgbClr val="334155"/>
                </a:solidFill>
                <a:latin typeface="Malgun Gothic"/>
              </a:rPr>
              <a:t>Use each card's quality score · talk ratio · improvement point to plan coaching and training.</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See every teacher's recent coaching at a glance.</a:t>
            </a:r>
          </a:p>
          <a:p>
            <a:pPr>
              <a:lnSpc>
                <a:spcPct val="115000"/>
              </a:lnSpc>
              <a:spcAft>
                <a:spcPts val="200"/>
              </a:spcAft>
            </a:pPr>
            <a:r>
              <a:rPr sz="900" b="1">
                <a:solidFill>
                  <a:srgbClr val="4F46E5"/>
                </a:solidFill>
                <a:latin typeface="Malgun Gothic"/>
              </a:rPr>
              <a:t>● </a:t>
            </a:r>
            <a:r>
              <a:rPr sz="1100">
                <a:solidFill>
                  <a:srgbClr val="334155"/>
                </a:solidFill>
                <a:latin typeface="Malgun Gothic"/>
              </a:rPr>
              <a:t>Admins get a monthly rollup focus, so it's low-pressure.</a:t>
            </a:r>
          </a:p>
        </p:txBody>
      </p:sp>
      <p:sp>
        <p:nvSpPr>
          <p:cNvPr id="17" name="Rounded Rectangle 16"/>
          <p:cNvSpPr/>
          <p:nvPr/>
        </p:nvSpPr>
        <p:spPr>
          <a:xfrm>
            <a:off x="457200" y="5513831"/>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Coaching text is for a teacher's personal growth. We recommend using it as a support tool, not for evaluation/discipline.</a:t>
            </a:r>
          </a:p>
        </p:txBody>
      </p:sp>
      <p:sp>
        <p:nvSpPr>
          <p:cNvPr id="19" name="Rounded Rectangle 18"/>
          <p:cNvSpPr/>
          <p:nvPr/>
        </p:nvSpPr>
        <p:spPr>
          <a:xfrm>
            <a:off x="457200" y="624535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29107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For teachers whose quality score stays low, coach them together with the teacher training manual.</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teacher_aicoach.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Feature Summary · Data</a:t>
            </a:r>
          </a:p>
        </p:txBody>
      </p:sp>
      <p:sp>
        <p:nvSpPr>
          <p:cNvPr id="6" name="TextBox 5"/>
          <p:cNvSpPr txBox="1"/>
          <p:nvPr/>
        </p:nvSpPr>
        <p:spPr>
          <a:xfrm>
            <a:off x="365760" y="868680"/>
            <a:ext cx="9144000" cy="457200"/>
          </a:xfrm>
          <a:prstGeom prst="rect">
            <a:avLst/>
          </a:prstGeom>
          <a:noFill/>
        </p:spPr>
        <p:txBody>
          <a:bodyPr wrap="square" anchor="t">
            <a:spAutoFit/>
          </a:bodyPr>
          <a:lstStyle/>
          <a:p>
            <a:pPr algn="l">
              <a:lnSpc>
                <a:spcPct val="100000"/>
              </a:lnSpc>
            </a:pPr>
            <a:r>
              <a:rPr sz="2200" b="1">
                <a:solidFill>
                  <a:srgbClr val="4F46E5"/>
                </a:solidFill>
                <a:latin typeface="Malgun Gothic"/>
              </a:rPr>
              <a:t>📋 Admin Feature Categories</a:t>
            </a:r>
          </a:p>
        </p:txBody>
      </p:sp>
      <p:graphicFrame>
        <p:nvGraphicFramePr>
          <p:cNvPr id="7" name="Table 6"/>
          <p:cNvGraphicFramePr>
            <a:graphicFrameLocks noGrp="1"/>
          </p:cNvGraphicFramePr>
          <p:nvPr/>
        </p:nvGraphicFramePr>
        <p:xfrm>
          <a:off x="365760" y="1463040"/>
          <a:ext cx="11460175" cy="3657600"/>
        </p:xfrm>
        <a:graphic>
          <a:graphicData uri="http://schemas.openxmlformats.org/drawingml/2006/table">
            <a:tbl>
              <a:tblPr firstRow="1" bandRow="1">
                <a:tableStyleId>{5C22544A-7EE6-4342-B048-85BDC9FD1C3A}</a:tableStyleId>
              </a:tblPr>
              <a:tblGrid>
                <a:gridCol w="2865043"/>
                <a:gridCol w="2865043"/>
                <a:gridCol w="2865043"/>
                <a:gridCol w="2865046"/>
              </a:tblGrid>
              <a:tr h="522514">
                <a:tc>
                  <a:txBody>
                    <a:bodyPr/>
                    <a:lstStyle/>
                    <a:p>
                      <a:pPr algn="ctr"/>
                      <a:r>
                        <a:rPr sz="1300" b="1">
                          <a:solidFill>
                            <a:srgbClr val="FFFFFF"/>
                          </a:solidFill>
                          <a:latin typeface="Malgun Gothic"/>
                        </a:rPr>
                        <a:t>Category</a:t>
                      </a:r>
                    </a:p>
                  </a:txBody>
                  <a:tcPr>
                    <a:solidFill>
                      <a:srgbClr val="4F46E5"/>
                    </a:solidFill>
                  </a:tcPr>
                </a:tc>
                <a:tc>
                  <a:txBody>
                    <a:bodyPr/>
                    <a:lstStyle/>
                    <a:p>
                      <a:pPr algn="ctr"/>
                      <a:r>
                        <a:rPr sz="1300" b="1">
                          <a:solidFill>
                            <a:srgbClr val="FFFFFF"/>
                          </a:solidFill>
                          <a:latin typeface="Malgun Gothic"/>
                        </a:rPr>
                        <a:t>Key features</a:t>
                      </a:r>
                    </a:p>
                  </a:txBody>
                  <a:tcPr>
                    <a:solidFill>
                      <a:srgbClr val="4F46E5"/>
                    </a:solidFill>
                  </a:tcPr>
                </a:tc>
                <a:tc>
                  <a:txBody>
                    <a:bodyPr/>
                    <a:lstStyle/>
                    <a:p>
                      <a:pPr algn="ctr"/>
                      <a:r>
                        <a:rPr sz="1300" b="1">
                          <a:solidFill>
                            <a:srgbClr val="FFFFFF"/>
                          </a:solidFill>
                          <a:latin typeface="Malgun Gothic"/>
                        </a:rPr>
                        <a:t>Count (ex.)</a:t>
                      </a:r>
                    </a:p>
                  </a:txBody>
                  <a:tcPr>
                    <a:solidFill>
                      <a:srgbClr val="4F46E5"/>
                    </a:solidFill>
                  </a:tcPr>
                </a:tc>
                <a:tc>
                  <a:txBody>
                    <a:bodyPr/>
                    <a:lstStyle/>
                    <a:p>
                      <a:pPr algn="ctr"/>
                      <a:r>
                        <a:rPr sz="1300" b="1">
                          <a:solidFill>
                            <a:srgbClr val="FFFFFF"/>
                          </a:solidFill>
                          <a:latin typeface="Malgun Gothic"/>
                        </a:rPr>
                        <a:t>Core benefit</a:t>
                      </a:r>
                    </a:p>
                  </a:txBody>
                  <a:tcPr>
                    <a:solidFill>
                      <a:srgbClr val="4F46E5"/>
                    </a:solidFill>
                  </a:tcPr>
                </a:tc>
              </a:tr>
              <a:tr h="522514">
                <a:tc>
                  <a:txBody>
                    <a:bodyPr/>
                    <a:lstStyle/>
                    <a:p>
                      <a:pPr algn="l"/>
                      <a:r>
                        <a:rPr sz="1200" b="1">
                          <a:solidFill>
                            <a:srgbClr val="334155"/>
                          </a:solidFill>
                          <a:latin typeface="Malgun Gothic"/>
                        </a:rPr>
                        <a:t>Teachers</a:t>
                      </a:r>
                    </a:p>
                  </a:txBody>
                  <a:tcPr>
                    <a:solidFill>
                      <a:srgbClr val="FFFFFF"/>
                    </a:solidFill>
                  </a:tcPr>
                </a:tc>
                <a:tc>
                  <a:txBody>
                    <a:bodyPr/>
                    <a:lstStyle/>
                    <a:p>
                      <a:pPr algn="ctr"/>
                      <a:r>
                        <a:rPr sz="1200">
                          <a:solidFill>
                            <a:srgbClr val="334155"/>
                          </a:solidFill>
                          <a:latin typeface="Malgun Gothic"/>
                        </a:rPr>
                        <a:t>Payroll·matching·reviews·MBTI</a:t>
                      </a:r>
                    </a:p>
                  </a:txBody>
                  <a:tcPr>
                    <a:solidFill>
                      <a:srgbClr val="FFFFFF"/>
                    </a:solidFill>
                  </a:tcPr>
                </a:tc>
                <a:tc>
                  <a:txBody>
                    <a:bodyPr/>
                    <a:lstStyle/>
                    <a:p>
                      <a:pPr algn="ctr"/>
                      <a:r>
                        <a:rPr sz="1200">
                          <a:solidFill>
                            <a:srgbClr val="334155"/>
                          </a:solidFill>
                          <a:latin typeface="Malgun Gothic"/>
                        </a:rPr>
                        <a:t>11</a:t>
                      </a:r>
                    </a:p>
                  </a:txBody>
                  <a:tcPr>
                    <a:solidFill>
                      <a:srgbClr val="FFFFFF"/>
                    </a:solidFill>
                  </a:tcPr>
                </a:tc>
                <a:tc>
                  <a:txBody>
                    <a:bodyPr/>
                    <a:lstStyle/>
                    <a:p>
                      <a:pPr algn="ctr"/>
                      <a:r>
                        <a:rPr sz="1200">
                          <a:solidFill>
                            <a:srgbClr val="334155"/>
                          </a:solidFill>
                          <a:latin typeface="Malgun Gothic"/>
                        </a:rPr>
                        <a:t>Efficient teacher mgmt</a:t>
                      </a:r>
                    </a:p>
                  </a:txBody>
                  <a:tcPr>
                    <a:solidFill>
                      <a:srgbClr val="FFFFFF"/>
                    </a:solidFill>
                  </a:tcPr>
                </a:tc>
              </a:tr>
              <a:tr h="522514">
                <a:tc>
                  <a:txBody>
                    <a:bodyPr/>
                    <a:lstStyle/>
                    <a:p>
                      <a:pPr algn="l"/>
                      <a:r>
                        <a:rPr sz="1200" b="1">
                          <a:solidFill>
                            <a:srgbClr val="334155"/>
                          </a:solidFill>
                          <a:latin typeface="Malgun Gothic"/>
                        </a:rPr>
                        <a:t>Accounting / Points</a:t>
                      </a:r>
                    </a:p>
                  </a:txBody>
                  <a:tcPr>
                    <a:solidFill>
                      <a:srgbClr val="F8FAFC"/>
                    </a:solidFill>
                  </a:tcPr>
                </a:tc>
                <a:tc>
                  <a:txBody>
                    <a:bodyPr/>
                    <a:lstStyle/>
                    <a:p>
                      <a:pPr algn="ctr"/>
                      <a:r>
                        <a:rPr sz="1200">
                          <a:solidFill>
                            <a:srgbClr val="334155"/>
                          </a:solidFill>
                          <a:latin typeface="Malgun Gothic"/>
                        </a:rPr>
                        <a:t>Payments·overdue·refunds·points</a:t>
                      </a:r>
                    </a:p>
                  </a:txBody>
                  <a:tcPr>
                    <a:solidFill>
                      <a:srgbClr val="F8FAFC"/>
                    </a:solidFill>
                  </a:tcPr>
                </a:tc>
                <a:tc>
                  <a:txBody>
                    <a:bodyPr/>
                    <a:lstStyle/>
                    <a:p>
                      <a:pPr algn="ctr"/>
                      <a:r>
                        <a:rPr sz="1200">
                          <a:solidFill>
                            <a:srgbClr val="334155"/>
                          </a:solidFill>
                          <a:latin typeface="Malgun Gothic"/>
                        </a:rPr>
                        <a:t>8</a:t>
                      </a:r>
                    </a:p>
                  </a:txBody>
                  <a:tcPr>
                    <a:solidFill>
                      <a:srgbClr val="F8FAFC"/>
                    </a:solidFill>
                  </a:tcPr>
                </a:tc>
                <a:tc>
                  <a:txBody>
                    <a:bodyPr/>
                    <a:lstStyle/>
                    <a:p>
                      <a:pPr algn="ctr"/>
                      <a:r>
                        <a:rPr sz="1200">
                          <a:solidFill>
                            <a:srgbClr val="334155"/>
                          </a:solidFill>
                          <a:latin typeface="Malgun Gothic"/>
                        </a:rPr>
                        <a:t>Accurate settlement</a:t>
                      </a:r>
                    </a:p>
                  </a:txBody>
                  <a:tcPr>
                    <a:solidFill>
                      <a:srgbClr val="F8FAFC"/>
                    </a:solidFill>
                  </a:tcPr>
                </a:tc>
              </a:tr>
              <a:tr h="522514">
                <a:tc>
                  <a:txBody>
                    <a:bodyPr/>
                    <a:lstStyle/>
                    <a:p>
                      <a:pPr algn="l"/>
                      <a:r>
                        <a:rPr sz="1200" b="1">
                          <a:solidFill>
                            <a:srgbClr val="334155"/>
                          </a:solidFill>
                          <a:latin typeface="Malgun Gothic"/>
                        </a:rPr>
                        <a:t>Students / Parents</a:t>
                      </a:r>
                    </a:p>
                  </a:txBody>
                  <a:tcPr>
                    <a:solidFill>
                      <a:srgbClr val="FFFFFF"/>
                    </a:solidFill>
                  </a:tcPr>
                </a:tc>
                <a:tc>
                  <a:txBody>
                    <a:bodyPr/>
                    <a:lstStyle/>
                    <a:p>
                      <a:pPr algn="ctr"/>
                      <a:r>
                        <a:rPr sz="1200">
                          <a:solidFill>
                            <a:srgbClr val="334155"/>
                          </a:solidFill>
                          <a:latin typeface="Malgun Gothic"/>
                        </a:rPr>
                        <a:t>Roster·attendance·grades·parents</a:t>
                      </a:r>
                    </a:p>
                  </a:txBody>
                  <a:tcPr>
                    <a:solidFill>
                      <a:srgbClr val="FFFFFF"/>
                    </a:solidFill>
                  </a:tcPr>
                </a:tc>
                <a:tc>
                  <a:txBody>
                    <a:bodyPr/>
                    <a:lstStyle/>
                    <a:p>
                      <a:pPr algn="ctr"/>
                      <a:r>
                        <a:rPr sz="1200">
                          <a:solidFill>
                            <a:srgbClr val="334155"/>
                          </a:solidFill>
                          <a:latin typeface="Malgun Gothic"/>
                        </a:rPr>
                        <a:t>14</a:t>
                      </a:r>
                    </a:p>
                  </a:txBody>
                  <a:tcPr>
                    <a:solidFill>
                      <a:srgbClr val="FFFFFF"/>
                    </a:solidFill>
                  </a:tcPr>
                </a:tc>
                <a:tc>
                  <a:txBody>
                    <a:bodyPr/>
                    <a:lstStyle/>
                    <a:p>
                      <a:pPr algn="ctr"/>
                      <a:r>
                        <a:rPr sz="1200">
                          <a:solidFill>
                            <a:srgbClr val="334155"/>
                          </a:solidFill>
                          <a:latin typeface="Malgun Gothic"/>
                        </a:rPr>
                        <a:t>Churn prevention</a:t>
                      </a:r>
                    </a:p>
                  </a:txBody>
                  <a:tcPr>
                    <a:solidFill>
                      <a:srgbClr val="FFFFFF"/>
                    </a:solidFill>
                  </a:tcPr>
                </a:tc>
              </a:tr>
              <a:tr h="522514">
                <a:tc>
                  <a:txBody>
                    <a:bodyPr/>
                    <a:lstStyle/>
                    <a:p>
                      <a:pPr algn="l"/>
                      <a:r>
                        <a:rPr sz="1200" b="1">
                          <a:solidFill>
                            <a:srgbClr val="334155"/>
                          </a:solidFill>
                          <a:latin typeface="Malgun Gothic"/>
                        </a:rPr>
                        <a:t>Content</a:t>
                      </a:r>
                    </a:p>
                  </a:txBody>
                  <a:tcPr>
                    <a:solidFill>
                      <a:srgbClr val="F8FAFC"/>
                    </a:solidFill>
                  </a:tcPr>
                </a:tc>
                <a:tc>
                  <a:txBody>
                    <a:bodyPr/>
                    <a:lstStyle/>
                    <a:p>
                      <a:pPr algn="ctr"/>
                      <a:r>
                        <a:rPr sz="1200">
                          <a:solidFill>
                            <a:srgbClr val="334155"/>
                          </a:solidFill>
                          <a:latin typeface="Malgun Gothic"/>
                        </a:rPr>
                        <a:t>Curriculum·textbooks·game reports</a:t>
                      </a:r>
                    </a:p>
                  </a:txBody>
                  <a:tcPr>
                    <a:solidFill>
                      <a:srgbClr val="F8FAFC"/>
                    </a:solidFill>
                  </a:tcPr>
                </a:tc>
                <a:tc>
                  <a:txBody>
                    <a:bodyPr/>
                    <a:lstStyle/>
                    <a:p>
                      <a:pPr algn="ctr"/>
                      <a:r>
                        <a:rPr sz="1200">
                          <a:solidFill>
                            <a:srgbClr val="334155"/>
                          </a:solidFill>
                          <a:latin typeface="Malgun Gothic"/>
                        </a:rPr>
                        <a:t>11</a:t>
                      </a:r>
                    </a:p>
                  </a:txBody>
                  <a:tcPr>
                    <a:solidFill>
                      <a:srgbClr val="F8FAFC"/>
                    </a:solidFill>
                  </a:tcPr>
                </a:tc>
                <a:tc>
                  <a:txBody>
                    <a:bodyPr/>
                    <a:lstStyle/>
                    <a:p>
                      <a:pPr algn="ctr"/>
                      <a:r>
                        <a:rPr sz="1200">
                          <a:solidFill>
                            <a:srgbClr val="334155"/>
                          </a:solidFill>
                          <a:latin typeface="Malgun Gothic"/>
                        </a:rPr>
                        <a:t>Learning quality ↑</a:t>
                      </a:r>
                    </a:p>
                  </a:txBody>
                  <a:tcPr>
                    <a:solidFill>
                      <a:srgbClr val="F8FAFC"/>
                    </a:solidFill>
                  </a:tcPr>
                </a:tc>
              </a:tr>
              <a:tr h="522514">
                <a:tc>
                  <a:txBody>
                    <a:bodyPr/>
                    <a:lstStyle/>
                    <a:p>
                      <a:pPr algn="l"/>
                      <a:r>
                        <a:rPr sz="1200" b="1">
                          <a:solidFill>
                            <a:srgbClr val="334155"/>
                          </a:solidFill>
                          <a:latin typeface="Malgun Gothic"/>
                        </a:rPr>
                        <a:t>System</a:t>
                      </a:r>
                    </a:p>
                  </a:txBody>
                  <a:tcPr>
                    <a:solidFill>
                      <a:srgbClr val="FFFFFF"/>
                    </a:solidFill>
                  </a:tcPr>
                </a:tc>
                <a:tc>
                  <a:txBody>
                    <a:bodyPr/>
                    <a:lstStyle/>
                    <a:p>
                      <a:pPr algn="ctr"/>
                      <a:r>
                        <a:rPr sz="1200">
                          <a:solidFill>
                            <a:srgbClr val="334155"/>
                          </a:solidFill>
                          <a:latin typeface="Malgun Gothic"/>
                        </a:rPr>
                        <a:t>Settings·permissions·logs</a:t>
                      </a:r>
                    </a:p>
                  </a:txBody>
                  <a:tcPr>
                    <a:solidFill>
                      <a:srgbClr val="FFFFFF"/>
                    </a:solidFill>
                  </a:tcPr>
                </a:tc>
                <a:tc>
                  <a:txBody>
                    <a:bodyPr/>
                    <a:lstStyle/>
                    <a:p>
                      <a:pPr algn="ctr"/>
                      <a:r>
                        <a:rPr sz="1200">
                          <a:solidFill>
                            <a:srgbClr val="334155"/>
                          </a:solidFill>
                          <a:latin typeface="Malgun Gothic"/>
                        </a:rPr>
                        <a:t>12</a:t>
                      </a:r>
                    </a:p>
                  </a:txBody>
                  <a:tcPr>
                    <a:solidFill>
                      <a:srgbClr val="FFFFFF"/>
                    </a:solidFill>
                  </a:tcPr>
                </a:tc>
                <a:tc>
                  <a:txBody>
                    <a:bodyPr/>
                    <a:lstStyle/>
                    <a:p>
                      <a:pPr algn="ctr"/>
                      <a:r>
                        <a:rPr sz="1200">
                          <a:solidFill>
                            <a:srgbClr val="334155"/>
                          </a:solidFill>
                          <a:latin typeface="Malgun Gothic"/>
                        </a:rPr>
                        <a:t>Safe operations</a:t>
                      </a:r>
                    </a:p>
                  </a:txBody>
                  <a:tcPr>
                    <a:solidFill>
                      <a:srgbClr val="FFFFFF"/>
                    </a:solidFill>
                  </a:tcPr>
                </a:tc>
              </a:tr>
              <a:tr h="522516">
                <a:tc>
                  <a:txBody>
                    <a:bodyPr/>
                    <a:lstStyle/>
                    <a:p>
                      <a:pPr algn="l"/>
                      <a:r>
                        <a:rPr sz="1200" b="1">
                          <a:solidFill>
                            <a:srgbClr val="334155"/>
                          </a:solidFill>
                          <a:latin typeface="Malgun Gothic"/>
                        </a:rPr>
                        <a:t>AI Ops Assistant</a:t>
                      </a:r>
                    </a:p>
                  </a:txBody>
                  <a:tcPr>
                    <a:solidFill>
                      <a:srgbClr val="F8FAFC"/>
                    </a:solidFill>
                  </a:tcPr>
                </a:tc>
                <a:tc>
                  <a:txBody>
                    <a:bodyPr/>
                    <a:lstStyle/>
                    <a:p>
                      <a:pPr algn="ctr"/>
                      <a:r>
                        <a:rPr sz="1200">
                          <a:solidFill>
                            <a:srgbClr val="334155"/>
                          </a:solidFill>
                          <a:latin typeface="Malgun Gothic"/>
                        </a:rPr>
                        <a:t>Look up/act by voice·text</a:t>
                      </a:r>
                    </a:p>
                  </a:txBody>
                  <a:tcPr>
                    <a:solidFill>
                      <a:srgbClr val="F8FAFC"/>
                    </a:solidFill>
                  </a:tcPr>
                </a:tc>
                <a:tc>
                  <a:txBody>
                    <a:bodyPr/>
                    <a:lstStyle/>
                    <a:p>
                      <a:pPr algn="ctr"/>
                      <a:r>
                        <a:rPr sz="1200">
                          <a:solidFill>
                            <a:srgbClr val="334155"/>
                          </a:solidFill>
                          <a:latin typeface="Malgun Gothic"/>
                        </a:rPr>
                        <a:t>-</a:t>
                      </a:r>
                    </a:p>
                  </a:txBody>
                  <a:tcPr>
                    <a:solidFill>
                      <a:srgbClr val="F8FAFC"/>
                    </a:solidFill>
                  </a:tcPr>
                </a:tc>
                <a:tc>
                  <a:txBody>
                    <a:bodyPr/>
                    <a:lstStyle/>
                    <a:p>
                      <a:pPr algn="ctr"/>
                      <a:r>
                        <a:rPr sz="1200">
                          <a:solidFill>
                            <a:srgbClr val="334155"/>
                          </a:solidFill>
                          <a:latin typeface="Malgun Gothic"/>
                        </a:rPr>
                        <a:t>Faster operations</a:t>
                      </a:r>
                    </a:p>
                  </a:txBody>
                  <a:tcPr>
                    <a:solidFill>
                      <a:srgbClr val="F8FAFC"/>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Data at a Glance</a:t>
            </a:r>
          </a:p>
        </p:txBody>
      </p:sp>
      <p:sp>
        <p:nvSpPr>
          <p:cNvPr id="6" name="TextBox 5"/>
          <p:cNvSpPr txBox="1"/>
          <p:nvPr/>
        </p:nvSpPr>
        <p:spPr>
          <a:xfrm>
            <a:off x="365760" y="868680"/>
            <a:ext cx="9144000" cy="457200"/>
          </a:xfrm>
          <a:prstGeom prst="rect">
            <a:avLst/>
          </a:prstGeom>
          <a:noFill/>
        </p:spPr>
        <p:txBody>
          <a:bodyPr wrap="square" anchor="t">
            <a:spAutoFit/>
          </a:bodyPr>
          <a:lstStyle/>
          <a:p>
            <a:pPr algn="l">
              <a:lnSpc>
                <a:spcPct val="100000"/>
              </a:lnSpc>
            </a:pPr>
            <a:r>
              <a:rPr sz="2200" b="1">
                <a:solidFill>
                  <a:srgbClr val="4F46E5"/>
                </a:solidFill>
                <a:latin typeface="Malgun Gothic"/>
              </a:rPr>
              <a:t>📊 Data at a Glance</a:t>
            </a:r>
          </a:p>
        </p:txBody>
      </p:sp>
      <p:sp>
        <p:nvSpPr>
          <p:cNvPr id="7" name="TextBox 6"/>
          <p:cNvSpPr txBox="1"/>
          <p:nvPr/>
        </p:nvSpPr>
        <p:spPr>
          <a:xfrm>
            <a:off x="45720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Features per Category</a:t>
            </a:r>
          </a:p>
        </p:txBody>
      </p:sp>
      <p:graphicFrame>
        <p:nvGraphicFramePr>
          <p:cNvPr id="8" name="Chart 7"/>
          <p:cNvGraphicFramePr>
            <a:graphicFrameLocks noGrp="1"/>
          </p:cNvGraphicFramePr>
          <p:nvPr/>
        </p:nvGraphicFramePr>
        <p:xfrm>
          <a:off x="457200" y="1920240"/>
          <a:ext cx="5486400" cy="4206240"/>
        </p:xfrm>
        <a:graphic>
          <a:graphicData uri="http://schemas.openxmlformats.org/drawingml/2006/chart">
            <c:chart xmlns:c="http://schemas.openxmlformats.org/drawingml/2006/chart" r:id="rId2"/>
          </a:graphicData>
        </a:graphic>
      </p:graphicFrame>
      <p:sp>
        <p:nvSpPr>
          <p:cNvPr id="9" name="TextBox 8"/>
          <p:cNvSpPr txBox="1"/>
          <p:nvPr/>
        </p:nvSpPr>
        <p:spPr>
          <a:xfrm>
            <a:off x="630936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Churn-risk Distribution (example)</a:t>
            </a:r>
          </a:p>
        </p:txBody>
      </p:sp>
      <p:graphicFrame>
        <p:nvGraphicFramePr>
          <p:cNvPr id="10" name="Chart 9"/>
          <p:cNvGraphicFramePr>
            <a:graphicFrameLocks noGrp="1"/>
          </p:cNvGraphicFramePr>
          <p:nvPr/>
        </p:nvGraphicFramePr>
        <p:xfrm>
          <a:off x="6309360" y="1920240"/>
          <a:ext cx="5486400" cy="4206240"/>
        </p:xfrm>
        <a:graphic>
          <a:graphicData uri="http://schemas.openxmlformats.org/drawingml/2006/chart">
            <c:chart xmlns:c="http://schemas.openxmlformats.org/drawingml/2006/chart" r:id="rId3"/>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Frequently Asked Questions (FAQ)</a:t>
            </a:r>
          </a:p>
        </p:txBody>
      </p:sp>
      <p:sp>
        <p:nvSpPr>
          <p:cNvPr id="6" name="TextBox 5"/>
          <p:cNvSpPr txBox="1"/>
          <p:nvPr/>
        </p:nvSpPr>
        <p:spPr>
          <a:xfrm>
            <a:off x="365760" y="868680"/>
            <a:ext cx="9144000" cy="457200"/>
          </a:xfrm>
          <a:prstGeom prst="rect">
            <a:avLst/>
          </a:prstGeom>
          <a:noFill/>
        </p:spPr>
        <p:txBody>
          <a:bodyPr wrap="square" anchor="t">
            <a:spAutoFit/>
          </a:bodyPr>
          <a:lstStyle/>
          <a:p>
            <a:pPr algn="l">
              <a:lnSpc>
                <a:spcPct val="100000"/>
              </a:lnSpc>
            </a:pPr>
            <a:r>
              <a:rPr sz="2200" b="1">
                <a:solidFill>
                  <a:srgbClr val="4F46E5"/>
                </a:solidFill>
                <a:latin typeface="Malgun Gothic"/>
              </a:rPr>
              <a:t>❓ Frequently Asked Questions (FAQ)</a:t>
            </a:r>
          </a:p>
        </p:txBody>
      </p:sp>
      <p:sp>
        <p:nvSpPr>
          <p:cNvPr id="7" name="Rounded Rectangle 6"/>
          <p:cNvSpPr/>
          <p:nvPr/>
        </p:nvSpPr>
        <p:spPr>
          <a:xfrm>
            <a:off x="365760" y="155448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27632"/>
            <a:ext cx="11094415" cy="365760"/>
          </a:xfrm>
          <a:prstGeom prst="rect">
            <a:avLst/>
          </a:prstGeom>
          <a:noFill/>
        </p:spPr>
        <p:txBody>
          <a:bodyPr wrap="square" anchor="t">
            <a:spAutoFit/>
          </a:bodyPr>
          <a:lstStyle/>
          <a:p>
            <a:pPr algn="l">
              <a:lnSpc>
                <a:spcPct val="100000"/>
              </a:lnSpc>
            </a:pPr>
            <a:r>
              <a:rPr sz="1350" b="1">
                <a:solidFill>
                  <a:srgbClr val="4F46E5"/>
                </a:solidFill>
                <a:latin typeface="Malgun Gothic"/>
              </a:rPr>
              <a:t>Q. Where do I log in?</a:t>
            </a:r>
          </a:p>
        </p:txBody>
      </p:sp>
      <p:sp>
        <p:nvSpPr>
          <p:cNvPr id="9" name="TextBox 8"/>
          <p:cNvSpPr txBox="1"/>
          <p:nvPr/>
        </p:nvSpPr>
        <p:spPr>
          <a:xfrm>
            <a:off x="548640" y="196596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Log in at admin.mangoi.co.kr. Phone, tablet and PC all connect right from the web.</a:t>
            </a:r>
          </a:p>
        </p:txBody>
      </p:sp>
      <p:sp>
        <p:nvSpPr>
          <p:cNvPr id="10" name="Rounded Rectangle 9"/>
          <p:cNvSpPr/>
          <p:nvPr/>
        </p:nvSpPr>
        <p:spPr>
          <a:xfrm>
            <a:off x="365760" y="2542032"/>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615184"/>
            <a:ext cx="11094415" cy="365760"/>
          </a:xfrm>
          <a:prstGeom prst="rect">
            <a:avLst/>
          </a:prstGeom>
          <a:noFill/>
        </p:spPr>
        <p:txBody>
          <a:bodyPr wrap="square" anchor="t">
            <a:spAutoFit/>
          </a:bodyPr>
          <a:lstStyle/>
          <a:p>
            <a:pPr algn="l">
              <a:lnSpc>
                <a:spcPct val="100000"/>
              </a:lnSpc>
            </a:pPr>
            <a:r>
              <a:rPr sz="1350" b="1">
                <a:solidFill>
                  <a:srgbClr val="4F46E5"/>
                </a:solidFill>
                <a:latin typeface="Malgun Gothic"/>
              </a:rPr>
              <a:t>Q. I can't see a feature.</a:t>
            </a:r>
          </a:p>
        </p:txBody>
      </p:sp>
      <p:sp>
        <p:nvSpPr>
          <p:cNvPr id="12" name="TextBox 11"/>
          <p:cNvSpPr txBox="1"/>
          <p:nvPr/>
        </p:nvSpPr>
        <p:spPr>
          <a:xfrm>
            <a:off x="548640" y="2953512"/>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Menus vary by role. Use the top feature search or ask the AI assistant by name.</a:t>
            </a:r>
          </a:p>
        </p:txBody>
      </p:sp>
      <p:sp>
        <p:nvSpPr>
          <p:cNvPr id="13" name="Rounded Rectangle 12"/>
          <p:cNvSpPr/>
          <p:nvPr/>
        </p:nvSpPr>
        <p:spPr>
          <a:xfrm>
            <a:off x="365760" y="3529584"/>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602736"/>
            <a:ext cx="11094415" cy="365760"/>
          </a:xfrm>
          <a:prstGeom prst="rect">
            <a:avLst/>
          </a:prstGeom>
          <a:noFill/>
        </p:spPr>
        <p:txBody>
          <a:bodyPr wrap="square" anchor="t">
            <a:spAutoFit/>
          </a:bodyPr>
          <a:lstStyle/>
          <a:p>
            <a:pPr algn="l">
              <a:lnSpc>
                <a:spcPct val="100000"/>
              </a:lnSpc>
            </a:pPr>
            <a:r>
              <a:rPr sz="1350" b="1">
                <a:solidFill>
                  <a:srgbClr val="4F46E5"/>
                </a:solidFill>
                <a:latin typeface="Malgun Gothic"/>
              </a:rPr>
              <a:t>Q. A student can't enter a lesson.</a:t>
            </a:r>
          </a:p>
        </p:txBody>
      </p:sp>
      <p:sp>
        <p:nvSpPr>
          <p:cNvPr id="15" name="TextBox 14"/>
          <p:cNvSpPr txBox="1"/>
          <p:nvPr/>
        </p:nvSpPr>
        <p:spPr>
          <a:xfrm>
            <a:off x="548640" y="3941064"/>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Usually a browser permission issue. Advise reconnecting in Chrome/Edge and allowing camera/mic. Inside KakaoTalk, open in an external browser.</a:t>
            </a:r>
          </a:p>
        </p:txBody>
      </p:sp>
      <p:sp>
        <p:nvSpPr>
          <p:cNvPr id="16" name="Rounded Rectangle 15"/>
          <p:cNvSpPr/>
          <p:nvPr/>
        </p:nvSpPr>
        <p:spPr>
          <a:xfrm>
            <a:off x="365760" y="4517136"/>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590288"/>
            <a:ext cx="11094415" cy="365760"/>
          </a:xfrm>
          <a:prstGeom prst="rect">
            <a:avLst/>
          </a:prstGeom>
          <a:noFill/>
        </p:spPr>
        <p:txBody>
          <a:bodyPr wrap="square" anchor="t">
            <a:spAutoFit/>
          </a:bodyPr>
          <a:lstStyle/>
          <a:p>
            <a:pPr algn="l">
              <a:lnSpc>
                <a:spcPct val="100000"/>
              </a:lnSpc>
            </a:pPr>
            <a:r>
              <a:rPr sz="1350" b="1">
                <a:solidFill>
                  <a:srgbClr val="4F46E5"/>
                </a:solidFill>
                <a:latin typeface="Malgun Gothic"/>
              </a:rPr>
              <a:t>Q. Does the AI assistant execute tasks?</a:t>
            </a:r>
          </a:p>
        </p:txBody>
      </p:sp>
      <p:sp>
        <p:nvSpPr>
          <p:cNvPr id="18" name="TextBox 17"/>
          <p:cNvSpPr txBox="1"/>
          <p:nvPr/>
        </p:nvSpPr>
        <p:spPr>
          <a:xfrm>
            <a:off x="548640" y="4928616"/>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Look-ups happen instantly; important actions are confirmed with 'Shall I?' It only does what you have permission for.</a:t>
            </a:r>
          </a:p>
        </p:txBody>
      </p:sp>
      <p:sp>
        <p:nvSpPr>
          <p:cNvPr id="19" name="Rounded Rectangle 18"/>
          <p:cNvSpPr/>
          <p:nvPr/>
        </p:nvSpPr>
        <p:spPr>
          <a:xfrm>
            <a:off x="365760" y="5504688"/>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5577840"/>
            <a:ext cx="11094415" cy="365760"/>
          </a:xfrm>
          <a:prstGeom prst="rect">
            <a:avLst/>
          </a:prstGeom>
          <a:noFill/>
        </p:spPr>
        <p:txBody>
          <a:bodyPr wrap="square" anchor="t">
            <a:spAutoFit/>
          </a:bodyPr>
          <a:lstStyle/>
          <a:p>
            <a:pPr algn="l">
              <a:lnSpc>
                <a:spcPct val="100000"/>
              </a:lnSpc>
            </a:pPr>
            <a:r>
              <a:rPr sz="1350" b="1">
                <a:solidFill>
                  <a:srgbClr val="4F46E5"/>
                </a:solidFill>
                <a:latin typeface="Malgun Gothic"/>
              </a:rPr>
              <a:t>Q. Refund math is confusing.</a:t>
            </a:r>
          </a:p>
        </p:txBody>
      </p:sp>
      <p:sp>
        <p:nvSpPr>
          <p:cNvPr id="21" name="TextBox 20"/>
          <p:cNvSpPr txBox="1"/>
          <p:nvPr/>
        </p:nvSpPr>
        <p:spPr>
          <a:xfrm>
            <a:off x="548640" y="5916168"/>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It's auto-calculated by the refund table; discounted payments are recalculated at list price.</a:t>
            </a:r>
          </a:p>
        </p:txBody>
      </p:sp>
      <p:sp>
        <p:nvSpPr>
          <p:cNvPr id="22" name="Rounded Rectangle 21"/>
          <p:cNvSpPr/>
          <p:nvPr/>
        </p:nvSpPr>
        <p:spPr>
          <a:xfrm>
            <a:off x="365760" y="649224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6565392"/>
            <a:ext cx="11094415" cy="365760"/>
          </a:xfrm>
          <a:prstGeom prst="rect">
            <a:avLst/>
          </a:prstGeom>
          <a:noFill/>
        </p:spPr>
        <p:txBody>
          <a:bodyPr wrap="square" anchor="t">
            <a:spAutoFit/>
          </a:bodyPr>
          <a:lstStyle/>
          <a:p>
            <a:pPr algn="l">
              <a:lnSpc>
                <a:spcPct val="100000"/>
              </a:lnSpc>
            </a:pPr>
            <a:r>
              <a:rPr sz="1350" b="1">
                <a:solidFill>
                  <a:srgbClr val="4F46E5"/>
                </a:solidFill>
                <a:latin typeface="Malgun Gothic"/>
              </a:rPr>
              <a:t>Q. I'm worried about churn.</a:t>
            </a:r>
          </a:p>
        </p:txBody>
      </p:sp>
      <p:sp>
        <p:nvSpPr>
          <p:cNvPr id="24" name="TextBox 23"/>
          <p:cNvSpPr txBox="1"/>
          <p:nvPr/>
        </p:nvSpPr>
        <p:spPr>
          <a:xfrm>
            <a:off x="548640" y="690372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Find at-risk students early with the Retention Center's churn-risk/contagion network and intervene via alert-talk/counseling.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EF2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Checklist</a:t>
            </a:r>
          </a:p>
        </p:txBody>
      </p:sp>
      <p:sp>
        <p:nvSpPr>
          <p:cNvPr id="6" name="TextBox 5"/>
          <p:cNvSpPr txBox="1"/>
          <p:nvPr/>
        </p:nvSpPr>
        <p:spPr>
          <a:xfrm>
            <a:off x="365760" y="868680"/>
            <a:ext cx="9144000" cy="457200"/>
          </a:xfrm>
          <a:prstGeom prst="rect">
            <a:avLst/>
          </a:prstGeom>
          <a:noFill/>
        </p:spPr>
        <p:txBody>
          <a:bodyPr wrap="square" anchor="t">
            <a:spAutoFit/>
          </a:bodyPr>
          <a:lstStyle/>
          <a:p>
            <a:pPr algn="l">
              <a:lnSpc>
                <a:spcPct val="100000"/>
              </a:lnSpc>
            </a:pPr>
            <a:r>
              <a:rPr sz="2200" b="1">
                <a:solidFill>
                  <a:srgbClr val="4F46E5"/>
                </a:solidFill>
                <a:latin typeface="Malgun Gothic"/>
              </a:rPr>
              <a:t>✅ Daily Operations Checklist</a:t>
            </a:r>
          </a:p>
        </p:txBody>
      </p:sp>
      <p:sp>
        <p:nvSpPr>
          <p:cNvPr id="7" name="Rounded Rectangle 6"/>
          <p:cNvSpPr/>
          <p:nvPr/>
        </p:nvSpPr>
        <p:spPr>
          <a:xfrm>
            <a:off x="457200" y="1645920"/>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58191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check today's revenue, enrollment and attendance?</a:t>
            </a:r>
          </a:p>
        </p:txBody>
      </p:sp>
      <p:sp>
        <p:nvSpPr>
          <p:cNvPr id="9" name="Rounded Rectangle 8"/>
          <p:cNvSpPr/>
          <p:nvPr/>
        </p:nvSpPr>
        <p:spPr>
          <a:xfrm>
            <a:off x="457200" y="2212848"/>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14884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handle new counseling/inquiries?</a:t>
            </a:r>
          </a:p>
        </p:txBody>
      </p:sp>
      <p:sp>
        <p:nvSpPr>
          <p:cNvPr id="11" name="Rounded Rectangle 10"/>
          <p:cNvSpPr/>
          <p:nvPr/>
        </p:nvSpPr>
        <p:spPr>
          <a:xfrm>
            <a:off x="457200" y="2779776"/>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71576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check overdue and refund items?</a:t>
            </a:r>
          </a:p>
        </p:txBody>
      </p:sp>
      <p:sp>
        <p:nvSpPr>
          <p:cNvPr id="13" name="Rounded Rectangle 12"/>
          <p:cNvSpPr/>
          <p:nvPr/>
        </p:nvSpPr>
        <p:spPr>
          <a:xfrm>
            <a:off x="457200" y="3346704"/>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282696"/>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check the live (LIVE) lesson status?</a:t>
            </a:r>
          </a:p>
        </p:txBody>
      </p:sp>
      <p:sp>
        <p:nvSpPr>
          <p:cNvPr id="15" name="Rounded Rectangle 14"/>
          <p:cNvSpPr/>
          <p:nvPr/>
        </p:nvSpPr>
        <p:spPr>
          <a:xfrm>
            <a:off x="457200" y="3913632"/>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849624"/>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care for students whose churn risk rose?</a:t>
            </a:r>
          </a:p>
        </p:txBody>
      </p:sp>
      <p:sp>
        <p:nvSpPr>
          <p:cNvPr id="17" name="Rounded Rectangle 16"/>
          <p:cNvSpPr/>
          <p:nvPr/>
        </p:nvSpPr>
        <p:spPr>
          <a:xfrm>
            <a:off x="457200" y="4480560"/>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41655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reflect teacher reviews/coaching feedback?</a:t>
            </a:r>
          </a:p>
        </p:txBody>
      </p:sp>
      <p:sp>
        <p:nvSpPr>
          <p:cNvPr id="19" name="Rounded Rectangle 18"/>
          <p:cNvSpPr/>
          <p:nvPr/>
        </p:nvSpPr>
        <p:spPr>
          <a:xfrm>
            <a:off x="457200" y="5047488"/>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98348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add repeat questions to the FAQ?</a:t>
            </a:r>
          </a:p>
        </p:txBody>
      </p:sp>
      <p:pic>
        <p:nvPicPr>
          <p:cNvPr id="21" name="Picture 20" descr="mango_char.png"/>
          <p:cNvPicPr>
            <a:picLocks noChangeAspect="1"/>
          </p:cNvPicPr>
          <p:nvPr/>
        </p:nvPicPr>
        <p:blipFill>
          <a:blip r:embed="rId2"/>
          <a:stretch>
            <a:fillRect/>
          </a:stretch>
        </p:blipFill>
        <p:spPr>
          <a:xfrm>
            <a:off x="9153162" y="4480559"/>
            <a:ext cx="2489892" cy="201168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Conclusion</a:t>
            </a:r>
          </a:p>
        </p:txBody>
      </p:sp>
      <p:sp>
        <p:nvSpPr>
          <p:cNvPr id="6" name="TextBox 5"/>
          <p:cNvSpPr txBox="1"/>
          <p:nvPr/>
        </p:nvSpPr>
        <p:spPr>
          <a:xfrm>
            <a:off x="365760" y="822960"/>
            <a:ext cx="11430000" cy="457200"/>
          </a:xfrm>
          <a:prstGeom prst="rect">
            <a:avLst/>
          </a:prstGeom>
          <a:noFill/>
        </p:spPr>
        <p:txBody>
          <a:bodyPr wrap="square" anchor="t">
            <a:spAutoFit/>
          </a:bodyPr>
          <a:lstStyle/>
          <a:p>
            <a:pPr algn="l">
              <a:lnSpc>
                <a:spcPct val="100000"/>
              </a:lnSpc>
            </a:pPr>
            <a:r>
              <a:rPr sz="2100" b="1">
                <a:solidFill>
                  <a:srgbClr val="4F46E5"/>
                </a:solidFill>
                <a:latin typeface="Malgun Gothic"/>
              </a:rPr>
              <a:t>🏁 Conclusion · A Practical Guide to Stable Academy Operations</a:t>
            </a:r>
          </a:p>
        </p:txBody>
      </p:sp>
      <p:sp>
        <p:nvSpPr>
          <p:cNvPr id="7" name="Rounded Rectangle 6"/>
          <p:cNvSpPr/>
          <p:nvPr/>
        </p:nvSpPr>
        <p:spPr>
          <a:xfrm>
            <a:off x="365760" y="1371600"/>
            <a:ext cx="11430000" cy="86868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26464"/>
            <a:ext cx="11064240" cy="777240"/>
          </a:xfrm>
          <a:prstGeom prst="rect">
            <a:avLst/>
          </a:prstGeom>
          <a:noFill/>
        </p:spPr>
        <p:txBody>
          <a:bodyPr wrap="square" anchor="t">
            <a:spAutoFit/>
          </a:bodyPr>
          <a:lstStyle/>
          <a:p>
            <a:pPr algn="l">
              <a:lnSpc>
                <a:spcPct val="115000"/>
              </a:lnSpc>
            </a:pPr>
            <a:r>
              <a:rPr sz="1150" b="0">
                <a:solidFill>
                  <a:srgbClr val="334155"/>
                </a:solidFill>
                <a:latin typeface="Malgun Gothic"/>
              </a:rPr>
              <a:t>You've now reviewed every feature of the admin page. Finally, here's one page on how a day of operations flows and the principles to keep for stable running. Keep just this rhythm and operations get much lighter.</a:t>
            </a:r>
          </a:p>
        </p:txBody>
      </p:sp>
      <p:sp>
        <p:nvSpPr>
          <p:cNvPr id="9" name="TextBox 8"/>
          <p:cNvSpPr txBox="1"/>
          <p:nvPr/>
        </p:nvSpPr>
        <p:spPr>
          <a:xfrm>
            <a:off x="457200" y="2423160"/>
            <a:ext cx="5760720" cy="320040"/>
          </a:xfrm>
          <a:prstGeom prst="rect">
            <a:avLst/>
          </a:prstGeom>
          <a:noFill/>
        </p:spPr>
        <p:txBody>
          <a:bodyPr wrap="square" anchor="t">
            <a:spAutoFit/>
          </a:bodyPr>
          <a:lstStyle/>
          <a:p>
            <a:pPr algn="l">
              <a:lnSpc>
                <a:spcPct val="100000"/>
              </a:lnSpc>
            </a:pPr>
            <a:r>
              <a:rPr sz="1350" b="1">
                <a:solidFill>
                  <a:srgbClr val="4F46E5"/>
                </a:solidFill>
                <a:latin typeface="Malgun Gothic"/>
              </a:rPr>
              <a:t>🔄 The Flow at a Glance</a:t>
            </a:r>
          </a:p>
        </p:txBody>
      </p:sp>
      <p:sp>
        <p:nvSpPr>
          <p:cNvPr id="10" name="Rounded Rectangle 9"/>
          <p:cNvSpPr/>
          <p:nvPr/>
        </p:nvSpPr>
        <p:spPr>
          <a:xfrm>
            <a:off x="457200" y="2788920"/>
            <a:ext cx="1600200" cy="384048"/>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7889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Morning (5 min)</a:t>
            </a:r>
          </a:p>
        </p:txBody>
      </p:sp>
      <p:sp>
        <p:nvSpPr>
          <p:cNvPr id="12" name="TextBox 11"/>
          <p:cNvSpPr txBox="1"/>
          <p:nvPr/>
        </p:nvSpPr>
        <p:spPr>
          <a:xfrm>
            <a:off x="2148840" y="27706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Check today's revenue, enrollment and attendance on the dashboard; read the AI insight summary</a:t>
            </a:r>
          </a:p>
        </p:txBody>
      </p:sp>
      <p:sp>
        <p:nvSpPr>
          <p:cNvPr id="13" name="Rounded Rectangle 12"/>
          <p:cNvSpPr/>
          <p:nvPr/>
        </p:nvSpPr>
        <p:spPr>
          <a:xfrm>
            <a:off x="457200" y="3246120"/>
            <a:ext cx="1600200" cy="384048"/>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2461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Late morning</a:t>
            </a:r>
          </a:p>
        </p:txBody>
      </p:sp>
      <p:sp>
        <p:nvSpPr>
          <p:cNvPr id="15" name="TextBox 14"/>
          <p:cNvSpPr txBox="1"/>
          <p:nvPr/>
        </p:nvSpPr>
        <p:spPr>
          <a:xfrm>
            <a:off x="2148840" y="32278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Handle new counseling/inquiries; check overdue/refund items and send alert-talk</a:t>
            </a:r>
          </a:p>
        </p:txBody>
      </p:sp>
      <p:sp>
        <p:nvSpPr>
          <p:cNvPr id="16" name="Rounded Rectangle 15"/>
          <p:cNvSpPr/>
          <p:nvPr/>
        </p:nvSpPr>
        <p:spPr>
          <a:xfrm>
            <a:off x="457200" y="3703320"/>
            <a:ext cx="1600200" cy="384048"/>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7033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Class hours</a:t>
            </a:r>
          </a:p>
        </p:txBody>
      </p:sp>
      <p:sp>
        <p:nvSpPr>
          <p:cNvPr id="18" name="TextBox 17"/>
          <p:cNvSpPr txBox="1"/>
          <p:nvPr/>
        </p:nvSpPr>
        <p:spPr>
          <a:xfrm>
            <a:off x="2148840" y="36850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Monitor live (LIVE) lessons; for 'can't enter' tickets, guide browser/permission first</a:t>
            </a:r>
          </a:p>
        </p:txBody>
      </p:sp>
      <p:sp>
        <p:nvSpPr>
          <p:cNvPr id="19" name="Rounded Rectangle 18"/>
          <p:cNvSpPr/>
          <p:nvPr/>
        </p:nvSpPr>
        <p:spPr>
          <a:xfrm>
            <a:off x="457200" y="4160520"/>
            <a:ext cx="1600200" cy="384048"/>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41605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Afternoon</a:t>
            </a:r>
          </a:p>
        </p:txBody>
      </p:sp>
      <p:sp>
        <p:nvSpPr>
          <p:cNvPr id="21" name="TextBox 20"/>
          <p:cNvSpPr txBox="1"/>
          <p:nvPr/>
        </p:nvSpPr>
        <p:spPr>
          <a:xfrm>
            <a:off x="2148840" y="41422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Care for at-risk students in the 🧲 Retention Center; reflect teacher reviews/coaching</a:t>
            </a:r>
          </a:p>
        </p:txBody>
      </p:sp>
      <p:sp>
        <p:nvSpPr>
          <p:cNvPr id="22" name="Rounded Rectangle 21"/>
          <p:cNvSpPr/>
          <p:nvPr/>
        </p:nvSpPr>
        <p:spPr>
          <a:xfrm>
            <a:off x="457200" y="4617720"/>
            <a:ext cx="1600200" cy="384048"/>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6177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Weekly · Monthly</a:t>
            </a:r>
          </a:p>
        </p:txBody>
      </p:sp>
      <p:sp>
        <p:nvSpPr>
          <p:cNvPr id="24" name="TextBox 23"/>
          <p:cNvSpPr txBox="1"/>
          <p:nvPr/>
        </p:nvSpPr>
        <p:spPr>
          <a:xfrm>
            <a:off x="2148840" y="45994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Distribute org settlement/monthly reports, check points/rewards (shop/gifts), improve the FAQ</a:t>
            </a:r>
          </a:p>
        </p:txBody>
      </p:sp>
      <p:sp>
        <p:nvSpPr>
          <p:cNvPr id="25" name="TextBox 24"/>
          <p:cNvSpPr txBox="1"/>
          <p:nvPr/>
        </p:nvSpPr>
        <p:spPr>
          <a:xfrm>
            <a:off x="6400800" y="2423160"/>
            <a:ext cx="5486400" cy="320040"/>
          </a:xfrm>
          <a:prstGeom prst="rect">
            <a:avLst/>
          </a:prstGeom>
          <a:noFill/>
        </p:spPr>
        <p:txBody>
          <a:bodyPr wrap="square" anchor="t">
            <a:spAutoFit/>
          </a:bodyPr>
          <a:lstStyle/>
          <a:p>
            <a:pPr algn="l">
              <a:lnSpc>
                <a:spcPct val="100000"/>
              </a:lnSpc>
            </a:pPr>
            <a:r>
              <a:rPr sz="1350" b="1">
                <a:solidFill>
                  <a:srgbClr val="4F46E5"/>
                </a:solidFill>
                <a:latin typeface="Malgun Gothic"/>
              </a:rPr>
              <a:t>⭐ Key Principles</a:t>
            </a:r>
          </a:p>
        </p:txBody>
      </p:sp>
      <p:sp>
        <p:nvSpPr>
          <p:cNvPr id="26" name="TextBox 25"/>
          <p:cNvSpPr txBox="1"/>
          <p:nvPr/>
        </p:nvSpPr>
        <p:spPr>
          <a:xfrm>
            <a:off x="6400800" y="2788920"/>
            <a:ext cx="5394960" cy="2103120"/>
          </a:xfrm>
          <a:prstGeom prst="rect">
            <a:avLst/>
          </a:prstGeom>
          <a:noFill/>
        </p:spPr>
        <p:txBody>
          <a:bodyPr wrap="square">
            <a:spAutoFit/>
          </a:bodyPr>
          <a:lstStyle/>
          <a:p>
            <a:pPr>
              <a:lnSpc>
                <a:spcPct val="115000"/>
              </a:lnSpc>
              <a:spcAft>
                <a:spcPts val="500"/>
              </a:spcAft>
            </a:pPr>
            <a:r>
              <a:rPr sz="900" b="1">
                <a:solidFill>
                  <a:srgbClr val="4F46E5"/>
                </a:solidFill>
                <a:latin typeface="Malgun Gothic"/>
              </a:rPr>
              <a:t>● </a:t>
            </a:r>
            <a:r>
              <a:rPr sz="1100">
                <a:solidFill>
                  <a:srgbClr val="334155"/>
                </a:solidFill>
                <a:latin typeface="Malgun Gothic"/>
              </a:rPr>
              <a:t>Metrics, 5 minutes each morning — catching revenue/attendance signals early makes response easy.</a:t>
            </a:r>
          </a:p>
          <a:p>
            <a:pPr>
              <a:lnSpc>
                <a:spcPct val="115000"/>
              </a:lnSpc>
              <a:spcAft>
                <a:spcPts val="500"/>
              </a:spcAft>
            </a:pPr>
            <a:r>
              <a:rPr sz="900" b="1">
                <a:solidFill>
                  <a:srgbClr val="4F46E5"/>
                </a:solidFill>
                <a:latin typeface="Malgun Gothic"/>
              </a:rPr>
              <a:t>● </a:t>
            </a:r>
            <a:r>
              <a:rPr sz="1100">
                <a:solidFill>
                  <a:srgbClr val="334155"/>
                </a:solidFill>
                <a:latin typeface="Malgun Gothic"/>
              </a:rPr>
              <a:t>Intervene on churn early — the sooner you care for at-risk students, the higher retention.</a:t>
            </a:r>
          </a:p>
          <a:p>
            <a:pPr>
              <a:lnSpc>
                <a:spcPct val="115000"/>
              </a:lnSpc>
              <a:spcAft>
                <a:spcPts val="500"/>
              </a:spcAft>
            </a:pPr>
            <a:r>
              <a:rPr sz="900" b="1">
                <a:solidFill>
                  <a:srgbClr val="4F46E5"/>
                </a:solidFill>
                <a:latin typeface="Malgun Gothic"/>
              </a:rPr>
              <a:t>● </a:t>
            </a:r>
            <a:r>
              <a:rPr sz="1100">
                <a:solidFill>
                  <a:srgbClr val="334155"/>
                </a:solidFill>
                <a:latin typeface="Malgun Gothic"/>
              </a:rPr>
              <a:t>Announce policies upfront — sharing refund/postpone policies at signup greatly cuts disputes.</a:t>
            </a:r>
          </a:p>
          <a:p>
            <a:pPr>
              <a:lnSpc>
                <a:spcPct val="115000"/>
              </a:lnSpc>
              <a:spcAft>
                <a:spcPts val="500"/>
              </a:spcAft>
            </a:pPr>
            <a:r>
              <a:rPr sz="900" b="1">
                <a:solidFill>
                  <a:srgbClr val="4F46E5"/>
                </a:solidFill>
                <a:latin typeface="Malgun Gothic"/>
              </a:rPr>
              <a:t>● </a:t>
            </a:r>
            <a:r>
              <a:rPr sz="1100">
                <a:solidFill>
                  <a:srgbClr val="334155"/>
                </a:solidFill>
                <a:latin typeface="Malgun Gothic"/>
              </a:rPr>
              <a:t>Turn repeats into FAQ — make frequent questions into an FAQ with screenshots.</a:t>
            </a:r>
          </a:p>
          <a:p>
            <a:pPr>
              <a:lnSpc>
                <a:spcPct val="115000"/>
              </a:lnSpc>
              <a:spcAft>
                <a:spcPts val="500"/>
              </a:spcAft>
            </a:pPr>
            <a:r>
              <a:rPr sz="900" b="1">
                <a:solidFill>
                  <a:srgbClr val="4F46E5"/>
                </a:solidFill>
                <a:latin typeface="Malgun Gothic"/>
              </a:rPr>
              <a:t>● </a:t>
            </a:r>
            <a:r>
              <a:rPr sz="1100">
                <a:solidFill>
                  <a:srgbClr val="334155"/>
                </a:solidFill>
                <a:latin typeface="Malgun Gothic"/>
              </a:rPr>
              <a:t>Decide with data — judge and improve by metrics/graphs, not gut feeling.</a:t>
            </a:r>
          </a:p>
        </p:txBody>
      </p:sp>
      <p:sp>
        <p:nvSpPr>
          <p:cNvPr id="27" name="TextBox 26"/>
          <p:cNvSpPr txBox="1"/>
          <p:nvPr/>
        </p:nvSpPr>
        <p:spPr>
          <a:xfrm>
            <a:off x="6400800" y="4892040"/>
            <a:ext cx="5486400" cy="320040"/>
          </a:xfrm>
          <a:prstGeom prst="rect">
            <a:avLst/>
          </a:prstGeom>
          <a:noFill/>
        </p:spPr>
        <p:txBody>
          <a:bodyPr wrap="square" anchor="t">
            <a:spAutoFit/>
          </a:bodyPr>
          <a:lstStyle/>
          <a:p>
            <a:pPr algn="l">
              <a:lnSpc>
                <a:spcPct val="100000"/>
              </a:lnSpc>
            </a:pPr>
            <a:r>
              <a:rPr sz="1350" b="1">
                <a:solidFill>
                  <a:srgbClr val="4F46E5"/>
                </a:solidFill>
                <a:latin typeface="Malgun Gothic"/>
              </a:rPr>
              <a:t>📌 Remember</a:t>
            </a:r>
          </a:p>
        </p:txBody>
      </p:sp>
      <p:sp>
        <p:nvSpPr>
          <p:cNvPr id="28" name="TextBox 27"/>
          <p:cNvSpPr txBox="1"/>
          <p:nvPr/>
        </p:nvSpPr>
        <p:spPr>
          <a:xfrm>
            <a:off x="6400800" y="5257800"/>
            <a:ext cx="5394960" cy="1645920"/>
          </a:xfrm>
          <a:prstGeom prst="rect">
            <a:avLst/>
          </a:prstGeom>
          <a:noFill/>
        </p:spPr>
        <p:txBody>
          <a:bodyPr wrap="square">
            <a:spAutoFit/>
          </a:bodyPr>
          <a:lstStyle/>
          <a:p>
            <a:pPr>
              <a:lnSpc>
                <a:spcPct val="115000"/>
              </a:lnSpc>
              <a:spcAft>
                <a:spcPts val="400"/>
              </a:spcAft>
            </a:pPr>
            <a:r>
              <a:rPr sz="850" b="1">
                <a:solidFill>
                  <a:srgbClr val="FF9F1C"/>
                </a:solidFill>
                <a:latin typeface="Malgun Gothic"/>
              </a:rPr>
              <a:t>● </a:t>
            </a:r>
            <a:r>
              <a:rPr sz="1050">
                <a:solidFill>
                  <a:srgbClr val="334155"/>
                </a:solidFill>
                <a:latin typeface="Malgun Gothic"/>
              </a:rPr>
              <a:t>Log in at admin.mangoi.co.kr; menus and data scope change by role (permissions)</a:t>
            </a:r>
          </a:p>
          <a:p>
            <a:pPr>
              <a:lnSpc>
                <a:spcPct val="115000"/>
              </a:lnSpc>
              <a:spcAft>
                <a:spcPts val="400"/>
              </a:spcAft>
            </a:pPr>
            <a:r>
              <a:rPr sz="850" b="1">
                <a:solidFill>
                  <a:srgbClr val="FF9F1C"/>
                </a:solidFill>
                <a:latin typeface="Malgun Gothic"/>
              </a:rPr>
              <a:t>● </a:t>
            </a:r>
            <a:r>
              <a:rPr sz="1050">
                <a:solidFill>
                  <a:srgbClr val="334155"/>
                </a:solidFill>
                <a:latin typeface="Malgun Gothic"/>
              </a:rPr>
              <a:t>The AI assistant looks up instantly, confirms important actions, and only does what you're permitted</a:t>
            </a:r>
          </a:p>
          <a:p>
            <a:pPr>
              <a:lnSpc>
                <a:spcPct val="115000"/>
              </a:lnSpc>
              <a:spcAft>
                <a:spcPts val="400"/>
              </a:spcAft>
            </a:pPr>
            <a:r>
              <a:rPr sz="850" b="1">
                <a:solidFill>
                  <a:srgbClr val="FF9F1C"/>
                </a:solidFill>
                <a:latin typeface="Malgun Gothic"/>
              </a:rPr>
              <a:t>● </a:t>
            </a:r>
            <a:r>
              <a:rPr sz="1050">
                <a:solidFill>
                  <a:srgbClr val="334155"/>
                </a:solidFill>
                <a:latin typeface="Malgun Gothic"/>
              </a:rPr>
              <a:t>Most 'can't enter class' tickets are browser and camera/mic permission issues</a:t>
            </a:r>
          </a:p>
          <a:p>
            <a:pPr>
              <a:lnSpc>
                <a:spcPct val="115000"/>
              </a:lnSpc>
              <a:spcAft>
                <a:spcPts val="400"/>
              </a:spcAft>
            </a:pPr>
            <a:r>
              <a:rPr sz="850" b="1">
                <a:solidFill>
                  <a:srgbClr val="FF9F1C"/>
                </a:solidFill>
                <a:latin typeface="Malgun Gothic"/>
              </a:rPr>
              <a:t>● </a:t>
            </a:r>
            <a:r>
              <a:rPr sz="1050">
                <a:solidFill>
                  <a:srgbClr val="334155"/>
                </a:solidFill>
                <a:latin typeface="Malgun Gothic"/>
              </a:rPr>
              <a:t>Praise points → student total → shop/gifts; the policy and rewards are the admin's job</a:t>
            </a:r>
          </a:p>
        </p:txBody>
      </p:sp>
      <p:sp>
        <p:nvSpPr>
          <p:cNvPr id="29" name="Rounded Rectangle 28"/>
          <p:cNvSpPr/>
          <p:nvPr/>
        </p:nvSpPr>
        <p:spPr>
          <a:xfrm>
            <a:off x="457200" y="6172200"/>
            <a:ext cx="11338560" cy="566928"/>
          </a:xfrm>
          <a:prstGeom prst="roundRect">
            <a:avLst/>
          </a:prstGeom>
          <a:solidFill>
            <a:srgbClr val="EEF2FF"/>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208776"/>
            <a:ext cx="10972800" cy="502920"/>
          </a:xfrm>
          <a:prstGeom prst="rect">
            <a:avLst/>
          </a:prstGeom>
          <a:noFill/>
        </p:spPr>
        <p:txBody>
          <a:bodyPr wrap="square" anchor="t">
            <a:spAutoFit/>
          </a:bodyPr>
          <a:lstStyle/>
          <a:p>
            <a:pPr algn="l">
              <a:lnSpc>
                <a:spcPct val="102000"/>
              </a:lnSpc>
            </a:pPr>
            <a:r>
              <a:rPr sz="1000" b="0">
                <a:solidFill>
                  <a:srgbClr val="5B4A2A"/>
                </a:solidFill>
                <a:latin typeface="Malgun Gothic"/>
              </a:rPr>
              <a:t>🍊 Good operations come not from fancy features but from 'small daily checks.' Watch your metrics, prevent churn early, and announce policies clearly. The AI Operations Assistant and Retention Center help you do it. Questions? Contact support anytime — cheering on your steadily growing academy! 🍊</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EA5E9"/>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371600" y="-1371600"/>
            <a:ext cx="3657600" cy="3657600"/>
          </a:xfrm>
          <a:prstGeom prst="ellipse">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515600" y="4572000"/>
            <a:ext cx="3657600" cy="3657600"/>
          </a:xfrm>
          <a:prstGeom prst="ellipse">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194560"/>
            <a:ext cx="12191695" cy="914400"/>
          </a:xfrm>
          <a:prstGeom prst="rect">
            <a:avLst/>
          </a:prstGeom>
          <a:noFill/>
        </p:spPr>
        <p:txBody>
          <a:bodyPr wrap="square" anchor="t">
            <a:spAutoFit/>
          </a:bodyPr>
          <a:lstStyle/>
          <a:p>
            <a:pPr algn="ctr">
              <a:lnSpc>
                <a:spcPct val="100000"/>
              </a:lnSpc>
            </a:pPr>
            <a:r>
              <a:rPr sz="3400" b="1">
                <a:solidFill>
                  <a:srgbClr val="FFFFFF"/>
                </a:solidFill>
                <a:latin typeface="Malgun Gothic"/>
              </a:rPr>
              <a:t>Let's grow together with Mangoi!</a:t>
            </a:r>
          </a:p>
        </p:txBody>
      </p:sp>
      <p:sp>
        <p:nvSpPr>
          <p:cNvPr id="6" name="TextBox 5"/>
          <p:cNvSpPr txBox="1"/>
          <p:nvPr/>
        </p:nvSpPr>
        <p:spPr>
          <a:xfrm>
            <a:off x="0" y="3291840"/>
            <a:ext cx="12191695" cy="548640"/>
          </a:xfrm>
          <a:prstGeom prst="rect">
            <a:avLst/>
          </a:prstGeom>
          <a:noFill/>
        </p:spPr>
        <p:txBody>
          <a:bodyPr wrap="square" anchor="t">
            <a:spAutoFit/>
          </a:bodyPr>
          <a:lstStyle/>
          <a:p>
            <a:pPr algn="ctr">
              <a:lnSpc>
                <a:spcPct val="100000"/>
              </a:lnSpc>
            </a:pPr>
            <a:r>
              <a:rPr sz="1600" b="0">
                <a:solidFill>
                  <a:srgbClr val="FFFFFF"/>
                </a:solidFill>
                <a:latin typeface="Malgun Gothic"/>
              </a:rPr>
              <a:t>Questions? Ask the on-site A.i assistant or contact customer support.</a:t>
            </a:r>
          </a:p>
        </p:txBody>
      </p:sp>
      <p:sp>
        <p:nvSpPr>
          <p:cNvPr id="7" name="TextBox 6"/>
          <p:cNvSpPr txBox="1"/>
          <p:nvPr/>
        </p:nvSpPr>
        <p:spPr>
          <a:xfrm>
            <a:off x="0" y="4114800"/>
            <a:ext cx="12191695" cy="457200"/>
          </a:xfrm>
          <a:prstGeom prst="rect">
            <a:avLst/>
          </a:prstGeom>
          <a:noFill/>
        </p:spPr>
        <p:txBody>
          <a:bodyPr wrap="square" anchor="t">
            <a:spAutoFit/>
          </a:bodyPr>
          <a:lstStyle/>
          <a:p>
            <a:pPr algn="ctr">
              <a:lnSpc>
                <a:spcPct val="100000"/>
              </a:lnSpc>
            </a:pPr>
            <a:r>
              <a:rPr sz="1400" b="0">
                <a:solidFill>
                  <a:srgbClr val="FFFFFF"/>
                </a:solidFill>
                <a:latin typeface="Malgun Gothic"/>
              </a:rPr>
              <a:t>🌐 www.mangoi.co.kr    📞 1644-0561    ✉ support@mangoi.co.kr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