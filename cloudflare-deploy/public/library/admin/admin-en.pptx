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03120"/>
            <a:ext cx="10698480" cy="1097280"/>
          </a:xfrm>
          <a:prstGeom prst="rect">
            <a:avLst/>
          </a:prstGeom>
          <a:noFill/>
        </p:spPr>
        <p:txBody>
          <a:bodyPr wrap="square">
            <a:spAutoFit/>
          </a:bodyPr>
          <a:lstStyle/>
          <a:p>
            <a:r>
              <a:rPr sz="4000" b="1">
                <a:solidFill>
                  <a:srgbClr val="111827"/>
                </a:solidFill>
              </a:rPr>
              <a:t>Admin User Guide</a:t>
            </a:r>
          </a:p>
        </p:txBody>
      </p:sp>
      <p:sp>
        <p:nvSpPr>
          <p:cNvPr id="3" name="TextBox 2"/>
          <p:cNvSpPr txBox="1"/>
          <p:nvPr/>
        </p:nvSpPr>
        <p:spPr>
          <a:xfrm>
            <a:off x="731520" y="3291840"/>
            <a:ext cx="10698480" cy="731520"/>
          </a:xfrm>
          <a:prstGeom prst="rect">
            <a:avLst/>
          </a:prstGeom>
          <a:noFill/>
        </p:spPr>
        <p:txBody>
          <a:bodyPr wrap="square">
            <a:spAutoFit/>
          </a:bodyPr>
          <a:lstStyle/>
          <a:p>
            <a:r>
              <a:rPr sz="2000" b="0">
                <a:solidFill>
                  <a:srgbClr val="4B5563"/>
                </a:solidFill>
              </a:rPr>
              <a:t>For HQ / office staff · Admin page mangoi.ai/admin</a:t>
            </a:r>
          </a:p>
        </p:txBody>
      </p:sp>
      <p:sp>
        <p:nvSpPr>
          <p:cNvPr id="4" name="TextBox 3"/>
          <p:cNvSpPr txBox="1"/>
          <p:nvPr/>
        </p:nvSpPr>
        <p:spPr>
          <a:xfrm>
            <a:off x="731520" y="4023360"/>
            <a:ext cx="10698480" cy="548640"/>
          </a:xfrm>
          <a:prstGeom prst="rect">
            <a:avLst/>
          </a:prstGeom>
          <a:noFill/>
        </p:spPr>
        <p:txBody>
          <a:bodyPr wrap="square">
            <a:spAutoFit/>
          </a:bodyPr>
          <a:lstStyle/>
          <a:p>
            <a:r>
              <a:rPr sz="1600" b="1">
                <a:solidFill>
                  <a:srgbClr val="F59E0B"/>
                </a:solidFill>
              </a:rPr>
              <a:t>2026-10-28 edition · screens: ch. 1–9 2026-10-09 · ch. 10 2026-10-28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r>
              <a:rPr sz="3000" b="1">
                <a:solidFill>
                  <a:srgbClr val="111827"/>
                </a:solidFill>
              </a:rPr>
              <a:t>Contents</a:t>
            </a:r>
          </a:p>
        </p:txBody>
      </p:sp>
      <p:sp>
        <p:nvSpPr>
          <p:cNvPr id="3" name="TextBox 2"/>
          <p:cNvSpPr txBox="1"/>
          <p:nvPr/>
        </p:nvSpPr>
        <p:spPr>
          <a:xfrm>
            <a:off x="731520" y="1188720"/>
            <a:ext cx="10789920" cy="5303520"/>
          </a:xfrm>
          <a:prstGeom prst="rect">
            <a:avLst/>
          </a:prstGeom>
          <a:noFill/>
        </p:spPr>
        <p:txBody>
          <a:bodyPr wrap="square">
            <a:spAutoFit/>
          </a:bodyPr>
          <a:lstStyle/>
          <a:p>
            <a:pPr>
              <a:defRPr sz="1600"/>
            </a:pPr>
            <a:r>
              <a:t>1. Getting in · Finding your way</a:t>
            </a:r>
          </a:p>
          <a:p>
            <a:pPr>
              <a:defRPr sz="1600"/>
            </a:pPr>
            <a:r>
              <a:t>2. Student list · Adding a student</a:t>
            </a:r>
          </a:p>
          <a:p>
            <a:pPr>
              <a:defRPr sz="1600"/>
            </a:pPr>
            <a:r>
              <a:t>3. Today’s classes</a:t>
            </a:r>
          </a:p>
          <a:p>
            <a:pPr>
              <a:defRPr sz="1600"/>
            </a:pPr>
            <a:r>
              <a:t>4. Adding classes (booking · enrollment)</a:t>
            </a:r>
          </a:p>
          <a:p>
            <a:pPr>
              <a:defRPr sz="1600"/>
            </a:pPr>
            <a:r>
              <a:t>5. Postponing · Changing classes</a:t>
            </a:r>
          </a:p>
          <a:p>
            <a:pPr>
              <a:defRPr sz="1600"/>
            </a:pPr>
            <a:r>
              <a:t>6. Cancelling classes</a:t>
            </a:r>
          </a:p>
          <a:p>
            <a:pPr>
              <a:defRPr sz="1600"/>
            </a:pPr>
            <a:r>
              <a:t>7. Timetable (weekly · daily)</a:t>
            </a:r>
          </a:p>
          <a:p>
            <a:pPr>
              <a:defRPr sz="1600"/>
            </a:pPr>
            <a:r>
              <a:t>8. Payroll</a:t>
            </a:r>
          </a:p>
          <a:p>
            <a:pPr>
              <a:defRPr sz="1600"/>
            </a:pPr>
            <a:r>
              <a:t>9. Approvals · Daily handover</a:t>
            </a:r>
          </a:p>
          <a:p>
            <a:pPr>
              <a:defRPr sz="1600"/>
            </a:pPr>
            <a:r>
              <a:t>10. A.i content payment (agencies)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r>
              <a:rPr sz="2800" b="1">
                <a:solidFill>
                  <a:srgbClr val="111827"/>
                </a:solidFill>
              </a:rPr>
              <a:t>Before you start</a:t>
            </a:r>
          </a:p>
        </p:txBody>
      </p:sp>
      <p:sp>
        <p:nvSpPr>
          <p:cNvPr id="3" name="TextBox 2"/>
          <p:cNvSpPr txBox="1"/>
          <p:nvPr/>
        </p:nvSpPr>
        <p:spPr>
          <a:xfrm>
            <a:off x="731520" y="1188720"/>
            <a:ext cx="10789920" cy="5303520"/>
          </a:xfrm>
          <a:prstGeom prst="rect">
            <a:avLst/>
          </a:prstGeom>
          <a:noFill/>
        </p:spPr>
        <p:txBody>
          <a:bodyPr wrap="square">
            <a:spAutoFit/>
          </a:bodyPr>
          <a:lstStyle/>
          <a:p>
            <a:pPr>
              <a:defRPr sz="1600"/>
            </a:pPr>
            <a:r>
              <a:t>• The address is https://mangoi.ai/admin. (The old mangoi.co.kr site is a different server and does not have these features.)</a:t>
            </a:r>
          </a:p>
          <a:p>
            <a:pPr>
              <a:defRPr sz="1600"/>
            </a:pPr>
            <a:r>
              <a:t>• All class times are Korea time (KST). The Philippines is 1 hour earlier — KST 19:30 = PH 18:30.</a:t>
            </a:r>
          </a:p>
          <a:p>
            <a:pPr>
              <a:defRPr sz="1600"/>
            </a:pPr>
            <a:r>
              <a:t>• What you can do depends on your account. Cancelling classes, splitting weekly classes, registering students and payroll need an HQ account. Teacher, branch and agency accounts are refused by the server.</a:t>
            </a:r>
          </a:p>
          <a:p>
            <a:pPr>
              <a:defRPr sz="1600"/>
            </a:pPr>
            <a:r>
              <a:t>• The students, teachers and academies (Emma Kim, Teacher Anna, Sample English Academy, demo001 …) and numbers in the screenshots are sample data. Your screen shows real ones.</a:t>
            </a:r>
          </a:p>
          <a:p>
            <a:pPr>
              <a:defRPr sz="1600"/>
            </a:pPr>
            <a:r>
              <a:t>• Red box = the place to press. In chapter 10 the numbers on the pictures (④⑤ …) match the numbers in the 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1. Getting in · Finding your way</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Log in, and find any screen with the left menu or 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 Getting in · Finding your way — Log in</a:t>
            </a:r>
          </a:p>
        </p:txBody>
      </p:sp>
      <p:pic>
        <p:nvPicPr>
          <p:cNvPr id="3" name="Picture 2" descr="en-c1-login.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Open mangoi.ai/admin.</a:t>
            </a:r>
          </a:p>
          <a:p>
            <a:pPr>
              <a:spcAft>
                <a:spcPts val="600"/>
              </a:spcAft>
              <a:defRPr sz="1400"/>
            </a:pPr>
            <a:r>
              <a:t>• Enter your ID and password and press Log in. If you registered a fingerprint / Face ID, use the green button.</a:t>
            </a:r>
          </a:p>
          <a:p>
            <a:pPr>
              <a:spcAft>
                <a:spcPts val="600"/>
              </a:spcAft>
              <a:defRPr sz="1400"/>
            </a:pPr>
            <a:r>
              <a:t>• Links opened inside KakaoTalk may lose the login — open them in Chrome.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 Getting in · Finding your way — Home screen</a:t>
            </a:r>
          </a:p>
        </p:txBody>
      </p:sp>
      <p:pic>
        <p:nvPicPr>
          <p:cNvPr id="3" name="Picture 2" descr="en-c1-hom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The Frequently used tiles at the top jump to Today’s classes, Approvals, Enrollment and more.</a:t>
            </a:r>
          </a:p>
          <a:p>
            <a:pPr>
              <a:spcAft>
                <a:spcPts val="600"/>
              </a:spcAft>
              <a:defRPr sz="1400"/>
            </a:pPr>
            <a:r>
              <a:t>• The search box in the middle finds students, teachers, academies and menus.</a:t>
            </a:r>
          </a:p>
          <a:p>
            <a:pPr>
              <a:spcAft>
                <a:spcPts val="600"/>
              </a:spcAft>
              <a:defRPr sz="1400"/>
            </a:pPr>
            <a:r>
              <a:t>• You can also ask the AI assistant (bottom right) in words, e.g. “show today’s classes”.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 Getting in · Finding your way — Left menu (7 groups) and menu search</a:t>
            </a:r>
          </a:p>
        </p:txBody>
      </p:sp>
      <p:pic>
        <p:nvPicPr>
          <p:cNvPr id="3" name="Picture 2" descr="en-c1-search.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Groups: Today · Students · Teachers · Lessons · Finance · HQ/Branches/Agencies · System. Approvals is pinned on top.</a:t>
            </a:r>
          </a:p>
          <a:p>
            <a:pPr>
              <a:spcAft>
                <a:spcPts val="600"/>
              </a:spcAft>
              <a:defRPr sz="1400"/>
            </a:pPr>
            <a:r>
              <a:t>• Type in 🔍 Menu search (top left), e.g. “payroll”, to filter the menu.</a:t>
            </a:r>
          </a:p>
          <a:p>
            <a:pPr>
              <a:spcAft>
                <a:spcPts val="600"/>
              </a:spcAft>
              <a:defRPr sz="1400"/>
            </a:pPr>
            <a:r>
              <a:t>• Items with ▸ open sub-items.</a:t>
            </a:r>
          </a:p>
          <a:p>
            <a:pPr>
              <a:spcAft>
                <a:spcPts val="600"/>
              </a:spcAft>
              <a:defRPr sz="1400"/>
            </a:pPr>
            <a:r>
              <a:t>• At the bottom: EN/KO language, and admin ▾ for password change and logout.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2. Student list · Adding a student</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Find students, create a new student account, and open the student detail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Open the student list</a:t>
            </a:r>
          </a:p>
        </p:txBody>
      </p:sp>
      <p:pic>
        <p:nvPicPr>
          <p:cNvPr id="3" name="Picture 2" descr="en-c2-list.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Menu Students › Students → Load.</a:t>
            </a:r>
          </a:p>
          <a:p>
            <a:pPr>
              <a:spcAft>
                <a:spcPts val="600"/>
              </a:spcAft>
              <a:defRPr sz="1400"/>
            </a:pPr>
            <a:r>
              <a:t>• Search by name, ID or academy, or pick one academy from the list.</a:t>
            </a:r>
          </a:p>
          <a:p>
            <a:pPr>
              <a:spcAft>
                <a:spcPts val="600"/>
              </a:spcAft>
              <a:defRPr sz="1400"/>
            </a:pPr>
            <a:r>
              <a:t>• The chips (All · Video class · AI only · Not enrolled · Check needed) filter the kind of student.</a:t>
            </a:r>
          </a:p>
          <a:p>
            <a:pPr>
              <a:spcAft>
                <a:spcPts val="600"/>
              </a:spcAft>
              <a:defRPr sz="1400"/>
            </a:pPr>
            <a:r>
              <a:t>• Click a column header to sort; Shift+click to sort by several columns.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Row buttons sit in the related columns</a:t>
            </a:r>
          </a:p>
        </p:txBody>
      </p:sp>
      <p:pic>
        <p:nvPicPr>
          <p:cNvPr id="3" name="Picture 2" descr="en-c2-list-actions.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Click the student name to open the detail page; ✏️ next to it edits contacts.</a:t>
            </a:r>
          </a:p>
          <a:p>
            <a:pPr>
              <a:spcAft>
                <a:spcPts val="600"/>
              </a:spcAft>
              <a:defRPr sz="1400"/>
            </a:pPr>
            <a:r>
              <a:t>• Under End date: 🗓️ End/Extend.</a:t>
            </a:r>
          </a:p>
          <a:p>
            <a:pPr>
              <a:spcAft>
                <a:spcPts val="600"/>
              </a:spcAft>
              <a:defRPr sz="1400"/>
            </a:pPr>
            <a:r>
              <a:t>• The Bookings column shows “2/wk · 1 one-off” and the teacher, with 📅 Schedule and ⏸ Postpone (only when there are bookings).</a:t>
            </a:r>
          </a:p>
          <a:p>
            <a:pPr>
              <a:spcAft>
                <a:spcPts val="600"/>
              </a:spcAft>
              <a:defRPr sz="1400"/>
            </a:pPr>
            <a:r>
              <a:t>• 📚 Enrollment pre-fills an enrollment form for that student.</a:t>
            </a:r>
          </a:p>
          <a:p>
            <a:pPr>
              <a:spcAft>
                <a:spcPts val="600"/>
              </a:spcAft>
              <a:defRPr sz="1400"/>
            </a:pPr>
            <a:r>
              <a:t>• (The old “Details” column was removed on 2026-10-09.)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Press «➕ Add Student»</a:t>
            </a:r>
          </a:p>
        </p:txBody>
      </p:sp>
      <p:pic>
        <p:nvPicPr>
          <p:cNvPr id="3" name="Picture 2" descr="en-c2-add-button.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Press ➕ Add Student above the list.</a:t>
            </a:r>
          </a:p>
          <a:p>
            <a:pPr>
              <a:spcAft>
                <a:spcPts val="600"/>
              </a:spcAft>
              <a:defRPr sz="1400"/>
            </a:pPr>
            <a:r>
              <a:t>• Search the name first. If the student already exists, do not create a second account.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Fill in the student’s information</a:t>
            </a:r>
          </a:p>
        </p:txBody>
      </p:sp>
      <p:pic>
        <p:nvPicPr>
          <p:cNvPr id="3" name="Picture 2" descr="en-c2-register-form.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User ID (required): 4–20 letters/numbers/underscore, small letters.</a:t>
            </a:r>
          </a:p>
          <a:p>
            <a:pPr>
              <a:spcAft>
                <a:spcPts val="600"/>
              </a:spcAft>
              <a:defRPr sz="1400"/>
            </a:pPr>
            <a:r>
              <a:t>• Name (required). Leave Password blank to get a temporary one.</a:t>
            </a:r>
          </a:p>
          <a:p>
            <a:pPr>
              <a:spcAft>
                <a:spcPts val="600"/>
              </a:spcAft>
              <a:defRPr sz="1400"/>
            </a:pPr>
            <a:r>
              <a:t>• Please enter the Parent phone — class reminder texts go there.</a:t>
            </a:r>
          </a:p>
          <a:p>
            <a:pPr>
              <a:spcAft>
                <a:spcPts val="600"/>
              </a:spcAft>
              <a:defRPr sz="1400"/>
            </a:pPr>
            <a:r>
              <a:t>• Pick the Agency/Academy from the list. Press Register.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The temporary password is shown once</a:t>
            </a:r>
          </a:p>
        </p:txBody>
      </p:sp>
      <p:pic>
        <p:nvPicPr>
          <p:cNvPr id="3" name="Picture 2" descr="en-c2-register-don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Copy the temporary password now and send it to the parent.</a:t>
            </a:r>
          </a:p>
          <a:p>
            <a:pPr>
              <a:spcAft>
                <a:spcPts val="600"/>
              </a:spcAft>
              <a:defRPr sz="1400"/>
            </a:pPr>
            <a:r>
              <a:t>• It is not shown again after you close the window.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2. Student list · Adding a student — Student detail page</a:t>
            </a:r>
          </a:p>
        </p:txBody>
      </p:sp>
      <p:pic>
        <p:nvPicPr>
          <p:cNvPr id="3" name="Picture 2" descr="en-c2-detail.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Summary on the left, tabs on top.</a:t>
            </a:r>
          </a:p>
          <a:p>
            <a:pPr>
              <a:spcAft>
                <a:spcPts val="600"/>
              </a:spcAft>
              <a:defRPr sz="1400"/>
            </a:pPr>
            <a:r>
              <a:t>• Tabs: Overview · Enrollment · 📅 Schedule · End/Extend · Payment · Attendance · Evaluations · Contacts · Textbook · Recordings …</a:t>
            </a:r>
          </a:p>
          <a:p>
            <a:pPr>
              <a:spcAft>
                <a:spcPts val="600"/>
              </a:spcAft>
              <a:defRPr sz="1400"/>
            </a:pPr>
            <a:r>
              <a:t>• Adding, postponing and changing classes is all done in the 📅 Schedule tab (next chapters).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3. Today’s classes</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All of today’s classes in one table — join, observe, postpone or change right there.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3. Today’s classes — Today’s class table</a:t>
            </a:r>
          </a:p>
        </p:txBody>
      </p:sp>
      <p:pic>
        <p:nvPicPr>
          <p:cNvPr id="3" name="Picture 2" descr="en-c3-today.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Menu Today › Today’s classes → Load.</a:t>
            </a:r>
          </a:p>
          <a:p>
            <a:pPr>
              <a:spcAft>
                <a:spcPts val="600"/>
              </a:spcAft>
              <a:defRPr sz="1400"/>
            </a:pPr>
            <a:r>
              <a:t>• The chips count classes by status: Joinable · ⏸ Postponed · Ended.</a:t>
            </a:r>
          </a:p>
          <a:p>
            <a:pPr>
              <a:spcAft>
                <a:spcPts val="600"/>
              </a:spcAft>
              <a:defRPr sz="1400"/>
            </a:pPr>
            <a:r>
              <a:t>• Change the date to see another day. Filter by source (Mangoi/Cafe24), academy or teacher.</a:t>
            </a:r>
          </a:p>
          <a:p>
            <a:pPr>
              <a:spcAft>
                <a:spcPts val="600"/>
              </a:spcAft>
              <a:defRPr sz="1400"/>
            </a:pPr>
            <a:r>
              <a:t>• Cafe24 classes have no Mangoi room, so you cannot join or observe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3. Today’s classes — Actions on one row</a:t>
            </a:r>
          </a:p>
        </p:txBody>
      </p:sp>
      <p:pic>
        <p:nvPicPr>
          <p:cNvPr id="3" name="Picture 2" descr="en-c3-today-mov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 Join (visible) enters the class (students see you).</a:t>
            </a:r>
          </a:p>
          <a:p>
            <a:pPr>
              <a:spcAft>
                <a:spcPts val="600"/>
              </a:spcAft>
              <a:defRPr sz="1400"/>
            </a:pPr>
            <a:r>
              <a:t>• 👁 Observe watches invisibly. 🔗 Invite link copies the room link.</a:t>
            </a:r>
          </a:p>
          <a:p>
            <a:pPr>
              <a:spcAft>
                <a:spcPts val="600"/>
              </a:spcAft>
              <a:defRPr sz="1400"/>
            </a:pPr>
            <a:r>
              <a:t>• 📅 Postpone/Change (red box) postpones, changes or cancels this one class — the same window as chapter 5.</a:t>
            </a:r>
          </a:p>
          <a:p>
            <a:pPr>
              <a:spcAft>
                <a:spcPts val="600"/>
              </a:spcAft>
              <a:defRPr sz="1400"/>
            </a:pPr>
            <a:r>
              <a:t>• 💬 Message texts the student.</a:t>
            </a:r>
          </a:p>
          <a:p>
            <a:pPr>
              <a:spcAft>
                <a:spcPts val="600"/>
              </a:spcAft>
              <a:defRPr sz="1400"/>
            </a:pPr>
            <a:r>
              <a:t>• Postponed classes show “⏸ Postponed — no new date” and a 📅 New date button.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4. Adding classes (booking · enrollment)</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Two ways: ① from the student detail page ② with an enrollment form (many students).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4. Adding classes (booking · enrollment) — Student detail › 📅 Schedule</a:t>
            </a:r>
          </a:p>
        </p:txBody>
      </p:sp>
      <p:pic>
        <p:nvPicPr>
          <p:cNvPr id="3" name="Picture 2" descr="en-c4-sched-top.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The Next class card shows date, time and teacher.</a:t>
            </a:r>
          </a:p>
          <a:p>
            <a:pPr>
              <a:spcAft>
                <a:spcPts val="600"/>
              </a:spcAft>
              <a:defRPr sz="1400"/>
            </a:pPr>
            <a:r>
              <a:t>• A weekly pattern shows as one line, e.g. “2x a week · Mon·Wed 19:30”, with date chips for the next 14 days below.</a:t>
            </a:r>
          </a:p>
          <a:p>
            <a:pPr>
              <a:spcAft>
                <a:spcPts val="600"/>
              </a:spcAft>
              <a:defRPr sz="1400"/>
            </a:pPr>
            <a:r>
              <a:t>• Each chip shows the teacher’s name, so substitutes are easy to see.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4. Adding classes (booking · enrollment) — Add a regular (weekly) class</a:t>
            </a:r>
          </a:p>
        </p:txBody>
      </p:sp>
      <p:pic>
        <p:nvPicPr>
          <p:cNvPr id="3" name="Picture 2" descr="en-c4-add-regular.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In ➕ Add class, set Type = Regular (weekly).</a:t>
            </a:r>
          </a:p>
          <a:p>
            <a:pPr>
              <a:spcAft>
                <a:spcPts val="600"/>
              </a:spcAft>
              <a:defRPr sz="1400"/>
            </a:pPr>
            <a:r>
              <a:t>• Tick the days (e.g. Mon + Wed), the start date, start time (KST) and minutes (usually 20).</a:t>
            </a:r>
          </a:p>
          <a:p>
            <a:pPr>
              <a:spcAft>
                <a:spcPts val="600"/>
              </a:spcAft>
              <a:defRPr sz="1400"/>
            </a:pPr>
            <a:r>
              <a:t>• Pick the teacher. Place (All/Home/Office) narrows the list; teachers who left are hidden by default.</a:t>
            </a:r>
          </a:p>
          <a:p>
            <a:pPr>
              <a:spcAft>
                <a:spcPts val="600"/>
              </a:spcAft>
              <a:defRPr sz="1400"/>
            </a:pPr>
            <a:r>
              <a:t>• Press Add. If it warns about a clash, check that teacher’s schedule first.</a:t>
            </a:r>
          </a:p>
          <a:p>
            <a:pPr>
              <a:spcAft>
                <a:spcPts val="600"/>
              </a:spcAft>
              <a:defRPr sz="1400"/>
            </a:pPr>
            <a:r>
              <a:t>• Teacher and student then join the same room automatically, no room code.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4. Adding classes (booking · enrollment) — One-day classes (make-up · trial · level test)</a:t>
            </a:r>
          </a:p>
        </p:txBody>
      </p:sp>
      <p:pic>
        <p:nvPicPr>
          <p:cNvPr id="3" name="Picture 2" descr="en-c4-add-oneoff.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Choose Make-up / Trial / Level test: you pick one date instead of days.</a:t>
            </a:r>
          </a:p>
          <a:p>
            <a:pPr>
              <a:spcAft>
                <a:spcPts val="600"/>
              </a:spcAft>
              <a:defRPr sz="1400"/>
            </a:pPr>
            <a:r>
              <a:t>• Colours: Regular amber · Make-up purple · Trial green · Level test blue.</a:t>
            </a:r>
          </a:p>
          <a:p>
            <a:pPr>
              <a:spcAft>
                <a:spcPts val="600"/>
              </a:spcAft>
              <a:defRPr sz="1400"/>
            </a:pPr>
            <a:r>
              <a:t>• One-day classes show “this day only”, and “⌛ past” after the date.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4. Adding classes (booking · enrollment) — Enrollment form (many students at once)</a:t>
            </a:r>
          </a:p>
        </p:txBody>
      </p:sp>
      <p:pic>
        <p:nvPicPr>
          <p:cNvPr id="3" name="Picture 2" descr="en-c4-enroll-form.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Menu Students › Enrollment → + Add enrollment.</a:t>
            </a:r>
          </a:p>
          <a:p>
            <a:pPr>
              <a:spcAft>
                <a:spcPts val="600"/>
              </a:spcAft>
              <a:defRPr sz="1400"/>
            </a:pPr>
            <a:r>
              <a:t>• One row per student: ID · level · priority (day/time or teacher) · days · time · length · start date · period · parent phone.</a:t>
            </a:r>
          </a:p>
          <a:p>
            <a:pPr>
              <a:spcAft>
                <a:spcPts val="600"/>
              </a:spcAft>
              <a:defRPr sz="1400"/>
            </a:pPr>
            <a:r>
              <a:t>• + Add row, then ✅ Register all. You can also download an Excel/Word/Kakao form, fill it in and upload it.</a:t>
            </a:r>
          </a:p>
          <a:p>
            <a:pPr>
              <a:spcAft>
                <a:spcPts val="600"/>
              </a:spcAft>
              <a:defRPr sz="1400"/>
            </a:pPr>
            <a:r>
              <a:t>• Registered rows are confirmed automatically and classes are created for the whole period (6 months = 6 months of classes).</a:t>
            </a:r>
          </a:p>
          <a:p>
            <a:pPr>
              <a:spcAft>
                <a:spcPts val="600"/>
              </a:spcAft>
              <a:defRPr sz="1400"/>
            </a:pPr>
            <a:r>
              <a:t>• Dates where the student already has a class at that time are skipped and reported.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4. Adding classes (booking · enrollment) — Enrollment list</a:t>
            </a:r>
          </a:p>
        </p:txBody>
      </p:sp>
      <p:pic>
        <p:nvPicPr>
          <p:cNvPr id="3" name="Picture 2" descr="en-c4-enroll-list.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Status: Pending · Confirmed · Active · Cancelled · Ended.</a:t>
            </a:r>
          </a:p>
          <a:p>
            <a:pPr>
              <a:spcAft>
                <a:spcPts val="600"/>
              </a:spcAft>
              <a:defRPr sz="1400"/>
            </a:pPr>
            <a:r>
              <a:t>• ▸ Not confirmed / ⚙ Follow-up shows the confirmation steps (link student, assign teacher, create classes).</a:t>
            </a:r>
          </a:p>
          <a:p>
            <a:pPr>
              <a:spcAft>
                <a:spcPts val="600"/>
              </a:spcAft>
              <a:defRPr sz="1400"/>
            </a:pPr>
            <a:r>
              <a:t>• For ✕ Cancel and ↩ Restore see chapter 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5. Postponing · Changing classes</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«Postpone» = move just this one class. «Change» = from this class on, every time. The same window opens from everywhere.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Way in ① date chips</a:t>
            </a:r>
          </a:p>
        </p:txBody>
      </p:sp>
      <p:pic>
        <p:nvPicPr>
          <p:cNvPr id="3" name="Picture 2" descr="en-c5-chip-act.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In Student detail › 📅 Schedule, press a date chip; the actions open below.</a:t>
            </a:r>
          </a:p>
          <a:p>
            <a:pPr>
              <a:spcAft>
                <a:spcPts val="600"/>
              </a:spcAft>
              <a:defRPr sz="1400"/>
            </a:pPr>
            <a:r>
              <a:t>• One-day class: ⏸ Postpone · ✏️ Change · ✕ Cancel.</a:t>
            </a:r>
          </a:p>
          <a:p>
            <a:pPr>
              <a:spcAft>
                <a:spcPts val="600"/>
              </a:spcAft>
              <a:defRPr sz="1400"/>
            </a:pPr>
            <a:r>
              <a:t>• Weekly class: “… — this day only” — only that week changes, other weeks stay.</a:t>
            </a:r>
          </a:p>
          <a:p>
            <a:pPr>
              <a:spcAft>
                <a:spcPts val="600"/>
              </a:spcAft>
              <a:defRPr sz="1400"/>
            </a:pPr>
            <a:r>
              <a:t>• 📅 Split by date turns a weekly pattern into separate dated classes (HQ account).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Way in ② weekly rows</a:t>
            </a:r>
          </a:p>
        </p:txBody>
      </p:sp>
      <p:pic>
        <p:nvPicPr>
          <p:cNvPr id="3" name="Picture 2" descr="en-c5-weekly-rows.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Open By weekday · Postpone/Change ▾: each row has ⏸ Postpone and ✏️ Change.</a:t>
            </a:r>
          </a:p>
          <a:p>
            <a:pPr>
              <a:spcAft>
                <a:spcPts val="600"/>
              </a:spcAft>
              <a:defRPr sz="1400"/>
            </a:pPr>
            <a:r>
              <a:t>• They list the next 28 days of classes; pick a date to open the same window.</a:t>
            </a:r>
          </a:p>
          <a:p>
            <a:pPr>
              <a:spcAft>
                <a:spcPts val="600"/>
              </a:spcAft>
              <a:defRPr sz="1400"/>
            </a:pPr>
            <a:r>
              <a:t>• To change the weekly time itself use ✏️ Change weekly.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Way in ③ student list · today’s classes</a:t>
            </a:r>
          </a:p>
        </p:txBody>
      </p:sp>
      <p:pic>
        <p:nvPicPr>
          <p:cNvPr id="3" name="Picture 2" descr="en-c5-pick-window.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 Postpone in the student list and 📅 Postpone/Change in Today’s classes open the same picker.</a:t>
            </a:r>
          </a:p>
          <a:p>
            <a:pPr>
              <a:spcAft>
                <a:spcPts val="600"/>
              </a:spcAft>
              <a:defRPr sz="1400"/>
            </a:pPr>
            <a:r>
              <a:t>• “weekly — split first” means that day is separated first, then handled.</a:t>
            </a:r>
          </a:p>
          <a:p>
            <a:pPr>
              <a:spcAft>
                <a:spcPts val="600"/>
              </a:spcAft>
              <a:defRPr sz="1400"/>
            </a:pPr>
            <a:r>
              <a:t>• Cafe24 weekly classes must be changed in Cafe24 (the nightly sync would undo it here).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The postpone/change window</a:t>
            </a:r>
          </a:p>
        </p:txBody>
      </p:sp>
      <p:pic>
        <p:nvPicPr>
          <p:cNvPr id="3" name="Picture 2" descr="en-c5-move-open.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Top: student · date · time · teacher.</a:t>
            </a:r>
          </a:p>
          <a:p>
            <a:pPr>
              <a:spcAft>
                <a:spcPts val="600"/>
              </a:spcAft>
              <a:defRPr sz="1400"/>
            </a:pPr>
            <a:r>
              <a:t>• Three buttons: ⏸ Postpone (once) · 🔄 Change (from now on) · Cancel class (HQ only).</a:t>
            </a:r>
          </a:p>
          <a:p>
            <a:pPr>
              <a:spcAft>
                <a:spcPts val="600"/>
              </a:spcAft>
              <a:defRPr sz="1400"/>
            </a:pPr>
            <a:r>
              <a:t>• The reason is saved in the history. A confirm box appears before anything is saved.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Postpone ① to a set date</a:t>
            </a:r>
          </a:p>
        </p:txBody>
      </p:sp>
      <p:pic>
        <p:nvPicPr>
          <p:cNvPr id="3" name="Picture 2" descr="en-c5-move-postpone-dat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Postpone to a date → pick a day chip and a time chip (10-minute steps), or type below.</a:t>
            </a:r>
          </a:p>
          <a:p>
            <a:pPr>
              <a:spcAft>
                <a:spcPts val="600"/>
              </a:spcAft>
              <a:defRPr sz="1400"/>
            </a:pPr>
            <a:r>
              <a:t>• Available teachers appear as cards. If the usual teacher is busy you can pick another (HQ account).</a:t>
            </a:r>
          </a:p>
          <a:p>
            <a:pPr>
              <a:spcAft>
                <a:spcPts val="600"/>
              </a:spcAft>
              <a:defRPr sz="1400"/>
            </a:pPr>
            <a:r>
              <a:t>• Teachers who cannot take it (other class, leave, substituting) are left out with the reason.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Postpone ② on hold (no date yet)</a:t>
            </a:r>
          </a:p>
        </p:txBody>
      </p:sp>
      <p:pic>
        <p:nvPicPr>
          <p:cNvPr id="3" name="Picture 2" descr="en-c5-move-open.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Use it when the new date is not known. The class stays as “⏸ Postponed”; set the date later with 📅 New date.</a:t>
            </a:r>
          </a:p>
          <a:p>
            <a:pPr>
              <a:spcAft>
                <a:spcPts val="600"/>
              </a:spcAft>
              <a:defRPr sz="1400"/>
            </a:pPr>
            <a:r>
              <a:t>• Postponed classes are left out of Today’s classes, joining and absence alerts.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Postpone ③ make up at the end</a:t>
            </a:r>
          </a:p>
        </p:txBody>
      </p:sp>
      <p:pic>
        <p:nvPicPr>
          <p:cNvPr id="3" name="Picture 2" descr="en-c5-move-postpone-end.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Moves just this class to the next class day after the last class, marked “make-up”. The server works out the date.</a:t>
            </a:r>
          </a:p>
          <a:p>
            <a:pPr>
              <a:spcAft>
                <a:spcPts val="600"/>
              </a:spcAft>
              <a:defRPr sz="1400"/>
            </a:pPr>
            <a:r>
              <a:t>• Other classes stay as they are.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Change (from now on)</a:t>
            </a:r>
          </a:p>
        </p:txBody>
      </p:sp>
      <p:pic>
        <p:nvPicPr>
          <p:cNvPr id="3" name="Picture 2" descr="en-c5-move-chang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Pick a new day and time; a preview lists every later class that will move (“6 classes move”).</a:t>
            </a:r>
          </a:p>
          <a:p>
            <a:pPr>
              <a:spcAft>
                <a:spcPts val="600"/>
              </a:spcAft>
              <a:defRPr sz="1400"/>
            </a:pPr>
            <a:r>
              <a:t>• If any date clashes, nothing moves and the clashing dates are shown.</a:t>
            </a:r>
          </a:p>
          <a:p>
            <a:pPr>
              <a:spcAft>
                <a:spcPts val="600"/>
              </a:spcAft>
              <a:defRPr sz="1400"/>
            </a:pPr>
            <a:r>
              <a:t>• Check the preview, then press Apply.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Check the result in the calendar</a:t>
            </a:r>
          </a:p>
        </p:txBody>
      </p:sp>
      <p:pic>
        <p:nvPicPr>
          <p:cNvPr id="3" name="Picture 2" descr="en-c5-calendar-week.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Below the 📅 Schedule tab: week/month calendar, cards coloured by type with the teacher’s name.</a:t>
            </a:r>
          </a:p>
          <a:p>
            <a:pPr>
              <a:spcAft>
                <a:spcPts val="600"/>
              </a:spcAft>
              <a:defRPr sz="1400"/>
            </a:pPr>
            <a:r>
              <a:t>• Click a card to open the postpone/change window for that day.</a:t>
            </a:r>
          </a:p>
          <a:p>
            <a:pPr>
              <a:spcAft>
                <a:spcPts val="600"/>
              </a:spcAft>
              <a:defRPr sz="1400"/>
            </a:pPr>
            <a:r>
              <a:t>• KR/PH public holidays are shown too.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Month view</a:t>
            </a:r>
          </a:p>
        </p:txBody>
      </p:sp>
      <p:pic>
        <p:nvPicPr>
          <p:cNvPr id="3" name="Picture 2" descr="en-c5-calendar-month.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Press Month for a whole month at once.</a:t>
            </a:r>
          </a:p>
          <a:p>
            <a:pPr>
              <a:spcAft>
                <a:spcPts val="600"/>
              </a:spcAft>
              <a:defRPr sz="1400"/>
            </a:pPr>
            <a:r>
              <a:t>• Enrollments without real classes are not drawn; a note above says how many were left 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5. Postponing · Changing classes — Postpone/change history</a:t>
            </a:r>
          </a:p>
        </p:txBody>
      </p:sp>
      <p:pic>
        <p:nvPicPr>
          <p:cNvPr id="3" name="Picture 2" descr="en-c5-requests.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Menu Today › Reschedule: every request from teachers and students, and what admins did, with times.</a:t>
            </a:r>
          </a:p>
          <a:p>
            <a:pPr>
              <a:spcAft>
                <a:spcPts val="600"/>
              </a:spcAft>
              <a:defRPr sz="1400"/>
            </a:pPr>
            <a:r>
              <a:t>• Students’ free postpone/change requests are applied immediately without approval and only recorded here.</a:t>
            </a:r>
          </a:p>
          <a:p>
            <a:pPr>
              <a:spcAft>
                <a:spcPts val="600"/>
              </a:spcAft>
              <a:defRPr sz="1400"/>
            </a:pPr>
            <a:r>
              <a:t>• Pending requests: Approve / Reject. Approving updates the schedule automatically.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6. Cancelling classes</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Cancelling is hard to undo. HQ accounts only, and you are asked to confirm.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6. Cancelling classes — Cancel one class</a:t>
            </a:r>
          </a:p>
        </p:txBody>
      </p:sp>
      <p:pic>
        <p:nvPicPr>
          <p:cNvPr id="3" name="Picture 2" descr="en-c6-move-cancel.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In the window: Cancel class → reason → Apply → confirm.</a:t>
            </a:r>
          </a:p>
          <a:p>
            <a:pPr>
              <a:spcAft>
                <a:spcPts val="600"/>
              </a:spcAft>
              <a:defRPr sz="1400"/>
            </a:pPr>
            <a:r>
              <a:t>• A one-day class is cancelled; for a weekly class only that day is separated and cancelled (other weeks stay).</a:t>
            </a:r>
          </a:p>
          <a:p>
            <a:pPr>
              <a:spcAft>
                <a:spcPts val="600"/>
              </a:spcAft>
              <a:defRPr sz="1400"/>
            </a:pPr>
            <a:r>
              <a:t>• An already postponed class can also be cancelled with ✕ Cancel this class.</a:t>
            </a:r>
          </a:p>
          <a:p>
            <a:pPr>
              <a:spcAft>
                <a:spcPts val="600"/>
              </a:spcAft>
              <a:defRPr sz="1400"/>
            </a:pPr>
            <a:r>
              <a:t>• Cancelled classes stay in the history.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6. Cancelling classes — Cancel an enrollment → its remaining classes end too</a:t>
            </a:r>
          </a:p>
        </p:txBody>
      </p:sp>
      <p:pic>
        <p:nvPicPr>
          <p:cNvPr id="3" name="Picture 2" descr="en-c4-enroll-list.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 Cancel in the enrollment list also ends that enrollment’s future classes (“N remaining classes ended”).</a:t>
            </a:r>
          </a:p>
          <a:p>
            <a:pPr>
              <a:spcAft>
                <a:spcPts val="600"/>
              </a:spcAft>
              <a:defRPr sz="1400"/>
            </a:pPr>
            <a:r>
              <a:t>• Weekly repeat rows without dates are kept (because of payroll) — tidy them in Student › 📅 Schedule.</a:t>
            </a:r>
          </a:p>
          <a:p>
            <a:pPr>
              <a:spcAft>
                <a:spcPts val="600"/>
              </a:spcAft>
              <a:defRPr sz="1400"/>
            </a:pPr>
            <a:r>
              <a:t>• ↩ Restore brings back classes this cancel ended, if not past and not clashing. Add any that could not be restored by hand.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7. Timetable (weekly · daily)</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Every teacher’s classes on one board; drag to move. It is locked by default to prevent mistakes.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7. Timetable (weekly · daily) — Weekly timetable</a:t>
            </a:r>
          </a:p>
        </p:txBody>
      </p:sp>
      <p:pic>
        <p:nvPicPr>
          <p:cNvPr id="3" name="Picture 2" descr="en-c7-weekly.jpg"/>
          <p:cNvPicPr>
            <a:picLocks noChangeAspect="1"/>
          </p:cNvPicPr>
          <p:nvPr/>
        </p:nvPicPr>
        <p:blipFill>
          <a:blip r:embed="rId2"/>
          <a:stretch>
            <a:fillRect/>
          </a:stretch>
        </p:blipFill>
        <p:spPr>
          <a:xfrm>
            <a:off x="320040" y="960120"/>
            <a:ext cx="7223760" cy="4289107"/>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Menu Teachers › Schedule. Across = time, down = teachers.</a:t>
            </a:r>
          </a:p>
          <a:p>
            <a:pPr>
              <a:spcAft>
                <a:spcPts val="600"/>
              </a:spcAft>
              <a:defRPr sz="1400"/>
            </a:pPr>
            <a:r>
              <a:t>• Colours: Regular amber · Group pink · Make-up purple · Trial green · Level test blue · Off hatched.</a:t>
            </a:r>
          </a:p>
          <a:p>
            <a:pPr>
              <a:spcAft>
                <a:spcPts val="600"/>
              </a:spcAft>
              <a:defRPr sz="1400"/>
            </a:pPr>
            <a:r>
              <a:t>• Top numbers: total classes · regular · active teachers · free slots. Find free slot finds empty times.</a:t>
            </a:r>
          </a:p>
          <a:p>
            <a:pPr>
              <a:spcAft>
                <a:spcPts val="600"/>
              </a:spcAft>
              <a:defRPr sz="1400"/>
            </a:pPr>
            <a:r>
              <a:t>• 🔒 Locked (top right): dragging does nothing while locked.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7. Timetable (weekly · daily) — Turn editing on</a:t>
            </a:r>
          </a:p>
        </p:txBody>
      </p:sp>
      <p:pic>
        <p:nvPicPr>
          <p:cNvPr id="3" name="Picture 2" descr="en-c7-weekly-edit.jpg"/>
          <p:cNvPicPr>
            <a:picLocks noChangeAspect="1"/>
          </p:cNvPicPr>
          <p:nvPr/>
        </p:nvPicPr>
        <p:blipFill>
          <a:blip r:embed="rId2"/>
          <a:stretch>
            <a:fillRect/>
          </a:stretch>
        </p:blipFill>
        <p:spPr>
          <a:xfrm>
            <a:off x="320040" y="960120"/>
            <a:ext cx="7223760" cy="4289107"/>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Press 🔒 Locked → ✏️ Editing 3:00. It locks again after 3 minutes without a save.</a:t>
            </a:r>
          </a:p>
          <a:p>
            <a:pPr>
              <a:spcAft>
                <a:spcPts val="600"/>
              </a:spcAft>
              <a:defRPr sz="1400"/>
            </a:pPr>
            <a:r>
              <a:t>• After a save, Undo is available for 15 seconds.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7. Timetable (weekly · daily) — Daily view · drag to move</a:t>
            </a:r>
          </a:p>
        </p:txBody>
      </p:sp>
      <p:pic>
        <p:nvPicPr>
          <p:cNvPr id="3" name="Picture 2" descr="en-c7-daily.jpg"/>
          <p:cNvPicPr>
            <a:picLocks noChangeAspect="1"/>
          </p:cNvPicPr>
          <p:nvPr/>
        </p:nvPicPr>
        <p:blipFill>
          <a:blip r:embed="rId2"/>
          <a:stretch>
            <a:fillRect/>
          </a:stretch>
        </p:blipFill>
        <p:spPr>
          <a:xfrm>
            <a:off x="320040" y="960120"/>
            <a:ext cx="7223760" cy="4289107"/>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Day view (the first screen from the sidebar) shows today large.</a:t>
            </a:r>
          </a:p>
          <a:p>
            <a:pPr>
              <a:spcAft>
                <a:spcPts val="600"/>
              </a:spcAft>
              <a:defRPr sz="1400"/>
            </a:pPr>
            <a:r>
              <a:t>• Drag a student card to another time or teacher; it asks “Postpone or Change?”.</a:t>
            </a:r>
          </a:p>
          <a:p>
            <a:pPr>
              <a:spcAft>
                <a:spcPts val="600"/>
              </a:spcAft>
              <a:defRPr sz="1400"/>
            </a:pPr>
            <a:r>
              <a:t>• Postpone = that day only, Change = from now 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7. Timetable (weekly · daily) — Right-click menu</a:t>
            </a:r>
          </a:p>
        </p:txBody>
      </p:sp>
      <p:pic>
        <p:nvPicPr>
          <p:cNvPr id="3" name="Picture 2" descr="en-c7-weekly-ctx.jpg"/>
          <p:cNvPicPr>
            <a:picLocks noChangeAspect="1"/>
          </p:cNvPicPr>
          <p:nvPr/>
        </p:nvPicPr>
        <p:blipFill>
          <a:blip r:embed="rId2"/>
          <a:stretch>
            <a:fillRect/>
          </a:stretch>
        </p:blipFill>
        <p:spPr>
          <a:xfrm>
            <a:off x="320040" y="960120"/>
            <a:ext cx="7223760" cy="4289107"/>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Right-click a class: Details · Postpone · Change · Change time · Delete.</a:t>
            </a:r>
          </a:p>
          <a:p>
            <a:pPr>
              <a:spcAft>
                <a:spcPts val="600"/>
              </a:spcAft>
              <a:defRPr sz="1400"/>
            </a:pPr>
            <a:r>
              <a:t>• Times are picked in 10-minute steps.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8. Payroll</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Teacher pay is calculated automatically from real class records. Amounts are in ₱ (Philippine peso).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8. Payroll — Automatic payroll — calculate</a:t>
            </a:r>
          </a:p>
        </p:txBody>
      </p:sp>
      <p:pic>
        <p:nvPicPr>
          <p:cNvPr id="3" name="Picture 2" descr="en-c8-payroll.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Menu Teachers › Payroll → 💼 Automatic teacher payroll.</a:t>
            </a:r>
          </a:p>
          <a:p>
            <a:pPr>
              <a:spcAft>
                <a:spcPts val="600"/>
              </a:spcAft>
              <a:defRPr sz="1400"/>
            </a:pPr>
            <a:r>
              <a:t>• Choose the month and press 🔍 Calculate.</a:t>
            </a:r>
          </a:p>
          <a:p>
            <a:pPr>
              <a:spcAft>
                <a:spcPts val="600"/>
              </a:spcAft>
              <a:defRPr sz="1400"/>
            </a:pPr>
            <a:r>
              <a:t>• Formula: class minutes ÷ 10 × rate per 10 min, added up per class. Rates by level (e.g. Teacher 1 = ₱50 / 20 min, Teacher 2 = ₱70 / 20 min).</a:t>
            </a:r>
          </a:p>
          <a:p>
            <a:pPr>
              <a:spcAft>
                <a:spcPts val="600"/>
              </a:spcAft>
              <a:defRPr sz="1400"/>
            </a:pPr>
            <a:r>
              <a:t>• Summary: teachers · classes · deductions · final pay · paid. ₩ Show in KRW converts with the exchange rate.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8. Payroll — Per-teacher table</a:t>
            </a:r>
          </a:p>
        </p:txBody>
      </p:sp>
      <p:pic>
        <p:nvPicPr>
          <p:cNvPr id="3" name="Picture 2" descr="en-c8-payroll-table.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Per teacher: level (rate) · classes · minutes · rate per 10 min · lesson fee · deduction · final pay.</a:t>
            </a:r>
          </a:p>
          <a:p>
            <a:pPr>
              <a:spcAft>
                <a:spcPts val="600"/>
              </a:spcAft>
              <a:defRPr sz="1400"/>
            </a:pPr>
            <a:r>
              <a:t>• Change the level right in the table (used from the next calculation).</a:t>
            </a:r>
          </a:p>
          <a:p>
            <a:pPr>
              <a:spcAft>
                <a:spcPts val="600"/>
              </a:spcAft>
              <a:defRPr sz="1400"/>
            </a:pPr>
            <a:r>
              <a:t>• Enter an adjusted amount, press 💾 Save all; after paying press ✅ Mark paid.</a:t>
            </a:r>
          </a:p>
          <a:p>
            <a:pPr>
              <a:spcAft>
                <a:spcPts val="600"/>
              </a:spcAft>
              <a:defRPr sz="1400"/>
            </a:pPr>
            <a:r>
              <a:t>• 📥 CSV downloads it. A “Cafe24” badge means the value came from the Cafe24 monthly sync.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8. Payroll — Class by class (📋 Detail)</a:t>
            </a:r>
          </a:p>
        </p:txBody>
      </p:sp>
      <p:pic>
        <p:nvPicPr>
          <p:cNvPr id="3" name="Picture 2" descr="en-c8-payroll-detail.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 Detail lists each class: date · student · status · minutes · fee · feedback · late minutes · deduction.</a:t>
            </a:r>
          </a:p>
          <a:p>
            <a:pPr>
              <a:spcAft>
                <a:spcPts val="600"/>
              </a:spcAft>
              <a:defRPr sz="1400"/>
            </a:pPr>
            <a:r>
              <a:t>• Student absences, teacher no-shows and missing feedback are counted at the top.</a:t>
            </a:r>
          </a:p>
          <a:p>
            <a:pPr>
              <a:spcAft>
                <a:spcPts val="600"/>
              </a:spcAft>
              <a:defRPr sz="1400"/>
            </a:pPr>
            <a:r>
              <a:t>• Late minutes can be entered here.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8. Payroll — Deduction rules and postponed-class pay</a:t>
            </a:r>
          </a:p>
        </p:txBody>
      </p:sp>
      <p:pic>
        <p:nvPicPr>
          <p:cNvPr id="3" name="Picture 2" descr="en-c8-payroll-rules.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 Deduction rules: edit level rates and deductions, save, then Calculate again.</a:t>
            </a:r>
          </a:p>
          <a:p>
            <a:pPr>
              <a:spcAft>
                <a:spcPts val="600"/>
              </a:spcAft>
              <a:defRPr sz="1400"/>
            </a:pPr>
            <a:r>
              <a:t>• No same-day feedback −₱25/class · late, not extended −₱10/min · teacher no-show.</a:t>
            </a:r>
          </a:p>
          <a:p>
            <a:pPr>
              <a:spcAft>
                <a:spcPts val="600"/>
              </a:spcAft>
              <a:defRPr sz="1400"/>
            </a:pPr>
            <a:r>
              <a:t>• Student absent pay % (default 0%), Postponed class pay % (default 100%), Early postpone (30+ min before start) pay % (default 0%).</a:t>
            </a:r>
          </a:p>
          <a:p>
            <a:pPr>
              <a:spcAft>
                <a:spcPts val="600"/>
              </a:spcAft>
              <a:defRPr sz="1400"/>
            </a:pPr>
            <a:r>
              <a:t>• So with the defaults, a class postponed within 30 minutes of start is paid; one postponed earlier is not.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9. Approvals · Daily handover</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Spending goes through Approvals; daily work goes in the daily handover.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9. Approvals · Daily handover — Approvals</a:t>
            </a:r>
          </a:p>
        </p:txBody>
      </p:sp>
      <p:pic>
        <p:nvPicPr>
          <p:cNvPr id="3" name="Picture 2" descr="en-c9-approval.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Approvals at the top of the left menu (number = items waiting for you).</a:t>
            </a:r>
          </a:p>
          <a:p>
            <a:pPr>
              <a:spcAft>
                <a:spcPts val="600"/>
              </a:spcAft>
              <a:defRPr sz="1400"/>
            </a:pPr>
            <a:r>
              <a:t>• For me to approve: check the content, amount and attachments, then Approve / Reject. Items that passed every check can be approved together.</a:t>
            </a:r>
          </a:p>
          <a:p>
            <a:pPr>
              <a:spcAft>
                <a:spcPts val="600"/>
              </a:spcAft>
              <a:defRPr sz="1400"/>
            </a:pPr>
            <a:r>
              <a:t>• Supplies/expenses of ₱5,000 or more need the approver and then the CEO. Below that the approver decides and the CEO only “acknowledges”.</a:t>
            </a:r>
          </a:p>
          <a:p>
            <a:pPr>
              <a:spcAft>
                <a:spcPts val="600"/>
              </a:spcAft>
              <a:defRPr sz="1400"/>
            </a:pPr>
            <a:r>
              <a:t>• If the AI receipt reading looks wrong (e.g. a date far in the past) it is not auto-rejected — it is only marked yellow.</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9. Approvals · Daily handover — Daily handover</a:t>
            </a:r>
          </a:p>
        </p:txBody>
      </p:sp>
      <p:pic>
        <p:nvPicPr>
          <p:cNvPr id="3" name="Picture 2" descr="en-c9-handover.jpg"/>
          <p:cNvPicPr>
            <a:picLocks noChangeAspect="1"/>
          </p:cNvPicPr>
          <p:nvPr/>
        </p:nvPicPr>
        <p:blipFill>
          <a:blip r:embed="rId2"/>
          <a:stretch>
            <a:fillRect/>
          </a:stretch>
        </p:blipFill>
        <p:spPr>
          <a:xfrm>
            <a:off x="320040" y="960120"/>
            <a:ext cx="7223760" cy="4514850"/>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/daily-handover (also from the banner on the admin home).</a:t>
            </a:r>
          </a:p>
          <a:p>
            <a:pPr>
              <a:spcAft>
                <a:spcPts val="600"/>
              </a:spcAft>
              <a:defRPr sz="1400"/>
            </a:pPr>
            <a:r>
              <a:t>• Write my report: work done · issues · follow-up → recipient → Confirm &amp; send. You can also record your voice.</a:t>
            </a:r>
          </a:p>
          <a:p>
            <a:pPr>
              <a:spcAft>
                <a:spcPts val="600"/>
              </a:spcAft>
              <a:defRPr sz="1400"/>
            </a:pPr>
            <a:r>
              <a:t>• Received reports can be read with “Translate to Korean”.</a:t>
            </a:r>
          </a:p>
          <a:p>
            <a:pPr>
              <a:spcAft>
                <a:spcPts val="600"/>
              </a:spcAft>
              <a:defRPr sz="1400"/>
            </a:pPr>
            <a:r>
              <a:t>• AI flags lines that need approval; Move to approval starts one directly.</a:t>
            </a:r>
          </a:p>
          <a:p>
            <a:pPr>
              <a:spcAft>
                <a:spcPts val="600"/>
              </a:spcAft>
              <a:defRPr sz="1400"/>
            </a:pPr>
            <a:r>
              <a:t>• If you skip a workday, you and the CEO get a reminder next morning (holidays excluded).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r>
              <a:rPr sz="3600" b="1">
                <a:solidFill>
                  <a:srgbClr val="111827"/>
                </a:solidFill>
              </a:rPr>
              <a:t>10. A.i content payment (agencies)</a:t>
            </a:r>
          </a:p>
        </p:txBody>
      </p:sp>
      <p:sp>
        <p:nvSpPr>
          <p:cNvPr id="4" name="TextBox 3"/>
          <p:cNvSpPr txBox="1"/>
          <p:nvPr/>
        </p:nvSpPr>
        <p:spPr>
          <a:xfrm>
            <a:off x="731520" y="3474720"/>
            <a:ext cx="10698480" cy="1280160"/>
          </a:xfrm>
          <a:prstGeom prst="rect">
            <a:avLst/>
          </a:prstGeom>
          <a:noFill/>
        </p:spPr>
        <p:txBody>
          <a:bodyPr wrap="square">
            <a:spAutoFit/>
          </a:bodyPr>
          <a:lstStyle/>
          <a:p>
            <a:r>
              <a:rPr sz="1800" b="0">
                <a:solidFill>
                  <a:srgbClr val="4B5563"/>
                </a:solidFill>
              </a:rPr>
              <a:t>Agencies (academies) choose the students who will use A.i next month and pay by card by the last day of this month. Only agency accounts pay — HQ staff should know this flow to answer questions. The 4-page guide to send to agencies is «🤖 A.i Content Payment Guide» in the library.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Agency login · open the menu</a:t>
            </a:r>
          </a:p>
        </p:txBody>
      </p:sp>
      <p:pic>
        <p:nvPicPr>
          <p:cNvPr id="3" name="Picture 2" descr="en-p2-menu.jpg"/>
          <p:cNvPicPr>
            <a:picLocks noChangeAspect="1"/>
          </p:cNvPicPr>
          <p:nvPr/>
        </p:nvPicPr>
        <p:blipFill>
          <a:blip r:embed="rId2"/>
          <a:stretch>
            <a:fillRect/>
          </a:stretch>
        </p:blipFill>
        <p:spPr>
          <a:xfrm>
            <a:off x="320040" y="960120"/>
            <a:ext cx="7223760" cy="2498540"/>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An agency logs in at mangoi.ai/admin/login with its agency ID and gets the agency screen.</a:t>
            </a:r>
          </a:p>
          <a:p>
            <a:pPr>
              <a:spcAft>
                <a:spcPts val="600"/>
              </a:spcAft>
              <a:defRPr sz="1400"/>
            </a:pPr>
            <a:r>
              <a:t>• ④ Left menu Settlement &amp; stats › 🤖 A.i content payment. This menu appears only for agency accounts (not for HQ or branch accounts).</a:t>
            </a:r>
          </a:p>
          <a:p>
            <a:pPr>
              <a:spcAft>
                <a:spcPts val="600"/>
              </a:spcAft>
              <a:defRPr sz="1400"/>
            </a:pPr>
            <a:r>
              <a:t>• HQ uses Finance › 🏢 AI Usage Fee (A.i Learning Fee Management) to see each academy’s headcount and estimated invoice, set custom rates, and turn auto-billing on or off. There is no pay button there.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Load the student list</a:t>
            </a:r>
          </a:p>
        </p:txBody>
      </p:sp>
      <p:pic>
        <p:nvPicPr>
          <p:cNvPr id="3" name="Picture 2" descr="en-p3-load.jpg"/>
          <p:cNvPicPr>
            <a:picLocks noChangeAspect="1"/>
          </p:cNvPicPr>
          <p:nvPr/>
        </p:nvPicPr>
        <p:blipFill>
          <a:blip r:embed="rId2"/>
          <a:stretch>
            <a:fillRect/>
          </a:stretch>
        </p:blipFill>
        <p:spPr>
          <a:xfrm>
            <a:off x="320040" y="960120"/>
            <a:ext cx="7223760" cy="3982425"/>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Check the due date at the top (last day of this month · D-days left). The payment is for next month.</a:t>
            </a:r>
          </a:p>
          <a:p>
            <a:pPr>
              <a:spcAft>
                <a:spcPts val="600"/>
              </a:spcAft>
              <a:defRPr sz="1400"/>
            </a:pPr>
            <a:r>
              <a:t>• Counters: Signed up for A.i (to be paid) · Not signed up · Video class (included) — video-class students get A.i with their tuition and are not paid here.</a:t>
            </a:r>
          </a:p>
          <a:p>
            <a:pPr>
              <a:spcAft>
                <a:spcPts val="600"/>
              </a:spcAft>
              <a:defRPr sz="1400"/>
            </a:pPr>
            <a:r>
              <a:t>• ⑤ Load my students and choose only loads the list. Nothing is paid at this point.</a:t>
            </a:r>
          </a:p>
          <a:p>
            <a:pPr>
              <a:spcAft>
                <a:spcPts val="600"/>
              </a:spcAft>
              <a:defRPr sz="1400"/>
            </a:pPr>
            <a:r>
              <a:t>• If HQ has not turned on auto-billing yet, the agency only sees «Head office has not opened A.i content payment yet (test period)» — it is not broken.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Choose next month’s students</a:t>
            </a:r>
          </a:p>
        </p:txBody>
      </p:sp>
      <p:pic>
        <p:nvPicPr>
          <p:cNvPr id="3" name="Picture 2" descr="en-p4-check.jpg"/>
          <p:cNvPicPr>
            <a:picLocks noChangeAspect="1"/>
          </p:cNvPicPr>
          <p:nvPr/>
        </p:nvPicPr>
        <p:blipFill>
          <a:blip r:embed="rId2"/>
          <a:stretch>
            <a:fillRect/>
          </a:stretch>
        </p:blipFill>
        <p:spPr>
          <a:xfrm>
            <a:off x="320040" y="960120"/>
            <a:ext cx="7223760" cy="3284926"/>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⑥ Only students checked under Paying for A.i content are paid. Unchecking a student who left removes them before payment.</a:t>
            </a:r>
          </a:p>
          <a:p>
            <a:pPr>
              <a:spcAft>
                <a:spcPts val="600"/>
              </a:spcAft>
              <a:defRPr sz="1400"/>
            </a:pPr>
            <a:r>
              <a:t>• Search by name or ID; Unselect all shown / Select all shown changes many at once (it asks how many first).</a:t>
            </a:r>
          </a:p>
          <a:p>
            <a:pPr>
              <a:spcAft>
                <a:spcPts val="600"/>
              </a:spcAft>
              <a:defRPr sz="1400"/>
            </a:pPr>
            <a:r>
              <a:t>• The server recalculates the amount every time a check changes.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Not signed up · video-class students</a:t>
            </a:r>
          </a:p>
        </p:txBody>
      </p:sp>
      <p:pic>
        <p:nvPicPr>
          <p:cNvPr id="3" name="Picture 2" descr="en-p4-notyet.jpg"/>
          <p:cNvPicPr>
            <a:picLocks noChangeAspect="1"/>
          </p:cNvPicPr>
          <p:nvPr/>
        </p:nvPicPr>
        <p:blipFill>
          <a:blip r:embed="rId2"/>
          <a:stretch>
            <a:fillRect/>
          </a:stretch>
        </p:blipFill>
        <p:spPr>
          <a:xfrm>
            <a:off x="320040" y="960120"/>
            <a:ext cx="7223760" cy="1845987"/>
          </a:xfrm>
          <a:prstGeom prst="rect">
            <a:avLst/>
          </a:prstGeom>
        </p:spPr>
      </p:pic>
      <p:sp>
        <p:nvSpPr>
          <p:cNvPr id="4" name="TextBox 3"/>
          <p:cNvSpPr txBox="1"/>
          <p:nvPr/>
        </p:nvSpPr>
        <p:spPr>
          <a:xfrm>
            <a:off x="7772400" y="960120"/>
            <a:ext cx="4114799" cy="5669280"/>
          </a:xfrm>
          <a:prstGeom prst="rect">
            <a:avLst/>
          </a:prstGeom>
          <a:noFill/>
        </p:spPr>
        <p:txBody>
          <a:bodyPr wrap="square">
            <a:spAutoFit/>
          </a:bodyPr>
          <a:lstStyle/>
          <a:p>
            <a:pPr>
              <a:spcAft>
                <a:spcPts val="600"/>
              </a:spcAft>
              <a:defRPr sz="1400"/>
            </a:pPr>
            <a:r>
              <a:t>• ⑦ Checking a student under Not signed up adds them to the payment.</a:t>
            </a:r>
          </a:p>
          <a:p>
            <a:pPr>
              <a:spcAft>
                <a:spcPts val="600"/>
              </a:spcAft>
              <a:defRPr sz="1400"/>
            </a:pPr>
            <a:r>
              <a:t>• 📹 Video-class students are folded away. A.i is included in their tuition, so they are not chosen — check one only if the classification is wrong.</a:t>
            </a:r>
          </a:p>
          <a:p>
            <a:pPr>
              <a:spcAft>
                <a:spcPts val="600"/>
              </a:spcAft>
              <a:defRPr sz="1400"/>
            </a:pPr>
            <a:r>
              <a:t>• Students the academy changed get a «✔ confirmed by academy» tag, and automatic classification no longer changes them.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Check the amount · pay by card</a:t>
            </a:r>
          </a:p>
        </p:txBody>
      </p:sp>
      <p:pic>
        <p:nvPicPr>
          <p:cNvPr id="3" name="Picture 2" descr="en-p5-pay.jpg"/>
          <p:cNvPicPr>
            <a:picLocks noChangeAspect="1"/>
          </p:cNvPicPr>
          <p:nvPr/>
        </p:nvPicPr>
        <p:blipFill>
          <a:blip r:embed="rId2"/>
          <a:stretch>
            <a:fillRect/>
          </a:stretch>
        </p:blipFill>
        <p:spPr>
          <a:xfrm>
            <a:off x="320040" y="960120"/>
            <a:ext cx="7223760" cy="3209724"/>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⑧ Check the number of students and the total, then ⑨ Pay OOO KRW → confirm → pay in the Toss card window.</a:t>
            </a:r>
          </a:p>
          <a:p>
            <a:pPr>
              <a:spcAft>
                <a:spcPts val="600"/>
              </a:spcAft>
              <a:defRPr sz="1400"/>
            </a:pPr>
            <a:r>
              <a:t>• Price per student per month: 20 or fewer 7,500 · 21–50 6,500 · 51–70 5,500 · 71 or more 4,500 KRW. No minimum charge (since 2026-10-26).</a:t>
            </a:r>
          </a:p>
          <a:p>
            <a:pPr>
              <a:spcAft>
                <a:spcPts val="600"/>
              </a:spcAft>
              <a:defRPr sz="1400"/>
            </a:pPr>
            <a:r>
              <a:t>• The total never goes down as students are added (e.g. 21–23 students = 150,000 KRW). The server recalculates the amount at the moment of payment — the screen number is for display. Academies with an HQ custom rate pay that rate × students.</a:t>
            </a:r>
          </a:p>
          <a:p>
            <a:pPr>
              <a:spcAft>
                <a:spcPts val="600"/>
              </a:spcAft>
              <a:defRPr sz="1400"/>
            </a:pPr>
            <a:r>
              <a:t>• The demo account (testagency) does not open the payment window (sample data).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200" b="1">
                <a:solidFill>
                  <a:srgbClr val="111827"/>
                </a:solidFill>
              </a:rPr>
              <a:t>10. A.i content payment (agencies) — Check the payment · extra payment</a:t>
            </a:r>
          </a:p>
        </p:txBody>
      </p:sp>
      <p:pic>
        <p:nvPicPr>
          <p:cNvPr id="3" name="Picture 2" descr="en-p6-done.jpg"/>
          <p:cNvPicPr>
            <a:picLocks noChangeAspect="1"/>
          </p:cNvPicPr>
          <p:nvPr/>
        </p:nvPicPr>
        <p:blipFill>
          <a:blip r:embed="rId2"/>
          <a:stretch>
            <a:fillRect/>
          </a:stretch>
        </p:blipFill>
        <p:spPr>
          <a:xfrm>
            <a:off x="320040" y="960120"/>
            <a:ext cx="7223760" cy="1011477"/>
          </a:xfrm>
          <a:prstGeom prst="rect">
            <a:avLst/>
          </a:prstGeom>
        </p:spPr>
      </p:pic>
      <p:sp>
        <p:nvSpPr>
          <p:cNvPr id="4" name="TextBox 3"/>
          <p:cNvSpPr txBox="1"/>
          <p:nvPr/>
        </p:nvSpPr>
        <p:spPr>
          <a:xfrm>
            <a:off x="7772400" y="960120"/>
            <a:ext cx="4114800" cy="5669280"/>
          </a:xfrm>
          <a:prstGeom prst="rect">
            <a:avLst/>
          </a:prstGeom>
          <a:noFill/>
        </p:spPr>
        <p:txBody>
          <a:bodyPr wrap="square">
            <a:spAutoFit/>
          </a:bodyPr>
          <a:lstStyle/>
          <a:p>
            <a:pPr>
              <a:spcAft>
                <a:spcPts val="600"/>
              </a:spcAft>
              <a:defRPr sz="1400"/>
            </a:pPr>
            <a:r>
              <a:t>• ⑩ A ✅ under Past payments means paid. After paying, «Paid» appears and paid students are pinned at the top.</a:t>
            </a:r>
          </a:p>
          <a:p>
            <a:pPr>
              <a:spcAft>
                <a:spcPts val="600"/>
              </a:spcAft>
              <a:defRPr sz="1400"/>
            </a:pPr>
            <a:r>
              <a:t>• To add students in the same month, check them below and press Pay extra — only the added students are charged.</a:t>
            </a:r>
          </a:p>
          <a:p>
            <a:pPr>
              <a:spcAft>
                <a:spcPts val="600"/>
              </a:spcAft>
              <a:defRPr sz="1400"/>
            </a:pPr>
            <a:r>
              <a:t>• Students already paid for cannot be removed or changed on the screen. HQ handles refunds.</a:t>
            </a:r>
          </a:p>
          <a:p>
            <a:pPr>
              <a:spcAft>
                <a:spcPts val="600"/>
              </a:spcAft>
              <a:defRPr sz="1400"/>
            </a:pPr>
            <a:r>
              <a:t>• If an earlier month is unpaid, a «⚠️ Unpaid A.i content invoice(s)» button appears at the 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