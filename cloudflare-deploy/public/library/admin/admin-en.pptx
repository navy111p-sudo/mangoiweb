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4F46E5"/>
              </a:solidFill>
            </c:spPr>
          </c:dPt>
          <c:dPt>
            <c:idx val="1"/>
            <c:spPr>
              <a:solidFill>
                <a:srgbClr val="0EA5E9"/>
              </a:solidFill>
            </c:spPr>
          </c:dPt>
          <c:dPt>
            <c:idx val="2"/>
            <c:spPr>
              <a:solidFill>
                <a:srgbClr val="10B981"/>
              </a:solidFill>
            </c:spPr>
          </c:dPt>
          <c:cat>
            <c:strRef>
              <c:f>Sheet1!$A$2:$A$4</c:f>
              <c:strCache>
                <c:ptCount val="3"/>
                <c:pt idx="0">
                  <c:v>Revenue (10k KRW)</c:v>
                </c:pt>
                <c:pt idx="1">
                  <c:v>Enrolled</c:v>
                </c:pt>
                <c:pt idx="2">
                  <c:v>Attendance (%)</c:v>
                </c:pt>
              </c:strCache>
            </c:strRef>
          </c:cat>
          <c:val>
            <c:numRef>
              <c:f>Sheet1!$B$2:$B$4</c:f>
              <c:numCache>
                <c:formatCode>General</c:formatCode>
                <c:ptCount val="3"/>
                <c:pt idx="0">
                  <c:v>82</c:v>
                </c:pt>
                <c:pt idx="1">
                  <c:v>312</c:v>
                </c:pt>
                <c:pt idx="2">
                  <c:v>94</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4F46E5"/>
              </a:solidFill>
            </c:spPr>
          </c:dPt>
          <c:dPt>
            <c:idx val="1"/>
            <c:spPr>
              <a:solidFill>
                <a:srgbClr val="7C3AED"/>
              </a:solidFill>
            </c:spPr>
          </c:dPt>
          <c:dPt>
            <c:idx val="2"/>
            <c:spPr>
              <a:solidFill>
                <a:srgbClr val="0EA5E9"/>
              </a:solidFill>
            </c:spPr>
          </c:dPt>
          <c:dPt>
            <c:idx val="3"/>
            <c:spPr>
              <a:solidFill>
                <a:srgbClr val="F59E0B"/>
              </a:solidFill>
            </c:spPr>
          </c:dPt>
          <c:dPt>
            <c:idx val="4"/>
            <c:spPr>
              <a:solidFill>
                <a:srgbClr val="10B981"/>
              </a:solidFill>
            </c:spPr>
          </c:dPt>
          <c:cat>
            <c:strRef>
              <c:f>Sheet1!$A$2:$A$6</c:f>
              <c:strCache>
                <c:ptCount val="5"/>
                <c:pt idx="0">
                  <c:v>Teachers</c:v>
                </c:pt>
                <c:pt idx="1">
                  <c:v>Accounting</c:v>
                </c:pt>
                <c:pt idx="2">
                  <c:v>Students</c:v>
                </c:pt>
                <c:pt idx="3">
                  <c:v>Content</c:v>
                </c:pt>
                <c:pt idx="4">
                  <c:v>System</c:v>
                </c:pt>
              </c:strCache>
            </c:strRef>
          </c:cat>
          <c:val>
            <c:numRef>
              <c:f>Sheet1!$B$2:$B$6</c:f>
              <c:numCache>
                <c:formatCode>General</c:formatCode>
                <c:ptCount val="5"/>
                <c:pt idx="0">
                  <c:v>11</c:v>
                </c:pt>
                <c:pt idx="1">
                  <c:v>8</c:v>
                </c:pt>
                <c:pt idx="2">
                  <c:v>14</c:v>
                </c:pt>
                <c:pt idx="3">
                  <c:v>11</c:v>
                </c:pt>
                <c:pt idx="4">
                  <c:v>12</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Safe</c:v>
                </c:pt>
                <c:pt idx="1">
                  <c:v>Watch</c:v>
                </c:pt>
                <c:pt idx="2">
                  <c:v>At risk</c:v>
                </c:pt>
              </c:strCache>
            </c:strRef>
          </c:cat>
          <c:val>
            <c:numRef>
              <c:f>Sheet1!$B$2:$B$4</c:f>
              <c:numCache>
                <c:formatCode>General</c:formatCode>
                <c:ptCount val="3"/>
                <c:pt idx="0">
                  <c:v>68</c:v>
                </c:pt>
                <c:pt idx="1">
                  <c:v>22</c:v>
                </c:pt>
                <c:pt idx="2">
                  <c:v>10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730A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4F46E5"/>
                </a:solidFill>
                <a:latin typeface="Malgun Gothic"/>
              </a:rPr>
              <a:t>🏫 ADMIN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Admin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Everything about running your academy,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Academy directors · HQ · operations managers   |   test.mangoi.co.kr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4F46E5"/>
                </a:solidFill>
                <a:latin typeface="Malgun Gothic"/>
              </a:rPr>
              <a:t>What is the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admin page gathers everything you need to run an academy — students, teachers, payments, parents and content — on one screen. In particular, the AI Operations Assistant looks things up and even handles tasks when you tell it by voice or text, making operations much faster. Menus and data scope adjust automatically based on your role (permissions).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Ops Assistant</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Tell it by voice/text; it finds and handles it.</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 search · card menus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Type part of a name to jump right there.</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Retention Center</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Churn risk · contagion · settlement · coaching hub.</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Org settlement</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HQ → branch → agency auto-settlement.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4F46E5"/>
                </a:solidFill>
                <a:latin typeface="Malgun Gothic"/>
              </a:rPr>
              <a:t>Today's Key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Admin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Data scope by role, automatically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Logging in with an admin account shows only the menus and data that match your role (director, HQ, staff, etc.). Social login and password reset are supported.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Log in with ID and password (Kakao, Naver, Google also 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Forgot your password? Reset via 'Find password' (SMS/email/Kakao).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Visible menus and data scope change automatically by role.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New here? Preview with 'View demo account'.</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Permission settings let you split access per staff member.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Turn on 'Save ID' only on your own trusted PC.</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shared PCs, turn off auto-login and always log out when done.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Dashboard &amp; Feature Search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feature as a card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login, categories (Teachers, Accounting, Students, Content, System) are organized as cards. Just type a word in the top search box to jump straight to a feature.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From the category cards (Teachers·Accounting·Students·Content·System), tap the feature you want.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Type a word in the feature search box to jump right there.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number beside each category is how many features it holds.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Self-check · Color/Bright · EN at the top to change screen and language.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If you can't find a feature, search is fastest.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also tell the AI assistant 'open ○○' to jump there.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Remember search terms for features you use often to cut clicks.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Tell it by voice/text; it acts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Speak or type into the search/mic and the AI looks up numbers or opens screens. Important actions are confirmed first, and it only does what your permissions allow — so it's safe.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Speak or type into the center search/mic. e.g. 'How's today's revenue?'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AI looks up numbers or opens a screen. e.g. 'Open student management.'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Important actions are confirmed with 'Shall I?' first. e.g. 'Push Jung Woo-young's next lesson by 1 hour.'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assistant only executes tasks you have permission for.</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Can't find a button? Just say 'show me ○○'.</a:t>
            </a:r>
          </a:p>
          <a:p>
            <a:pPr>
              <a:lnSpc>
                <a:spcPct val="115000"/>
              </a:lnSpc>
              <a:spcAft>
                <a:spcPts val="200"/>
              </a:spcAft>
            </a:pPr>
            <a:r>
              <a:rPr sz="900" b="1">
                <a:solidFill>
                  <a:srgbClr val="4F46E5"/>
                </a:solidFill>
                <a:latin typeface="Malgun Gothic"/>
              </a:rPr>
              <a:t>● </a:t>
            </a:r>
            <a:r>
              <a:rPr sz="1100">
                <a:solidFill>
                  <a:srgbClr val="334155"/>
                </a:solidFill>
                <a:latin typeface="Malgun Gothic"/>
              </a:rPr>
              <a:t>Voice and text both work the same.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busy, telling it by voice is much faster than clicking.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Lesson Entry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To support students &amp; teachers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Even without teaching, admins should know how students and teachers enter so you can answer questions and fix problems. Entry uses a name and a room code (or the shared room).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entry screen, enter a name and room code, then press Enter.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the room code is empty, you go to the shared lesson room.</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Advise that the browser's camera/mic permission is required.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trouble, first advise reconnecting in Chrome/Edge.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KakaoTalk's in-app browser blocks the camera — 'open in an external browser' is needed.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Lessons needing room/token management can be checked from the admin screen.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Most 'can't enter' tickets are browser permission issues — check permissions and browser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frequent entry questions into an FAQ to cut support load.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Layout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Screen structure for support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Admins don't teach, but knowing the classroom layout makes support easy. It has a top bar (room info, timer, REC, EN, dark), a center workspace (tab tools), and a bottom control dock (camera, screen share, chat, leave).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Top bar: room name · user count · timer · recording (REC) · language (EN) · dark mode.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Center tabs: Board · Video · Games · Background · AI Warm-up · Review Quiz + Materials Tools · Writing Tools.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Bottom dock: Settings · Camera · Screen Share · Chat · Native · Leave.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 praise basket at the top-left collects praise during class.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For 'no sound/video' tickets, tell users to check the dock's camera/mic and ⚙️ Settings.</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REC indicator shows whether a lesson is being recorded.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common classroom questions into an FAQ with these screenshots.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Tools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materials · background · video</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Knowing the tools students and teachers use makes guidance easier. The core ones are the board (draw/save), materials tools (upload PDF/photos, library), background (backdrop &amp; face decorations), and video (YouTube/file).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 Board: pen, shapes, text, AI shapes, save.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Materials Tools: upload (PDF/JPG/PNG), library, page turning, fit-to-screen.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Background: change backdrop, decorate face.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Video: share YouTube links / video files.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materials 'Library' shows textbooks the admin uploaded — it ties into content management.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Coach teachers on the 'pre-upload materials → share in class' flow.</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well-stocked textbook library helps teachers prep faster.</a:t>
            </a:r>
          </a:p>
        </p:txBody>
      </p:sp>
      <p:sp>
        <p:nvSpPr>
          <p:cNvPr id="19" name="Rectangle 18"/>
          <p:cNvSpPr/>
          <p:nvPr/>
        </p:nvSpPr>
        <p:spPr>
          <a:xfrm>
            <a:off x="630021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137802"/>
            <a:ext cx="2651760" cy="1576554"/>
          </a:xfrm>
          <a:prstGeom prst="rect">
            <a:avLst/>
          </a:prstGeom>
        </p:spPr>
      </p:pic>
      <p:sp>
        <p:nvSpPr>
          <p:cNvPr id="21" name="Rectangle 20"/>
          <p:cNvSpPr/>
          <p:nvPr/>
        </p:nvSpPr>
        <p:spPr>
          <a:xfrm>
            <a:off x="913485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materials_dock.jpg"/>
          <p:cNvPicPr>
            <a:picLocks noChangeAspect="1"/>
          </p:cNvPicPr>
          <p:nvPr/>
        </p:nvPicPr>
        <p:blipFill>
          <a:blip r:embed="rId3"/>
          <a:stretch>
            <a:fillRect/>
          </a:stretch>
        </p:blipFill>
        <p:spPr>
          <a:xfrm>
            <a:off x="9189720" y="2137802"/>
            <a:ext cx="2651760" cy="1576554"/>
          </a:xfrm>
          <a:prstGeom prst="rect">
            <a:avLst/>
          </a:prstGeom>
        </p:spPr>
      </p:pic>
      <p:sp>
        <p:nvSpPr>
          <p:cNvPr id="23" name="Rectangle 22"/>
          <p:cNvSpPr/>
          <p:nvPr/>
        </p:nvSpPr>
        <p:spPr>
          <a:xfrm>
            <a:off x="630021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oom_bg.jpg"/>
          <p:cNvPicPr>
            <a:picLocks noChangeAspect="1"/>
          </p:cNvPicPr>
          <p:nvPr/>
        </p:nvPicPr>
        <p:blipFill>
          <a:blip r:embed="rId4"/>
          <a:stretch>
            <a:fillRect/>
          </a:stretch>
        </p:blipFill>
        <p:spPr>
          <a:xfrm>
            <a:off x="6355080" y="4515242"/>
            <a:ext cx="2651760" cy="1576554"/>
          </a:xfrm>
          <a:prstGeom prst="rect">
            <a:avLst/>
          </a:prstGeom>
        </p:spPr>
      </p:pic>
      <p:sp>
        <p:nvSpPr>
          <p:cNvPr id="25" name="Rectangle 24"/>
          <p:cNvSpPr/>
          <p:nvPr/>
        </p:nvSpPr>
        <p:spPr>
          <a:xfrm>
            <a:off x="913485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om_video.jpg"/>
          <p:cNvPicPr>
            <a:picLocks noChangeAspect="1"/>
          </p:cNvPicPr>
          <p:nvPr/>
        </p:nvPicPr>
        <p:blipFill>
          <a:blip r:embed="rId5"/>
          <a:stretch>
            <a:fillRect/>
          </a:stretch>
        </p:blipFill>
        <p:spPr>
          <a:xfrm>
            <a:off x="9189720" y="4515242"/>
            <a:ext cx="2651760" cy="157655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(give &amp; accrue)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adds to student points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During class the teacher instantly gives praise points (+1P) to students, and a post-class star rating adds +10P. These sum into the student's total points and are spent in the point shop, roulette, etc. Admins manage the points policy and shop.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The teacher gives +1P instantly via the 🌟 praise button on a student's video.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It accrues in real time in the student's 🧺 point basket and sums into their total (P).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 post-class star rating gives the student an extra +10P.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Accrued points connect to rewards in the point shop / roulette.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Admins manage accrual/usage policy under Accounting/Points.</a:t>
            </a:r>
          </a:p>
        </p:txBody>
      </p:sp>
      <p:sp>
        <p:nvSpPr>
          <p:cNvPr id="14" name="Rounded Rectangle 13"/>
          <p:cNvSpPr/>
          <p:nvPr/>
        </p:nvSpPr>
        <p:spPr>
          <a:xfrm>
            <a:off x="457200" y="5166360"/>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help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shop rewards lets you tune learning motivation.</a:t>
            </a:r>
          </a:p>
        </p:txBody>
      </p:sp>
      <p:sp>
        <p:nvSpPr>
          <p:cNvPr id="17" name="Rounded Rectangle 16"/>
          <p:cNvSpPr/>
          <p:nvPr/>
        </p:nvSpPr>
        <p:spPr>
          <a:xfrm>
            <a:off x="457200" y="6281928"/>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the points policy and shop are the admin's job.</a:t>
            </a:r>
          </a:p>
        </p:txBody>
      </p:sp>
      <p:sp>
        <p:nvSpPr>
          <p:cNvPr id="19" name="Rounded Rectangle 18"/>
          <p:cNvSpPr/>
          <p:nvPr/>
        </p:nvSpPr>
        <p:spPr>
          <a:xfrm>
            <a:off x="457200" y="701344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05916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Periodically check that points flow well (given &amp; spent) to manage motivation.</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Payroll · matching · reviews · MBTI</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teacher list, profiles, payroll, matching and reviews in one place. Gather star ratings students leave, by teacher, to use in coaching.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Teachers, check the teacher list, profiles and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payroll, MBTI/style and student↔teacher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Gather each teacher's lesson reviews (stars).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Better matching raises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Link low-rated teachers to the coaching tab.</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Assign top teachers to popular slots first to boost satisfaction.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Accounting · Points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Payments · overdue · points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payments, overdue balances and refunds, plus point/gift accrual and use. Amounts are auto-calculated by policy to reduce mistakes.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process payments, overdue balances and refunds.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point/gift accrual and 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Notify overdue items via alert-talk/SMS.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Manage recurring payments and overdue on one screen.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drive learning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Automating overdue alerts raises collection rates.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Points &amp; Reward Policy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Praise points → shop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 praise points a student gets during class and the star rating (+10P) all accrue to the student's total points, leading to point-shop, roulette and gift rewards. Admins manage this accrual/usage flow and the reward line-up.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accrual paths: points build from in-class teacher praise (+1P), end-of-class rating (+10P), game learning, etc.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check each student's accrual/usage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the point-shop / roulette rewards and gift line-up.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abnormal accrual/errors are suspected, look up the history and adjust.</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(praise points) boost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rewards lets you tune motivation and cost together.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are summed into the student's top-bar P and My Page.</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Teachers give praise points; admins configure the shop/reward/gift policy.</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Setting stock/limits on popular rewards keeps costs stable.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Refund Policy &amp; Processing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Auto-calculated by the table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Amounts are auto-calculated per the refund table (100% before the lesson starts, tiered by progress). Discounted payments are recalculated at the list price.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refund request timing and calculate by the table.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discounted payments, apply the list-price recalculation rule.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absence rule for lessons missed without postponing.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table reduces disputes.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Explain the policy to parents before processing.</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For discounted lessons, already-taken lessons are deducted at list price, then the balance is refunded.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refund/postpone policies at signup greatly reduces conflict.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 Parent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Real-data roster · attendance · grades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enrolled roster, attendance and grades. The student list is linked to real member data, and you can see each student's history at a glance.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Students/Parents, check the enrolled roster.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View attendance/reviews/points/chat history by student.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Flag students who need counseling/management.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student list is linked to real members.</a:t>
            </a:r>
          </a:p>
          <a:p>
            <a:pPr>
              <a:lnSpc>
                <a:spcPct val="115000"/>
              </a:lnSpc>
              <a:spcAft>
                <a:spcPts val="200"/>
              </a:spcAft>
            </a:pPr>
            <a:r>
              <a:rPr sz="900" b="1">
                <a:solidFill>
                  <a:srgbClr val="4F46E5"/>
                </a:solidFill>
                <a:latin typeface="Malgun Gothic"/>
              </a:rPr>
              <a:t>● </a:t>
            </a:r>
            <a:r>
              <a:rPr sz="1100">
                <a:solidFill>
                  <a:srgbClr val="334155"/>
                </a:solidFill>
                <a:latin typeface="Malgun Gothic"/>
              </a:rPr>
              <a:t>At-risk students link to the Retention Center.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Counsel frequently-absent students quickly to prevent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My-Page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learning with just a student ID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attendance, reviews, payments and AI-recommended study on one screen just by entering their child's student ID. It reduces support questions and raises satisfaction.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Share the my-page link with 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parent enters the child's student ID and looks it 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They see 30-day attendance, points, payments, reviews and the monthly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Easy access with just the student ID.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monthly report can be printed or saved as PDF.</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Advise parents to manage the student ID like a password.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my-page at signup reduces questions.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Schedule assignment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booking screen to assign lesson type, teacher, date and time. You can review and adjust students' booking status.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Booking, assign lesson type, teacher and time.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empty slots and overlaps and adjust.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Once confirmed, students and teachers are notified.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Spread popular slots to balance teacher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Recurring bookings can be set.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Pre-register each teacher's available times to speed up assignment.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&amp; process requests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process them per policy. Last-minute requests outside policy link to the absence/deduction rule.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within policy (advance notice), adjust the schedule.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Changes are auto-announced to both sides.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Clearly announce the postpone cutoff.</a:t>
            </a:r>
          </a:p>
          <a:p>
            <a:pPr>
              <a:lnSpc>
                <a:spcPct val="115000"/>
              </a:lnSpc>
              <a:spcAft>
                <a:spcPts val="200"/>
              </a:spcAft>
            </a:pPr>
            <a:r>
              <a:rPr sz="900" b="1">
                <a:solidFill>
                  <a:srgbClr val="4F46E5"/>
                </a:solidFill>
                <a:latin typeface="Malgun Gothic"/>
              </a:rPr>
              <a:t>● </a:t>
            </a:r>
            <a:r>
              <a:rPr sz="1100">
                <a:solidFill>
                  <a:srgbClr val="334155"/>
                </a:solidFill>
                <a:latin typeface="Malgun Gothic"/>
              </a:rPr>
              <a:t>Guide out-of-policy requests per policy.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Enforcing the postpone cutoff reduces no-show losses.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Content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Levels · textbooks · game reports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Levels 1–10 curriculum, textbook status and game learning reports (weak words). Improve content based on learning data.</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Levels 1–10 curriculum structure.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textbook upload status.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Find weak words in the game learning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Surface weak words more in games/reviews.</a:t>
            </a:r>
          </a:p>
          <a:p>
            <a:pPr>
              <a:lnSpc>
                <a:spcPct val="115000"/>
              </a:lnSpc>
              <a:spcAft>
                <a:spcPts val="200"/>
              </a:spcAft>
            </a:pPr>
            <a:r>
              <a:rPr sz="900" b="1">
                <a:solidFill>
                  <a:srgbClr val="4F46E5"/>
                </a:solidFill>
                <a:latin typeface="Malgun Gothic"/>
              </a:rPr>
              <a:t>● </a:t>
            </a:r>
            <a:r>
              <a:rPr sz="1100">
                <a:solidFill>
                  <a:srgbClr val="334155"/>
                </a:solidFill>
                <a:latin typeface="Malgun Gothic"/>
              </a:rPr>
              <a:t>Clear level goals raise achievement.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Reviewing the curriculum at the start of the year makes it easy.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Retention Center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Churn risk · contagion · settlement · coaching</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hub to find students likely to quit early and to prevent chain churn spread through family, joint lessons and referrals. Manage four tabs in one place.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Find at-risk students with the churn-risk graph.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Prevent chain churn with the churn contagion network.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Deliver review-based feedback in the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Intervene on at-risk students with alert-talk/counseling.</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Intervening early raises retention.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Manage family/referral relationships together.</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caring for the top at-risk students weekly noticeably cuts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Org Settlement · Monthly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HQ → branch → agency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Revenue and commissions auto-settle down the org tree, and the monthly report shows branch/agency performance. AI insights summarize the state.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Revenue/commissions auto-settle down the org tree.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branch/agency performance with the monthly report.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Watch today's revenue, enrollment and attendance daily on the dashboard.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Distributing the settlement report early builds partner trust.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A 5-minute daily check of the metrics is recommended.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The sooner you catch warning signs (revenue drop, attendance dip), the easier to respond.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FAQ Operations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Inquiries · refunds · postpone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Guide phone, email, Kakao and remote-support channels, and organize frequent questions into an FAQ to reduce inquiries.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Support, guide channels and hours.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Share refund/postpone policies with students/parents.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Add repeat questions to the FAQ.</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Growing the FAQ cuts support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Help directly with remote support for hard issues.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repeat questions like 'can't enter' into an FAQ with screenshots.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Notice Studio (Poster + Popup)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Design notice/event posters and push them as app popups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merges the old ‘Poster Maker’ and ‘Popup Notice’ tools into one place. In the ①Create tab you design a notice/event poster, then hand it straight to the ②Publish·Popup tab to show it as a popup in your academy's student app.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the admin menu Notification Center → 📢 Notice Studio.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①Create tab, design a poster with text, images, and video (resize · save on server · reuse).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 Publish as popup’ on the finished poster to auto-switch to the ②Publish·Popup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publish tab, set the display period / stop and publish it as a student-app popup.</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Poster creation and popup publishing flow through one screen, two tabs — no more confusion.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Posters you make can be saved and reused.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Whichever route you enter from — AI assistant or sidebar search — the correct tab opens.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Existing posters/popups are preserved (it was only merged, nothing was deleted).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Promoting an event takes just one flow: ‘Create → Publish as popup’ right away.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Command the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Navigate with one phrase: “Take me to ○○”</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Type what you want to do into the top search bar (or the bottom-right AI assistant) in plain language, and the AI understands and jumps straight to that screen. It now reliably follows navigation commands like ‘Take me to teacher ○○'s schedule’ or ‘Open auto-scheduling’.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Type a command in the top search bar or speak with the 🎤 mic.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“Take me to teacher Kim Minji's schedule” → auto-finds that teacher in the weekly schedule and opens 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“Open auto-scheduling,” “Go to settlement” to navigate menus.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‘Go now →’ on the AI response card to move to that screen.</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Navigation commands actually navigate — far fewer ‘explain only, do nothing’ replies.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Searching a schedule by teacher name auto-fills the search box + filters + scrolls.</a:t>
            </a:r>
          </a:p>
          <a:p>
            <a:pPr>
              <a:lnSpc>
                <a:spcPct val="115000"/>
              </a:lnSpc>
              <a:spcAft>
                <a:spcPts val="200"/>
              </a:spcAft>
            </a:pPr>
            <a:r>
              <a:rPr sz="900" b="1">
                <a:solidFill>
                  <a:srgbClr val="4F46E5"/>
                </a:solidFill>
                <a:latin typeface="Malgun Gothic"/>
              </a:rPr>
              <a:t>● </a:t>
            </a:r>
            <a:r>
              <a:rPr sz="1100">
                <a:solidFill>
                  <a:srgbClr val="334155"/>
                </a:solidFill>
                <a:latin typeface="Malgun Gothic"/>
              </a:rPr>
              <a:t>For data/statistics questions it also helps with card-style answers.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Commands that actually change things — ‘register · send · modify’ — ask for one more confirmation (a safety guard).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 can't recall a menu name, just say what you want to do — it finds its way there.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Voice-Diary Monitor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each student's English diary · AI correction · score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View the AI voice diaries students leave, right from the admin screen. Per student, check the transcript · AI correction · encouragement · score by month to encourage consistent writers and gauge their learning.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 Voice Diary (monitor)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Enter the student UID, pick the month to look up, and press ‘Search’.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Open an entry from the list to see the transcript · correction · encouragement · score.</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It only shows up once a student actually writes a diary (the entry point is the 📔 card on the student home).</a:t>
            </a:r>
          </a:p>
          <a:p>
            <a:pPr>
              <a:lnSpc>
                <a:spcPct val="115000"/>
              </a:lnSpc>
              <a:spcAft>
                <a:spcPts val="200"/>
              </a:spcAft>
            </a:pPr>
            <a:r>
              <a:rPr sz="900" b="1">
                <a:solidFill>
                  <a:srgbClr val="4F46E5"/>
                </a:solidFill>
                <a:latin typeface="Malgun Gothic"/>
              </a:rPr>
              <a:t>● </a:t>
            </a:r>
            <a:r>
              <a:rPr sz="1100">
                <a:solidFill>
                  <a:srgbClr val="334155"/>
                </a:solidFill>
                <a:latin typeface="Malgun Gothic"/>
              </a:rPr>
              <a:t>Find consistent writers and connect them to praise/rewards to lock in the habit.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‘Nothing shows up’ usually just means that student hasn't left a diary yet.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AI-Coaching Review (Ops)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Collected per-class AI coaching · quality scores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every class, the AI leaves the teacher a coaching card (strengths · areas to improve · a class-quality score). From the admin screen you can see these gathered by most-recent. Use it as a growth-support / coaching-quality tool — not surveillance.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admin 🧲 Retention Center → 💼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 Per-class AI coaching (recent)’ section, review each teacher's latest coaching.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each card's quality score · talk ratio · improvement point to plan coaching and training.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See every teacher's recent coaching at a glance.</a:t>
            </a:r>
          </a:p>
          <a:p>
            <a:pPr>
              <a:lnSpc>
                <a:spcPct val="115000"/>
              </a:lnSpc>
              <a:spcAft>
                <a:spcPts val="200"/>
              </a:spcAft>
            </a:pPr>
            <a:r>
              <a:rPr sz="900" b="1">
                <a:solidFill>
                  <a:srgbClr val="4F46E5"/>
                </a:solidFill>
                <a:latin typeface="Malgun Gothic"/>
              </a:rPr>
              <a:t>● </a:t>
            </a:r>
            <a:r>
              <a:rPr sz="1100">
                <a:solidFill>
                  <a:srgbClr val="334155"/>
                </a:solidFill>
                <a:latin typeface="Malgun Gothic"/>
              </a:rPr>
              <a:t>Admins get a monthly rollup focus, so it's low-pressure.</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Coaching text is for a teacher's personal growth. We recommend using it as a support tool, not for evaluation/discipline.</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teachers whose quality score stays low, coach them together with the teacher training manual.</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Admin Feature Categories</a:t>
            </a:r>
          </a:p>
        </p:txBody>
      </p:sp>
      <p:graphicFrame>
        <p:nvGraphicFramePr>
          <p:cNvPr id="7" name="Table 6"/>
          <p:cNvGraphicFramePr>
            <a:graphicFrameLocks noGrp="1"/>
          </p:cNvGraphicFramePr>
          <p:nvPr/>
        </p:nvGraphicFramePr>
        <p:xfrm>
          <a:off x="365760" y="1463040"/>
          <a:ext cx="11460175" cy="3657600"/>
        </p:xfrm>
        <a:graphic>
          <a:graphicData uri="http://schemas.openxmlformats.org/drawingml/2006/table">
            <a:tbl>
              <a:tblPr firstRow="1" bandRow="1">
                <a:tableStyleId>{5C22544A-7EE6-4342-B048-85BDC9FD1C3A}</a:tableStyleId>
              </a:tblPr>
              <a:tblGrid>
                <a:gridCol w="2865043"/>
                <a:gridCol w="2865043"/>
                <a:gridCol w="2865043"/>
                <a:gridCol w="2865046"/>
              </a:tblGrid>
              <a:tr h="522514">
                <a:tc>
                  <a:txBody>
                    <a:bodyPr/>
                    <a:lstStyle/>
                    <a:p>
                      <a:pPr algn="ctr"/>
                      <a:r>
                        <a:rPr sz="1300" b="1">
                          <a:solidFill>
                            <a:srgbClr val="FFFFFF"/>
                          </a:solidFill>
                          <a:latin typeface="Malgun Gothic"/>
                        </a:rPr>
                        <a:t>Category</a:t>
                      </a:r>
                    </a:p>
                  </a:txBody>
                  <a:tcPr>
                    <a:solidFill>
                      <a:srgbClr val="4F46E5"/>
                    </a:solidFill>
                  </a:tcPr>
                </a:tc>
                <a:tc>
                  <a:txBody>
                    <a:bodyPr/>
                    <a:lstStyle/>
                    <a:p>
                      <a:pPr algn="ctr"/>
                      <a:r>
                        <a:rPr sz="1300" b="1">
                          <a:solidFill>
                            <a:srgbClr val="FFFFFF"/>
                          </a:solidFill>
                          <a:latin typeface="Malgun Gothic"/>
                        </a:rPr>
                        <a:t>Key features</a:t>
                      </a:r>
                    </a:p>
                  </a:txBody>
                  <a:tcPr>
                    <a:solidFill>
                      <a:srgbClr val="4F46E5"/>
                    </a:solidFill>
                  </a:tcPr>
                </a:tc>
                <a:tc>
                  <a:txBody>
                    <a:bodyPr/>
                    <a:lstStyle/>
                    <a:p>
                      <a:pPr algn="ctr"/>
                      <a:r>
                        <a:rPr sz="1300" b="1">
                          <a:solidFill>
                            <a:srgbClr val="FFFFFF"/>
                          </a:solidFill>
                          <a:latin typeface="Malgun Gothic"/>
                        </a:rPr>
                        <a:t>Count (ex.)</a:t>
                      </a:r>
                    </a:p>
                  </a:txBody>
                  <a:tcPr>
                    <a:solidFill>
                      <a:srgbClr val="4F46E5"/>
                    </a:solidFill>
                  </a:tcPr>
                </a:tc>
                <a:tc>
                  <a:txBody>
                    <a:bodyPr/>
                    <a:lstStyle/>
                    <a:p>
                      <a:pPr algn="ctr"/>
                      <a:r>
                        <a:rPr sz="1300" b="1">
                          <a:solidFill>
                            <a:srgbClr val="FFFFFF"/>
                          </a:solidFill>
                          <a:latin typeface="Malgun Gothic"/>
                        </a:rPr>
                        <a:t>Core benefit</a:t>
                      </a:r>
                    </a:p>
                  </a:txBody>
                  <a:tcPr>
                    <a:solidFill>
                      <a:srgbClr val="4F46E5"/>
                    </a:solidFill>
                  </a:tcPr>
                </a:tc>
              </a:tr>
              <a:tr h="522514">
                <a:tc>
                  <a:txBody>
                    <a:bodyPr/>
                    <a:lstStyle/>
                    <a:p>
                      <a:pPr algn="l"/>
                      <a:r>
                        <a:rPr sz="1200" b="1">
                          <a:solidFill>
                            <a:srgbClr val="334155"/>
                          </a:solidFill>
                          <a:latin typeface="Malgun Gothic"/>
                        </a:rPr>
                        <a:t>Teachers</a:t>
                      </a:r>
                    </a:p>
                  </a:txBody>
                  <a:tcPr>
                    <a:solidFill>
                      <a:srgbClr val="FFFFFF"/>
                    </a:solidFill>
                  </a:tcPr>
                </a:tc>
                <a:tc>
                  <a:txBody>
                    <a:bodyPr/>
                    <a:lstStyle/>
                    <a:p>
                      <a:pPr algn="ctr"/>
                      <a:r>
                        <a:rPr sz="1200">
                          <a:solidFill>
                            <a:srgbClr val="334155"/>
                          </a:solidFill>
                          <a:latin typeface="Malgun Gothic"/>
                        </a:rPr>
                        <a:t>Payroll·matching·reviews·MBTI</a:t>
                      </a:r>
                    </a:p>
                  </a:txBody>
                  <a:tcPr>
                    <a:solidFill>
                      <a:srgbClr val="FFFFFF"/>
                    </a:solidFill>
                  </a:tcPr>
                </a:tc>
                <a:tc>
                  <a:txBody>
                    <a:bodyPr/>
                    <a:lstStyle/>
                    <a:p>
                      <a:pPr algn="ctr"/>
                      <a:r>
                        <a:rPr sz="1200">
                          <a:solidFill>
                            <a:srgbClr val="334155"/>
                          </a:solidFill>
                          <a:latin typeface="Malgun Gothic"/>
                        </a:rPr>
                        <a:t>11</a:t>
                      </a:r>
                    </a:p>
                  </a:txBody>
                  <a:tcPr>
                    <a:solidFill>
                      <a:srgbClr val="FFFFFF"/>
                    </a:solidFill>
                  </a:tcPr>
                </a:tc>
                <a:tc>
                  <a:txBody>
                    <a:bodyPr/>
                    <a:lstStyle/>
                    <a:p>
                      <a:pPr algn="ctr"/>
                      <a:r>
                        <a:rPr sz="1200">
                          <a:solidFill>
                            <a:srgbClr val="334155"/>
                          </a:solidFill>
                          <a:latin typeface="Malgun Gothic"/>
                        </a:rPr>
                        <a:t>Efficient teacher mgmt</a:t>
                      </a:r>
                    </a:p>
                  </a:txBody>
                  <a:tcPr>
                    <a:solidFill>
                      <a:srgbClr val="FFFFFF"/>
                    </a:solidFill>
                  </a:tcPr>
                </a:tc>
              </a:tr>
              <a:tr h="522514">
                <a:tc>
                  <a:txBody>
                    <a:bodyPr/>
                    <a:lstStyle/>
                    <a:p>
                      <a:pPr algn="l"/>
                      <a:r>
                        <a:rPr sz="1200" b="1">
                          <a:solidFill>
                            <a:srgbClr val="334155"/>
                          </a:solidFill>
                          <a:latin typeface="Malgun Gothic"/>
                        </a:rPr>
                        <a:t>Accounting / Points</a:t>
                      </a:r>
                    </a:p>
                  </a:txBody>
                  <a:tcPr>
                    <a:solidFill>
                      <a:srgbClr val="F8FAFC"/>
                    </a:solidFill>
                  </a:tcPr>
                </a:tc>
                <a:tc>
                  <a:txBody>
                    <a:bodyPr/>
                    <a:lstStyle/>
                    <a:p>
                      <a:pPr algn="ctr"/>
                      <a:r>
                        <a:rPr sz="1200">
                          <a:solidFill>
                            <a:srgbClr val="334155"/>
                          </a:solidFill>
                          <a:latin typeface="Malgun Gothic"/>
                        </a:rPr>
                        <a:t>Payments·overdue·refunds·points</a:t>
                      </a:r>
                    </a:p>
                  </a:txBody>
                  <a:tcPr>
                    <a:solidFill>
                      <a:srgbClr val="F8FAFC"/>
                    </a:solidFill>
                  </a:tcPr>
                </a:tc>
                <a:tc>
                  <a:txBody>
                    <a:bodyPr/>
                    <a:lstStyle/>
                    <a:p>
                      <a:pPr algn="ctr"/>
                      <a:r>
                        <a:rPr sz="1200">
                          <a:solidFill>
                            <a:srgbClr val="334155"/>
                          </a:solidFill>
                          <a:latin typeface="Malgun Gothic"/>
                        </a:rPr>
                        <a:t>8</a:t>
                      </a:r>
                    </a:p>
                  </a:txBody>
                  <a:tcPr>
                    <a:solidFill>
                      <a:srgbClr val="F8FAFC"/>
                    </a:solidFill>
                  </a:tcPr>
                </a:tc>
                <a:tc>
                  <a:txBody>
                    <a:bodyPr/>
                    <a:lstStyle/>
                    <a:p>
                      <a:pPr algn="ctr"/>
                      <a:r>
                        <a:rPr sz="1200">
                          <a:solidFill>
                            <a:srgbClr val="334155"/>
                          </a:solidFill>
                          <a:latin typeface="Malgun Gothic"/>
                        </a:rPr>
                        <a:t>Accurate settlement</a:t>
                      </a:r>
                    </a:p>
                  </a:txBody>
                  <a:tcPr>
                    <a:solidFill>
                      <a:srgbClr val="F8FAFC"/>
                    </a:solidFill>
                  </a:tcPr>
                </a:tc>
              </a:tr>
              <a:tr h="522514">
                <a:tc>
                  <a:txBody>
                    <a:bodyPr/>
                    <a:lstStyle/>
                    <a:p>
                      <a:pPr algn="l"/>
                      <a:r>
                        <a:rPr sz="1200" b="1">
                          <a:solidFill>
                            <a:srgbClr val="334155"/>
                          </a:solidFill>
                          <a:latin typeface="Malgun Gothic"/>
                        </a:rPr>
                        <a:t>Students / Parents</a:t>
                      </a:r>
                    </a:p>
                  </a:txBody>
                  <a:tcPr>
                    <a:solidFill>
                      <a:srgbClr val="FFFFFF"/>
                    </a:solidFill>
                  </a:tcPr>
                </a:tc>
                <a:tc>
                  <a:txBody>
                    <a:bodyPr/>
                    <a:lstStyle/>
                    <a:p>
                      <a:pPr algn="ctr"/>
                      <a:r>
                        <a:rPr sz="1200">
                          <a:solidFill>
                            <a:srgbClr val="334155"/>
                          </a:solidFill>
                          <a:latin typeface="Malgun Gothic"/>
                        </a:rPr>
                        <a:t>Roster·attendance·grades·parents</a:t>
                      </a:r>
                    </a:p>
                  </a:txBody>
                  <a:tcPr>
                    <a:solidFill>
                      <a:srgbClr val="FFFFFF"/>
                    </a:solidFill>
                  </a:tcPr>
                </a:tc>
                <a:tc>
                  <a:txBody>
                    <a:bodyPr/>
                    <a:lstStyle/>
                    <a:p>
                      <a:pPr algn="ctr"/>
                      <a:r>
                        <a:rPr sz="1200">
                          <a:solidFill>
                            <a:srgbClr val="334155"/>
                          </a:solidFill>
                          <a:latin typeface="Malgun Gothic"/>
                        </a:rPr>
                        <a:t>14</a:t>
                      </a:r>
                    </a:p>
                  </a:txBody>
                  <a:tcPr>
                    <a:solidFill>
                      <a:srgbClr val="FFFFFF"/>
                    </a:solidFill>
                  </a:tcPr>
                </a:tc>
                <a:tc>
                  <a:txBody>
                    <a:bodyPr/>
                    <a:lstStyle/>
                    <a:p>
                      <a:pPr algn="ctr"/>
                      <a:r>
                        <a:rPr sz="1200">
                          <a:solidFill>
                            <a:srgbClr val="334155"/>
                          </a:solidFill>
                          <a:latin typeface="Malgun Gothic"/>
                        </a:rPr>
                        <a:t>Churn prevention</a:t>
                      </a:r>
                    </a:p>
                  </a:txBody>
                  <a:tcPr>
                    <a:solidFill>
                      <a:srgbClr val="FFFFFF"/>
                    </a:solidFill>
                  </a:tcPr>
                </a:tc>
              </a:tr>
              <a:tr h="522514">
                <a:tc>
                  <a:txBody>
                    <a:bodyPr/>
                    <a:lstStyle/>
                    <a:p>
                      <a:pPr algn="l"/>
                      <a:r>
                        <a:rPr sz="1200" b="1">
                          <a:solidFill>
                            <a:srgbClr val="334155"/>
                          </a:solidFill>
                          <a:latin typeface="Malgun Gothic"/>
                        </a:rPr>
                        <a:t>Content</a:t>
                      </a:r>
                    </a:p>
                  </a:txBody>
                  <a:tcPr>
                    <a:solidFill>
                      <a:srgbClr val="F8FAFC"/>
                    </a:solidFill>
                  </a:tcPr>
                </a:tc>
                <a:tc>
                  <a:txBody>
                    <a:bodyPr/>
                    <a:lstStyle/>
                    <a:p>
                      <a:pPr algn="ctr"/>
                      <a:r>
                        <a:rPr sz="1200">
                          <a:solidFill>
                            <a:srgbClr val="334155"/>
                          </a:solidFill>
                          <a:latin typeface="Malgun Gothic"/>
                        </a:rPr>
                        <a:t>Curriculum·textbooks·game reports</a:t>
                      </a:r>
                    </a:p>
                  </a:txBody>
                  <a:tcPr>
                    <a:solidFill>
                      <a:srgbClr val="F8FAFC"/>
                    </a:solidFill>
                  </a:tcPr>
                </a:tc>
                <a:tc>
                  <a:txBody>
                    <a:bodyPr/>
                    <a:lstStyle/>
                    <a:p>
                      <a:pPr algn="ctr"/>
                      <a:r>
                        <a:rPr sz="1200">
                          <a:solidFill>
                            <a:srgbClr val="334155"/>
                          </a:solidFill>
                          <a:latin typeface="Malgun Gothic"/>
                        </a:rPr>
                        <a:t>11</a:t>
                      </a:r>
                    </a:p>
                  </a:txBody>
                  <a:tcPr>
                    <a:solidFill>
                      <a:srgbClr val="F8FAFC"/>
                    </a:solidFill>
                  </a:tcPr>
                </a:tc>
                <a:tc>
                  <a:txBody>
                    <a:bodyPr/>
                    <a:lstStyle/>
                    <a:p>
                      <a:pPr algn="ctr"/>
                      <a:r>
                        <a:rPr sz="1200">
                          <a:solidFill>
                            <a:srgbClr val="334155"/>
                          </a:solidFill>
                          <a:latin typeface="Malgun Gothic"/>
                        </a:rPr>
                        <a:t>Learning quality ↑</a:t>
                      </a:r>
                    </a:p>
                  </a:txBody>
                  <a:tcPr>
                    <a:solidFill>
                      <a:srgbClr val="F8FAFC"/>
                    </a:solidFill>
                  </a:tcPr>
                </a:tc>
              </a:tr>
              <a:tr h="522514">
                <a:tc>
                  <a:txBody>
                    <a:bodyPr/>
                    <a:lstStyle/>
                    <a:p>
                      <a:pPr algn="l"/>
                      <a:r>
                        <a:rPr sz="1200" b="1">
                          <a:solidFill>
                            <a:srgbClr val="334155"/>
                          </a:solidFill>
                          <a:latin typeface="Malgun Gothic"/>
                        </a:rPr>
                        <a:t>System</a:t>
                      </a:r>
                    </a:p>
                  </a:txBody>
                  <a:tcPr>
                    <a:solidFill>
                      <a:srgbClr val="FFFFFF"/>
                    </a:solidFill>
                  </a:tcPr>
                </a:tc>
                <a:tc>
                  <a:txBody>
                    <a:bodyPr/>
                    <a:lstStyle/>
                    <a:p>
                      <a:pPr algn="ctr"/>
                      <a:r>
                        <a:rPr sz="1200">
                          <a:solidFill>
                            <a:srgbClr val="334155"/>
                          </a:solidFill>
                          <a:latin typeface="Malgun Gothic"/>
                        </a:rPr>
                        <a:t>Settings·permissions·logs</a:t>
                      </a:r>
                    </a:p>
                  </a:txBody>
                  <a:tcPr>
                    <a:solidFill>
                      <a:srgbClr val="FFFFFF"/>
                    </a:solidFill>
                  </a:tcPr>
                </a:tc>
                <a:tc>
                  <a:txBody>
                    <a:bodyPr/>
                    <a:lstStyle/>
                    <a:p>
                      <a:pPr algn="ctr"/>
                      <a:r>
                        <a:rPr sz="1200">
                          <a:solidFill>
                            <a:srgbClr val="334155"/>
                          </a:solidFill>
                          <a:latin typeface="Malgun Gothic"/>
                        </a:rPr>
                        <a:t>12</a:t>
                      </a:r>
                    </a:p>
                  </a:txBody>
                  <a:tcPr>
                    <a:solidFill>
                      <a:srgbClr val="FFFFFF"/>
                    </a:solidFill>
                  </a:tcPr>
                </a:tc>
                <a:tc>
                  <a:txBody>
                    <a:bodyPr/>
                    <a:lstStyle/>
                    <a:p>
                      <a:pPr algn="ctr"/>
                      <a:r>
                        <a:rPr sz="1200">
                          <a:solidFill>
                            <a:srgbClr val="334155"/>
                          </a:solidFill>
                          <a:latin typeface="Malgun Gothic"/>
                        </a:rPr>
                        <a:t>Safe operations</a:t>
                      </a:r>
                    </a:p>
                  </a:txBody>
                  <a:tcPr>
                    <a:solidFill>
                      <a:srgbClr val="FFFFFF"/>
                    </a:solidFill>
                  </a:tcPr>
                </a:tc>
              </a:tr>
              <a:tr h="522516">
                <a:tc>
                  <a:txBody>
                    <a:bodyPr/>
                    <a:lstStyle/>
                    <a:p>
                      <a:pPr algn="l"/>
                      <a:r>
                        <a:rPr sz="1200" b="1">
                          <a:solidFill>
                            <a:srgbClr val="334155"/>
                          </a:solidFill>
                          <a:latin typeface="Malgun Gothic"/>
                        </a:rPr>
                        <a:t>AI Ops Assistant</a:t>
                      </a:r>
                    </a:p>
                  </a:txBody>
                  <a:tcPr>
                    <a:solidFill>
                      <a:srgbClr val="F8FAFC"/>
                    </a:solidFill>
                  </a:tcPr>
                </a:tc>
                <a:tc>
                  <a:txBody>
                    <a:bodyPr/>
                    <a:lstStyle/>
                    <a:p>
                      <a:pPr algn="ctr"/>
                      <a:r>
                        <a:rPr sz="1200">
                          <a:solidFill>
                            <a:srgbClr val="334155"/>
                          </a:solidFill>
                          <a:latin typeface="Malgun Gothic"/>
                        </a:rPr>
                        <a:t>Look up/act by voice·text</a:t>
                      </a:r>
                    </a:p>
                  </a:txBody>
                  <a:tcPr>
                    <a:solidFill>
                      <a:srgbClr val="F8FAFC"/>
                    </a:solidFill>
                  </a:tcPr>
                </a:tc>
                <a:tc>
                  <a:txBody>
                    <a:bodyPr/>
                    <a:lstStyle/>
                    <a:p>
                      <a:pPr algn="ctr"/>
                      <a:r>
                        <a:rPr sz="1200">
                          <a:solidFill>
                            <a:srgbClr val="334155"/>
                          </a:solidFill>
                          <a:latin typeface="Malgun Gothic"/>
                        </a:rPr>
                        <a:t>-</a:t>
                      </a:r>
                    </a:p>
                  </a:txBody>
                  <a:tcPr>
                    <a:solidFill>
                      <a:srgbClr val="F8FAFC"/>
                    </a:solidFill>
                  </a:tcPr>
                </a:tc>
                <a:tc>
                  <a:txBody>
                    <a:bodyPr/>
                    <a:lstStyle/>
                    <a:p>
                      <a:pPr algn="ctr"/>
                      <a:r>
                        <a:rPr sz="1200">
                          <a:solidFill>
                            <a:srgbClr val="334155"/>
                          </a:solidFill>
                          <a:latin typeface="Malgun Gothic"/>
                        </a:rPr>
                        <a:t>Faster operations</a:t>
                      </a:r>
                    </a:p>
                  </a:txBody>
                  <a:tcPr>
                    <a:solidFill>
                      <a:srgbClr val="F8FAFC"/>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Features per Category</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Churn-risk Distribution (example)</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Where do I log in?</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Phone, tablet and PC all connect right from the web.</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 can't see a feature.</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Menus vary by role. Use the top feature search or ask the AI assistant by name.</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A student can't enter a lesson.</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Usually a browser permission issue. Advise reconnecting in Chrome/Edge and allowing camera/mic. Inside KakaoTalk, open in an external browser.</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Does the AI assistant execute tasks?</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Look-ups happen instantly; important actions are confirmed with 'Shall I?' It only does what you have permission for.</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Refund math is confusing.</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It's auto-calculated by the refund table; discounted payments are recalculated at list price.</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I'm worried about churn.</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Find at-risk students early with the Retention Center's churn-risk/contagion network and intervene via alert-talk/counseling.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EF2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Daily Operations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revenue, enrollment and attendance?</a:t>
            </a:r>
          </a:p>
        </p:txBody>
      </p:sp>
      <p:sp>
        <p:nvSpPr>
          <p:cNvPr id="9" name="Rounded Rectangle 8"/>
          <p:cNvSpPr/>
          <p:nvPr/>
        </p:nvSpPr>
        <p:spPr>
          <a:xfrm>
            <a:off x="457200" y="221284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handle new counseling/inquiries?</a:t>
            </a:r>
          </a:p>
        </p:txBody>
      </p:sp>
      <p:sp>
        <p:nvSpPr>
          <p:cNvPr id="11" name="Rounded Rectangle 10"/>
          <p:cNvSpPr/>
          <p:nvPr/>
        </p:nvSpPr>
        <p:spPr>
          <a:xfrm>
            <a:off x="457200" y="2779776"/>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overdue and refund items?</a:t>
            </a:r>
          </a:p>
        </p:txBody>
      </p:sp>
      <p:sp>
        <p:nvSpPr>
          <p:cNvPr id="13" name="Rounded Rectangle 12"/>
          <p:cNvSpPr/>
          <p:nvPr/>
        </p:nvSpPr>
        <p:spPr>
          <a:xfrm>
            <a:off x="457200" y="3346704"/>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live (LIVE) lesson status?</a:t>
            </a:r>
          </a:p>
        </p:txBody>
      </p:sp>
      <p:sp>
        <p:nvSpPr>
          <p:cNvPr id="15" name="Rounded Rectangle 14"/>
          <p:cNvSpPr/>
          <p:nvPr/>
        </p:nvSpPr>
        <p:spPr>
          <a:xfrm>
            <a:off x="457200" y="3913632"/>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students whose churn risk rose?</a:t>
            </a:r>
          </a:p>
        </p:txBody>
      </p:sp>
      <p:sp>
        <p:nvSpPr>
          <p:cNvPr id="17" name="Rounded Rectangle 16"/>
          <p:cNvSpPr/>
          <p:nvPr/>
        </p:nvSpPr>
        <p:spPr>
          <a:xfrm>
            <a:off x="457200" y="448056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reflect teacher reviews/coaching feedback?</a:t>
            </a:r>
          </a:p>
        </p:txBody>
      </p:sp>
      <p:sp>
        <p:nvSpPr>
          <p:cNvPr id="19" name="Rounded Rectangle 18"/>
          <p:cNvSpPr/>
          <p:nvPr/>
        </p:nvSpPr>
        <p:spPr>
          <a:xfrm>
            <a:off x="457200" y="504748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add repeat questions to the FAQ?</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4F46E5"/>
                </a:solidFill>
                <a:latin typeface="Malgun Gothic"/>
              </a:rPr>
              <a:t>🏁 Conclusion · A Practical Guide to Stable Academy Operations</a:t>
            </a:r>
          </a:p>
        </p:txBody>
      </p:sp>
      <p:sp>
        <p:nvSpPr>
          <p:cNvPr id="7" name="Rounded Rectangle 6"/>
          <p:cNvSpPr/>
          <p:nvPr/>
        </p:nvSpPr>
        <p:spPr>
          <a:xfrm>
            <a:off x="365760" y="1371600"/>
            <a:ext cx="11430000" cy="8686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reviewed every feature of the admin page. Finally, here's one page on how a day of operations flows and the principles to keep for stable running. Keep just this rhythm and operations get much lighter.</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4F46E5"/>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today's revenue, enrollment and attendance on the dashboard; read the AI insight summary</a:t>
            </a:r>
          </a:p>
        </p:txBody>
      </p:sp>
      <p:sp>
        <p:nvSpPr>
          <p:cNvPr id="13" name="Rounded Rectangle 12"/>
          <p:cNvSpPr/>
          <p:nvPr/>
        </p:nvSpPr>
        <p:spPr>
          <a:xfrm>
            <a:off x="457200" y="32461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Handle new counseling/inquiries; check overdue/refund items and send alert-talk</a:t>
            </a:r>
          </a:p>
        </p:txBody>
      </p:sp>
      <p:sp>
        <p:nvSpPr>
          <p:cNvPr id="16" name="Rounded Rectangle 15"/>
          <p:cNvSpPr/>
          <p:nvPr/>
        </p:nvSpPr>
        <p:spPr>
          <a:xfrm>
            <a:off x="457200" y="37033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Class hours</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Monitor live (LIVE) lessons; for 'can't enter' tickets, guide browser/permission first</a:t>
            </a:r>
          </a:p>
        </p:txBody>
      </p:sp>
      <p:sp>
        <p:nvSpPr>
          <p:cNvPr id="19" name="Rounded Rectangle 18"/>
          <p:cNvSpPr/>
          <p:nvPr/>
        </p:nvSpPr>
        <p:spPr>
          <a:xfrm>
            <a:off x="457200" y="41605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Care for at-risk students in the 🧲 Retention Center; reflect teacher reviews/coaching</a:t>
            </a:r>
          </a:p>
        </p:txBody>
      </p:sp>
      <p:sp>
        <p:nvSpPr>
          <p:cNvPr id="22" name="Rounded Rectangle 21"/>
          <p:cNvSpPr/>
          <p:nvPr/>
        </p:nvSpPr>
        <p:spPr>
          <a:xfrm>
            <a:off x="457200" y="46177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Weekly · Monthly</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Distribute org settlement/monthly reports, check points/rewards (shop/gifts), improve the FAQ</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Key Principles</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4F46E5"/>
                </a:solidFill>
                <a:latin typeface="Malgun Gothic"/>
              </a:rPr>
              <a:t>● </a:t>
            </a:r>
            <a:r>
              <a:rPr sz="1100">
                <a:solidFill>
                  <a:srgbClr val="334155"/>
                </a:solidFill>
                <a:latin typeface="Malgun Gothic"/>
              </a:rPr>
              <a:t>Metrics, 5 minutes each morning — catching revenue/attendance signals early makes response easy.</a:t>
            </a:r>
          </a:p>
          <a:p>
            <a:pPr>
              <a:lnSpc>
                <a:spcPct val="115000"/>
              </a:lnSpc>
              <a:spcAft>
                <a:spcPts val="500"/>
              </a:spcAft>
            </a:pPr>
            <a:r>
              <a:rPr sz="900" b="1">
                <a:solidFill>
                  <a:srgbClr val="4F46E5"/>
                </a:solidFill>
                <a:latin typeface="Malgun Gothic"/>
              </a:rPr>
              <a:t>● </a:t>
            </a:r>
            <a:r>
              <a:rPr sz="1100">
                <a:solidFill>
                  <a:srgbClr val="334155"/>
                </a:solidFill>
                <a:latin typeface="Malgun Gothic"/>
              </a:rPr>
              <a:t>Intervene on churn early — the sooner you care for at-risk students, the higher retention.</a:t>
            </a:r>
          </a:p>
          <a:p>
            <a:pPr>
              <a:lnSpc>
                <a:spcPct val="115000"/>
              </a:lnSpc>
              <a:spcAft>
                <a:spcPts val="500"/>
              </a:spcAft>
            </a:pPr>
            <a:r>
              <a:rPr sz="900" b="1">
                <a:solidFill>
                  <a:srgbClr val="4F46E5"/>
                </a:solidFill>
                <a:latin typeface="Malgun Gothic"/>
              </a:rPr>
              <a:t>● </a:t>
            </a:r>
            <a:r>
              <a:rPr sz="1100">
                <a:solidFill>
                  <a:srgbClr val="334155"/>
                </a:solidFill>
                <a:latin typeface="Malgun Gothic"/>
              </a:rPr>
              <a:t>Announce policies upfront — sharing refund/postpone policies at signup greatly cuts disputes.</a:t>
            </a:r>
          </a:p>
          <a:p>
            <a:pPr>
              <a:lnSpc>
                <a:spcPct val="115000"/>
              </a:lnSpc>
              <a:spcAft>
                <a:spcPts val="500"/>
              </a:spcAft>
            </a:pPr>
            <a:r>
              <a:rPr sz="900" b="1">
                <a:solidFill>
                  <a:srgbClr val="4F46E5"/>
                </a:solidFill>
                <a:latin typeface="Malgun Gothic"/>
              </a:rPr>
              <a:t>● </a:t>
            </a:r>
            <a:r>
              <a:rPr sz="1100">
                <a:solidFill>
                  <a:srgbClr val="334155"/>
                </a:solidFill>
                <a:latin typeface="Malgun Gothic"/>
              </a:rPr>
              <a:t>Turn repeats into FAQ — make frequent questions into an FAQ with screenshots.</a:t>
            </a:r>
          </a:p>
          <a:p>
            <a:pPr>
              <a:lnSpc>
                <a:spcPct val="115000"/>
              </a:lnSpc>
              <a:spcAft>
                <a:spcPts val="500"/>
              </a:spcAft>
            </a:pPr>
            <a:r>
              <a:rPr sz="900" b="1">
                <a:solidFill>
                  <a:srgbClr val="4F46E5"/>
                </a:solidFill>
                <a:latin typeface="Malgun Gothic"/>
              </a:rPr>
              <a:t>● </a:t>
            </a:r>
            <a:r>
              <a:rPr sz="1100">
                <a:solidFill>
                  <a:srgbClr val="334155"/>
                </a:solidFill>
                <a:latin typeface="Malgun Gothic"/>
              </a:rPr>
              <a:t>Decide with data — judge and improve by metrics/graphs, not gut feeling.</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Remember</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Log in at admin.mangoi.co.kr; menus and data scope change by role (permissions)</a:t>
            </a:r>
          </a:p>
          <a:p>
            <a:pPr>
              <a:lnSpc>
                <a:spcPct val="115000"/>
              </a:lnSpc>
              <a:spcAft>
                <a:spcPts val="400"/>
              </a:spcAft>
            </a:pPr>
            <a:r>
              <a:rPr sz="850" b="1">
                <a:solidFill>
                  <a:srgbClr val="FF9F1C"/>
                </a:solidFill>
                <a:latin typeface="Malgun Gothic"/>
              </a:rPr>
              <a:t>● </a:t>
            </a:r>
            <a:r>
              <a:rPr sz="1050">
                <a:solidFill>
                  <a:srgbClr val="334155"/>
                </a:solidFill>
                <a:latin typeface="Malgun Gothic"/>
              </a:rPr>
              <a:t>The AI assistant looks up instantly, confirms important actions, and only does what you're permitted</a:t>
            </a:r>
          </a:p>
          <a:p>
            <a:pPr>
              <a:lnSpc>
                <a:spcPct val="115000"/>
              </a:lnSpc>
              <a:spcAft>
                <a:spcPts val="400"/>
              </a:spcAft>
            </a:pPr>
            <a:r>
              <a:rPr sz="850" b="1">
                <a:solidFill>
                  <a:srgbClr val="FF9F1C"/>
                </a:solidFill>
                <a:latin typeface="Malgun Gothic"/>
              </a:rPr>
              <a:t>● </a:t>
            </a:r>
            <a:r>
              <a:rPr sz="1050">
                <a:solidFill>
                  <a:srgbClr val="334155"/>
                </a:solidFill>
                <a:latin typeface="Malgun Gothic"/>
              </a:rPr>
              <a:t>Most 'can't enter class' tickets are browser and camera/mic permission issues</a:t>
            </a:r>
          </a:p>
          <a:p>
            <a:pPr>
              <a:lnSpc>
                <a:spcPct val="115000"/>
              </a:lnSpc>
              <a:spcAft>
                <a:spcPts val="400"/>
              </a:spcAft>
            </a:pPr>
            <a:r>
              <a:rPr sz="850" b="1">
                <a:solidFill>
                  <a:srgbClr val="FF9F1C"/>
                </a:solidFill>
                <a:latin typeface="Malgun Gothic"/>
              </a:rPr>
              <a:t>● </a:t>
            </a:r>
            <a:r>
              <a:rPr sz="1050">
                <a:solidFill>
                  <a:srgbClr val="334155"/>
                </a:solidFill>
                <a:latin typeface="Malgun Gothic"/>
              </a:rPr>
              <a:t>Praise points → student total → shop/gifts; the policy and rewards are the admin's job</a:t>
            </a:r>
          </a:p>
        </p:txBody>
      </p:sp>
      <p:sp>
        <p:nvSpPr>
          <p:cNvPr id="29" name="Rounded Rectangle 28"/>
          <p:cNvSpPr/>
          <p:nvPr/>
        </p:nvSpPr>
        <p:spPr>
          <a:xfrm>
            <a:off x="457200" y="6172200"/>
            <a:ext cx="11338560" cy="566928"/>
          </a:xfrm>
          <a:prstGeom prst="roundRect">
            <a:avLst/>
          </a:prstGeom>
          <a:solidFill>
            <a:srgbClr val="EEF2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Good operations come not from fancy features but from 'small daily checks.' Watch your metrics, prevent churn early, and announce policies clearly. The AI Operations Assistant and Retention Center help you do it. Questions? Contact support anytime — cheering on your steadily growing academy!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test.mangoi.co.kr    📞 1588-0000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