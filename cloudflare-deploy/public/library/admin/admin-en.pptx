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a:t>
            </a:r>
          </a:p>
        </p:txBody>
      </p:sp>
      <p:sp>
        <p:nvSpPr>
          <p:cNvPr id="9" name="Rounded Rectangle 8"/>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Admin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a:t>
            </a:r>
          </a:p>
        </p:txBody>
      </p:sp>
      <p:sp>
        <p:nvSpPr>
          <p:cNvPr id="13" name="Rounded Rectangle 12"/>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Dashboard &amp; Feature Search</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6</a:t>
            </a:r>
          </a:p>
        </p:txBody>
      </p:sp>
      <p:sp>
        <p:nvSpPr>
          <p:cNvPr id="17" name="Rounded Rectangle 16"/>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Operations Assistant</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7</a:t>
            </a:r>
          </a:p>
        </p:txBody>
      </p:sp>
      <p:sp>
        <p:nvSpPr>
          <p:cNvPr id="21" name="Rounded Rectangle 20"/>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Lesson Entry</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8</a:t>
            </a:r>
          </a:p>
        </p:txBody>
      </p:sp>
      <p:sp>
        <p:nvSpPr>
          <p:cNvPr id="25" name="Rounded Rectangle 24"/>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the Classroom Layout</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9</a:t>
            </a:r>
          </a:p>
        </p:txBody>
      </p:sp>
      <p:sp>
        <p:nvSpPr>
          <p:cNvPr id="29" name="Rounded Rectangle 28"/>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the Classroom Tools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10</a:t>
            </a:r>
          </a:p>
        </p:txBody>
      </p:sp>
      <p:sp>
        <p:nvSpPr>
          <p:cNvPr id="33" name="Rounded Rectangle 32"/>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(give &amp; accrue)</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11</a:t>
            </a:r>
          </a:p>
        </p:txBody>
      </p:sp>
      <p:sp>
        <p:nvSpPr>
          <p:cNvPr id="37" name="Rounded Rectangle 36"/>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12</a:t>
            </a:r>
          </a:p>
        </p:txBody>
      </p:sp>
      <p:sp>
        <p:nvSpPr>
          <p:cNvPr id="41" name="Rounded Rectangle 40"/>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Accounting · Points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13</a:t>
            </a:r>
          </a:p>
        </p:txBody>
      </p:sp>
      <p:sp>
        <p:nvSpPr>
          <p:cNvPr id="45" name="Rounded Rectangle 44"/>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Points &amp; Reward Policy</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14</a:t>
            </a:r>
          </a:p>
        </p:txBody>
      </p:sp>
      <p:sp>
        <p:nvSpPr>
          <p:cNvPr id="49" name="Rounded Rectangle 48"/>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Refund Policy &amp; Processing</a:t>
            </a:r>
          </a:p>
        </p:txBody>
      </p:sp>
      <p:sp>
        <p:nvSpPr>
          <p:cNvPr id="52" name="TextBox 51"/>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15</a:t>
            </a:r>
          </a:p>
        </p:txBody>
      </p:sp>
      <p:sp>
        <p:nvSpPr>
          <p:cNvPr id="53" name="Rounded Rectangle 52"/>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 Parent Management</a:t>
            </a:r>
          </a:p>
        </p:txBody>
      </p:sp>
      <p:sp>
        <p:nvSpPr>
          <p:cNvPr id="56" name="TextBox 55"/>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16</a:t>
            </a:r>
          </a:p>
        </p:txBody>
      </p:sp>
      <p:sp>
        <p:nvSpPr>
          <p:cNvPr id="57" name="Rounded Rectangle 56"/>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My-Page</a:t>
            </a:r>
          </a:p>
        </p:txBody>
      </p:sp>
      <p:sp>
        <p:nvSpPr>
          <p:cNvPr id="60" name="TextBox 59"/>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17</a:t>
            </a:r>
          </a:p>
        </p:txBody>
      </p:sp>
      <p:sp>
        <p:nvSpPr>
          <p:cNvPr id="61" name="Rounded Rectangle 60"/>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Booking Management</a:t>
            </a:r>
          </a:p>
        </p:txBody>
      </p:sp>
      <p:sp>
        <p:nvSpPr>
          <p:cNvPr id="64" name="TextBox 63"/>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18</a:t>
            </a:r>
          </a:p>
        </p:txBody>
      </p:sp>
      <p:sp>
        <p:nvSpPr>
          <p:cNvPr id="65" name="Rounded Rectangle 64"/>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Postpone Management</a:t>
            </a:r>
          </a:p>
        </p:txBody>
      </p:sp>
      <p:sp>
        <p:nvSpPr>
          <p:cNvPr id="68" name="TextBox 67"/>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19</a:t>
            </a:r>
          </a:p>
        </p:txBody>
      </p:sp>
      <p:sp>
        <p:nvSpPr>
          <p:cNvPr id="69" name="Rounded Rectangle 68"/>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Content · Curriculum</a:t>
            </a:r>
          </a:p>
        </p:txBody>
      </p:sp>
      <p:sp>
        <p:nvSpPr>
          <p:cNvPr id="72" name="TextBox 71"/>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20</a:t>
            </a:r>
          </a:p>
        </p:txBody>
      </p:sp>
      <p:sp>
        <p:nvSpPr>
          <p:cNvPr id="73" name="Rounded Rectangle 72"/>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Retention Center</a:t>
            </a:r>
          </a:p>
        </p:txBody>
      </p:sp>
      <p:sp>
        <p:nvSpPr>
          <p:cNvPr id="76" name="TextBox 75"/>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21</a:t>
            </a:r>
          </a:p>
        </p:txBody>
      </p:sp>
      <p:sp>
        <p:nvSpPr>
          <p:cNvPr id="77" name="Rounded Rectangle 76"/>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Org Settlement · Monthly Report</a:t>
            </a:r>
          </a:p>
        </p:txBody>
      </p:sp>
      <p:sp>
        <p:nvSpPr>
          <p:cNvPr id="80" name="TextBox 79"/>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22</a:t>
            </a:r>
          </a:p>
        </p:txBody>
      </p:sp>
      <p:sp>
        <p:nvSpPr>
          <p:cNvPr id="81" name="Rounded Rectangle 80"/>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 · FAQ Operations</a:t>
            </a:r>
          </a:p>
        </p:txBody>
      </p:sp>
      <p:sp>
        <p:nvSpPr>
          <p:cNvPr id="84" name="TextBox 83"/>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23</a:t>
            </a:r>
          </a:p>
        </p:txBody>
      </p:sp>
      <p:sp>
        <p:nvSpPr>
          <p:cNvPr id="85" name="Rounded Rectangle 84"/>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88" name="TextBox 87"/>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Contents  (2/2)</a:t>
            </a:r>
          </a:p>
        </p:txBody>
      </p:sp>
      <p:sp>
        <p:nvSpPr>
          <p:cNvPr id="7" name="Rounded Rectangle 6"/>
          <p:cNvSpPr/>
          <p:nvPr/>
        </p:nvSpPr>
        <p:spPr>
          <a:xfrm>
            <a:off x="411480"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25</a:t>
            </a:r>
          </a:p>
        </p:txBody>
      </p:sp>
      <p:sp>
        <p:nvSpPr>
          <p:cNvPr id="11" name="Rounded Rectangle 10"/>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26</a:t>
            </a:r>
          </a:p>
        </p:txBody>
      </p:sp>
      <p:sp>
        <p:nvSpPr>
          <p:cNvPr id="15" name="Rounded Rectangle 14"/>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27</a:t>
            </a:r>
          </a:p>
        </p:txBody>
      </p:sp>
      <p:sp>
        <p:nvSpPr>
          <p:cNvPr id="19" name="Rounded Rectangle 18"/>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Voice-Diary Monitor</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28</a:t>
            </a:r>
          </a:p>
        </p:txBody>
      </p:sp>
      <p:sp>
        <p:nvSpPr>
          <p:cNvPr id="23" name="Rounded Rectangle 22"/>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AI-Coaching Review (Ops)</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29</a:t>
            </a:r>
          </a:p>
        </p:txBody>
      </p:sp>
      <p:sp>
        <p:nvSpPr>
          <p:cNvPr id="27" name="Rounded Rectangle 26"/>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QR Attendance Check-in</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30</a:t>
            </a:r>
          </a:p>
        </p:txBody>
      </p:sp>
      <p:sp>
        <p:nvSpPr>
          <p:cNvPr id="31" name="Rounded Rectangle 30"/>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Consultation Booking Management</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31</a:t>
            </a:r>
          </a:p>
        </p:txBody>
      </p:sp>
      <p:sp>
        <p:nvSpPr>
          <p:cNvPr id="35" name="Rounded Rectangle 34"/>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Friend-Referral Rewards</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32</a:t>
            </a:r>
          </a:p>
        </p:txBody>
      </p:sp>
      <p:sp>
        <p:nvSpPr>
          <p:cNvPr id="39" name="Rounded Rectangle 38"/>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Approving Postpone/Change Requests</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33</a:t>
            </a:r>
          </a:p>
        </p:txBody>
      </p:sp>
      <p:sp>
        <p:nvSpPr>
          <p:cNvPr id="43" name="Rounded Rectangle 42"/>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34</a:t>
            </a:r>
          </a:p>
        </p:txBody>
      </p:sp>
      <p:sp>
        <p:nvSpPr>
          <p:cNvPr id="47" name="Rounded Rectangle 46"/>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35</a:t>
            </a:r>
          </a:p>
        </p:txBody>
      </p:sp>
      <p:sp>
        <p:nvSpPr>
          <p:cNvPr id="51" name="Rounded Rectangle 50"/>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53" name="TextBox 5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Class Observation (live)</a:t>
            </a:r>
          </a:p>
        </p:txBody>
      </p:sp>
      <p:sp>
        <p:nvSpPr>
          <p:cNvPr id="54" name="TextBox 5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36</a:t>
            </a:r>
          </a:p>
        </p:txBody>
      </p:sp>
      <p:sp>
        <p:nvSpPr>
          <p:cNvPr id="55" name="Rounded Rectangle 54"/>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57" name="TextBox 5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58" name="TextBox 5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37</a:t>
            </a:r>
          </a:p>
        </p:txBody>
      </p:sp>
      <p:sp>
        <p:nvSpPr>
          <p:cNvPr id="59" name="Rounded Rectangle 58"/>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61" name="TextBox 6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62" name="TextBox 6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38</a:t>
            </a:r>
          </a:p>
        </p:txBody>
      </p:sp>
      <p:sp>
        <p:nvSpPr>
          <p:cNvPr id="63" name="Rounded Rectangle 62"/>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65" name="TextBox 6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Running Judgment Training (student judgment index)</a:t>
            </a:r>
          </a:p>
        </p:txBody>
      </p:sp>
      <p:sp>
        <p:nvSpPr>
          <p:cNvPr id="66" name="TextBox 6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39</a:t>
            </a:r>
          </a:p>
        </p:txBody>
      </p:sp>
      <p:sp>
        <p:nvSpPr>
          <p:cNvPr id="67" name="Rounded Rectangle 66"/>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69" name="TextBox 6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accounts (password reset · access limits)</a:t>
            </a:r>
          </a:p>
        </p:txBody>
      </p:sp>
      <p:sp>
        <p:nvSpPr>
          <p:cNvPr id="70" name="TextBox 6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40</a:t>
            </a:r>
          </a:p>
        </p:txBody>
      </p:sp>
      <p:sp>
        <p:nvSpPr>
          <p:cNvPr id="71" name="Rounded Rectangle 70"/>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73" name="TextBox 7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74" name="TextBox 7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41</a:t>
            </a:r>
          </a:p>
        </p:txBody>
      </p:sp>
      <p:sp>
        <p:nvSpPr>
          <p:cNvPr id="75" name="Rounded Rectangle 74"/>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77" name="TextBox 7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78" name="TextBox 7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42</a:t>
            </a:r>
          </a:p>
        </p:txBody>
      </p:sp>
      <p:sp>
        <p:nvSpPr>
          <p:cNvPr id="79" name="Rounded Rectangle 78"/>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81" name="TextBox 8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82" name="TextBox 8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43</a:t>
            </a:r>
          </a:p>
        </p:txBody>
      </p:sp>
      <p:sp>
        <p:nvSpPr>
          <p:cNvPr id="83" name="Rounded Rectangle 82"/>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85" name="TextBox 8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86" name="TextBox 8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44</a:t>
            </a:r>
          </a:p>
        </p:txBody>
      </p:sp>
      <p:sp>
        <p:nvSpPr>
          <p:cNvPr id="87" name="Rounded Rectangle 86"/>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89" name="TextBox 8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90" name="TextBox 8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 Voice Diary (monitor)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the student UID, pick the month to look up, and press ‘Search’.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It only shows up once a student actually writes a diary (the entry point is the 📔 card on the student home).</a:t>
            </a:r>
          </a:p>
          <a:p>
            <a:pPr>
              <a:lnSpc>
                <a:spcPct val="115000"/>
              </a:lnSpc>
              <a:spcAft>
                <a:spcPts val="200"/>
              </a:spcAft>
            </a:pPr>
            <a:r>
              <a:rPr sz="900" b="1">
                <a:solidFill>
                  <a:srgbClr val="4F46E5"/>
                </a:solidFill>
                <a:latin typeface="Malgun Gothic"/>
              </a:rPr>
              <a:t>● </a:t>
            </a:r>
            <a:r>
              <a:rPr sz="1100">
                <a:solidFill>
                  <a:srgbClr val="334155"/>
                </a:solidFill>
                <a:latin typeface="Malgun Gothic"/>
              </a:rPr>
              <a:t>Find consistent writers and connect them to praise/rewards to lock in the habit.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‘Nothing shows up’ usually just means that student hasn't left a diary yet.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admin 🧲 Retention Center → 💼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 Per-class AI coaching (recent)’ section, review each teacher's latest coaching.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See every teacher's recent coaching at a glance.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Admins get a monthly rollup focus, so it's low-pressure.</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text is for a teacher's personal growth. We recommend using it as a support tool, not for evaluation/discipline.</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QR Attendance Check-in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scan and attendance is done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Post an attendance QR code at the entrance, and the moment a student scans it with their phone, attendance is recorded automatically. The admin dashboard shows today's attendance in real time — no more paper rosters.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QR Attendance card in the admin menu and generate your academy's QR code.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Print the QR and post it at the entrance or front desk.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Students scan with their phone camera and check in on the check-in 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arrivals and times live on the dashboard's attendance view.</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Arrival times are recorded automatically — fast and accurate.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Attendance data flows into student management and reports.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The QR code is unique to your academy. Keep it from being shared outside.</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Stand a tablet at the desk during arrival hours so students can scan without queuing.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Consultation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From new inquiries to scheduled consults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consultation bookings from parents and prospects and manage them on one screen. Track each booking's schedule and status (pending/done) and carry the consult onward toward 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Consultation Booking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Register a new booking (name, contact, preferred time) or review incoming ones.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After the consult, set the status to done and leave a note.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Carry it forward: consult → level test → enrollment.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Bookings live in one place, so no consult slips through.</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Consult history makes repeat inquiries easy to handle.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quick follow-up call the day after a consult noticeably lifts enrollment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Friend-Referral Rewards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Track referrals · pay out rewards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See the referral status of enrolled students bringing friends, and process reward payouts. Who referred whom, and whether the reward was paid — all on one screen, turning word-of-mouth into a system.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Referral Rewards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the list of referrer · referred friend · enrollment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qualifying cases, process the reward payout (points, gift vouchers, etc.).</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Referral history is kept as data — transparent, no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Linking rewards to student points and the shop multiplies the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Pair it with a 'refer a friend' event before each semester and watch inquiries jump.</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Approving Postpone/Change Requests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and approve teacher-submitted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postpone and time-change requests submitted by teachers gather on the admin screen in real time. Check the reason and approve or decline — the schedule updates immediately, replacing phone-and-messenger juggling with one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Class Postpone/Change Requests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each pending request's teacher · class · reason.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Approve or Decline — the result flows to the schedule and the teacher.</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Request and decision history is kept, so everything stays transparent.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changes parents should know about, follow approval with a notification.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Clearing pending requests every morning prevents same-day confusion.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admin Library, press 💬 Copy KakaoTalk link next to the file.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Paste it into the KakaoTalk chat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Recipients tap the link to watch or download in original quality.</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videos, link sharing = original quality; file attachments degrade it.</a:t>
            </a:r>
          </a:p>
          <a:p>
            <a:pPr>
              <a:lnSpc>
                <a:spcPct val="115000"/>
              </a:lnSpc>
              <a:spcAft>
                <a:spcPts val="200"/>
              </a:spcAft>
            </a:pPr>
            <a:r>
              <a:rPr sz="900" b="1">
                <a:solidFill>
                  <a:srgbClr val="4F46E5"/>
                </a:solidFill>
                <a:latin typeface="Malgun Gothic"/>
              </a:rPr>
              <a:t>● </a:t>
            </a:r>
            <a:r>
              <a:rPr sz="1100">
                <a:solidFill>
                  <a:srgbClr val="334155"/>
                </a:solidFill>
                <a:latin typeface="Malgun Gothic"/>
              </a:rPr>
              <a:t>Works the same for PDFs, PPTs, and videos anywhere in the library.</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Anyone with the link can open it. For internal-only material, check who you share with.</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In a parents' group chat, one video-guide link does all the explaining.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Send students and parents the enrolment link.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choose teacher → lesson options (weekly count, term, length) → days &amp;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slot check must pass before the pay button unlocks (payment is blocked on a clash).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 confirmed payment, all sessions are created at once — verify in the admin lesson list.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Head-office prices and discount rates are managed on the pricing screen.</a:t>
            </a:r>
          </a:p>
        </p:txBody>
      </p:sp>
      <p:sp>
        <p:nvSpPr>
          <p:cNvPr id="14" name="Rounded Rectangle 13"/>
          <p:cNvSpPr/>
          <p:nvPr/>
        </p:nvSpPr>
        <p:spPr>
          <a:xfrm>
            <a:off x="457200" y="5166360"/>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Idempotent — a duplicated payment callback will not create the sessions twice.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Clashes with holidays or existing lessons are pushed back so the session count is still met.</a:t>
            </a:r>
          </a:p>
          <a:p>
            <a:pPr>
              <a:lnSpc>
                <a:spcPct val="115000"/>
              </a:lnSpc>
              <a:spcAft>
                <a:spcPts val="200"/>
              </a:spcAft>
            </a:pPr>
            <a:r>
              <a:rPr sz="900" b="1">
                <a:solidFill>
                  <a:srgbClr val="4F46E5"/>
                </a:solidFill>
                <a:latin typeface="Malgun Gothic"/>
              </a:rPr>
              <a:t>● </a:t>
            </a:r>
            <a:r>
              <a:rPr sz="1100">
                <a:solidFill>
                  <a:srgbClr val="334155"/>
                </a:solidFill>
                <a:latin typeface="Malgun Gothic"/>
              </a:rPr>
              <a:t>Term discounts (6 months −5%, 12 months −10%) are applied to the amount automatically.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Stage 1 (enrol → pay → auto-create sessions) is live today. Later stages will follow.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Consultation → level test → send the enrolment link is the smoothest conversion path.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Class Observation (live)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Quietly look in on a lesson in progress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sit in on a live lesson without the student or teacher knowing. No join notification is sent, so the lesson isn't disturbed — use it for mentoring new teachers, quality checks and parent complaints. Every observation is permanently written to the audit log.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Class Observation (Live)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your admin UID and the room ID.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Write an observation reason — this is required (e.g. new-teacher mentoring).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Start observing; press Stop observing when done.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Past sessions are listed under Observation log.</a:t>
            </a:r>
          </a:p>
        </p:txBody>
      </p:sp>
      <p:sp>
        <p:nvSpPr>
          <p:cNvPr id="14" name="Rounded Rectangle 13"/>
          <p:cNvSpPr/>
          <p:nvPr/>
        </p:nvSpPr>
        <p:spPr>
          <a:xfrm>
            <a:off x="457200" y="5166360"/>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While observing, your audio and video are not transmitted.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reason is mandatory — this is student privacy policy.</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Who observed, when and why is fully recorded.</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This touches student privacy directly. Use it only when there is a business need, and write a specific reason.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Observe new teachers once a week for their first two weeks, then coach — quality stabilises quickly.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gho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Press ‹ Collapse at the top of the left menu — it shrinks to an icon rail and the content gets wider.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the › button in the same place to expand it again.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collapsed state is remembered for your next visit.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Too many menus to find one? Type its name into menu search at the top.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Screens full of tables and lists gain a lot of horizontal space.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15 sub-pages were moved onto the same light theme, so the colour jump between screens is gone.</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collapse animation was removed so low-spec PCs don't stutter.</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If the account has a nationality on file, the right language appears automatically at login.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To change it manually, press the 🌐 EN / KR button at the top.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manual choice is stored per account — several people can share one PC without interference.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Teacher guide slides and manuals switch to the English editions with it.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Teacher accounts are always English — no more getting lost in a Korean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Accounts with an English name no longer flip to Korean because of a Korean job title.</a:t>
            </a:r>
          </a:p>
          <a:p>
            <a:pPr>
              <a:lnSpc>
                <a:spcPct val="115000"/>
              </a:lnSpc>
              <a:spcAft>
                <a:spcPts val="200"/>
              </a:spcAft>
            </a:pPr>
            <a:r>
              <a:rPr sz="900" b="1">
                <a:solidFill>
                  <a:srgbClr val="4F46E5"/>
                </a:solidFill>
                <a:latin typeface="Malgun Gothic"/>
              </a:rPr>
              <a:t>● </a:t>
            </a:r>
            <a:r>
              <a:rPr sz="110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Accounts with no nationality fall back to the old name/ID heuristic. Please fill in nationality when registering teachers.</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Running Judgment Training (student judgment index)</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Not memorisation but judgment — a new outcome metric</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Judgment Training, a student picks the expression that fits a situation and explains why. Results accumulate into a judgment index across 5 axes — evidence you can show in parent consultations that answers “how well do they judge for themselves”, not just “what did they memorise”.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feature lives at AI Learning Tools → Judgment Training on the student 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Per-student results appear on the My Growth screen and in learning reports.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Show the index trend chart as supporting evidence during consultations.</a:t>
            </a:r>
          </a:p>
        </p:txBody>
      </p:sp>
      <p:sp>
        <p:nvSpPr>
          <p:cNvPr id="14" name="Rounded Rectangle 13"/>
          <p:cNvSpPr/>
          <p:nvPr/>
        </p:nvSpPr>
        <p:spPr>
          <a:xfrm>
            <a:off x="457200" y="4398264"/>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Recent answers are weighted more (half-life weighting), so current ability shows up fast.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Partial credit means one wrong answer doesn't crash the index.</a:t>
            </a:r>
          </a:p>
          <a:p>
            <a:pPr>
              <a:lnSpc>
                <a:spcPct val="115000"/>
              </a:lnSpc>
              <a:spcAft>
                <a:spcPts val="200"/>
              </a:spcAft>
            </a:pPr>
            <a:r>
              <a:rPr sz="900" b="1">
                <a:solidFill>
                  <a:srgbClr val="4F46E5"/>
                </a:solidFill>
                <a:latin typeface="Malgun Gothic"/>
              </a:rPr>
              <a:t>● </a:t>
            </a:r>
            <a:r>
              <a:rPr sz="1100">
                <a:solidFill>
                  <a:srgbClr val="334155"/>
                </a:solidFill>
                <a:latin typeface="Malgun Gothic"/>
              </a:rPr>
              <a:t>Questions combine 24 topics × 12 angles, so students get different questions.</a:t>
            </a:r>
          </a:p>
        </p:txBody>
      </p:sp>
      <p:sp>
        <p:nvSpPr>
          <p:cNvPr id="17" name="Rounded Rectangle 16"/>
          <p:cNvSpPr/>
          <p:nvPr/>
        </p:nvSpPr>
        <p:spPr>
          <a:xfrm>
            <a:off x="457200" y="5824727"/>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870447"/>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Read the judgment index as a growth trend, not an exam score. The direction matters more than the absolute number.</a:t>
            </a:r>
          </a:p>
        </p:txBody>
      </p:sp>
      <p:sp>
        <p:nvSpPr>
          <p:cNvPr id="19" name="Rounded Rectangle 18"/>
          <p:cNvSpPr/>
          <p:nvPr/>
        </p:nvSpPr>
        <p:spPr>
          <a:xfrm>
            <a:off x="457200" y="6556247"/>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01967"/>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This is the best material to answer the classic parent question: “They know the words but can't speak.”</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accounts (password reset · access limits)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Handling lost passwords · scoping permissions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a teacher forgets their password you can reset it directly from the admin screen. Teacher account access was also tightened so that operations and settlement features a teacher doesn't need simply don't open.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the teacher under Teachers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Reset password to issue a temporary password.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Pass it on and tell them to change it right after logging in.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teacher's nationality is blank, fill it in so their screen opens in English.</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Teacher accounts cannot reach operations or settlement features (32 areas blocked).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Reset actions are logged.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Teachers with a nationality on file start in English from their first login.</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Send temporary passwords only over a channel where you can verify who you're talking to.</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Fill in nationality and contact details when registering a new teacher — later questions drop sharply.</a:t>
            </a:r>
          </a:p>
        </p:txBody>
      </p:sp>
      <p:sp>
        <p:nvSpPr>
          <p:cNvPr id="21" name="Rectangle 20"/>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9" name="Table 8"/>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38</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39</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40</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3" name="Rounded Rectangle 12"/>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5" name="Rounded Rectangle 14"/>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7" name="Rounded Rectangle 16"/>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9" name="Rounded Rectangle 18"/>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21" name="Rounded Rectangle 20"/>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9" name="Rounded Rectangle 8"/>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5" name="Rounded Rectangle 14"/>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8" name="Rounded Rectangle 17"/>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21" name="Rounded Rectangle 20"/>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4" name="Rounded Rectangle 23"/>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31" name="Rounded Rectangle 30"/>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