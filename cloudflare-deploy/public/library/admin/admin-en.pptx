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a:t>
            </a:r>
          </a:p>
        </p:txBody>
      </p:sp>
      <p:sp>
        <p:nvSpPr>
          <p:cNvPr id="9" name="Rounded Rectangle 8"/>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Admin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a:t>
            </a:r>
          </a:p>
        </p:txBody>
      </p:sp>
      <p:sp>
        <p:nvSpPr>
          <p:cNvPr id="13" name="Rounded Rectangle 12"/>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Dashboard &amp; Feature Search</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6</a:t>
            </a:r>
          </a:p>
        </p:txBody>
      </p:sp>
      <p:sp>
        <p:nvSpPr>
          <p:cNvPr id="17" name="Rounded Rectangle 16"/>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Operations Assistant</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7</a:t>
            </a:r>
          </a:p>
        </p:txBody>
      </p:sp>
      <p:sp>
        <p:nvSpPr>
          <p:cNvPr id="21" name="Rounded Rectangle 20"/>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Lesson Entry</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8</a:t>
            </a:r>
          </a:p>
        </p:txBody>
      </p:sp>
      <p:sp>
        <p:nvSpPr>
          <p:cNvPr id="25" name="Rounded Rectangle 24"/>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Layout</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9</a:t>
            </a:r>
          </a:p>
        </p:txBody>
      </p:sp>
      <p:sp>
        <p:nvSpPr>
          <p:cNvPr id="29" name="Rounded Rectangle 28"/>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Tools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10</a:t>
            </a:r>
          </a:p>
        </p:txBody>
      </p:sp>
      <p:sp>
        <p:nvSpPr>
          <p:cNvPr id="33" name="Rounded Rectangle 32"/>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(give &amp; accrue)</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11</a:t>
            </a:r>
          </a:p>
        </p:txBody>
      </p:sp>
      <p:sp>
        <p:nvSpPr>
          <p:cNvPr id="37" name="Rounded Rectangle 36"/>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12</a:t>
            </a:r>
          </a:p>
        </p:txBody>
      </p:sp>
      <p:sp>
        <p:nvSpPr>
          <p:cNvPr id="41" name="Rounded Rectangle 40"/>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Accounting · Points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13</a:t>
            </a:r>
          </a:p>
        </p:txBody>
      </p:sp>
      <p:sp>
        <p:nvSpPr>
          <p:cNvPr id="45" name="Rounded Rectangle 44"/>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Points &amp; Reward Policy</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14</a:t>
            </a:r>
          </a:p>
        </p:txBody>
      </p:sp>
      <p:sp>
        <p:nvSpPr>
          <p:cNvPr id="49" name="Rounded Rectangle 48"/>
          <p:cNvSpPr/>
          <p:nvPr/>
        </p:nvSpPr>
        <p:spPr>
          <a:xfrm>
            <a:off x="411480"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Refund Policy &amp; Processing</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15</a:t>
            </a:r>
          </a:p>
        </p:txBody>
      </p:sp>
      <p:sp>
        <p:nvSpPr>
          <p:cNvPr id="53" name="Rounded Rectangle 52"/>
          <p:cNvSpPr/>
          <p:nvPr/>
        </p:nvSpPr>
        <p:spPr>
          <a:xfrm>
            <a:off x="411480"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 Parent Management</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16</a:t>
            </a:r>
          </a:p>
        </p:txBody>
      </p:sp>
      <p:sp>
        <p:nvSpPr>
          <p:cNvPr id="57" name="Rounded Rectangle 56"/>
          <p:cNvSpPr/>
          <p:nvPr/>
        </p:nvSpPr>
        <p:spPr>
          <a:xfrm>
            <a:off x="411480"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My-Page</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17</a:t>
            </a:r>
          </a:p>
        </p:txBody>
      </p:sp>
      <p:sp>
        <p:nvSpPr>
          <p:cNvPr id="61" name="Rounded Rectangle 60"/>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Booking Management</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18</a:t>
            </a:r>
          </a:p>
        </p:txBody>
      </p:sp>
      <p:sp>
        <p:nvSpPr>
          <p:cNvPr id="65" name="Rounded Rectangle 64"/>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Postpone Management</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19</a:t>
            </a:r>
          </a:p>
        </p:txBody>
      </p:sp>
      <p:sp>
        <p:nvSpPr>
          <p:cNvPr id="69" name="Rounded Rectangle 68"/>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Content · Curriculum</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20</a:t>
            </a:r>
          </a:p>
        </p:txBody>
      </p:sp>
      <p:sp>
        <p:nvSpPr>
          <p:cNvPr id="73" name="Rounded Rectangle 72"/>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Retention Center</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21</a:t>
            </a:r>
          </a:p>
        </p:txBody>
      </p:sp>
      <p:sp>
        <p:nvSpPr>
          <p:cNvPr id="77" name="Rounded Rectangle 76"/>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Org Settlement · Monthly Report</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22</a:t>
            </a:r>
          </a:p>
        </p:txBody>
      </p:sp>
      <p:sp>
        <p:nvSpPr>
          <p:cNvPr id="81" name="Rounded Rectangle 80"/>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 · FAQ Operations</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23</a:t>
            </a:r>
          </a:p>
        </p:txBody>
      </p:sp>
      <p:sp>
        <p:nvSpPr>
          <p:cNvPr id="85" name="Rounded Rectangle 84"/>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24</a:t>
            </a:r>
          </a:p>
        </p:txBody>
      </p:sp>
      <p:sp>
        <p:nvSpPr>
          <p:cNvPr id="89" name="Rounded Rectangle 88"/>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25</a:t>
            </a:r>
          </a:p>
        </p:txBody>
      </p:sp>
      <p:sp>
        <p:nvSpPr>
          <p:cNvPr id="93" name="Rounded Rectangle 92"/>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26</a:t>
            </a:r>
          </a:p>
        </p:txBody>
      </p:sp>
      <p:sp>
        <p:nvSpPr>
          <p:cNvPr id="97" name="Rounded Rectangle 96"/>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27</a:t>
            </a:r>
          </a:p>
        </p:txBody>
      </p:sp>
      <p:sp>
        <p:nvSpPr>
          <p:cNvPr id="101" name="Rounded Rectangle 100"/>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Voice-Diary Monitor</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28</a:t>
            </a:r>
          </a:p>
        </p:txBody>
      </p:sp>
      <p:sp>
        <p:nvSpPr>
          <p:cNvPr id="105" name="Rounded Rectangle 104"/>
          <p:cNvSpPr/>
          <p:nvPr/>
        </p:nvSpPr>
        <p:spPr>
          <a:xfrm>
            <a:off x="6141567"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AI-Coaching Review (Ops)</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29</a:t>
            </a:r>
          </a:p>
        </p:txBody>
      </p:sp>
      <p:sp>
        <p:nvSpPr>
          <p:cNvPr id="109" name="Rounded Rectangle 108"/>
          <p:cNvSpPr/>
          <p:nvPr/>
        </p:nvSpPr>
        <p:spPr>
          <a:xfrm>
            <a:off x="6141567"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QR Attendance Check-in</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30</a:t>
            </a:r>
          </a:p>
        </p:txBody>
      </p:sp>
      <p:sp>
        <p:nvSpPr>
          <p:cNvPr id="113" name="Rounded Rectangle 112"/>
          <p:cNvSpPr/>
          <p:nvPr/>
        </p:nvSpPr>
        <p:spPr>
          <a:xfrm>
            <a:off x="6141567"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Consultation Booking Management</a:t>
            </a:r>
          </a:p>
        </p:txBody>
      </p:sp>
      <p:sp>
        <p:nvSpPr>
          <p:cNvPr id="116" name="TextBox 115"/>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(2/2)</a:t>
            </a:r>
          </a:p>
        </p:txBody>
      </p:sp>
      <p:sp>
        <p:nvSpPr>
          <p:cNvPr id="7" name="Rounded Rectangle 6"/>
          <p:cNvSpPr/>
          <p:nvPr/>
        </p:nvSpPr>
        <p:spPr>
          <a:xfrm>
            <a:off x="411480"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Friend-Referral Rewards</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32</a:t>
            </a:r>
          </a:p>
        </p:txBody>
      </p:sp>
      <p:sp>
        <p:nvSpPr>
          <p:cNvPr id="11" name="Rounded Rectangle 10"/>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Approving Postpone/Change Requests</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33</a:t>
            </a:r>
          </a:p>
        </p:txBody>
      </p:sp>
      <p:sp>
        <p:nvSpPr>
          <p:cNvPr id="15" name="Rounded Rectangle 14"/>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34</a:t>
            </a:r>
          </a:p>
        </p:txBody>
      </p:sp>
      <p:sp>
        <p:nvSpPr>
          <p:cNvPr id="19" name="Rounded Rectangle 18"/>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35</a:t>
            </a:r>
          </a:p>
        </p:txBody>
      </p:sp>
      <p:sp>
        <p:nvSpPr>
          <p:cNvPr id="23" name="Rounded Rectangle 22"/>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Class Observation (live)</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36</a:t>
            </a:r>
          </a:p>
        </p:txBody>
      </p:sp>
      <p:sp>
        <p:nvSpPr>
          <p:cNvPr id="27" name="Rounded Rectangle 26"/>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37</a:t>
            </a:r>
          </a:p>
        </p:txBody>
      </p:sp>
      <p:sp>
        <p:nvSpPr>
          <p:cNvPr id="31" name="Rounded Rectangle 30"/>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38</a:t>
            </a:r>
          </a:p>
        </p:txBody>
      </p:sp>
      <p:sp>
        <p:nvSpPr>
          <p:cNvPr id="35" name="Rounded Rectangle 34"/>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Running Judgment Training (student judgment index)</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39</a:t>
            </a:r>
          </a:p>
        </p:txBody>
      </p:sp>
      <p:sp>
        <p:nvSpPr>
          <p:cNvPr id="39" name="Rounded Rectangle 38"/>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accounts (password reset · access limits)</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40</a:t>
            </a:r>
          </a:p>
        </p:txBody>
      </p:sp>
      <p:sp>
        <p:nvSpPr>
          <p:cNvPr id="43" name="Rounded Rectangle 42"/>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 redesigned (roster filters · groups · detail tabs)</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41</a:t>
            </a:r>
          </a:p>
        </p:txBody>
      </p:sp>
      <p:sp>
        <p:nvSpPr>
          <p:cNvPr id="47" name="Rounded Rectangle 46"/>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Sending the Parent Monthly Report (pentagon)</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42</a:t>
            </a:r>
          </a:p>
        </p:txBody>
      </p:sp>
      <p:sp>
        <p:nvSpPr>
          <p:cNvPr id="51" name="Rounded Rectangle 50"/>
          <p:cNvSpPr/>
          <p:nvPr/>
        </p:nvSpPr>
        <p:spPr>
          <a:xfrm>
            <a:off x="411480"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Weekly Report (the re-enrolment lever)</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43</a:t>
            </a:r>
          </a:p>
        </p:txBody>
      </p:sp>
      <p:sp>
        <p:nvSpPr>
          <p:cNvPr id="55" name="Rounded Rectangle 54"/>
          <p:cNvSpPr/>
          <p:nvPr/>
        </p:nvSpPr>
        <p:spPr>
          <a:xfrm>
            <a:off x="411480"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57" name="TextBox 56"/>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Home Screen Split (first-time parent vs. existing member)</a:t>
            </a:r>
          </a:p>
        </p:txBody>
      </p:sp>
      <p:sp>
        <p:nvSpPr>
          <p:cNvPr id="58" name="TextBox 57"/>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44</a:t>
            </a:r>
          </a:p>
        </p:txBody>
      </p:sp>
      <p:sp>
        <p:nvSpPr>
          <p:cNvPr id="59" name="Rounded Rectangle 58"/>
          <p:cNvSpPr/>
          <p:nvPr/>
        </p:nvSpPr>
        <p:spPr>
          <a:xfrm>
            <a:off x="411480"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61" name="TextBox 60"/>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Admin Screen Is Much Faster Now</a:t>
            </a:r>
          </a:p>
        </p:txBody>
      </p:sp>
      <p:sp>
        <p:nvSpPr>
          <p:cNvPr id="62" name="TextBox 61"/>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45</a:t>
            </a:r>
          </a:p>
        </p:txBody>
      </p:sp>
      <p:sp>
        <p:nvSpPr>
          <p:cNvPr id="63" name="Rounded Rectangle 62"/>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65" name="TextBox 6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Academy Search Box (find it by name)</a:t>
            </a:r>
          </a:p>
        </p:txBody>
      </p:sp>
      <p:sp>
        <p:nvSpPr>
          <p:cNvPr id="66" name="TextBox 6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46</a:t>
            </a:r>
          </a:p>
        </p:txBody>
      </p:sp>
      <p:sp>
        <p:nvSpPr>
          <p:cNvPr id="67" name="Rounded Rectangle 66"/>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69" name="TextBox 6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Sticky First Column · Create a Sample Lesson</a:t>
            </a:r>
          </a:p>
        </p:txBody>
      </p:sp>
      <p:sp>
        <p:nvSpPr>
          <p:cNvPr id="70" name="TextBox 6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47</a:t>
            </a:r>
          </a:p>
        </p:txBody>
      </p:sp>
      <p:sp>
        <p:nvSpPr>
          <p:cNvPr id="71" name="Rounded Rectangle 70"/>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73" name="TextBox 7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Work / Break / Leave — Entry Point Added</a:t>
            </a:r>
          </a:p>
        </p:txBody>
      </p:sp>
      <p:sp>
        <p:nvSpPr>
          <p:cNvPr id="74" name="TextBox 7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48</a:t>
            </a:r>
          </a:p>
        </p:txBody>
      </p:sp>
      <p:sp>
        <p:nvSpPr>
          <p:cNvPr id="75" name="Rounded Rectangle 74"/>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77" name="TextBox 7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New-Payment Screen, Now Step-by-Step</a:t>
            </a:r>
          </a:p>
        </p:txBody>
      </p:sp>
      <p:sp>
        <p:nvSpPr>
          <p:cNvPr id="78" name="TextBox 7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49</a:t>
            </a:r>
          </a:p>
        </p:txBody>
      </p:sp>
      <p:sp>
        <p:nvSpPr>
          <p:cNvPr id="79" name="Rounded Rectangle 78"/>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81" name="TextBox 8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Sample Report Card for Parents Without an Account</a:t>
            </a:r>
          </a:p>
        </p:txBody>
      </p:sp>
      <p:sp>
        <p:nvSpPr>
          <p:cNvPr id="82" name="TextBox 8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50</a:t>
            </a:r>
          </a:p>
        </p:txBody>
      </p:sp>
      <p:sp>
        <p:nvSpPr>
          <p:cNvPr id="83" name="Rounded Rectangle 82"/>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85" name="TextBox 8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Side Menu Grouped into Categories</a:t>
            </a:r>
          </a:p>
        </p:txBody>
      </p:sp>
      <p:sp>
        <p:nvSpPr>
          <p:cNvPr id="86" name="TextBox 8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51</a:t>
            </a:r>
          </a:p>
        </p:txBody>
      </p:sp>
      <p:sp>
        <p:nvSpPr>
          <p:cNvPr id="87" name="Rounded Rectangle 86"/>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48</a:t>
            </a:r>
          </a:p>
        </p:txBody>
      </p:sp>
      <p:sp>
        <p:nvSpPr>
          <p:cNvPr id="89" name="TextBox 8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Self-Service Password Reset (SMS verification)</a:t>
            </a:r>
          </a:p>
        </p:txBody>
      </p:sp>
      <p:sp>
        <p:nvSpPr>
          <p:cNvPr id="90" name="TextBox 8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52</a:t>
            </a:r>
          </a:p>
        </p:txBody>
      </p:sp>
      <p:sp>
        <p:nvSpPr>
          <p:cNvPr id="91" name="Rounded Rectangle 90"/>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49</a:t>
            </a:r>
          </a:p>
        </p:txBody>
      </p:sp>
      <p:sp>
        <p:nvSpPr>
          <p:cNvPr id="93" name="TextBox 9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Unified Support Hours &amp; Channel Order (KakaoTalk first)</a:t>
            </a:r>
          </a:p>
        </p:txBody>
      </p:sp>
      <p:sp>
        <p:nvSpPr>
          <p:cNvPr id="94" name="TextBox 9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53</a:t>
            </a:r>
          </a:p>
        </p:txBody>
      </p:sp>
      <p:sp>
        <p:nvSpPr>
          <p:cNvPr id="95" name="Rounded Rectangle 94"/>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50</a:t>
            </a:r>
          </a:p>
        </p:txBody>
      </p:sp>
      <p:sp>
        <p:nvSpPr>
          <p:cNvPr id="97" name="TextBox 9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98" name="TextBox 9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54</a:t>
            </a:r>
          </a:p>
        </p:txBody>
      </p:sp>
      <p:sp>
        <p:nvSpPr>
          <p:cNvPr id="99" name="Rounded Rectangle 98"/>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51</a:t>
            </a:r>
          </a:p>
        </p:txBody>
      </p:sp>
      <p:sp>
        <p:nvSpPr>
          <p:cNvPr id="101" name="TextBox 10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02" name="TextBox 10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55</a:t>
            </a:r>
          </a:p>
        </p:txBody>
      </p:sp>
      <p:sp>
        <p:nvSpPr>
          <p:cNvPr id="103" name="Rounded Rectangle 102"/>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52</a:t>
            </a:r>
          </a:p>
        </p:txBody>
      </p:sp>
      <p:sp>
        <p:nvSpPr>
          <p:cNvPr id="105" name="TextBox 10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06" name="TextBox 10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56</a:t>
            </a:r>
          </a:p>
        </p:txBody>
      </p:sp>
      <p:sp>
        <p:nvSpPr>
          <p:cNvPr id="107" name="Rounded Rectangle 106"/>
          <p:cNvSpPr/>
          <p:nvPr/>
        </p:nvSpPr>
        <p:spPr>
          <a:xfrm>
            <a:off x="6141567"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53</a:t>
            </a:r>
          </a:p>
        </p:txBody>
      </p:sp>
      <p:sp>
        <p:nvSpPr>
          <p:cNvPr id="109" name="TextBox 10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10" name="TextBox 10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57</a:t>
            </a:r>
          </a:p>
        </p:txBody>
      </p:sp>
      <p:sp>
        <p:nvSpPr>
          <p:cNvPr id="111" name="Rounded Rectangle 110"/>
          <p:cNvSpPr/>
          <p:nvPr/>
        </p:nvSpPr>
        <p:spPr>
          <a:xfrm>
            <a:off x="6141567"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54</a:t>
            </a:r>
          </a:p>
        </p:txBody>
      </p:sp>
      <p:sp>
        <p:nvSpPr>
          <p:cNvPr id="113" name="TextBox 112"/>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14" name="TextBox 113"/>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Log in with ID and password (Kakao, Naver, Google also work).</a:t>
            </a:r>
          </a:p>
          <a:p>
            <a:pPr>
              <a:lnSpc>
                <a:spcPct val="115000"/>
              </a:lnSpc>
              <a:spcAft>
                <a:spcPts val="300"/>
              </a:spcAft>
            </a:pPr>
            <a:r>
              <a:rPr sz="700" b="1">
                <a:solidFill>
                  <a:srgbClr val="4F46E5"/>
                </a:solidFill>
                <a:latin typeface="Malgun Gothic"/>
              </a:rPr>
              <a:t>● </a:t>
            </a:r>
            <a:r>
              <a:rPr sz="900">
                <a:solidFill>
                  <a:srgbClr val="334155"/>
                </a:solidFill>
                <a:latin typeface="Malgun Gothic"/>
              </a:rPr>
              <a:t>Forgot your password? Reset via 'Find password' (SMS/email/Kakao).</a:t>
            </a:r>
          </a:p>
          <a:p>
            <a:pPr>
              <a:lnSpc>
                <a:spcPct val="115000"/>
              </a:lnSpc>
              <a:spcAft>
                <a:spcPts val="300"/>
              </a:spcAft>
            </a:pPr>
            <a:r>
              <a:rPr sz="700" b="1">
                <a:solidFill>
                  <a:srgbClr val="4F46E5"/>
                </a:solidFill>
                <a:latin typeface="Malgun Gothic"/>
              </a:rPr>
              <a:t>● </a:t>
            </a:r>
            <a:r>
              <a:rPr sz="900">
                <a:solidFill>
                  <a:srgbClr val="334155"/>
                </a:solidFill>
                <a:latin typeface="Malgun Gothic"/>
              </a:rPr>
              <a:t>Visible menus and data scope change automatically by role.</a:t>
            </a:r>
          </a:p>
          <a:p>
            <a:pPr>
              <a:lnSpc>
                <a:spcPct val="115000"/>
              </a:lnSpc>
              <a:spcAft>
                <a:spcPts val="300"/>
              </a:spcAft>
            </a:pPr>
            <a:r>
              <a:rPr sz="700" b="1">
                <a:solidFill>
                  <a:srgbClr val="4F46E5"/>
                </a:solidFill>
                <a:latin typeface="Malgun Gothic"/>
              </a:rPr>
              <a:t>● </a:t>
            </a:r>
            <a:r>
              <a:rPr sz="900">
                <a:solidFill>
                  <a:srgbClr val="334155"/>
                </a:solidFill>
                <a:latin typeface="Malgun Gothic"/>
              </a:rPr>
              <a:t>New here? Preview with 'View demo account'.</a:t>
            </a:r>
          </a:p>
        </p:txBody>
      </p:sp>
      <p:sp>
        <p:nvSpPr>
          <p:cNvPr id="14" name="Rounded Rectangle 13"/>
          <p:cNvSpPr/>
          <p:nvPr/>
        </p:nvSpPr>
        <p:spPr>
          <a:xfrm>
            <a:off x="457200" y="5475884"/>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768492"/>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Permission settings let you split access per staff member.</a:t>
            </a:r>
          </a:p>
          <a:p>
            <a:pPr>
              <a:lnSpc>
                <a:spcPct val="115000"/>
              </a:lnSpc>
              <a:spcAft>
                <a:spcPts val="100"/>
              </a:spcAft>
            </a:pPr>
            <a:r>
              <a:rPr sz="650" b="1">
                <a:solidFill>
                  <a:srgbClr val="4F46E5"/>
                </a:solidFill>
                <a:latin typeface="Malgun Gothic"/>
              </a:rPr>
              <a:t>● </a:t>
            </a:r>
            <a:r>
              <a:rPr sz="850">
                <a:solidFill>
                  <a:srgbClr val="334155"/>
                </a:solidFill>
                <a:latin typeface="Malgun Gothic"/>
              </a:rPr>
              <a:t>Turn on 'Save ID' only on your own trusted PC.</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On shared PCs, turn off auto-login and always log out when done.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ID and pas…</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'Find pass…</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Visible me…</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'View demo…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From the category cards (Teachers·Accounting·Students·Content·System), tap the feature you want.</a:t>
            </a:r>
          </a:p>
          <a:p>
            <a:pPr>
              <a:lnSpc>
                <a:spcPct val="115000"/>
              </a:lnSpc>
              <a:spcAft>
                <a:spcPts val="300"/>
              </a:spcAft>
            </a:pPr>
            <a:r>
              <a:rPr sz="700" b="1">
                <a:solidFill>
                  <a:srgbClr val="4F46E5"/>
                </a:solidFill>
                <a:latin typeface="Malgun Gothic"/>
              </a:rPr>
              <a:t>● </a:t>
            </a:r>
            <a:r>
              <a:rPr sz="900">
                <a:solidFill>
                  <a:srgbClr val="334155"/>
                </a:solidFill>
                <a:latin typeface="Malgun Gothic"/>
              </a:rPr>
              <a:t>Type a word in the feature search box to jump right there.</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number beside each category is how many features it holds.</a:t>
            </a:r>
          </a:p>
          <a:p>
            <a:pPr>
              <a:lnSpc>
                <a:spcPct val="115000"/>
              </a:lnSpc>
              <a:spcAft>
                <a:spcPts val="300"/>
              </a:spcAft>
            </a:pPr>
            <a:r>
              <a:rPr sz="700" b="1">
                <a:solidFill>
                  <a:srgbClr val="4F46E5"/>
                </a:solidFill>
                <a:latin typeface="Malgun Gothic"/>
              </a:rPr>
              <a:t>● </a:t>
            </a:r>
            <a:r>
              <a:rPr sz="900">
                <a:solidFill>
                  <a:srgbClr val="334155"/>
                </a:solidFill>
                <a:latin typeface="Malgun Gothic"/>
              </a:rPr>
              <a:t>Use Self-check · Color/Bright · EN at the top to change screen and language.</a:t>
            </a:r>
          </a:p>
        </p:txBody>
      </p:sp>
      <p:sp>
        <p:nvSpPr>
          <p:cNvPr id="14" name="Rounded Rectangle 13"/>
          <p:cNvSpPr/>
          <p:nvPr/>
        </p:nvSpPr>
        <p:spPr>
          <a:xfrm>
            <a:off x="457200" y="5796838"/>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If you can't find a feature, search is fastest.</a:t>
            </a:r>
          </a:p>
          <a:p>
            <a:pPr>
              <a:lnSpc>
                <a:spcPct val="115000"/>
              </a:lnSpc>
              <a:spcAft>
                <a:spcPts val="100"/>
              </a:spcAft>
            </a:pPr>
            <a:r>
              <a:rPr sz="650" b="1">
                <a:solidFill>
                  <a:srgbClr val="4F46E5"/>
                </a:solidFill>
                <a:latin typeface="Malgun Gothic"/>
              </a:rPr>
              <a:t>● </a:t>
            </a:r>
            <a:r>
              <a:rPr sz="850">
                <a:solidFill>
                  <a:srgbClr val="334155"/>
                </a:solidFill>
                <a:latin typeface="Malgun Gothic"/>
              </a:rPr>
              <a:t>You can also tell the AI assistant 'open ○○' to jump there.</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Remember search terms for features you use often to cut clicks.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56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39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39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40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From the c…</a:t>
            </a:r>
          </a:p>
        </p:txBody>
      </p:sp>
      <p:sp>
        <p:nvSpPr>
          <p:cNvPr id="26" name="TextBox 25"/>
          <p:cNvSpPr txBox="1"/>
          <p:nvPr/>
        </p:nvSpPr>
        <p:spPr>
          <a:xfrm>
            <a:off x="4413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596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78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8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980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feature se…</a:t>
            </a:r>
          </a:p>
        </p:txBody>
      </p:sp>
      <p:sp>
        <p:nvSpPr>
          <p:cNvPr id="31" name="TextBox 30"/>
          <p:cNvSpPr txBox="1"/>
          <p:nvPr/>
        </p:nvSpPr>
        <p:spPr>
          <a:xfrm>
            <a:off x="625358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436461" y="2670048"/>
            <a:ext cx="11558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875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87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20509"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number</a:t>
            </a:r>
          </a:p>
        </p:txBody>
      </p:sp>
      <p:sp>
        <p:nvSpPr>
          <p:cNvPr id="36" name="TextBox 35"/>
          <p:cNvSpPr txBox="1"/>
          <p:nvPr/>
        </p:nvSpPr>
        <p:spPr>
          <a:xfrm>
            <a:off x="7592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775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857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57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159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Self-check…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Speak or type into the center search/mic. e.g. 'How's today's revenue?'</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AI looks up numbers or opens a screen. e.g. 'Open student management.'</a:t>
            </a:r>
          </a:p>
          <a:p>
            <a:pPr>
              <a:lnSpc>
                <a:spcPct val="115000"/>
              </a:lnSpc>
              <a:spcAft>
                <a:spcPts val="300"/>
              </a:spcAft>
            </a:pPr>
            <a:r>
              <a:rPr sz="700" b="1">
                <a:solidFill>
                  <a:srgbClr val="4F46E5"/>
                </a:solidFill>
                <a:latin typeface="Malgun Gothic"/>
              </a:rPr>
              <a:t>● </a:t>
            </a:r>
            <a:r>
              <a:rPr sz="900">
                <a:solidFill>
                  <a:srgbClr val="334155"/>
                </a:solidFill>
                <a:latin typeface="Malgun Gothic"/>
              </a:rPr>
              <a:t>Important actions are confirmed with 'Shall I?' first. e.g. 'Push Jung Woo-young's next lesson by 1 hour.'</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assistant only executes tasks you have permission for.</a:t>
            </a:r>
          </a:p>
        </p:txBody>
      </p:sp>
      <p:sp>
        <p:nvSpPr>
          <p:cNvPr id="14" name="Rounded Rectangle 13"/>
          <p:cNvSpPr/>
          <p:nvPr/>
        </p:nvSpPr>
        <p:spPr>
          <a:xfrm>
            <a:off x="457200" y="5796838"/>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Can't find a button? Just say 'show me ○○'.</a:t>
            </a:r>
          </a:p>
          <a:p>
            <a:pPr>
              <a:lnSpc>
                <a:spcPct val="115000"/>
              </a:lnSpc>
              <a:spcAft>
                <a:spcPts val="100"/>
              </a:spcAft>
            </a:pPr>
            <a:r>
              <a:rPr sz="650" b="1">
                <a:solidFill>
                  <a:srgbClr val="4F46E5"/>
                </a:solidFill>
                <a:latin typeface="Malgun Gothic"/>
              </a:rPr>
              <a:t>● </a:t>
            </a:r>
            <a:r>
              <a:rPr sz="850">
                <a:solidFill>
                  <a:srgbClr val="334155"/>
                </a:solidFill>
                <a:latin typeface="Malgun Gothic"/>
              </a:rPr>
              <a:t>Voice and text both work the same.</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When busy, telling it by voice is much faster than clicking.</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70962"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532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532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55010"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search/mic</a:t>
            </a:r>
          </a:p>
        </p:txBody>
      </p:sp>
      <p:sp>
        <p:nvSpPr>
          <p:cNvPr id="26" name="TextBox 25"/>
          <p:cNvSpPr txBox="1"/>
          <p:nvPr/>
        </p:nvSpPr>
        <p:spPr>
          <a:xfrm>
            <a:off x="417057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35345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3575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357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750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looks up n…</a:t>
            </a:r>
          </a:p>
        </p:txBody>
      </p:sp>
      <p:sp>
        <p:nvSpPr>
          <p:cNvPr id="31" name="TextBox 30"/>
          <p:cNvSpPr txBox="1"/>
          <p:nvPr/>
        </p:nvSpPr>
        <p:spPr>
          <a:xfrm>
            <a:off x="601035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193231"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7552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755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7727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confirmed…</a:t>
            </a:r>
          </a:p>
        </p:txBody>
      </p:sp>
      <p:sp>
        <p:nvSpPr>
          <p:cNvPr id="36" name="TextBox 35"/>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947050"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2934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31098"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tasks you…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On the entry screen, enter a name and room code, then press Enter.</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the room code is empty, you go to the shared lesson room.</a:t>
            </a:r>
          </a:p>
          <a:p>
            <a:pPr>
              <a:lnSpc>
                <a:spcPct val="115000"/>
              </a:lnSpc>
              <a:spcAft>
                <a:spcPts val="300"/>
              </a:spcAft>
            </a:pPr>
            <a:r>
              <a:rPr sz="700" b="1">
                <a:solidFill>
                  <a:srgbClr val="4F46E5"/>
                </a:solidFill>
                <a:latin typeface="Malgun Gothic"/>
              </a:rPr>
              <a:t>● </a:t>
            </a:r>
            <a:r>
              <a:rPr sz="900">
                <a:solidFill>
                  <a:srgbClr val="334155"/>
                </a:solidFill>
                <a:latin typeface="Malgun Gothic"/>
              </a:rPr>
              <a:t>Advise that the browser's camera/mic permission is required.</a:t>
            </a:r>
          </a:p>
          <a:p>
            <a:pPr>
              <a:lnSpc>
                <a:spcPct val="115000"/>
              </a:lnSpc>
              <a:spcAft>
                <a:spcPts val="300"/>
              </a:spcAft>
            </a:pPr>
            <a:r>
              <a:rPr sz="700" b="1">
                <a:solidFill>
                  <a:srgbClr val="4F46E5"/>
                </a:solidFill>
                <a:latin typeface="Malgun Gothic"/>
              </a:rPr>
              <a:t>● </a:t>
            </a:r>
            <a:r>
              <a:rPr sz="900">
                <a:solidFill>
                  <a:srgbClr val="334155"/>
                </a:solidFill>
                <a:latin typeface="Malgun Gothic"/>
              </a:rPr>
              <a:t>For trouble, first advise reconnecting in Chrome/Edge.</a:t>
            </a:r>
          </a:p>
        </p:txBody>
      </p:sp>
      <p:sp>
        <p:nvSpPr>
          <p:cNvPr id="14" name="Rounded Rectangle 13"/>
          <p:cNvSpPr/>
          <p:nvPr/>
        </p:nvSpPr>
        <p:spPr>
          <a:xfrm>
            <a:off x="457200" y="563636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KakaoTalk's in-app browser blocks the camera — 'open in an external browser' is needed.</a:t>
            </a:r>
          </a:p>
          <a:p>
            <a:pPr>
              <a:lnSpc>
                <a:spcPct val="115000"/>
              </a:lnSpc>
              <a:spcAft>
                <a:spcPts val="100"/>
              </a:spcAft>
            </a:pPr>
            <a:r>
              <a:rPr sz="650" b="1">
                <a:solidFill>
                  <a:srgbClr val="4F46E5"/>
                </a:solidFill>
                <a:latin typeface="Malgun Gothic"/>
              </a:rPr>
              <a:t>● </a:t>
            </a:r>
            <a:r>
              <a:rPr sz="850">
                <a:solidFill>
                  <a:srgbClr val="334155"/>
                </a:solidFill>
                <a:latin typeface="Malgun Gothic"/>
              </a:rPr>
              <a:t>Lessons needing room/token management can be checked from the admin screen.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Most 'can't enter' tickets are browser permission issues — check permissions and browser first.</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Turn frequent entry questions into an FAQ to cut support load.</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2869" y="2670048"/>
            <a:ext cx="98389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2516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51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26917"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name</a:t>
            </a:r>
          </a:p>
        </p:txBody>
      </p:sp>
      <p:sp>
        <p:nvSpPr>
          <p:cNvPr id="28" name="TextBox 27"/>
          <p:cNvSpPr txBox="1"/>
          <p:nvPr/>
        </p:nvSpPr>
        <p:spPr>
          <a:xfrm>
            <a:off x="38267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00964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0919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1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39369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shared les…</a:t>
            </a:r>
          </a:p>
        </p:txBody>
      </p:sp>
      <p:sp>
        <p:nvSpPr>
          <p:cNvPr id="33" name="TextBox 32"/>
          <p:cNvSpPr txBox="1"/>
          <p:nvPr/>
        </p:nvSpPr>
        <p:spPr>
          <a:xfrm>
            <a:off x="56665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8494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317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317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334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camera/mic…</a:t>
            </a:r>
          </a:p>
        </p:txBody>
      </p:sp>
      <p:sp>
        <p:nvSpPr>
          <p:cNvPr id="38" name="TextBox 37"/>
          <p:cNvSpPr txBox="1"/>
          <p:nvPr/>
        </p:nvSpPr>
        <p:spPr>
          <a:xfrm>
            <a:off x="750630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68918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77148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14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07323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reconnecti…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Top bar: room name · user count · timer · recording (REC) · language (EN) · dark mode.</a:t>
            </a:r>
          </a:p>
          <a:p>
            <a:pPr>
              <a:lnSpc>
                <a:spcPct val="115000"/>
              </a:lnSpc>
              <a:spcAft>
                <a:spcPts val="300"/>
              </a:spcAft>
            </a:pPr>
            <a:r>
              <a:rPr sz="700" b="1">
                <a:solidFill>
                  <a:srgbClr val="4F46E5"/>
                </a:solidFill>
                <a:latin typeface="Malgun Gothic"/>
              </a:rPr>
              <a:t>● </a:t>
            </a:r>
            <a:r>
              <a:rPr sz="900">
                <a:solidFill>
                  <a:srgbClr val="334155"/>
                </a:solidFill>
                <a:latin typeface="Malgun Gothic"/>
              </a:rPr>
              <a:t>Center tabs: Board · Video · Games · Background · AI Warm-up · Review Quiz + Materials Tools · Writing Tools.</a:t>
            </a:r>
          </a:p>
          <a:p>
            <a:pPr>
              <a:lnSpc>
                <a:spcPct val="115000"/>
              </a:lnSpc>
              <a:spcAft>
                <a:spcPts val="300"/>
              </a:spcAft>
            </a:pPr>
            <a:r>
              <a:rPr sz="700" b="1">
                <a:solidFill>
                  <a:srgbClr val="4F46E5"/>
                </a:solidFill>
                <a:latin typeface="Malgun Gothic"/>
              </a:rPr>
              <a:t>● </a:t>
            </a:r>
            <a:r>
              <a:rPr sz="900">
                <a:solidFill>
                  <a:srgbClr val="334155"/>
                </a:solidFill>
                <a:latin typeface="Malgun Gothic"/>
              </a:rPr>
              <a:t>Bottom dock: Settings · Camera · Screen Share · Chat · Native · Leave.</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 praise basket at the top-left collects praise during class.</a:t>
            </a:r>
          </a:p>
        </p:txBody>
      </p:sp>
      <p:sp>
        <p:nvSpPr>
          <p:cNvPr id="14" name="Rounded Rectangle 13"/>
          <p:cNvSpPr/>
          <p:nvPr/>
        </p:nvSpPr>
        <p:spPr>
          <a:xfrm>
            <a:off x="457200" y="5796838"/>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For 'no sound/video' tickets, tell users to check the dock's camera/mic and ⚙️ Settings.</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REC indicator shows whether a lesson is being recorded.</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Turn common classroom questions into an FAQ with these screenshots.</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13939"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9623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96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9798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 bar</a:t>
            </a:r>
          </a:p>
        </p:txBody>
      </p:sp>
      <p:sp>
        <p:nvSpPr>
          <p:cNvPr id="26" name="TextBox 25"/>
          <p:cNvSpPr txBox="1"/>
          <p:nvPr/>
        </p:nvSpPr>
        <p:spPr>
          <a:xfrm>
            <a:off x="395569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13857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2087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208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52262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Center tab…</a:t>
            </a:r>
          </a:p>
        </p:txBody>
      </p:sp>
      <p:sp>
        <p:nvSpPr>
          <p:cNvPr id="31" name="TextBox 30"/>
          <p:cNvSpPr txBox="1"/>
          <p:nvPr/>
        </p:nvSpPr>
        <p:spPr>
          <a:xfrm>
            <a:off x="57954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97834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0606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60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362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Bottom doc…</a:t>
            </a:r>
          </a:p>
        </p:txBody>
      </p:sp>
      <p:sp>
        <p:nvSpPr>
          <p:cNvPr id="36" name="TextBox 35"/>
          <p:cNvSpPr txBox="1"/>
          <p:nvPr/>
        </p:nvSpPr>
        <p:spPr>
          <a:xfrm>
            <a:off x="763524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81812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004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00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021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praise bas…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 Board: pen, shapes, text, AI shapes, save.</a:t>
            </a:r>
          </a:p>
          <a:p>
            <a:pPr>
              <a:lnSpc>
                <a:spcPct val="115000"/>
              </a:lnSpc>
              <a:spcAft>
                <a:spcPts val="300"/>
              </a:spcAft>
            </a:pPr>
            <a:r>
              <a:rPr sz="700" b="1">
                <a:solidFill>
                  <a:srgbClr val="4F46E5"/>
                </a:solidFill>
                <a:latin typeface="Malgun Gothic"/>
              </a:rPr>
              <a:t>● </a:t>
            </a:r>
            <a:r>
              <a:rPr sz="900">
                <a:solidFill>
                  <a:srgbClr val="334155"/>
                </a:solidFill>
                <a:latin typeface="Malgun Gothic"/>
              </a:rPr>
              <a:t>📚 Materials Tools: upload (PDF/JPG/PNG), library, page turning, fit-to-screen.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 Background: change backdrop, decorate face.</a:t>
            </a:r>
          </a:p>
          <a:p>
            <a:pPr>
              <a:lnSpc>
                <a:spcPct val="115000"/>
              </a:lnSpc>
              <a:spcAft>
                <a:spcPts val="300"/>
              </a:spcAft>
            </a:pPr>
            <a:r>
              <a:rPr sz="700" b="1">
                <a:solidFill>
                  <a:srgbClr val="4F46E5"/>
                </a:solidFill>
                <a:latin typeface="Malgun Gothic"/>
              </a:rPr>
              <a:t>● </a:t>
            </a:r>
            <a:r>
              <a:rPr sz="900">
                <a:solidFill>
                  <a:srgbClr val="334155"/>
                </a:solidFill>
                <a:latin typeface="Malgun Gothic"/>
              </a:rPr>
              <a:t>📹 Video: share YouTube links / video files.</a:t>
            </a:r>
          </a:p>
        </p:txBody>
      </p:sp>
      <p:sp>
        <p:nvSpPr>
          <p:cNvPr id="14" name="Rounded Rectangle 13"/>
          <p:cNvSpPr/>
          <p:nvPr/>
        </p:nvSpPr>
        <p:spPr>
          <a:xfrm>
            <a:off x="457200" y="5154930"/>
            <a:ext cx="5669280" cy="1288161"/>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47538"/>
            <a:ext cx="5394960" cy="958977"/>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materials 'Library' shows textbooks the admin uploaded — it ties into content management.</a:t>
            </a:r>
          </a:p>
          <a:p>
            <a:pPr>
              <a:lnSpc>
                <a:spcPct val="115000"/>
              </a:lnSpc>
              <a:spcAft>
                <a:spcPts val="100"/>
              </a:spcAft>
            </a:pPr>
            <a:r>
              <a:rPr sz="650" b="1">
                <a:solidFill>
                  <a:srgbClr val="4F46E5"/>
                </a:solidFill>
                <a:latin typeface="Malgun Gothic"/>
              </a:rPr>
              <a:t>● </a:t>
            </a:r>
            <a:r>
              <a:rPr sz="850">
                <a:solidFill>
                  <a:srgbClr val="334155"/>
                </a:solidFill>
                <a:latin typeface="Malgun Gothic"/>
              </a:rPr>
              <a:t>Coach teachers on the 'pre-upload materials → share in class' flow.</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 well-stocked textbook library helps teachers prep faster.</a:t>
            </a:r>
          </a:p>
        </p:txBody>
      </p:sp>
      <p:sp>
        <p:nvSpPr>
          <p:cNvPr id="19" name="Rectangle 18"/>
          <p:cNvSpPr/>
          <p:nvPr/>
        </p:nvSpPr>
        <p:spPr>
          <a:xfrm>
            <a:off x="6534102" y="3255264"/>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588966" y="3310128"/>
            <a:ext cx="2183986" cy="1298448"/>
          </a:xfrm>
          <a:prstGeom prst="rect">
            <a:avLst/>
          </a:prstGeom>
        </p:spPr>
      </p:pic>
      <p:sp>
        <p:nvSpPr>
          <p:cNvPr id="21" name="Rectangle 20"/>
          <p:cNvSpPr/>
          <p:nvPr/>
        </p:nvSpPr>
        <p:spPr>
          <a:xfrm>
            <a:off x="9368742" y="3255264"/>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423606" y="3310128"/>
            <a:ext cx="2183986" cy="1298448"/>
          </a:xfrm>
          <a:prstGeom prst="rect">
            <a:avLst/>
          </a:prstGeom>
        </p:spPr>
      </p:pic>
      <p:sp>
        <p:nvSpPr>
          <p:cNvPr id="23" name="Rectangle 22"/>
          <p:cNvSpPr/>
          <p:nvPr/>
        </p:nvSpPr>
        <p:spPr>
          <a:xfrm>
            <a:off x="6534102" y="4736592"/>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588966" y="4791456"/>
            <a:ext cx="2183986" cy="1298448"/>
          </a:xfrm>
          <a:prstGeom prst="rect">
            <a:avLst/>
          </a:prstGeom>
        </p:spPr>
      </p:pic>
      <p:sp>
        <p:nvSpPr>
          <p:cNvPr id="25" name="Rectangle 24"/>
          <p:cNvSpPr/>
          <p:nvPr/>
        </p:nvSpPr>
        <p:spPr>
          <a:xfrm>
            <a:off x="9368742" y="4736592"/>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423606" y="4791456"/>
            <a:ext cx="2183986" cy="1298448"/>
          </a:xfrm>
          <a:prstGeom prst="rect">
            <a:avLst/>
          </a:prstGeom>
        </p:spPr>
      </p:pic>
      <p:sp>
        <p:nvSpPr>
          <p:cNvPr id="27" name="Rounded Rectangle 26"/>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215030" y="2670048"/>
            <a:ext cx="10698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29732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73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31" name="TextBox 30"/>
          <p:cNvSpPr txBox="1"/>
          <p:nvPr/>
        </p:nvSpPr>
        <p:spPr>
          <a:xfrm>
            <a:off x="3599078"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Board</a:t>
            </a:r>
          </a:p>
        </p:txBody>
      </p:sp>
      <p:sp>
        <p:nvSpPr>
          <p:cNvPr id="32" name="TextBox 31"/>
          <p:cNvSpPr txBox="1"/>
          <p:nvPr/>
        </p:nvSpPr>
        <p:spPr>
          <a:xfrm>
            <a:off x="428487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3" name="Rounded Rectangle 32"/>
          <p:cNvSpPr/>
          <p:nvPr/>
        </p:nvSpPr>
        <p:spPr>
          <a:xfrm>
            <a:off x="4467758"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55005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50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6" name="TextBox 35"/>
          <p:cNvSpPr txBox="1"/>
          <p:nvPr/>
        </p:nvSpPr>
        <p:spPr>
          <a:xfrm>
            <a:off x="4851806"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Materials…</a:t>
            </a:r>
          </a:p>
        </p:txBody>
      </p:sp>
      <p:sp>
        <p:nvSpPr>
          <p:cNvPr id="37" name="TextBox 36"/>
          <p:cNvSpPr txBox="1"/>
          <p:nvPr/>
        </p:nvSpPr>
        <p:spPr>
          <a:xfrm>
            <a:off x="603869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8" name="Rounded Rectangle 37"/>
          <p:cNvSpPr/>
          <p:nvPr/>
        </p:nvSpPr>
        <p:spPr>
          <a:xfrm>
            <a:off x="6221577"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038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38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41" name="TextBox 40"/>
          <p:cNvSpPr txBox="1"/>
          <p:nvPr/>
        </p:nvSpPr>
        <p:spPr>
          <a:xfrm>
            <a:off x="6605625"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42" name="TextBox 41"/>
          <p:cNvSpPr txBox="1"/>
          <p:nvPr/>
        </p:nvSpPr>
        <p:spPr>
          <a:xfrm>
            <a:off x="772119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3" name="Rounded Rectangle 42"/>
          <p:cNvSpPr/>
          <p:nvPr/>
        </p:nvSpPr>
        <p:spPr>
          <a:xfrm>
            <a:off x="7904073" y="2670048"/>
            <a:ext cx="10698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98636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86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6" name="TextBox 45"/>
          <p:cNvSpPr txBox="1"/>
          <p:nvPr/>
        </p:nvSpPr>
        <p:spPr>
          <a:xfrm>
            <a:off x="8288121"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Video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The teacher gives +1P instantly via the 🌟 praise button on a student's video.</a:t>
            </a:r>
          </a:p>
          <a:p>
            <a:pPr>
              <a:lnSpc>
                <a:spcPct val="115000"/>
              </a:lnSpc>
              <a:spcAft>
                <a:spcPts val="300"/>
              </a:spcAft>
            </a:pPr>
            <a:r>
              <a:rPr sz="700" b="1">
                <a:solidFill>
                  <a:srgbClr val="4F46E5"/>
                </a:solidFill>
                <a:latin typeface="Malgun Gothic"/>
              </a:rPr>
              <a:t>● </a:t>
            </a:r>
            <a:r>
              <a:rPr sz="900">
                <a:solidFill>
                  <a:srgbClr val="334155"/>
                </a:solidFill>
                <a:latin typeface="Malgun Gothic"/>
              </a:rPr>
              <a:t>It accrues in real time in the student's 🧺 point basket and sums into their total (P).</a:t>
            </a:r>
          </a:p>
          <a:p>
            <a:pPr>
              <a:lnSpc>
                <a:spcPct val="115000"/>
              </a:lnSpc>
              <a:spcAft>
                <a:spcPts val="300"/>
              </a:spcAft>
            </a:pPr>
            <a:r>
              <a:rPr sz="700" b="1">
                <a:solidFill>
                  <a:srgbClr val="4F46E5"/>
                </a:solidFill>
                <a:latin typeface="Malgun Gothic"/>
              </a:rPr>
              <a:t>● </a:t>
            </a:r>
            <a:r>
              <a:rPr sz="900">
                <a:solidFill>
                  <a:srgbClr val="334155"/>
                </a:solidFill>
                <a:latin typeface="Malgun Gothic"/>
              </a:rPr>
              <a:t>A post-class star rating gives the student an extra +10P.</a:t>
            </a:r>
          </a:p>
          <a:p>
            <a:pPr>
              <a:lnSpc>
                <a:spcPct val="115000"/>
              </a:lnSpc>
              <a:spcAft>
                <a:spcPts val="300"/>
              </a:spcAft>
            </a:pPr>
            <a:r>
              <a:rPr sz="700" b="1">
                <a:solidFill>
                  <a:srgbClr val="4F46E5"/>
                </a:solidFill>
                <a:latin typeface="Malgun Gothic"/>
              </a:rPr>
              <a:t>● </a:t>
            </a:r>
            <a:r>
              <a:rPr sz="900">
                <a:solidFill>
                  <a:srgbClr val="334155"/>
                </a:solidFill>
                <a:latin typeface="Malgun Gothic"/>
              </a:rPr>
              <a:t>Accrued points connect to rewards in the point shop / roulette.</a:t>
            </a:r>
          </a:p>
          <a:p>
            <a:pPr>
              <a:lnSpc>
                <a:spcPct val="115000"/>
              </a:lnSpc>
              <a:spcAft>
                <a:spcPts val="300"/>
              </a:spcAft>
            </a:pPr>
            <a:r>
              <a:rPr sz="700" b="1">
                <a:solidFill>
                  <a:srgbClr val="4F46E5"/>
                </a:solidFill>
                <a:latin typeface="Malgun Gothic"/>
              </a:rPr>
              <a:t>● </a:t>
            </a:r>
            <a:r>
              <a:rPr sz="900">
                <a:solidFill>
                  <a:srgbClr val="334155"/>
                </a:solidFill>
                <a:latin typeface="Malgun Gothic"/>
              </a:rPr>
              <a:t>Admins manage accrual/usage policy under Accounting/Points.</a:t>
            </a:r>
          </a:p>
        </p:txBody>
      </p:sp>
      <p:sp>
        <p:nvSpPr>
          <p:cNvPr id="14" name="Rounded Rectangle 13"/>
          <p:cNvSpPr/>
          <p:nvPr/>
        </p:nvSpPr>
        <p:spPr>
          <a:xfrm>
            <a:off x="457200" y="6085332"/>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377940"/>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Instant rewards help participation and re-enrollment.</a:t>
            </a:r>
          </a:p>
          <a:p>
            <a:pPr>
              <a:lnSpc>
                <a:spcPct val="115000"/>
              </a:lnSpc>
              <a:spcAft>
                <a:spcPts val="100"/>
              </a:spcAft>
            </a:pPr>
            <a:r>
              <a:rPr sz="650" b="1">
                <a:solidFill>
                  <a:srgbClr val="4F46E5"/>
                </a:solidFill>
                <a:latin typeface="Malgun Gothic"/>
              </a:rPr>
              <a:t>● </a:t>
            </a:r>
            <a:r>
              <a:rPr sz="850">
                <a:solidFill>
                  <a:srgbClr val="334155"/>
                </a:solidFill>
                <a:latin typeface="Malgun Gothic"/>
              </a:rPr>
              <a:t>Shaping shop rewards lets you tune learning motivation.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Praise points are given by the teacher; the points policy and shop are the admin's job.</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Periodically check that points flow well (given &amp; spent) to manage motivation.</a:t>
            </a:r>
          </a:p>
        </p:txBody>
      </p:sp>
      <p:sp>
        <p:nvSpPr>
          <p:cNvPr id="21" name="Rectangle 20"/>
          <p:cNvSpPr/>
          <p:nvPr/>
        </p:nvSpPr>
        <p:spPr>
          <a:xfrm>
            <a:off x="6300216" y="3752988"/>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07852"/>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94052"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7634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76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78100"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a:t>
            </a:r>
          </a:p>
        </p:txBody>
      </p:sp>
      <p:sp>
        <p:nvSpPr>
          <p:cNvPr id="28" name="TextBox 27"/>
          <p:cNvSpPr txBox="1"/>
          <p:nvPr/>
        </p:nvSpPr>
        <p:spPr>
          <a:xfrm>
            <a:off x="3035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218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00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602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It accrues…</a:t>
            </a:r>
          </a:p>
        </p:txBody>
      </p:sp>
      <p:sp>
        <p:nvSpPr>
          <p:cNvPr id="33" name="TextBox 32"/>
          <p:cNvSpPr txBox="1"/>
          <p:nvPr/>
        </p:nvSpPr>
        <p:spPr>
          <a:xfrm>
            <a:off x="487558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05846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407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0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42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post-class…</a:t>
            </a:r>
          </a:p>
        </p:txBody>
      </p:sp>
      <p:sp>
        <p:nvSpPr>
          <p:cNvPr id="38" name="TextBox 37"/>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89823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98052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282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 shop…</a:t>
            </a:r>
          </a:p>
        </p:txBody>
      </p:sp>
      <p:sp>
        <p:nvSpPr>
          <p:cNvPr id="43" name="TextBox 42"/>
          <p:cNvSpPr txBox="1"/>
          <p:nvPr/>
        </p:nvSpPr>
        <p:spPr>
          <a:xfrm>
            <a:off x="855512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73800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2030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0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12205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Accounting…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In Teachers, check the teacher list, profiles and matching.</a:t>
            </a:r>
          </a:p>
          <a:p>
            <a:pPr>
              <a:lnSpc>
                <a:spcPct val="115000"/>
              </a:lnSpc>
              <a:spcAft>
                <a:spcPts val="300"/>
              </a:spcAft>
            </a:pPr>
            <a:r>
              <a:rPr sz="700" b="1">
                <a:solidFill>
                  <a:srgbClr val="4F46E5"/>
                </a:solidFill>
                <a:latin typeface="Malgun Gothic"/>
              </a:rPr>
              <a:t>● </a:t>
            </a:r>
            <a:r>
              <a:rPr sz="900">
                <a:solidFill>
                  <a:srgbClr val="334155"/>
                </a:solidFill>
                <a:latin typeface="Malgun Gothic"/>
              </a:rPr>
              <a:t>Manage payroll, MBTI/style and student↔teacher matching.</a:t>
            </a:r>
          </a:p>
          <a:p>
            <a:pPr>
              <a:lnSpc>
                <a:spcPct val="115000"/>
              </a:lnSpc>
              <a:spcAft>
                <a:spcPts val="300"/>
              </a:spcAft>
            </a:pPr>
            <a:r>
              <a:rPr sz="700" b="1">
                <a:solidFill>
                  <a:srgbClr val="4F46E5"/>
                </a:solidFill>
                <a:latin typeface="Malgun Gothic"/>
              </a:rPr>
              <a:t>● </a:t>
            </a:r>
            <a:r>
              <a:rPr sz="900">
                <a:solidFill>
                  <a:srgbClr val="334155"/>
                </a:solidFill>
                <a:latin typeface="Malgun Gothic"/>
              </a:rPr>
              <a:t>Gather each teacher's lesson reviews (stars).</a:t>
            </a:r>
          </a:p>
        </p:txBody>
      </p:sp>
      <p:sp>
        <p:nvSpPr>
          <p:cNvPr id="14" name="Rounded Rectangle 13"/>
          <p:cNvSpPr/>
          <p:nvPr/>
        </p:nvSpPr>
        <p:spPr>
          <a:xfrm>
            <a:off x="457200" y="5026914"/>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Better matching raises re-enrollment.</a:t>
            </a:r>
          </a:p>
          <a:p>
            <a:pPr>
              <a:lnSpc>
                <a:spcPct val="115000"/>
              </a:lnSpc>
              <a:spcAft>
                <a:spcPts val="100"/>
              </a:spcAft>
            </a:pPr>
            <a:r>
              <a:rPr sz="650" b="1">
                <a:solidFill>
                  <a:srgbClr val="4F46E5"/>
                </a:solidFill>
                <a:latin typeface="Malgun Gothic"/>
              </a:rPr>
              <a:t>● </a:t>
            </a:r>
            <a:r>
              <a:rPr sz="850">
                <a:solidFill>
                  <a:srgbClr val="334155"/>
                </a:solidFill>
                <a:latin typeface="Malgun Gothic"/>
              </a:rPr>
              <a:t>Link low-rated teachers to the coaching tab.</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Assign top teachers to popular slots first to boost satisfaction.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98417" y="2670048"/>
            <a:ext cx="13277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8071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07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82465"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309006"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payroll</a:t>
            </a:r>
          </a:p>
        </p:txBody>
      </p:sp>
      <p:sp>
        <p:nvSpPr>
          <p:cNvPr id="31" name="TextBox 30"/>
          <p:cNvSpPr txBox="1"/>
          <p:nvPr/>
        </p:nvSpPr>
        <p:spPr>
          <a:xfrm>
            <a:off x="655076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73364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1593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159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11768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rev…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In Accounting/Points, process payments, overdue balances and refunds.</a:t>
            </a:r>
          </a:p>
          <a:p>
            <a:pPr>
              <a:lnSpc>
                <a:spcPct val="115000"/>
              </a:lnSpc>
              <a:spcAft>
                <a:spcPts val="300"/>
              </a:spcAft>
            </a:pPr>
            <a:r>
              <a:rPr sz="750" b="1">
                <a:solidFill>
                  <a:srgbClr val="4F46E5"/>
                </a:solidFill>
                <a:latin typeface="Malgun Gothic"/>
              </a:rPr>
              <a:t>● </a:t>
            </a:r>
            <a:r>
              <a:rPr sz="950">
                <a:solidFill>
                  <a:srgbClr val="334155"/>
                </a:solidFill>
                <a:latin typeface="Malgun Gothic"/>
              </a:rPr>
              <a:t>Check point/gift accrual and usage history.</a:t>
            </a:r>
          </a:p>
          <a:p>
            <a:pPr>
              <a:lnSpc>
                <a:spcPct val="115000"/>
              </a:lnSpc>
              <a:spcAft>
                <a:spcPts val="300"/>
              </a:spcAft>
            </a:pPr>
            <a:r>
              <a:rPr sz="750" b="1">
                <a:solidFill>
                  <a:srgbClr val="4F46E5"/>
                </a:solidFill>
                <a:latin typeface="Malgun Gothic"/>
              </a:rPr>
              <a:t>● </a:t>
            </a:r>
            <a:r>
              <a:rPr sz="950">
                <a:solidFill>
                  <a:srgbClr val="334155"/>
                </a:solidFill>
                <a:latin typeface="Malgun Gothic"/>
              </a:rPr>
              <a:t>Notify overdue items via alert-talk/SMS.</a:t>
            </a:r>
          </a:p>
        </p:txBody>
      </p:sp>
      <p:sp>
        <p:nvSpPr>
          <p:cNvPr id="14" name="Rounded Rectangle 13"/>
          <p:cNvSpPr/>
          <p:nvPr/>
        </p:nvSpPr>
        <p:spPr>
          <a:xfrm>
            <a:off x="457200" y="4902098"/>
            <a:ext cx="5669280" cy="101178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Manage recurring payments and overdue on one screen.</a:t>
            </a:r>
          </a:p>
          <a:p>
            <a:pPr>
              <a:lnSpc>
                <a:spcPct val="115000"/>
              </a:lnSpc>
              <a:spcAft>
                <a:spcPts val="100"/>
              </a:spcAft>
            </a:pPr>
            <a:r>
              <a:rPr sz="700" b="1">
                <a:solidFill>
                  <a:srgbClr val="4F46E5"/>
                </a:solidFill>
                <a:latin typeface="Malgun Gothic"/>
              </a:rPr>
              <a:t>● </a:t>
            </a:r>
            <a:r>
              <a:rPr sz="900">
                <a:solidFill>
                  <a:srgbClr val="334155"/>
                </a:solidFill>
                <a:latin typeface="Malgun Gothic"/>
              </a:rPr>
              <a:t>Points drive learning motivation.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Automating overdue alerts raises collection rates.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04895"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871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7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889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Accounting…</a:t>
            </a:r>
          </a:p>
        </p:txBody>
      </p:sp>
      <p:sp>
        <p:nvSpPr>
          <p:cNvPr id="26" name="TextBox 25"/>
          <p:cNvSpPr txBox="1"/>
          <p:nvPr/>
        </p:nvSpPr>
        <p:spPr>
          <a:xfrm>
            <a:off x="516178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344668"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2696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269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2871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point/gift</a:t>
            </a:r>
          </a:p>
        </p:txBody>
      </p:sp>
      <p:sp>
        <p:nvSpPr>
          <p:cNvPr id="31" name="TextBox 30"/>
          <p:cNvSpPr txBox="1"/>
          <p:nvPr/>
        </p:nvSpPr>
        <p:spPr>
          <a:xfrm>
            <a:off x="684428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02716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0945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094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112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alert-talk…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Check accrual paths: points build from in-class teacher praise (+1P), end-of-class rating (+10P), game learning, etc.</a:t>
            </a:r>
          </a:p>
          <a:p>
            <a:pPr>
              <a:lnSpc>
                <a:spcPct val="115000"/>
              </a:lnSpc>
              <a:spcAft>
                <a:spcPts val="300"/>
              </a:spcAft>
            </a:pPr>
            <a:r>
              <a:rPr sz="700" b="1">
                <a:solidFill>
                  <a:srgbClr val="4F46E5"/>
                </a:solidFill>
                <a:latin typeface="Malgun Gothic"/>
              </a:rPr>
              <a:t>● </a:t>
            </a:r>
            <a:r>
              <a:rPr sz="900">
                <a:solidFill>
                  <a:srgbClr val="334155"/>
                </a:solidFill>
                <a:latin typeface="Malgun Gothic"/>
              </a:rPr>
              <a:t>In Accounting/Points, check each student's accrual/usage history.</a:t>
            </a:r>
          </a:p>
          <a:p>
            <a:pPr>
              <a:lnSpc>
                <a:spcPct val="115000"/>
              </a:lnSpc>
              <a:spcAft>
                <a:spcPts val="300"/>
              </a:spcAft>
            </a:pPr>
            <a:r>
              <a:rPr sz="700" b="1">
                <a:solidFill>
                  <a:srgbClr val="4F46E5"/>
                </a:solidFill>
                <a:latin typeface="Malgun Gothic"/>
              </a:rPr>
              <a:t>● </a:t>
            </a:r>
            <a:r>
              <a:rPr sz="900">
                <a:solidFill>
                  <a:srgbClr val="334155"/>
                </a:solidFill>
                <a:latin typeface="Malgun Gothic"/>
              </a:rPr>
              <a:t>Manage the point-shop / roulette rewards and gift line-up.</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abnormal accrual/errors are suspected, look up the history and adjust.</a:t>
            </a:r>
          </a:p>
        </p:txBody>
      </p:sp>
      <p:sp>
        <p:nvSpPr>
          <p:cNvPr id="14" name="Rounded Rectangle 13"/>
          <p:cNvSpPr/>
          <p:nvPr/>
        </p:nvSpPr>
        <p:spPr>
          <a:xfrm>
            <a:off x="457200" y="5796838"/>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Instant rewards (praise points) boost participation and re-enrollment.</a:t>
            </a:r>
          </a:p>
          <a:p>
            <a:pPr>
              <a:lnSpc>
                <a:spcPct val="115000"/>
              </a:lnSpc>
              <a:spcAft>
                <a:spcPts val="100"/>
              </a:spcAft>
            </a:pPr>
            <a:r>
              <a:rPr sz="650" b="1">
                <a:solidFill>
                  <a:srgbClr val="4F46E5"/>
                </a:solidFill>
                <a:latin typeface="Malgun Gothic"/>
              </a:rPr>
              <a:t>● </a:t>
            </a:r>
            <a:r>
              <a:rPr sz="850">
                <a:solidFill>
                  <a:srgbClr val="334155"/>
                </a:solidFill>
                <a:latin typeface="Malgun Gothic"/>
              </a:rPr>
              <a:t>Shaping rewards lets you tune motivation and cost together.</a:t>
            </a:r>
          </a:p>
          <a:p>
            <a:pPr>
              <a:lnSpc>
                <a:spcPct val="115000"/>
              </a:lnSpc>
              <a:spcAft>
                <a:spcPts val="100"/>
              </a:spcAft>
            </a:pPr>
            <a:r>
              <a:rPr sz="650" b="1">
                <a:solidFill>
                  <a:srgbClr val="4F46E5"/>
                </a:solidFill>
                <a:latin typeface="Malgun Gothic"/>
              </a:rPr>
              <a:t>● </a:t>
            </a:r>
            <a:r>
              <a:rPr sz="850">
                <a:solidFill>
                  <a:srgbClr val="334155"/>
                </a:solidFill>
                <a:latin typeface="Malgun Gothic"/>
              </a:rPr>
              <a:t>Points are summed into the student's top-bar P and My Page.</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Teachers give praise points; admins configure the shop/reward/gift policy.</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Setting stock/limits on popular rewards keeps costs stable.</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 accr…</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Accounting…</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point-shop…</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If abnorma…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Check the refund request timing and calculate by the table.</a:t>
            </a:r>
          </a:p>
          <a:p>
            <a:pPr>
              <a:lnSpc>
                <a:spcPct val="115000"/>
              </a:lnSpc>
              <a:spcAft>
                <a:spcPts val="300"/>
              </a:spcAft>
            </a:pPr>
            <a:r>
              <a:rPr sz="700" b="1">
                <a:solidFill>
                  <a:srgbClr val="4F46E5"/>
                </a:solidFill>
                <a:latin typeface="Malgun Gothic"/>
              </a:rPr>
              <a:t>● </a:t>
            </a:r>
            <a:r>
              <a:rPr sz="900">
                <a:solidFill>
                  <a:srgbClr val="334155"/>
                </a:solidFill>
                <a:latin typeface="Malgun Gothic"/>
              </a:rPr>
              <a:t>For discounted payments, apply the list-price recalculation rule.</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the absence rule for lessons missed without postponing.</a:t>
            </a:r>
          </a:p>
        </p:txBody>
      </p:sp>
      <p:sp>
        <p:nvSpPr>
          <p:cNvPr id="14" name="Rounded Rectangle 13"/>
          <p:cNvSpPr/>
          <p:nvPr/>
        </p:nvSpPr>
        <p:spPr>
          <a:xfrm>
            <a:off x="457200" y="5187391"/>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table reduces disputes.</a:t>
            </a:r>
          </a:p>
          <a:p>
            <a:pPr>
              <a:lnSpc>
                <a:spcPct val="115000"/>
              </a:lnSpc>
              <a:spcAft>
                <a:spcPts val="100"/>
              </a:spcAft>
            </a:pPr>
            <a:r>
              <a:rPr sz="650" b="1">
                <a:solidFill>
                  <a:srgbClr val="4F46E5"/>
                </a:solidFill>
                <a:latin typeface="Malgun Gothic"/>
              </a:rPr>
              <a:t>● </a:t>
            </a:r>
            <a:r>
              <a:rPr sz="850">
                <a:solidFill>
                  <a:srgbClr val="334155"/>
                </a:solidFill>
                <a:latin typeface="Malgun Gothic"/>
              </a:rPr>
              <a:t>Explain the policy to parents before processing.</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For discounted lessons, already-taken lessons are deducted at list price, then the balance is refunded.</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Explaining refund/postpone policies at signup greatly reduces conflict.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69233"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5152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53281"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calculate…</a:t>
            </a:r>
          </a:p>
        </p:txBody>
      </p:sp>
      <p:sp>
        <p:nvSpPr>
          <p:cNvPr id="28" name="TextBox 27"/>
          <p:cNvSpPr txBox="1"/>
          <p:nvPr/>
        </p:nvSpPr>
        <p:spPr>
          <a:xfrm>
            <a:off x="504017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22305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0534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5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0710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discounted…</a:t>
            </a:r>
          </a:p>
        </p:txBody>
      </p:sp>
      <p:sp>
        <p:nvSpPr>
          <p:cNvPr id="33" name="TextBox 32"/>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062825"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4512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absence ru…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In Students/Parents, check the enrolled roster.</a:t>
            </a:r>
          </a:p>
          <a:p>
            <a:pPr>
              <a:lnSpc>
                <a:spcPct val="115000"/>
              </a:lnSpc>
              <a:spcAft>
                <a:spcPts val="300"/>
              </a:spcAft>
            </a:pPr>
            <a:r>
              <a:rPr sz="700" b="1">
                <a:solidFill>
                  <a:srgbClr val="4F46E5"/>
                </a:solidFill>
                <a:latin typeface="Malgun Gothic"/>
              </a:rPr>
              <a:t>● </a:t>
            </a:r>
            <a:r>
              <a:rPr sz="900">
                <a:solidFill>
                  <a:srgbClr val="334155"/>
                </a:solidFill>
                <a:latin typeface="Malgun Gothic"/>
              </a:rPr>
              <a:t>View attendance/reviews/points/chat history by student.</a:t>
            </a:r>
          </a:p>
          <a:p>
            <a:pPr>
              <a:lnSpc>
                <a:spcPct val="115000"/>
              </a:lnSpc>
              <a:spcAft>
                <a:spcPts val="300"/>
              </a:spcAft>
            </a:pPr>
            <a:r>
              <a:rPr sz="700" b="1">
                <a:solidFill>
                  <a:srgbClr val="4F46E5"/>
                </a:solidFill>
                <a:latin typeface="Malgun Gothic"/>
              </a:rPr>
              <a:t>● </a:t>
            </a:r>
            <a:r>
              <a:rPr sz="900">
                <a:solidFill>
                  <a:srgbClr val="334155"/>
                </a:solidFill>
                <a:latin typeface="Malgun Gothic"/>
              </a:rPr>
              <a:t>Flag students who need counseling/management.</a:t>
            </a:r>
          </a:p>
        </p:txBody>
      </p:sp>
      <p:sp>
        <p:nvSpPr>
          <p:cNvPr id="14" name="Rounded Rectangle 13"/>
          <p:cNvSpPr/>
          <p:nvPr/>
        </p:nvSpPr>
        <p:spPr>
          <a:xfrm>
            <a:off x="457200" y="5026914"/>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student list is linked to real members.</a:t>
            </a:r>
          </a:p>
          <a:p>
            <a:pPr>
              <a:lnSpc>
                <a:spcPct val="115000"/>
              </a:lnSpc>
              <a:spcAft>
                <a:spcPts val="100"/>
              </a:spcAft>
            </a:pPr>
            <a:r>
              <a:rPr sz="650" b="1">
                <a:solidFill>
                  <a:srgbClr val="4F46E5"/>
                </a:solidFill>
                <a:latin typeface="Malgun Gothic"/>
              </a:rPr>
              <a:t>● </a:t>
            </a:r>
            <a:r>
              <a:rPr sz="850">
                <a:solidFill>
                  <a:srgbClr val="334155"/>
                </a:solidFill>
                <a:latin typeface="Malgun Gothic"/>
              </a:rPr>
              <a:t>At-risk students link to the Retention Center.</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Counsel frequently-absent students quickly to prevent churn.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Students/P…</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attendance…</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Flag stude…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Share the my-page link with parents.</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parent enters the child's student ID and looks it up.</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They see 30-day attendance, points, payments, reviews and the monthly report.</a:t>
            </a:r>
          </a:p>
        </p:txBody>
      </p:sp>
      <p:sp>
        <p:nvSpPr>
          <p:cNvPr id="14" name="Rounded Rectangle 13"/>
          <p:cNvSpPr/>
          <p:nvPr/>
        </p:nvSpPr>
        <p:spPr>
          <a:xfrm>
            <a:off x="457200" y="5026914"/>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Easy access with just the student ID.</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monthly report can be printed or saved as PDF.</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Advise parents to manage the student ID like a password.</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Explaining my-page at signup reduces questions.</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my-page li…</a:t>
            </a:r>
          </a:p>
        </p:txBody>
      </p:sp>
      <p:sp>
        <p:nvSpPr>
          <p:cNvPr id="28" name="TextBox 27"/>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child's st…</a:t>
            </a:r>
          </a:p>
        </p:txBody>
      </p:sp>
      <p:sp>
        <p:nvSpPr>
          <p:cNvPr id="33" name="TextBox 32"/>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They see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In Booking, assign lesson type, teacher and time.</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empty slots and overlaps and adjust.</a:t>
            </a:r>
          </a:p>
          <a:p>
            <a:pPr>
              <a:lnSpc>
                <a:spcPct val="115000"/>
              </a:lnSpc>
              <a:spcAft>
                <a:spcPts val="300"/>
              </a:spcAft>
            </a:pPr>
            <a:r>
              <a:rPr sz="700" b="1">
                <a:solidFill>
                  <a:srgbClr val="4F46E5"/>
                </a:solidFill>
                <a:latin typeface="Malgun Gothic"/>
              </a:rPr>
              <a:t>● </a:t>
            </a:r>
            <a:r>
              <a:rPr sz="900">
                <a:solidFill>
                  <a:srgbClr val="334155"/>
                </a:solidFill>
                <a:latin typeface="Malgun Gothic"/>
              </a:rPr>
              <a:t>Once confirmed, students and teachers are notified.</a:t>
            </a:r>
          </a:p>
        </p:txBody>
      </p:sp>
      <p:sp>
        <p:nvSpPr>
          <p:cNvPr id="14" name="Rounded Rectangle 13"/>
          <p:cNvSpPr/>
          <p:nvPr/>
        </p:nvSpPr>
        <p:spPr>
          <a:xfrm>
            <a:off x="457200" y="5026914"/>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Spread popular slots to balance teacher load.</a:t>
            </a:r>
          </a:p>
          <a:p>
            <a:pPr>
              <a:lnSpc>
                <a:spcPct val="115000"/>
              </a:lnSpc>
              <a:spcAft>
                <a:spcPts val="100"/>
              </a:spcAft>
            </a:pPr>
            <a:r>
              <a:rPr sz="650" b="1">
                <a:solidFill>
                  <a:srgbClr val="4F46E5"/>
                </a:solidFill>
                <a:latin typeface="Malgun Gothic"/>
              </a:rPr>
              <a:t>● </a:t>
            </a:r>
            <a:r>
              <a:rPr sz="850">
                <a:solidFill>
                  <a:srgbClr val="334155"/>
                </a:solidFill>
                <a:latin typeface="Malgun Gothic"/>
              </a:rPr>
              <a:t>Recurring bookings can be set.</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Pre-register each teacher's available times to speed up assignment.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33825"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1612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17873"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Booking</a:t>
            </a:r>
          </a:p>
        </p:txBody>
      </p:sp>
      <p:sp>
        <p:nvSpPr>
          <p:cNvPr id="26" name="TextBox 25"/>
          <p:cNvSpPr txBox="1"/>
          <p:nvPr/>
        </p:nvSpPr>
        <p:spPr>
          <a:xfrm>
            <a:off x="487558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05846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07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40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442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 empt…</a:t>
            </a:r>
          </a:p>
        </p:txBody>
      </p:sp>
      <p:sp>
        <p:nvSpPr>
          <p:cNvPr id="31" name="TextBox 30"/>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89823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8052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82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Once confi…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Check students' postpone/change requests.</a:t>
            </a:r>
          </a:p>
          <a:p>
            <a:pPr>
              <a:lnSpc>
                <a:spcPct val="115000"/>
              </a:lnSpc>
              <a:spcAft>
                <a:spcPts val="300"/>
              </a:spcAft>
            </a:pPr>
            <a:r>
              <a:rPr sz="750" b="1">
                <a:solidFill>
                  <a:srgbClr val="4F46E5"/>
                </a:solidFill>
                <a:latin typeface="Malgun Gothic"/>
              </a:rPr>
              <a:t>● </a:t>
            </a:r>
            <a:r>
              <a:rPr sz="950">
                <a:solidFill>
                  <a:srgbClr val="334155"/>
                </a:solidFill>
                <a:latin typeface="Malgun Gothic"/>
              </a:rPr>
              <a:t>If within policy (advance notice), adjust the schedule.</a:t>
            </a:r>
          </a:p>
          <a:p>
            <a:pPr>
              <a:lnSpc>
                <a:spcPct val="115000"/>
              </a:lnSpc>
              <a:spcAft>
                <a:spcPts val="300"/>
              </a:spcAft>
            </a:pPr>
            <a:r>
              <a:rPr sz="750" b="1">
                <a:solidFill>
                  <a:srgbClr val="4F46E5"/>
                </a:solidFill>
                <a:latin typeface="Malgun Gothic"/>
              </a:rPr>
              <a:t>● </a:t>
            </a:r>
            <a:r>
              <a:rPr sz="950">
                <a:solidFill>
                  <a:srgbClr val="334155"/>
                </a:solidFill>
                <a:latin typeface="Malgun Gothic"/>
              </a:rPr>
              <a:t>Changes are auto-announced to both sides.</a:t>
            </a:r>
          </a:p>
        </p:txBody>
      </p:sp>
      <p:sp>
        <p:nvSpPr>
          <p:cNvPr id="14" name="Rounded Rectangle 13"/>
          <p:cNvSpPr/>
          <p:nvPr/>
        </p:nvSpPr>
        <p:spPr>
          <a:xfrm>
            <a:off x="457200" y="4902098"/>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194706"/>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Clearly announce the postpone cutoff.</a:t>
            </a:r>
          </a:p>
          <a:p>
            <a:pPr>
              <a:lnSpc>
                <a:spcPct val="115000"/>
              </a:lnSpc>
              <a:spcAft>
                <a:spcPts val="100"/>
              </a:spcAft>
            </a:pPr>
            <a:r>
              <a:rPr sz="700" b="1">
                <a:solidFill>
                  <a:srgbClr val="4F46E5"/>
                </a:solidFill>
                <a:latin typeface="Malgun Gothic"/>
              </a:rPr>
              <a:t>● </a:t>
            </a:r>
            <a:r>
              <a:rPr sz="900">
                <a:solidFill>
                  <a:srgbClr val="334155"/>
                </a:solidFill>
                <a:latin typeface="Malgun Gothic"/>
              </a:rPr>
              <a:t>Guide out-of-policy requests per policy.</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Enforcing the postpone cutoff reduces no-show losses.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postpone/c…</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adjust the…</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auto-annou…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Check the Levels 1–10 curriculum structure.</a:t>
            </a:r>
          </a:p>
          <a:p>
            <a:pPr>
              <a:lnSpc>
                <a:spcPct val="115000"/>
              </a:lnSpc>
              <a:spcAft>
                <a:spcPts val="300"/>
              </a:spcAft>
            </a:pPr>
            <a:r>
              <a:rPr sz="750" b="1">
                <a:solidFill>
                  <a:srgbClr val="4F46E5"/>
                </a:solidFill>
                <a:latin typeface="Malgun Gothic"/>
              </a:rPr>
              <a:t>● </a:t>
            </a:r>
            <a:r>
              <a:rPr sz="950">
                <a:solidFill>
                  <a:srgbClr val="334155"/>
                </a:solidFill>
                <a:latin typeface="Malgun Gothic"/>
              </a:rPr>
              <a:t>Review textbook upload status.</a:t>
            </a:r>
          </a:p>
          <a:p>
            <a:pPr>
              <a:lnSpc>
                <a:spcPct val="115000"/>
              </a:lnSpc>
              <a:spcAft>
                <a:spcPts val="300"/>
              </a:spcAft>
            </a:pPr>
            <a:r>
              <a:rPr sz="750" b="1">
                <a:solidFill>
                  <a:srgbClr val="4F46E5"/>
                </a:solidFill>
                <a:latin typeface="Malgun Gothic"/>
              </a:rPr>
              <a:t>● </a:t>
            </a:r>
            <a:r>
              <a:rPr sz="950">
                <a:solidFill>
                  <a:srgbClr val="334155"/>
                </a:solidFill>
                <a:latin typeface="Malgun Gothic"/>
              </a:rPr>
              <a:t>Find weak words in the game learning report.</a:t>
            </a:r>
          </a:p>
        </p:txBody>
      </p:sp>
      <p:sp>
        <p:nvSpPr>
          <p:cNvPr id="14" name="Rounded Rectangle 13"/>
          <p:cNvSpPr/>
          <p:nvPr/>
        </p:nvSpPr>
        <p:spPr>
          <a:xfrm>
            <a:off x="457200" y="4902098"/>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194706"/>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Surface weak words more in games/reviews.</a:t>
            </a:r>
          </a:p>
          <a:p>
            <a:pPr>
              <a:lnSpc>
                <a:spcPct val="115000"/>
              </a:lnSpc>
              <a:spcAft>
                <a:spcPts val="100"/>
              </a:spcAft>
            </a:pPr>
            <a:r>
              <a:rPr sz="700" b="1">
                <a:solidFill>
                  <a:srgbClr val="4F46E5"/>
                </a:solidFill>
                <a:latin typeface="Malgun Gothic"/>
              </a:rPr>
              <a:t>● </a:t>
            </a:r>
            <a:r>
              <a:rPr sz="900">
                <a:solidFill>
                  <a:srgbClr val="334155"/>
                </a:solidFill>
                <a:latin typeface="Malgun Gothic"/>
              </a:rPr>
              <a:t>Clear level goals raise achievement.</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Reviewing the curriculum at the start of the year makes it easy.</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0595" y="2670048"/>
            <a:ext cx="1728216"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728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74643" y="2670048"/>
            <a:ext cx="130759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Levels 1–1…</a:t>
            </a:r>
          </a:p>
        </p:txBody>
      </p:sp>
      <p:sp>
        <p:nvSpPr>
          <p:cNvPr id="26" name="TextBox 25"/>
          <p:cNvSpPr txBox="1"/>
          <p:nvPr/>
        </p:nvSpPr>
        <p:spPr>
          <a:xfrm>
            <a:off x="511881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30169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8398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839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8573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tex…</a:t>
            </a:r>
          </a:p>
        </p:txBody>
      </p:sp>
      <p:sp>
        <p:nvSpPr>
          <p:cNvPr id="31" name="TextBox 30"/>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4146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5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255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 learn…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Find at-risk students with the churn-risk graph.</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Prevent chain churn with the churn contagion network.</a:t>
            </a:r>
          </a:p>
          <a:p>
            <a:pPr>
              <a:lnSpc>
                <a:spcPct val="115000"/>
              </a:lnSpc>
              <a:spcAft>
                <a:spcPts val="300"/>
              </a:spcAft>
            </a:pPr>
            <a:r>
              <a:rPr sz="700" b="1">
                <a:solidFill>
                  <a:srgbClr val="4F46E5"/>
                </a:solidFill>
                <a:latin typeface="Malgun Gothic"/>
              </a:rPr>
              <a:t>● </a:t>
            </a:r>
            <a:r>
              <a:rPr sz="900">
                <a:solidFill>
                  <a:srgbClr val="334155"/>
                </a:solidFill>
                <a:latin typeface="Malgun Gothic"/>
              </a:rPr>
              <a:t>Deliver review-based feedback in the teacher coaching tab.</a:t>
            </a:r>
          </a:p>
          <a:p>
            <a:pPr>
              <a:lnSpc>
                <a:spcPct val="115000"/>
              </a:lnSpc>
              <a:spcAft>
                <a:spcPts val="300"/>
              </a:spcAft>
            </a:pPr>
            <a:r>
              <a:rPr sz="700" b="1">
                <a:solidFill>
                  <a:srgbClr val="4F46E5"/>
                </a:solidFill>
                <a:latin typeface="Malgun Gothic"/>
              </a:rPr>
              <a:t>● </a:t>
            </a:r>
            <a:r>
              <a:rPr sz="900">
                <a:solidFill>
                  <a:srgbClr val="334155"/>
                </a:solidFill>
                <a:latin typeface="Malgun Gothic"/>
              </a:rPr>
              <a:t>Intervene on at-risk students with alert-talk/counseling.</a:t>
            </a:r>
          </a:p>
        </p:txBody>
      </p:sp>
      <p:sp>
        <p:nvSpPr>
          <p:cNvPr id="14" name="Rounded Rectangle 13"/>
          <p:cNvSpPr/>
          <p:nvPr/>
        </p:nvSpPr>
        <p:spPr>
          <a:xfrm>
            <a:off x="457200" y="5636361"/>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Intervening early raises retention.</a:t>
            </a:r>
          </a:p>
          <a:p>
            <a:pPr>
              <a:lnSpc>
                <a:spcPct val="115000"/>
              </a:lnSpc>
              <a:spcAft>
                <a:spcPts val="100"/>
              </a:spcAft>
            </a:pPr>
            <a:r>
              <a:rPr sz="650" b="1">
                <a:solidFill>
                  <a:srgbClr val="4F46E5"/>
                </a:solidFill>
                <a:latin typeface="Malgun Gothic"/>
              </a:rPr>
              <a:t>● </a:t>
            </a:r>
            <a:r>
              <a:rPr sz="850">
                <a:solidFill>
                  <a:srgbClr val="334155"/>
                </a:solidFill>
                <a:latin typeface="Malgun Gothic"/>
              </a:rPr>
              <a:t>Manage family/referral relationships together.</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Just caring for the top at-risk students weekly noticeably cuts churn.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churn-risk…</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churn cont…</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co…</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alert-talk…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Revenue/commissions auto-settle down the org tree.</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branch/agency performance with the monthly report.</a:t>
            </a:r>
          </a:p>
          <a:p>
            <a:pPr>
              <a:lnSpc>
                <a:spcPct val="115000"/>
              </a:lnSpc>
              <a:spcAft>
                <a:spcPts val="300"/>
              </a:spcAft>
            </a:pPr>
            <a:r>
              <a:rPr sz="700" b="1">
                <a:solidFill>
                  <a:srgbClr val="4F46E5"/>
                </a:solidFill>
                <a:latin typeface="Malgun Gothic"/>
              </a:rPr>
              <a:t>● </a:t>
            </a:r>
            <a:r>
              <a:rPr sz="900">
                <a:solidFill>
                  <a:srgbClr val="334155"/>
                </a:solidFill>
                <a:latin typeface="Malgun Gothic"/>
              </a:rPr>
              <a:t>Watch today's revenue, enrollment and attendance daily on the dashboard.</a:t>
            </a:r>
          </a:p>
        </p:txBody>
      </p:sp>
      <p:sp>
        <p:nvSpPr>
          <p:cNvPr id="14" name="Rounded Rectangle 13"/>
          <p:cNvSpPr/>
          <p:nvPr/>
        </p:nvSpPr>
        <p:spPr>
          <a:xfrm>
            <a:off x="457200" y="518739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Distributing the settlement report early builds partner trust.</a:t>
            </a:r>
          </a:p>
          <a:p>
            <a:pPr>
              <a:lnSpc>
                <a:spcPct val="115000"/>
              </a:lnSpc>
              <a:spcAft>
                <a:spcPts val="100"/>
              </a:spcAft>
            </a:pPr>
            <a:r>
              <a:rPr sz="650" b="1">
                <a:solidFill>
                  <a:srgbClr val="4F46E5"/>
                </a:solidFill>
                <a:latin typeface="Malgun Gothic"/>
              </a:rPr>
              <a:t>● </a:t>
            </a:r>
            <a:r>
              <a:rPr sz="850">
                <a:solidFill>
                  <a:srgbClr val="334155"/>
                </a:solidFill>
                <a:latin typeface="Malgun Gothic"/>
              </a:rPr>
              <a:t>A 5-minute daily check of the metrics is recommended.</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The sooner you catch warning signs (revenue drop, attendance dip), the easier to respond.</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auto-settl…</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monthly re…</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today's 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In Support, guide channels and hours.</a:t>
            </a:r>
          </a:p>
          <a:p>
            <a:pPr>
              <a:lnSpc>
                <a:spcPct val="115000"/>
              </a:lnSpc>
              <a:spcAft>
                <a:spcPts val="300"/>
              </a:spcAft>
            </a:pPr>
            <a:r>
              <a:rPr sz="750" b="1">
                <a:solidFill>
                  <a:srgbClr val="4F46E5"/>
                </a:solidFill>
                <a:latin typeface="Malgun Gothic"/>
              </a:rPr>
              <a:t>● </a:t>
            </a:r>
            <a:r>
              <a:rPr sz="950">
                <a:solidFill>
                  <a:srgbClr val="334155"/>
                </a:solidFill>
                <a:latin typeface="Malgun Gothic"/>
              </a:rPr>
              <a:t>Share refund/postpone policies with students/parents.</a:t>
            </a:r>
          </a:p>
          <a:p>
            <a:pPr>
              <a:lnSpc>
                <a:spcPct val="115000"/>
              </a:lnSpc>
              <a:spcAft>
                <a:spcPts val="300"/>
              </a:spcAft>
            </a:pPr>
            <a:r>
              <a:rPr sz="750" b="1">
                <a:solidFill>
                  <a:srgbClr val="4F46E5"/>
                </a:solidFill>
                <a:latin typeface="Malgun Gothic"/>
              </a:rPr>
              <a:t>● </a:t>
            </a:r>
            <a:r>
              <a:rPr sz="950">
                <a:solidFill>
                  <a:srgbClr val="334155"/>
                </a:solidFill>
                <a:latin typeface="Malgun Gothic"/>
              </a:rPr>
              <a:t>Add repeat questions to the FAQ.</a:t>
            </a:r>
          </a:p>
        </p:txBody>
      </p:sp>
      <p:sp>
        <p:nvSpPr>
          <p:cNvPr id="14" name="Rounded Rectangle 13"/>
          <p:cNvSpPr/>
          <p:nvPr/>
        </p:nvSpPr>
        <p:spPr>
          <a:xfrm>
            <a:off x="457200" y="4902098"/>
            <a:ext cx="5669280" cy="101178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Growing the FAQ cuts support load.</a:t>
            </a:r>
          </a:p>
          <a:p>
            <a:pPr>
              <a:lnSpc>
                <a:spcPct val="115000"/>
              </a:lnSpc>
              <a:spcAft>
                <a:spcPts val="100"/>
              </a:spcAft>
            </a:pPr>
            <a:r>
              <a:rPr sz="700" b="1">
                <a:solidFill>
                  <a:srgbClr val="4F46E5"/>
                </a:solidFill>
                <a:latin typeface="Malgun Gothic"/>
              </a:rPr>
              <a:t>● </a:t>
            </a:r>
            <a:r>
              <a:rPr sz="900">
                <a:solidFill>
                  <a:srgbClr val="334155"/>
                </a:solidFill>
                <a:latin typeface="Malgun Gothic"/>
              </a:rPr>
              <a:t>Help directly with remote support for hard issues.</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Turn repeat questions like 'can't enter' into an FAQ with screenshots.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13301"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09559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9559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397349"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Support</a:t>
            </a:r>
          </a:p>
        </p:txBody>
      </p:sp>
      <p:sp>
        <p:nvSpPr>
          <p:cNvPr id="26" name="TextBox 25"/>
          <p:cNvSpPr txBox="1"/>
          <p:nvPr/>
        </p:nvSpPr>
        <p:spPr>
          <a:xfrm>
            <a:off x="52550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43793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202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202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82198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refund/pos…</a:t>
            </a:r>
          </a:p>
        </p:txBody>
      </p:sp>
      <p:sp>
        <p:nvSpPr>
          <p:cNvPr id="31" name="TextBox 30"/>
          <p:cNvSpPr txBox="1"/>
          <p:nvPr/>
        </p:nvSpPr>
        <p:spPr>
          <a:xfrm>
            <a:off x="709482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277709" y="2670048"/>
            <a:ext cx="8979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6000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000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61757"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FAQ</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On the on-screen dual clock, see 🇰🇷 Korea and 🇵🇭 Philippines time at once.</a:t>
            </a:r>
          </a:p>
          <a:p>
            <a:pPr>
              <a:lnSpc>
                <a:spcPct val="115000"/>
              </a:lnSpc>
              <a:spcAft>
                <a:spcPts val="300"/>
              </a:spcAft>
            </a:pPr>
            <a:r>
              <a:rPr sz="700" b="1">
                <a:solidFill>
                  <a:srgbClr val="4F46E5"/>
                </a:solidFill>
                <a:latin typeface="Malgun Gothic"/>
              </a:rPr>
              <a:t>● </a:t>
            </a:r>
            <a:r>
              <a:rPr sz="900">
                <a:solidFill>
                  <a:srgbClr val="334155"/>
                </a:solidFill>
                <a:latin typeface="Malgun Gothic"/>
              </a:rPr>
              <a:t>Drag the clock to move it anywhere you like.</a:t>
            </a:r>
          </a:p>
          <a:p>
            <a:pPr>
              <a:lnSpc>
                <a:spcPct val="115000"/>
              </a:lnSpc>
              <a:spcAft>
                <a:spcPts val="300"/>
              </a:spcAft>
            </a:pPr>
            <a:r>
              <a:rPr sz="700" b="1">
                <a:solidFill>
                  <a:srgbClr val="4F46E5"/>
                </a:solidFill>
                <a:latin typeface="Malgun Gothic"/>
              </a:rPr>
              <a:t>● </a:t>
            </a:r>
            <a:r>
              <a:rPr sz="900">
                <a:solidFill>
                  <a:srgbClr val="334155"/>
                </a:solidFill>
                <a:latin typeface="Malgun Gothic"/>
              </a:rPr>
              <a:t>Tap (click) the clock to go to the home screen.</a:t>
            </a:r>
          </a:p>
        </p:txBody>
      </p:sp>
      <p:sp>
        <p:nvSpPr>
          <p:cNvPr id="14" name="Rounded Rectangle 13"/>
          <p:cNvSpPr/>
          <p:nvPr/>
        </p:nvSpPr>
        <p:spPr>
          <a:xfrm>
            <a:off x="457200" y="5026914"/>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Philippines is 1 hour behind Korea (−1 hour).</a:t>
            </a:r>
          </a:p>
          <a:p>
            <a:pPr>
              <a:lnSpc>
                <a:spcPct val="115000"/>
              </a:lnSpc>
              <a:spcAft>
                <a:spcPts val="100"/>
              </a:spcAft>
            </a:pPr>
            <a:r>
              <a:rPr sz="650" b="1">
                <a:solidFill>
                  <a:srgbClr val="4F46E5"/>
                </a:solidFill>
                <a:latin typeface="Malgun Gothic"/>
              </a:rPr>
              <a:t>● </a:t>
            </a:r>
            <a:r>
              <a:rPr sz="850">
                <a:solidFill>
                  <a:srgbClr val="334155"/>
                </a:solidFill>
                <a:latin typeface="Malgun Gothic"/>
              </a:rPr>
              <a:t>You can check booking/entry times in both countries' time.</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842269" y="3255264"/>
            <a:ext cx="4512021"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97133" y="3310128"/>
            <a:ext cx="4402293"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41394"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2369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236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25442"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dual clock</a:t>
            </a:r>
          </a:p>
        </p:txBody>
      </p:sp>
      <p:sp>
        <p:nvSpPr>
          <p:cNvPr id="26" name="TextBox 25"/>
          <p:cNvSpPr txBox="1"/>
          <p:nvPr/>
        </p:nvSpPr>
        <p:spPr>
          <a:xfrm>
            <a:off x="53410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523890" y="2670048"/>
            <a:ext cx="98389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061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793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Drag</a:t>
            </a:r>
          </a:p>
        </p:txBody>
      </p:sp>
      <p:sp>
        <p:nvSpPr>
          <p:cNvPr id="31" name="TextBox 30"/>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69066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729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Tap (click…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In the AI voice coach, pick the CN Chinese level (or go to the Chinese pronunciation coach).</a:t>
            </a:r>
          </a:p>
          <a:p>
            <a:pPr>
              <a:lnSpc>
                <a:spcPct val="115000"/>
              </a:lnSpc>
              <a:spcAft>
                <a:spcPts val="300"/>
              </a:spcAft>
            </a:pPr>
            <a:r>
              <a:rPr sz="700" b="1">
                <a:solidFill>
                  <a:srgbClr val="4F46E5"/>
                </a:solidFill>
                <a:latin typeface="Malgun Gothic"/>
              </a:rPr>
              <a:t>● </a:t>
            </a:r>
            <a:r>
              <a:rPr sz="900">
                <a:solidFill>
                  <a:srgbClr val="334155"/>
                </a:solidFill>
                <a:latin typeface="Malgun Gothic"/>
              </a:rPr>
              <a:t>Choose a Master series (1–6, HSK 1–6) and a unit.</a:t>
            </a:r>
          </a:p>
          <a:p>
            <a:pPr>
              <a:lnSpc>
                <a:spcPct val="115000"/>
              </a:lnSpc>
              <a:spcAft>
                <a:spcPts val="300"/>
              </a:spcAft>
            </a:pPr>
            <a:r>
              <a:rPr sz="700" b="1">
                <a:solidFill>
                  <a:srgbClr val="4F46E5"/>
                </a:solidFill>
                <a:latin typeface="Malgun Gothic"/>
              </a:rPr>
              <a:t>● </a:t>
            </a:r>
            <a:r>
              <a:rPr sz="900">
                <a:solidFill>
                  <a:srgbClr val="334155"/>
                </a:solidFill>
                <a:latin typeface="Malgun Gothic"/>
              </a:rPr>
              <a:t>Read the sentence (characters + pinyin) and compare with 'Play native audio'.</a:t>
            </a:r>
          </a:p>
          <a:p>
            <a:pPr>
              <a:lnSpc>
                <a:spcPct val="115000"/>
              </a:lnSpc>
              <a:spcAft>
                <a:spcPts val="300"/>
              </a:spcAft>
            </a:pPr>
            <a:r>
              <a:rPr sz="700" b="1">
                <a:solidFill>
                  <a:srgbClr val="4F46E5"/>
                </a:solidFill>
                <a:latin typeface="Malgun Gothic"/>
              </a:rPr>
              <a:t>● </a:t>
            </a:r>
            <a:r>
              <a:rPr sz="900">
                <a:solidFill>
                  <a:srgbClr val="334155"/>
                </a:solidFill>
                <a:latin typeface="Malgun Gothic"/>
              </a:rPr>
              <a:t>Practice hard sounds/tones with repeat and slow (0.85x).</a:t>
            </a:r>
          </a:p>
        </p:txBody>
      </p:sp>
      <p:sp>
        <p:nvSpPr>
          <p:cNvPr id="14" name="Rounded Rectangle 13"/>
          <p:cNvSpPr/>
          <p:nvPr/>
        </p:nvSpPr>
        <p:spPr>
          <a:xfrm>
            <a:off x="457200" y="5796838"/>
            <a:ext cx="5669280" cy="137045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104127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Characters and pinyin appear together, so it's easy to read.</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AI recognizes your voice and compares it to a native speaker.</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learning games hub supports Chinese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Listen slowly and repeat clearly to nail the four tones.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5008"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6730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6905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Chinese</a:t>
            </a:r>
          </a:p>
        </p:txBody>
      </p:sp>
      <p:sp>
        <p:nvSpPr>
          <p:cNvPr id="26" name="TextBox 25"/>
          <p:cNvSpPr txBox="1"/>
          <p:nvPr/>
        </p:nvSpPr>
        <p:spPr>
          <a:xfrm>
            <a:off x="408462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26750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4980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9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515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Master ser…</a:t>
            </a:r>
          </a:p>
        </p:txBody>
      </p:sp>
      <p:sp>
        <p:nvSpPr>
          <p:cNvPr id="31" name="TextBox 30"/>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10727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895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9132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characters…</a:t>
            </a:r>
          </a:p>
        </p:txBody>
      </p:sp>
      <p:sp>
        <p:nvSpPr>
          <p:cNvPr id="36" name="TextBox 35"/>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94705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2934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3109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repeat 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Go to the admin menu Notification Center → 📢 Notice Studio.</a:t>
            </a:r>
          </a:p>
          <a:p>
            <a:pPr>
              <a:lnSpc>
                <a:spcPct val="115000"/>
              </a:lnSpc>
              <a:spcAft>
                <a:spcPts val="300"/>
              </a:spcAft>
            </a:pPr>
            <a:r>
              <a:rPr sz="700" b="1">
                <a:solidFill>
                  <a:srgbClr val="4F46E5"/>
                </a:solidFill>
                <a:latin typeface="Malgun Gothic"/>
              </a:rPr>
              <a:t>● </a:t>
            </a:r>
            <a:r>
              <a:rPr sz="900">
                <a:solidFill>
                  <a:srgbClr val="334155"/>
                </a:solidFill>
                <a:latin typeface="Malgun Gothic"/>
              </a:rPr>
              <a:t>In the ①Create tab, design a poster with text, images, and video (resize · save on server · reuse).</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 Publish as popup’ on the finished poster to auto-switch to the ②Publish·Popup tab.</a:t>
            </a:r>
          </a:p>
          <a:p>
            <a:pPr>
              <a:lnSpc>
                <a:spcPct val="115000"/>
              </a:lnSpc>
              <a:spcAft>
                <a:spcPts val="300"/>
              </a:spcAft>
            </a:pPr>
            <a:r>
              <a:rPr sz="700" b="1">
                <a:solidFill>
                  <a:srgbClr val="4F46E5"/>
                </a:solidFill>
                <a:latin typeface="Malgun Gothic"/>
              </a:rPr>
              <a:t>● </a:t>
            </a:r>
            <a:r>
              <a:rPr sz="90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5957316"/>
            <a:ext cx="5669280" cy="137045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249924"/>
            <a:ext cx="5394960" cy="104127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Poster creation and popup publishing flow through one screen, two tabs — no more confusion.</a:t>
            </a:r>
          </a:p>
          <a:p>
            <a:pPr>
              <a:lnSpc>
                <a:spcPct val="115000"/>
              </a:lnSpc>
              <a:spcAft>
                <a:spcPts val="100"/>
              </a:spcAft>
            </a:pPr>
            <a:r>
              <a:rPr sz="650" b="1">
                <a:solidFill>
                  <a:srgbClr val="4F46E5"/>
                </a:solidFill>
                <a:latin typeface="Malgun Gothic"/>
              </a:rPr>
              <a:t>● </a:t>
            </a:r>
            <a:r>
              <a:rPr sz="850">
                <a:solidFill>
                  <a:srgbClr val="334155"/>
                </a:solidFill>
                <a:latin typeface="Malgun Gothic"/>
              </a:rPr>
              <a:t>Posters you make can be saved and reused.</a:t>
            </a:r>
          </a:p>
          <a:p>
            <a:pPr>
              <a:lnSpc>
                <a:spcPct val="115000"/>
              </a:lnSpc>
              <a:spcAft>
                <a:spcPts val="100"/>
              </a:spcAft>
            </a:pPr>
            <a:r>
              <a:rPr sz="650" b="1">
                <a:solidFill>
                  <a:srgbClr val="4F46E5"/>
                </a:solidFill>
                <a:latin typeface="Malgun Gothic"/>
              </a:rPr>
              <a:t>● </a:t>
            </a:r>
            <a:r>
              <a:rPr sz="850">
                <a:solidFill>
                  <a:srgbClr val="334155"/>
                </a:solidFill>
                <a:latin typeface="Malgun Gothic"/>
              </a:rPr>
              <a:t>Whichever route you enter from — AI assistant or sidebar search — the correct tab opens.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Existing posters/popups are preserved (it was only merged, nothing was deleted).</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Promoting an event takes just one flow: ‘Create → Publish as popup’ right away.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0695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8925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892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9100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Notificati…</a:t>
            </a:r>
          </a:p>
        </p:txBody>
      </p:sp>
      <p:sp>
        <p:nvSpPr>
          <p:cNvPr id="28" name="TextBox 27"/>
          <p:cNvSpPr txBox="1"/>
          <p:nvPr/>
        </p:nvSpPr>
        <p:spPr>
          <a:xfrm>
            <a:off x="426384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46727" y="2670048"/>
            <a:ext cx="13130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2902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90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30775" y="2670048"/>
            <a:ext cx="8924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①Create</a:t>
            </a:r>
          </a:p>
        </p:txBody>
      </p:sp>
      <p:sp>
        <p:nvSpPr>
          <p:cNvPr id="33" name="TextBox 32"/>
          <p:cNvSpPr txBox="1"/>
          <p:nvPr/>
        </p:nvSpPr>
        <p:spPr>
          <a:xfrm>
            <a:off x="575980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942685" y="2670048"/>
            <a:ext cx="17995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249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24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26733"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Publish…</a:t>
            </a:r>
          </a:p>
        </p:txBody>
      </p:sp>
      <p:sp>
        <p:nvSpPr>
          <p:cNvPr id="38" name="TextBox 37"/>
          <p:cNvSpPr txBox="1"/>
          <p:nvPr/>
        </p:nvSpPr>
        <p:spPr>
          <a:xfrm>
            <a:off x="774222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92510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740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074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091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display pe…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Type a command in the top search bar or speak with the 🎤 mic.</a:t>
            </a:r>
          </a:p>
          <a:p>
            <a:pPr>
              <a:lnSpc>
                <a:spcPct val="115000"/>
              </a:lnSpc>
              <a:spcAft>
                <a:spcPts val="300"/>
              </a:spcAft>
            </a:pPr>
            <a:r>
              <a:rPr sz="700" b="1">
                <a:solidFill>
                  <a:srgbClr val="4F46E5"/>
                </a:solidFill>
                <a:latin typeface="Malgun Gothic"/>
              </a:rPr>
              <a:t>● </a:t>
            </a:r>
            <a:r>
              <a:rPr sz="900">
                <a:solidFill>
                  <a:srgbClr val="334155"/>
                </a:solidFill>
                <a:latin typeface="Malgun Gothic"/>
              </a:rPr>
              <a:t>e.g. “Take me to teacher Kim Minji's schedule” → auto-finds that teacher in the weekly schedule and opens it.</a:t>
            </a:r>
          </a:p>
          <a:p>
            <a:pPr>
              <a:lnSpc>
                <a:spcPct val="115000"/>
              </a:lnSpc>
              <a:spcAft>
                <a:spcPts val="300"/>
              </a:spcAft>
            </a:pPr>
            <a:r>
              <a:rPr sz="700" b="1">
                <a:solidFill>
                  <a:srgbClr val="4F46E5"/>
                </a:solidFill>
                <a:latin typeface="Malgun Gothic"/>
              </a:rPr>
              <a:t>● </a:t>
            </a:r>
            <a:r>
              <a:rPr sz="900">
                <a:solidFill>
                  <a:srgbClr val="334155"/>
                </a:solidFill>
                <a:latin typeface="Malgun Gothic"/>
              </a:rPr>
              <a:t>e.g. “Open auto-scheduling,” “Go to settlement” to navigate menus.</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‘Go now →’ on the AI response card to move to that screen.</a:t>
            </a:r>
          </a:p>
        </p:txBody>
      </p:sp>
      <p:sp>
        <p:nvSpPr>
          <p:cNvPr id="14" name="Rounded Rectangle 13"/>
          <p:cNvSpPr/>
          <p:nvPr/>
        </p:nvSpPr>
        <p:spPr>
          <a:xfrm>
            <a:off x="457200" y="5796838"/>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Navigation commands actually navigate — far fewer ‘explain only, do nothing’ replies.</a:t>
            </a:r>
          </a:p>
          <a:p>
            <a:pPr>
              <a:lnSpc>
                <a:spcPct val="115000"/>
              </a:lnSpc>
              <a:spcAft>
                <a:spcPts val="100"/>
              </a:spcAft>
            </a:pPr>
            <a:r>
              <a:rPr sz="650" b="1">
                <a:solidFill>
                  <a:srgbClr val="4F46E5"/>
                </a:solidFill>
                <a:latin typeface="Malgun Gothic"/>
              </a:rPr>
              <a:t>● </a:t>
            </a:r>
            <a:r>
              <a:rPr sz="850">
                <a:solidFill>
                  <a:srgbClr val="334155"/>
                </a:solidFill>
                <a:latin typeface="Malgun Gothic"/>
              </a:rPr>
              <a:t>Searching a schedule by teacher name auto-fills the search box + filters + scrolls.</a:t>
            </a:r>
          </a:p>
          <a:p>
            <a:pPr>
              <a:lnSpc>
                <a:spcPct val="115000"/>
              </a:lnSpc>
              <a:spcAft>
                <a:spcPts val="100"/>
              </a:spcAft>
            </a:pPr>
            <a:r>
              <a:rPr sz="650" b="1">
                <a:solidFill>
                  <a:srgbClr val="4F46E5"/>
                </a:solidFill>
                <a:latin typeface="Malgun Gothic"/>
              </a:rPr>
              <a:t>● </a:t>
            </a:r>
            <a:r>
              <a:rPr sz="850">
                <a:solidFill>
                  <a:srgbClr val="334155"/>
                </a:solidFill>
                <a:latin typeface="Malgun Gothic"/>
              </a:rPr>
              <a:t>For data/statistics questions it also helps with card-style answers.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Commands that actually change things — ‘register · send · modify’ — ask for one more confirmation (a safety guard).</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When you can't recall a menu name, just say what you want to do — it finds its way there.</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85339"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6763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76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69387"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bar</a:t>
            </a:r>
          </a:p>
        </p:txBody>
      </p:sp>
      <p:sp>
        <p:nvSpPr>
          <p:cNvPr id="28" name="TextBox 27"/>
          <p:cNvSpPr txBox="1"/>
          <p:nvPr/>
        </p:nvSpPr>
        <p:spPr>
          <a:xfrm>
            <a:off x="398495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167835"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5013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501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5188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“Take me t…</a:t>
            </a:r>
          </a:p>
        </p:txBody>
      </p:sp>
      <p:sp>
        <p:nvSpPr>
          <p:cNvPr id="33" name="TextBox 32"/>
          <p:cNvSpPr txBox="1"/>
          <p:nvPr/>
        </p:nvSpPr>
        <p:spPr>
          <a:xfrm>
            <a:off x="589605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078931"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6122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612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6297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auto…</a:t>
            </a:r>
          </a:p>
        </p:txBody>
      </p:sp>
      <p:sp>
        <p:nvSpPr>
          <p:cNvPr id="38" name="TextBox 37"/>
          <p:cNvSpPr txBox="1"/>
          <p:nvPr/>
        </p:nvSpPr>
        <p:spPr>
          <a:xfrm>
            <a:off x="780714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990027" y="2670048"/>
            <a:ext cx="171358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7232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723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74075" y="2670048"/>
            <a:ext cx="12929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 now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 Voice Diary (monitor) card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Enter the student UID, pick the month to look up, and press ‘Search’.</a:t>
            </a:r>
          </a:p>
          <a:p>
            <a:pPr>
              <a:lnSpc>
                <a:spcPct val="115000"/>
              </a:lnSpc>
              <a:spcAft>
                <a:spcPts val="300"/>
              </a:spcAft>
            </a:pPr>
            <a:r>
              <a:rPr sz="700" b="1">
                <a:solidFill>
                  <a:srgbClr val="4F46E5"/>
                </a:solidFill>
                <a:latin typeface="Malgun Gothic"/>
              </a:rPr>
              <a:t>● </a:t>
            </a:r>
            <a:r>
              <a:rPr sz="90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5187391"/>
            <a:ext cx="5669280" cy="1288161"/>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958977"/>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It only shows up once a student actually writes a diary (the entry point is the 📔 card on the student home).</a:t>
            </a:r>
          </a:p>
          <a:p>
            <a:pPr>
              <a:lnSpc>
                <a:spcPct val="115000"/>
              </a:lnSpc>
              <a:spcAft>
                <a:spcPts val="100"/>
              </a:spcAft>
            </a:pPr>
            <a:r>
              <a:rPr sz="650" b="1">
                <a:solidFill>
                  <a:srgbClr val="4F46E5"/>
                </a:solidFill>
                <a:latin typeface="Malgun Gothic"/>
              </a:rPr>
              <a:t>● </a:t>
            </a:r>
            <a:r>
              <a:rPr sz="850">
                <a:solidFill>
                  <a:srgbClr val="334155"/>
                </a:solidFill>
                <a:latin typeface="Malgun Gothic"/>
              </a:rPr>
              <a:t>Find consistent writers and connect them to praise/rewards to lock in the habit.</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‘Nothing shows up’ usually just means that student hasn't left a diary yet.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0595"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728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7464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Voice Di…</a:t>
            </a:r>
          </a:p>
        </p:txBody>
      </p:sp>
      <p:sp>
        <p:nvSpPr>
          <p:cNvPr id="26" name="TextBox 25"/>
          <p:cNvSpPr txBox="1"/>
          <p:nvPr/>
        </p:nvSpPr>
        <p:spPr>
          <a:xfrm>
            <a:off x="511881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30169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8398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839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8573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 UI…</a:t>
            </a:r>
          </a:p>
        </p:txBody>
      </p:sp>
      <p:sp>
        <p:nvSpPr>
          <p:cNvPr id="31" name="TextBox 30"/>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4146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5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255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transcript…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50738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Go to admin 🧲 Retention Center → 💼 Teacher Coaching tab.</a:t>
            </a:r>
          </a:p>
          <a:p>
            <a:pPr>
              <a:lnSpc>
                <a:spcPct val="115000"/>
              </a:lnSpc>
              <a:spcAft>
                <a:spcPts val="300"/>
              </a:spcAft>
            </a:pPr>
            <a:r>
              <a:rPr sz="700" b="1">
                <a:solidFill>
                  <a:srgbClr val="4F46E5"/>
                </a:solidFill>
                <a:latin typeface="Malgun Gothic"/>
              </a:rPr>
              <a:t>● </a:t>
            </a:r>
            <a:r>
              <a:rPr sz="900">
                <a:solidFill>
                  <a:srgbClr val="334155"/>
                </a:solidFill>
                <a:latin typeface="Malgun Gothic"/>
              </a:rPr>
              <a:t>In the ‘🤖 Per-class AI coaching (recent)’ section, review each teacher's latest coaching.</a:t>
            </a:r>
          </a:p>
          <a:p>
            <a:pPr>
              <a:lnSpc>
                <a:spcPct val="115000"/>
              </a:lnSpc>
              <a:spcAft>
                <a:spcPts val="300"/>
              </a:spcAft>
            </a:pPr>
            <a:r>
              <a:rPr sz="700" b="1">
                <a:solidFill>
                  <a:srgbClr val="4F46E5"/>
                </a:solidFill>
                <a:latin typeface="Malgun Gothic"/>
              </a:rPr>
              <a:t>● </a:t>
            </a:r>
            <a:r>
              <a:rPr sz="90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5347868"/>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9358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640476"/>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See every teacher's recent coaching at a glance.</a:t>
            </a:r>
          </a:p>
          <a:p>
            <a:pPr>
              <a:lnSpc>
                <a:spcPct val="115000"/>
              </a:lnSpc>
              <a:spcAft>
                <a:spcPts val="100"/>
              </a:spcAft>
            </a:pPr>
            <a:r>
              <a:rPr sz="650" b="1">
                <a:solidFill>
                  <a:srgbClr val="4F46E5"/>
                </a:solidFill>
                <a:latin typeface="Malgun Gothic"/>
              </a:rPr>
              <a:t>● </a:t>
            </a:r>
            <a:r>
              <a:rPr sz="850">
                <a:solidFill>
                  <a:srgbClr val="334155"/>
                </a:solidFill>
                <a:latin typeface="Malgun Gothic"/>
              </a:rPr>
              <a:t>Admins get a monthly rollup focus, so it's low-pressure.</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Coaching text is for a teacher's personal growth. We recommend using it as a support tool, not for evaluation/discipline.</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19271"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0156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15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0332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Retentio…</a:t>
            </a:r>
          </a:p>
        </p:txBody>
      </p:sp>
      <p:sp>
        <p:nvSpPr>
          <p:cNvPr id="28" name="TextBox 27"/>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230368" y="2670048"/>
            <a:ext cx="17995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1266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14416"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Per-cla…</a:t>
            </a:r>
          </a:p>
        </p:txBody>
      </p:sp>
      <p:sp>
        <p:nvSpPr>
          <p:cNvPr id="33" name="TextBox 32"/>
          <p:cNvSpPr txBox="1"/>
          <p:nvPr/>
        </p:nvSpPr>
        <p:spPr>
          <a:xfrm>
            <a:off x="702990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21278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9508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950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968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quality sc…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QR Attendance Check-in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scan and attendance is done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Post an attendance QR code at the entrance, and the moment a student scans it with their phone, attendance is recorded automatically. The admin dashboard shows today's attendance in real time — no more paper rosters.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QR Attendance card in the admin menu and generate your academy's QR code.</a:t>
            </a:r>
          </a:p>
          <a:p>
            <a:pPr>
              <a:lnSpc>
                <a:spcPct val="115000"/>
              </a:lnSpc>
              <a:spcAft>
                <a:spcPts val="300"/>
              </a:spcAft>
            </a:pPr>
            <a:r>
              <a:rPr sz="700" b="1">
                <a:solidFill>
                  <a:srgbClr val="4F46E5"/>
                </a:solidFill>
                <a:latin typeface="Malgun Gothic"/>
              </a:rPr>
              <a:t>● </a:t>
            </a:r>
            <a:r>
              <a:rPr sz="900">
                <a:solidFill>
                  <a:srgbClr val="334155"/>
                </a:solidFill>
                <a:latin typeface="Malgun Gothic"/>
              </a:rPr>
              <a:t>Print the QR and post it at the entrance or front desk.</a:t>
            </a:r>
          </a:p>
          <a:p>
            <a:pPr>
              <a:lnSpc>
                <a:spcPct val="115000"/>
              </a:lnSpc>
              <a:spcAft>
                <a:spcPts val="300"/>
              </a:spcAft>
            </a:pPr>
            <a:r>
              <a:rPr sz="700" b="1">
                <a:solidFill>
                  <a:srgbClr val="4F46E5"/>
                </a:solidFill>
                <a:latin typeface="Malgun Gothic"/>
              </a:rPr>
              <a:t>● </a:t>
            </a:r>
            <a:r>
              <a:rPr sz="900">
                <a:solidFill>
                  <a:srgbClr val="334155"/>
                </a:solidFill>
                <a:latin typeface="Malgun Gothic"/>
              </a:rPr>
              <a:t>Students scan with their phone camera and check in on the check-in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Watch today's arrivals and times live on the dashboard's attendance view.</a:t>
            </a:r>
          </a:p>
        </p:txBody>
      </p:sp>
      <p:sp>
        <p:nvSpPr>
          <p:cNvPr id="14" name="Rounded Rectangle 13"/>
          <p:cNvSpPr/>
          <p:nvPr/>
        </p:nvSpPr>
        <p:spPr>
          <a:xfrm>
            <a:off x="457200" y="563636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Arrival times are recorded automatically — fast and accurate.</a:t>
            </a:r>
          </a:p>
          <a:p>
            <a:pPr>
              <a:lnSpc>
                <a:spcPct val="115000"/>
              </a:lnSpc>
              <a:spcAft>
                <a:spcPts val="100"/>
              </a:spcAft>
            </a:pPr>
            <a:r>
              <a:rPr sz="650" b="1">
                <a:solidFill>
                  <a:srgbClr val="4F46E5"/>
                </a:solidFill>
                <a:latin typeface="Malgun Gothic"/>
              </a:rPr>
              <a:t>● </a:t>
            </a:r>
            <a:r>
              <a:rPr sz="850">
                <a:solidFill>
                  <a:srgbClr val="334155"/>
                </a:solidFill>
                <a:latin typeface="Malgun Gothic"/>
              </a:rPr>
              <a:t>Attendance data flows into student management and reports.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 QR code is unique to your academy. Keep it from being shared outside.</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Stand a tablet at the desk during arrival hours so students can scan without queuing.</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QR Attenda…</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entrance o…</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check-in s…</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attendance…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Consultation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new inquiries to scheduled consults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Take consultation bookings from parents and prospects and manage them on one screen. Track each booking's schedule and status (pending/done) and carry the consult onward toward enrollment.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Consultation Booking card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Register a new booking (name, contact, preferred time) or review incoming ones.</a:t>
            </a:r>
          </a:p>
          <a:p>
            <a:pPr>
              <a:lnSpc>
                <a:spcPct val="115000"/>
              </a:lnSpc>
              <a:spcAft>
                <a:spcPts val="300"/>
              </a:spcAft>
            </a:pPr>
            <a:r>
              <a:rPr sz="700" b="1">
                <a:solidFill>
                  <a:srgbClr val="4F46E5"/>
                </a:solidFill>
                <a:latin typeface="Malgun Gothic"/>
              </a:rPr>
              <a:t>● </a:t>
            </a:r>
            <a:r>
              <a:rPr sz="900">
                <a:solidFill>
                  <a:srgbClr val="334155"/>
                </a:solidFill>
                <a:latin typeface="Malgun Gothic"/>
              </a:rPr>
              <a:t>After the consult, set the status to done and leave a note.</a:t>
            </a:r>
          </a:p>
          <a:p>
            <a:pPr>
              <a:lnSpc>
                <a:spcPct val="115000"/>
              </a:lnSpc>
              <a:spcAft>
                <a:spcPts val="300"/>
              </a:spcAft>
            </a:pPr>
            <a:r>
              <a:rPr sz="700" b="1">
                <a:solidFill>
                  <a:srgbClr val="4F46E5"/>
                </a:solidFill>
                <a:latin typeface="Malgun Gothic"/>
              </a:rPr>
              <a:t>● </a:t>
            </a:r>
            <a:r>
              <a:rPr sz="900">
                <a:solidFill>
                  <a:srgbClr val="334155"/>
                </a:solidFill>
                <a:latin typeface="Malgun Gothic"/>
              </a:rPr>
              <a:t>Carry it forward: consult → level test → enrollment.</a:t>
            </a:r>
          </a:p>
        </p:txBody>
      </p:sp>
      <p:sp>
        <p:nvSpPr>
          <p:cNvPr id="14" name="Rounded Rectangle 13"/>
          <p:cNvSpPr/>
          <p:nvPr/>
        </p:nvSpPr>
        <p:spPr>
          <a:xfrm>
            <a:off x="457200" y="563636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Bookings live in one place, so no consult slips through.</a:t>
            </a:r>
          </a:p>
          <a:p>
            <a:pPr>
              <a:lnSpc>
                <a:spcPct val="115000"/>
              </a:lnSpc>
              <a:spcAft>
                <a:spcPts val="100"/>
              </a:spcAft>
            </a:pPr>
            <a:r>
              <a:rPr sz="650" b="1">
                <a:solidFill>
                  <a:srgbClr val="4F46E5"/>
                </a:solidFill>
                <a:latin typeface="Malgun Gothic"/>
              </a:rPr>
              <a:t>● </a:t>
            </a:r>
            <a:r>
              <a:rPr sz="850">
                <a:solidFill>
                  <a:srgbClr val="334155"/>
                </a:solidFill>
                <a:latin typeface="Malgun Gothic"/>
              </a:rPr>
              <a:t>Consult history makes repeat inquiries easy to handle.</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A quick follow-up call the day after a consult noticeably lifts enrollment conversion.</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4934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316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31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33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Consultati…</a:t>
            </a:r>
          </a:p>
        </p:txBody>
      </p:sp>
      <p:sp>
        <p:nvSpPr>
          <p:cNvPr id="26" name="TextBox 25"/>
          <p:cNvSpPr txBox="1"/>
          <p:nvPr/>
        </p:nvSpPr>
        <p:spPr>
          <a:xfrm>
            <a:off x="420624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38912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714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71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731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bookin…</a:t>
            </a:r>
          </a:p>
        </p:txBody>
      </p:sp>
      <p:sp>
        <p:nvSpPr>
          <p:cNvPr id="31" name="TextBox 30"/>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228892"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118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12940"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status to…</a:t>
            </a:r>
          </a:p>
        </p:txBody>
      </p:sp>
      <p:sp>
        <p:nvSpPr>
          <p:cNvPr id="36" name="TextBox 35"/>
          <p:cNvSpPr txBox="1"/>
          <p:nvPr/>
        </p:nvSpPr>
        <p:spPr>
          <a:xfrm>
            <a:off x="779983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98271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6500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65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6675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 test…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Friend-Referral Rewards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Track referrals · pay out rewards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See the referral status of enrolled students bringing friends, and process reward payouts. Who referred whom, and whether the reward was paid — all on one screen, turning word-of-mouth into a system.</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Referral Rewards card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Review the list of referrer · referred friend · enrollment status.</a:t>
            </a:r>
          </a:p>
          <a:p>
            <a:pPr>
              <a:lnSpc>
                <a:spcPct val="115000"/>
              </a:lnSpc>
              <a:spcAft>
                <a:spcPts val="300"/>
              </a:spcAft>
            </a:pPr>
            <a:r>
              <a:rPr sz="700" b="1">
                <a:solidFill>
                  <a:srgbClr val="4F46E5"/>
                </a:solidFill>
                <a:latin typeface="Malgun Gothic"/>
              </a:rPr>
              <a:t>● </a:t>
            </a:r>
            <a:r>
              <a:rPr sz="900">
                <a:solidFill>
                  <a:srgbClr val="334155"/>
                </a:solidFill>
                <a:latin typeface="Malgun Gothic"/>
              </a:rPr>
              <a:t>For qualifying cases, process the reward payout (points, gift vouchers, etc.).</a:t>
            </a:r>
          </a:p>
        </p:txBody>
      </p:sp>
      <p:sp>
        <p:nvSpPr>
          <p:cNvPr id="14" name="Rounded Rectangle 13"/>
          <p:cNvSpPr/>
          <p:nvPr/>
        </p:nvSpPr>
        <p:spPr>
          <a:xfrm>
            <a:off x="457200" y="518739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Referral history is kept as data — transparent, no disputes.</a:t>
            </a:r>
          </a:p>
          <a:p>
            <a:pPr>
              <a:lnSpc>
                <a:spcPct val="115000"/>
              </a:lnSpc>
              <a:spcAft>
                <a:spcPts val="100"/>
              </a:spcAft>
            </a:pPr>
            <a:r>
              <a:rPr sz="650" b="1">
                <a:solidFill>
                  <a:srgbClr val="4F46E5"/>
                </a:solidFill>
                <a:latin typeface="Malgun Gothic"/>
              </a:rPr>
              <a:t>● </a:t>
            </a:r>
            <a:r>
              <a:rPr sz="850">
                <a:solidFill>
                  <a:srgbClr val="334155"/>
                </a:solidFill>
                <a:latin typeface="Malgun Gothic"/>
              </a:rPr>
              <a:t>Linking rewards to student points and the shop multiplies the effect.</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Pair it with a 'refer a friend' event before each semester and watch inquiries jump.</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Referral R…</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referrer ·…</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reward pay…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Approving Postpone/Change Requests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and approve teacher-submitted requests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Class postpone and time-change requests submitted by teachers gather on the admin screen in real time. Check the reason and approve or decline — the schedule updates immediately, replacing phone-and-messenger juggling with one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Class Postpone/Change Requests card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Review each pending request's teacher · class · reason.</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Approve or Decline — the result flows to the schedule and the teacher.</a:t>
            </a:r>
          </a:p>
        </p:txBody>
      </p:sp>
      <p:sp>
        <p:nvSpPr>
          <p:cNvPr id="14" name="Rounded Rectangle 13"/>
          <p:cNvSpPr/>
          <p:nvPr/>
        </p:nvSpPr>
        <p:spPr>
          <a:xfrm>
            <a:off x="457200" y="518739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Request and decision history is kept, so everything stays transparent.</a:t>
            </a:r>
          </a:p>
          <a:p>
            <a:pPr>
              <a:lnSpc>
                <a:spcPct val="115000"/>
              </a:lnSpc>
              <a:spcAft>
                <a:spcPts val="100"/>
              </a:spcAft>
            </a:pPr>
            <a:r>
              <a:rPr sz="650" b="1">
                <a:solidFill>
                  <a:srgbClr val="4F46E5"/>
                </a:solidFill>
                <a:latin typeface="Malgun Gothic"/>
              </a:rPr>
              <a:t>● </a:t>
            </a:r>
            <a:r>
              <a:rPr sz="850">
                <a:solidFill>
                  <a:srgbClr val="334155"/>
                </a:solidFill>
                <a:latin typeface="Malgun Gothic"/>
              </a:rPr>
              <a:t>For changes parents should know about, follow approval with a notification.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Clearing pending requests every morning prevents same-day confusion.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76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59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59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0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Class Post…</a:t>
            </a:r>
          </a:p>
        </p:txBody>
      </p:sp>
      <p:sp>
        <p:nvSpPr>
          <p:cNvPr id="26" name="TextBox 25"/>
          <p:cNvSpPr txBox="1"/>
          <p:nvPr/>
        </p:nvSpPr>
        <p:spPr>
          <a:xfrm>
            <a:off x="533369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516575"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9887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988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062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a:t>
            </a:r>
          </a:p>
        </p:txBody>
      </p:sp>
      <p:sp>
        <p:nvSpPr>
          <p:cNvPr id="31" name="TextBox 30"/>
          <p:cNvSpPr txBox="1"/>
          <p:nvPr/>
        </p:nvSpPr>
        <p:spPr>
          <a:xfrm>
            <a:off x="708751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270394"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5269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526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54442"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Approve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In the admin Library, press 💬 Copy KakaoTalk link next to the file.</a:t>
            </a:r>
          </a:p>
          <a:p>
            <a:pPr>
              <a:lnSpc>
                <a:spcPct val="115000"/>
              </a:lnSpc>
              <a:spcAft>
                <a:spcPts val="300"/>
              </a:spcAft>
            </a:pPr>
            <a:r>
              <a:rPr sz="700" b="1">
                <a:solidFill>
                  <a:srgbClr val="4F46E5"/>
                </a:solidFill>
                <a:latin typeface="Malgun Gothic"/>
              </a:rPr>
              <a:t>● </a:t>
            </a:r>
            <a:r>
              <a:rPr sz="900">
                <a:solidFill>
                  <a:srgbClr val="334155"/>
                </a:solidFill>
                <a:latin typeface="Malgun Gothic"/>
              </a:rPr>
              <a:t>Paste it into the KakaoTalk chat room.</a:t>
            </a:r>
          </a:p>
          <a:p>
            <a:pPr>
              <a:lnSpc>
                <a:spcPct val="115000"/>
              </a:lnSpc>
              <a:spcAft>
                <a:spcPts val="300"/>
              </a:spcAft>
            </a:pPr>
            <a:r>
              <a:rPr sz="700" b="1">
                <a:solidFill>
                  <a:srgbClr val="4F46E5"/>
                </a:solidFill>
                <a:latin typeface="Malgun Gothic"/>
              </a:rPr>
              <a:t>● </a:t>
            </a:r>
            <a:r>
              <a:rPr sz="900">
                <a:solidFill>
                  <a:srgbClr val="334155"/>
                </a:solidFill>
                <a:latin typeface="Malgun Gothic"/>
              </a:rPr>
              <a:t>Recipients tap the link to watch or download in original quality.</a:t>
            </a:r>
          </a:p>
        </p:txBody>
      </p:sp>
      <p:sp>
        <p:nvSpPr>
          <p:cNvPr id="14" name="Rounded Rectangle 13"/>
          <p:cNvSpPr/>
          <p:nvPr/>
        </p:nvSpPr>
        <p:spPr>
          <a:xfrm>
            <a:off x="457200" y="5026914"/>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For videos, link sharing = original quality; file attachments degrade it.</a:t>
            </a:r>
          </a:p>
          <a:p>
            <a:pPr>
              <a:lnSpc>
                <a:spcPct val="115000"/>
              </a:lnSpc>
              <a:spcAft>
                <a:spcPts val="100"/>
              </a:spcAft>
            </a:pPr>
            <a:r>
              <a:rPr sz="650" b="1">
                <a:solidFill>
                  <a:srgbClr val="4F46E5"/>
                </a:solidFill>
                <a:latin typeface="Malgun Gothic"/>
              </a:rPr>
              <a:t>● </a:t>
            </a:r>
            <a:r>
              <a:rPr sz="850">
                <a:solidFill>
                  <a:srgbClr val="334155"/>
                </a:solidFill>
                <a:latin typeface="Malgun Gothic"/>
              </a:rPr>
              <a:t>Works the same for PDFs, PPTs, and videos anywhere in the library.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Anyone with the link can open it. For internal-only material, check who you share with.</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In a parents' group chat, one video-guide link does all the explaining.</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927348"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00964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0964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4311396"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Library</a:t>
            </a:r>
          </a:p>
        </p:txBody>
      </p:sp>
      <p:sp>
        <p:nvSpPr>
          <p:cNvPr id="28" name="TextBox 27"/>
          <p:cNvSpPr txBox="1"/>
          <p:nvPr/>
        </p:nvSpPr>
        <p:spPr>
          <a:xfrm>
            <a:off x="516910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351983" y="2670048"/>
            <a:ext cx="10698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3427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342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736031"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Paste</a:t>
            </a:r>
          </a:p>
        </p:txBody>
      </p:sp>
      <p:sp>
        <p:nvSpPr>
          <p:cNvPr id="33" name="TextBox 32"/>
          <p:cNvSpPr txBox="1"/>
          <p:nvPr/>
        </p:nvSpPr>
        <p:spPr>
          <a:xfrm>
            <a:off x="642183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60471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8700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87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98875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original q…</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Send students and parents the enrolment link.</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They choose teacher → lesson options (weekly count, term, length) → days &amp; time.</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slot check must pass before the pay button unlocks (payment is blocked on a clash).</a:t>
            </a:r>
          </a:p>
          <a:p>
            <a:pPr>
              <a:lnSpc>
                <a:spcPct val="115000"/>
              </a:lnSpc>
              <a:spcAft>
                <a:spcPts val="300"/>
              </a:spcAft>
            </a:pPr>
            <a:r>
              <a:rPr sz="700" b="1">
                <a:solidFill>
                  <a:srgbClr val="4F46E5"/>
                </a:solidFill>
                <a:latin typeface="Malgun Gothic"/>
              </a:rPr>
              <a:t>● </a:t>
            </a:r>
            <a:r>
              <a:rPr sz="900">
                <a:solidFill>
                  <a:srgbClr val="334155"/>
                </a:solidFill>
                <a:latin typeface="Malgun Gothic"/>
              </a:rPr>
              <a:t>On confirmed payment, all sessions are created at once — verify in the admin lesson list.</a:t>
            </a:r>
          </a:p>
          <a:p>
            <a:pPr>
              <a:lnSpc>
                <a:spcPct val="115000"/>
              </a:lnSpc>
              <a:spcAft>
                <a:spcPts val="300"/>
              </a:spcAft>
            </a:pPr>
            <a:r>
              <a:rPr sz="700" b="1">
                <a:solidFill>
                  <a:srgbClr val="4F46E5"/>
                </a:solidFill>
                <a:latin typeface="Malgun Gothic"/>
              </a:rPr>
              <a:t>● </a:t>
            </a:r>
            <a:r>
              <a:rPr sz="900">
                <a:solidFill>
                  <a:srgbClr val="334155"/>
                </a:solidFill>
                <a:latin typeface="Malgun Gothic"/>
              </a:rPr>
              <a:t>Head-office prices and discount rates are managed on the pricing screen.</a:t>
            </a:r>
          </a:p>
        </p:txBody>
      </p:sp>
      <p:sp>
        <p:nvSpPr>
          <p:cNvPr id="14" name="Rounded Rectangle 13"/>
          <p:cNvSpPr/>
          <p:nvPr/>
        </p:nvSpPr>
        <p:spPr>
          <a:xfrm>
            <a:off x="457200" y="5924854"/>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217462"/>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Idempotent — a duplicated payment callback will not create the sessions twice.</a:t>
            </a:r>
          </a:p>
          <a:p>
            <a:pPr>
              <a:lnSpc>
                <a:spcPct val="115000"/>
              </a:lnSpc>
              <a:spcAft>
                <a:spcPts val="100"/>
              </a:spcAft>
            </a:pPr>
            <a:r>
              <a:rPr sz="650" b="1">
                <a:solidFill>
                  <a:srgbClr val="4F46E5"/>
                </a:solidFill>
                <a:latin typeface="Malgun Gothic"/>
              </a:rPr>
              <a:t>● </a:t>
            </a:r>
            <a:r>
              <a:rPr sz="850">
                <a:solidFill>
                  <a:srgbClr val="334155"/>
                </a:solidFill>
                <a:latin typeface="Malgun Gothic"/>
              </a:rPr>
              <a:t>Clashes with holidays or existing lessons are pushed back so the session count is still met.</a:t>
            </a:r>
          </a:p>
          <a:p>
            <a:pPr>
              <a:lnSpc>
                <a:spcPct val="115000"/>
              </a:lnSpc>
              <a:spcAft>
                <a:spcPts val="100"/>
              </a:spcAft>
            </a:pPr>
            <a:r>
              <a:rPr sz="650" b="1">
                <a:solidFill>
                  <a:srgbClr val="4F46E5"/>
                </a:solidFill>
                <a:latin typeface="Malgun Gothic"/>
              </a:rPr>
              <a:t>● </a:t>
            </a:r>
            <a:r>
              <a:rPr sz="850">
                <a:solidFill>
                  <a:srgbClr val="334155"/>
                </a:solidFill>
                <a:latin typeface="Malgun Gothic"/>
              </a:rPr>
              <a:t>Term discounts (6 months −5%, 12 months −10%) are applied to the amount automatically.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Stage 1 (enrol → pay → auto-create sessions) is live today. Later stages will follow.</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Consultation → level test → send the enrolment link is the smoothest conversion path.</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36776"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1907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190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2082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enrolment…</a:t>
            </a:r>
          </a:p>
        </p:txBody>
      </p:sp>
      <p:sp>
        <p:nvSpPr>
          <p:cNvPr id="28" name="TextBox 27"/>
          <p:cNvSpPr txBox="1"/>
          <p:nvPr/>
        </p:nvSpPr>
        <p:spPr>
          <a:xfrm>
            <a:off x="320771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390595" y="2670048"/>
            <a:ext cx="164226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28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774643"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a:t>
            </a:r>
          </a:p>
        </p:txBody>
      </p:sp>
      <p:sp>
        <p:nvSpPr>
          <p:cNvPr id="33" name="TextBox 32"/>
          <p:cNvSpPr txBox="1"/>
          <p:nvPr/>
        </p:nvSpPr>
        <p:spPr>
          <a:xfrm>
            <a:off x="503285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21573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9803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80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59978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slot check…</a:t>
            </a:r>
          </a:p>
        </p:txBody>
      </p:sp>
      <p:sp>
        <p:nvSpPr>
          <p:cNvPr id="38" name="TextBox 37"/>
          <p:cNvSpPr txBox="1"/>
          <p:nvPr/>
        </p:nvSpPr>
        <p:spPr>
          <a:xfrm>
            <a:off x="687263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05551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3780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78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3955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all sessio…</a:t>
            </a:r>
          </a:p>
        </p:txBody>
      </p:sp>
      <p:sp>
        <p:nvSpPr>
          <p:cNvPr id="43" name="TextBox 42"/>
          <p:cNvSpPr txBox="1"/>
          <p:nvPr/>
        </p:nvSpPr>
        <p:spPr>
          <a:xfrm>
            <a:off x="871240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89528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7757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775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7933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pricing sc…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Class Observation (live)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Quietly look in on a lesson in progress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 can sit in on a live lesson without the student or teacher knowing. No join notification is sent, so the lesson isn't disturbed — use it for mentoring new teachers, quality checks and parent complaints. Every observation is permanently written to the audit log.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Class Observation (Live) card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Enter your admin UID and the room ID.</a:t>
            </a:r>
          </a:p>
          <a:p>
            <a:pPr>
              <a:lnSpc>
                <a:spcPct val="115000"/>
              </a:lnSpc>
              <a:spcAft>
                <a:spcPts val="300"/>
              </a:spcAft>
            </a:pPr>
            <a:r>
              <a:rPr sz="700" b="1">
                <a:solidFill>
                  <a:srgbClr val="4F46E5"/>
                </a:solidFill>
                <a:latin typeface="Malgun Gothic"/>
              </a:rPr>
              <a:t>● </a:t>
            </a:r>
            <a:r>
              <a:rPr sz="900">
                <a:solidFill>
                  <a:srgbClr val="334155"/>
                </a:solidFill>
                <a:latin typeface="Malgun Gothic"/>
              </a:rPr>
              <a:t>Write an observation reason — this is required (e.g. new-teacher mentoring).</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Start observing; press Stop observing when done.</a:t>
            </a:r>
          </a:p>
          <a:p>
            <a:pPr>
              <a:lnSpc>
                <a:spcPct val="115000"/>
              </a:lnSpc>
              <a:spcAft>
                <a:spcPts val="300"/>
              </a:spcAft>
            </a:pPr>
            <a:r>
              <a:rPr sz="700" b="1">
                <a:solidFill>
                  <a:srgbClr val="4F46E5"/>
                </a:solidFill>
                <a:latin typeface="Malgun Gothic"/>
              </a:rPr>
              <a:t>● </a:t>
            </a:r>
            <a:r>
              <a:rPr sz="900">
                <a:solidFill>
                  <a:srgbClr val="334155"/>
                </a:solidFill>
                <a:latin typeface="Malgun Gothic"/>
              </a:rPr>
              <a:t>Past sessions are listed under Observation log.</a:t>
            </a:r>
          </a:p>
        </p:txBody>
      </p:sp>
      <p:sp>
        <p:nvSpPr>
          <p:cNvPr id="14" name="Rounded Rectangle 13"/>
          <p:cNvSpPr/>
          <p:nvPr/>
        </p:nvSpPr>
        <p:spPr>
          <a:xfrm>
            <a:off x="457200" y="5924854"/>
            <a:ext cx="5669280" cy="137045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217462"/>
            <a:ext cx="5394960" cy="104127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While observing, your audio and video are not transmitted.</a:t>
            </a:r>
          </a:p>
          <a:p>
            <a:pPr>
              <a:lnSpc>
                <a:spcPct val="115000"/>
              </a:lnSpc>
              <a:spcAft>
                <a:spcPts val="100"/>
              </a:spcAft>
            </a:pPr>
            <a:r>
              <a:rPr sz="650" b="1">
                <a:solidFill>
                  <a:srgbClr val="4F46E5"/>
                </a:solidFill>
                <a:latin typeface="Malgun Gothic"/>
              </a:rPr>
              <a:t>● </a:t>
            </a:r>
            <a:r>
              <a:rPr sz="850">
                <a:solidFill>
                  <a:srgbClr val="334155"/>
                </a:solidFill>
                <a:latin typeface="Malgun Gothic"/>
              </a:rPr>
              <a:t>A reason is mandatory — this is student privacy policy.</a:t>
            </a:r>
          </a:p>
          <a:p>
            <a:pPr>
              <a:lnSpc>
                <a:spcPct val="115000"/>
              </a:lnSpc>
              <a:spcAft>
                <a:spcPts val="100"/>
              </a:spcAft>
            </a:pPr>
            <a:r>
              <a:rPr sz="650" b="1">
                <a:solidFill>
                  <a:srgbClr val="4F46E5"/>
                </a:solidFill>
                <a:latin typeface="Malgun Gothic"/>
              </a:rPr>
              <a:t>● </a:t>
            </a:r>
            <a:r>
              <a:rPr sz="850">
                <a:solidFill>
                  <a:srgbClr val="334155"/>
                </a:solidFill>
                <a:latin typeface="Malgun Gothic"/>
              </a:rPr>
              <a:t>Who observed, when and why is fully recorded.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touches student privacy directly. Use it only when there is a business need, and write a specific reason.</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Observe new teachers once a week for their first two weeks, then coach — quality stabilises quickly.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ghost.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0809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9039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903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9214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Class Obse…</a:t>
            </a:r>
          </a:p>
        </p:txBody>
      </p:sp>
      <p:sp>
        <p:nvSpPr>
          <p:cNvPr id="28" name="TextBox 27"/>
          <p:cNvSpPr txBox="1"/>
          <p:nvPr/>
        </p:nvSpPr>
        <p:spPr>
          <a:xfrm>
            <a:off x="336499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547872" y="2670048"/>
            <a:ext cx="141366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301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01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93192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admin UID</a:t>
            </a:r>
          </a:p>
        </p:txBody>
      </p:sp>
      <p:sp>
        <p:nvSpPr>
          <p:cNvPr id="33" name="TextBox 32"/>
          <p:cNvSpPr txBox="1"/>
          <p:nvPr/>
        </p:nvSpPr>
        <p:spPr>
          <a:xfrm>
            <a:off x="496153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14441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2671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26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5284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observatio…</a:t>
            </a:r>
          </a:p>
        </p:txBody>
      </p:sp>
      <p:sp>
        <p:nvSpPr>
          <p:cNvPr id="38" name="TextBox 37"/>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98418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6648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Start obse…</a:t>
            </a:r>
          </a:p>
        </p:txBody>
      </p:sp>
      <p:sp>
        <p:nvSpPr>
          <p:cNvPr id="43" name="TextBox 42"/>
          <p:cNvSpPr txBox="1"/>
          <p:nvPr/>
        </p:nvSpPr>
        <p:spPr>
          <a:xfrm>
            <a:off x="864108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82396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062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062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080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Observatio…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Press ‹ Collapse at the top of the left menu — it shrinks to an icon rail and the content gets wider.</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the › button in the same place to expand it again.</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collapsed state is remembered for your next visit.</a:t>
            </a:r>
          </a:p>
          <a:p>
            <a:pPr>
              <a:lnSpc>
                <a:spcPct val="115000"/>
              </a:lnSpc>
              <a:spcAft>
                <a:spcPts val="300"/>
              </a:spcAft>
            </a:pPr>
            <a:r>
              <a:rPr sz="700" b="1">
                <a:solidFill>
                  <a:srgbClr val="4F46E5"/>
                </a:solidFill>
                <a:latin typeface="Malgun Gothic"/>
              </a:rPr>
              <a:t>● </a:t>
            </a:r>
            <a:r>
              <a:rPr sz="900">
                <a:solidFill>
                  <a:srgbClr val="334155"/>
                </a:solidFill>
                <a:latin typeface="Malgun Gothic"/>
              </a:rPr>
              <a:t>Too many menus to find one? Type its name into menu search at the top.</a:t>
            </a:r>
          </a:p>
        </p:txBody>
      </p:sp>
      <p:sp>
        <p:nvSpPr>
          <p:cNvPr id="14" name="Rounded Rectangle 13"/>
          <p:cNvSpPr/>
          <p:nvPr/>
        </p:nvSpPr>
        <p:spPr>
          <a:xfrm>
            <a:off x="457200" y="5796838"/>
            <a:ext cx="5669280" cy="167358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134439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Screens full of tables and lists gain a lot of horizontal space.</a:t>
            </a:r>
          </a:p>
          <a:p>
            <a:pPr>
              <a:lnSpc>
                <a:spcPct val="115000"/>
              </a:lnSpc>
              <a:spcAft>
                <a:spcPts val="100"/>
              </a:spcAft>
            </a:pPr>
            <a:r>
              <a:rPr sz="650" b="1">
                <a:solidFill>
                  <a:srgbClr val="4F46E5"/>
                </a:solidFill>
                <a:latin typeface="Malgun Gothic"/>
              </a:rPr>
              <a:t>● </a:t>
            </a:r>
            <a:r>
              <a:rPr sz="850">
                <a:solidFill>
                  <a:srgbClr val="334155"/>
                </a:solidFill>
                <a:latin typeface="Malgun Gothic"/>
              </a:rPr>
              <a:t>15 sub-pages were moved onto the same light theme, so the colour jump between screens is gone.</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collapse animation was removed so low-spec PCs don't stutter.</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79115"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06141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614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36316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Collapse</a:t>
            </a:r>
          </a:p>
        </p:txBody>
      </p:sp>
      <p:sp>
        <p:nvSpPr>
          <p:cNvPr id="26" name="TextBox 25"/>
          <p:cNvSpPr txBox="1"/>
          <p:nvPr/>
        </p:nvSpPr>
        <p:spPr>
          <a:xfrm>
            <a:off x="455005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732934" y="2670048"/>
            <a:ext cx="797356"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1523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152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16982"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t>
            </a:r>
          </a:p>
        </p:txBody>
      </p:sp>
      <p:sp>
        <p:nvSpPr>
          <p:cNvPr id="31" name="TextBox 30"/>
          <p:cNvSpPr txBox="1"/>
          <p:nvPr/>
        </p:nvSpPr>
        <p:spPr>
          <a:xfrm>
            <a:off x="553029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71317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9546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954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09721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remembered…</a:t>
            </a:r>
          </a:p>
        </p:txBody>
      </p:sp>
      <p:sp>
        <p:nvSpPr>
          <p:cNvPr id="36" name="TextBox 35"/>
          <p:cNvSpPr txBox="1"/>
          <p:nvPr/>
        </p:nvSpPr>
        <p:spPr>
          <a:xfrm>
            <a:off x="73700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55294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352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3699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menu searc…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If the account has a nationality on file, the right language appears automatically at login.</a:t>
            </a:r>
          </a:p>
          <a:p>
            <a:pPr>
              <a:lnSpc>
                <a:spcPct val="115000"/>
              </a:lnSpc>
              <a:spcAft>
                <a:spcPts val="300"/>
              </a:spcAft>
            </a:pPr>
            <a:r>
              <a:rPr sz="700" b="1">
                <a:solidFill>
                  <a:srgbClr val="4F46E5"/>
                </a:solidFill>
                <a:latin typeface="Malgun Gothic"/>
              </a:rPr>
              <a:t>● </a:t>
            </a:r>
            <a:r>
              <a:rPr sz="900">
                <a:solidFill>
                  <a:srgbClr val="334155"/>
                </a:solidFill>
                <a:latin typeface="Malgun Gothic"/>
              </a:rPr>
              <a:t>To change it manually, press the 🌐 EN / KR button at the top.</a:t>
            </a:r>
          </a:p>
          <a:p>
            <a:pPr>
              <a:lnSpc>
                <a:spcPct val="115000"/>
              </a:lnSpc>
              <a:spcAft>
                <a:spcPts val="300"/>
              </a:spcAft>
            </a:pPr>
            <a:r>
              <a:rPr sz="700" b="1">
                <a:solidFill>
                  <a:srgbClr val="4F46E5"/>
                </a:solidFill>
                <a:latin typeface="Malgun Gothic"/>
              </a:rPr>
              <a:t>● </a:t>
            </a:r>
            <a:r>
              <a:rPr sz="900">
                <a:solidFill>
                  <a:srgbClr val="334155"/>
                </a:solidFill>
                <a:latin typeface="Malgun Gothic"/>
              </a:rPr>
              <a:t>A manual choice is stored per account — several people can share one PC without interference.</a:t>
            </a:r>
          </a:p>
          <a:p>
            <a:pPr>
              <a:lnSpc>
                <a:spcPct val="115000"/>
              </a:lnSpc>
              <a:spcAft>
                <a:spcPts val="300"/>
              </a:spcAft>
            </a:pPr>
            <a:r>
              <a:rPr sz="700" b="1">
                <a:solidFill>
                  <a:srgbClr val="4F46E5"/>
                </a:solidFill>
                <a:latin typeface="Malgun Gothic"/>
              </a:rPr>
              <a:t>● </a:t>
            </a:r>
            <a:r>
              <a:rPr sz="900">
                <a:solidFill>
                  <a:srgbClr val="334155"/>
                </a:solidFill>
                <a:latin typeface="Malgun Gothic"/>
              </a:rPr>
              <a:t>Teacher guide slides and manuals switch to the English editions with it.</a:t>
            </a:r>
          </a:p>
        </p:txBody>
      </p:sp>
      <p:sp>
        <p:nvSpPr>
          <p:cNvPr id="14" name="Rounded Rectangle 13"/>
          <p:cNvSpPr/>
          <p:nvPr/>
        </p:nvSpPr>
        <p:spPr>
          <a:xfrm>
            <a:off x="457200" y="5957316"/>
            <a:ext cx="5669280" cy="167358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249924"/>
            <a:ext cx="5394960" cy="134439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Teacher accounts are always English — no more getting lost in a Korean screen.</a:t>
            </a:r>
          </a:p>
          <a:p>
            <a:pPr>
              <a:lnSpc>
                <a:spcPct val="115000"/>
              </a:lnSpc>
              <a:spcAft>
                <a:spcPts val="100"/>
              </a:spcAft>
            </a:pPr>
            <a:r>
              <a:rPr sz="650" b="1">
                <a:solidFill>
                  <a:srgbClr val="4F46E5"/>
                </a:solidFill>
                <a:latin typeface="Malgun Gothic"/>
              </a:rPr>
              <a:t>● </a:t>
            </a:r>
            <a:r>
              <a:rPr sz="850">
                <a:solidFill>
                  <a:srgbClr val="334155"/>
                </a:solidFill>
                <a:latin typeface="Malgun Gothic"/>
              </a:rPr>
              <a:t>Accounts with an English name no longer flip to Korean because of a Korean job title.</a:t>
            </a:r>
          </a:p>
          <a:p>
            <a:pPr>
              <a:lnSpc>
                <a:spcPct val="115000"/>
              </a:lnSpc>
              <a:spcAft>
                <a:spcPts val="100"/>
              </a:spcAft>
            </a:pPr>
            <a:r>
              <a:rPr sz="650" b="1">
                <a:solidFill>
                  <a:srgbClr val="4F46E5"/>
                </a:solidFill>
                <a:latin typeface="Malgun Gothic"/>
              </a:rPr>
              <a:t>● </a:t>
            </a:r>
            <a:r>
              <a:rPr sz="85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Accounts with no nationality fall back to the old name/ID heuristic. Please fill in nationality when registering teachers.</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3530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1759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175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01934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nationalit…</a:t>
            </a:r>
          </a:p>
        </p:txBody>
      </p:sp>
      <p:sp>
        <p:nvSpPr>
          <p:cNvPr id="28" name="TextBox 27"/>
          <p:cNvSpPr txBox="1"/>
          <p:nvPr/>
        </p:nvSpPr>
        <p:spPr>
          <a:xfrm>
            <a:off x="429219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75073" y="2670048"/>
            <a:ext cx="148498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736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7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9121"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 / KR</a:t>
            </a:r>
          </a:p>
        </p:txBody>
      </p:sp>
      <p:sp>
        <p:nvSpPr>
          <p:cNvPr id="33" name="TextBox 32"/>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4293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2523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2698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per accoun…</a:t>
            </a:r>
          </a:p>
        </p:txBody>
      </p:sp>
      <p:sp>
        <p:nvSpPr>
          <p:cNvPr id="38" name="TextBox 37"/>
          <p:cNvSpPr txBox="1"/>
          <p:nvPr/>
        </p:nvSpPr>
        <p:spPr>
          <a:xfrm>
            <a:off x="779983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982711"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6500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65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6675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switch to…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Running Judgment Training (student judgment index)</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Not memorisation but judgment — a new outcome metric</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Judgment Training, a student picks the expression that fits a situation and explains why. Results accumulate into a judgment index across 5 axes — evidence you can show in parent consultations that answers “how well do they judge for themselves”, not just “what did they memorise”.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The feature lives at AI Learning Tools → Judgment Training on the student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Per-student results appear on the My Growth screen and in learning reports.</a:t>
            </a:r>
          </a:p>
          <a:p>
            <a:pPr>
              <a:lnSpc>
                <a:spcPct val="115000"/>
              </a:lnSpc>
              <a:spcAft>
                <a:spcPts val="300"/>
              </a:spcAft>
            </a:pPr>
            <a:r>
              <a:rPr sz="700" b="1">
                <a:solidFill>
                  <a:srgbClr val="4F46E5"/>
                </a:solidFill>
                <a:latin typeface="Malgun Gothic"/>
              </a:rPr>
              <a:t>● </a:t>
            </a:r>
            <a:r>
              <a:rPr sz="900">
                <a:solidFill>
                  <a:srgbClr val="334155"/>
                </a:solidFill>
                <a:latin typeface="Malgun Gothic"/>
              </a:rPr>
              <a:t>Show the index trend chart as supporting evidence during consultations.</a:t>
            </a:r>
          </a:p>
        </p:txBody>
      </p:sp>
      <p:sp>
        <p:nvSpPr>
          <p:cNvPr id="14" name="Rounded Rectangle 13"/>
          <p:cNvSpPr/>
          <p:nvPr/>
        </p:nvSpPr>
        <p:spPr>
          <a:xfrm>
            <a:off x="457200" y="5187391"/>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Recent answers are weighted more (half-life weighting), so current ability shows up fast.</a:t>
            </a:r>
          </a:p>
          <a:p>
            <a:pPr>
              <a:lnSpc>
                <a:spcPct val="115000"/>
              </a:lnSpc>
              <a:spcAft>
                <a:spcPts val="100"/>
              </a:spcAft>
            </a:pPr>
            <a:r>
              <a:rPr sz="650" b="1">
                <a:solidFill>
                  <a:srgbClr val="4F46E5"/>
                </a:solidFill>
                <a:latin typeface="Malgun Gothic"/>
              </a:rPr>
              <a:t>● </a:t>
            </a:r>
            <a:r>
              <a:rPr sz="850">
                <a:solidFill>
                  <a:srgbClr val="334155"/>
                </a:solidFill>
                <a:latin typeface="Malgun Gothic"/>
              </a:rPr>
              <a:t>Partial credit means one wrong answer doesn't crash the index.</a:t>
            </a:r>
          </a:p>
          <a:p>
            <a:pPr>
              <a:lnSpc>
                <a:spcPct val="115000"/>
              </a:lnSpc>
              <a:spcAft>
                <a:spcPts val="100"/>
              </a:spcAft>
            </a:pPr>
            <a:r>
              <a:rPr sz="650" b="1">
                <a:solidFill>
                  <a:srgbClr val="4F46E5"/>
                </a:solidFill>
                <a:latin typeface="Malgun Gothic"/>
              </a:rPr>
              <a:t>● </a:t>
            </a:r>
            <a:r>
              <a:rPr sz="850">
                <a:solidFill>
                  <a:srgbClr val="334155"/>
                </a:solidFill>
                <a:latin typeface="Malgun Gothic"/>
              </a:rPr>
              <a:t>Questions combine 24 topics × 12 angles, so students get different questions.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Read the judgment index as a growth trend, not an exam score. The direction matters more than the absolute number.</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This is the best material to answer the classic parent question: “They know the words but can't speak.”</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4787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3016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301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93192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Learnin…</a:t>
            </a:r>
          </a:p>
        </p:txBody>
      </p:sp>
      <p:sp>
        <p:nvSpPr>
          <p:cNvPr id="28" name="TextBox 27"/>
          <p:cNvSpPr txBox="1"/>
          <p:nvPr/>
        </p:nvSpPr>
        <p:spPr>
          <a:xfrm>
            <a:off x="52047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387644" y="2670048"/>
            <a:ext cx="141366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699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69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771692"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 Growth</a:t>
            </a:r>
          </a:p>
        </p:txBody>
      </p:sp>
      <p:sp>
        <p:nvSpPr>
          <p:cNvPr id="33" name="TextBox 32"/>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98418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6648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index tren…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accounts (password reset · access limits)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Handling lost passwords · scoping permissions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a teacher forgets their password you can reset it directly from the admin screen. Teacher account access was also tightened so that operations and settlement features a teacher doesn't need simply don't open.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Find the teacher under Teachers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Use Reset password to issue a temporary password.</a:t>
            </a:r>
          </a:p>
          <a:p>
            <a:pPr>
              <a:lnSpc>
                <a:spcPct val="115000"/>
              </a:lnSpc>
              <a:spcAft>
                <a:spcPts val="300"/>
              </a:spcAft>
            </a:pPr>
            <a:r>
              <a:rPr sz="700" b="1">
                <a:solidFill>
                  <a:srgbClr val="4F46E5"/>
                </a:solidFill>
                <a:latin typeface="Malgun Gothic"/>
              </a:rPr>
              <a:t>● </a:t>
            </a:r>
            <a:r>
              <a:rPr sz="900">
                <a:solidFill>
                  <a:srgbClr val="334155"/>
                </a:solidFill>
                <a:latin typeface="Malgun Gothic"/>
              </a:rPr>
              <a:t>Pass it on and tell them to change it right after logging in.</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the teacher's nationality is blank, fill it in so their screen opens in English.</a:t>
            </a:r>
          </a:p>
        </p:txBody>
      </p:sp>
      <p:sp>
        <p:nvSpPr>
          <p:cNvPr id="14" name="Rounded Rectangle 13"/>
          <p:cNvSpPr/>
          <p:nvPr/>
        </p:nvSpPr>
        <p:spPr>
          <a:xfrm>
            <a:off x="457200" y="5636361"/>
            <a:ext cx="5669280" cy="137045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104127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Teacher accounts cannot reach operations or settlement features (32 areas blocked).</a:t>
            </a:r>
          </a:p>
          <a:p>
            <a:pPr>
              <a:lnSpc>
                <a:spcPct val="115000"/>
              </a:lnSpc>
              <a:spcAft>
                <a:spcPts val="100"/>
              </a:spcAft>
            </a:pPr>
            <a:r>
              <a:rPr sz="650" b="1">
                <a:solidFill>
                  <a:srgbClr val="4F46E5"/>
                </a:solidFill>
                <a:latin typeface="Malgun Gothic"/>
              </a:rPr>
              <a:t>● </a:t>
            </a:r>
            <a:r>
              <a:rPr sz="850">
                <a:solidFill>
                  <a:srgbClr val="334155"/>
                </a:solidFill>
                <a:latin typeface="Malgun Gothic"/>
              </a:rPr>
              <a:t>Reset actions are logged.</a:t>
            </a:r>
          </a:p>
          <a:p>
            <a:pPr>
              <a:lnSpc>
                <a:spcPct val="115000"/>
              </a:lnSpc>
              <a:spcAft>
                <a:spcPts val="100"/>
              </a:spcAft>
            </a:pPr>
            <a:r>
              <a:rPr sz="650" b="1">
                <a:solidFill>
                  <a:srgbClr val="4F46E5"/>
                </a:solidFill>
                <a:latin typeface="Malgun Gothic"/>
              </a:rPr>
              <a:t>● </a:t>
            </a:r>
            <a:r>
              <a:rPr sz="850">
                <a:solidFill>
                  <a:srgbClr val="334155"/>
                </a:solidFill>
                <a:latin typeface="Malgun Gothic"/>
              </a:rPr>
              <a:t>Teachers with a nationality on file start in English from their first login.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Send temporary passwords only over a channel where you can verify who you're talking to.</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Fill in nationality and contact details when registering a new teacher — later questions drop sharply.</a:t>
            </a:r>
          </a:p>
        </p:txBody>
      </p:sp>
      <p:sp>
        <p:nvSpPr>
          <p:cNvPr id="21" name="Rectangle 20"/>
          <p:cNvSpPr/>
          <p:nvPr/>
        </p:nvSpPr>
        <p:spPr>
          <a:xfrm>
            <a:off x="6300216" y="4193563"/>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248427"/>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92577" y="2670048"/>
            <a:ext cx="13277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748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748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176625"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8" name="TextBox 27"/>
          <p:cNvSpPr txBox="1"/>
          <p:nvPr/>
        </p:nvSpPr>
        <p:spPr>
          <a:xfrm>
            <a:off x="412028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0316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38546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546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68721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Reset pass…</a:t>
            </a:r>
          </a:p>
        </p:txBody>
      </p:sp>
      <p:sp>
        <p:nvSpPr>
          <p:cNvPr id="33" name="TextBox 32"/>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42939"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2523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2698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change it…</a:t>
            </a:r>
          </a:p>
        </p:txBody>
      </p:sp>
      <p:sp>
        <p:nvSpPr>
          <p:cNvPr id="38" name="TextBox 37"/>
          <p:cNvSpPr txBox="1"/>
          <p:nvPr/>
        </p:nvSpPr>
        <p:spPr>
          <a:xfrm>
            <a:off x="771387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896758"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7905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79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8080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fill it 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 redesigned (roster filters · groups · detail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Easy-to-search roster · detail at a glance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teacher-management screen is now easier to search and read. Scattered menus are grouped into four bundles in the sidebar, and above the roster there are status/group dropdown filters with applied-filter chips. Tapping a teacher opens a detail view split into Profile / Payroll / Evaluation tabs, with a manager badge and employment status (active / on-leave / left) shown at a glance.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Teachers in the admin menu (menus are tidied into four bundles).</a:t>
            </a:r>
          </a:p>
          <a:p>
            <a:pPr>
              <a:lnSpc>
                <a:spcPct val="115000"/>
              </a:lnSpc>
              <a:spcAft>
                <a:spcPts val="300"/>
              </a:spcAft>
            </a:pPr>
            <a:r>
              <a:rPr sz="700" b="1">
                <a:solidFill>
                  <a:srgbClr val="4F46E5"/>
                </a:solidFill>
                <a:latin typeface="Malgun Gothic"/>
              </a:rPr>
              <a:t>● </a:t>
            </a:r>
            <a:r>
              <a:rPr sz="900">
                <a:solidFill>
                  <a:srgbClr val="334155"/>
                </a:solidFill>
                <a:latin typeface="Malgun Gothic"/>
              </a:rPr>
              <a:t>Filter to just the teachers you want with the status/group dropdowns above the roster.</a:t>
            </a:r>
          </a:p>
          <a:p>
            <a:pPr>
              <a:lnSpc>
                <a:spcPct val="115000"/>
              </a:lnSpc>
              <a:spcAft>
                <a:spcPts val="300"/>
              </a:spcAft>
            </a:pPr>
            <a:r>
              <a:rPr sz="700" b="1">
                <a:solidFill>
                  <a:srgbClr val="4F46E5"/>
                </a:solidFill>
                <a:latin typeface="Malgun Gothic"/>
              </a:rPr>
              <a:t>● </a:t>
            </a:r>
            <a:r>
              <a:rPr sz="900">
                <a:solidFill>
                  <a:srgbClr val="334155"/>
                </a:solidFill>
                <a:latin typeface="Malgun Gothic"/>
              </a:rPr>
              <a:t>Applied filters show as chips; remove a chip to clear it.</a:t>
            </a:r>
          </a:p>
          <a:p>
            <a:pPr>
              <a:lnSpc>
                <a:spcPct val="115000"/>
              </a:lnSpc>
              <a:spcAft>
                <a:spcPts val="300"/>
              </a:spcAft>
            </a:pPr>
            <a:r>
              <a:rPr sz="700" b="1">
                <a:solidFill>
                  <a:srgbClr val="4F46E5"/>
                </a:solidFill>
                <a:latin typeface="Malgun Gothic"/>
              </a:rPr>
              <a:t>● </a:t>
            </a:r>
            <a:r>
              <a:rPr sz="900">
                <a:solidFill>
                  <a:srgbClr val="334155"/>
                </a:solidFill>
                <a:latin typeface="Malgun Gothic"/>
              </a:rPr>
              <a:t>Tap a teacher to open the Profile / Payroll / Evaluation detail tabs.</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summary numbers on the payroll/evaluation tabs load only as needed when opened.</a:t>
            </a:r>
          </a:p>
        </p:txBody>
      </p:sp>
      <p:sp>
        <p:nvSpPr>
          <p:cNvPr id="14" name="Rounded Rectangle 13"/>
          <p:cNvSpPr/>
          <p:nvPr/>
        </p:nvSpPr>
        <p:spPr>
          <a:xfrm>
            <a:off x="457200" y="6085332"/>
            <a:ext cx="5669280" cy="190743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377940"/>
            <a:ext cx="5394960" cy="157825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Managers are marked with a badge, and status shows as active / on-leave / left (3 states).</a:t>
            </a:r>
          </a:p>
          <a:p>
            <a:pPr>
              <a:lnSpc>
                <a:spcPct val="115000"/>
              </a:lnSpc>
              <a:spcAft>
                <a:spcPts val="100"/>
              </a:spcAft>
            </a:pPr>
            <a:r>
              <a:rPr sz="650" b="1">
                <a:solidFill>
                  <a:srgbClr val="4F46E5"/>
                </a:solidFill>
                <a:latin typeface="Malgun Gothic"/>
              </a:rPr>
              <a:t>● </a:t>
            </a:r>
            <a:r>
              <a:rPr sz="850">
                <a:solidFill>
                  <a:srgbClr val="334155"/>
                </a:solidFill>
                <a:latin typeface="Malgun Gothic"/>
              </a:rPr>
              <a:t>A blank name falls back to the ID, so there are no empty cells.</a:t>
            </a:r>
          </a:p>
          <a:p>
            <a:pPr>
              <a:lnSpc>
                <a:spcPct val="115000"/>
              </a:lnSpc>
              <a:spcAft>
                <a:spcPts val="100"/>
              </a:spcAft>
            </a:pPr>
            <a:r>
              <a:rPr sz="650" b="1">
                <a:solidFill>
                  <a:srgbClr val="4F46E5"/>
                </a:solidFill>
                <a:latin typeface="Malgun Gothic"/>
              </a:rPr>
              <a:t>● </a:t>
            </a:r>
            <a:r>
              <a:rPr sz="850">
                <a:solidFill>
                  <a:srgbClr val="334155"/>
                </a:solidFill>
                <a:latin typeface="Malgun Gothic"/>
              </a:rPr>
              <a:t>Detail tabs reuse existing APIs for speed, and the screen is bilingual (KO/EN).</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duplicate payroll entry was tidied and bug reports moved to a separate system.</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is a filtering/detail cleanup. Registering, editing and deleting teachers works exactly as before.</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The more teachers you have, the more the status/group filters help. Keep your usual conditions filtered.</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87575" y="2670048"/>
            <a:ext cx="13277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6987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98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71623"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8" name="TextBox 27"/>
          <p:cNvSpPr txBox="1"/>
          <p:nvPr/>
        </p:nvSpPr>
        <p:spPr>
          <a:xfrm>
            <a:off x="341528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59816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804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804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9822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status/gro…</a:t>
            </a:r>
          </a:p>
        </p:txBody>
      </p:sp>
      <p:sp>
        <p:nvSpPr>
          <p:cNvPr id="33" name="TextBox 32"/>
          <p:cNvSpPr txBox="1"/>
          <p:nvPr/>
        </p:nvSpPr>
        <p:spPr>
          <a:xfrm>
            <a:off x="52550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437936" y="2670048"/>
            <a:ext cx="10698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202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202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21984"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chips</a:t>
            </a:r>
          </a:p>
        </p:txBody>
      </p:sp>
      <p:sp>
        <p:nvSpPr>
          <p:cNvPr id="38" name="TextBox 37"/>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690664"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729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7471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Profile /…</a:t>
            </a:r>
          </a:p>
        </p:txBody>
      </p:sp>
      <p:sp>
        <p:nvSpPr>
          <p:cNvPr id="43" name="TextBox 42"/>
          <p:cNvSpPr txBox="1"/>
          <p:nvPr/>
        </p:nvSpPr>
        <p:spPr>
          <a:xfrm>
            <a:off x="826160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44448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52678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267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82853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summary 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Sending the Parent Monthly Report (pentagon)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Preview the 5-axis report, then share the link</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monthly report sent to parents is renewed as a pentagon 5-axis graph — Pronunciation &amp; Fluency / Vocabulary / Sentence Building / Class Attitude / Participation — at a glance, with attendance, judgment and a teacher's note. Admins and teachers enter a student ID and month to preview, then send the KakaoTalk link.</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Monthly Report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Enter a student ID and month, press View Report to preview.</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the pentagon and teacher's note; top up evaluations if needed.</a:t>
            </a:r>
          </a:p>
          <a:p>
            <a:pPr>
              <a:lnSpc>
                <a:spcPct val="115000"/>
              </a:lnSpc>
              <a:spcAft>
                <a:spcPts val="300"/>
              </a:spcAft>
            </a:pPr>
            <a:r>
              <a:rPr sz="700" b="1">
                <a:solidFill>
                  <a:srgbClr val="4F46E5"/>
                </a:solidFill>
                <a:latin typeface="Malgun Gothic"/>
              </a:rPr>
              <a:t>● </a:t>
            </a:r>
            <a:r>
              <a:rPr sz="900">
                <a:solidFill>
                  <a:srgbClr val="334155"/>
                </a:solidFill>
                <a:latin typeface="Malgun Gothic"/>
              </a:rPr>
              <a:t>Append ?uid=ID&amp;period=YYYY-MM to the URL and send the KakaoTalk link.</a:t>
            </a:r>
          </a:p>
        </p:txBody>
      </p:sp>
      <p:sp>
        <p:nvSpPr>
          <p:cNvPr id="14" name="Rounded Rectangle 13"/>
          <p:cNvSpPr/>
          <p:nvPr/>
        </p:nvSpPr>
        <p:spPr>
          <a:xfrm>
            <a:off x="457200" y="5475884"/>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768492"/>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Only axes with real records are filled, so it's trustworthy.</a:t>
            </a:r>
          </a:p>
          <a:p>
            <a:pPr>
              <a:lnSpc>
                <a:spcPct val="115000"/>
              </a:lnSpc>
              <a:spcAft>
                <a:spcPts val="100"/>
              </a:spcAft>
            </a:pPr>
            <a:r>
              <a:rPr sz="650" b="1">
                <a:solidFill>
                  <a:srgbClr val="4F46E5"/>
                </a:solidFill>
                <a:latin typeface="Malgun Gothic"/>
              </a:rPr>
              <a:t>● </a:t>
            </a:r>
            <a:r>
              <a:rPr sz="850">
                <a:solidFill>
                  <a:srgbClr val="334155"/>
                </a:solidFill>
                <a:latin typeface="Malgun Gothic"/>
              </a:rPr>
              <a:t>Compiled on a two-month cycle — conveys change without tiring parents.</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Print/PDF button makes a paper report for consultations instantly.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Report access passes an approval gate — admins via their login session, parents only via the issued link (token).</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Sending the report link ahead of a booked consultation makes the meeting much smoother.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627985"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102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102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01203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Monthly Re…</a:t>
            </a:r>
          </a:p>
        </p:txBody>
      </p:sp>
      <p:sp>
        <p:nvSpPr>
          <p:cNvPr id="28" name="TextBox 27"/>
          <p:cNvSpPr txBox="1"/>
          <p:nvPr/>
        </p:nvSpPr>
        <p:spPr>
          <a:xfrm>
            <a:off x="428487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67758"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005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0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180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 ID</a:t>
            </a:r>
          </a:p>
        </p:txBody>
      </p:sp>
      <p:sp>
        <p:nvSpPr>
          <p:cNvPr id="33" name="TextBox 32"/>
          <p:cNvSpPr txBox="1"/>
          <p:nvPr/>
        </p:nvSpPr>
        <p:spPr>
          <a:xfrm>
            <a:off x="596737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50254"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3255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325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3430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 the…</a:t>
            </a:r>
          </a:p>
        </p:txBody>
      </p:sp>
      <p:sp>
        <p:nvSpPr>
          <p:cNvPr id="38" name="TextBox 37"/>
          <p:cNvSpPr txBox="1"/>
          <p:nvPr/>
        </p:nvSpPr>
        <p:spPr>
          <a:xfrm>
            <a:off x="772119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90407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8636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86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8812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?uid=ID&amp;pe…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Weekly Report (the re-enrolment lever)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Deliver the proof of growth competitors cannot show</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report sent to parents containing the child's week of activity (attendance, AI friend chats, judgment training, words conquered, pronunciation). The purpose is explicit — deliver the proof of growth competitors cannot show, every week, and convert it into re-enrolment. The admin screen covers preview → test send → recipient count → send log.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 Parent Weekly Report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Enter a student ID and press Preview to check the content.</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needed, use Send to this parent to test with a single recipient.</a:t>
            </a:r>
          </a:p>
          <a:p>
            <a:pPr>
              <a:lnSpc>
                <a:spcPct val="115000"/>
              </a:lnSpc>
              <a:spcAft>
                <a:spcPts val="300"/>
              </a:spcAft>
            </a:pPr>
            <a:r>
              <a:rPr sz="700" b="1">
                <a:solidFill>
                  <a:srgbClr val="4F46E5"/>
                </a:solidFill>
                <a:latin typeface="Malgun Gothic"/>
              </a:rPr>
              <a:t>● </a:t>
            </a:r>
            <a:r>
              <a:rPr sz="900">
                <a:solidFill>
                  <a:srgbClr val="334155"/>
                </a:solidFill>
                <a:latin typeface="Malgun Gothic"/>
              </a:rPr>
              <a:t>Use Count recipients to see how many students can receive it (those with a registered phone number).</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Recent send log for what actually went out.</a:t>
            </a:r>
          </a:p>
        </p:txBody>
      </p:sp>
      <p:sp>
        <p:nvSpPr>
          <p:cNvPr id="14" name="Rounded Rectangle 13"/>
          <p:cNvSpPr/>
          <p:nvPr/>
        </p:nvSpPr>
        <p:spPr>
          <a:xfrm>
            <a:off x="457200" y="6245809"/>
            <a:ext cx="5669280" cy="1825142"/>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538417"/>
            <a:ext cx="5394960" cy="1495958"/>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What the report contains: 📅 attendance days · 🔥 streak · 🤖 AI chats · 📚 words conquered · 🧠 judgment · 🎤 pronunciation.</a:t>
            </a:r>
          </a:p>
          <a:p>
            <a:pPr>
              <a:lnSpc>
                <a:spcPct val="115000"/>
              </a:lnSpc>
              <a:spcAft>
                <a:spcPts val="100"/>
              </a:spcAft>
            </a:pPr>
            <a:r>
              <a:rPr sz="650" b="1">
                <a:solidFill>
                  <a:srgbClr val="4F46E5"/>
                </a:solidFill>
                <a:latin typeface="Malgun Gothic"/>
              </a:rPr>
              <a:t>● </a:t>
            </a:r>
            <a:r>
              <a:rPr sz="850">
                <a:solidFill>
                  <a:srgbClr val="334155"/>
                </a:solidFill>
                <a:latin typeface="Malgun Gothic"/>
              </a:rPr>
              <a:t>Only students with a registered phone number can receive it — the count screen also reports how many are missing one.</a:t>
            </a:r>
          </a:p>
          <a:p>
            <a:pPr>
              <a:lnSpc>
                <a:spcPct val="115000"/>
              </a:lnSpc>
              <a:spcAft>
                <a:spcPts val="100"/>
              </a:spcAft>
            </a:pPr>
            <a:r>
              <a:rPr sz="650" b="1">
                <a:solidFill>
                  <a:srgbClr val="4F46E5"/>
                </a:solidFill>
                <a:latin typeface="Malgun Gothic"/>
              </a:rPr>
              <a:t>● </a:t>
            </a:r>
            <a:r>
              <a:rPr sz="850">
                <a:solidFill>
                  <a:srgbClr val="334155"/>
                </a:solidFill>
                <a:latin typeface="Malgun Gothic"/>
              </a:rPr>
              <a:t>A Friday-evening automatic send (cron) is prepared and ready.</a:t>
            </a:r>
          </a:p>
        </p:txBody>
      </p:sp>
      <p:sp>
        <p:nvSpPr>
          <p:cNvPr id="17" name="Rounded Rectangle 16"/>
          <p:cNvSpPr/>
          <p:nvPr/>
        </p:nvSpPr>
        <p:spPr>
          <a:xfrm>
            <a:off x="365760" y="5504688"/>
            <a:ext cx="5646420" cy="118872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550408"/>
            <a:ext cx="5372100" cy="109728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 The full automatic send is OFF by default. Real messages only go out after an admin turns on the KV switch — a safeguard against accidentally messaging 29,000 people. Turn it on only after the alert-talk template is approved and management has decided.</a:t>
            </a:r>
          </a:p>
        </p:txBody>
      </p:sp>
      <p:sp>
        <p:nvSpPr>
          <p:cNvPr id="19" name="Rounded Rectangle 18"/>
          <p:cNvSpPr/>
          <p:nvPr/>
        </p:nvSpPr>
        <p:spPr>
          <a:xfrm>
            <a:off x="6176772" y="5504688"/>
            <a:ext cx="5646420" cy="118872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550408"/>
            <a:ext cx="5372100" cy="1097280"/>
          </a:xfrm>
          <a:prstGeom prst="rect">
            <a:avLst/>
          </a:prstGeom>
          <a:noFill/>
        </p:spPr>
        <p:txBody>
          <a:bodyPr wrap="square" anchor="t">
            <a:spAutoFit/>
          </a:bodyPr>
          <a:lstStyle/>
          <a:p>
            <a:pPr algn="l">
              <a:lnSpc>
                <a:spcPct val="100000"/>
              </a:lnSpc>
            </a:pPr>
            <a:r>
              <a:rPr sz="950" b="0">
                <a:solidFill>
                  <a:srgbClr val="5B4A2A"/>
                </a:solidFill>
                <a:latin typeface="Malgun Gothic"/>
              </a:rPr>
              <a:t>💡 Tip · Start with preview → a single test send only. Once the wording is settled, then turn on the full switch.</a:t>
            </a:r>
          </a:p>
        </p:txBody>
      </p:sp>
      <p:sp>
        <p:nvSpPr>
          <p:cNvPr id="21" name="Rectangle 20"/>
          <p:cNvSpPr/>
          <p:nvPr/>
        </p:nvSpPr>
        <p:spPr>
          <a:xfrm>
            <a:off x="7360919" y="3255264"/>
            <a:ext cx="3474720" cy="22128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_weekly.jpg"/>
          <p:cNvPicPr>
            <a:picLocks noChangeAspect="1"/>
          </p:cNvPicPr>
          <p:nvPr/>
        </p:nvPicPr>
        <p:blipFill>
          <a:blip r:embed="rId2"/>
          <a:stretch>
            <a:fillRect/>
          </a:stretch>
        </p:blipFill>
        <p:spPr>
          <a:xfrm>
            <a:off x="7415783" y="3310128"/>
            <a:ext cx="3364991" cy="210312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58391"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4068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406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4243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Parent W…</a:t>
            </a:r>
          </a:p>
        </p:txBody>
      </p:sp>
      <p:sp>
        <p:nvSpPr>
          <p:cNvPr id="28" name="TextBox 27"/>
          <p:cNvSpPr txBox="1"/>
          <p:nvPr/>
        </p:nvSpPr>
        <p:spPr>
          <a:xfrm>
            <a:off x="348660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669487"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5178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517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53535"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Preview</a:t>
            </a:r>
          </a:p>
        </p:txBody>
      </p:sp>
      <p:sp>
        <p:nvSpPr>
          <p:cNvPr id="33" name="TextBox 32"/>
          <p:cNvSpPr txBox="1"/>
          <p:nvPr/>
        </p:nvSpPr>
        <p:spPr>
          <a:xfrm>
            <a:off x="491124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09412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7641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764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781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Send to th…</a:t>
            </a:r>
          </a:p>
        </p:txBody>
      </p:sp>
      <p:sp>
        <p:nvSpPr>
          <p:cNvPr id="38" name="TextBox 37"/>
          <p:cNvSpPr txBox="1"/>
          <p:nvPr/>
        </p:nvSpPr>
        <p:spPr>
          <a:xfrm>
            <a:off x="675101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933895"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161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16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179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Count reci…</a:t>
            </a:r>
          </a:p>
        </p:txBody>
      </p:sp>
      <p:sp>
        <p:nvSpPr>
          <p:cNvPr id="43" name="TextBox 42"/>
          <p:cNvSpPr txBox="1"/>
          <p:nvPr/>
        </p:nvSpPr>
        <p:spPr>
          <a:xfrm>
            <a:off x="859078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77366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5596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559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15771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Recent sen…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Home Screen Split (first-time parent vs. existing member)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Fewer 'how do I start?' calls, more trial sign-ups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first screen of the site (the hero) now shows one of two versions depending on who is looking. A first-time parent sees &lt;b&gt;Book a Free Trial&lt;/b&gt; as the biggest button; a logged-in member sees &lt;b&gt;Enter Class&lt;/b&gt;. We checked four competitors directly (Cambly Kids, Min Byung-chul UPhone, Engoo, Ringle) and all four lead with a new-customer call to action — this change follows that evidence.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home URL in a private/incognito window to see the guest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Confirm the two large buttons: Book a Free Trial · Browse Teachers.</a:t>
            </a:r>
          </a:p>
          <a:p>
            <a:pPr>
              <a:lnSpc>
                <a:spcPct val="115000"/>
              </a:lnSpc>
              <a:spcAft>
                <a:spcPts val="300"/>
              </a:spcAft>
            </a:pPr>
            <a:r>
              <a:rPr sz="700" b="1">
                <a:solidFill>
                  <a:srgbClr val="4F46E5"/>
                </a:solidFill>
                <a:latin typeface="Malgun Gothic"/>
              </a:rPr>
              <a:t>● </a:t>
            </a:r>
            <a:r>
              <a:rPr sz="900">
                <a:solidFill>
                  <a:srgbClr val="334155"/>
                </a:solidFill>
                <a:latin typeface="Malgun Gothic"/>
              </a:rPr>
              <a:t>Log in and open the same page — it becomes Enter Class · Chat with AI.</a:t>
            </a:r>
          </a:p>
          <a:p>
            <a:pPr>
              <a:lnSpc>
                <a:spcPct val="115000"/>
              </a:lnSpc>
              <a:spcAft>
                <a:spcPts val="300"/>
              </a:spcAft>
            </a:pPr>
            <a:r>
              <a:rPr sz="700" b="1">
                <a:solidFill>
                  <a:srgbClr val="4F46E5"/>
                </a:solidFill>
                <a:latin typeface="Malgun Gothic"/>
              </a:rPr>
              <a:t>● </a:t>
            </a:r>
            <a:r>
              <a:rPr sz="900">
                <a:solidFill>
                  <a:srgbClr val="334155"/>
                </a:solidFill>
                <a:latin typeface="Malgun Gothic"/>
              </a:rPr>
              <a:t>Use the plain home URL in flyers and text messages — no separate landing page is needed.</a:t>
            </a:r>
          </a:p>
        </p:txBody>
      </p:sp>
      <p:sp>
        <p:nvSpPr>
          <p:cNvPr id="14" name="Rounded Rectangle 13"/>
          <p:cNvSpPr/>
          <p:nvPr/>
        </p:nvSpPr>
        <p:spPr>
          <a:xfrm>
            <a:off x="457200" y="5636361"/>
            <a:ext cx="5669280" cy="236212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203293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No new page was created. The same URL decides for itself based on login state.</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guest screen still keeps a small 'Enter Class' link — this prevents an existing student who changed devices or was logged out from being locked out of class.</a:t>
            </a:r>
          </a:p>
          <a:p>
            <a:pPr>
              <a:lnSpc>
                <a:spcPct val="115000"/>
              </a:lnSpc>
              <a:spcAft>
                <a:spcPts val="100"/>
              </a:spcAft>
            </a:pPr>
            <a:r>
              <a:rPr sz="650" b="1">
                <a:solidFill>
                  <a:srgbClr val="4F46E5"/>
                </a:solidFill>
                <a:latin typeface="Malgun Gothic"/>
              </a:rPr>
              <a:t>● </a:t>
            </a:r>
            <a:r>
              <a:rPr sz="850">
                <a:solidFill>
                  <a:srgbClr val="334155"/>
                </a:solidFill>
                <a:latin typeface="Malgun Gothic"/>
              </a:rPr>
              <a:t>If the check fails for any reason, it always falls back to the guest screen — the page is never blank.</a:t>
            </a:r>
          </a:p>
          <a:p>
            <a:pPr>
              <a:lnSpc>
                <a:spcPct val="115000"/>
              </a:lnSpc>
              <a:spcAft>
                <a:spcPts val="100"/>
              </a:spcAft>
            </a:pPr>
            <a:r>
              <a:rPr sz="650" b="1">
                <a:solidFill>
                  <a:srgbClr val="4F46E5"/>
                </a:solidFill>
                <a:latin typeface="Malgun Gothic"/>
              </a:rPr>
              <a:t>● </a:t>
            </a:r>
            <a:r>
              <a:rPr sz="850">
                <a:solidFill>
                  <a:srgbClr val="334155"/>
                </a:solidFill>
                <a:latin typeface="Malgun Gothic"/>
              </a:rPr>
              <a:t>No flicker. The decision is made before the page paints.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Never remove the small 'Enter Class' link on the guest screen. Existing members also land there when their login expires (30 days) or they switch devices.</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To see what a parent sees, open the home page in an incognito window — that is the exact first impression.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home URL i…</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 a Fre…</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Clas…</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plain home…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Admin Screen Is Much Faster Now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freeze after clicking is gone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We removed the brief freeze that happened whenever you clicked something in the admin screen. The cause was not the feature you clicked — a readability-enhancement routine was recalculating every collapsed card each time. It now skips collapsed cards and never re-touches what it has already processed.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Use the admin screen as usual.</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that menus and cards open immediately, with no freeze.</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it still feels slow, do a hard refresh (Ctrl+F5) in the browser.</a:t>
            </a:r>
          </a:p>
        </p:txBody>
      </p:sp>
      <p:sp>
        <p:nvSpPr>
          <p:cNvPr id="14" name="Rounded Rectangle 13"/>
          <p:cNvSpPr/>
          <p:nvPr/>
        </p:nvSpPr>
        <p:spPr>
          <a:xfrm>
            <a:off x="457200" y="5026914"/>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Freeze on click dropped 396ms → 57ms; idle load dropped 366ms → 0ms.</a:t>
            </a:r>
          </a:p>
          <a:p>
            <a:pPr>
              <a:lnSpc>
                <a:spcPct val="115000"/>
              </a:lnSpc>
              <a:spcAft>
                <a:spcPts val="100"/>
              </a:spcAft>
            </a:pPr>
            <a:r>
              <a:rPr sz="650" b="1">
                <a:solidFill>
                  <a:srgbClr val="4F46E5"/>
                </a:solidFill>
                <a:latin typeface="Malgun Gothic"/>
              </a:rPr>
              <a:t>● </a:t>
            </a:r>
            <a:r>
              <a:rPr sz="850">
                <a:solidFill>
                  <a:srgbClr val="334155"/>
                </a:solidFill>
                <a:latin typeface="Malgun Gothic"/>
              </a:rPr>
              <a:t>Nothing about the look or colours changed — only the speed.</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difference is largest on card-heavy screens (teacher and student lists).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your browser still holds an old copy of the page you may not feel the improvement. Do one hard refresh (Ctrl+F5).</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If it is still slow, check whether too many browser tabs are open.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2625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08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Use the ad…</a:t>
            </a:r>
          </a:p>
        </p:txBody>
      </p:sp>
      <p:sp>
        <p:nvSpPr>
          <p:cNvPr id="28" name="TextBox 27"/>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26602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83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immed…</a:t>
            </a:r>
          </a:p>
        </p:txBody>
      </p:sp>
      <p:sp>
        <p:nvSpPr>
          <p:cNvPr id="33" name="TextBox 32"/>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10580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809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hard refre…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Academy Search Box (find it by name)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more scrolling the whole list</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academy (branch/agency) list now has a search box so you can find one by typing its name. No more scrolling up and down a long list.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academy list screen in the admin menu.</a:t>
            </a:r>
          </a:p>
          <a:p>
            <a:pPr>
              <a:lnSpc>
                <a:spcPct val="115000"/>
              </a:lnSpc>
              <a:spcAft>
                <a:spcPts val="300"/>
              </a:spcAft>
            </a:pPr>
            <a:r>
              <a:rPr sz="700" b="1">
                <a:solidFill>
                  <a:srgbClr val="4F46E5"/>
                </a:solidFill>
                <a:latin typeface="Malgun Gothic"/>
              </a:rPr>
              <a:t>● </a:t>
            </a:r>
            <a:r>
              <a:rPr sz="900">
                <a:solidFill>
                  <a:srgbClr val="334155"/>
                </a:solidFill>
                <a:latin typeface="Malgun Gothic"/>
              </a:rPr>
              <a:t>Type part of an academy name into the search box above the list.</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list filters to matching academies as you type.</a:t>
            </a:r>
          </a:p>
          <a:p>
            <a:pPr>
              <a:lnSpc>
                <a:spcPct val="115000"/>
              </a:lnSpc>
              <a:spcAft>
                <a:spcPts val="300"/>
              </a:spcAft>
            </a:pPr>
            <a:r>
              <a:rPr sz="700" b="1">
                <a:solidFill>
                  <a:srgbClr val="4F46E5"/>
                </a:solidFill>
                <a:latin typeface="Malgun Gothic"/>
              </a:rPr>
              <a:t>● </a:t>
            </a:r>
            <a:r>
              <a:rPr sz="900">
                <a:solidFill>
                  <a:srgbClr val="334155"/>
                </a:solidFill>
                <a:latin typeface="Malgun Gothic"/>
              </a:rPr>
              <a:t>Clear the box to return to the full list.</a:t>
            </a:r>
          </a:p>
        </p:txBody>
      </p:sp>
      <p:sp>
        <p:nvSpPr>
          <p:cNvPr id="14" name="Rounded Rectangle 13"/>
          <p:cNvSpPr/>
          <p:nvPr/>
        </p:nvSpPr>
        <p:spPr>
          <a:xfrm>
            <a:off x="457200" y="5475884"/>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768492"/>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A partial name is enough to find it.</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existing list and its features are unchanged — only the way you find things was added.</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For academies you check often, remember two or three letters of the name — that is enough to filter instantly.</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0662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8892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889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906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academy li…</a:t>
            </a:r>
          </a:p>
        </p:txBody>
      </p:sp>
      <p:sp>
        <p:nvSpPr>
          <p:cNvPr id="26" name="TextBox 25"/>
          <p:cNvSpPr txBox="1"/>
          <p:nvPr/>
        </p:nvSpPr>
        <p:spPr>
          <a:xfrm>
            <a:off x="436351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546396" y="2670048"/>
            <a:ext cx="14996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2869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8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930444"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box</a:t>
            </a:r>
          </a:p>
        </p:txBody>
      </p:sp>
      <p:sp>
        <p:nvSpPr>
          <p:cNvPr id="31" name="TextBox 30"/>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22889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118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1294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matching a…</a:t>
            </a:r>
          </a:p>
        </p:txBody>
      </p:sp>
      <p:sp>
        <p:nvSpPr>
          <p:cNvPr id="36" name="TextBox 35"/>
          <p:cNvSpPr txBox="1"/>
          <p:nvPr/>
        </p:nvSpPr>
        <p:spPr>
          <a:xfrm>
            <a:off x="788578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068665" y="2670048"/>
            <a:ext cx="141366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5096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09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5271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full list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Sticky First Column · Create a Sample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Scroll sideways and you still know whose row it is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Two frustrations fixed. ① Scrolling the teacher roster to the right made the teacher's name disappear, so you could not tell whose row you were reading → the first column is now pinned. ② With no lesson today you could not check the textbook, video, quiz or report screens → a Create Sample Lesson button was added to the timetable card.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Teachers → Teacher Roster.</a:t>
            </a:r>
          </a:p>
          <a:p>
            <a:pPr>
              <a:lnSpc>
                <a:spcPct val="115000"/>
              </a:lnSpc>
              <a:spcAft>
                <a:spcPts val="300"/>
              </a:spcAft>
            </a:pPr>
            <a:r>
              <a:rPr sz="700" b="1">
                <a:solidFill>
                  <a:srgbClr val="4F46E5"/>
                </a:solidFill>
                <a:latin typeface="Malgun Gothic"/>
              </a:rPr>
              <a:t>● </a:t>
            </a:r>
            <a:r>
              <a:rPr sz="900">
                <a:solidFill>
                  <a:srgbClr val="334155"/>
                </a:solidFill>
                <a:latin typeface="Malgun Gothic"/>
              </a:rPr>
              <a:t>Scroll the table to the right and confirm the teacher name stays pinned on the left.</a:t>
            </a:r>
          </a:p>
          <a:p>
            <a:pPr>
              <a:lnSpc>
                <a:spcPct val="115000"/>
              </a:lnSpc>
              <a:spcAft>
                <a:spcPts val="300"/>
              </a:spcAft>
            </a:pPr>
            <a:r>
              <a:rPr sz="700" b="1">
                <a:solidFill>
                  <a:srgbClr val="4F46E5"/>
                </a:solidFill>
                <a:latin typeface="Malgun Gothic"/>
              </a:rPr>
              <a:t>● </a:t>
            </a:r>
            <a:r>
              <a:rPr sz="900">
                <a:solidFill>
                  <a:srgbClr val="334155"/>
                </a:solidFill>
                <a:latin typeface="Malgun Gothic"/>
              </a:rPr>
              <a:t>To check the lesson screens, press Timetable card → Create Sample Lesson.</a:t>
            </a:r>
          </a:p>
          <a:p>
            <a:pPr>
              <a:lnSpc>
                <a:spcPct val="115000"/>
              </a:lnSpc>
              <a:spcAft>
                <a:spcPts val="300"/>
              </a:spcAft>
            </a:pPr>
            <a:r>
              <a:rPr sz="700" b="1">
                <a:solidFill>
                  <a:srgbClr val="4F46E5"/>
                </a:solidFill>
                <a:latin typeface="Malgun Gothic"/>
              </a:rPr>
              <a:t>● </a:t>
            </a:r>
            <a:r>
              <a:rPr sz="900">
                <a:solidFill>
                  <a:srgbClr val="334155"/>
                </a:solidFill>
                <a:latin typeface="Malgun Gothic"/>
              </a:rPr>
              <a:t>Enter a teacher name in the confirmation dialog and create it.</a:t>
            </a:r>
          </a:p>
        </p:txBody>
      </p:sp>
      <p:sp>
        <p:nvSpPr>
          <p:cNvPr id="14" name="Rounded Rectangle 13"/>
          <p:cNvSpPr/>
          <p:nvPr/>
        </p:nvSpPr>
        <p:spPr>
          <a:xfrm>
            <a:off x="457200" y="5475884"/>
            <a:ext cx="5669280" cy="205900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768492"/>
            <a:ext cx="5394960" cy="172981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pinned column is opaque, so text behind it never shows through.</a:t>
            </a:r>
          </a:p>
          <a:p>
            <a:pPr>
              <a:lnSpc>
                <a:spcPct val="115000"/>
              </a:lnSpc>
              <a:spcAft>
                <a:spcPts val="100"/>
              </a:spcAft>
            </a:pPr>
            <a:r>
              <a:rPr sz="650" b="1">
                <a:solidFill>
                  <a:srgbClr val="4F46E5"/>
                </a:solidFill>
                <a:latin typeface="Malgun Gothic"/>
              </a:rPr>
              <a:t>● </a:t>
            </a:r>
            <a:r>
              <a:rPr sz="850">
                <a:solidFill>
                  <a:srgbClr val="334155"/>
                </a:solidFill>
                <a:latin typeface="Malgun Gothic"/>
              </a:rPr>
              <a:t>Sample lessons are fixed to the demo student account (student) — real student data stays clean.</a:t>
            </a:r>
          </a:p>
          <a:p>
            <a:pPr>
              <a:lnSpc>
                <a:spcPct val="115000"/>
              </a:lnSpc>
              <a:spcAft>
                <a:spcPts val="100"/>
              </a:spcAft>
            </a:pPr>
            <a:r>
              <a:rPr sz="650" b="1">
                <a:solidFill>
                  <a:srgbClr val="4F46E5"/>
                </a:solidFill>
                <a:latin typeface="Malgun Gothic"/>
              </a:rPr>
              <a:t>● </a:t>
            </a:r>
            <a:r>
              <a:rPr sz="850">
                <a:solidFill>
                  <a:srgbClr val="334155"/>
                </a:solidFill>
                <a:latin typeface="Malgun Gothic"/>
              </a:rPr>
              <a:t>Creating one sends no KakaoTalk or push notification (verified).</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screen is labelled in both Korean and English.</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Sample lessons are for checking screens. Left in place they have no effect on real settlement or statistics, because they belong to the demo account.</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Create one sample lesson for new-staff training and you can demonstrate the entire flow without any real student.</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13685"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959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95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773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 →…</a:t>
            </a:r>
          </a:p>
        </p:txBody>
      </p:sp>
      <p:sp>
        <p:nvSpPr>
          <p:cNvPr id="28" name="TextBox 27"/>
          <p:cNvSpPr txBox="1"/>
          <p:nvPr/>
        </p:nvSpPr>
        <p:spPr>
          <a:xfrm>
            <a:off x="424190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2478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0707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0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0882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 the rig…</a:t>
            </a:r>
          </a:p>
        </p:txBody>
      </p:sp>
      <p:sp>
        <p:nvSpPr>
          <p:cNvPr id="33" name="TextBox 32"/>
          <p:cNvSpPr txBox="1"/>
          <p:nvPr/>
        </p:nvSpPr>
        <p:spPr>
          <a:xfrm>
            <a:off x="608167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264554"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4685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68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64860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Timetable…</a:t>
            </a:r>
          </a:p>
        </p:txBody>
      </p:sp>
      <p:sp>
        <p:nvSpPr>
          <p:cNvPr id="38" name="TextBox 37"/>
          <p:cNvSpPr txBox="1"/>
          <p:nvPr/>
        </p:nvSpPr>
        <p:spPr>
          <a:xfrm>
            <a:off x="783549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1837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066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06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242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na…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Work / Break / Leave — Entry Point Added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real cause behind 'this feature doesn't exist'</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Teachers reporting that 'work, break and leave registration doesn't work' were not describing a missing feature — they were describing a missing entry point. The screen already existed under System ▸ Calendar, but there was no route to it from the teacher's path. A shortcut on the Teachers screen fixed it.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Confirm the Work / Break / Leave shortcut is present on the Teachers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When a teacher asks, point them to this route.</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 original System ▸ Calendar route still works.</a:t>
            </a:r>
          </a:p>
        </p:txBody>
      </p:sp>
      <p:sp>
        <p:nvSpPr>
          <p:cNvPr id="14" name="Rounded Rectangle 13"/>
          <p:cNvSpPr/>
          <p:nvPr/>
        </p:nvSpPr>
        <p:spPr>
          <a:xfrm>
            <a:off x="457200" y="518739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No new feature was built — a connection was added. Data and behaviour are unchanged.</a:t>
            </a:r>
          </a:p>
          <a:p>
            <a:pPr>
              <a:lnSpc>
                <a:spcPct val="115000"/>
              </a:lnSpc>
              <a:spcAft>
                <a:spcPts val="100"/>
              </a:spcAft>
            </a:pPr>
            <a:r>
              <a:rPr sz="650" b="1">
                <a:solidFill>
                  <a:srgbClr val="4F46E5"/>
                </a:solidFill>
                <a:latin typeface="Malgun Gothic"/>
              </a:rPr>
              <a:t>● </a:t>
            </a:r>
            <a:r>
              <a:rPr sz="850">
                <a:solidFill>
                  <a:srgbClr val="334155"/>
                </a:solidFill>
                <a:latin typeface="Malgun Gothic"/>
              </a:rPr>
              <a:t>A large share of teacher complaints turn out to be this same 'missing connection' pattern.</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teacher reports a missing feature, first check whether the screen really is absent. Usually only the entry point is.</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teachers.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0595"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728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74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Work / Bre…</a:t>
            </a:r>
          </a:p>
        </p:txBody>
      </p:sp>
      <p:sp>
        <p:nvSpPr>
          <p:cNvPr id="26" name="TextBox 25"/>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3036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1266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1441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When a tea…</a:t>
            </a:r>
          </a:p>
        </p:txBody>
      </p:sp>
      <p:sp>
        <p:nvSpPr>
          <p:cNvPr id="31" name="TextBox 30"/>
          <p:cNvSpPr txBox="1"/>
          <p:nvPr/>
        </p:nvSpPr>
        <p:spPr>
          <a:xfrm>
            <a:off x="688726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070140"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5243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524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54188"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System ▸ 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New-Payment Screen, Now Step-by-Step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It no longer shows 12 products at once</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new-payment screen now starts with 'who is this for?'. Previously all 12 products appeared at once and parents had no idea where to start. Now they pick from Kids · 1:1 · Group · Business · Test Prep · Corporate and only the matching products remain.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Point the parent to the New Payment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Have them pick the audience first (Kids, 1:1, Group, Business, Test Prep, Corporate).</a:t>
            </a:r>
          </a:p>
          <a:p>
            <a:pPr>
              <a:lnSpc>
                <a:spcPct val="115000"/>
              </a:lnSpc>
              <a:spcAft>
                <a:spcPts val="300"/>
              </a:spcAft>
            </a:pPr>
            <a:r>
              <a:rPr sz="700" b="1">
                <a:solidFill>
                  <a:srgbClr val="4F46E5"/>
                </a:solidFill>
                <a:latin typeface="Malgun Gothic"/>
              </a:rPr>
              <a:t>● </a:t>
            </a:r>
            <a:r>
              <a:rPr sz="900">
                <a:solidFill>
                  <a:srgbClr val="334155"/>
                </a:solidFill>
                <a:latin typeface="Malgun Gothic"/>
              </a:rPr>
              <a:t>Only the products for that audience stay on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they want to compare everything, press See Full Price List.</a:t>
            </a:r>
          </a:p>
        </p:txBody>
      </p:sp>
      <p:sp>
        <p:nvSpPr>
          <p:cNvPr id="14" name="Rounded Rectangle 13"/>
          <p:cNvSpPr/>
          <p:nvPr/>
        </p:nvSpPr>
        <p:spPr>
          <a:xfrm>
            <a:off x="457200" y="5475884"/>
            <a:ext cx="5669280" cy="167358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768492"/>
            <a:ext cx="5394960" cy="134439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No product card or payment logic was changed — only what is displayed, so it is safe.</a:t>
            </a:r>
          </a:p>
          <a:p>
            <a:pPr>
              <a:lnSpc>
                <a:spcPct val="115000"/>
              </a:lnSpc>
              <a:spcAft>
                <a:spcPts val="100"/>
              </a:spcAft>
            </a:pPr>
            <a:r>
              <a:rPr sz="650" b="1">
                <a:solidFill>
                  <a:srgbClr val="4F46E5"/>
                </a:solidFill>
                <a:latin typeface="Malgun Gothic"/>
              </a:rPr>
              <a:t>● </a:t>
            </a:r>
            <a:r>
              <a:rPr sz="850">
                <a:solidFill>
                  <a:srgbClr val="334155"/>
                </a:solidFill>
                <a:latin typeface="Malgun Gothic"/>
              </a:rPr>
              <a:t>Verified counts: 3 initially (free trial, other, policy) → 4 when Kids is selected → 12 in full view.</a:t>
            </a:r>
          </a:p>
          <a:p>
            <a:pPr>
              <a:lnSpc>
                <a:spcPct val="115000"/>
              </a:lnSpc>
              <a:spcAft>
                <a:spcPts val="100"/>
              </a:spcAft>
            </a:pPr>
            <a:r>
              <a:rPr sz="650" b="1">
                <a:solidFill>
                  <a:srgbClr val="4F46E5"/>
                </a:solidFill>
                <a:latin typeface="Malgun Gothic"/>
              </a:rPr>
              <a:t>● </a:t>
            </a:r>
            <a:r>
              <a:rPr sz="850">
                <a:solidFill>
                  <a:srgbClr val="334155"/>
                </a:solidFill>
                <a:latin typeface="Malgun Gothic"/>
              </a:rPr>
              <a:t>See Full Price List was deliberately kept — hiding prices backfires.</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caller says 'I don't know which one to pick', just have them choose the audience first.</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70962"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532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532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550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Paymen…</a:t>
            </a:r>
          </a:p>
        </p:txBody>
      </p:sp>
      <p:sp>
        <p:nvSpPr>
          <p:cNvPr id="26" name="TextBox 25"/>
          <p:cNvSpPr txBox="1"/>
          <p:nvPr/>
        </p:nvSpPr>
        <p:spPr>
          <a:xfrm>
            <a:off x="432785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510735" y="2670048"/>
            <a:ext cx="13277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9303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930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94783"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audience</a:t>
            </a:r>
          </a:p>
        </p:txBody>
      </p:sp>
      <p:sp>
        <p:nvSpPr>
          <p:cNvPr id="31" name="TextBox 30"/>
          <p:cNvSpPr txBox="1"/>
          <p:nvPr/>
        </p:nvSpPr>
        <p:spPr>
          <a:xfrm>
            <a:off x="583844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02132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0362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3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053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Only the p…</a:t>
            </a:r>
          </a:p>
        </p:txBody>
      </p:sp>
      <p:sp>
        <p:nvSpPr>
          <p:cNvPr id="36" name="TextBox 35"/>
          <p:cNvSpPr txBox="1"/>
          <p:nvPr/>
        </p:nvSpPr>
        <p:spPr>
          <a:xfrm>
            <a:off x="767821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86109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4339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433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4514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See Full 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Sample Report Card for Parents Without an Account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Something to show in front of the login wall</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Until now there was nothing to show a prospective parent who had no account. The report-card screen now offers 'No account — view a sample report first', so you can show what the 5-axis scores + teacher comment + AI analysis look like without logging in.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During a consultation, open the report-card screen for the parent.</a:t>
            </a:r>
          </a:p>
          <a:p>
            <a:pPr>
              <a:lnSpc>
                <a:spcPct val="115000"/>
              </a:lnSpc>
              <a:spcAft>
                <a:spcPts val="300"/>
              </a:spcAft>
            </a:pPr>
            <a:r>
              <a:rPr sz="700" b="1">
                <a:solidFill>
                  <a:srgbClr val="4F46E5"/>
                </a:solidFill>
                <a:latin typeface="Malgun Gothic"/>
              </a:rPr>
              <a:t>● </a:t>
            </a:r>
            <a:r>
              <a:rPr sz="900">
                <a:solidFill>
                  <a:srgbClr val="334155"/>
                </a:solidFill>
                <a:latin typeface="Malgun Gothic"/>
              </a:rPr>
              <a:t>Press No account — view a sample report first.</a:t>
            </a:r>
          </a:p>
          <a:p>
            <a:pPr>
              <a:lnSpc>
                <a:spcPct val="115000"/>
              </a:lnSpc>
              <a:spcAft>
                <a:spcPts val="300"/>
              </a:spcAft>
            </a:pPr>
            <a:r>
              <a:rPr sz="700" b="1">
                <a:solidFill>
                  <a:srgbClr val="4F46E5"/>
                </a:solidFill>
                <a:latin typeface="Malgun Gothic"/>
              </a:rPr>
              <a:t>● </a:t>
            </a:r>
            <a:r>
              <a:rPr sz="900">
                <a:solidFill>
                  <a:srgbClr val="334155"/>
                </a:solidFill>
                <a:latin typeface="Malgun Gothic"/>
              </a:rPr>
              <a:t>Walk through the 5-axis scores, teacher comment and AI analysis together.</a:t>
            </a:r>
          </a:p>
          <a:p>
            <a:pPr>
              <a:lnSpc>
                <a:spcPct val="115000"/>
              </a:lnSpc>
              <a:spcAft>
                <a:spcPts val="300"/>
              </a:spcAft>
            </a:pPr>
            <a:r>
              <a:rPr sz="700" b="1">
                <a:solidFill>
                  <a:srgbClr val="4F46E5"/>
                </a:solidFill>
                <a:latin typeface="Malgun Gothic"/>
              </a:rPr>
              <a:t>● </a:t>
            </a:r>
            <a:r>
              <a:rPr sz="900">
                <a:solidFill>
                  <a:srgbClr val="334155"/>
                </a:solidFill>
                <a:latin typeface="Malgun Gothic"/>
              </a:rPr>
              <a:t>Close with 'this is what you'll receive for your child' and offer the trial.</a:t>
            </a:r>
          </a:p>
        </p:txBody>
      </p:sp>
      <p:sp>
        <p:nvSpPr>
          <p:cNvPr id="14" name="Rounded Rectangle 13"/>
          <p:cNvSpPr/>
          <p:nvPr/>
        </p:nvSpPr>
        <p:spPr>
          <a:xfrm>
            <a:off x="457200" y="5636361"/>
            <a:ext cx="5669280" cy="113659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 All values are examples. The title and top banner are marked 'Sample'.</a:t>
            </a:r>
          </a:p>
          <a:p>
            <a:pPr>
              <a:lnSpc>
                <a:spcPct val="115000"/>
              </a:lnSpc>
              <a:spcAft>
                <a:spcPts val="100"/>
              </a:spcAft>
            </a:pPr>
            <a:r>
              <a:rPr sz="650" b="1">
                <a:solidFill>
                  <a:srgbClr val="4F46E5"/>
                </a:solidFill>
                <a:latin typeface="Malgun Gothic"/>
              </a:rPr>
              <a:t>● </a:t>
            </a:r>
            <a:r>
              <a:rPr sz="850">
                <a:solidFill>
                  <a:srgbClr val="334155"/>
                </a:solidFill>
                <a:latin typeface="Malgun Gothic"/>
              </a:rPr>
              <a:t>Never remove that marking — if it is mistaken for a real record it becomes a trust problem.</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 sample uses no real student data. Use it for consultations only.</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Showing the sample report in the first three minutes of a consultation makes 'what do I actually get?' concrete and lifts trial conversion.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report-car…</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 account…</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Walk throu…</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Close with…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Side Menu Grouped into Categories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18 flat items → 4 groups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parent screen's left menu used to list 18 items flat, with no structure. It is now organised into four categories — My Child's Learning / Classes / Learning Tools / Payment &amp; Support (plus Other) — with headings only, so every item is still one click.</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Open the left menu on the parent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Check the four category headings and the items under each.</a:t>
            </a:r>
          </a:p>
          <a:p>
            <a:pPr>
              <a:lnSpc>
                <a:spcPct val="115000"/>
              </a:lnSpc>
              <a:spcAft>
                <a:spcPts val="300"/>
              </a:spcAft>
            </a:pPr>
            <a:r>
              <a:rPr sz="700" b="1">
                <a:solidFill>
                  <a:srgbClr val="4F46E5"/>
                </a:solidFill>
                <a:latin typeface="Malgun Gothic"/>
              </a:rPr>
              <a:t>● </a:t>
            </a:r>
            <a:r>
              <a:rPr sz="900">
                <a:solidFill>
                  <a:srgbClr val="334155"/>
                </a:solidFill>
                <a:latin typeface="Malgun Gothic"/>
              </a:rPr>
              <a:t>When helping a parent, refer to the group — e.g. 'look under Payment &amp; Support'.</a:t>
            </a:r>
          </a:p>
        </p:txBody>
      </p:sp>
      <p:sp>
        <p:nvSpPr>
          <p:cNvPr id="14" name="Rounded Rectangle 13"/>
          <p:cNvSpPr/>
          <p:nvPr/>
        </p:nvSpPr>
        <p:spPr>
          <a:xfrm>
            <a:off x="457200" y="5026914"/>
            <a:ext cx="5669280" cy="167358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319522"/>
            <a:ext cx="5394960" cy="134439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It is not an accordion — collapsing would add one extra click to every single item.</a:t>
            </a:r>
          </a:p>
          <a:p>
            <a:pPr>
              <a:lnSpc>
                <a:spcPct val="115000"/>
              </a:lnSpc>
              <a:spcAft>
                <a:spcPts val="100"/>
              </a:spcAft>
            </a:pPr>
            <a:r>
              <a:rPr sz="650" b="1">
                <a:solidFill>
                  <a:srgbClr val="4F46E5"/>
                </a:solidFill>
                <a:latin typeface="Malgun Gothic"/>
              </a:rPr>
              <a:t>● </a:t>
            </a:r>
            <a:r>
              <a:rPr sz="850">
                <a:solidFill>
                  <a:srgbClr val="334155"/>
                </a:solidFill>
                <a:latin typeface="Malgun Gothic"/>
              </a:rPr>
              <a:t>All 18 items are still there (verified — none disappeared).</a:t>
            </a:r>
          </a:p>
          <a:p>
            <a:pPr>
              <a:lnSpc>
                <a:spcPct val="115000"/>
              </a:lnSpc>
              <a:spcAft>
                <a:spcPts val="100"/>
              </a:spcAft>
            </a:pPr>
            <a:r>
              <a:rPr sz="650" b="1">
                <a:solidFill>
                  <a:srgbClr val="4F46E5"/>
                </a:solidFill>
                <a:latin typeface="Malgun Gothic"/>
              </a:rPr>
              <a:t>● </a:t>
            </a:r>
            <a:r>
              <a:rPr sz="850">
                <a:solidFill>
                  <a:srgbClr val="334155"/>
                </a:solidFill>
                <a:latin typeface="Malgun Gothic"/>
              </a:rPr>
              <a:t>Any item not assigned to a group is collected automatically under 'Other' so nothing vanishes silently.</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Naming the group first on a support call gets parents to the right place much faster.</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47871" y="2670048"/>
            <a:ext cx="141366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3016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301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3192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left menu</a:t>
            </a:r>
          </a:p>
        </p:txBody>
      </p:sp>
      <p:sp>
        <p:nvSpPr>
          <p:cNvPr id="26" name="TextBox 25"/>
          <p:cNvSpPr txBox="1"/>
          <p:nvPr/>
        </p:nvSpPr>
        <p:spPr>
          <a:xfrm>
            <a:off x="496153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14441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2671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6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284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category h…</a:t>
            </a:r>
          </a:p>
        </p:txBody>
      </p:sp>
      <p:sp>
        <p:nvSpPr>
          <p:cNvPr id="31" name="TextBox 30"/>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984187"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06648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When helpi…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Self-Service Password Reset (SMS verification)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self-help path that cuts parent enquiries</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Students and parents can now reset their own password without going through staff, from both the login modal and the report-card screen. A 6-digit SMS code is sent to the registered phone number; once verified, they set a new password immediately.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Point the parent to 🔑 Forgot your password? — Reset by SMS on the login or report-card screen.</a:t>
            </a:r>
          </a:p>
          <a:p>
            <a:pPr>
              <a:lnSpc>
                <a:spcPct val="115000"/>
              </a:lnSpc>
              <a:spcAft>
                <a:spcPts val="300"/>
              </a:spcAft>
            </a:pPr>
            <a:r>
              <a:rPr sz="700" b="1">
                <a:solidFill>
                  <a:srgbClr val="4F46E5"/>
                </a:solidFill>
                <a:latin typeface="Malgun Gothic"/>
              </a:rPr>
              <a:t>● </a:t>
            </a:r>
            <a:r>
              <a:rPr sz="900">
                <a:solidFill>
                  <a:srgbClr val="334155"/>
                </a:solidFill>
                <a:latin typeface="Malgun Gothic"/>
              </a:rPr>
              <a:t>They enter their ID and a 6-digit code goes to the registered phone number.</a:t>
            </a:r>
          </a:p>
          <a:p>
            <a:pPr>
              <a:lnSpc>
                <a:spcPct val="115000"/>
              </a:lnSpc>
              <a:spcAft>
                <a:spcPts val="300"/>
              </a:spcAft>
            </a:pPr>
            <a:r>
              <a:rPr sz="700" b="1">
                <a:solidFill>
                  <a:srgbClr val="4F46E5"/>
                </a:solidFill>
                <a:latin typeface="Malgun Gothic"/>
              </a:rPr>
              <a:t>● </a:t>
            </a:r>
            <a:r>
              <a:rPr sz="900">
                <a:solidFill>
                  <a:srgbClr val="334155"/>
                </a:solidFill>
                <a:latin typeface="Malgun Gothic"/>
              </a:rPr>
              <a:t>After verifying the code they set a new password right away.</a:t>
            </a:r>
          </a:p>
          <a:p>
            <a:pPr>
              <a:lnSpc>
                <a:spcPct val="115000"/>
              </a:lnSpc>
              <a:spcAft>
                <a:spcPts val="300"/>
              </a:spcAft>
            </a:pPr>
            <a:r>
              <a:rPr sz="700" b="1">
                <a:solidFill>
                  <a:srgbClr val="4F46E5"/>
                </a:solidFill>
                <a:latin typeface="Malgun Gothic"/>
              </a:rPr>
              <a:t>● </a:t>
            </a:r>
            <a:r>
              <a:rPr sz="900">
                <a:solidFill>
                  <a:srgbClr val="334155"/>
                </a:solidFill>
                <a:latin typeface="Malgun Gothic"/>
              </a:rPr>
              <a:t>If it says no number is registered, guide them to the KakaoTalk channel.</a:t>
            </a:r>
          </a:p>
        </p:txBody>
      </p:sp>
      <p:sp>
        <p:nvSpPr>
          <p:cNvPr id="14" name="Rounded Rectangle 13"/>
          <p:cNvSpPr/>
          <p:nvPr/>
        </p:nvSpPr>
        <p:spPr>
          <a:xfrm>
            <a:off x="457200" y="5796838"/>
            <a:ext cx="5669280" cy="1288161"/>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6089446"/>
            <a:ext cx="5394960" cy="958977"/>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The link now also exists on the report-card screen, so fewer parents get stuck there.</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KakaoTalk enquiry button stays — if self-service fails, it flows naturally into a conversation.</a:t>
            </a:r>
          </a:p>
        </p:txBody>
      </p:sp>
      <p:sp>
        <p:nvSpPr>
          <p:cNvPr id="17" name="Rounded Rectangle 16"/>
          <p:cNvSpPr/>
          <p:nvPr/>
        </p:nvSpPr>
        <p:spPr>
          <a:xfrm>
            <a:off x="365760" y="5568696"/>
            <a:ext cx="5646420" cy="1124712"/>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614416"/>
            <a:ext cx="5372100" cy="1033271"/>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Only accounts with a registered phone number actually work. Most accounts currently have no number on file, so coverage grows as numbers are filled in. The real fix is contact-data migration (Cafe24 sync), not code.</a:t>
            </a:r>
          </a:p>
        </p:txBody>
      </p:sp>
      <p:sp>
        <p:nvSpPr>
          <p:cNvPr id="19" name="Rounded Rectangle 18"/>
          <p:cNvSpPr/>
          <p:nvPr/>
        </p:nvSpPr>
        <p:spPr>
          <a:xfrm>
            <a:off x="6176772" y="5568696"/>
            <a:ext cx="5646420" cy="1124712"/>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614416"/>
            <a:ext cx="5372100" cy="1033271"/>
          </a:xfrm>
          <a:prstGeom prst="rect">
            <a:avLst/>
          </a:prstGeom>
          <a:noFill/>
        </p:spPr>
        <p:txBody>
          <a:bodyPr wrap="square" anchor="t">
            <a:spAutoFit/>
          </a:bodyPr>
          <a:lstStyle/>
          <a:p>
            <a:pPr algn="l">
              <a:lnSpc>
                <a:spcPct val="100000"/>
              </a:lnSpc>
            </a:pPr>
            <a:r>
              <a:rPr sz="950" b="0">
                <a:solidFill>
                  <a:srgbClr val="5B4A2A"/>
                </a:solidFill>
                <a:latin typeface="Malgun Gothic"/>
              </a:rPr>
              <a:t>💡 Tip · When a parent calls, register their number first. From then on they solve it themselves.</a:t>
            </a:r>
          </a:p>
        </p:txBody>
      </p:sp>
      <p:sp>
        <p:nvSpPr>
          <p:cNvPr id="21" name="Rectangle 20"/>
          <p:cNvSpPr/>
          <p:nvPr/>
        </p:nvSpPr>
        <p:spPr>
          <a:xfrm>
            <a:off x="7338974" y="3255264"/>
            <a:ext cx="3518611" cy="2240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393838" y="3310128"/>
            <a:ext cx="3408883" cy="2130552"/>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13685"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959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95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773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Forgot y…</a:t>
            </a:r>
          </a:p>
        </p:txBody>
      </p:sp>
      <p:sp>
        <p:nvSpPr>
          <p:cNvPr id="28" name="TextBox 27"/>
          <p:cNvSpPr txBox="1"/>
          <p:nvPr/>
        </p:nvSpPr>
        <p:spPr>
          <a:xfrm>
            <a:off x="424190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24781"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0707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0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0882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6-digit co…</a:t>
            </a:r>
          </a:p>
        </p:txBody>
      </p:sp>
      <p:sp>
        <p:nvSpPr>
          <p:cNvPr id="33" name="TextBox 32"/>
          <p:cNvSpPr txBox="1"/>
          <p:nvPr/>
        </p:nvSpPr>
        <p:spPr>
          <a:xfrm>
            <a:off x="608167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264554"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4685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68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64860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passwo…</a:t>
            </a:r>
          </a:p>
        </p:txBody>
      </p:sp>
      <p:sp>
        <p:nvSpPr>
          <p:cNvPr id="38" name="TextBox 37"/>
          <p:cNvSpPr txBox="1"/>
          <p:nvPr/>
        </p:nvSpPr>
        <p:spPr>
          <a:xfrm>
            <a:off x="792144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104327" y="2670048"/>
            <a:ext cx="15709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8662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866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88375"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KakaoTalk…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Unified Support Hours &amp; Channel Order (KakaoTalk first)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value across every screen</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Support hours previously appeared as 09-22 / 10-20 / 7 p.m. on different screens. They are now unified to 10:00–23:00 (closed weekends and public holidays). The KakaoTalk channel was also moved to first place, and the phone card now notes that KakaoTalk is faster.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On the Contact screen, confirm the card order is KakaoTalk → phone.</a:t>
            </a:r>
          </a:p>
          <a:p>
            <a:pPr>
              <a:lnSpc>
                <a:spcPct val="115000"/>
              </a:lnSpc>
              <a:spcAft>
                <a:spcPts val="300"/>
              </a:spcAft>
            </a:pPr>
            <a:r>
              <a:rPr sz="700" b="1">
                <a:solidFill>
                  <a:srgbClr val="4F46E5"/>
                </a:solidFill>
                <a:latin typeface="Malgun Gothic"/>
              </a:rPr>
              <a:t>● </a:t>
            </a:r>
            <a:r>
              <a:rPr sz="900">
                <a:solidFill>
                  <a:srgbClr val="334155"/>
                </a:solidFill>
                <a:latin typeface="Malgun Gothic"/>
              </a:rPr>
              <a:t>When advising parents, point them to the KakaoTalk channel first.</a:t>
            </a:r>
          </a:p>
          <a:p>
            <a:pPr>
              <a:lnSpc>
                <a:spcPct val="115000"/>
              </a:lnSpc>
              <a:spcAft>
                <a:spcPts val="300"/>
              </a:spcAft>
            </a:pPr>
            <a:r>
              <a:rPr sz="700" b="1">
                <a:solidFill>
                  <a:srgbClr val="4F46E5"/>
                </a:solidFill>
                <a:latin typeface="Malgun Gothic"/>
              </a:rPr>
              <a:t>● </a:t>
            </a:r>
            <a:r>
              <a:rPr sz="900">
                <a:solidFill>
                  <a:srgbClr val="334155"/>
                </a:solidFill>
                <a:latin typeface="Malgun Gothic"/>
              </a:rPr>
              <a:t>Quote support hours as 10:00–23:00 (closed weekends and holidays).</a:t>
            </a:r>
          </a:p>
        </p:txBody>
      </p:sp>
      <p:sp>
        <p:nvSpPr>
          <p:cNvPr id="14" name="Rounded Rectangle 13"/>
          <p:cNvSpPr/>
          <p:nvPr/>
        </p:nvSpPr>
        <p:spPr>
          <a:xfrm>
            <a:off x="457200" y="5187391"/>
            <a:ext cx="5669280" cy="167358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Key Points</a:t>
            </a:r>
          </a:p>
        </p:txBody>
      </p:sp>
      <p:sp>
        <p:nvSpPr>
          <p:cNvPr id="16" name="TextBox 15"/>
          <p:cNvSpPr txBox="1"/>
          <p:nvPr/>
        </p:nvSpPr>
        <p:spPr>
          <a:xfrm>
            <a:off x="594360" y="5479999"/>
            <a:ext cx="5394960" cy="1344396"/>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Places corrected: contact screen, home menu, FAQ (both languages), AI consultant fact block, student FAQ — all the same value now.</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unused fax number and placeholder phone numbers were deleted.</a:t>
            </a:r>
          </a:p>
          <a:p>
            <a:pPr>
              <a:lnSpc>
                <a:spcPct val="115000"/>
              </a:lnSpc>
              <a:spcAft>
                <a:spcPts val="100"/>
              </a:spcAft>
            </a:pPr>
            <a:r>
              <a:rPr sz="650" b="1">
                <a:solidFill>
                  <a:srgbClr val="4F46E5"/>
                </a:solidFill>
                <a:latin typeface="Malgun Gothic"/>
              </a:rPr>
              <a:t>● </a:t>
            </a:r>
            <a:r>
              <a:rPr sz="850">
                <a:solidFill>
                  <a:srgbClr val="334155"/>
                </a:solidFill>
                <a:latin typeface="Malgun Gothic"/>
              </a:rPr>
              <a:t>The AI consultant quotes the same hours and the same channel order.</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real operating hours change, all of these must be updated together. Changing only one brings the inconsistency straight back.</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If you need the Philippines call-centre numbers listed, provide the real ones — the previous placeholders were removed.</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contact.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98163" y="2670048"/>
            <a:ext cx="12417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8045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804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982211"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Contact</a:t>
            </a:r>
          </a:p>
        </p:txBody>
      </p:sp>
      <p:sp>
        <p:nvSpPr>
          <p:cNvPr id="28" name="TextBox 27"/>
          <p:cNvSpPr txBox="1"/>
          <p:nvPr/>
        </p:nvSpPr>
        <p:spPr>
          <a:xfrm>
            <a:off x="483991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022799"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0509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050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40684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 them…</a:t>
            </a:r>
          </a:p>
        </p:txBody>
      </p:sp>
      <p:sp>
        <p:nvSpPr>
          <p:cNvPr id="33" name="TextBox 32"/>
          <p:cNvSpPr txBox="1"/>
          <p:nvPr/>
        </p:nvSpPr>
        <p:spPr>
          <a:xfrm>
            <a:off x="66796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862572" y="2670048"/>
            <a:ext cx="172821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9448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448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24662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10:00–23:0…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9" name="Table 8"/>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3" name="Rounded Rectangle 12"/>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5" name="Rounded Rectangle 14"/>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7" name="Rounded Rectangle 16"/>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9" name="Rounded Rectangle 18"/>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21" name="Rounded Rectangle 20"/>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9" name="Rounded Rectangle 8"/>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5" name="Rounded Rectangle 14"/>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8" name="Rounded Rectangle 17"/>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21" name="Rounded Rectangle 20"/>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4" name="Rounded Rectangle 23"/>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31" name="Rounded Rectangle 30"/>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