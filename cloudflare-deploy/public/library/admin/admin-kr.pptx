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11827"/>
                </a:solidFill>
              </a:rPr>
              <a:t>관리자용 사용설명서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B5563"/>
                </a:solidFill>
              </a:rPr>
              <a:t>본사·사무실 직원용 · 관리자 페이지 mangoi.ai/admin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9E0B"/>
                </a:solidFill>
              </a:rPr>
              <a:t>2026-10-28 판 · 화면: 1~9장 2026-10-09 · 10장 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차례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들어가기 · 화면 둘러보기</a:t>
            </a:r>
          </a:p>
          <a:p>
            <a:pPr>
              <a:defRPr sz="1600"/>
            </a:pPr>
            <a:r>
              <a:t>2. 학생 명부 · 학생 등록</a:t>
            </a:r>
          </a:p>
          <a:p>
            <a:pPr>
              <a:defRPr sz="1600"/>
            </a:pPr>
            <a:r>
              <a:t>3. 오늘 수업</a:t>
            </a:r>
          </a:p>
          <a:p>
            <a:pPr>
              <a:defRPr sz="1600"/>
            </a:pPr>
            <a:r>
              <a:t>4. 수업 입력 (예약 등록 · 수강신청)</a:t>
            </a:r>
          </a:p>
          <a:p>
            <a:pPr>
              <a:defRPr sz="1600"/>
            </a:pPr>
            <a:r>
              <a:t>5. 수업 연기 · 변경</a:t>
            </a:r>
          </a:p>
          <a:p>
            <a:pPr>
              <a:defRPr sz="1600"/>
            </a:pPr>
            <a:r>
              <a:t>6. 수업 취소</a:t>
            </a:r>
          </a:p>
          <a:p>
            <a:pPr>
              <a:defRPr sz="1600"/>
            </a:pPr>
            <a:r>
              <a:t>7. 시간표 (주간·일간 스케줄)</a:t>
            </a:r>
          </a:p>
          <a:p>
            <a:pPr>
              <a:defRPr sz="1600"/>
            </a:pPr>
            <a:r>
              <a:t>8. 급여</a:t>
            </a:r>
          </a:p>
          <a:p>
            <a:pPr>
              <a:defRPr sz="1600"/>
            </a:pPr>
            <a:r>
              <a:t>9. 결재 · 매일보고</a:t>
            </a:r>
          </a:p>
          <a:p>
            <a:pPr>
              <a:defRPr sz="1600"/>
            </a:pPr>
            <a:r>
              <a:t>10. AI 컨텐츠 결제 (대리점)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11827"/>
                </a:solidFill>
              </a:rPr>
              <a:t>시작하기 전에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주소는 https://mangoi.ai/admin 입니다. (예전 주소 mangoi.co.kr 은 옛 서버라 이 기능이 없습니다)</a:t>
            </a:r>
          </a:p>
          <a:p>
            <a:pPr>
              <a:defRPr sz="1600"/>
            </a:pPr>
            <a:r>
              <a:t>• 수업 시각은 모두 한국 시간(KST) 입니다. 필리핀은 1시간 늦습니다 — KST 19:30 = PH 18:30.</a:t>
            </a:r>
          </a:p>
          <a:p>
            <a:pPr>
              <a:defRPr sz="1600"/>
            </a:pPr>
            <a:r>
              <a:t>• 계정마다 할 수 있는 일이 다릅니다. 수업 취소·매주 수업 나누기·학생 등록·급여는 본사 계정만 됩니다. 강사·지사·대리점 계정은 서버가 막습니다.</a:t>
            </a:r>
          </a:p>
          <a:p>
            <a:pPr>
              <a:defRPr sz="1600"/>
            </a:pPr>
            <a:r>
              <a:t>• 캡처 속 학생·강사·학원(Emma Kim, Teacher Anna, 샘플영어학원, demo001 …)과 숫자는 설명용 가짜 데이터입니다. 실제 화면에는 실제 이름과 숫자가 나옵니다.</a:t>
            </a:r>
          </a:p>
          <a:p>
            <a:pPr>
              <a:defRPr sz="1600"/>
            </a:pPr>
            <a:r>
              <a:t>• 빨간 상자 = 누를 곳입니다. 10장 그림의 번호(④⑤…)는 설명 글의 번호와 짝입니다.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1. 들어가기 · 화면 둘러보기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로그인하고, 왼쪽 메뉴와 검색으로 원하는 화면을 찾는 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1. 들어가기 · 화면 둘러보기 — 로그인</a:t>
            </a:r>
          </a:p>
        </p:txBody>
      </p:sp>
      <p:pic>
        <p:nvPicPr>
          <p:cNvPr id="3" name="Picture 2" descr="ko-c1-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mangoi.ai/admin 을 엽니다.</a:t>
            </a:r>
          </a:p>
          <a:p>
            <a:pPr>
              <a:spcAft>
                <a:spcPts val="600"/>
              </a:spcAft>
              <a:defRPr sz="1400"/>
            </a:pPr>
            <a:r>
              <a:t>• 아이디·비밀번호를 넣고 ✅ 로그인. 지문·Face ID 를 등록했다면 초록 버튼으로 들어갈 수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카카오톡 안에서 링크를 열면 로그인이 풀릴 수 있습니다 — 크롬으로 열어 주세요.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1. 들어가기 · 화면 둘러보기 — 첫 화면</a:t>
            </a:r>
          </a:p>
        </p:txBody>
      </p:sp>
      <p:pic>
        <p:nvPicPr>
          <p:cNvPr id="3" name="Picture 2" descr="ko-c1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맨 위 자주 쓰는 기능 타일에서 오늘 수업·결재함·수강신청 등으로 바로 갑니다.</a:t>
            </a:r>
          </a:p>
          <a:p>
            <a:pPr>
              <a:spcAft>
                <a:spcPts val="600"/>
              </a:spcAft>
              <a:defRPr sz="1400"/>
            </a:pPr>
            <a:r>
              <a:t>• 가운데 통합 검색에 학생·강사·학원·메뉴 이름을 치면 바로 찾아 줍니다.</a:t>
            </a:r>
          </a:p>
          <a:p>
            <a:pPr>
              <a:spcAft>
                <a:spcPts val="600"/>
              </a:spcAft>
              <a:defRPr sz="1400"/>
            </a:pPr>
            <a:r>
              <a:t>• 오른쪽 아래 AI 운영비서에게 말이나 글로 시킬 수도 있습니다(예: “오늘 수업 보여줘”).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1. 들어가기 · 화면 둘러보기 — 왼쪽 메뉴 7묶음과 메뉴 검색</a:t>
            </a:r>
          </a:p>
        </p:txBody>
      </p:sp>
      <p:pic>
        <p:nvPicPr>
          <p:cNvPr id="3" name="Picture 2" descr="ko-c1-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메뉴는 오늘 · 학생 · 강사 · 수업·콘텐츠 · 정산·매출 · 본사·지사·대리점 · 시스템 7묶음입니다. 맨 위 결재함은 따로 고정돼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왼쪽 위 🔍 메뉴 검색에 “급여”처럼 치면 그 메뉴만 남습니다.</a:t>
            </a:r>
          </a:p>
          <a:p>
            <a:pPr>
              <a:spcAft>
                <a:spcPts val="600"/>
              </a:spcAft>
              <a:defRPr sz="1400"/>
            </a:pPr>
            <a:r>
              <a:t>• ▸ 가 있는 메뉴는 누르면 그 안의 칸(손자 메뉴)이 펼쳐집니다.</a:t>
            </a:r>
          </a:p>
          <a:p>
            <a:pPr>
              <a:spcAft>
                <a:spcPts val="600"/>
              </a:spcAft>
              <a:defRPr sz="1400"/>
            </a:pPr>
            <a:r>
              <a:t>• 맨 아래 EN 으로 영어 화면, admin ▾ 에서 비밀번호 변경·로그아웃을 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2. 학생 명부 · 학생 등록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학생을 찾고, 새 학생 계정을 만들고, 학생 상세로 들어갑니다.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2. 학생 명부 · 학생 등록 — 학생 목록 열기</a:t>
            </a:r>
          </a:p>
        </p:txBody>
      </p:sp>
      <p:pic>
        <p:nvPicPr>
          <p:cNvPr id="3" name="Picture 2" descr="ko-c2-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메뉴 학생 › 학생 명부 → 🧮 불러오기.</a:t>
            </a:r>
          </a:p>
          <a:p>
            <a:pPr>
              <a:spcAft>
                <a:spcPts val="600"/>
              </a:spcAft>
              <a:defRPr sz="1400"/>
            </a:pPr>
            <a:r>
              <a:t>• 검색칸에 이름·아이디·학원명을 칩니다. 학원별로 거르려면 전체 대리점·학원 목록을 고릅니다.</a:t>
            </a:r>
          </a:p>
          <a:p>
            <a:pPr>
              <a:spcAft>
                <a:spcPts val="600"/>
              </a:spcAft>
              <a:defRPr sz="1400"/>
            </a:pPr>
            <a:r>
              <a:t>• 위 칩(전체·화상수업·AI 전용·미수강·확인 필요)으로 학생 종류를 거릅니다.</a:t>
            </a:r>
          </a:p>
          <a:p>
            <a:pPr>
              <a:spcAft>
                <a:spcPts val="600"/>
              </a:spcAft>
              <a:defRPr sz="1400"/>
            </a:pPr>
            <a:r>
              <a:t>• 칸 머리를 누르면 정렬, Shift+클릭으로 여러 칸 정렬.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2. 학생 명부 · 학생 등록 — 한 줄의 버튼 — 관련 칸에 붙어 있습니다</a:t>
            </a:r>
          </a:p>
        </p:txBody>
      </p:sp>
      <p:pic>
        <p:nvPicPr>
          <p:cNvPr id="3" name="Picture 2" descr="ko-c2-list-ac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학생 이름을 누르면 학생 상세로, 옆의 ✏️ 는 연락처 수정으로 갑니다.</a:t>
            </a:r>
          </a:p>
          <a:p>
            <a:pPr>
              <a:spcAft>
                <a:spcPts val="600"/>
              </a:spcAft>
              <a:defRPr sz="1400"/>
            </a:pPr>
            <a:r>
              <a:t>• 수강 종료일 칸 아래 🗓️ 종료·연장.</a:t>
            </a:r>
          </a:p>
          <a:p>
            <a:pPr>
              <a:spcAft>
                <a:spcPts val="600"/>
              </a:spcAft>
              <a:defRPr sz="1400"/>
            </a:pPr>
            <a:r>
              <a:t>• 예약 칸에 “주 2회 · 단건 1회”와 담당 강사 이름이 보이고, 그 아래 📅 스케줄 · ⏸ 연기·변경(예약이 있을 때만).</a:t>
            </a:r>
          </a:p>
          <a:p>
            <a:pPr>
              <a:spcAft>
                <a:spcPts val="600"/>
              </a:spcAft>
              <a:defRPr sz="1400"/>
            </a:pPr>
            <a:r>
              <a:t>• 수강신청 칸의 📚 수강신청은 그 학생으로 신청서를 미리 채워 줍니다.</a:t>
            </a:r>
          </a:p>
          <a:p>
            <a:pPr>
              <a:spcAft>
                <a:spcPts val="600"/>
              </a:spcAft>
              <a:defRPr sz="1400"/>
            </a:pPr>
            <a:r>
              <a:t>• (예전의 «상세보기» 칸은 없어졌습니다 — 2026-10-09)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2. 학생 명부 · 학생 등록 — «➕ 학생 등록» 누르기</a:t>
            </a:r>
          </a:p>
        </p:txBody>
      </p:sp>
      <p:pic>
        <p:nvPicPr>
          <p:cNvPr id="3" name="Picture 2" descr="ko-c2-add-butt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목록 위 ➕ 학생 등록을 누릅니다.</a:t>
            </a:r>
          </a:p>
          <a:p>
            <a:pPr>
              <a:spcAft>
                <a:spcPts val="600"/>
              </a:spcAft>
              <a:defRPr sz="1400"/>
            </a:pPr>
            <a:r>
              <a:t>• 먼저 이름으로 검색해 보세요. 이미 있는 학생이면 계정을 또 만들지 마세요(출석·포인트가 두 갈래가 됩니다).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2. 학생 명부 · 학생 등록 — 학생 정보 입력</a:t>
            </a:r>
          </a:p>
        </p:txBody>
      </p:sp>
      <p:pic>
        <p:nvPicPr>
          <p:cNvPr id="3" name="Picture 2" descr="ko-c2-register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아이디(필수) 4~20자 영문·숫자·밑줄, 소문자로.</a:t>
            </a:r>
          </a:p>
          <a:p>
            <a:pPr>
              <a:spcAft>
                <a:spcPts val="600"/>
              </a:spcAft>
              <a:defRPr sz="1400"/>
            </a:pPr>
            <a:r>
              <a:t>• 이름(필수). 비밀번호는 비워 두면 자동으로 만들어집니다.</a:t>
            </a:r>
          </a:p>
          <a:p>
            <a:pPr>
              <a:spcAft>
                <a:spcPts val="600"/>
              </a:spcAft>
              <a:defRPr sz="1400"/>
            </a:pPr>
            <a:r>
              <a:t>• 부모님 연락처를 꼭 넣으세요 — 수업 안내 문자가 이 번호로 갑니다.</a:t>
            </a:r>
          </a:p>
          <a:p>
            <a:pPr>
              <a:spcAft>
                <a:spcPts val="600"/>
              </a:spcAft>
              <a:defRPr sz="1400"/>
            </a:pPr>
            <a:r>
              <a:t>• 소속 대리점·학원은 몇 글자 치고 목록에서 고릅니다. ✅ 학생 등록.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2. 학생 명부 · 학생 등록 — 임시 비밀번호는 한 번만 보입니다</a:t>
            </a:r>
          </a:p>
        </p:txBody>
      </p:sp>
      <p:pic>
        <p:nvPicPr>
          <p:cNvPr id="3" name="Picture 2" descr="ko-c2-register-d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완료 줄과 임시 비밀번호가 뜹니다. 지금 복사해서 학부모님께 보내세요.</a:t>
            </a:r>
          </a:p>
          <a:p>
            <a:pPr>
              <a:spcAft>
                <a:spcPts val="600"/>
              </a:spcAft>
              <a:defRPr sz="1400"/>
            </a:pPr>
            <a:r>
              <a:t>• 창을 닫으면 다시 볼 수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2. 학생 명부 · 학생 등록 — 학생 상세 화면</a:t>
            </a:r>
          </a:p>
        </p:txBody>
      </p:sp>
      <p:pic>
        <p:nvPicPr>
          <p:cNvPr id="3" name="Picture 2" descr="ko-c2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왼쪽에 학생 요약(아이디·가입일·수강 종료·지사 …), 위에 탭이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탭: 개요 · 등록·수강 · 📅 스케줄 · 종료·연장 · 수업료 · 출결 · 평가서 · 연락처 · 교재 · 수업 녹화 등.</a:t>
            </a:r>
          </a:p>
          <a:p>
            <a:pPr>
              <a:spcAft>
                <a:spcPts val="600"/>
              </a:spcAft>
              <a:defRPr sz="1400"/>
            </a:pPr>
            <a:r>
              <a:t>• 수업을 넣고 미루고 바꾸는 일은 모두 📅 스케줄 탭에서 합니다(다음 장).</a:t>
            </a:r>
          </a:p>
          <a:p>
            <a:pPr>
              <a:spcAft>
                <a:spcPts val="600"/>
              </a:spcAft>
              <a:defRPr sz="1400"/>
            </a:pPr>
            <a:r>
              <a:t>• 위쪽 English 로 이 화면만 영어로 볼 수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3. 오늘 수업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오늘 열리는 모든 수업을 한 표로 보고, 바로 입장·참관·연기·변경합니다.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3. 오늘 수업 — 오늘 수업 표</a:t>
            </a:r>
          </a:p>
        </p:txBody>
      </p:sp>
      <p:pic>
        <p:nvPicPr>
          <p:cNvPr id="3" name="Picture 2" descr="ko-c3-tod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메뉴 오늘 › 오늘 수업 → 🔄 불러오기.</a:t>
            </a:r>
          </a:p>
          <a:p>
            <a:pPr>
              <a:spcAft>
                <a:spcPts val="600"/>
              </a:spcAft>
              <a:defRPr sz="1400"/>
            </a:pPr>
            <a:r>
              <a:t>• 위 칩이 상태별 개수입니다: 입장가능 · ⏸ 연기됨 · 종료.</a:t>
            </a:r>
          </a:p>
          <a:p>
            <a:pPr>
              <a:spcAft>
                <a:spcPts val="600"/>
              </a:spcAft>
              <a:defRPr sz="1400"/>
            </a:pPr>
            <a:r>
              <a:t>• 날짜를 바꾸면 다른 날 수업도 봅니다. 출처(망고아이/카페24)·학원·강사로 거를 수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카페24 수업은 망고아이 방이 없어 입장·참관이 안 됩니다(“카페24 수업 · 입장 불가”).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3. 오늘 수업 — 한 줄에서 바로 처리</a:t>
            </a:r>
          </a:p>
        </p:txBody>
      </p:sp>
      <p:pic>
        <p:nvPicPr>
          <p:cNvPr id="3" name="Picture 2" descr="ko-c3-today-mo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🚪 입장(보임) 수업에 실제로 들어갑니다(학생에게 보입니다).</a:t>
            </a:r>
          </a:p>
          <a:p>
            <a:pPr>
              <a:spcAft>
                <a:spcPts val="600"/>
              </a:spcAft>
              <a:defRPr sz="1400"/>
            </a:pPr>
            <a:r>
              <a:t>• 👁 참관 보이지 않게 지켜봅니다. 🔗 초대 링크 방 링크를 복사합니다.</a:t>
            </a:r>
          </a:p>
          <a:p>
            <a:pPr>
              <a:spcAft>
                <a:spcPts val="600"/>
              </a:spcAft>
              <a:defRPr sz="1400"/>
            </a:pPr>
            <a:r>
              <a:t>• 📅 연기·변경(빨간 상자) 이 수업 하루를 미루거나 바꾸거나 취소합니다 — 5장의 창과 같습니다.</a:t>
            </a:r>
          </a:p>
          <a:p>
            <a:pPr>
              <a:spcAft>
                <a:spcPts val="600"/>
              </a:spcAft>
              <a:defRPr sz="1400"/>
            </a:pPr>
            <a:r>
              <a:t>• 💬 메시지 그 학생에게 문자를 보냅니다.</a:t>
            </a:r>
          </a:p>
          <a:p>
            <a:pPr>
              <a:spcAft>
                <a:spcPts val="600"/>
              </a:spcAft>
              <a:defRPr sz="1400"/>
            </a:pPr>
            <a:r>
              <a:t>• 연기된 수업은 «⏸ 연기됨 — 새 날짜 미정» 과 📅 새 날짜로 버튼이 보입니다.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4. 수업 입력 (예약 등록 · 수강신청)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한 학생에게 수업을 넣는 두 가지 길: ① 학생 상세에서 바로 ② 수강신청서로(여러 명).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4. 수업 입력 (예약 등록 · 수강신청) — 학생 상세 › 📅 스케줄 탭</a:t>
            </a:r>
          </a:p>
        </p:txBody>
      </p:sp>
      <p:pic>
        <p:nvPicPr>
          <p:cNvPr id="3" name="Picture 2" descr="ko-c4-sched-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맨 위 다음 수업 카드에 날짜·시각·담당 강사가 보입니다.</a:t>
            </a:r>
          </a:p>
          <a:p>
            <a:pPr>
              <a:spcAft>
                <a:spcPts val="600"/>
              </a:spcAft>
              <a:defRPr sz="1400"/>
            </a:pPr>
            <a:r>
              <a:t>• “주 2회 · 월·수 19:30” 처럼 매주 묶음이 한 줄로 보이고, 아래에 앞으로 14일의 날짜 칩이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칩마다 강사 이름이 붙어 있어 대신 들어가는 강사도 바로 보입니다.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4. 수업 입력 (예약 등록 · 수강신청) — 정규수업(매주) 넣기</a:t>
            </a:r>
          </a:p>
        </p:txBody>
      </p:sp>
      <p:pic>
        <p:nvPicPr>
          <p:cNvPr id="3" name="Picture 2" descr="ko-c4-add-regul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아래 ➕ 수업 예약 등록에서 종류 = 정규수업(매주).</a:t>
            </a:r>
          </a:p>
          <a:p>
            <a:pPr>
              <a:spcAft>
                <a:spcPts val="600"/>
              </a:spcAft>
              <a:defRPr sz="1400"/>
            </a:pPr>
            <a:r>
              <a:t>• 요일을 모두 체크(예: 월 + 수), 시작일, 시작 시각(KST), 분(보통 20).</a:t>
            </a:r>
          </a:p>
          <a:p>
            <a:pPr>
              <a:spcAft>
                <a:spcPts val="600"/>
              </a:spcAft>
              <a:defRPr sz="1400"/>
            </a:pPr>
            <a:r>
              <a:t>• 담당 강사를 목록에서 고릅니다. 근무지(전체·홈·사무실)로 목록을 좁힐 수 있고, 퇴사 강사는 기본으로 감춰져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등록. “같은 시간에 이미 예약이 있습니다”가 뜨면 그 강사 일정을 먼저 확인하세요.</a:t>
            </a:r>
          </a:p>
          <a:p>
            <a:pPr>
              <a:spcAft>
                <a:spcPts val="600"/>
              </a:spcAft>
              <a:defRPr sz="1400"/>
            </a:pPr>
            <a:r>
              <a:t>• 예약을 만들면 강사와 학생이 방 코드 없이 같은 방으로 들어갑니다.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4. 수업 입력 (예약 등록 · 수강신청) — 하루짜리 수업(보강·체험·레벨테스트)</a:t>
            </a:r>
          </a:p>
        </p:txBody>
      </p:sp>
      <p:pic>
        <p:nvPicPr>
          <p:cNvPr id="3" name="Picture 2" descr="ko-c4-add-oneo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종류에서 보강수업 / 체험수업 / 레벨테스트를 고르면 요일 대신 날짜 하나를 고릅니다.</a:t>
            </a:r>
          </a:p>
          <a:p>
            <a:pPr>
              <a:spcAft>
                <a:spcPts val="600"/>
              </a:spcAft>
              <a:defRPr sz="1400"/>
            </a:pPr>
            <a:r>
              <a:t>• 색으로 구분됩니다: 정규 주황 · 보강 보라 · 체험 초록 · 레벨테스트 파랑.</a:t>
            </a:r>
          </a:p>
          <a:p>
            <a:pPr>
              <a:spcAft>
                <a:spcPts val="600"/>
              </a:spcAft>
              <a:defRPr sz="1400"/>
            </a:pPr>
            <a:r>
              <a:t>• 하루짜리는 “이 날 하루만” 표시가 붙고, 날짜가 지나면 «⌛ 지난 수업» 이 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4. 수업 입력 (예약 등록 · 수강신청) — 수강신청서로 넣기(여러 명 한 번에)</a:t>
            </a:r>
          </a:p>
        </p:txBody>
      </p:sp>
      <p:pic>
        <p:nvPicPr>
          <p:cNvPr id="3" name="Picture 2" descr="ko-c4-enroll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메뉴 학생 › 수강신청 → + 수강신청 등록.</a:t>
            </a:r>
          </a:p>
          <a:p>
            <a:pPr>
              <a:spcAft>
                <a:spcPts val="600"/>
              </a:spcAft>
              <a:defRPr sz="1400"/>
            </a:pPr>
            <a:r>
              <a:t>• 한 줄 = 학생 한 명: 아이디 · 레벨 구분 · 배정 우선순위(요일·시간 우선 / 강사 우선) · 요일 · 시간 · 수업 시간 · 시작일 · 수업 기간 · 학부모 연락처.</a:t>
            </a:r>
          </a:p>
          <a:p>
            <a:pPr>
              <a:spcAft>
                <a:spcPts val="600"/>
              </a:spcAft>
              <a:defRPr sz="1400"/>
            </a:pPr>
            <a:r>
              <a:t>• + 줄 추가로 여러 명, ✅ 일괄 등록. 엑셀·워드·카톡 양식으로 받아 채운 뒤 올릴 수도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등록하면 자동으로 확정되어 수업 기간만큼 수업이 만들어집니다(6개월이면 6개월치).</a:t>
            </a:r>
          </a:p>
          <a:p>
            <a:pPr>
              <a:spcAft>
                <a:spcPts val="600"/>
              </a:spcAft>
              <a:defRPr sz="1400"/>
            </a:pPr>
            <a:r>
              <a:t>• 학생이 같은 시각에 이미 수업이 있으면 그 날짜는 건너뛰고 알려 줍니다.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4. 수업 입력 (예약 등록 · 수강신청) — 신청서 목록</a:t>
            </a:r>
          </a:p>
        </p:txBody>
      </p:sp>
      <p:pic>
        <p:nvPicPr>
          <p:cNvPr id="3" name="Picture 2" descr="ko-c4-enroll-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상태: 대기 · 확정 · 수강중 · 취소 · 종료.</a:t>
            </a:r>
          </a:p>
          <a:p>
            <a:pPr>
              <a:spcAft>
                <a:spcPts val="600"/>
              </a:spcAft>
              <a:defRPr sz="1400"/>
            </a:pPr>
            <a:r>
              <a:t>• ▸ 확정 안 됨 / ⚙ 후속으로 확정 단계(학생 연결·강사 배정·수업 만들기)를 확인합니다.</a:t>
            </a:r>
          </a:p>
          <a:p>
            <a:pPr>
              <a:spcAft>
                <a:spcPts val="600"/>
              </a:spcAft>
              <a:defRPr sz="1400"/>
            </a:pPr>
            <a:r>
              <a:t>• ✕ 취소·↩ 되살리기는 6장을 보세요.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5. 수업 연기 ·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«연기» = 이번 한 번만 옮기기. «변경» = 이 회부터 앞으로 계속 바꾸기. 어디서 누르든 같은 창이 열립니다.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들어가는 곳 ① 날짜 칩</a:t>
            </a:r>
          </a:p>
        </p:txBody>
      </p:sp>
      <p:pic>
        <p:nvPicPr>
          <p:cNvPr id="3" name="Picture 2" descr="ko-c5-chip-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학생 상세 › 📅 스케줄에서 날짜 칩을 누르면 아래에 할 일이 펼쳐집니다.</a:t>
            </a:r>
          </a:p>
          <a:p>
            <a:pPr>
              <a:spcAft>
                <a:spcPts val="600"/>
              </a:spcAft>
              <a:defRPr sz="1400"/>
            </a:pPr>
            <a:r>
              <a:t>• 하루짜리 수업: ⏸ 연기 · ✏️ 변경 · ✕ 취소.</a:t>
            </a:r>
          </a:p>
          <a:p>
            <a:pPr>
              <a:spcAft>
                <a:spcPts val="600"/>
              </a:spcAft>
              <a:defRPr sz="1400"/>
            </a:pPr>
            <a:r>
              <a:t>• 매주 수업: “⏸ 연기 · ✏️ 변경 · ✕ 취소 — 이 날만” — 그 주 하루만 바꾸고 다른 주는 그대로 둡니다.</a:t>
            </a:r>
          </a:p>
          <a:p>
            <a:pPr>
              <a:spcAft>
                <a:spcPts val="600"/>
              </a:spcAft>
              <a:defRPr sz="1400"/>
            </a:pPr>
            <a:r>
              <a:t>• 그 옆 📅 날짜별로 나누기는 매주 묶음을 날짜마다 따로 된 수업으로 풀어 줍니다(본사 계정).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들어가는 곳 ② 요일별 보기</a:t>
            </a:r>
          </a:p>
        </p:txBody>
      </p:sp>
      <p:pic>
        <p:nvPicPr>
          <p:cNvPr id="3" name="Picture 2" descr="ko-c5-weekly-row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요일별 보기 · 연기/변경 ▾ 를 펼치면 수업 줄마다 ⏸ 연기 · ✏️ 변경 버튼이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누르면 앞으로 28일의 수업 날짜가 뜨고, 날짜를 고르면 같은 연기·변경 창이 열립니다.</a:t>
            </a:r>
          </a:p>
          <a:p>
            <a:pPr>
              <a:spcAft>
                <a:spcPts val="600"/>
              </a:spcAft>
              <a:defRPr sz="1400"/>
            </a:pPr>
            <a:r>
              <a:t>• 매주 시각 자체를 바꾸려면 묶음 줄의 ✏️ 매주 변경.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들어가는 곳 ③ 학생 목록 · 오늘 수업</a:t>
            </a:r>
          </a:p>
        </p:txBody>
      </p:sp>
      <p:pic>
        <p:nvPicPr>
          <p:cNvPr id="3" name="Picture 2" descr="ko-c5-pick-wind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학생 목록의 ⏸ 연기·변경, 오늘 수업의 📅 연기·변경도 같은 고르기 창을 엽니다.</a:t>
            </a:r>
          </a:p>
          <a:p>
            <a:pPr>
              <a:spcAft>
                <a:spcPts val="600"/>
              </a:spcAft>
              <a:defRPr sz="1400"/>
            </a:pPr>
            <a:r>
              <a:t>• “매주 수업 — 나눈 뒤 처리” 표시는 고르면 먼저 그 날을 떼어 낸 뒤 처리한다는 뜻입니다.</a:t>
            </a:r>
          </a:p>
          <a:p>
            <a:pPr>
              <a:spcAft>
                <a:spcPts val="600"/>
              </a:spcAft>
              <a:defRPr sz="1400"/>
            </a:pPr>
            <a:r>
              <a:t>• 카페24 매주 수업은 카페24에서 바꿔야 합니다(여기서 바꾸면 밤 동기화가 되돌립니다).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연기·변경 창</a:t>
            </a:r>
          </a:p>
        </p:txBody>
      </p:sp>
      <p:pic>
        <p:nvPicPr>
          <p:cNvPr id="3" name="Picture 2" descr="ko-c5-move-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맨 위: 학생 · 날짜 · 시각 · 강사.</a:t>
            </a:r>
          </a:p>
          <a:p>
            <a:pPr>
              <a:spcAft>
                <a:spcPts val="600"/>
              </a:spcAft>
              <a:defRPr sz="1400"/>
            </a:pPr>
            <a:r>
              <a:t>• 세 버튼: ⏸ 연기(이번 한 번) · 🔄 변경(앞으로 계속) · 수업 취소(본사 계정만).</a:t>
            </a:r>
          </a:p>
          <a:p>
            <a:pPr>
              <a:spcAft>
                <a:spcPts val="600"/>
              </a:spcAft>
              <a:defRPr sz="1400"/>
            </a:pPr>
            <a:r>
              <a:t>• 아래 사유는 기록에 남습니다(예: 학부모 연락). 실행 전에 확인창이 한 번 더 뜹니다.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연기 ① 지정한 날짜로</a:t>
            </a:r>
          </a:p>
        </p:txBody>
      </p:sp>
      <p:pic>
        <p:nvPicPr>
          <p:cNvPr id="3" name="Picture 2" descr="ko-c5-move-postpone-d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지정한 날짜로 연기 → 날짜 칩과 10분 단위 시각 칩을 고릅니다(목록에 없으면 아래 칸에 직접).</a:t>
            </a:r>
          </a:p>
          <a:p>
            <a:pPr>
              <a:spcAft>
                <a:spcPts val="600"/>
              </a:spcAft>
              <a:defRPr sz="1400"/>
            </a:pPr>
            <a:r>
              <a:t>• 이 시간 가능한 강사가 카드로 보입니다. 담당 강사가 안 되면 다른 강사를 고를 수 있습니다(본사 계정).</a:t>
            </a:r>
          </a:p>
          <a:p>
            <a:pPr>
              <a:spcAft>
                <a:spcPts val="600"/>
              </a:spcAft>
              <a:defRPr sz="1400"/>
            </a:pPr>
            <a:r>
              <a:t>• 안 되는 강사는 이유(다른 수업·휴가·대체 중)가 붙어 목록에서 빠집니다.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연기 ② 완전히 연기(날짜 미정)</a:t>
            </a:r>
          </a:p>
        </p:txBody>
      </p:sp>
      <p:pic>
        <p:nvPicPr>
          <p:cNvPr id="3" name="Picture 2" descr="ko-c5-move-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새 날짜를 아직 모를 때. 수업은 «⏸ 연기됨» 으로 남고 나중에 📅 새 날짜로를 눌러 정합니다.</a:t>
            </a:r>
          </a:p>
          <a:p>
            <a:pPr>
              <a:spcAft>
                <a:spcPts val="600"/>
              </a:spcAft>
              <a:defRPr sz="1400"/>
            </a:pPr>
            <a:r>
              <a:t>• 연기된 수업은 오늘 수업·학생 입장·결석 감지에서 빠집니다.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연기 ③ 끝에 보강(연기보강)</a:t>
            </a:r>
          </a:p>
        </p:txBody>
      </p:sp>
      <p:pic>
        <p:nvPicPr>
          <p:cNvPr id="3" name="Picture 2" descr="ko-c5-move-postpone-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이 회만 수업 끝(마지막 수업) 다음 수업일로 옮기고 «연기보강» 표시를 붙입니다. 날짜는 서버가 계산합니다.</a:t>
            </a:r>
          </a:p>
          <a:p>
            <a:pPr>
              <a:spcAft>
                <a:spcPts val="600"/>
              </a:spcAft>
              <a:defRPr sz="1400"/>
            </a:pPr>
            <a:r>
              <a:t>• 다른 회차는 그대로입니다.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변경(앞으로 계속)</a:t>
            </a:r>
          </a:p>
        </p:txBody>
      </p:sp>
      <p:pic>
        <p:nvPicPr>
          <p:cNvPr id="3" name="Picture 2" descr="ko-c5-move-cha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새 요일·시각을 고르면 앞으로 옮겨질 회차 목록을 미리 보여 줍니다(“앞으로 6회를 옮깁니다”).</a:t>
            </a:r>
          </a:p>
          <a:p>
            <a:pPr>
              <a:spcAft>
                <a:spcPts val="600"/>
              </a:spcAft>
              <a:defRPr sz="1400"/>
            </a:pPr>
            <a:r>
              <a:t>• 자리가 겹치는 날이 하나라도 있으면 아무것도 옮기지 않고 그 날짜를 알려 줍니다.</a:t>
            </a:r>
          </a:p>
          <a:p>
            <a:pPr>
              <a:spcAft>
                <a:spcPts val="600"/>
              </a:spcAft>
              <a:defRPr sz="1400"/>
            </a:pPr>
            <a:r>
              <a:t>• 미리보기를 확인한 뒤 실행.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결과는 캘린더에서 확인</a:t>
            </a:r>
          </a:p>
        </p:txBody>
      </p:sp>
      <p:pic>
        <p:nvPicPr>
          <p:cNvPr id="3" name="Picture 2" descr="ko-c5-calendar-wee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📅 스케줄 탭 아래 주간/월간 캘린더. 카드마다 종류 색과 담당 강사 이름이 보입니다.</a:t>
            </a:r>
          </a:p>
          <a:p>
            <a:pPr>
              <a:spcAft>
                <a:spcPts val="600"/>
              </a:spcAft>
              <a:defRPr sz="1400"/>
            </a:pPr>
            <a:r>
              <a:t>• 카드를 누르면 그 날 수업의 연기·변경 창이 바로 열립니다.</a:t>
            </a:r>
          </a:p>
          <a:p>
            <a:pPr>
              <a:spcAft>
                <a:spcPts val="600"/>
              </a:spcAft>
              <a:defRPr sz="1400"/>
            </a:pPr>
            <a:r>
              <a:t>• 공휴일(KR/PH)도 표시됩니다.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월간 캘린더</a:t>
            </a:r>
          </a:p>
        </p:txBody>
      </p:sp>
      <p:pic>
        <p:nvPicPr>
          <p:cNvPr id="3" name="Picture 2" descr="ko-c5-calendar-mon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월간을 누르면 한 달이 한 눈에 보입니다.</a:t>
            </a:r>
          </a:p>
          <a:p>
            <a:pPr>
              <a:spcAft>
                <a:spcPts val="600"/>
              </a:spcAft>
              <a:defRPr sz="1400"/>
            </a:pPr>
            <a:r>
              <a:t>• 신청서만 있고 실제 수업이 없는 경우 캘린더에 그리지 않고 위에 «안 그린 N건» 으로 알려 줍니다.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5. 수업 연기 · 변경 — 연기·변경 기록(요청함)</a:t>
            </a:r>
          </a:p>
        </p:txBody>
      </p:sp>
      <p:pic>
        <p:nvPicPr>
          <p:cNvPr id="3" name="Picture 2" descr="ko-c5-reques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메뉴 오늘 › 연기·변경. 강사·학생이 보낸 요청과 관리자가 한 처리가 시간과 함께 남습니다.</a:t>
            </a:r>
          </a:p>
          <a:p>
            <a:pPr>
              <a:spcAft>
                <a:spcPts val="600"/>
              </a:spcAft>
              <a:defRPr sz="1400"/>
            </a:pPr>
            <a:r>
              <a:t>• 학생의 무료 연기·변경은 승인 없이 바로 시간표에 반영되고 여기에는 기록으로 남습니다.</a:t>
            </a:r>
          </a:p>
          <a:p>
            <a:pPr>
              <a:spcAft>
                <a:spcPts val="600"/>
              </a:spcAft>
              <a:defRPr sz="1400"/>
            </a:pPr>
            <a:r>
              <a:t>• 대기 중 요청은 ✅ 승인 / 반려. 승인하면 일정에 자동 반영됩니다.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6. 수업 취소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취소는 되돌리기 어렵습니다. 본사 계정만 할 수 있고, 실행 전에 한 번 더 묻습니다.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6. 수업 취소 — 하루 취소</a:t>
            </a:r>
          </a:p>
        </p:txBody>
      </p:sp>
      <p:pic>
        <p:nvPicPr>
          <p:cNvPr id="3" name="Picture 2" descr="ko-c6-move-canc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연기·변경 창에서 수업 취소 → 사유 → 실행 → 확인.</a:t>
            </a:r>
          </a:p>
          <a:p>
            <a:pPr>
              <a:spcAft>
                <a:spcPts val="600"/>
              </a:spcAft>
              <a:defRPr sz="1400"/>
            </a:pPr>
            <a:r>
              <a:t>• 하루짜리 수업은 그 수업만, 매주 수업은 그 날만 떼어 내 취소합니다(다른 주는 그대로).</a:t>
            </a:r>
          </a:p>
          <a:p>
            <a:pPr>
              <a:spcAft>
                <a:spcPts val="600"/>
              </a:spcAft>
              <a:defRPr sz="1400"/>
            </a:pPr>
            <a:r>
              <a:t>• 이미 연기된 수업도 ✕ 이 수업 취소로 취소할 수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취소한 기록은 지워지지 않고 남습니다.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6. 수업 취소 — 수강신청 취소 → 남은 수업도 함께 종료</a:t>
            </a:r>
          </a:p>
        </p:txBody>
      </p:sp>
      <p:pic>
        <p:nvPicPr>
          <p:cNvPr id="3" name="Picture 2" descr="ko-c4-enroll-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수강신청 목록의 ✕ 취소: 그 신청이 만든 앞으로의 수업도 함께 끝납니다(“남은 수업 N건 종료”).</a:t>
            </a:r>
          </a:p>
          <a:p>
            <a:pPr>
              <a:spcAft>
                <a:spcPts val="600"/>
              </a:spcAft>
              <a:defRPr sz="1400"/>
            </a:pPr>
            <a:r>
              <a:t>• 날짜 없는 매주 반복 줄은 그대로 둡니다 — 급여 계산 때문입니다. 그 줄은 학생 › 📅 스케줄에서 따로 정리하세요.</a:t>
            </a:r>
          </a:p>
          <a:p>
            <a:pPr>
              <a:spcAft>
                <a:spcPts val="600"/>
              </a:spcAft>
              <a:defRPr sz="1400"/>
            </a:pPr>
            <a:r>
              <a:t>• ↩ 되살리기: 이번 취소로 끝난 수업 중 아직 안 지난 것을, 겹치지 않을 때만 되살립니다. 되살리지 못한 수업은 스케줄에서 손으로 넣으세요.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7. 시간표 (주간·일간 스케줄)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모든 강사의 수업을 한 판에서 보고, 끌어서 옮깁니다. 실수 방지를 위해 기본은 «잠김» 입니다.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7. 시간표 (주간·일간 스케줄) — 주간 전체 스케줄</a:t>
            </a:r>
          </a:p>
        </p:txBody>
      </p:sp>
      <p:pic>
        <p:nvPicPr>
          <p:cNvPr id="3" name="Picture 2" descr="ko-c7-week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289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메뉴 강사 › 시간표·근무. 가로 = 시간, 세로 = 강사.</a:t>
            </a:r>
          </a:p>
          <a:p>
            <a:pPr>
              <a:spcAft>
                <a:spcPts val="600"/>
              </a:spcAft>
              <a:defRPr sz="1400"/>
            </a:pPr>
            <a:r>
              <a:t>• 색: 정규 주황 · 그룹 분홍 · 보강 보라 · 체험 초록 · 레벨테스트 파랑 · 휴무 빗금.</a:t>
            </a:r>
          </a:p>
          <a:p>
            <a:pPr>
              <a:spcAft>
                <a:spcPts val="600"/>
              </a:spcAft>
              <a:defRPr sz="1400"/>
            </a:pPr>
            <a:r>
              <a:t>• 위 숫자: 총 수업 · 정규 · 활동 교사 · 빈 슬롯. 빈자리 찾기로 비어 있는 시간을 찾습니다.</a:t>
            </a:r>
          </a:p>
          <a:p>
            <a:pPr>
              <a:spcAft>
                <a:spcPts val="600"/>
              </a:spcAft>
              <a:defRPr sz="1400"/>
            </a:pPr>
            <a:r>
              <a:t>• 오른쪽 위 🔒 잠김 — 잠긴 동안은 끌어도 바뀌지 않습니다.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7. 시간표 (주간·일간 스케줄) — 편집 켜기</a:t>
            </a:r>
          </a:p>
        </p:txBody>
      </p:sp>
      <p:pic>
        <p:nvPicPr>
          <p:cNvPr id="3" name="Picture 2" descr="ko-c7-weekly-ed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289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🔒 잠김을 누르면 ✏️ 편집 중 3:00. 3분 동안 아무 저장이 없으면 다시 잠깁니다.</a:t>
            </a:r>
          </a:p>
          <a:p>
            <a:pPr>
              <a:spcAft>
                <a:spcPts val="600"/>
              </a:spcAft>
              <a:defRPr sz="1400"/>
            </a:pPr>
            <a:r>
              <a:t>• 저장한 뒤 15초 동안 «되돌리기»가 나옵니다. 실수했으면 바로 누르세요.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7. 시간표 (주간·일간 스케줄) — 일간 보기 · 끌어서 옮기기</a:t>
            </a:r>
          </a:p>
        </p:txBody>
      </p:sp>
      <p:pic>
        <p:nvPicPr>
          <p:cNvPr id="3" name="Picture 2" descr="ko-c7-dai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289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일간(또는 사이드바 «시간표·근무» 첫 화면)은 오늘 하루를 크게 보여 줍니다.</a:t>
            </a:r>
          </a:p>
          <a:p>
            <a:pPr>
              <a:spcAft>
                <a:spcPts val="600"/>
              </a:spcAft>
              <a:defRPr sz="1400"/>
            </a:pPr>
            <a:r>
              <a:t>• 학생 카드를 끌어 다른 시간·다른 강사 칸에 놓으면 “연기할까요, 변경할까요?” 를 묻습니다.</a:t>
            </a:r>
          </a:p>
          <a:p>
            <a:pPr>
              <a:spcAft>
                <a:spcPts val="600"/>
              </a:spcAft>
              <a:defRPr sz="1400"/>
            </a:pPr>
            <a:r>
              <a:t>• 연기 = 그 날만, 변경 = 앞으로 계속.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7. 시간표 (주간·일간 스케줄) — 오른쪽 클릭 메뉴</a:t>
            </a:r>
          </a:p>
        </p:txBody>
      </p:sp>
      <p:pic>
        <p:nvPicPr>
          <p:cNvPr id="3" name="Picture 2" descr="ko-c7-weekly-ct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2891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수업 칸을 오른쪽 클릭: 상세보기 · 수업 연기 · 수업 변경 · 시간 변경 · 삭제.</a:t>
            </a:r>
          </a:p>
          <a:p>
            <a:pPr>
              <a:spcAft>
                <a:spcPts val="600"/>
              </a:spcAft>
              <a:defRPr sz="1400"/>
            </a:pPr>
            <a:r>
              <a:t>• 연기·변경 창에서 10분 단위로 시각을 고릅니다.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8. 급여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강사 급여는 실제 수업 기록으로 자동 계산됩니다. 단위는 ₱(필리핀 페소)입니다.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8. 급여 — 강사 급여 자동 정산 — 계산</a:t>
            </a:r>
          </a:p>
        </p:txBody>
      </p:sp>
      <p:pic>
        <p:nvPicPr>
          <p:cNvPr id="3" name="Picture 2" descr="ko-c8-pay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메뉴 강사 › 급여 → 💼 강사 급여 자동 정산.</a:t>
            </a:r>
          </a:p>
          <a:p>
            <a:pPr>
              <a:spcAft>
                <a:spcPts val="600"/>
              </a:spcAft>
              <a:defRPr sz="1400"/>
            </a:pPr>
            <a:r>
              <a:t>• 정산 월(연·월)을 고르고 🔍 계산.</a:t>
            </a:r>
          </a:p>
          <a:p>
            <a:pPr>
              <a:spcAft>
                <a:spcPts val="600"/>
              </a:spcAft>
              <a:defRPr sz="1400"/>
            </a:pPr>
            <a:r>
              <a:t>• 계산식: 수업 시간 ÷ 10분 × 10분 단가를 수업마다 더합니다. 등급별 단가(예: Teacher 1 = ₱50/20분, Teacher 2 = ₱70/20분).</a:t>
            </a:r>
          </a:p>
          <a:p>
            <a:pPr>
              <a:spcAft>
                <a:spcPts val="600"/>
              </a:spcAft>
              <a:defRPr sz="1400"/>
            </a:pPr>
            <a:r>
              <a:t>• 위 요약: 강사 수 · 총 수업 · 공제 · 실지급 · 지급 완료 수. ₩ 원화로 보기로 환율 환산도 볼 수 있습니다.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8. 급여 — 강사별 표</a:t>
            </a:r>
          </a:p>
        </p:txBody>
      </p:sp>
      <p:pic>
        <p:nvPicPr>
          <p:cNvPr id="3" name="Picture 2" descr="ko-c8-payroll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강사마다: 등급(요율) · 수업 수 · 총 분 · 10분 단가 · 수업료 · 공제 · 실지급액.</a:t>
            </a:r>
          </a:p>
          <a:p>
            <a:pPr>
              <a:spcAft>
                <a:spcPts val="600"/>
              </a:spcAft>
              <a:defRPr sz="1400"/>
            </a:pPr>
            <a:r>
              <a:t>• 등급은 이 표에서 바로 바꿀 수 있습니다(다음 계산부터 반영).</a:t>
            </a:r>
          </a:p>
          <a:p>
            <a:pPr>
              <a:spcAft>
                <a:spcPts val="600"/>
              </a:spcAft>
              <a:defRPr sz="1400"/>
            </a:pPr>
            <a:r>
              <a:t>• 조정 금액을 넣고 💾 전체 저장, 지급하면 ✅ 지급 완료.</a:t>
            </a:r>
          </a:p>
          <a:p>
            <a:pPr>
              <a:spcAft>
                <a:spcPts val="600"/>
              </a:spcAft>
              <a:defRPr sz="1400"/>
            </a:pPr>
            <a:r>
              <a:t>• 📥 CSV 다운로드로 엑셀에 받습니다. «카페24» 배지는 카페24 월간 집계에서 온 값입니다.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8. 급여 — 수업 한 건씩 보기(📋 상세)</a:t>
            </a:r>
          </a:p>
        </p:txBody>
      </p:sp>
      <p:pic>
        <p:nvPicPr>
          <p:cNvPr id="3" name="Picture 2" descr="ko-c8-payroll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강사 줄의 📋 상세: 수업 날짜·학생·상태·분·수업료·피드백·지각(분)·공제가 한 줄씩 나옵니다.</a:t>
            </a:r>
          </a:p>
          <a:p>
            <a:pPr>
              <a:spcAft>
                <a:spcPts val="600"/>
              </a:spcAft>
              <a:defRPr sz="1400"/>
            </a:pPr>
            <a:r>
              <a:t>• 학생 결석 · 강사 미입장 · 피드백 미작성 수가 위에 요약됩니다.</a:t>
            </a:r>
          </a:p>
          <a:p>
            <a:pPr>
              <a:spcAft>
                <a:spcPts val="600"/>
              </a:spcAft>
              <a:defRPr sz="1400"/>
            </a:pPr>
            <a:r>
              <a:t>• 지각 분은 여기서 직접 입력할 수 있습니다.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8. 급여 — 공제 규칙과 연기 수업 지급률</a:t>
            </a:r>
          </a:p>
        </p:txBody>
      </p:sp>
      <p:pic>
        <p:nvPicPr>
          <p:cNvPr id="3" name="Picture 2" descr="ko-c8-payroll-ru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⚙️ 공제 규칙에서 등급 요율과 공제 금액을 고칩니다. 저장 후 다시 🔍 계산.</a:t>
            </a:r>
          </a:p>
          <a:p>
            <a:pPr>
              <a:spcAft>
                <a:spcPts val="600"/>
              </a:spcAft>
              <a:defRPr sz="1400"/>
            </a:pPr>
            <a:r>
              <a:t>• 당일 피드백 미작성 −₱25/수업 · 지각 연장 실패 −₱10/분 · 강사 미입장.</a:t>
            </a:r>
          </a:p>
          <a:p>
            <a:pPr>
              <a:spcAft>
                <a:spcPts val="600"/>
              </a:spcAft>
              <a:defRPr sz="1400"/>
            </a:pPr>
            <a:r>
              <a:t>• 학생 결석 지급률(기본 0%), 연기 수업 지급률(기본 100%), 사전 연기(시작 30분보다 이전) 지급률(기본 0%).</a:t>
            </a:r>
          </a:p>
          <a:p>
            <a:pPr>
              <a:spcAft>
                <a:spcPts val="600"/>
              </a:spcAft>
              <a:defRPr sz="1400"/>
            </a:pPr>
            <a:r>
              <a:t>• 즉 수업 직전(30분 이내) 연기는 수업료가 나가고, 미리 연기한 수업은 나가지 않습니다(기본값 기준).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9. 결재 · 매일보고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돈이 나가는 일은 결재로, 하루 업무는 매일보고로.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9. 결재 · 매일보고 — 결재함</a:t>
            </a:r>
          </a:p>
        </p:txBody>
      </p:sp>
      <p:pic>
        <p:nvPicPr>
          <p:cNvPr id="3" name="Picture 2" descr="ko-c9-approv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왼쪽 메뉴 맨 위 결재함(숫자 = 내가 결재할 건수).</a:t>
            </a:r>
          </a:p>
          <a:p>
            <a:pPr>
              <a:spcAft>
                <a:spcPts val="600"/>
              </a:spcAft>
              <a:defRPr sz="1400"/>
            </a:pPr>
            <a:r>
              <a:t>• 내가 결재할 것: 내용·금액·첨부를 보고 승인 / 반려. 점검을 통과한 건은 한 번에 승인할 수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₱5,000 이상 물품·지출은 결재권자 → 대표 2단계입니다. 그 미만은 결재권자가 결재하고 대표는 «확인» 만 합니다.</a:t>
            </a:r>
          </a:p>
          <a:p>
            <a:pPr>
              <a:spcAft>
                <a:spcPts val="600"/>
              </a:spcAft>
              <a:defRPr sz="1400"/>
            </a:pPr>
            <a:r>
              <a:t>• AI 영수증 판독이 엉터리로 보이면(날짜가 너무 옛날 등) 자동 반려하지 않고 노란 표시만 합니다.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9. 결재 · 매일보고 — 매일보고</a:t>
            </a:r>
          </a:p>
        </p:txBody>
      </p:sp>
      <p:pic>
        <p:nvPicPr>
          <p:cNvPr id="3" name="Picture 2" descr="ko-c9-hand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451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/daily-handover (관리자 첫 화면 배너에서도 들어갑니다).</a:t>
            </a:r>
          </a:p>
          <a:p>
            <a:pPr>
              <a:spcAft>
                <a:spcPts val="600"/>
              </a:spcAft>
              <a:defRPr sz="1400"/>
            </a:pPr>
            <a:r>
              <a:t>• 내 보고 작성: 오늘 한 일 · 문제 · 후속 조치 → 받는 사람 → 확인 후 전달. 녹음해서 입력도 됩니다.</a:t>
            </a:r>
          </a:p>
          <a:p>
            <a:pPr>
              <a:spcAft>
                <a:spcPts val="600"/>
              </a:spcAft>
              <a:defRPr sz="1400"/>
            </a:pPr>
            <a:r>
              <a:t>• 받은 보고는 «한국어로 번역» 버튼으로 읽을 수 있습니다.</a:t>
            </a:r>
          </a:p>
          <a:p>
            <a:pPr>
              <a:spcAft>
                <a:spcPts val="600"/>
              </a:spcAft>
              <a:defRPr sz="1400"/>
            </a:pPr>
            <a:r>
              <a:t>• 결재가 필요한 줄은 AI 가 알려 주고 결재로 옮기기로 바로 결재를 올립니다.</a:t>
            </a:r>
          </a:p>
          <a:p>
            <a:pPr>
              <a:spcAft>
                <a:spcPts val="600"/>
              </a:spcAft>
              <a:defRPr sz="1400"/>
            </a:pPr>
            <a:r>
              <a:t>• 근무일에 안 쓰면 다음 날 아침 본인과 대표에게 알림이 갑니다(공휴일 제외).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</a:rPr>
              <a:t>10. AI 컨텐츠 결제 (대리점)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B5563"/>
                </a:solidFill>
              </a:rPr>
              <a:t>대리점(학원)이 다음 달에 A.i 를 쓸 학생을 골라 이번 달 말일까지 카드로 미리 냅니다. 결제는 대리점 계정만 합니다 — 본사 직원은 문의를 받을 때 이 흐름을 알아 두세요. 대리점에 보낼 4쪽 안내서는 자료실 «🤖 A.i 컨텐츠 결제 안내서» 입니다.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10. AI 컨텐츠 결제 (대리점) — 대리점 로그인 · 메뉴 열기</a:t>
            </a:r>
          </a:p>
        </p:txBody>
      </p:sp>
      <p:pic>
        <p:nvPicPr>
          <p:cNvPr id="3" name="Picture 2" descr="ko-p2-me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2670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대리점 아이디로 mangoi.ai/admin/login 에 로그인하면 대리점 화면이 열립니다.</a:t>
            </a:r>
          </a:p>
          <a:p>
            <a:pPr>
              <a:spcAft>
                <a:spcPts val="600"/>
              </a:spcAft>
              <a:defRPr sz="1400"/>
            </a:pPr>
            <a:r>
              <a:t>• ④ 왼쪽 메뉴 정산통계관리 › 🤖 AI 컨텐츠 결제. 이 메뉴는 대리점 계정에만 보입니다(본사·지사 계정에는 없습니다).</a:t>
            </a:r>
          </a:p>
          <a:p>
            <a:pPr>
              <a:spcAft>
                <a:spcPts val="600"/>
              </a:spcAft>
              <a:defRPr sz="1400"/>
            </a:pPr>
            <a:r>
              <a:t>• 본사는 정산·매출 › 🏢 AI 사용료(A.i 학습 사용료 관리)에서 학원별 인원·예상 청구액을 보고, 예외 단가를 정하고, 자동 청구 켜기/끄기를 합니다. 결제 버튼은 거기에 없습니다.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10. AI 컨텐츠 결제 (대리점) — 학생 명단 불러오기</a:t>
            </a:r>
          </a:p>
        </p:txBody>
      </p:sp>
      <p:pic>
        <p:nvPicPr>
          <p:cNvPr id="3" name="Picture 2" descr="ko-p3-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38401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위의 결제 마감(이번 달 말일 · D-남은 날)을 확인합니다. 결제하는 것은 다음 달 이용분입니다.</a:t>
            </a:r>
          </a:p>
          <a:p>
            <a:pPr>
              <a:spcAft>
                <a:spcPts val="600"/>
              </a:spcAft>
              <a:defRPr sz="1400"/>
            </a:pPr>
            <a:r>
              <a:t>• 숫자 칸: A.i 이용 신청(결제 대상) · 아직 신청 안 함 · 화상영어(포함) — 화상영어 학생은 수업료에 A.i 가 포함돼 여기서 결제하지 않습니다.</a:t>
            </a:r>
          </a:p>
          <a:p>
            <a:pPr>
              <a:spcAft>
                <a:spcPts val="600"/>
              </a:spcAft>
              <a:defRPr sz="1400"/>
            </a:pPr>
            <a:r>
              <a:t>• ⑤ 우리 학원 학생 불러와서 고르기는 명단만 불러옵니다. 이때는 아무것도 결제되지 않습니다.</a:t>
            </a:r>
          </a:p>
          <a:p>
            <a:pPr>
              <a:spcAft>
                <a:spcPts val="600"/>
              </a:spcAft>
              <a:defRPr sz="1400"/>
            </a:pPr>
            <a:r>
              <a:t>• 본사가 자동 청구를 아직 켜지 않았으면 «본사가 아직 A.i 컨텐츠 결제를 열지 않았습니다(테스트 기간)» 만 보입니다 — 고장이 아닙니다.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10. AI 컨텐츠 결제 (대리점) — 다음 달에 쓸 학생 고르기</a:t>
            </a:r>
          </a:p>
        </p:txBody>
      </p:sp>
      <p:pic>
        <p:nvPicPr>
          <p:cNvPr id="3" name="Picture 2" descr="ko-p4-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3284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⑥ 결제 대상에 체크된 학생만 결제됩니다. 그만둔 학생은 체크를 풀면 결제 전에 빠집니다.</a:t>
            </a:r>
          </a:p>
          <a:p>
            <a:pPr>
              <a:spcAft>
                <a:spcPts val="600"/>
              </a:spcAft>
              <a:defRPr sz="1400"/>
            </a:pPr>
            <a:r>
              <a:t>• 이름·아이디로 찾을 수 있고, 보이는 학생 모두 빼기 / 모두 선택으로 한 번에 바꿉니다(몇 명이 바뀌는지 먼저 묻습니다).</a:t>
            </a:r>
          </a:p>
          <a:p>
            <a:pPr>
              <a:spcAft>
                <a:spcPts val="600"/>
              </a:spcAft>
              <a:defRPr sz="1400"/>
            </a:pPr>
            <a:r>
              <a:t>• 체크를 바꿀 때마다 금액은 서버가 다시 계산합니다.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10. AI 컨텐츠 결제 (대리점) — 아직 신청 안 한 학생 · 화상영어 학생</a:t>
            </a:r>
          </a:p>
        </p:txBody>
      </p:sp>
      <p:pic>
        <p:nvPicPr>
          <p:cNvPr id="3" name="Picture 2" descr="ko-p4-noty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1845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799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⑦ 아직 신청 안 한 학생 중 다음 달에 쓸 학생을 체크하면 결제 대상에 들어갑니다.</a:t>
            </a:r>
          </a:p>
          <a:p>
            <a:pPr>
              <a:spcAft>
                <a:spcPts val="600"/>
              </a:spcAft>
              <a:defRPr sz="1400"/>
            </a:pPr>
            <a:r>
              <a:t>• 📹 화상영어 수업 학생은 접혀 있습니다. A.i 가 수업료에 포함돼 고르지 않습니다 — 판정이 틀린 학생만 체크합니다.</a:t>
            </a:r>
          </a:p>
          <a:p>
            <a:pPr>
              <a:spcAft>
                <a:spcPts val="600"/>
              </a:spcAft>
              <a:defRPr sz="1400"/>
            </a:pPr>
            <a:r>
              <a:t>• 학원이 직접 바꾼 학생에는 «✔ 학원 확인» 표시가 붙고, 그 뒤로는 자동 분류가 바꾸지 않습니다.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10. AI 컨텐츠 결제 (대리점) — 금액 확인 · 카드 결제</a:t>
            </a:r>
          </a:p>
        </p:txBody>
      </p:sp>
      <p:pic>
        <p:nvPicPr>
          <p:cNvPr id="3" name="Picture 2" descr="ko-p5-p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32298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⑧ 합계 인원·금액을 확인하고 ⑨ OOO원 결제하기 → 확인창 → 토스 카드 결제창에서 결제합니다.</a:t>
            </a:r>
          </a:p>
          <a:p>
            <a:pPr>
              <a:spcAft>
                <a:spcPts val="600"/>
              </a:spcAft>
              <a:defRPr sz="1400"/>
            </a:pPr>
            <a:r>
              <a:t>• 1명 단가(한 달): 20명 이하 7,500원 · 21~50명 6,500원 · 51~70명 5,500원 · 71명 이상 4,500원. 최소 청구는 없습니다(2026-10-26부터).</a:t>
            </a:r>
          </a:p>
          <a:p>
            <a:pPr>
              <a:spcAft>
                <a:spcPts val="600"/>
              </a:spcAft>
              <a:defRPr sz="1400"/>
            </a:pPr>
            <a:r>
              <a:t>• 인원이 늘어도 총액은 줄지 않게 계산됩니다(예: 21~23명은 150,000원). 금액은 결제하는 순간 서버가 다시 계산합니다 — 화면 숫자는 표시용입니다. 본사가 «예외 단가»를 정한 학원은 그 단가 × 인원입니다.</a:t>
            </a:r>
          </a:p>
          <a:p>
            <a:pPr>
              <a:spcAft>
                <a:spcPts val="600"/>
              </a:spcAft>
              <a:defRPr sz="1400"/>
            </a:pPr>
            <a:r>
              <a:t>• 시연 계정(testagency)은 결제창이 열리지 않습니다(예시 데이터).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11827"/>
                </a:solidFill>
              </a:rPr>
              <a:t>10. AI 컨텐츠 결제 (대리점) — 결제 확인 · 추가 결제</a:t>
            </a:r>
          </a:p>
        </p:txBody>
      </p:sp>
      <p:pic>
        <p:nvPicPr>
          <p:cNvPr id="3" name="Picture 2" descr="ko-p6-d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7223760" cy="10114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960120"/>
            <a:ext cx="4114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⑩ 지난 결제에 ✅ 가 있으면 결제 완료입니다. 결제가 끝나면 «결제가 완료됐습니다» 가 뜨고 낸 학생은 위에 고정됩니다.</a:t>
            </a:r>
          </a:p>
          <a:p>
            <a:pPr>
              <a:spcAft>
                <a:spcPts val="600"/>
              </a:spcAft>
              <a:defRPr sz="1400"/>
            </a:pPr>
            <a:r>
              <a:t>• 같은 달에 학생을 더 넣으면 아래에서 체크하고 추가 결제 — 늘어난 학생 몫만 냅니다.</a:t>
            </a:r>
          </a:p>
          <a:p>
            <a:pPr>
              <a:spcAft>
                <a:spcPts val="600"/>
              </a:spcAft>
              <a:defRPr sz="1400"/>
            </a:pPr>
            <a:r>
              <a:t>• 이미 결제한 학생은 화면에서 빼거나 바꿀 수 없습니다. 환불은 본사가 처리합니다.</a:t>
            </a:r>
          </a:p>
          <a:p>
            <a:pPr>
              <a:spcAft>
                <a:spcPts val="600"/>
              </a:spcAft>
              <a:defRPr sz="1400"/>
            </a:pPr>
            <a:r>
              <a:t>• 아직 안 낸 지난 달이 있으면 맨 위에 «⚠️ 아직 결제하지 않은 달이 있습니다» 버튼이 나옵니다.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