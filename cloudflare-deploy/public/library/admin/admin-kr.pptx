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오늘 매출(만원)</c:v>
                </c:pt>
                <c:pt idx="1">
                  <c:v>재원생(명)</c:v>
                </c:pt>
                <c:pt idx="2">
                  <c:v>출석률(%)</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강사</c:v>
                </c:pt>
                <c:pt idx="1">
                  <c:v>회계</c:v>
                </c:pt>
                <c:pt idx="2">
                  <c:v>학생</c:v>
                </c:pt>
                <c:pt idx="3">
                  <c:v>콘텐츠</c:v>
                </c:pt>
                <c:pt idx="4">
                  <c:v>시스템</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안전</c:v>
                </c:pt>
                <c:pt idx="1">
                  <c:v>주의</c:v>
                </c:pt>
                <c:pt idx="2">
                  <c:v>위험</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관리자용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학원 운영의 모든 것 · 한 권으로</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학원 원장·본사·운영 관리자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관리자 페이지란?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관리자 페이지는 학생·강사·결제·학부모·콘텐츠까지 학원 운영에 필요한 모든 기능을 한 화면에 모은 곳이에요. 특히 AI 운영비서에게 말이나 글로 시키면 원하는 화면을 열고 조회·처리까지 대신 해줘서 운영이 훨씬 빨라져요. 권한(역할)에 따라 보이는 메뉴와 데이터 범위가 자동으로 달라져요.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운영비서</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말/글로 시키면 찾아주고 처리해요.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기능 검색 · 카드 메뉴</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이름 일부만 적어도 바로 이동.</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리텐션 센터</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이탈위험·전염·정산·강사코칭 허브.</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조직 정산</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본사→지사→대리점 자동 정산.</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오늘의 핵심 지표(예시)</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차례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소개</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a:t>
            </a:r>
          </a:p>
        </p:txBody>
      </p:sp>
      <p:sp>
        <p:nvSpPr>
          <p:cNvPr id="9" name="Rounded Rectangle 8"/>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관리자 로그인 &amp; 권한</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a:t>
            </a:r>
          </a:p>
        </p:txBody>
      </p:sp>
      <p:sp>
        <p:nvSpPr>
          <p:cNvPr id="13" name="Rounded Rectangle 12"/>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대시보드 &amp; 기능 검색</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6</a:t>
            </a:r>
          </a:p>
        </p:txBody>
      </p:sp>
      <p:sp>
        <p:nvSpPr>
          <p:cNvPr id="17" name="Rounded Rectangle 16"/>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운영비서</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7</a:t>
            </a:r>
          </a:p>
        </p:txBody>
      </p:sp>
      <p:sp>
        <p:nvSpPr>
          <p:cNvPr id="21" name="Rounded Rectangle 20"/>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화상수업 입장 구조 이해</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8</a:t>
            </a:r>
          </a:p>
        </p:txBody>
      </p:sp>
      <p:sp>
        <p:nvSpPr>
          <p:cNvPr id="25" name="Rounded Rectangle 24"/>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교실 화면 구조 이해</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9</a:t>
            </a:r>
          </a:p>
        </p:txBody>
      </p:sp>
      <p:sp>
        <p:nvSpPr>
          <p:cNvPr id="29" name="Rounded Rectangle 28"/>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교실 도구 이해 (지원용)</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10</a:t>
            </a:r>
          </a:p>
        </p:txBody>
      </p:sp>
      <p:sp>
        <p:nvSpPr>
          <p:cNvPr id="33" name="Rounded Rectangle 32"/>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중 칭찬 포인트 (지급·누적)</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11</a:t>
            </a:r>
          </a:p>
        </p:txBody>
      </p:sp>
      <p:sp>
        <p:nvSpPr>
          <p:cNvPr id="37" name="Rounded Rectangle 36"/>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강사 통합 관리</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12</a:t>
            </a:r>
          </a:p>
        </p:txBody>
      </p:sp>
      <p:sp>
        <p:nvSpPr>
          <p:cNvPr id="41" name="Rounded Rectangle 40"/>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회계 · 포인트 관리</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13</a:t>
            </a:r>
          </a:p>
        </p:txBody>
      </p:sp>
      <p:sp>
        <p:nvSpPr>
          <p:cNvPr id="45" name="Rounded Rectangle 44"/>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포인트·리워드 정책 관리</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14</a:t>
            </a:r>
          </a:p>
        </p:txBody>
      </p:sp>
      <p:sp>
        <p:nvSpPr>
          <p:cNvPr id="49" name="Rounded Rectangle 48"/>
          <p:cNvSpPr/>
          <p:nvPr/>
        </p:nvSpPr>
        <p:spPr>
          <a:xfrm>
            <a:off x="411480"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환불 규정 · 처리</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15</a:t>
            </a:r>
          </a:p>
        </p:txBody>
      </p:sp>
      <p:sp>
        <p:nvSpPr>
          <p:cNvPr id="53" name="Rounded Rectangle 52"/>
          <p:cNvSpPr/>
          <p:nvPr/>
        </p:nvSpPr>
        <p:spPr>
          <a:xfrm>
            <a:off x="411480"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 학부모 관리</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16</a:t>
            </a:r>
          </a:p>
        </p:txBody>
      </p:sp>
      <p:sp>
        <p:nvSpPr>
          <p:cNvPr id="57" name="Rounded Rectangle 56"/>
          <p:cNvSpPr/>
          <p:nvPr/>
        </p:nvSpPr>
        <p:spPr>
          <a:xfrm>
            <a:off x="411480" y="50474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마이페이지</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17</a:t>
            </a:r>
          </a:p>
        </p:txBody>
      </p:sp>
      <p:sp>
        <p:nvSpPr>
          <p:cNvPr id="61" name="Rounded Rectangle 60"/>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예약 관리</a:t>
            </a:r>
          </a:p>
        </p:txBody>
      </p:sp>
      <p:sp>
        <p:nvSpPr>
          <p:cNvPr id="64" name="TextBox 6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18</a:t>
            </a:r>
          </a:p>
        </p:txBody>
      </p:sp>
      <p:sp>
        <p:nvSpPr>
          <p:cNvPr id="65" name="Rounded Rectangle 64"/>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연기 관리</a:t>
            </a:r>
          </a:p>
        </p:txBody>
      </p:sp>
      <p:sp>
        <p:nvSpPr>
          <p:cNvPr id="68" name="TextBox 6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19</a:t>
            </a:r>
          </a:p>
        </p:txBody>
      </p:sp>
      <p:sp>
        <p:nvSpPr>
          <p:cNvPr id="69" name="Rounded Rectangle 68"/>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교육 · 커리큘럼 관리</a:t>
            </a:r>
          </a:p>
        </p:txBody>
      </p:sp>
      <p:sp>
        <p:nvSpPr>
          <p:cNvPr id="72" name="TextBox 7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20</a:t>
            </a:r>
          </a:p>
        </p:txBody>
      </p:sp>
      <p:sp>
        <p:nvSpPr>
          <p:cNvPr id="73" name="Rounded Rectangle 72"/>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리텐션 센터</a:t>
            </a:r>
          </a:p>
        </p:txBody>
      </p:sp>
      <p:sp>
        <p:nvSpPr>
          <p:cNvPr id="76" name="TextBox 7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21</a:t>
            </a:r>
          </a:p>
        </p:txBody>
      </p:sp>
      <p:sp>
        <p:nvSpPr>
          <p:cNvPr id="77" name="Rounded Rectangle 76"/>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조직 정산 · 월간 리포트</a:t>
            </a:r>
          </a:p>
        </p:txBody>
      </p:sp>
      <p:sp>
        <p:nvSpPr>
          <p:cNvPr id="80" name="TextBox 7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22</a:t>
            </a:r>
          </a:p>
        </p:txBody>
      </p:sp>
      <p:sp>
        <p:nvSpPr>
          <p:cNvPr id="81" name="Rounded Rectangle 80"/>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고객센터 · FAQ 운영</a:t>
            </a:r>
          </a:p>
        </p:txBody>
      </p:sp>
      <p:sp>
        <p:nvSpPr>
          <p:cNvPr id="84" name="TextBox 8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23</a:t>
            </a:r>
          </a:p>
        </p:txBody>
      </p:sp>
      <p:sp>
        <p:nvSpPr>
          <p:cNvPr id="85" name="Rounded Rectangle 84"/>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한국·필리핀 듀얼 시계</a:t>
            </a:r>
          </a:p>
        </p:txBody>
      </p:sp>
      <p:sp>
        <p:nvSpPr>
          <p:cNvPr id="88" name="TextBox 8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24</a:t>
            </a:r>
          </a:p>
        </p:txBody>
      </p:sp>
      <p:sp>
        <p:nvSpPr>
          <p:cNvPr id="89" name="Rounded Rectangle 88"/>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중국어 발음 코치</a:t>
            </a:r>
          </a:p>
        </p:txBody>
      </p:sp>
      <p:sp>
        <p:nvSpPr>
          <p:cNvPr id="92" name="TextBox 9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25</a:t>
            </a:r>
          </a:p>
        </p:txBody>
      </p:sp>
      <p:sp>
        <p:nvSpPr>
          <p:cNvPr id="93" name="Rounded Rectangle 92"/>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공지 스튜디오 (포스터 + 팝업)</a:t>
            </a:r>
          </a:p>
        </p:txBody>
      </p:sp>
      <p:sp>
        <p:nvSpPr>
          <p:cNvPr id="96" name="TextBox 9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26</a:t>
            </a:r>
          </a:p>
        </p:txBody>
      </p:sp>
      <p:sp>
        <p:nvSpPr>
          <p:cNvPr id="97" name="Rounded Rectangle 96"/>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운영비서에게 시키기</a:t>
            </a:r>
          </a:p>
        </p:txBody>
      </p:sp>
      <p:sp>
        <p:nvSpPr>
          <p:cNvPr id="100" name="TextBox 9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27</a:t>
            </a:r>
          </a:p>
        </p:txBody>
      </p:sp>
      <p:sp>
        <p:nvSpPr>
          <p:cNvPr id="101" name="Rounded Rectangle 100"/>
          <p:cNvSpPr/>
          <p:nvPr/>
        </p:nvSpPr>
        <p:spPr>
          <a:xfrm>
            <a:off x="6141567"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음성 일기 모니터</a:t>
            </a:r>
          </a:p>
        </p:txBody>
      </p:sp>
      <p:sp>
        <p:nvSpPr>
          <p:cNvPr id="104" name="TextBox 103"/>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28</a:t>
            </a:r>
          </a:p>
        </p:txBody>
      </p:sp>
      <p:sp>
        <p:nvSpPr>
          <p:cNvPr id="105" name="Rounded Rectangle 104"/>
          <p:cNvSpPr/>
          <p:nvPr/>
        </p:nvSpPr>
        <p:spPr>
          <a:xfrm>
            <a:off x="6141567"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강사 AI 코칭 검수(운영)</a:t>
            </a:r>
          </a:p>
        </p:txBody>
      </p:sp>
      <p:sp>
        <p:nvSpPr>
          <p:cNvPr id="108" name="TextBox 107"/>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29</a:t>
            </a:r>
          </a:p>
        </p:txBody>
      </p:sp>
      <p:sp>
        <p:nvSpPr>
          <p:cNvPr id="109" name="Rounded Rectangle 108"/>
          <p:cNvSpPr/>
          <p:nvPr/>
        </p:nvSpPr>
        <p:spPr>
          <a:xfrm>
            <a:off x="6141567"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QR 출결 체크</a:t>
            </a:r>
          </a:p>
        </p:txBody>
      </p:sp>
      <p:sp>
        <p:nvSpPr>
          <p:cNvPr id="112" name="TextBox 111"/>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30</a:t>
            </a:r>
          </a:p>
        </p:txBody>
      </p:sp>
      <p:sp>
        <p:nvSpPr>
          <p:cNvPr id="113" name="Rounded Rectangle 112"/>
          <p:cNvSpPr/>
          <p:nvPr/>
        </p:nvSpPr>
        <p:spPr>
          <a:xfrm>
            <a:off x="6141567" y="50474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상담 예약 관리</a:t>
            </a:r>
          </a:p>
        </p:txBody>
      </p:sp>
      <p:sp>
        <p:nvSpPr>
          <p:cNvPr id="116" name="TextBox 115"/>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차례  (2/2)</a:t>
            </a:r>
          </a:p>
        </p:txBody>
      </p:sp>
      <p:sp>
        <p:nvSpPr>
          <p:cNvPr id="7" name="Rounded Rectangle 6"/>
          <p:cNvSpPr/>
          <p:nvPr/>
        </p:nvSpPr>
        <p:spPr>
          <a:xfrm>
            <a:off x="411480"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친구 추천 보상 관리</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32</a:t>
            </a:r>
          </a:p>
        </p:txBody>
      </p:sp>
      <p:sp>
        <p:nvSpPr>
          <p:cNvPr id="11" name="Rounded Rectangle 10"/>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연기·변경 요청 승인 처리</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33</a:t>
            </a:r>
          </a:p>
        </p:txBody>
      </p:sp>
      <p:sp>
        <p:nvSpPr>
          <p:cNvPr id="15" name="Rounded Rectangle 14"/>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자료실 카카오톡 링크 공유</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34</a:t>
            </a:r>
          </a:p>
        </p:txBody>
      </p:sp>
      <p:sp>
        <p:nvSpPr>
          <p:cNvPr id="19" name="Rounded Rectangle 18"/>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수강 등록 · 결제 → 수업 자동 생성</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35</a:t>
            </a:r>
          </a:p>
        </p:txBody>
      </p:sp>
      <p:sp>
        <p:nvSpPr>
          <p:cNvPr id="23" name="Rounded Rectangle 22"/>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관찰 (라이브 참관)</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36</a:t>
            </a:r>
          </a:p>
        </p:txBody>
      </p:sp>
      <p:sp>
        <p:nvSpPr>
          <p:cNvPr id="27" name="Rounded Rectangle 26"/>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새로워진 관리자 화면</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37</a:t>
            </a:r>
          </a:p>
        </p:txBody>
      </p:sp>
      <p:sp>
        <p:nvSpPr>
          <p:cNvPr id="31" name="Rounded Rectangle 30"/>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화면 언어가 자동으로 맞춰져요</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38</a:t>
            </a:r>
          </a:p>
        </p:txBody>
      </p:sp>
      <p:sp>
        <p:nvSpPr>
          <p:cNvPr id="35" name="Rounded Rectangle 34"/>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판단력 훈련 운영 (학생 판단력 지수)</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39</a:t>
            </a:r>
          </a:p>
        </p:txBody>
      </p:sp>
      <p:sp>
        <p:nvSpPr>
          <p:cNvPr id="39" name="Rounded Rectangle 38"/>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강사 계정 관리 (비밀번호 재설정 · 접근 제한)</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40</a:t>
            </a:r>
          </a:p>
        </p:txBody>
      </p:sp>
      <p:sp>
        <p:nvSpPr>
          <p:cNvPr id="43" name="Rounded Rectangle 42"/>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강사 통합 관리 개편 (명부 필터 · 그룹 · 상세 탭)</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41</a:t>
            </a:r>
          </a:p>
        </p:txBody>
      </p:sp>
      <p:sp>
        <p:nvSpPr>
          <p:cNvPr id="47" name="Rounded Rectangle 46"/>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월간 성적표 (오각형) 발송</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42</a:t>
            </a:r>
          </a:p>
        </p:txBody>
      </p:sp>
      <p:sp>
        <p:nvSpPr>
          <p:cNvPr id="51" name="Rounded Rectangle 50"/>
          <p:cNvSpPr/>
          <p:nvPr/>
        </p:nvSpPr>
        <p:spPr>
          <a:xfrm>
            <a:off x="411480"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53" name="TextBox 52"/>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주간 리포트 (재등록을 잇는 무기)</a:t>
            </a:r>
          </a:p>
        </p:txBody>
      </p:sp>
      <p:sp>
        <p:nvSpPr>
          <p:cNvPr id="54" name="TextBox 53"/>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43</a:t>
            </a:r>
          </a:p>
        </p:txBody>
      </p:sp>
      <p:sp>
        <p:nvSpPr>
          <p:cNvPr id="55" name="Rounded Rectangle 54"/>
          <p:cNvSpPr/>
          <p:nvPr/>
        </p:nvSpPr>
        <p:spPr>
          <a:xfrm>
            <a:off x="411480"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57" name="TextBox 56"/>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홈 첫 화면 개편 (처음 온 학부모 · 기존 회원 자동 분리)</a:t>
            </a:r>
          </a:p>
        </p:txBody>
      </p:sp>
      <p:sp>
        <p:nvSpPr>
          <p:cNvPr id="58" name="TextBox 57"/>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44</a:t>
            </a:r>
          </a:p>
        </p:txBody>
      </p:sp>
      <p:sp>
        <p:nvSpPr>
          <p:cNvPr id="59" name="Rounded Rectangle 58"/>
          <p:cNvSpPr/>
          <p:nvPr/>
        </p:nvSpPr>
        <p:spPr>
          <a:xfrm>
            <a:off x="411480" y="50474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61" name="TextBox 60"/>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관리자 화면이 훨씬 빨라졌어요</a:t>
            </a:r>
          </a:p>
        </p:txBody>
      </p:sp>
      <p:sp>
        <p:nvSpPr>
          <p:cNvPr id="62" name="TextBox 61"/>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45</a:t>
            </a:r>
          </a:p>
        </p:txBody>
      </p:sp>
      <p:sp>
        <p:nvSpPr>
          <p:cNvPr id="63" name="Rounded Rectangle 62"/>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65" name="TextBox 64"/>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학원 검색칸 (이름으로 바로 찾기)</a:t>
            </a:r>
          </a:p>
        </p:txBody>
      </p:sp>
      <p:sp>
        <p:nvSpPr>
          <p:cNvPr id="66" name="TextBox 65"/>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46</a:t>
            </a:r>
          </a:p>
        </p:txBody>
      </p:sp>
      <p:sp>
        <p:nvSpPr>
          <p:cNvPr id="67" name="Rounded Rectangle 66"/>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69" name="TextBox 68"/>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강사 명부 첫 열 고정 · 샘플 수업 만들기</a:t>
            </a:r>
          </a:p>
        </p:txBody>
      </p:sp>
      <p:sp>
        <p:nvSpPr>
          <p:cNvPr id="70" name="TextBox 69"/>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47</a:t>
            </a:r>
          </a:p>
        </p:txBody>
      </p:sp>
      <p:sp>
        <p:nvSpPr>
          <p:cNvPr id="71" name="Rounded Rectangle 70"/>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44</a:t>
            </a:r>
          </a:p>
        </p:txBody>
      </p:sp>
      <p:sp>
        <p:nvSpPr>
          <p:cNvPr id="73" name="TextBox 72"/>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강사 근무·휴식·휴가 입구 정리</a:t>
            </a:r>
          </a:p>
        </p:txBody>
      </p:sp>
      <p:sp>
        <p:nvSpPr>
          <p:cNvPr id="74" name="TextBox 73"/>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48</a:t>
            </a:r>
          </a:p>
        </p:txBody>
      </p:sp>
      <p:sp>
        <p:nvSpPr>
          <p:cNvPr id="75" name="Rounded Rectangle 74"/>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45</a:t>
            </a:r>
          </a:p>
        </p:txBody>
      </p:sp>
      <p:sp>
        <p:nvSpPr>
          <p:cNvPr id="77" name="TextBox 76"/>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신규 결제 화면 단계형 개편</a:t>
            </a:r>
          </a:p>
        </p:txBody>
      </p:sp>
      <p:sp>
        <p:nvSpPr>
          <p:cNvPr id="78" name="TextBox 77"/>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49</a:t>
            </a:r>
          </a:p>
        </p:txBody>
      </p:sp>
      <p:sp>
        <p:nvSpPr>
          <p:cNvPr id="79" name="Rounded Rectangle 78"/>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46</a:t>
            </a:r>
          </a:p>
        </p:txBody>
      </p:sp>
      <p:sp>
        <p:nvSpPr>
          <p:cNvPr id="81" name="TextBox 80"/>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계정 없는 학부모용 샘플 평가표</a:t>
            </a:r>
          </a:p>
        </p:txBody>
      </p:sp>
      <p:sp>
        <p:nvSpPr>
          <p:cNvPr id="82" name="TextBox 81"/>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50</a:t>
            </a:r>
          </a:p>
        </p:txBody>
      </p:sp>
      <p:sp>
        <p:nvSpPr>
          <p:cNvPr id="83" name="Rounded Rectangle 82"/>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47</a:t>
            </a:r>
          </a:p>
        </p:txBody>
      </p:sp>
      <p:sp>
        <p:nvSpPr>
          <p:cNvPr id="85" name="TextBox 84"/>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학부모 좌측 메뉴 대분류 정리</a:t>
            </a:r>
          </a:p>
        </p:txBody>
      </p:sp>
      <p:sp>
        <p:nvSpPr>
          <p:cNvPr id="86" name="TextBox 85"/>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51</a:t>
            </a:r>
          </a:p>
        </p:txBody>
      </p:sp>
      <p:sp>
        <p:nvSpPr>
          <p:cNvPr id="87" name="Rounded Rectangle 86"/>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48</a:t>
            </a:r>
          </a:p>
        </p:txBody>
      </p:sp>
      <p:sp>
        <p:nvSpPr>
          <p:cNvPr id="89" name="TextBox 88"/>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비밀번호 셀프 재설정 안내 (문자 인증)</a:t>
            </a:r>
          </a:p>
        </p:txBody>
      </p:sp>
      <p:sp>
        <p:nvSpPr>
          <p:cNvPr id="90" name="TextBox 89"/>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52</a:t>
            </a:r>
          </a:p>
        </p:txBody>
      </p:sp>
      <p:sp>
        <p:nvSpPr>
          <p:cNvPr id="91" name="Rounded Rectangle 90"/>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49</a:t>
            </a:r>
          </a:p>
        </p:txBody>
      </p:sp>
      <p:sp>
        <p:nvSpPr>
          <p:cNvPr id="93" name="TextBox 92"/>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상담 창구·운영시간 통일 (카카오 1순위)</a:t>
            </a:r>
          </a:p>
        </p:txBody>
      </p:sp>
      <p:sp>
        <p:nvSpPr>
          <p:cNvPr id="94" name="TextBox 93"/>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53</a:t>
            </a:r>
          </a:p>
        </p:txBody>
      </p:sp>
      <p:sp>
        <p:nvSpPr>
          <p:cNvPr id="95" name="Rounded Rectangle 94"/>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50</a:t>
            </a:r>
          </a:p>
        </p:txBody>
      </p:sp>
      <p:sp>
        <p:nvSpPr>
          <p:cNvPr id="97" name="TextBox 96"/>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기능 요약 · 데이터</a:t>
            </a:r>
          </a:p>
        </p:txBody>
      </p:sp>
      <p:sp>
        <p:nvSpPr>
          <p:cNvPr id="98" name="TextBox 97"/>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54</a:t>
            </a:r>
          </a:p>
        </p:txBody>
      </p:sp>
      <p:sp>
        <p:nvSpPr>
          <p:cNvPr id="99" name="Rounded Rectangle 98"/>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51</a:t>
            </a:r>
          </a:p>
        </p:txBody>
      </p:sp>
      <p:sp>
        <p:nvSpPr>
          <p:cNvPr id="101" name="TextBox 100"/>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한눈에 보는 데이터</a:t>
            </a:r>
          </a:p>
        </p:txBody>
      </p:sp>
      <p:sp>
        <p:nvSpPr>
          <p:cNvPr id="102" name="TextBox 101"/>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55</a:t>
            </a:r>
          </a:p>
        </p:txBody>
      </p:sp>
      <p:sp>
        <p:nvSpPr>
          <p:cNvPr id="103" name="Rounded Rectangle 102"/>
          <p:cNvSpPr/>
          <p:nvPr/>
        </p:nvSpPr>
        <p:spPr>
          <a:xfrm>
            <a:off x="6141567"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52</a:t>
            </a:r>
          </a:p>
        </p:txBody>
      </p:sp>
      <p:sp>
        <p:nvSpPr>
          <p:cNvPr id="105" name="TextBox 104"/>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자주 묻는 질문 (FAQ)</a:t>
            </a:r>
          </a:p>
        </p:txBody>
      </p:sp>
      <p:sp>
        <p:nvSpPr>
          <p:cNvPr id="106" name="TextBox 105"/>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56</a:t>
            </a:r>
          </a:p>
        </p:txBody>
      </p:sp>
      <p:sp>
        <p:nvSpPr>
          <p:cNvPr id="107" name="Rounded Rectangle 106"/>
          <p:cNvSpPr/>
          <p:nvPr/>
        </p:nvSpPr>
        <p:spPr>
          <a:xfrm>
            <a:off x="6141567" y="44988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53</a:t>
            </a:r>
          </a:p>
        </p:txBody>
      </p:sp>
      <p:sp>
        <p:nvSpPr>
          <p:cNvPr id="109" name="TextBox 108"/>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체크리스트</a:t>
            </a:r>
          </a:p>
        </p:txBody>
      </p:sp>
      <p:sp>
        <p:nvSpPr>
          <p:cNvPr id="110" name="TextBox 109"/>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57</a:t>
            </a:r>
          </a:p>
        </p:txBody>
      </p:sp>
      <p:sp>
        <p:nvSpPr>
          <p:cNvPr id="111" name="Rounded Rectangle 110"/>
          <p:cNvSpPr/>
          <p:nvPr/>
        </p:nvSpPr>
        <p:spPr>
          <a:xfrm>
            <a:off x="6141567" y="47731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54</a:t>
            </a:r>
          </a:p>
        </p:txBody>
      </p:sp>
      <p:sp>
        <p:nvSpPr>
          <p:cNvPr id="113" name="TextBox 112"/>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마무리</a:t>
            </a:r>
          </a:p>
        </p:txBody>
      </p:sp>
      <p:sp>
        <p:nvSpPr>
          <p:cNvPr id="114" name="TextBox 113"/>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관리자 로그인 &amp; 권한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역할별 데이터 범위 자동 적용</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관리자 계정으로 로그인하면 역할(원장·본사·직원 등)에 맞는 메뉴와 데이터만 보여요. 소셜 로그인과 비밀번호 재설정도 지원해요.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아이디·비밀번호로 로그인해요. (카카오·네이버·구글도 가능)</a:t>
            </a:r>
          </a:p>
          <a:p>
            <a:pPr>
              <a:lnSpc>
                <a:spcPct val="115000"/>
              </a:lnSpc>
              <a:spcAft>
                <a:spcPts val="300"/>
              </a:spcAft>
            </a:pPr>
            <a:r>
              <a:rPr sz="750" b="1">
                <a:solidFill>
                  <a:srgbClr val="4F46E5"/>
                </a:solidFill>
                <a:latin typeface="Malgun Gothic"/>
              </a:rPr>
              <a:t>● </a:t>
            </a:r>
            <a:r>
              <a:rPr sz="950">
                <a:solidFill>
                  <a:srgbClr val="334155"/>
                </a:solidFill>
                <a:latin typeface="Malgun Gothic"/>
              </a:rPr>
              <a:t>비밀번호를 잊었으면 ‘비밀번호 찾기’(SMS·이메일·카카오)로 재설정해요.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역할에 따라 보이는 메뉴·데이터 범위가 자동으로 달라져요.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처음이면 ‘시연용 데모 계정 보기’로 미리 둘러봐요.</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권한 설정으로 직원마다 접근 범위를 나눌 수 있어요.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안전한 내 PC에서만 ‘아이디 저장’을 켜세요.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공용 PC에서는 자동 로그인을 끄고 사용 후 꼭 로그아웃하세요.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87068" y="2670048"/>
            <a:ext cx="18269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76936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936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071116"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아이디·비밀번호</a:t>
            </a:r>
          </a:p>
        </p:txBody>
      </p:sp>
      <p:sp>
        <p:nvSpPr>
          <p:cNvPr id="26" name="TextBox 25"/>
          <p:cNvSpPr txBox="1"/>
          <p:nvPr/>
        </p:nvSpPr>
        <p:spPr>
          <a:xfrm>
            <a:off x="351403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3696919" y="2670048"/>
            <a:ext cx="198424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77921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77921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080967" y="2670048"/>
            <a:ext cx="15636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‘비밀번호 찾기’</a:t>
            </a:r>
          </a:p>
        </p:txBody>
      </p:sp>
      <p:sp>
        <p:nvSpPr>
          <p:cNvPr id="31" name="TextBox 30"/>
          <p:cNvSpPr txBox="1"/>
          <p:nvPr/>
        </p:nvSpPr>
        <p:spPr>
          <a:xfrm>
            <a:off x="568116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864047"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463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63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248095"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보이는 메뉴·데이터…</a:t>
            </a:r>
          </a:p>
        </p:txBody>
      </p:sp>
      <p:sp>
        <p:nvSpPr>
          <p:cNvPr id="36" name="TextBox 35"/>
          <p:cNvSpPr txBox="1"/>
          <p:nvPr/>
        </p:nvSpPr>
        <p:spPr>
          <a:xfrm>
            <a:off x="809152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8274405"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35670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5670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658453"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‘시연용 데모 계정…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대시보드 &amp; 기능 검색</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모든 기능이 카드로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로그인하면 강사·회계·학생·콘텐츠·시스템 카테고리가 카드로 정리돼 있어요. 상단 검색창에 단어만 넣어도 바로 그 기능으로 이동해요.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카테고리 카드(강사·회계·학생·콘텐츠·시스템)에서 원하는 기능을 눌러요.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기능 검색창에 단어를 넣으면 바로 이동해요.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카테고리 옆 숫자는 그 안의 기능 개수예요.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상단 셀프 진단·색상/밝게·EN으로 화면·언어를 바꿔요.</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찾는 기능이 안 보이면 검색이 가장 빨라요.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AI 비서에게 ‘○○ 열어줘’라고 말해도 이동해요.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자주 쓰는 기능은 검색어를 기억해두면 클릭 수가 줄어요.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394813"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47710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771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778861"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카테고리 카드(강사…</a:t>
            </a:r>
          </a:p>
        </p:txBody>
      </p:sp>
      <p:sp>
        <p:nvSpPr>
          <p:cNvPr id="26" name="TextBox 25"/>
          <p:cNvSpPr txBox="1"/>
          <p:nvPr/>
        </p:nvSpPr>
        <p:spPr>
          <a:xfrm>
            <a:off x="462229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805172"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8874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874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189220"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기능 검색창</a:t>
            </a:r>
          </a:p>
        </p:txBody>
      </p:sp>
      <p:sp>
        <p:nvSpPr>
          <p:cNvPr id="31" name="TextBox 30"/>
          <p:cNvSpPr txBox="1"/>
          <p:nvPr/>
        </p:nvSpPr>
        <p:spPr>
          <a:xfrm>
            <a:off x="631758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500469"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276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276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884517"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숫자</a:t>
            </a:r>
          </a:p>
        </p:txBody>
      </p:sp>
      <p:sp>
        <p:nvSpPr>
          <p:cNvPr id="36" name="TextBox 35"/>
          <p:cNvSpPr txBox="1"/>
          <p:nvPr/>
        </p:nvSpPr>
        <p:spPr>
          <a:xfrm>
            <a:off x="745510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637983"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72027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202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022031"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셀프 진단·색상/밝…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말·글로 시키면 대신 처리</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검색/마이크에 말하거나 글로 시키면 AI가 숫자를 조회하거나 화면을 열어줘요. 중요한 일은 먼저 확인한 뒤 실행하고, 권한이 있는 일만 처리해 안전해요.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가운데 검색/마이크에 말하거나 입력해요. 예) “오늘 매출 어때?”</a:t>
            </a:r>
          </a:p>
          <a:p>
            <a:pPr>
              <a:lnSpc>
                <a:spcPct val="115000"/>
              </a:lnSpc>
              <a:spcAft>
                <a:spcPts val="300"/>
              </a:spcAft>
            </a:pPr>
            <a:r>
              <a:rPr sz="700" b="1">
                <a:solidFill>
                  <a:srgbClr val="4F46E5"/>
                </a:solidFill>
                <a:latin typeface="Malgun Gothic"/>
              </a:rPr>
              <a:t>● </a:t>
            </a:r>
            <a:r>
              <a:rPr sz="900">
                <a:solidFill>
                  <a:srgbClr val="334155"/>
                </a:solidFill>
                <a:latin typeface="Malgun Gothic"/>
              </a:rPr>
              <a:t>AI가 숫자를 조회하거나 화면을 열어줘요. 예) “학생관리 열어줘”</a:t>
            </a:r>
          </a:p>
          <a:p>
            <a:pPr>
              <a:lnSpc>
                <a:spcPct val="115000"/>
              </a:lnSpc>
              <a:spcAft>
                <a:spcPts val="300"/>
              </a:spcAft>
            </a:pPr>
            <a:r>
              <a:rPr sz="700" b="1">
                <a:solidFill>
                  <a:srgbClr val="4F46E5"/>
                </a:solidFill>
                <a:latin typeface="Malgun Gothic"/>
              </a:rPr>
              <a:t>● </a:t>
            </a:r>
            <a:r>
              <a:rPr sz="900">
                <a:solidFill>
                  <a:srgbClr val="334155"/>
                </a:solidFill>
                <a:latin typeface="Malgun Gothic"/>
              </a:rPr>
              <a:t>중요한 처리는 ‘할까요?’로 먼저 확인해요. 예) “정우영 학생 다음 수업 1시간 미뤄줘”</a:t>
            </a:r>
          </a:p>
          <a:p>
            <a:pPr>
              <a:lnSpc>
                <a:spcPct val="115000"/>
              </a:lnSpc>
              <a:spcAft>
                <a:spcPts val="300"/>
              </a:spcAft>
            </a:pPr>
            <a:r>
              <a:rPr sz="700" b="1">
                <a:solidFill>
                  <a:srgbClr val="4F46E5"/>
                </a:solidFill>
                <a:latin typeface="Malgun Gothic"/>
              </a:rPr>
              <a:t>● </a:t>
            </a:r>
            <a:r>
              <a:rPr sz="900">
                <a:solidFill>
                  <a:srgbClr val="334155"/>
                </a:solidFill>
                <a:latin typeface="Malgun Gothic"/>
              </a:rPr>
              <a:t>권한이 있는 일만 비서가 실행해요.</a:t>
            </a:r>
          </a:p>
        </p:txBody>
      </p:sp>
      <p:sp>
        <p:nvSpPr>
          <p:cNvPr id="14" name="Rounded Rectangle 13"/>
          <p:cNvSpPr/>
          <p:nvPr/>
        </p:nvSpPr>
        <p:spPr>
          <a:xfrm>
            <a:off x="457200" y="5154930"/>
            <a:ext cx="5669280" cy="83347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50429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버튼을 못 찾을 땐 그냥 ‘○○ 보여줘’라고 말하세요.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음성·텍스트 둘 다 똑같이 동작해요.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바쁜 시간엔 말로 시키는 게 클릭보다 훨씬 빨라요.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237536"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1983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198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621584"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검색/마이크</a:t>
            </a:r>
          </a:p>
        </p:txBody>
      </p:sp>
      <p:sp>
        <p:nvSpPr>
          <p:cNvPr id="26" name="TextBox 25"/>
          <p:cNvSpPr txBox="1"/>
          <p:nvPr/>
        </p:nvSpPr>
        <p:spPr>
          <a:xfrm>
            <a:off x="374995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3932834"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01513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151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316882"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숫자를 조회</a:t>
            </a:r>
          </a:p>
        </p:txBody>
      </p:sp>
      <p:sp>
        <p:nvSpPr>
          <p:cNvPr id="31" name="TextBox 30"/>
          <p:cNvSpPr txBox="1"/>
          <p:nvPr/>
        </p:nvSpPr>
        <p:spPr>
          <a:xfrm>
            <a:off x="544525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628131"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1042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104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012179"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‘할까요?’로 먼저…</a:t>
            </a:r>
          </a:p>
        </p:txBody>
      </p:sp>
      <p:sp>
        <p:nvSpPr>
          <p:cNvPr id="36" name="TextBox 35"/>
          <p:cNvSpPr txBox="1"/>
          <p:nvPr/>
        </p:nvSpPr>
        <p:spPr>
          <a:xfrm>
            <a:off x="785561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8038490"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12078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207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422538"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권한이 있는 일만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화상수업 입장 구조 이해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학생·강사를 지원하려면</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관리자는 직접 수업하지 않아도, 학생·강사가 어떻게 입장하는지 알아야 문의에 답하고 문제를 해결할 수 있어요. 입장은 이름과 방 코드(또는 공용방)로 이뤄져요.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입장 화면에서 이름과 방 코드를 넣고 입장하기를 눌러요.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방 코드가 비면 공용 수업방으로 들어가요.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브라우저의 카메라·마이크 허용이 필요하다고 안내해요.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문제가 생기면 크롬/엣지로 재접속을 먼저 안내해요.</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카카오톡 인앱 브라우저는 카메라가 막혀 ‘외부 브라우저로 열기’가 필요해요.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방/토큰 관리가 필요한 수업은 관리자 화면에서 확인할 수 있어요.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입장이 안 된다는 문의의 대부분은 브라우저 권한 문제예요 — 권한·브라우저부터 확인하세요.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자주 오는 입장 문의는 FAQ로 만들어 두면 상담이 크게 줄어요.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516428"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9872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987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900476"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이름</a:t>
            </a:r>
          </a:p>
        </p:txBody>
      </p:sp>
      <p:sp>
        <p:nvSpPr>
          <p:cNvPr id="28" name="TextBox 27"/>
          <p:cNvSpPr txBox="1"/>
          <p:nvPr/>
        </p:nvSpPr>
        <p:spPr>
          <a:xfrm>
            <a:off x="347106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653942"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3623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3623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37990"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공용 수업방</a:t>
            </a:r>
          </a:p>
        </p:txBody>
      </p:sp>
      <p:sp>
        <p:nvSpPr>
          <p:cNvPr id="33" name="TextBox 32"/>
          <p:cNvSpPr txBox="1"/>
          <p:nvPr/>
        </p:nvSpPr>
        <p:spPr>
          <a:xfrm>
            <a:off x="516636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349240"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153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315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733288"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카메라·마이크 허용</a:t>
            </a:r>
          </a:p>
        </p:txBody>
      </p:sp>
      <p:sp>
        <p:nvSpPr>
          <p:cNvPr id="38" name="TextBox 37"/>
          <p:cNvSpPr txBox="1"/>
          <p:nvPr/>
        </p:nvSpPr>
        <p:spPr>
          <a:xfrm>
            <a:off x="741944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602321"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8461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46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986369"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크롬/엣지로 재접속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구조 이해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지원을 위해 알아둘 화면</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관리자는 직접 수업하지 않아도 교실 화면 구조를 알면 문의 대응이 쉬워요. 상단 바(방 정보·타이머·REC·EN·다크), 가운데 작업 공간(탭 도구), 하단 컨트롤 독(카메라·화면공유·채팅·나가기)으로 이뤄져요.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상단 바: 방 이름·참여 인원·타이머·녹화(REC)·언어(EN)·다크모드.</a:t>
            </a:r>
          </a:p>
          <a:p>
            <a:pPr>
              <a:lnSpc>
                <a:spcPct val="115000"/>
              </a:lnSpc>
              <a:spcAft>
                <a:spcPts val="300"/>
              </a:spcAft>
            </a:pPr>
            <a:r>
              <a:rPr sz="700" b="1">
                <a:solidFill>
                  <a:srgbClr val="4F46E5"/>
                </a:solidFill>
                <a:latin typeface="Malgun Gothic"/>
              </a:rPr>
              <a:t>● </a:t>
            </a:r>
            <a:r>
              <a:rPr sz="900">
                <a:solidFill>
                  <a:srgbClr val="334155"/>
                </a:solidFill>
                <a:latin typeface="Malgun Gothic"/>
              </a:rPr>
              <a:t>가운데 탭: 칠판·동영상·학생게임·배경화면·AI웜업·복습퀴즈 + 교재도구·필기도구.</a:t>
            </a:r>
          </a:p>
          <a:p>
            <a:pPr>
              <a:lnSpc>
                <a:spcPct val="115000"/>
              </a:lnSpc>
              <a:spcAft>
                <a:spcPts val="300"/>
              </a:spcAft>
            </a:pPr>
            <a:r>
              <a:rPr sz="700" b="1">
                <a:solidFill>
                  <a:srgbClr val="4F46E5"/>
                </a:solidFill>
                <a:latin typeface="Malgun Gothic"/>
              </a:rPr>
              <a:t>● </a:t>
            </a:r>
            <a:r>
              <a:rPr sz="900">
                <a:solidFill>
                  <a:srgbClr val="334155"/>
                </a:solidFill>
                <a:latin typeface="Malgun Gothic"/>
              </a:rPr>
              <a:t>하단 독: 설정·카메라·화면공유·채팅·원어민·나가기.</a:t>
            </a:r>
          </a:p>
          <a:p>
            <a:pPr>
              <a:lnSpc>
                <a:spcPct val="115000"/>
              </a:lnSpc>
              <a:spcAft>
                <a:spcPts val="300"/>
              </a:spcAft>
            </a:pPr>
            <a:r>
              <a:rPr sz="700" b="1">
                <a:solidFill>
                  <a:srgbClr val="4F46E5"/>
                </a:solidFill>
                <a:latin typeface="Malgun Gothic"/>
              </a:rPr>
              <a:t>● </a:t>
            </a:r>
            <a:r>
              <a:rPr sz="900">
                <a:solidFill>
                  <a:srgbClr val="334155"/>
                </a:solidFill>
                <a:latin typeface="Malgun Gothic"/>
              </a:rPr>
              <a:t>왼쪽 위 🧺 칭찬 바구니로 수업 중 칭찬이 쌓여요.</a:t>
            </a:r>
          </a:p>
        </p:txBody>
      </p:sp>
      <p:sp>
        <p:nvSpPr>
          <p:cNvPr id="14" name="Rounded Rectangle 13"/>
          <p:cNvSpPr/>
          <p:nvPr/>
        </p:nvSpPr>
        <p:spPr>
          <a:xfrm>
            <a:off x="457200" y="5154930"/>
            <a:ext cx="5669280" cy="9850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65585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‘소리/화면 안 됨’ 문의는 하단 독의 카메라·마이크와 ⚙️설정을 확인하도록 안내하세요.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녹화(REC) 표시로 수업 녹화 여부를 알 수 있어요.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자주 오는 교실 사용 문의는 이 화면 캡처와 함께 FAQ로 만들면 좋아요.</a:t>
            </a:r>
          </a:p>
        </p:txBody>
      </p:sp>
      <p:sp>
        <p:nvSpPr>
          <p:cNvPr id="19" name="Rectangle 18"/>
          <p:cNvSpPr/>
          <p:nvPr/>
        </p:nvSpPr>
        <p:spPr>
          <a:xfrm>
            <a:off x="6705628" y="3255264"/>
            <a:ext cx="4785303"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760492" y="3310128"/>
            <a:ext cx="4675575"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188512" y="2670048"/>
            <a:ext cx="119786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27080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7080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572560" y="2670048"/>
            <a:ext cx="77723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상단 바</a:t>
            </a:r>
          </a:p>
        </p:txBody>
      </p:sp>
      <p:sp>
        <p:nvSpPr>
          <p:cNvPr id="26" name="TextBox 25"/>
          <p:cNvSpPr txBox="1"/>
          <p:nvPr/>
        </p:nvSpPr>
        <p:spPr>
          <a:xfrm>
            <a:off x="438637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569256"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5155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5155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953304"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가운데 탭</a:t>
            </a:r>
          </a:p>
        </p:txBody>
      </p:sp>
      <p:sp>
        <p:nvSpPr>
          <p:cNvPr id="31" name="TextBox 30"/>
          <p:cNvSpPr txBox="1"/>
          <p:nvPr/>
        </p:nvSpPr>
        <p:spPr>
          <a:xfrm>
            <a:off x="592439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107277" y="2670048"/>
            <a:ext cx="119786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18957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895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491325" y="2670048"/>
            <a:ext cx="77723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하단 독</a:t>
            </a:r>
          </a:p>
        </p:txBody>
      </p:sp>
      <p:sp>
        <p:nvSpPr>
          <p:cNvPr id="36" name="TextBox 35"/>
          <p:cNvSpPr txBox="1"/>
          <p:nvPr/>
        </p:nvSpPr>
        <p:spPr>
          <a:xfrm>
            <a:off x="730514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488021"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7031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703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872069"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칭찬 바구니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도구 이해 (지원용)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칠판·교재·배경·동영상</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학생·강사가 쓰는 도구를 알아두면 안내가 쉬워요. 칠판(그리기·저장), 교재도구(PDF·사진 업로드·라이브러리), 배경화면(배경·얼굴 꾸미기), 동영상(유튜브·파일)이 핵심이에요.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 칠판: 펜·도형·텍스트·AI도형·저장.</a:t>
            </a:r>
          </a:p>
          <a:p>
            <a:pPr>
              <a:lnSpc>
                <a:spcPct val="115000"/>
              </a:lnSpc>
              <a:spcAft>
                <a:spcPts val="300"/>
              </a:spcAft>
            </a:pPr>
            <a:r>
              <a:rPr sz="750" b="1">
                <a:solidFill>
                  <a:srgbClr val="4F46E5"/>
                </a:solidFill>
                <a:latin typeface="Malgun Gothic"/>
              </a:rPr>
              <a:t>● </a:t>
            </a:r>
            <a:r>
              <a:rPr sz="950">
                <a:solidFill>
                  <a:srgbClr val="334155"/>
                </a:solidFill>
                <a:latin typeface="Malgun Gothic"/>
              </a:rPr>
              <a:t>📚 교재도구: 업로드(PDF/JPG/PNG)·라이브러리·페이지 넘김·화면맞춤.</a:t>
            </a:r>
          </a:p>
          <a:p>
            <a:pPr>
              <a:lnSpc>
                <a:spcPct val="115000"/>
              </a:lnSpc>
              <a:spcAft>
                <a:spcPts val="300"/>
              </a:spcAft>
            </a:pPr>
            <a:r>
              <a:rPr sz="750" b="1">
                <a:solidFill>
                  <a:srgbClr val="4F46E5"/>
                </a:solidFill>
                <a:latin typeface="Malgun Gothic"/>
              </a:rPr>
              <a:t>● </a:t>
            </a:r>
            <a:r>
              <a:rPr sz="950">
                <a:solidFill>
                  <a:srgbClr val="334155"/>
                </a:solidFill>
                <a:latin typeface="Malgun Gothic"/>
              </a:rPr>
              <a:t>🎨 배경화면: 배경 교체·얼굴 꾸미기.</a:t>
            </a:r>
          </a:p>
          <a:p>
            <a:pPr>
              <a:lnSpc>
                <a:spcPct val="115000"/>
              </a:lnSpc>
              <a:spcAft>
                <a:spcPts val="300"/>
              </a:spcAft>
            </a:pPr>
            <a:r>
              <a:rPr sz="750" b="1">
                <a:solidFill>
                  <a:srgbClr val="4F46E5"/>
                </a:solidFill>
                <a:latin typeface="Malgun Gothic"/>
              </a:rPr>
              <a:t>● </a:t>
            </a:r>
            <a:r>
              <a:rPr sz="950">
                <a:solidFill>
                  <a:srgbClr val="334155"/>
                </a:solidFill>
                <a:latin typeface="Malgun Gothic"/>
              </a:rPr>
              <a:t>📹 동영상: 유튜브 주소·영상 파일 공유.</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교재 ‘라이브러리’는 관리자가 올린 교재가 노출돼요 — 교재 관리와 연결돼요.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강사에게 ‘교재 사전 업로드 → 수업 중 공유’ 흐름을 안내하세요.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교재 라이브러리를 잘 채워두면 강사가 수업 준비를 빨리 할 수 있어요.</a:t>
            </a:r>
          </a:p>
        </p:txBody>
      </p:sp>
      <p:sp>
        <p:nvSpPr>
          <p:cNvPr id="19" name="Rectangle 18"/>
          <p:cNvSpPr/>
          <p:nvPr/>
        </p:nvSpPr>
        <p:spPr>
          <a:xfrm>
            <a:off x="6534102" y="3255264"/>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588966" y="3310128"/>
            <a:ext cx="2183986" cy="1298448"/>
          </a:xfrm>
          <a:prstGeom prst="rect">
            <a:avLst/>
          </a:prstGeom>
        </p:spPr>
      </p:pic>
      <p:sp>
        <p:nvSpPr>
          <p:cNvPr id="21" name="Rectangle 20"/>
          <p:cNvSpPr/>
          <p:nvPr/>
        </p:nvSpPr>
        <p:spPr>
          <a:xfrm>
            <a:off x="9368742" y="3255264"/>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423606" y="3310128"/>
            <a:ext cx="2183986" cy="1298448"/>
          </a:xfrm>
          <a:prstGeom prst="rect">
            <a:avLst/>
          </a:prstGeom>
        </p:spPr>
      </p:pic>
      <p:sp>
        <p:nvSpPr>
          <p:cNvPr id="23" name="Rectangle 22"/>
          <p:cNvSpPr/>
          <p:nvPr/>
        </p:nvSpPr>
        <p:spPr>
          <a:xfrm>
            <a:off x="6534102" y="4736592"/>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588966" y="4791456"/>
            <a:ext cx="2183986" cy="1298448"/>
          </a:xfrm>
          <a:prstGeom prst="rect">
            <a:avLst/>
          </a:prstGeom>
        </p:spPr>
      </p:pic>
      <p:sp>
        <p:nvSpPr>
          <p:cNvPr id="25" name="Rectangle 24"/>
          <p:cNvSpPr/>
          <p:nvPr/>
        </p:nvSpPr>
        <p:spPr>
          <a:xfrm>
            <a:off x="9368742" y="4736592"/>
            <a:ext cx="2293714" cy="1408176"/>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423606" y="4791456"/>
            <a:ext cx="2183986" cy="1298448"/>
          </a:xfrm>
          <a:prstGeom prst="rect">
            <a:avLst/>
          </a:prstGeom>
        </p:spPr>
      </p:pic>
      <p:sp>
        <p:nvSpPr>
          <p:cNvPr id="27" name="Rounded Rectangle 26"/>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517696"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59999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999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31" name="TextBox 30"/>
          <p:cNvSpPr txBox="1"/>
          <p:nvPr/>
        </p:nvSpPr>
        <p:spPr>
          <a:xfrm>
            <a:off x="3901744"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칠판</a:t>
            </a:r>
          </a:p>
        </p:txBody>
      </p:sp>
      <p:sp>
        <p:nvSpPr>
          <p:cNvPr id="32" name="TextBox 31"/>
          <p:cNvSpPr txBox="1"/>
          <p:nvPr/>
        </p:nvSpPr>
        <p:spPr>
          <a:xfrm>
            <a:off x="447233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3" name="Rounded Rectangle 32"/>
          <p:cNvSpPr/>
          <p:nvPr/>
        </p:nvSpPr>
        <p:spPr>
          <a:xfrm>
            <a:off x="4655210" y="2670048"/>
            <a:ext cx="126918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73750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3750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6" name="TextBox 35"/>
          <p:cNvSpPr txBox="1"/>
          <p:nvPr/>
        </p:nvSpPr>
        <p:spPr>
          <a:xfrm>
            <a:off x="5039258"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교재도구</a:t>
            </a:r>
          </a:p>
        </p:txBody>
      </p:sp>
      <p:sp>
        <p:nvSpPr>
          <p:cNvPr id="37" name="TextBox 36"/>
          <p:cNvSpPr txBox="1"/>
          <p:nvPr/>
        </p:nvSpPr>
        <p:spPr>
          <a:xfrm>
            <a:off x="592439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8" name="Rounded Rectangle 37"/>
          <p:cNvSpPr/>
          <p:nvPr/>
        </p:nvSpPr>
        <p:spPr>
          <a:xfrm>
            <a:off x="6107277" y="2670048"/>
            <a:ext cx="126918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18957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895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41" name="TextBox 40"/>
          <p:cNvSpPr txBox="1"/>
          <p:nvPr/>
        </p:nvSpPr>
        <p:spPr>
          <a:xfrm>
            <a:off x="6491325"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배경화면</a:t>
            </a:r>
          </a:p>
        </p:txBody>
      </p:sp>
      <p:sp>
        <p:nvSpPr>
          <p:cNvPr id="42" name="TextBox 41"/>
          <p:cNvSpPr txBox="1"/>
          <p:nvPr/>
        </p:nvSpPr>
        <p:spPr>
          <a:xfrm>
            <a:off x="737646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3" name="Rounded Rectangle 42"/>
          <p:cNvSpPr/>
          <p:nvPr/>
        </p:nvSpPr>
        <p:spPr>
          <a:xfrm>
            <a:off x="7559344" y="2670048"/>
            <a:ext cx="111191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416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416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6" name="TextBox 45"/>
          <p:cNvSpPr txBox="1"/>
          <p:nvPr/>
        </p:nvSpPr>
        <p:spPr>
          <a:xfrm>
            <a:off x="7943392"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동영상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 (지급·누적)</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 지급 → 학생 포인트 합산</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중 교사가 학생에게 칭찬 포인트(+1P)를 즉석 지급하고, 수업 종료 별점 평가로 +10P가 더해져요. 이 포인트는 학생 총 포인트에 합산되어 포인트 상점·룰렛 등에서 쓰여요. 관리자는 포인트 정책과 상점을 관리해요.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교사가 학생 화면의 🌟 칭찬 버튼으로 +1P를 즉석 지급해요.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학생의 🧺 포인트 바구니에 실시간 누적되고, 총 포인트(P)에 합산돼요.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수업 종료 별점 평가로 학생은 +10P를 추가로 받아요.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쌓인 포인트는 포인트 상점·룰렛의 보상과 연결돼요.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관리자는 회계/포인트에서 적립·사용 정책을 관리해요.</a:t>
            </a:r>
          </a:p>
        </p:txBody>
      </p:sp>
      <p:sp>
        <p:nvSpPr>
          <p:cNvPr id="14" name="Rounded Rectangle 13"/>
          <p:cNvSpPr/>
          <p:nvPr/>
        </p:nvSpPr>
        <p:spPr>
          <a:xfrm>
            <a:off x="457200" y="5282946"/>
            <a:ext cx="5669280" cy="83347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575554"/>
            <a:ext cx="5394960" cy="50429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즉각 보상은 학생 참여·재수강에 긍정적이에요.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포인트 상점 보상 구성으로 학습 동기를 조절할 수 있어요.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칭찬 포인트는 교사가 직접 지급해요. 포인트 정책·상점 구성은 관리자 몫이에요.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포인트가 잘 도는지(지급·사용)를 주기적으로 확인하면 학습 동기 관리에 좋아요.</a:t>
            </a:r>
          </a:p>
        </p:txBody>
      </p:sp>
      <p:sp>
        <p:nvSpPr>
          <p:cNvPr id="21" name="Rectangle 20"/>
          <p:cNvSpPr/>
          <p:nvPr/>
        </p:nvSpPr>
        <p:spPr>
          <a:xfrm>
            <a:off x="6300216" y="3828426"/>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883290"/>
            <a:ext cx="5486400" cy="158773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83333"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6562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6562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67381"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교사</a:t>
            </a:r>
          </a:p>
        </p:txBody>
      </p:sp>
      <p:sp>
        <p:nvSpPr>
          <p:cNvPr id="28" name="TextBox 27"/>
          <p:cNvSpPr txBox="1"/>
          <p:nvPr/>
        </p:nvSpPr>
        <p:spPr>
          <a:xfrm>
            <a:off x="293796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120847"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2031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31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504895"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학생</a:t>
            </a:r>
          </a:p>
        </p:txBody>
      </p:sp>
      <p:sp>
        <p:nvSpPr>
          <p:cNvPr id="33" name="TextBox 32"/>
          <p:cNvSpPr txBox="1"/>
          <p:nvPr/>
        </p:nvSpPr>
        <p:spPr>
          <a:xfrm>
            <a:off x="407548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4258360"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34065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406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4642408"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종료 별점 평…</a:t>
            </a:r>
          </a:p>
        </p:txBody>
      </p:sp>
      <p:sp>
        <p:nvSpPr>
          <p:cNvPr id="38" name="TextBox 37"/>
          <p:cNvSpPr txBox="1"/>
          <p:nvPr/>
        </p:nvSpPr>
        <p:spPr>
          <a:xfrm>
            <a:off x="641451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6597396"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67969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796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6981444"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포인트 상점·룰렛</a:t>
            </a:r>
          </a:p>
        </p:txBody>
      </p:sp>
      <p:sp>
        <p:nvSpPr>
          <p:cNvPr id="43" name="TextBox 42"/>
          <p:cNvSpPr txBox="1"/>
          <p:nvPr/>
        </p:nvSpPr>
        <p:spPr>
          <a:xfrm>
            <a:off x="851032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693200"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77549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54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077248"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회계/포인트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강사 통합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급여·매칭·평가·MBTI</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강사 목록·프로필·급여·매칭·평가를 한 곳에서 관리해요. 학생이 남긴 별점 평가를 강사별로 모아보며 코칭에 활용할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강사 통합에서 강사 목록·프로필·매칭을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급여 정산, MBTI/성향, 학생⇄강사 매칭을 관리해요.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강사별 수업 평가(별점)를 모아봐요.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매칭이 잘 맞을수록 재수강률이 올라가요.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평가가 낮은 강사는 코칭 탭과 연결해 관리하세요.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우수 강사는 인기 시간대에 우선 배정하면 만족도가 올라가요.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835908"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91820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182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219956"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통합</a:t>
            </a:r>
          </a:p>
        </p:txBody>
      </p:sp>
      <p:sp>
        <p:nvSpPr>
          <p:cNvPr id="26" name="TextBox 25"/>
          <p:cNvSpPr txBox="1"/>
          <p:nvPr/>
        </p:nvSpPr>
        <p:spPr>
          <a:xfrm>
            <a:off x="519104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373928"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5622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562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57976"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급여</a:t>
            </a:r>
          </a:p>
        </p:txBody>
      </p:sp>
      <p:sp>
        <p:nvSpPr>
          <p:cNvPr id="31" name="TextBox 30"/>
          <p:cNvSpPr txBox="1"/>
          <p:nvPr/>
        </p:nvSpPr>
        <p:spPr>
          <a:xfrm>
            <a:off x="632856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511442" y="2670048"/>
            <a:ext cx="18416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9373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9373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895490" y="2670048"/>
            <a:ext cx="14209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평가(별점)</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회계 · 포인트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결제·미납·포인트·기프티콘</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결제·미납·환불과 포인트·기프티콘 적립/사용을 관리해요. 규정에 따라 금액이 자동 계산돼 실수를 줄여줘요.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회계/포인트에서 결제·미납·환불을 처리해요.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포인트·기프티콘 적립/사용 내역을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미납 건은 알림톡·문자로 안내해요.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정기 결제·미납을 한 화면에서 관리해요.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포인트는 학습 동기부여에 활용돼요.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미납 알림을 자동화하면 수납률이 올라가요.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85692"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6798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679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69740"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회계/포인트</a:t>
            </a:r>
          </a:p>
        </p:txBody>
      </p:sp>
      <p:sp>
        <p:nvSpPr>
          <p:cNvPr id="26" name="TextBox 25"/>
          <p:cNvSpPr txBox="1"/>
          <p:nvPr/>
        </p:nvSpPr>
        <p:spPr>
          <a:xfrm>
            <a:off x="499811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180990" y="2670048"/>
            <a:ext cx="18269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328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32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65038"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포인트·기프티콘</a:t>
            </a:r>
          </a:p>
        </p:txBody>
      </p:sp>
      <p:sp>
        <p:nvSpPr>
          <p:cNvPr id="31" name="TextBox 30"/>
          <p:cNvSpPr txBox="1"/>
          <p:nvPr/>
        </p:nvSpPr>
        <p:spPr>
          <a:xfrm>
            <a:off x="700796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190841"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7313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731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74889"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알림톡·문자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포인트·리워드 정책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칭찬 포인트→상점→기프티콘</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학생이 수업 중 받는 🌟 칭찬 포인트와 별점 평가(+10P)는 모두 학생의 총 포인트로 쌓이고, 포인트 상점·룰렛·기프티콘 보상으로 이어져요. 관리자는 이 적립·사용 흐름과 보상 구성을 관리해요.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적립 경로 확인: 수업 중 교사 칭찬(+1P)·수업 종료 별점(+10P)·게임 학습 등으로 포인트가 쌓여요.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회계/포인트에서 학생별 포인트 적립·사용 내역을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포인트 상점·룰렛 보상과 기프티콘 지급 구성을 관리해요.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부정 적립·오류가 의심되면 내역을 조회해 조정해요.</a:t>
            </a:r>
          </a:p>
        </p:txBody>
      </p:sp>
      <p:sp>
        <p:nvSpPr>
          <p:cNvPr id="14" name="Rounded Rectangle 13"/>
          <p:cNvSpPr/>
          <p:nvPr/>
        </p:nvSpPr>
        <p:spPr>
          <a:xfrm>
            <a:off x="457200" y="5154930"/>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즉각 보상(칭찬 포인트)은 학생 참여·재수강에 효과적이에요.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보상 구성으로 학습 동기와 비용을 함께 조절할 수 있어요.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포인트는 학생 화면 상단 P와 마이페이지에 합산 표시돼요.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칭찬 포인트 지급은 교사가, 상점·리워드·기프티콘 정책 구성은 관리자가 맡아요.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인기 보상은 재고·지급 한도를 정해두면 비용을 안정적으로 관리할 수 있어요.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115921"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9821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982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499969"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적립 경로 확인</a:t>
            </a:r>
          </a:p>
        </p:txBody>
      </p:sp>
      <p:sp>
        <p:nvSpPr>
          <p:cNvPr id="28" name="TextBox 27"/>
          <p:cNvSpPr txBox="1"/>
          <p:nvPr/>
        </p:nvSpPr>
        <p:spPr>
          <a:xfrm>
            <a:off x="387156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054449"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13674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3674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438497"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회계/포인트</a:t>
            </a:r>
          </a:p>
        </p:txBody>
      </p:sp>
      <p:sp>
        <p:nvSpPr>
          <p:cNvPr id="33" name="TextBox 32"/>
          <p:cNvSpPr txBox="1"/>
          <p:nvPr/>
        </p:nvSpPr>
        <p:spPr>
          <a:xfrm>
            <a:off x="556686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749747"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8320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320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133795"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포인트 상점·룰렛…</a:t>
            </a:r>
          </a:p>
        </p:txBody>
      </p:sp>
      <p:sp>
        <p:nvSpPr>
          <p:cNvPr id="38" name="TextBox 37"/>
          <p:cNvSpPr txBox="1"/>
          <p:nvPr/>
        </p:nvSpPr>
        <p:spPr>
          <a:xfrm>
            <a:off x="781994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002828"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8512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851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86876"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부정 적립·오류가…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환불 규정 ·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기준표대로 자동 계산</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환불 기준표(수업 시작 전 100%, 진행 정도에 따라 차등)에 맞춰 금액이 자동 계산돼요. 할인 결제는 정가 기준으로 재정산돼요.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환불 요청 시기를 확인해 기준표대로 계산해요.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할인 결제는 정가 기준 재정산 규칙을 적용해요.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연기 없이 빠진 수업의 결석 처리 규칙을 확인해요.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기준표가 있어 분쟁이 줄어요.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처리 전 학부모에게 규정을 안내하세요.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할인가로 결제한 수업은 이미 진행(수강)한 수업을 정가로 차감 후 잔액을 환불해요.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환불·연기 규정을 등록 시 미리 안내하면 갈등이 크게 줄어요.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642969" y="2670048"/>
            <a:ext cx="18269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72526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526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4027017"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기준표대로 계산</a:t>
            </a:r>
          </a:p>
        </p:txBody>
      </p:sp>
      <p:sp>
        <p:nvSpPr>
          <p:cNvPr id="28" name="TextBox 27"/>
          <p:cNvSpPr txBox="1"/>
          <p:nvPr/>
        </p:nvSpPr>
        <p:spPr>
          <a:xfrm>
            <a:off x="546994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652820"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73511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351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6036868"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할인 결제</a:t>
            </a:r>
          </a:p>
        </p:txBody>
      </p:sp>
      <p:sp>
        <p:nvSpPr>
          <p:cNvPr id="33" name="TextBox 32"/>
          <p:cNvSpPr txBox="1"/>
          <p:nvPr/>
        </p:nvSpPr>
        <p:spPr>
          <a:xfrm>
            <a:off x="700796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190841"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27313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731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574889"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결석 처리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 학부모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실데이터 학생목록·출결·성적</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재원생 목록·출결·성적을 관리해요. 학생 목록은 실제 회원 데이터와 연동돼 있고, 학생별 이력을 한눈에 볼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학생/학부모에서 재원생 목록을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출결/평가/포인트/채팅 이력을 학생별로 봐요.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상담·관리가 필요한 학생을 표시해요.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학생 목록은 실제 회원과 연동돼 있어요.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이탈위험 학생은 리텐션 센터와 연결돼요.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결석이 잦은 학생은 빨리 상담해 이탈을 막으세요.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64331"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64662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466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948379"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학생/학부모</a:t>
            </a:r>
          </a:p>
        </p:txBody>
      </p:sp>
      <p:sp>
        <p:nvSpPr>
          <p:cNvPr id="26" name="TextBox 25"/>
          <p:cNvSpPr txBox="1"/>
          <p:nvPr/>
        </p:nvSpPr>
        <p:spPr>
          <a:xfrm>
            <a:off x="507674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259628"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192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19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43676"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이력</a:t>
            </a:r>
          </a:p>
        </p:txBody>
      </p:sp>
      <p:sp>
        <p:nvSpPr>
          <p:cNvPr id="31" name="TextBox 30"/>
          <p:cNvSpPr txBox="1"/>
          <p:nvPr/>
        </p:nvSpPr>
        <p:spPr>
          <a:xfrm>
            <a:off x="621426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397142"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7943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943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781190"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상담·관리가 필요한…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마이페이지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ID만으로 학습 열람</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학부모가 자녀의 학생 ID만 넣으면 출석·평가·결제·AI 권장학습을 한 화면에서 볼 수 있어요. 상담 문의를 줄이고 만족도를 높여줘요.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학부모에게 마이페이지 링크를 안내해요.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학부모가 자녀 학생 ID를 넣고 조회해요.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출석 30일·포인트·결제·평가서·월별 보고서를 확인해요.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학생 ID만 알면 되어 접근이 쉬워요.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월별 보고서는 인쇄·PDF 저장이 돼요.</a:t>
            </a:r>
          </a:p>
        </p:txBody>
      </p:sp>
      <p:sp>
        <p:nvSpPr>
          <p:cNvPr id="17" name="Rounded Rectangle 16"/>
          <p:cNvSpPr/>
          <p:nvPr/>
        </p:nvSpPr>
        <p:spPr>
          <a:xfrm>
            <a:off x="365760" y="6217920"/>
            <a:ext cx="5646420" cy="47548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5372100" cy="38404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학생 ID는 비밀번호처럼 관리하도록 안내하세요.</a:t>
            </a:r>
          </a:p>
        </p:txBody>
      </p:sp>
      <p:sp>
        <p:nvSpPr>
          <p:cNvPr id="19" name="Rounded Rectangle 18"/>
          <p:cNvSpPr/>
          <p:nvPr/>
        </p:nvSpPr>
        <p:spPr>
          <a:xfrm>
            <a:off x="6176772" y="6217920"/>
            <a:ext cx="5646420"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63640"/>
            <a:ext cx="5372100"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신규 등록 시 마이페이지 사용법을 함께 안내하면 문의가 줄어요.</a:t>
            </a:r>
          </a:p>
        </p:txBody>
      </p:sp>
      <p:sp>
        <p:nvSpPr>
          <p:cNvPr id="21" name="Rectangle 20"/>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874459" y="3310128"/>
            <a:ext cx="4447641" cy="277977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149193" y="2670048"/>
            <a:ext cx="18269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23148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3148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533241"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마이페이지 링크</a:t>
            </a:r>
          </a:p>
        </p:txBody>
      </p:sp>
      <p:sp>
        <p:nvSpPr>
          <p:cNvPr id="28" name="TextBox 27"/>
          <p:cNvSpPr txBox="1"/>
          <p:nvPr/>
        </p:nvSpPr>
        <p:spPr>
          <a:xfrm>
            <a:off x="497616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159044" y="2670048"/>
            <a:ext cx="16130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2413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413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543092" y="2670048"/>
            <a:ext cx="11923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자녀 학생 ID</a:t>
            </a:r>
          </a:p>
        </p:txBody>
      </p:sp>
      <p:sp>
        <p:nvSpPr>
          <p:cNvPr id="33" name="TextBox 32"/>
          <p:cNvSpPr txBox="1"/>
          <p:nvPr/>
        </p:nvSpPr>
        <p:spPr>
          <a:xfrm>
            <a:off x="677204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954926" y="2670048"/>
            <a:ext cx="208483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3722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3722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338974" y="2670048"/>
            <a:ext cx="16642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출석 30일·포인트…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일정 배정</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 형태·강사·날짜·시간을 배정하는 예약 관리 화면이에요. 학생 예약 현황을 확인하고 조정할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예약 화면에서 수업 형태·강사·시간을 배정해요.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빈 시간·중복을 확인해 조정해요.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확정하면 학생·강사에게 안내돼요.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인기 시간대 분산 배정으로 강사 부하를 조절해요.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반복 예약도 설정할 수 있어요.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강사별 가능 시간을 미리 등록해두면 배정이 빨라져요.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42462"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2475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247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626510"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예약</a:t>
            </a:r>
          </a:p>
        </p:txBody>
      </p:sp>
      <p:sp>
        <p:nvSpPr>
          <p:cNvPr id="26" name="TextBox 25"/>
          <p:cNvSpPr txBox="1"/>
          <p:nvPr/>
        </p:nvSpPr>
        <p:spPr>
          <a:xfrm>
            <a:off x="419709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379976"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46227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764024"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빈 시간·중복을 확…</a:t>
            </a:r>
          </a:p>
        </p:txBody>
      </p:sp>
      <p:sp>
        <p:nvSpPr>
          <p:cNvPr id="31" name="TextBox 30"/>
          <p:cNvSpPr txBox="1"/>
          <p:nvPr/>
        </p:nvSpPr>
        <p:spPr>
          <a:xfrm>
            <a:off x="653613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719011"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0130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0130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103059"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확정하면 학생·강사…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요청 확인·처리</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학생의 연기·변경 요청을 확인하고 규정에 맞게 처리해요. 규정을 벗어난 직전 요청은 결석/차감 규칙과 연결돼요.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학생의 연기/변경 요청을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규정(미리 신청)에 맞으면 일정을 조정해요.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변경 내용은 양쪽에 자동 안내돼요.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연기 마감 시간을 명확히 공지하세요.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규정 위반 요청은 정책대로 안내해요.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연기 마감 규정을 지키면 노쇼 손실을 줄일 수 있어요.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21100"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0339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033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05148"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연기/변경 요청</a:t>
            </a:r>
          </a:p>
        </p:txBody>
      </p:sp>
      <p:sp>
        <p:nvSpPr>
          <p:cNvPr id="26" name="TextBox 25"/>
          <p:cNvSpPr txBox="1"/>
          <p:nvPr/>
        </p:nvSpPr>
        <p:spPr>
          <a:xfrm>
            <a:off x="507674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259628"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34192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419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643676"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일정을 조정</a:t>
            </a:r>
          </a:p>
        </p:txBody>
      </p:sp>
      <p:sp>
        <p:nvSpPr>
          <p:cNvPr id="31" name="TextBox 30"/>
          <p:cNvSpPr txBox="1"/>
          <p:nvPr/>
        </p:nvSpPr>
        <p:spPr>
          <a:xfrm>
            <a:off x="677204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954926"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03722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722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338974"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양쪽에 자동 안내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교육 · 커리큘럼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레벨·교재·게임 리포트</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Level 1~10 커리큘럼 구성과 교재 현황, 게임 학습 리포트(약점 단어)를 관리해요. 학습 데이터를 바탕으로 콘텐츠를 보완해요.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레벨/커리큘럼(1~10) 구성을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교재 업로드 현황을 점검해요.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게임 학습 리포트로 약점 단어를 파악해요.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약점이 많은 단어는 게임·복습에 더 노출되게 조정해요.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레벨별 목표를 명확히 하면 성취도가 올라가요.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학년 초에 커리큘럼을 점검하면 한 해가 편해요.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8978" y="2670048"/>
            <a:ext cx="208483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8127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8127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183026" y="2670048"/>
            <a:ext cx="16642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레벨/커리큘럼(1~…</a:t>
            </a:r>
          </a:p>
        </p:txBody>
      </p:sp>
      <p:sp>
        <p:nvSpPr>
          <p:cNvPr id="26" name="TextBox 25"/>
          <p:cNvSpPr txBox="1"/>
          <p:nvPr/>
        </p:nvSpPr>
        <p:spPr>
          <a:xfrm>
            <a:off x="488381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066690"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4898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489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450738"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교재 업로드 현황을…</a:t>
            </a:r>
          </a:p>
        </p:txBody>
      </p:sp>
      <p:sp>
        <p:nvSpPr>
          <p:cNvPr id="31" name="TextBox 30"/>
          <p:cNvSpPr txBox="1"/>
          <p:nvPr/>
        </p:nvSpPr>
        <p:spPr>
          <a:xfrm>
            <a:off x="729416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477048"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5934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5934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861096"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게임 학습 리포트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리텐션 센터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이탈위험·전염·정산·코칭</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그만둘 것 같은 학생을 미리 찾고, 가족·동반수업·추천으로 이어지는 연쇄 이탈을 예방하는 허브예요. 4개 탭을 한 곳에서 관리해요.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이탈위험 그래프로 위험 학생을 찾아요.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이탈 전염 관계망으로 연쇄 이탈을 예방해요.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강사 코칭 탭에서 평가 기반 피드백을 전달해요.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위험 학생에 알림톡·상담으로 개입해요.</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빨리 개입할수록 잔존율이 올라가요.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가족·추천 관계까지 함께 관리해요.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매주 위험 상위 학생만이라도 챙기면 이탈이 눈에 띄게 줄어요.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516428" y="2670048"/>
            <a:ext cx="18269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59872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987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900476"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이탈위험 그래프</a:t>
            </a:r>
          </a:p>
        </p:txBody>
      </p:sp>
      <p:sp>
        <p:nvSpPr>
          <p:cNvPr id="26" name="TextBox 25"/>
          <p:cNvSpPr txBox="1"/>
          <p:nvPr/>
        </p:nvSpPr>
        <p:spPr>
          <a:xfrm>
            <a:off x="434340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526280"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60857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085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910328"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이탈 전염 관계망</a:t>
            </a:r>
          </a:p>
        </p:txBody>
      </p:sp>
      <p:sp>
        <p:nvSpPr>
          <p:cNvPr id="31" name="TextBox 30"/>
          <p:cNvSpPr txBox="1"/>
          <p:nvPr/>
        </p:nvSpPr>
        <p:spPr>
          <a:xfrm>
            <a:off x="643920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622084"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0438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0438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006132"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코칭</a:t>
            </a:r>
          </a:p>
        </p:txBody>
      </p:sp>
      <p:sp>
        <p:nvSpPr>
          <p:cNvPr id="36" name="TextBox 35"/>
          <p:cNvSpPr txBox="1"/>
          <p:nvPr/>
        </p:nvSpPr>
        <p:spPr>
          <a:xfrm>
            <a:off x="797722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8160105"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4240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4240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544153"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알림톡·상담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조직 정산 · 월간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본사→지사→대리점</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조직 트리 구조를 따라 매출·수수료가 자동 정산되고, 월간 리포트로 지사·대리점 성과를 확인해요. AI 인사이트가 상태를 요약해줘요.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조직 트리 구조로 매출·수수료가 자동 정산돼요.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월간 리포트로 지사·대리점 성과를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대시보드에서 오늘 매출·재원·출석률을 매일 봐요.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월초 정산 리포트 배포로 파트너 신뢰가 올라가요.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지표는 매일 5분 점검을 권장해요.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이상 신호(매출 급감·출석 하락)를 빨리 잡을수록 대응이 쉬워요.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99739"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8203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8203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83787"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트리 구조</a:t>
            </a:r>
          </a:p>
        </p:txBody>
      </p:sp>
      <p:sp>
        <p:nvSpPr>
          <p:cNvPr id="26" name="TextBox 25"/>
          <p:cNvSpPr txBox="1"/>
          <p:nvPr/>
        </p:nvSpPr>
        <p:spPr>
          <a:xfrm>
            <a:off x="475487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937759"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2005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00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321807"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월간 리포트</a:t>
            </a:r>
          </a:p>
        </p:txBody>
      </p:sp>
      <p:sp>
        <p:nvSpPr>
          <p:cNvPr id="31" name="TextBox 30"/>
          <p:cNvSpPr txBox="1"/>
          <p:nvPr/>
        </p:nvSpPr>
        <p:spPr>
          <a:xfrm>
            <a:off x="645017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633057"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71535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153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017105"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오늘 매출·재원·출…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고객센터 · FAQ 운영</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문의·환불·연기 안내</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전화·이메일·카카오·원격지원 채널을 안내하고, 자주 묻는 질문을 FAQ로 정리해 문의를 줄여요.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고객센터에서 상담 채널·운영시간을 안내해요.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환불/연기 규정을 학생·학부모에게 공유해요.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반복 문의는 FAQ에 추가해요.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FAQ를 늘릴수록 상담 부담이 줄어요.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원격지원으로 어려운 문제를 직접 도와요.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‘입장 안 됨’ 같은 반복 문의는 캡처와 함께 FAQ로 만드세요.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950207" y="2670048"/>
            <a:ext cx="126918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03250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3250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334255"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고객센터</a:t>
            </a:r>
          </a:p>
        </p:txBody>
      </p:sp>
      <p:sp>
        <p:nvSpPr>
          <p:cNvPr id="26" name="TextBox 25"/>
          <p:cNvSpPr txBox="1"/>
          <p:nvPr/>
        </p:nvSpPr>
        <p:spPr>
          <a:xfrm>
            <a:off x="521939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402275"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8457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457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786323"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환불/연기 규정</a:t>
            </a:r>
          </a:p>
        </p:txBody>
      </p:sp>
      <p:sp>
        <p:nvSpPr>
          <p:cNvPr id="31" name="TextBox 30"/>
          <p:cNvSpPr txBox="1"/>
          <p:nvPr/>
        </p:nvSpPr>
        <p:spPr>
          <a:xfrm>
            <a:off x="715792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340803" y="2670048"/>
            <a:ext cx="8979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42309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230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724851" y="2670048"/>
            <a:ext cx="4773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FAQ</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화면에 🇰🇷 한국·🇵🇭 필리핀 시간이 함께 뜨는 시계예요. 필리핀 현지 강사와 한국 학생의 수업 시간을 조율할 때 시차를 바로 확인할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204264"/>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화면에 떠 있는 듀얼 시계에서 🇰🇷 한국·🇵🇭 필리핀 시간을 동시에 봐요.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시계를 드래그하면 원하는 위치로 옮길 수 있어요.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시계를 탭(클릭)하면 홈으로 이동해요.</a:t>
            </a:r>
          </a:p>
        </p:txBody>
      </p:sp>
      <p:sp>
        <p:nvSpPr>
          <p:cNvPr id="14" name="Rounded Rectangle 13"/>
          <p:cNvSpPr/>
          <p:nvPr/>
        </p:nvSpPr>
        <p:spPr>
          <a:xfrm>
            <a:off x="457200" y="5044744"/>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9046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37352"/>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필리핀은 한국보다 1시간 느려요(시차 −1시간).</a:t>
            </a:r>
          </a:p>
          <a:p>
            <a:pPr>
              <a:lnSpc>
                <a:spcPct val="115000"/>
              </a:lnSpc>
              <a:spcAft>
                <a:spcPts val="100"/>
              </a:spcAft>
            </a:pPr>
            <a:r>
              <a:rPr sz="800" b="1">
                <a:solidFill>
                  <a:srgbClr val="4F46E5"/>
                </a:solidFill>
                <a:latin typeface="Malgun Gothic"/>
              </a:rPr>
              <a:t>● </a:t>
            </a:r>
            <a:r>
              <a:rPr sz="1000">
                <a:solidFill>
                  <a:srgbClr val="334155"/>
                </a:solidFill>
                <a:latin typeface="Malgun Gothic"/>
              </a:rPr>
              <a:t>수업 예약·입장 시간을 두 나라 시간으로 확인할 수 있어요.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805460" y="3255264"/>
            <a:ext cx="4585638"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860324" y="3310128"/>
            <a:ext cx="4475910"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36161"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11845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84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4420209"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듀얼 시계</a:t>
            </a:r>
          </a:p>
        </p:txBody>
      </p:sp>
      <p:sp>
        <p:nvSpPr>
          <p:cNvPr id="26" name="TextBox 25"/>
          <p:cNvSpPr txBox="1"/>
          <p:nvPr/>
        </p:nvSpPr>
        <p:spPr>
          <a:xfrm>
            <a:off x="539130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574182" y="2670048"/>
            <a:ext cx="111191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65647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5647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958230"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드래그</a:t>
            </a:r>
          </a:p>
        </p:txBody>
      </p:sp>
      <p:sp>
        <p:nvSpPr>
          <p:cNvPr id="31" name="TextBox 30"/>
          <p:cNvSpPr txBox="1"/>
          <p:nvPr/>
        </p:nvSpPr>
        <p:spPr>
          <a:xfrm>
            <a:off x="668609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868972" y="2670048"/>
            <a:ext cx="12838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9512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512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253020" y="2670048"/>
            <a:ext cx="8631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탭(클릭)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망고아이는 영어뿐 아니라 중국어 과정도 제공해요. 다락원 중국어 마스터(Lv 1~20) 기반 발음 코치(한자+병음·AI 음성인식·원어민 비교)로, 중국어 수요가 있는 학생을 유치·관리할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AI 음성코치에서 CN 중국어 레벨을 골라요. (또는 중국어 발음 코치로 이동)</a:t>
            </a:r>
          </a:p>
          <a:p>
            <a:pPr>
              <a:lnSpc>
                <a:spcPct val="115000"/>
              </a:lnSpc>
              <a:spcAft>
                <a:spcPts val="300"/>
              </a:spcAft>
            </a:pPr>
            <a:r>
              <a:rPr sz="700" b="1">
                <a:solidFill>
                  <a:srgbClr val="4F46E5"/>
                </a:solidFill>
                <a:latin typeface="Malgun Gothic"/>
              </a:rPr>
              <a:t>● </a:t>
            </a:r>
            <a:r>
              <a:rPr sz="900">
                <a:solidFill>
                  <a:srgbClr val="334155"/>
                </a:solidFill>
                <a:latin typeface="Malgun Gothic"/>
              </a:rPr>
              <a:t>다락원 마스터 시리즈(1~6, HSK 1~6)와 단원을 선택해요.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화면의 문장(한자 + 병음)을 따라 읽고, ‘원어민 발음 듣기’로 비교해요.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반복·느리게(0.85x) 기능으로 어려운 발음·성조를 연습해요.</a:t>
            </a:r>
          </a:p>
        </p:txBody>
      </p:sp>
      <p:sp>
        <p:nvSpPr>
          <p:cNvPr id="14" name="Rounded Rectangle 13"/>
          <p:cNvSpPr/>
          <p:nvPr/>
        </p:nvSpPr>
        <p:spPr>
          <a:xfrm>
            <a:off x="457200" y="4994452"/>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한자와 병음(발음 표기)이 함께 나와 읽기 쉬워요.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AI가 음성을 인식해 원어민과 비교해줘요.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학습 게임 허브에서도 중국어를 지원해요.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느리게로 듣고 또박또박 따라 하면 성조(4성)가 잘 잡혀요.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251252" y="2670048"/>
            <a:ext cx="13697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3354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3335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2635300" y="2670048"/>
            <a:ext cx="9491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CN 중국어</a:t>
            </a:r>
          </a:p>
        </p:txBody>
      </p:sp>
      <p:sp>
        <p:nvSpPr>
          <p:cNvPr id="26" name="TextBox 25"/>
          <p:cNvSpPr txBox="1"/>
          <p:nvPr/>
        </p:nvSpPr>
        <p:spPr>
          <a:xfrm>
            <a:off x="362102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3803903"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88619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861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187951"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다락원 마스터 시리…</a:t>
            </a:r>
          </a:p>
        </p:txBody>
      </p:sp>
      <p:sp>
        <p:nvSpPr>
          <p:cNvPr id="31" name="TextBox 30"/>
          <p:cNvSpPr txBox="1"/>
          <p:nvPr/>
        </p:nvSpPr>
        <p:spPr>
          <a:xfrm>
            <a:off x="603138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214262" y="2670048"/>
            <a:ext cx="15270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29655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65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598310" y="2670048"/>
            <a:ext cx="11064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한자 + 병음</a:t>
            </a:r>
          </a:p>
        </p:txBody>
      </p:sp>
      <p:sp>
        <p:nvSpPr>
          <p:cNvPr id="36" name="TextBox 35"/>
          <p:cNvSpPr txBox="1"/>
          <p:nvPr/>
        </p:nvSpPr>
        <p:spPr>
          <a:xfrm>
            <a:off x="774131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924190" y="2670048"/>
            <a:ext cx="201350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0648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064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08238" y="2670048"/>
            <a:ext cx="15928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반복·느리게(0.8…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공지 스튜디오 (포스터 + 팝업)</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공지·이벤트 포스터를 만들어 학생 앱 팝업으로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흩어져 있던 ‘포스터 만들기’와 ‘팝업 공지 관리’를 한 곳으로 통합한 기능이에요. ①만들기 탭에서 공지·이벤트 포스터를 디자인하고, 바로 ②게시·팝업 탭으로 넘겨 우리 학원 학생 앱에 팝업으로 띄울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474927"/>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관리자 메뉴 알림 센터 → 📢 공지 스튜디오로 들어가요.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①만들기 탭에서 문구·이미지·동영상으로 포스터를 꾸며요. (크기 조절·서버 저장·재사용 가능)</a:t>
            </a:r>
          </a:p>
          <a:p>
            <a:pPr>
              <a:lnSpc>
                <a:spcPct val="115000"/>
              </a:lnSpc>
              <a:spcAft>
                <a:spcPts val="300"/>
              </a:spcAft>
            </a:pPr>
            <a:r>
              <a:rPr sz="700" b="1">
                <a:solidFill>
                  <a:srgbClr val="4F46E5"/>
                </a:solidFill>
                <a:latin typeface="Malgun Gothic"/>
              </a:rPr>
              <a:t>● </a:t>
            </a:r>
            <a:r>
              <a:rPr sz="900">
                <a:solidFill>
                  <a:srgbClr val="334155"/>
                </a:solidFill>
                <a:latin typeface="Malgun Gothic"/>
              </a:rPr>
              <a:t>완성한 포스터의 ‘📢 팝업으로 게시’ 를 누르면 ②게시·팝업 탭으로 자동 전환돼요.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게시 탭에서 노출 기간·중단을 설정해 학생 앱 팝업으로 발행해요.</a:t>
            </a:r>
          </a:p>
        </p:txBody>
      </p:sp>
      <p:sp>
        <p:nvSpPr>
          <p:cNvPr id="14" name="Rounded Rectangle 13"/>
          <p:cNvSpPr/>
          <p:nvPr/>
        </p:nvSpPr>
        <p:spPr>
          <a:xfrm>
            <a:off x="457200" y="5315407"/>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61127"/>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608015"/>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포스터 제작과 팝업 발행이 한 화면 2탭으로 이어져 헷갈리지 않아요.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만든 포스터는 저장해두고 재사용할 수 있어요.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AI 비서·사이드바 검색 어느 경로로 들어와도 올바른 탭이 열려요.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기존 포스터·팝업 데이터는 그대로 유지돼요(통합만 됐고 삭제되지 않았어요).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이벤트 홍보는 ‘만들기 → 바로 팝업 게시’ 흐름 한 번이면 끝나요.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194560" y="2670048"/>
            <a:ext cx="19988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27685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768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578608" y="2670048"/>
            <a:ext cx="15782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알림 센터 → 📢…</a:t>
            </a:r>
          </a:p>
        </p:txBody>
      </p:sp>
      <p:sp>
        <p:nvSpPr>
          <p:cNvPr id="28" name="TextBox 27"/>
          <p:cNvSpPr txBox="1"/>
          <p:nvPr/>
        </p:nvSpPr>
        <p:spPr>
          <a:xfrm>
            <a:off x="419343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76318" y="2670048"/>
            <a:ext cx="126918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5861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5861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60366"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①만들기</a:t>
            </a:r>
          </a:p>
        </p:txBody>
      </p:sp>
      <p:sp>
        <p:nvSpPr>
          <p:cNvPr id="33" name="TextBox 32"/>
          <p:cNvSpPr txBox="1"/>
          <p:nvPr/>
        </p:nvSpPr>
        <p:spPr>
          <a:xfrm>
            <a:off x="564550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828385"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91068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106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212433"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팝업으로 게시…</a:t>
            </a:r>
          </a:p>
        </p:txBody>
      </p:sp>
      <p:sp>
        <p:nvSpPr>
          <p:cNvPr id="38" name="TextBox 37"/>
          <p:cNvSpPr txBox="1"/>
          <p:nvPr/>
        </p:nvSpPr>
        <p:spPr>
          <a:xfrm>
            <a:off x="805586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238744"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3210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622792"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노출 기간·중단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운영비서에게 시키기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 화면으로 가게 해줘” 한마디로 이동</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상단 통합 검색창(또는 우하단 AI 운영비서) 에 하고 싶은 일을 자연스럽게 말하면, AI가 알아듣고 바로 그 화면으로 이동시켜줘요. 이제 ‘○○ 강사 스케줄로 가게 해줘’, ‘자동 스케줄링 열어줘’ 같은 이동 명령을 정확히 따라요.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상단 검색창에 명령을 입력하거나 🎤 마이크로 말해요.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예: “김민지 강사 스케줄로 가게 해줘” → 주간 스케줄에서 해당 강사를 자동으로 찾아 열어줘요.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예: “자동 스케줄링 열어줘”, “정산 화면으로” 처럼 메뉴 이동을 시켜요.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AI 응답 카드의 ‘지금 이동 →’ 을 누르면 해당 화면으로 넘어가요.</a:t>
            </a:r>
          </a:p>
        </p:txBody>
      </p:sp>
      <p:sp>
        <p:nvSpPr>
          <p:cNvPr id="14" name="Rounded Rectangle 13"/>
          <p:cNvSpPr/>
          <p:nvPr/>
        </p:nvSpPr>
        <p:spPr>
          <a:xfrm>
            <a:off x="457200" y="5154930"/>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이동 명령은 확실히 이동하고, 설명만 하고 마는 일이 줄었어요.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강사 이름으로 스케줄을 검색하면 검색창 자동 채움 + 필터 + 스크롤까지 돼요.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데이터 조회·통계 질문에는 카드형 답변으로도 도와줘요.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‘등록·발송·변경’처럼 실제로 무언가를 바꾸는 명령은 한 번 더 확인해요(안전장치).</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메뉴 이름이 기억나지 않을 땐 하고 싶은 일을 그대로 말해보세요 — 알아서 찾아가요.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80260" y="2670048"/>
            <a:ext cx="111191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16255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6255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464308"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검색창</a:t>
            </a:r>
          </a:p>
        </p:txBody>
      </p:sp>
      <p:sp>
        <p:nvSpPr>
          <p:cNvPr id="28" name="TextBox 27"/>
          <p:cNvSpPr txBox="1"/>
          <p:nvPr/>
        </p:nvSpPr>
        <p:spPr>
          <a:xfrm>
            <a:off x="319217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375050"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5734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5734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759098"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“김민지 강사 스케…</a:t>
            </a:r>
          </a:p>
        </p:txBody>
      </p:sp>
      <p:sp>
        <p:nvSpPr>
          <p:cNvPr id="33" name="TextBox 32"/>
          <p:cNvSpPr txBox="1"/>
          <p:nvPr/>
        </p:nvSpPr>
        <p:spPr>
          <a:xfrm>
            <a:off x="560252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785408"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86770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677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169456"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“자동 스케줄링 열…</a:t>
            </a:r>
          </a:p>
        </p:txBody>
      </p:sp>
      <p:sp>
        <p:nvSpPr>
          <p:cNvPr id="38" name="TextBox 37"/>
          <p:cNvSpPr txBox="1"/>
          <p:nvPr/>
        </p:nvSpPr>
        <p:spPr>
          <a:xfrm>
            <a:off x="801288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195767"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7806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80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579815"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‘지금 이동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음성 일기 모니터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학생별 영어 일기·AI 첨삭·점수 확인</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학생들이 남긴 AI 음성 일기를 관리자 화면에서 조회할 수 있어요. 학생별로 전사(말한 내용)·AI 첨삭·격려·점수를 월별로 확인해, 꾸준히 쓰는 학생을 격려하고 학습 상태를 파악할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204264"/>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관리자 메뉴에서 📔 음성 일기(모니터) 카드를 열어요.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학생 UID 입력 후 조회할 월을 선택하고 ‘조회’ 를 눌러요.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일기 목록에서 항목을 열면 전사·첨삭·격려·점수를 볼 수 있어요.</a:t>
            </a:r>
          </a:p>
        </p:txBody>
      </p:sp>
      <p:sp>
        <p:nvSpPr>
          <p:cNvPr id="14" name="Rounded Rectangle 13"/>
          <p:cNvSpPr/>
          <p:nvPr/>
        </p:nvSpPr>
        <p:spPr>
          <a:xfrm>
            <a:off x="457200" y="5044744"/>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9046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37352"/>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학생이 실제로 일기를 남겨야 조회돼요(입구는 학생 홈의 📔 카드).</a:t>
            </a:r>
          </a:p>
          <a:p>
            <a:pPr>
              <a:lnSpc>
                <a:spcPct val="115000"/>
              </a:lnSpc>
              <a:spcAft>
                <a:spcPts val="100"/>
              </a:spcAft>
            </a:pPr>
            <a:r>
              <a:rPr sz="800" b="1">
                <a:solidFill>
                  <a:srgbClr val="4F46E5"/>
                </a:solidFill>
                <a:latin typeface="Malgun Gothic"/>
              </a:rPr>
              <a:t>● </a:t>
            </a:r>
            <a:r>
              <a:rPr sz="1000">
                <a:solidFill>
                  <a:srgbClr val="334155"/>
                </a:solidFill>
                <a:latin typeface="Malgun Gothic"/>
              </a:rPr>
              <a:t>꾸준히 쓰는 학생을 찾아 칭찬·리워드로 연결하면 습관이 굳어져요.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‘조회가 안 된다’면 대부분 그 학생이 아직 일기를 남기지 않은 경우예요.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827324"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90962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0962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211372"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음성 일기(모니…</a:t>
            </a:r>
          </a:p>
        </p:txBody>
      </p:sp>
      <p:sp>
        <p:nvSpPr>
          <p:cNvPr id="26" name="TextBox 25"/>
          <p:cNvSpPr txBox="1"/>
          <p:nvPr/>
        </p:nvSpPr>
        <p:spPr>
          <a:xfrm>
            <a:off x="498347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166359" y="2670048"/>
            <a:ext cx="185623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4865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486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550407" y="2670048"/>
            <a:ext cx="14356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학생 UID 입력…</a:t>
            </a:r>
          </a:p>
        </p:txBody>
      </p:sp>
      <p:sp>
        <p:nvSpPr>
          <p:cNvPr id="31" name="TextBox 30"/>
          <p:cNvSpPr txBox="1"/>
          <p:nvPr/>
        </p:nvSpPr>
        <p:spPr>
          <a:xfrm>
            <a:off x="702259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205471"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28776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8776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589519"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전사·첨삭·격려·점…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강사 AI 코칭 검수(운영)</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수업별 AI 코칭·품질 점수 모아 보기</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수업이 끝날 때마다 AI가 강사에게 남긴 코칭(잘한 점·개선점·수업 품질 점수) 을 관리자 화면에서 최근 순으로 모아 볼 수 있어요. 감시가 아니라 강사 성장 지원·코칭 품질 관리 관점으로 활용하세요.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32941"/>
          </a:xfrm>
          <a:prstGeom prst="rect">
            <a:avLst/>
          </a:prstGeom>
          <a:noFill/>
        </p:spPr>
        <p:txBody>
          <a:bodyPr wrap="square">
            <a:spAutoFit/>
          </a:bodyPr>
          <a:lstStyle/>
          <a:p>
            <a:pPr>
              <a:lnSpc>
                <a:spcPct val="115000"/>
              </a:lnSpc>
              <a:spcAft>
                <a:spcPts val="300"/>
              </a:spcAft>
            </a:pPr>
            <a:r>
              <a:rPr sz="850" b="1">
                <a:solidFill>
                  <a:srgbClr val="4F46E5"/>
                </a:solidFill>
                <a:latin typeface="Malgun Gothic"/>
              </a:rPr>
              <a:t>● </a:t>
            </a:r>
            <a:r>
              <a:rPr sz="1050">
                <a:solidFill>
                  <a:srgbClr val="334155"/>
                </a:solidFill>
                <a:latin typeface="Malgun Gothic"/>
              </a:rPr>
              <a:t>관리자 🧲 리텐션 센터 → 💼 강사 코칭 탭으로 들어가요.</a:t>
            </a:r>
          </a:p>
          <a:p>
            <a:pPr>
              <a:lnSpc>
                <a:spcPct val="115000"/>
              </a:lnSpc>
              <a:spcAft>
                <a:spcPts val="300"/>
              </a:spcAft>
            </a:pPr>
            <a:r>
              <a:rPr sz="850" b="1">
                <a:solidFill>
                  <a:srgbClr val="4F46E5"/>
                </a:solidFill>
                <a:latin typeface="Malgun Gothic"/>
              </a:rPr>
              <a:t>● </a:t>
            </a:r>
            <a:r>
              <a:rPr sz="1050">
                <a:solidFill>
                  <a:srgbClr val="334155"/>
                </a:solidFill>
                <a:latin typeface="Malgun Gothic"/>
              </a:rPr>
              <a:t>하단 ‘🤖 수업별 AI 코칭(최근)’ 섹션에서 강사별 최근 코칭을 확인해요.</a:t>
            </a:r>
          </a:p>
          <a:p>
            <a:pPr>
              <a:lnSpc>
                <a:spcPct val="115000"/>
              </a:lnSpc>
              <a:spcAft>
                <a:spcPts val="300"/>
              </a:spcAft>
            </a:pPr>
            <a:r>
              <a:rPr sz="850" b="1">
                <a:solidFill>
                  <a:srgbClr val="4F46E5"/>
                </a:solidFill>
                <a:latin typeface="Malgun Gothic"/>
              </a:rPr>
              <a:t>● </a:t>
            </a:r>
            <a:r>
              <a:rPr sz="1050">
                <a:solidFill>
                  <a:srgbClr val="334155"/>
                </a:solidFill>
                <a:latin typeface="Malgun Gothic"/>
              </a:rPr>
              <a:t>각 카드의 품질 점수·발화비율·개선점으로 코칭·교육 포인트를 잡아요.</a:t>
            </a:r>
          </a:p>
        </p:txBody>
      </p:sp>
      <p:sp>
        <p:nvSpPr>
          <p:cNvPr id="14" name="Rounded Rectangle 13"/>
          <p:cNvSpPr/>
          <p:nvPr/>
        </p:nvSpPr>
        <p:spPr>
          <a:xfrm>
            <a:off x="457200" y="4973421"/>
            <a:ext cx="5669280" cy="8691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19141"/>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266029"/>
            <a:ext cx="5394960" cy="539953"/>
          </a:xfrm>
          <a:prstGeom prst="rect">
            <a:avLst/>
          </a:prstGeom>
          <a:noFill/>
        </p:spPr>
        <p:txBody>
          <a:bodyPr wrap="square">
            <a:spAutoFit/>
          </a:bodyPr>
          <a:lstStyle/>
          <a:p>
            <a:pPr>
              <a:lnSpc>
                <a:spcPct val="115000"/>
              </a:lnSpc>
              <a:spcAft>
                <a:spcPts val="100"/>
              </a:spcAft>
            </a:pPr>
            <a:r>
              <a:rPr sz="750" b="1">
                <a:solidFill>
                  <a:srgbClr val="4F46E5"/>
                </a:solidFill>
                <a:latin typeface="Malgun Gothic"/>
              </a:rPr>
              <a:t>● </a:t>
            </a:r>
            <a:r>
              <a:rPr sz="950">
                <a:solidFill>
                  <a:srgbClr val="334155"/>
                </a:solidFill>
                <a:latin typeface="Malgun Gothic"/>
              </a:rPr>
              <a:t>전체 강사의 최근 코칭을 한눈에 볼 수 있어요.</a:t>
            </a:r>
          </a:p>
          <a:p>
            <a:pPr>
              <a:lnSpc>
                <a:spcPct val="115000"/>
              </a:lnSpc>
              <a:spcAft>
                <a:spcPts val="100"/>
              </a:spcAft>
            </a:pPr>
            <a:r>
              <a:rPr sz="750" b="1">
                <a:solidFill>
                  <a:srgbClr val="4F46E5"/>
                </a:solidFill>
                <a:latin typeface="Malgun Gothic"/>
              </a:rPr>
              <a:t>● </a:t>
            </a:r>
            <a:r>
              <a:rPr sz="950">
                <a:solidFill>
                  <a:srgbClr val="334155"/>
                </a:solidFill>
                <a:latin typeface="Malgun Gothic"/>
              </a:rPr>
              <a:t>관리자에게는 월 누적 요약 중심으로 보여줘 부담이 적어요.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코칭 문구는 강사 개인 성장용이에요. 평가·징계 목적이 아닌 지원 도구로 쓰는 걸 권장해요.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품질 점수가 낮게 반복되는 강사는 강사 교육 매뉴얼과 연결해 코칭하세요.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56001"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83829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3829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140049"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리텐션 센터 →…</a:t>
            </a:r>
          </a:p>
        </p:txBody>
      </p:sp>
      <p:sp>
        <p:nvSpPr>
          <p:cNvPr id="28" name="TextBox 27"/>
          <p:cNvSpPr txBox="1"/>
          <p:nvPr/>
        </p:nvSpPr>
        <p:spPr>
          <a:xfrm>
            <a:off x="491215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095036" y="2670048"/>
            <a:ext cx="19275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7733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773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479084" y="2670048"/>
            <a:ext cx="15069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수업별 AI…</a:t>
            </a:r>
          </a:p>
        </p:txBody>
      </p:sp>
      <p:sp>
        <p:nvSpPr>
          <p:cNvPr id="33" name="TextBox 32"/>
          <p:cNvSpPr txBox="1"/>
          <p:nvPr/>
        </p:nvSpPr>
        <p:spPr>
          <a:xfrm>
            <a:off x="702259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205472"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2877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877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589520"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품질 점수·발화비율…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QR 출결 체크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QR 한 번 스캔으로 출석 완료</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학원 입구에 출결용 QR 코드를 붙여두면, 학생이 휴대폰으로 스캔하는 순간 출석이 자동 기록돼요. 관리자 대시보드에서 오늘의 출결 현황을 실시간으로 확인할 수 있어 수기 출석부가 필요 없어요.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관리자 메뉴에서 QR 출결 카드를 열고 우리 학원 QR 코드를 생성해요.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QR을 인쇄해 입구·데스크에 붙여요.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학생이 휴대폰 카메라로 스캔하면 체크인 화면에서 출석이 완료돼요.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대시보드의 출결 현황에서 오늘 출석·시간을 실시간으로 봐요.</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출석 시각이 자동 기록돼 정확하고 빨라요.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출결 데이터는 학생 관리·리포트와 자동으로 이어져요.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QR 코드는 우리 학원 전용이에요. 외부에 공유되지 않게 관리하세요.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등원 시간대에 데스크에 태블릿을 세워두면 줄 서지 않고 스캔할 수 있어요.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023920" y="2670048"/>
            <a:ext cx="121249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10621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1062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407968" y="2670048"/>
            <a:ext cx="7918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QR 출결</a:t>
            </a:r>
          </a:p>
        </p:txBody>
      </p:sp>
      <p:sp>
        <p:nvSpPr>
          <p:cNvPr id="28" name="TextBox 27"/>
          <p:cNvSpPr txBox="1"/>
          <p:nvPr/>
        </p:nvSpPr>
        <p:spPr>
          <a:xfrm>
            <a:off x="423641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419295"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015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15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803343"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입구·데스크</a:t>
            </a:r>
          </a:p>
        </p:txBody>
      </p:sp>
      <p:sp>
        <p:nvSpPr>
          <p:cNvPr id="33" name="TextBox 32"/>
          <p:cNvSpPr txBox="1"/>
          <p:nvPr/>
        </p:nvSpPr>
        <p:spPr>
          <a:xfrm>
            <a:off x="593171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114592"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19688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968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498640"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체크인 화면</a:t>
            </a:r>
          </a:p>
        </p:txBody>
      </p:sp>
      <p:sp>
        <p:nvSpPr>
          <p:cNvPr id="38" name="TextBox 37"/>
          <p:cNvSpPr txBox="1"/>
          <p:nvPr/>
        </p:nvSpPr>
        <p:spPr>
          <a:xfrm>
            <a:off x="762701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809890"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89218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9218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193938"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출결 현황</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상담 예약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신규 상담 접수부터 일정 관리까지</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학부모·신규 문의자의 상담 예약을 접수하고 한 화면에서 관리할 수 있어요. 예약 목록에서 일정·상태(대기/완료) 를 관리하고, 상담 결과를 등록으로 이어가는 흐름을 만들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관리자 메뉴에서 상담 예약 카드를 열어요.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새 예약으로 이름·연락처·희망 일시를 등록하거나, 접수된 예약을 확인해요.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상담을 마치면 상태를 완료로 바꾸고 메모를 남겨요.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상담 → 레벨테스트 → 등록으로 자연스럽게 이어가세요.</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예약이 한 곳에 모여 놓치는 상담이 없어요.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상담 이력이 남아 재문의 대응이 쉬워져요.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상담 다음 날 안부 연락 한 번이 등록 전환율을 크게 올려줘요.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52344"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346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346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136392"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상담 예약</a:t>
            </a:r>
          </a:p>
        </p:txBody>
      </p:sp>
      <p:sp>
        <p:nvSpPr>
          <p:cNvPr id="26" name="TextBox 25"/>
          <p:cNvSpPr txBox="1"/>
          <p:nvPr/>
        </p:nvSpPr>
        <p:spPr>
          <a:xfrm>
            <a:off x="410748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290364" y="2670048"/>
            <a:ext cx="119786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7266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26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74412"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새 예약</a:t>
            </a:r>
          </a:p>
        </p:txBody>
      </p:sp>
      <p:sp>
        <p:nvSpPr>
          <p:cNvPr id="31" name="TextBox 30"/>
          <p:cNvSpPr txBox="1"/>
          <p:nvPr/>
        </p:nvSpPr>
        <p:spPr>
          <a:xfrm>
            <a:off x="548822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671108"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5340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534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055156"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상태를 완료</a:t>
            </a:r>
          </a:p>
        </p:txBody>
      </p:sp>
      <p:sp>
        <p:nvSpPr>
          <p:cNvPr id="36" name="TextBox 35"/>
          <p:cNvSpPr txBox="1"/>
          <p:nvPr/>
        </p:nvSpPr>
        <p:spPr>
          <a:xfrm>
            <a:off x="718352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366406"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44870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87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750454"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레벨테스트 → 등록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친구 추천 보상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추천 현황 확인 · 보상 지급</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재원생이 친구를 데려오는 추천(리퍼럴) 현황을 조회하고 보상 지급까지 처리할 수 있어요. 누가 누구를 추천했는지, 보상이 지급됐는지 한 화면에서 관리돼 입소문 마케팅을 체계적으로 운영할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204264"/>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관리자 메뉴에서 추천 보상 카드를 열어요.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추천인·피추천인·등록 여부를 목록에서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조건을 충족한 건은 보상 지급으로 처리해요(포인트·기프티콘 등).</a:t>
            </a:r>
          </a:p>
        </p:txBody>
      </p:sp>
      <p:sp>
        <p:nvSpPr>
          <p:cNvPr id="14" name="Rounded Rectangle 13"/>
          <p:cNvSpPr/>
          <p:nvPr/>
        </p:nvSpPr>
        <p:spPr>
          <a:xfrm>
            <a:off x="457200" y="5044744"/>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9046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37352"/>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추천 이력이 데이터로 남아 분쟁 없이 투명해요.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보상 정책을 학생 포인트·상점과 연결하면 효과가 커져요.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신학기 전 ‘친구 추천 이벤트’와 함께 쓰면 등록 문의가 눈에 띄게 늘어요.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42715"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2501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2501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26763"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추천 보상</a:t>
            </a:r>
          </a:p>
        </p:txBody>
      </p:sp>
      <p:sp>
        <p:nvSpPr>
          <p:cNvPr id="26" name="TextBox 25"/>
          <p:cNvSpPr txBox="1"/>
          <p:nvPr/>
        </p:nvSpPr>
        <p:spPr>
          <a:xfrm>
            <a:off x="479785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980736"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06303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630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364784"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추천인·피추천인·등…</a:t>
            </a:r>
          </a:p>
        </p:txBody>
      </p:sp>
      <p:sp>
        <p:nvSpPr>
          <p:cNvPr id="31" name="TextBox 30"/>
          <p:cNvSpPr txBox="1"/>
          <p:nvPr/>
        </p:nvSpPr>
        <p:spPr>
          <a:xfrm>
            <a:off x="720821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391095"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47339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7339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775143"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보상 지급</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연기·변경 요청 승인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강사가 제출한 요청을 확인·승인</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강사가 제출한 수업 연기·시간 변경 요청이 관리자 화면에 실시간으로 모여요. 요청 사유를 확인하고 승인/반려하면 스케줄에 바로 반영돼, 전화·메신저로 오가던 일정 조율이 한 화면에서 끝나요.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관리자 메뉴에서 수업 연기/변경 요청 카드를 열어요.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대기 중 요청의 강사·수업·사유를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승인 또는 반려를 누르면 결과가 스케줄과 강사에게 반영돼요.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요청·처리 이력이 남아 분쟁 없이 투명해요.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학부모 안내가 필요한 변경은 승인 후 바로 알림으로 이어가세요.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매일 아침 대기 요청을 비우는 습관을 들이면 당일 혼선이 없어요.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478377"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56067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606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862425"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연기/변경 요…</a:t>
            </a:r>
          </a:p>
        </p:txBody>
      </p:sp>
      <p:sp>
        <p:nvSpPr>
          <p:cNvPr id="26" name="TextBox 25"/>
          <p:cNvSpPr txBox="1"/>
          <p:nvPr/>
        </p:nvSpPr>
        <p:spPr>
          <a:xfrm>
            <a:off x="563453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5817412"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9970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9970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6201460"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강사·수업·사유</a:t>
            </a:r>
          </a:p>
        </p:txBody>
      </p:sp>
      <p:sp>
        <p:nvSpPr>
          <p:cNvPr id="31" name="TextBox 30"/>
          <p:cNvSpPr txBox="1"/>
          <p:nvPr/>
        </p:nvSpPr>
        <p:spPr>
          <a:xfrm>
            <a:off x="757306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755940"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83823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3823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8139988"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승인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자료실 카카오톡 링크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영상·문서를 원본 화질 그대로 카톡으로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자료실의 설명서·영상마다 ‘💬 카톡 링크복사’ 버튼이 생겼어요. 카카오톡에 파일을 첨부하면 화질이 눌리지만, 링크로 보내면 원본 화질 그대로 재생돼요. 버튼 한 번으로 링크가 복사되니 학부모·강사 안내가 훨씬 쉬워요.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관리자 자료실에서 공유할 파일 옆 💬 카톡 링크복사를 눌러요.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카카오톡 대화방에 붙여넣기로 보내요.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받는 사람은 링크를 눌러 원본 화질로 바로 보거나 내려받아요.</a:t>
            </a:r>
          </a:p>
        </p:txBody>
      </p:sp>
      <p:sp>
        <p:nvSpPr>
          <p:cNvPr id="14" name="Rounded Rectangle 13"/>
          <p:cNvSpPr/>
          <p:nvPr/>
        </p:nvSpPr>
        <p:spPr>
          <a:xfrm>
            <a:off x="457200" y="4839690"/>
            <a:ext cx="5669280" cy="88696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557784"/>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동영상은 링크 공유 = 원본 화질, 파일 첨부는 화질이 떨어져요.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설명서 PDF·PPT·영상 등 자료실 어디서나 같은 방식으로 공유돼요.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링크를 받은 사람은 누구나 열 수 있어요. 내부용 자료는 공유 대상을 확인하세요.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학부모 단체방에는 영상 설명서 링크 하나면 안내가 끝나요.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043476" y="2670048"/>
            <a:ext cx="111191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12577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257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4427524"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자료실</a:t>
            </a:r>
          </a:p>
        </p:txBody>
      </p:sp>
      <p:sp>
        <p:nvSpPr>
          <p:cNvPr id="28" name="TextBox 27"/>
          <p:cNvSpPr txBox="1"/>
          <p:nvPr/>
        </p:nvSpPr>
        <p:spPr>
          <a:xfrm>
            <a:off x="515538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338267" y="2670048"/>
            <a:ext cx="126918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42056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205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722315"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붙여넣기</a:t>
            </a:r>
          </a:p>
        </p:txBody>
      </p:sp>
      <p:sp>
        <p:nvSpPr>
          <p:cNvPr id="33" name="TextBox 32"/>
          <p:cNvSpPr txBox="1"/>
          <p:nvPr/>
        </p:nvSpPr>
        <p:spPr>
          <a:xfrm>
            <a:off x="660745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790334"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87263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726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174382"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원본 화질</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수강 등록 · 결제 → 수업 자동 생성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 확정되면 회차 전량이 자동으로 잡힙니다</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수강신청 화면에서 학생이 강사·요일·시간을 고르고 결제하면, 결제 확정 시점에 수업 회차가 전량 자동 생성됩니다. 예전처럼 결제 확인 후 사람이 일일이 시간표를 넣던 작업이 사라졌어요. 같은 시간에 이미 잡힌 수업이 있으면 결제 전에 충돌을 감지해 알려 줍니다.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602943"/>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학생·학부모에게 수강신청 링크를 안내해요.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학생이 강사 → 수업 옵션(주 횟수·기간·수업 길이) → 요일·시간 순으로 고릅니다.</a:t>
            </a:r>
          </a:p>
          <a:p>
            <a:pPr>
              <a:lnSpc>
                <a:spcPct val="115000"/>
              </a:lnSpc>
              <a:spcAft>
                <a:spcPts val="300"/>
              </a:spcAft>
            </a:pPr>
            <a:r>
              <a:rPr sz="700" b="1">
                <a:solidFill>
                  <a:srgbClr val="4F46E5"/>
                </a:solidFill>
                <a:latin typeface="Malgun Gothic"/>
              </a:rPr>
              <a:t>● </a:t>
            </a:r>
            <a:r>
              <a:rPr sz="900">
                <a:solidFill>
                  <a:srgbClr val="334155"/>
                </a:solidFill>
                <a:latin typeface="Malgun Gothic"/>
              </a:rPr>
              <a:t>시간 확인이 통과돼야 결제 버튼이 열립니다(충돌 시 결제 불가).</a:t>
            </a:r>
          </a:p>
          <a:p>
            <a:pPr>
              <a:lnSpc>
                <a:spcPct val="115000"/>
              </a:lnSpc>
              <a:spcAft>
                <a:spcPts val="300"/>
              </a:spcAft>
            </a:pPr>
            <a:r>
              <a:rPr sz="700" b="1">
                <a:solidFill>
                  <a:srgbClr val="4F46E5"/>
                </a:solidFill>
                <a:latin typeface="Malgun Gothic"/>
              </a:rPr>
              <a:t>● </a:t>
            </a:r>
            <a:r>
              <a:rPr sz="900">
                <a:solidFill>
                  <a:srgbClr val="334155"/>
                </a:solidFill>
                <a:latin typeface="Malgun Gothic"/>
              </a:rPr>
              <a:t>결제가 확정되면 회차가 한꺼번에 생성됩니다. 관리자 화면 수업 목록에서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본사 단가·할인율은 단가표 화면에서 관리합니다.</a:t>
            </a:r>
          </a:p>
        </p:txBody>
      </p:sp>
      <p:sp>
        <p:nvSpPr>
          <p:cNvPr id="14" name="Rounded Rectangle 13"/>
          <p:cNvSpPr/>
          <p:nvPr/>
        </p:nvSpPr>
        <p:spPr>
          <a:xfrm>
            <a:off x="457200" y="5443423"/>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489143"/>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736031"/>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멱등 처리돼서 결제 알림이 중복 들어와도 회차가 두 번 생기지 않아요.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공휴일·기존 수업과 겹치면 뒤로 밀어서 회차 수를 채웁니다.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기간 할인(6개월 -5% · 12개월 -10%)이 금액에 자동 반영됩니다.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현재는 1단계(등록 → 결제 → 회차 자동 생성) 까지 열려 있습니다. 이후 단계는 순차 반영 예정입니다.</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상담 → 레벨테스트 → 수강신청 링크 전달 순서로 안내하면 등록 전환이 매끄럽습니다.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268272" y="2670048"/>
            <a:ext cx="166969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3505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05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652320" y="2670048"/>
            <a:ext cx="12490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수강신청 링크</a:t>
            </a:r>
          </a:p>
        </p:txBody>
      </p:sp>
      <p:sp>
        <p:nvSpPr>
          <p:cNvPr id="28" name="TextBox 27"/>
          <p:cNvSpPr txBox="1"/>
          <p:nvPr/>
        </p:nvSpPr>
        <p:spPr>
          <a:xfrm>
            <a:off x="293796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120847"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2031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31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504895"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 수업 옵션…</a:t>
            </a:r>
          </a:p>
        </p:txBody>
      </p:sp>
      <p:sp>
        <p:nvSpPr>
          <p:cNvPr id="33" name="TextBox 32"/>
          <p:cNvSpPr txBox="1"/>
          <p:nvPr/>
        </p:nvSpPr>
        <p:spPr>
          <a:xfrm>
            <a:off x="527700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459882"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4217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4217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843930"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시간 확인</a:t>
            </a:r>
          </a:p>
        </p:txBody>
      </p:sp>
      <p:sp>
        <p:nvSpPr>
          <p:cNvPr id="38" name="TextBox 37"/>
          <p:cNvSpPr txBox="1"/>
          <p:nvPr/>
        </p:nvSpPr>
        <p:spPr>
          <a:xfrm>
            <a:off x="681502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6997903"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8019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801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381951"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회차가 한꺼번에 생…</a:t>
            </a:r>
          </a:p>
        </p:txBody>
      </p:sp>
      <p:sp>
        <p:nvSpPr>
          <p:cNvPr id="43" name="TextBox 42"/>
          <p:cNvSpPr txBox="1"/>
          <p:nvPr/>
        </p:nvSpPr>
        <p:spPr>
          <a:xfrm>
            <a:off x="922538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9408261"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49055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9055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792309"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단가표 화면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관찰 (라이브 참관)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진행 중인 수업을 조용히 들여다보기</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진행 중인 수업에 학생·강사가 모르게 조용히 참관할 수 있습니다. 입장 알림이 전혀 가지 않아 수업 흐름을 방해하지 않고, 신규 강사 멘토링·수업 품질 점검·학부모 민원 확인에 씁니다. 모든 참관 기록은 감사 로그에 영구 저장됩니다.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관리자 메뉴에서 수업 관찰 (라이브) 카드를 열어요.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관리자 UID와 강의실 ID를 넣어요.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참관 사유를 반드시 적어요(예: 신규 강사 멘토링).</a:t>
            </a:r>
          </a:p>
          <a:p>
            <a:pPr>
              <a:lnSpc>
                <a:spcPct val="115000"/>
              </a:lnSpc>
              <a:spcAft>
                <a:spcPts val="300"/>
              </a:spcAft>
            </a:pPr>
            <a:r>
              <a:rPr sz="700" b="1">
                <a:solidFill>
                  <a:srgbClr val="4F46E5"/>
                </a:solidFill>
                <a:latin typeface="Malgun Gothic"/>
              </a:rPr>
              <a:t>● </a:t>
            </a:r>
            <a:r>
              <a:rPr sz="900">
                <a:solidFill>
                  <a:srgbClr val="334155"/>
                </a:solidFill>
                <a:latin typeface="Malgun Gothic"/>
              </a:rPr>
              <a:t>참관 시작을 누르면 수업 화면이 열려요. 끝나면 참관 종료를 누르세요.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지난 기록은 참관 기록에서 확인합니다.</a:t>
            </a:r>
          </a:p>
        </p:txBody>
      </p:sp>
      <p:sp>
        <p:nvSpPr>
          <p:cNvPr id="14" name="Rounded Rectangle 13"/>
          <p:cNvSpPr/>
          <p:nvPr/>
        </p:nvSpPr>
        <p:spPr>
          <a:xfrm>
            <a:off x="457200" y="5282946"/>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575554"/>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참관 중에는 소리·영상이 상대에게 전송되지 않아요.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참관 사유는 필수 — 학생 사생활 보호 정책입니다.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누가·언제·왜 참관했는지 모두 기록됩니다.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학생 사생활과 직결된 기능입니다. 업무상 필요한 경우에만 사용하고, 사유를 구체적으로 적어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신규 강사는 첫 2주 동안 주 1회 참관 후 코칭하면 수업 품질이 빨리 안정됩니다.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ghost.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890064"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7236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723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274112"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관찰 (라이브…</a:t>
            </a:r>
          </a:p>
        </p:txBody>
      </p:sp>
      <p:sp>
        <p:nvSpPr>
          <p:cNvPr id="28" name="TextBox 27"/>
          <p:cNvSpPr txBox="1"/>
          <p:nvPr/>
        </p:nvSpPr>
        <p:spPr>
          <a:xfrm>
            <a:off x="404622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229100" y="2670048"/>
            <a:ext cx="14557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31139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1139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613148" y="2670048"/>
            <a:ext cx="10351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관리자 UID</a:t>
            </a:r>
          </a:p>
        </p:txBody>
      </p:sp>
      <p:sp>
        <p:nvSpPr>
          <p:cNvPr id="33" name="TextBox 32"/>
          <p:cNvSpPr txBox="1"/>
          <p:nvPr/>
        </p:nvSpPr>
        <p:spPr>
          <a:xfrm>
            <a:off x="568482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867704"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95000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500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251752"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참관 사유</a:t>
            </a:r>
          </a:p>
        </p:txBody>
      </p:sp>
      <p:sp>
        <p:nvSpPr>
          <p:cNvPr id="38" name="TextBox 37"/>
          <p:cNvSpPr txBox="1"/>
          <p:nvPr/>
        </p:nvSpPr>
        <p:spPr>
          <a:xfrm>
            <a:off x="722284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405725"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48802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8802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789773"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참관 시작</a:t>
            </a:r>
          </a:p>
        </p:txBody>
      </p:sp>
      <p:sp>
        <p:nvSpPr>
          <p:cNvPr id="43" name="TextBox 42"/>
          <p:cNvSpPr txBox="1"/>
          <p:nvPr/>
        </p:nvSpPr>
        <p:spPr>
          <a:xfrm>
            <a:off x="876086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943746"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2604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2604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327794"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참관 기록</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새로워진 관리자 화면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사이드바 접기 · 밝은 배경 · 선 아이콘</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관리자 화면이 눈이 편하고 넓게 바뀌었습니다. 왼쪽 메뉴는 ‹ 접기 버튼으로 아이콘만 남는 좁은 띠(레일) 로 접히고, 배경은 밝은 톤으로 통일됐어요. 메뉴 아이콘도 선(라인) 아이콘으로 정리해 글자가 잘 읽힙니다.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왼쪽 메뉴 맨 위의 ‹ 접기를 눌러요. 메뉴가 아이콘 띠로 줄어들며 본문이 넓어져요.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다시 펼치려면 같은 자리의 › 버튼을 눌러요.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접은 상태는 다음 접속 때도 그대로 기억됩니다.</a:t>
            </a:r>
          </a:p>
          <a:p>
            <a:pPr>
              <a:lnSpc>
                <a:spcPct val="115000"/>
              </a:lnSpc>
              <a:spcAft>
                <a:spcPts val="300"/>
              </a:spcAft>
            </a:pPr>
            <a:r>
              <a:rPr sz="700" b="1">
                <a:solidFill>
                  <a:srgbClr val="4F46E5"/>
                </a:solidFill>
                <a:latin typeface="Malgun Gothic"/>
              </a:rPr>
              <a:t>● </a:t>
            </a:r>
            <a:r>
              <a:rPr sz="900">
                <a:solidFill>
                  <a:srgbClr val="334155"/>
                </a:solidFill>
                <a:latin typeface="Malgun Gothic"/>
              </a:rPr>
              <a:t>메뉴가 많아 찾기 어려우면 위쪽 메뉴 검색에 이름을 쳐 보세요.</a:t>
            </a:r>
          </a:p>
        </p:txBody>
      </p:sp>
      <p:sp>
        <p:nvSpPr>
          <p:cNvPr id="14" name="Rounded Rectangle 13"/>
          <p:cNvSpPr/>
          <p:nvPr/>
        </p:nvSpPr>
        <p:spPr>
          <a:xfrm>
            <a:off x="457200" y="5154930"/>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표·목록이 많은 화면에서 가로 공간이 크게 늘어나요.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하위 메뉴 15장까지 밝은 테마로 통일돼 화면 간 색 차이가 사라졌어요.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저사양 PC에서도 버벅이지 않도록 접기 애니메이션을 없앴습니다.</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정산·급여처럼 표가 넓은 화면은 접어 놓고 보면 훨씬 편합니다.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866644" y="2670048"/>
            <a:ext cx="119786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9489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489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250692"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접기</a:t>
            </a:r>
          </a:p>
        </p:txBody>
      </p:sp>
      <p:sp>
        <p:nvSpPr>
          <p:cNvPr id="26" name="TextBox 25"/>
          <p:cNvSpPr txBox="1"/>
          <p:nvPr/>
        </p:nvSpPr>
        <p:spPr>
          <a:xfrm>
            <a:off x="40645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247388" y="2670048"/>
            <a:ext cx="119786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3296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96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4631436"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버튼</a:t>
            </a:r>
          </a:p>
        </p:txBody>
      </p:sp>
      <p:sp>
        <p:nvSpPr>
          <p:cNvPr id="31" name="TextBox 30"/>
          <p:cNvSpPr txBox="1"/>
          <p:nvPr/>
        </p:nvSpPr>
        <p:spPr>
          <a:xfrm>
            <a:off x="544525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628132"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71042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1042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012180"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다음 접속 때도 그…</a:t>
            </a:r>
          </a:p>
        </p:txBody>
      </p:sp>
      <p:sp>
        <p:nvSpPr>
          <p:cNvPr id="36" name="TextBox 35"/>
          <p:cNvSpPr txBox="1"/>
          <p:nvPr/>
        </p:nvSpPr>
        <p:spPr>
          <a:xfrm>
            <a:off x="778428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967167"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04946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946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351215"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메뉴 검색</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언어가 자동으로 맞춰져요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해외 스태프·강사는 영어로 시작</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필리핀 강사와 해외 스태프가 처음부터 영어 화면으로 시작합니다. 계정의 국적 정보를 기준으로 화면 언어가 정해지고, 강사 계정은 이름·이전 선택과 무관하게 항상 영어로 뜹니다. 물론 상단 🌐 EN / KR 버튼으로 언제든 직접 바꿀 수 있어요.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계정에 국적이 등록돼 있으면 로그인할 때 자동으로 맞는 언어가 뜹니다.</a:t>
            </a:r>
          </a:p>
          <a:p>
            <a:pPr>
              <a:lnSpc>
                <a:spcPct val="115000"/>
              </a:lnSpc>
              <a:spcAft>
                <a:spcPts val="300"/>
              </a:spcAft>
            </a:pPr>
            <a:r>
              <a:rPr sz="700" b="1">
                <a:solidFill>
                  <a:srgbClr val="4F46E5"/>
                </a:solidFill>
                <a:latin typeface="Malgun Gothic"/>
              </a:rPr>
              <a:t>● </a:t>
            </a:r>
            <a:r>
              <a:rPr sz="900">
                <a:solidFill>
                  <a:srgbClr val="334155"/>
                </a:solidFill>
                <a:latin typeface="Malgun Gothic"/>
              </a:rPr>
              <a:t>직접 바꾸려면 상단의 🌐 EN / KR 버튼을 눌러요.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직접 고른 언어는 그 계정에만 저장돼요 — 같은 PC를 여러 명이 써도 섞이지 않습니다.</a:t>
            </a:r>
          </a:p>
          <a:p>
            <a:pPr>
              <a:lnSpc>
                <a:spcPct val="115000"/>
              </a:lnSpc>
              <a:spcAft>
                <a:spcPts val="300"/>
              </a:spcAft>
            </a:pPr>
            <a:r>
              <a:rPr sz="700" b="1">
                <a:solidFill>
                  <a:srgbClr val="4F46E5"/>
                </a:solidFill>
                <a:latin typeface="Malgun Gothic"/>
              </a:rPr>
              <a:t>● </a:t>
            </a:r>
            <a:r>
              <a:rPr sz="900">
                <a:solidFill>
                  <a:srgbClr val="334155"/>
                </a:solidFill>
                <a:latin typeface="Malgun Gothic"/>
              </a:rPr>
              <a:t>강사용 안내 슬라이드·안내서도 영어판으로 함께 바뀝니다.</a:t>
            </a:r>
          </a:p>
        </p:txBody>
      </p:sp>
      <p:sp>
        <p:nvSpPr>
          <p:cNvPr id="14" name="Rounded Rectangle 13"/>
          <p:cNvSpPr/>
          <p:nvPr/>
        </p:nvSpPr>
        <p:spPr>
          <a:xfrm>
            <a:off x="457200" y="5154930"/>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강사 계정은 무조건 영어 — 한국어 화면 때문에 헤매는 일이 없어요.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이름에 붙은 한글 직함 때문에 영문 이름 계정이 한국어로 뜨던 문제도 고쳤어요.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언어 선택이 계정별로 분리돼 해외 계정이 남의 선택에 덮이지 않아요.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국적이 비어 있는 계정은 기존 방식(이름·아이디 규칙)으로 판단합니다. 강사 등록 시 국적을 꼭 넣어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새 강사를 등록할 때 국적을 함께 입력하면 첫 로그인부터 영어 화면으로 시작해 문의가 줄어듭니다.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930652"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01294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1294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314700"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국적</a:t>
            </a:r>
          </a:p>
        </p:txBody>
      </p:sp>
      <p:sp>
        <p:nvSpPr>
          <p:cNvPr id="28" name="TextBox 27"/>
          <p:cNvSpPr txBox="1"/>
          <p:nvPr/>
        </p:nvSpPr>
        <p:spPr>
          <a:xfrm>
            <a:off x="388528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068165" y="2670048"/>
            <a:ext cx="148498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15046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5046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452213" y="2670048"/>
            <a:ext cx="10643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EN / KR</a:t>
            </a:r>
          </a:p>
        </p:txBody>
      </p:sp>
      <p:sp>
        <p:nvSpPr>
          <p:cNvPr id="33" name="TextBox 32"/>
          <p:cNvSpPr txBox="1"/>
          <p:nvPr/>
        </p:nvSpPr>
        <p:spPr>
          <a:xfrm>
            <a:off x="555315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736031"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81832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1832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120079"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그 계정에만</a:t>
            </a:r>
          </a:p>
        </p:txBody>
      </p:sp>
      <p:sp>
        <p:nvSpPr>
          <p:cNvPr id="38" name="TextBox 37"/>
          <p:cNvSpPr txBox="1"/>
          <p:nvPr/>
        </p:nvSpPr>
        <p:spPr>
          <a:xfrm>
            <a:off x="724844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431328" y="2670048"/>
            <a:ext cx="18269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51362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1362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815376"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영어판으로 함께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판단력 훈련 운영 (학생 판단력 지수)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암기가 아니라 판단 — 학습 성과의 새 지표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판단력 훈련은 학생이 상황에 맞는 표현을 고르고 이유를 설명하는 학습입니다. 결과는 판단력 지수(5개 축)로 쌓여 학부모 상담·리포트에서 “무엇을 외웠나”가 아니라 “얼마나 스스로 판단하나” 를 보여 주는 근거가 됩니다.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892225"/>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학생 화면의 AI 학습 도구 → 판단력 훈련이 기능 위치입니다.</a:t>
            </a:r>
          </a:p>
          <a:p>
            <a:pPr>
              <a:lnSpc>
                <a:spcPct val="115000"/>
              </a:lnSpc>
              <a:spcAft>
                <a:spcPts val="300"/>
              </a:spcAft>
            </a:pPr>
            <a:r>
              <a:rPr sz="750" b="1">
                <a:solidFill>
                  <a:srgbClr val="4F46E5"/>
                </a:solidFill>
                <a:latin typeface="Malgun Gothic"/>
              </a:rPr>
              <a:t>● </a:t>
            </a:r>
            <a:r>
              <a:rPr sz="950">
                <a:solidFill>
                  <a:srgbClr val="334155"/>
                </a:solidFill>
                <a:latin typeface="Malgun Gothic"/>
              </a:rPr>
              <a:t>학생별 누적 결과는 내 성장 화면과 학습 리포트에서 확인해요.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상담 때 지수 변화 그래프를 근거 자료로 보여 주세요.</a:t>
            </a:r>
          </a:p>
        </p:txBody>
      </p:sp>
      <p:sp>
        <p:nvSpPr>
          <p:cNvPr id="14" name="Rounded Rectangle 13"/>
          <p:cNvSpPr/>
          <p:nvPr/>
        </p:nvSpPr>
        <p:spPr>
          <a:xfrm>
            <a:off x="457200" y="4732705"/>
            <a:ext cx="5669280" cy="1094079"/>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778425"/>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025313"/>
            <a:ext cx="5394960" cy="764895"/>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최근 답변에 더 큰 가중치(반감기 방식)라 최근 실력이 지수에 빨리 반영돼요.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부분 점수 방식이라 한 번 틀렸다고 지수가 급락하지 않아요.</a:t>
            </a:r>
          </a:p>
          <a:p>
            <a:pPr>
              <a:lnSpc>
                <a:spcPct val="115000"/>
              </a:lnSpc>
              <a:spcAft>
                <a:spcPts val="100"/>
              </a:spcAft>
            </a:pPr>
            <a:r>
              <a:rPr sz="700" b="1">
                <a:solidFill>
                  <a:srgbClr val="4F46E5"/>
                </a:solidFill>
                <a:latin typeface="Malgun Gothic"/>
              </a:rPr>
              <a:t>● </a:t>
            </a:r>
            <a:r>
              <a:rPr sz="900">
                <a:solidFill>
                  <a:srgbClr val="334155"/>
                </a:solidFill>
                <a:latin typeface="Malgun Gothic"/>
              </a:rPr>
              <a:t>문제는 주제 24종 × 각도 12종으로 조합돼 학생마다 다른 문제가 나옵니다.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판단력 지수는 시험 점수가 아니라 성장 추이로 읽어야 정확합니다. 절대값보다 변화 방향을 보세요.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“단어는 아는데 말이 안 나와요” 하는 학부모 문의에 가장 잘 맞는 설명 자료입니다.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judgment.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349447" y="2670048"/>
            <a:ext cx="201350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317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317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733495" y="2670048"/>
            <a:ext cx="15928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AI 학습 도구 →…</a:t>
            </a:r>
          </a:p>
        </p:txBody>
      </p:sp>
      <p:sp>
        <p:nvSpPr>
          <p:cNvPr id="28" name="TextBox 27"/>
          <p:cNvSpPr txBox="1"/>
          <p:nvPr/>
        </p:nvSpPr>
        <p:spPr>
          <a:xfrm>
            <a:off x="536295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545836" y="2670048"/>
            <a:ext cx="119786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62813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281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929884"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내 성장</a:t>
            </a:r>
          </a:p>
        </p:txBody>
      </p:sp>
      <p:sp>
        <p:nvSpPr>
          <p:cNvPr id="33" name="TextBox 32"/>
          <p:cNvSpPr txBox="1"/>
          <p:nvPr/>
        </p:nvSpPr>
        <p:spPr>
          <a:xfrm>
            <a:off x="674370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926580"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0887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0887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310628"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지수 변화 그래프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강사 계정 관리 (비밀번호 재설정 · 접근 제한)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분실 대응 · 권한 범위 정리</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강사가 비밀번호를 잊었을 때 관리자 화면에서 바로 재설정할 수 있습니다. 또 강사 계정이 접근할 수 있는 범위를 정리해 강사에게 필요 없는 운영·정산 기능은 열리지 않도록 막았습니다.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관리자 메뉴 강사 통합에서 해당 강사를 찾아요.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비밀번호 재설정으로 임시 비밀번호를 발급해요.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강사에게 전달하고 로그인 후 바로 변경하도록 안내해요.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강사 계정의 국적이 비어 있으면 국적을 채워 영어 화면이 뜨게 해요.</a:t>
            </a:r>
          </a:p>
        </p:txBody>
      </p:sp>
      <p:sp>
        <p:nvSpPr>
          <p:cNvPr id="14" name="Rounded Rectangle 13"/>
          <p:cNvSpPr/>
          <p:nvPr/>
        </p:nvSpPr>
        <p:spPr>
          <a:xfrm>
            <a:off x="457200" y="4994452"/>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287060"/>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강사 계정은 운영·정산 기능에 접근할 수 없습니다(32개 영역 차단).</a:t>
            </a:r>
          </a:p>
          <a:p>
            <a:pPr>
              <a:lnSpc>
                <a:spcPct val="115000"/>
              </a:lnSpc>
              <a:spcAft>
                <a:spcPts val="100"/>
              </a:spcAft>
            </a:pPr>
            <a:r>
              <a:rPr sz="650" b="1">
                <a:solidFill>
                  <a:srgbClr val="4F46E5"/>
                </a:solidFill>
                <a:latin typeface="Malgun Gothic"/>
              </a:rPr>
              <a:t>● </a:t>
            </a:r>
            <a:r>
              <a:rPr sz="850">
                <a:solidFill>
                  <a:srgbClr val="334155"/>
                </a:solidFill>
                <a:latin typeface="Malgun Gothic"/>
              </a:rPr>
              <a:t>재설정 이력은 기록에 남습니다.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국적이 입력된 강사는 첫 로그인부터 영어 화면으로 시작합니다.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임시 비밀번호는 카카오톡 등 본인 확인이 되는 경로로만 전달하세요.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신규 강사 등록 시 국적·연락처를 함께 채워 두면 이후 문의가 확 줄어듭니다.</a:t>
            </a:r>
          </a:p>
        </p:txBody>
      </p:sp>
      <p:sp>
        <p:nvSpPr>
          <p:cNvPr id="21" name="Rectangle 20"/>
          <p:cNvSpPr/>
          <p:nvPr/>
        </p:nvSpPr>
        <p:spPr>
          <a:xfrm>
            <a:off x="6300216" y="4269001"/>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4323865"/>
            <a:ext cx="5486400" cy="706581"/>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394813"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47710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7710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778861"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통합</a:t>
            </a:r>
          </a:p>
        </p:txBody>
      </p:sp>
      <p:sp>
        <p:nvSpPr>
          <p:cNvPr id="28" name="TextBox 27"/>
          <p:cNvSpPr txBox="1"/>
          <p:nvPr/>
        </p:nvSpPr>
        <p:spPr>
          <a:xfrm>
            <a:off x="374995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932834" y="2670048"/>
            <a:ext cx="182697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01513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0151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316882" y="2670048"/>
            <a:ext cx="140634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비밀번호 재설정</a:t>
            </a:r>
          </a:p>
        </p:txBody>
      </p:sp>
      <p:sp>
        <p:nvSpPr>
          <p:cNvPr id="33" name="TextBox 32"/>
          <p:cNvSpPr txBox="1"/>
          <p:nvPr/>
        </p:nvSpPr>
        <p:spPr>
          <a:xfrm>
            <a:off x="575980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942685"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02498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249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326733"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로그인 후 바로 변…</a:t>
            </a:r>
          </a:p>
        </p:txBody>
      </p:sp>
      <p:sp>
        <p:nvSpPr>
          <p:cNvPr id="38" name="TextBox 37"/>
          <p:cNvSpPr txBox="1"/>
          <p:nvPr/>
        </p:nvSpPr>
        <p:spPr>
          <a:xfrm>
            <a:off x="809884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281720"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36401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640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665768"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국적을 채워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강사 통합 관리 개편 (명부 필터 · 그룹 · 상세 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찾기 쉬운 명부 · 한눈에 보는 상세</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강사 관리 화면이 찾기 쉽고 보기 편하게 정리됐어요. 흩어져 있던 메뉴를 네 묶음으로 그룹지어 사이드바에 담았고, 강사 명부 위에는 구분·상태·그룹 드롭다운 필터와 적용된 필터 칩이 생겼어요. 강사를 누르면 프로필·급여·평가 탭으로 나뉜 상세 화면이 열리고, 매니저 배지와 재직 상태(재직·휴직·퇴사) 가 한눈에 표시돼요.</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관리자 메뉴 강사 통합을 열어요(메뉴가 네 묶음으로 정리돼 있어요).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명부 위 상태·그룹 드롭다운으로 원하는 강사만 걸러요.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적용된 필터는 칩으로 표시되고, 칩을 지우면 해제돼요.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강사를 누르면 프로필 / 급여 / 평가 탭 상세가 열려요.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급여·평가 탭의 요약 숫자는 열 때 필요한 만큼만 불러옵니다.</a:t>
            </a:r>
          </a:p>
        </p:txBody>
      </p:sp>
      <p:sp>
        <p:nvSpPr>
          <p:cNvPr id="14" name="Rounded Rectangle 13"/>
          <p:cNvSpPr/>
          <p:nvPr/>
        </p:nvSpPr>
        <p:spPr>
          <a:xfrm>
            <a:off x="457200" y="5282946"/>
            <a:ext cx="5669280" cy="1301191"/>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575554"/>
            <a:ext cx="5394960" cy="972007"/>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매니저는 배지로 구분되고, 재직 상태가 재직·휴직·퇴사 3가지로 표시돼요.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이름이 비어도 아이디로 대체 표기돼 빈칸이 없어요.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상세 탭은 기존 API를 재사용해 빠르게 뜨고, 화면은 한/영 병기예요.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중복이던 급여 입구를 정리하고 버그 접수는 별도 시스템으로 옮겼어요.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필터·상세 정리 작업이에요. 강사 등록·수정·삭제 기능 자체는 그대로예요.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강사가 많을수록 상태·그룹 필터가 큰 힘을 발휘해요. 자주 보는 조건은 필터를 걸어 두고 쓰세요.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532534"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61483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1483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916582"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통합</a:t>
            </a:r>
          </a:p>
        </p:txBody>
      </p:sp>
      <p:sp>
        <p:nvSpPr>
          <p:cNvPr id="28" name="TextBox 27"/>
          <p:cNvSpPr txBox="1"/>
          <p:nvPr/>
        </p:nvSpPr>
        <p:spPr>
          <a:xfrm>
            <a:off x="288767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070555"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15285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5285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454603"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상태·그룹 드롭다운</a:t>
            </a:r>
          </a:p>
        </p:txBody>
      </p:sp>
      <p:sp>
        <p:nvSpPr>
          <p:cNvPr id="33" name="TextBox 32"/>
          <p:cNvSpPr txBox="1"/>
          <p:nvPr/>
        </p:nvSpPr>
        <p:spPr>
          <a:xfrm>
            <a:off x="514075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323636" y="2670048"/>
            <a:ext cx="797356"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0593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0593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707684" y="2670048"/>
            <a:ext cx="376732"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칩</a:t>
            </a:r>
          </a:p>
        </p:txBody>
      </p:sp>
      <p:sp>
        <p:nvSpPr>
          <p:cNvPr id="38" name="TextBox 37"/>
          <p:cNvSpPr txBox="1"/>
          <p:nvPr/>
        </p:nvSpPr>
        <p:spPr>
          <a:xfrm>
            <a:off x="612099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6303873" y="2670048"/>
            <a:ext cx="201350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38616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8616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6687921" y="2670048"/>
            <a:ext cx="159288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프로필 / 급여 /…</a:t>
            </a:r>
          </a:p>
        </p:txBody>
      </p:sp>
      <p:sp>
        <p:nvSpPr>
          <p:cNvPr id="43" name="TextBox 42"/>
          <p:cNvSpPr txBox="1"/>
          <p:nvPr/>
        </p:nvSpPr>
        <p:spPr>
          <a:xfrm>
            <a:off x="831738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8500262"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58255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5825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8884310"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급여·평가 탭의 요…</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월간 성적표 (오각형) 발송</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5축 그래프 성적표를 미리보고 링크로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학부모에게 보내는 월간 성적표가 오각형 5축 그래프로 새로워졌어요. 발음·유창성 / 어휘 / 문장 구성력 / 수업 태도 / 참여도 를 한눈에 보여 주고, 출결·판단력·담임의 한마디가 함께 담깁니다. 관리자·교사는 학생 ID와 월을 넣어 미리보기한 뒤 카카오톡 링크로 보냅니다.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월간 리포트 화면을 열어요.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학생 ID와 월을 넣고 레포트 보기를 눌러 미리봐요.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오각형과 담임의 한마디를 확인하고, 필요하면 평가를 보완해요.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주소에 ?uid=학생ID&amp;period=YYYY-MM 를 붙여 카카오톡 링크로 보냅니다.</a:t>
            </a:r>
          </a:p>
        </p:txBody>
      </p:sp>
      <p:sp>
        <p:nvSpPr>
          <p:cNvPr id="14" name="Rounded Rectangle 13"/>
          <p:cNvSpPr/>
          <p:nvPr/>
        </p:nvSpPr>
        <p:spPr>
          <a:xfrm>
            <a:off x="457200" y="5154930"/>
            <a:ext cx="5669280" cy="106733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73814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실제 기록이 있는 축만 채워져 신뢰할 수 있어요.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2개월 주기로 정리해 학부모 피로 없이 변화를 전달해요.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인쇄/PDF 버튼으로 상담용 종이 성적표도 즉시 만들 수 있어요.</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성적표 열람은 승인 게이트를 거쳐요. 관리자는 로그인 세션으로, 학부모는 발급된 링크(토큰)로만 열립니다.</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상담 예약과 함께 성적표 링크를 미리 보내면 상담이 훨씬 매끄러워요.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44191"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52648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264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828239"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월간 리포트</a:t>
            </a:r>
          </a:p>
        </p:txBody>
      </p:sp>
      <p:sp>
        <p:nvSpPr>
          <p:cNvPr id="28" name="TextBox 27"/>
          <p:cNvSpPr txBox="1"/>
          <p:nvPr/>
        </p:nvSpPr>
        <p:spPr>
          <a:xfrm>
            <a:off x="395660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139488" y="2670048"/>
            <a:ext cx="121249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2178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2178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523536" y="2670048"/>
            <a:ext cx="79187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학생 ID</a:t>
            </a:r>
          </a:p>
        </p:txBody>
      </p:sp>
      <p:sp>
        <p:nvSpPr>
          <p:cNvPr id="33" name="TextBox 32"/>
          <p:cNvSpPr txBox="1"/>
          <p:nvPr/>
        </p:nvSpPr>
        <p:spPr>
          <a:xfrm>
            <a:off x="535198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534863"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61715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1715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918911"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오각형과 담임의 한…</a:t>
            </a:r>
          </a:p>
        </p:txBody>
      </p:sp>
      <p:sp>
        <p:nvSpPr>
          <p:cNvPr id="38" name="TextBox 37"/>
          <p:cNvSpPr txBox="1"/>
          <p:nvPr/>
        </p:nvSpPr>
        <p:spPr>
          <a:xfrm>
            <a:off x="776234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945221" y="2670048"/>
            <a:ext cx="1799539"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2751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2751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329269" y="2670048"/>
            <a:ext cx="1378915"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?uid=학생ID&amp;…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주간 리포트 (재등록을 잇는 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경쟁사가 못 보여 주는 ‘성장의 증거’를 매주</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아이의 한 주 활동(출석·AI 친구 대화·판단력·정복한 단어·발음)을 담아 학부모에게 보내는 리포트입니다. 목적은 분명합니다 — 경쟁사가 보여 주지 못하는 ‘성장의 증거’를 매주 전달해 재등록으로 잇는 것입니다. 관리자 화면에서 미리보기 → 테스트 발송 → 대상 집계 → 발송 로그를 모두 확인할 수 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442466"/>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관리자 메뉴에서 📅 학부모 주간 리포트를 열어요.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학생 ID를 넣고 미리보기로 내용을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필요하면 이 학부모에게 실제 발송으로 한 명에게만 테스트해요.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발송 대상 집계로 지금 받을 수 있는 학생 수(전화번호 등록자)를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최근 발송 로그로 실제로 나간 기록을 확인해요.</a:t>
            </a:r>
          </a:p>
        </p:txBody>
      </p:sp>
      <p:sp>
        <p:nvSpPr>
          <p:cNvPr id="14" name="Rounded Rectangle 13"/>
          <p:cNvSpPr/>
          <p:nvPr/>
        </p:nvSpPr>
        <p:spPr>
          <a:xfrm>
            <a:off x="457200" y="5282946"/>
            <a:ext cx="5669280" cy="137045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328666"/>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575554"/>
            <a:ext cx="5394960" cy="104127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리포트에 담기는 것: 📅 출석 일수 · 🔥 연속 출석 · 🤖 AI 대화 · 📚 정복 단어 · 🧠 판단력 · 🎤 발음.</a:t>
            </a:r>
          </a:p>
          <a:p>
            <a:pPr>
              <a:lnSpc>
                <a:spcPct val="115000"/>
              </a:lnSpc>
              <a:spcAft>
                <a:spcPts val="100"/>
              </a:spcAft>
            </a:pPr>
            <a:r>
              <a:rPr sz="650" b="1">
                <a:solidFill>
                  <a:srgbClr val="4F46E5"/>
                </a:solidFill>
                <a:latin typeface="Malgun Gothic"/>
              </a:rPr>
              <a:t>● </a:t>
            </a:r>
            <a:r>
              <a:rPr sz="850">
                <a:solidFill>
                  <a:srgbClr val="334155"/>
                </a:solidFill>
                <a:latin typeface="Malgun Gothic"/>
              </a:rPr>
              <a:t>전화번호가 등록된 학생만 받을 수 있어요 — 집계 화면이 미등록 인원을 함께 알려 줍니다.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매주 금요일 저녁 자동 발송(크론) 이 준비돼 있습니다.</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 전체 자동 발송은 기본으로 꺼져 있습니다. 관리자가 KV 스위치를 켠 뒤에만 실제 문자가 나갑니다 — 실수로 29,000명에게 발송되는 사고를 막기 위한 안전장치입니다. 알림톡 템플릿 승인과 대표 결정 뒤에 켜세요.</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꿀팁 · 먼저 미리보기 → 한 명 테스트 발송까지만 해 보세요. 문구가 확정되면 그때 전체 스위치를 켜면 됩니다.</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_weekly.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146657"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2895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2895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1530705"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학부모 주간 리…</a:t>
            </a:r>
          </a:p>
        </p:txBody>
      </p:sp>
      <p:sp>
        <p:nvSpPr>
          <p:cNvPr id="28" name="TextBox 27"/>
          <p:cNvSpPr txBox="1"/>
          <p:nvPr/>
        </p:nvSpPr>
        <p:spPr>
          <a:xfrm>
            <a:off x="330281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485692" y="2670048"/>
            <a:ext cx="126918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6798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6798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3869740"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미리보기</a:t>
            </a:r>
          </a:p>
        </p:txBody>
      </p:sp>
      <p:sp>
        <p:nvSpPr>
          <p:cNvPr id="33" name="TextBox 32"/>
          <p:cNvSpPr txBox="1"/>
          <p:nvPr/>
        </p:nvSpPr>
        <p:spPr>
          <a:xfrm>
            <a:off x="475487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4937759"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02005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00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5321807"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이 학부모에게 실제…</a:t>
            </a:r>
          </a:p>
        </p:txBody>
      </p:sp>
      <p:sp>
        <p:nvSpPr>
          <p:cNvPr id="38" name="TextBox 37"/>
          <p:cNvSpPr txBox="1"/>
          <p:nvPr/>
        </p:nvSpPr>
        <p:spPr>
          <a:xfrm>
            <a:off x="716523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7348118"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43041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3041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7732166"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발송 대상 집계</a:t>
            </a:r>
          </a:p>
        </p:txBody>
      </p:sp>
      <p:sp>
        <p:nvSpPr>
          <p:cNvPr id="43" name="TextBox 42"/>
          <p:cNvSpPr txBox="1"/>
          <p:nvPr/>
        </p:nvSpPr>
        <p:spPr>
          <a:xfrm>
            <a:off x="910376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44" name="Rounded Rectangle 43"/>
          <p:cNvSpPr/>
          <p:nvPr/>
        </p:nvSpPr>
        <p:spPr>
          <a:xfrm>
            <a:off x="9286646"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36894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6894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5</a:t>
            </a:r>
          </a:p>
        </p:txBody>
      </p:sp>
      <p:sp>
        <p:nvSpPr>
          <p:cNvPr id="47" name="TextBox 46"/>
          <p:cNvSpPr txBox="1"/>
          <p:nvPr/>
        </p:nvSpPr>
        <p:spPr>
          <a:xfrm>
            <a:off x="9670694"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최근 발송 로그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홈 첫 화면 개편 (처음 온 학부모 · 기존 회원 자동 분리)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상담 전화가 줄고 체험 신청이 늘어나는 구조</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홈페이지 첫 화면(히어로)이 보는 사람에 따라 두 가지로 나뉘어 표시됩니다. 처음 온 학부모에게는 &lt;b&gt;무료 체험 신청&lt;/b&gt;이 가장 큰 버튼으로, 이미 로그인한 회원에게는 &lt;b&gt;수업 입장&lt;/b&gt;이 가장 큰 버튼으로 뜹니다. 경쟁사 4곳(캠블리키즈·민병철유폰·엔구·링글)을 실제로 확인한 결과 모두 첫 버튼이 신규 상담·체험 신청이었고, 이를 반영한 개편입니다.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새 창(시크릿 모드)으로 홈 주소를 열어 비회원 화면을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무료 체험 신청 · 강사 둘러보기 두 버튼이 크게 보이는지 봐요.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로그인한 뒤 같은 화면을 열면 수업 입장 · AI와 친구하기로 바뀌어요.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홍보물·문자에는 홈 주소 그대로 넣으면 됩니다 — 별도 랜딩페이지가 필요 없어요.</a:t>
            </a:r>
          </a:p>
        </p:txBody>
      </p:sp>
      <p:sp>
        <p:nvSpPr>
          <p:cNvPr id="14" name="Rounded Rectangle 13"/>
          <p:cNvSpPr/>
          <p:nvPr/>
        </p:nvSpPr>
        <p:spPr>
          <a:xfrm>
            <a:off x="457200" y="4994452"/>
            <a:ext cx="5669280" cy="145275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287060"/>
            <a:ext cx="5394960" cy="112356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페이지를 새로 만들지 않았어요. 같은 주소가 로그인 여부만 보고 알아서 바뀝니다.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비회원 화면에도 작은 ‘수업 입장’ 링크를 남겼어요 — 기기를 바꾸거나 로그인이 풀린 기존 학생이 수업에 못 들어가는 사고를 막습니다.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판정에 실패하면 무조건 비회원 화면으로 떨어집니다 — 화면이 비는 일이 없어요.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깜빡임이 없습니다. 화면이 그려지기 전에 판정이 끝나요.</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비회원 화면의 작은 ‘수업 입장’ 링크는 절대 빼면 안 됩니다. 로그인이 30일 만에 만료되거나 기기를 바꾼 기존 회원도 이 화면을 보기 때문입니다.</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꿀팁 · 체험 신청 전환을 보고 싶다면 시크릿 창으로 홈에 들어가 보세요. 학부모가 처음 보는 화면이 그대로 나옵니다.</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329891" y="2670048"/>
            <a:ext cx="119786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41218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1218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713939" y="2670048"/>
            <a:ext cx="77724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홈 주소</a:t>
            </a:r>
          </a:p>
        </p:txBody>
      </p:sp>
      <p:sp>
        <p:nvSpPr>
          <p:cNvPr id="28" name="TextBox 27"/>
          <p:cNvSpPr txBox="1"/>
          <p:nvPr/>
        </p:nvSpPr>
        <p:spPr>
          <a:xfrm>
            <a:off x="352775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710635" y="2670048"/>
            <a:ext cx="208483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9293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9293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94683" y="2670048"/>
            <a:ext cx="16642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무료 체험 신청 ·…</a:t>
            </a:r>
          </a:p>
        </p:txBody>
      </p:sp>
      <p:sp>
        <p:nvSpPr>
          <p:cNvPr id="33" name="TextBox 32"/>
          <p:cNvSpPr txBox="1"/>
          <p:nvPr/>
        </p:nvSpPr>
        <p:spPr>
          <a:xfrm>
            <a:off x="579546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978347" y="2670048"/>
            <a:ext cx="194218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06064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6064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362395" y="2670048"/>
            <a:ext cx="15215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수업 입장 · AI…</a:t>
            </a:r>
          </a:p>
        </p:txBody>
      </p:sp>
      <p:sp>
        <p:nvSpPr>
          <p:cNvPr id="38" name="TextBox 37"/>
          <p:cNvSpPr txBox="1"/>
          <p:nvPr/>
        </p:nvSpPr>
        <p:spPr>
          <a:xfrm>
            <a:off x="792053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103412" y="2670048"/>
            <a:ext cx="175564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18570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8570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487460" y="2670048"/>
            <a:ext cx="133502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홈 주소 그대로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관리자 화면이 훨씬 빨라졌어요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누르면 멈추던 현상 제거</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관리자 화면에서 무엇을 누르면 잠깐 멈추던 현상을 없앴습니다. 원인은 누른 기능이 아니라, 글자를 읽기 좋게 만들어 주는 보정 기능이 접혀 있는 카드까지 매번 다시 계산하고 있었던 것입니다. 접힌 카드는 건너뛰고, 이미 처리한 곳은 다시 만지지 않도록 고쳤습니다.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865479"/>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관리자 화면을 평소처럼 사용해요.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메뉴·카드를 눌렀을 때 멈춤 없이 바로 열리는지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느리게 느껴지면 브라우저에서 새로고침(Ctrl+F5) 을 한 번 해 주세요.</a:t>
            </a:r>
          </a:p>
        </p:txBody>
      </p:sp>
      <p:sp>
        <p:nvSpPr>
          <p:cNvPr id="14" name="Rounded Rectangle 13"/>
          <p:cNvSpPr/>
          <p:nvPr/>
        </p:nvSpPr>
        <p:spPr>
          <a:xfrm>
            <a:off x="457200" y="4705959"/>
            <a:ext cx="5669280" cy="121889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751679"/>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4998567"/>
            <a:ext cx="5394960" cy="88971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클릭 시 멈춤 396ms → 57ms, 대기 중 부하 366ms → 0ms 로 줄었습니다.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화면 모양과 색은 전혀 바뀌지 않았습니다 — 속도만 좋아졌어요.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카드가 많은 화면(강사·학생 목록)일수록 체감이 큽니다.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브라우저에 옛 화면이 남아 있으면 개선이 바로 느껴지지 않을 수 있어요. 강력 새로고침(Ctrl+F5) 을 한 번 해 주세요.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그래도 느리다면 브라우저 탭을 너무 많이 열어 두지 않았는지 확인해 보세요.</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748686"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83098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3098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132734"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관리자 화면을 평소…</a:t>
            </a:r>
          </a:p>
        </p:txBody>
      </p:sp>
      <p:sp>
        <p:nvSpPr>
          <p:cNvPr id="28" name="TextBox 27"/>
          <p:cNvSpPr txBox="1"/>
          <p:nvPr/>
        </p:nvSpPr>
        <p:spPr>
          <a:xfrm>
            <a:off x="497616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5159044"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24134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4134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543092"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멈춤 없이 바로 열…</a:t>
            </a:r>
          </a:p>
        </p:txBody>
      </p:sp>
      <p:sp>
        <p:nvSpPr>
          <p:cNvPr id="33" name="TextBox 32"/>
          <p:cNvSpPr txBox="1"/>
          <p:nvPr/>
        </p:nvSpPr>
        <p:spPr>
          <a:xfrm>
            <a:off x="731520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498079" y="2670048"/>
            <a:ext cx="194218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58037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8037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882127" y="2670048"/>
            <a:ext cx="152156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새로고침(Ctrl+…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학원 검색칸 (이름으로 바로 찾기)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목록을 훑지 않고 바로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학원(지사·대리점) 목록에서 이름을 입력해 바로 찾을 수 있는 검색칸이 생겼습니다. 학원 수가 많아 목록을 위아래로 훑어야 했던 불편을 없앴습니다.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89634"/>
          </a:xfrm>
          <a:prstGeom prst="rect">
            <a:avLst/>
          </a:prstGeom>
          <a:noFill/>
        </p:spPr>
        <p:txBody>
          <a:bodyPr wrap="square">
            <a:spAutoFit/>
          </a:bodyPr>
          <a:lstStyle/>
          <a:p>
            <a:pPr>
              <a:lnSpc>
                <a:spcPct val="115000"/>
              </a:lnSpc>
              <a:spcAft>
                <a:spcPts val="300"/>
              </a:spcAft>
            </a:pPr>
            <a:r>
              <a:rPr sz="750" b="1">
                <a:solidFill>
                  <a:srgbClr val="4F46E5"/>
                </a:solidFill>
                <a:latin typeface="Malgun Gothic"/>
              </a:rPr>
              <a:t>● </a:t>
            </a:r>
            <a:r>
              <a:rPr sz="950">
                <a:solidFill>
                  <a:srgbClr val="334155"/>
                </a:solidFill>
                <a:latin typeface="Malgun Gothic"/>
              </a:rPr>
              <a:t>관리자 메뉴에서 학원 목록 화면을 열어요.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목록 위 검색칸에 학원 이름 일부를 입력해요.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입력하는 즉시 해당 학원만 목록에 남아요.</a:t>
            </a:r>
          </a:p>
          <a:p>
            <a:pPr>
              <a:lnSpc>
                <a:spcPct val="115000"/>
              </a:lnSpc>
              <a:spcAft>
                <a:spcPts val="300"/>
              </a:spcAft>
            </a:pPr>
            <a:r>
              <a:rPr sz="750" b="1">
                <a:solidFill>
                  <a:srgbClr val="4F46E5"/>
                </a:solidFill>
                <a:latin typeface="Malgun Gothic"/>
              </a:rPr>
              <a:t>● </a:t>
            </a:r>
            <a:r>
              <a:rPr sz="950">
                <a:solidFill>
                  <a:srgbClr val="334155"/>
                </a:solidFill>
                <a:latin typeface="Malgun Gothic"/>
              </a:rPr>
              <a:t>검색칸을 비우면 전체 목록으로 돌아와요.</a:t>
            </a:r>
          </a:p>
        </p:txBody>
      </p:sp>
      <p:sp>
        <p:nvSpPr>
          <p:cNvPr id="14" name="Rounded Rectangle 13"/>
          <p:cNvSpPr/>
          <p:nvPr/>
        </p:nvSpPr>
        <p:spPr>
          <a:xfrm>
            <a:off x="457200" y="5030114"/>
            <a:ext cx="5669280" cy="85130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75834"/>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322722"/>
            <a:ext cx="5394960" cy="522122"/>
          </a:xfrm>
          <a:prstGeom prst="rect">
            <a:avLst/>
          </a:prstGeom>
          <a:noFill/>
        </p:spPr>
        <p:txBody>
          <a:bodyPr wrap="square">
            <a:spAutoFit/>
          </a:bodyPr>
          <a:lstStyle/>
          <a:p>
            <a:pPr>
              <a:lnSpc>
                <a:spcPct val="115000"/>
              </a:lnSpc>
              <a:spcAft>
                <a:spcPts val="100"/>
              </a:spcAft>
            </a:pPr>
            <a:r>
              <a:rPr sz="700" b="1">
                <a:solidFill>
                  <a:srgbClr val="4F46E5"/>
                </a:solidFill>
                <a:latin typeface="Malgun Gothic"/>
              </a:rPr>
              <a:t>● </a:t>
            </a:r>
            <a:r>
              <a:rPr sz="900">
                <a:solidFill>
                  <a:srgbClr val="334155"/>
                </a:solidFill>
                <a:latin typeface="Malgun Gothic"/>
              </a:rPr>
              <a:t>이름 일부만 입력해도 찾아집니다.</a:t>
            </a:r>
          </a:p>
          <a:p>
            <a:pPr>
              <a:lnSpc>
                <a:spcPct val="115000"/>
              </a:lnSpc>
              <a:spcAft>
                <a:spcPts val="100"/>
              </a:spcAft>
            </a:pPr>
            <a:r>
              <a:rPr sz="700" b="1">
                <a:solidFill>
                  <a:srgbClr val="4F46E5"/>
                </a:solidFill>
                <a:latin typeface="Malgun Gothic"/>
              </a:rPr>
              <a:t>● </a:t>
            </a:r>
            <a:r>
              <a:rPr sz="900">
                <a:solidFill>
                  <a:srgbClr val="334155"/>
                </a:solidFill>
                <a:latin typeface="Malgun Gothic"/>
              </a:rPr>
              <a:t>기존 목록·기능은 그대로이고 찾는 방법만 추가됐습니다.</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자주 확인하는 학원이 있다면 이름 두세 글자만 외워 두세요. 클릭 없이 바로 걸러집니다.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152851"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23514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351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536899"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학원 목록</a:t>
            </a:r>
          </a:p>
        </p:txBody>
      </p:sp>
      <p:sp>
        <p:nvSpPr>
          <p:cNvPr id="26" name="TextBox 25"/>
          <p:cNvSpPr txBox="1"/>
          <p:nvPr/>
        </p:nvSpPr>
        <p:spPr>
          <a:xfrm>
            <a:off x="450799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690872" y="2670048"/>
            <a:ext cx="111191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731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731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074920"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검색칸</a:t>
            </a:r>
          </a:p>
        </p:txBody>
      </p:sp>
      <p:sp>
        <p:nvSpPr>
          <p:cNvPr id="31" name="TextBox 30"/>
          <p:cNvSpPr txBox="1"/>
          <p:nvPr/>
        </p:nvSpPr>
        <p:spPr>
          <a:xfrm>
            <a:off x="580278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985662"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06795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679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369710"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해당 학원만</a:t>
            </a:r>
          </a:p>
        </p:txBody>
      </p:sp>
      <p:sp>
        <p:nvSpPr>
          <p:cNvPr id="36" name="TextBox 35"/>
          <p:cNvSpPr txBox="1"/>
          <p:nvPr/>
        </p:nvSpPr>
        <p:spPr>
          <a:xfrm>
            <a:off x="749807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680959"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76325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6325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8065007"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전체 목록</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강사 명부 첫 열 고정 · 샘플 수업 만들기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옆으로 밀어도 누구 행인지 안 사라져요</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두 가지 불편을 고쳤습니다. ① 강사 명부 표를 오른쪽으로 밀면 왼쪽의 강사 이름이 사라져 누구 행인지 알 수 없던 문제 → 첫 열(강사 이름)을 고정했습니다. ② 오늘 수업이 없어 교재·영상·퀴즈·리포트를 확인할 수 없던 문제 → 시간표 카드에 샘플 수업 만들기 버튼을 추가했습니다.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강사 통합 → 강사 명부를 열어요.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표를 오른쪽으로 밀어도 왼쪽 강사 이름이 그대로 붙어 있는지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화면 확인이 필요하면 시간표 카드 → 샘플 수업 만들기를 눌러요.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확인창에서 강사 이름을 넣고 생성해요.</a:t>
            </a:r>
          </a:p>
        </p:txBody>
      </p:sp>
      <p:sp>
        <p:nvSpPr>
          <p:cNvPr id="14" name="Rounded Rectangle 13"/>
          <p:cNvSpPr/>
          <p:nvPr/>
        </p:nvSpPr>
        <p:spPr>
          <a:xfrm>
            <a:off x="457200" y="4994452"/>
            <a:ext cx="5669280" cy="1452753"/>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287060"/>
            <a:ext cx="5394960" cy="1123569"/>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첫 열은 불투명하게 고정돼 뒤 칸 글자가 겹쳐 보이지 않아요.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샘플 수업은 데모 학생 계정(student) 고정 — 실제 학생 데이터를 오염시키지 않아요.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샘플 수업 생성은 카카오톡·푸시를 보내지 않습니다(확인 완료).</a:t>
            </a:r>
          </a:p>
          <a:p>
            <a:pPr>
              <a:lnSpc>
                <a:spcPct val="115000"/>
              </a:lnSpc>
              <a:spcAft>
                <a:spcPts val="100"/>
              </a:spcAft>
            </a:pPr>
            <a:r>
              <a:rPr sz="650" b="1">
                <a:solidFill>
                  <a:srgbClr val="4F46E5"/>
                </a:solidFill>
                <a:latin typeface="Malgun Gothic"/>
              </a:rPr>
              <a:t>● </a:t>
            </a:r>
            <a:r>
              <a:rPr sz="850">
                <a:solidFill>
                  <a:srgbClr val="334155"/>
                </a:solidFill>
                <a:latin typeface="Malgun Gothic"/>
              </a:rPr>
              <a:t>화면은 한/영 병기로 표시됩니다.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샘플 수업은 화면 확인용입니다. 확인이 끝나면 그대로 두어도 실제 정산·통계에 영향을 주지 않는 데모 계정 수업입니다.</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신규 직원 교육 때 샘플 수업을 하나 만들어 두면, 실제 학생 없이도 전체 흐름을 다 보여 줄 수 있습니다.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94306"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7660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7660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78354"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통합 → 강사…</a:t>
            </a:r>
          </a:p>
        </p:txBody>
      </p:sp>
      <p:sp>
        <p:nvSpPr>
          <p:cNvPr id="28" name="TextBox 27"/>
          <p:cNvSpPr txBox="1"/>
          <p:nvPr/>
        </p:nvSpPr>
        <p:spPr>
          <a:xfrm>
            <a:off x="415046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33341" y="2670048"/>
            <a:ext cx="198424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1563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156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17389" y="2670048"/>
            <a:ext cx="156362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오른쪽으로 밀어도</a:t>
            </a:r>
          </a:p>
        </p:txBody>
      </p:sp>
      <p:sp>
        <p:nvSpPr>
          <p:cNvPr id="33" name="TextBox 32"/>
          <p:cNvSpPr txBox="1"/>
          <p:nvPr/>
        </p:nvSpPr>
        <p:spPr>
          <a:xfrm>
            <a:off x="6317589"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500469" y="2670048"/>
            <a:ext cx="2156155"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58276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276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884517" y="2670048"/>
            <a:ext cx="1735531"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시간표 카드 → 샘…</a:t>
            </a:r>
          </a:p>
        </p:txBody>
      </p:sp>
      <p:sp>
        <p:nvSpPr>
          <p:cNvPr id="38" name="TextBox 37"/>
          <p:cNvSpPr txBox="1"/>
          <p:nvPr/>
        </p:nvSpPr>
        <p:spPr>
          <a:xfrm>
            <a:off x="865662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839504"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2180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2180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9223552"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이름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강사 근무·휴식·휴가 입구 정리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‘기능이 없다’는 문의의 진짜 원인</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강사들이 ‘근무·휴식·휴가 등록이 안 된다’ 고 문의해 온 건의 실제 원인은 기능 부재가 아니라 입구 부재였습니다. 해당 화면은 시스템▸캘린더에 이미 있었지만 강사 동선에서 갈 길이 없었습니다. 강사 통합 화면에 바로가기를 추가해 해결했습니다.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999210"/>
          </a:xfrm>
          <a:prstGeom prst="rect">
            <a:avLst/>
          </a:prstGeom>
          <a:noFill/>
        </p:spPr>
        <p:txBody>
          <a:bodyPr wrap="square">
            <a:spAutoFit/>
          </a:bodyPr>
          <a:lstStyle/>
          <a:p>
            <a:pPr>
              <a:lnSpc>
                <a:spcPct val="115000"/>
              </a:lnSpc>
              <a:spcAft>
                <a:spcPts val="300"/>
              </a:spcAft>
            </a:pPr>
            <a:r>
              <a:rPr sz="950" b="1">
                <a:solidFill>
                  <a:srgbClr val="4F46E5"/>
                </a:solidFill>
                <a:latin typeface="Malgun Gothic"/>
              </a:rPr>
              <a:t>● </a:t>
            </a:r>
            <a:r>
              <a:rPr sz="1150">
                <a:solidFill>
                  <a:srgbClr val="334155"/>
                </a:solidFill>
                <a:latin typeface="Malgun Gothic"/>
              </a:rPr>
              <a:t>강사 통합 화면에 근무·휴식·휴가 바로가기가 있는지 확인해요.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강사 문의가 오면 이 경로를 안내해요.</a:t>
            </a:r>
          </a:p>
          <a:p>
            <a:pPr>
              <a:lnSpc>
                <a:spcPct val="115000"/>
              </a:lnSpc>
              <a:spcAft>
                <a:spcPts val="300"/>
              </a:spcAft>
            </a:pPr>
            <a:r>
              <a:rPr sz="950" b="1">
                <a:solidFill>
                  <a:srgbClr val="4F46E5"/>
                </a:solidFill>
                <a:latin typeface="Malgun Gothic"/>
              </a:rPr>
              <a:t>● </a:t>
            </a:r>
            <a:r>
              <a:rPr sz="1150">
                <a:solidFill>
                  <a:srgbClr val="334155"/>
                </a:solidFill>
                <a:latin typeface="Malgun Gothic"/>
              </a:rPr>
              <a:t>기존 시스템 ▸ 캘린더 경로도 그대로 쓸 수 있어요.</a:t>
            </a:r>
          </a:p>
        </p:txBody>
      </p:sp>
      <p:sp>
        <p:nvSpPr>
          <p:cNvPr id="14" name="Rounded Rectangle 13"/>
          <p:cNvSpPr/>
          <p:nvPr/>
        </p:nvSpPr>
        <p:spPr>
          <a:xfrm>
            <a:off x="457200" y="4839690"/>
            <a:ext cx="5669280" cy="106527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8541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132298"/>
            <a:ext cx="5394960" cy="736092"/>
          </a:xfrm>
          <a:prstGeom prst="rect">
            <a:avLst/>
          </a:prstGeom>
          <a:noFill/>
        </p:spPr>
        <p:txBody>
          <a:bodyPr wrap="square">
            <a:spAutoFit/>
          </a:bodyPr>
          <a:lstStyle/>
          <a:p>
            <a:pPr>
              <a:lnSpc>
                <a:spcPct val="115000"/>
              </a:lnSpc>
              <a:spcAft>
                <a:spcPts val="100"/>
              </a:spcAft>
            </a:pPr>
            <a:r>
              <a:rPr sz="800" b="1">
                <a:solidFill>
                  <a:srgbClr val="4F46E5"/>
                </a:solidFill>
                <a:latin typeface="Malgun Gothic"/>
              </a:rPr>
              <a:t>● </a:t>
            </a:r>
            <a:r>
              <a:rPr sz="1000">
                <a:solidFill>
                  <a:srgbClr val="334155"/>
                </a:solidFill>
                <a:latin typeface="Malgun Gothic"/>
              </a:rPr>
              <a:t>새 기능을 만든 것이 아니라 연결을 추가한 것입니다 — 데이터·동작은 그대로예요.</a:t>
            </a:r>
          </a:p>
          <a:p>
            <a:pPr>
              <a:lnSpc>
                <a:spcPct val="115000"/>
              </a:lnSpc>
              <a:spcAft>
                <a:spcPts val="100"/>
              </a:spcAft>
            </a:pPr>
            <a:r>
              <a:rPr sz="800" b="1">
                <a:solidFill>
                  <a:srgbClr val="4F46E5"/>
                </a:solidFill>
                <a:latin typeface="Malgun Gothic"/>
              </a:rPr>
              <a:t>● </a:t>
            </a:r>
            <a:r>
              <a:rPr sz="1000">
                <a:solidFill>
                  <a:srgbClr val="334155"/>
                </a:solidFill>
                <a:latin typeface="Malgun Gothic"/>
              </a:rPr>
              <a:t>강사 문의 중 상당수가 이런 ‘연결 누락’ 유형이었습니다.</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강사 문의를 받으면 먼저 ‘그 화면이 정말 없는지’ 확인해 보세요. 대부분 입구만 없는 경우입니다.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teachers.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242462"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2475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2475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626510"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통합</a:t>
            </a:r>
          </a:p>
        </p:txBody>
      </p:sp>
      <p:sp>
        <p:nvSpPr>
          <p:cNvPr id="26" name="TextBox 25"/>
          <p:cNvSpPr txBox="1"/>
          <p:nvPr/>
        </p:nvSpPr>
        <p:spPr>
          <a:xfrm>
            <a:off x="459760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780483"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86277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627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164531"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강사 문의가 오면…</a:t>
            </a:r>
          </a:p>
        </p:txBody>
      </p:sp>
      <p:sp>
        <p:nvSpPr>
          <p:cNvPr id="31" name="TextBox 30"/>
          <p:cNvSpPr txBox="1"/>
          <p:nvPr/>
        </p:nvSpPr>
        <p:spPr>
          <a:xfrm>
            <a:off x="6850684"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7033564"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115860"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15860"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7417612"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시스템 ▸ 캘린더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신규 결제 화면 단계형 개편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상품 12개를 한꺼번에 보여 주지 않아요</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신규 결제 화면이 ‘대상 먼저 고르기’ 단계형으로 바뀌었습니다. 예전에는 첫 화면에 상품 12개가 한꺼번에 떠서 학부모가 무엇을 골라야 할지 막막했습니다. 이제 키즈 · 일반 1:1 · 그룹 · 비즈니스 · 시험 · 기업 중 대상을 먼저 고르면 해당 상품만 보입니다.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학부모에게 신규 결제 화면을 안내해요.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대상(키즈·일반 1:1·그룹·비즈니스·시험·기업)을 먼저 고르게 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고른 대상에 맞는 상품만 화면에 남아요.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전체를 비교하고 싶어 하면 전체 요금표 보기를 눌러 주세요.</a:t>
            </a:r>
          </a:p>
        </p:txBody>
      </p:sp>
      <p:sp>
        <p:nvSpPr>
          <p:cNvPr id="14" name="Rounded Rectangle 13"/>
          <p:cNvSpPr/>
          <p:nvPr/>
        </p:nvSpPr>
        <p:spPr>
          <a:xfrm>
            <a:off x="457200" y="4994452"/>
            <a:ext cx="5669280" cy="1522018"/>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287060"/>
            <a:ext cx="5394960" cy="1192834"/>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상품 카드와 결제 로직은 하나도 바뀌지 않았어요 — 보여 주기만 나눈 것이라 안전합니다.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초기 3개(무료체험·기타·규정) → 키즈 선택 시 4개 → 전체 12개로 확인됐습니다.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전체 요금표 보기를 남겨 두었어요 — 가격을 숨긴다는 인상을 주면 역효과이기 때문입니다.</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상담 전화에서 ‘어떤 걸 고를지 모르겠다’는 말이 나오면, 대상만 먼저 고르게 안내하세요.</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152851"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23514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3514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536899"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신규 결제</a:t>
            </a:r>
          </a:p>
        </p:txBody>
      </p:sp>
      <p:sp>
        <p:nvSpPr>
          <p:cNvPr id="26" name="TextBox 25"/>
          <p:cNvSpPr txBox="1"/>
          <p:nvPr/>
        </p:nvSpPr>
        <p:spPr>
          <a:xfrm>
            <a:off x="450799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690872" y="2670048"/>
            <a:ext cx="954633"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7316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7316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074920" y="2670048"/>
            <a:ext cx="534009"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대상</a:t>
            </a:r>
          </a:p>
        </p:txBody>
      </p:sp>
      <p:sp>
        <p:nvSpPr>
          <p:cNvPr id="31" name="TextBox 30"/>
          <p:cNvSpPr txBox="1"/>
          <p:nvPr/>
        </p:nvSpPr>
        <p:spPr>
          <a:xfrm>
            <a:off x="5645505"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5828385" y="2670048"/>
            <a:ext cx="111191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91068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1068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212433" y="2670048"/>
            <a:ext cx="69128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상품만</a:t>
            </a:r>
          </a:p>
        </p:txBody>
      </p:sp>
      <p:sp>
        <p:nvSpPr>
          <p:cNvPr id="36" name="TextBox 35"/>
          <p:cNvSpPr txBox="1"/>
          <p:nvPr/>
        </p:nvSpPr>
        <p:spPr>
          <a:xfrm>
            <a:off x="694029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7" name="Rounded Rectangle 36"/>
          <p:cNvSpPr/>
          <p:nvPr/>
        </p:nvSpPr>
        <p:spPr>
          <a:xfrm>
            <a:off x="7123176"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20547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0547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0" name="TextBox 39"/>
          <p:cNvSpPr txBox="1"/>
          <p:nvPr/>
        </p:nvSpPr>
        <p:spPr>
          <a:xfrm>
            <a:off x="7507224"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전체 요금표 보기</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계정 없는 학부모용 샘플 평가표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로그인 벽 앞에서 보여 줄 것이 생겼어요</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계정이 없는 가망 학부모에게 보여 줄 것이 아무것도 없던 문제를 해결했습니다. 평가표 화면에 ‘계정이 없어요 — 샘플 평가표 먼저 보기’ 가 생겨, 로그인 없이 5축 점수 + 강사 코멘트 + AI 분석이 어떻게 나오는지 미리 보여 줄 수 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153972"/>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상담 중 학부모에게 평가표 화면을 열어 보여 줘요.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계정이 없어요 — 샘플 평가표 먼저 보기를 눌러요.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5축 점수·강사 코멘트·AI 분석 구성을 함께 보며 설명해요.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‘우리 아이 것도 이렇게 나옵니다’로 체험 신청을 연결해요.</a:t>
            </a:r>
          </a:p>
        </p:txBody>
      </p:sp>
      <p:sp>
        <p:nvSpPr>
          <p:cNvPr id="14" name="Rounded Rectangle 13"/>
          <p:cNvSpPr/>
          <p:nvPr/>
        </p:nvSpPr>
        <p:spPr>
          <a:xfrm>
            <a:off x="457200" y="4994452"/>
            <a:ext cx="5669280" cy="9850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040172"/>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287060"/>
            <a:ext cx="5394960" cy="65585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 값은 전부 예시입니다. 제목과 상단 배너에 ‘샘플/예시’ 표시가 들어가 있어요.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이 표시는 절대 지우면 안 됩니다 — 실제 기록으로 오해되면 신뢰 문제가 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샘플은 실제 학생 데이터를 쓰지 않습니다. 상담 자료로만 활용하세요.</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상담 첫 3분에 샘플 평가표를 보여 주면 ‘무엇을 받게 되는지’가 명확해져 체험 전환이 올라갑니다.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51329"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33625"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33625"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35377"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평가표 화면</a:t>
            </a:r>
          </a:p>
        </p:txBody>
      </p:sp>
      <p:sp>
        <p:nvSpPr>
          <p:cNvPr id="28" name="TextBox 27"/>
          <p:cNvSpPr txBox="1"/>
          <p:nvPr/>
        </p:nvSpPr>
        <p:spPr>
          <a:xfrm>
            <a:off x="3463747"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3646627"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72892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72892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030675"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계정이 없어요 —…</a:t>
            </a:r>
          </a:p>
        </p:txBody>
      </p:sp>
      <p:sp>
        <p:nvSpPr>
          <p:cNvPr id="33" name="TextBox 32"/>
          <p:cNvSpPr txBox="1"/>
          <p:nvPr/>
        </p:nvSpPr>
        <p:spPr>
          <a:xfrm>
            <a:off x="571682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5899708" y="2670048"/>
            <a:ext cx="208483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98200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200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6283756" y="2670048"/>
            <a:ext cx="166420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5축 점수·강사 코…</a:t>
            </a:r>
          </a:p>
        </p:txBody>
      </p:sp>
      <p:sp>
        <p:nvSpPr>
          <p:cNvPr id="38" name="TextBox 37"/>
          <p:cNvSpPr txBox="1"/>
          <p:nvPr/>
        </p:nvSpPr>
        <p:spPr>
          <a:xfrm>
            <a:off x="7984540"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167420"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249716"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49716"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551468"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‘우리 아이 것도…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좌측 메뉴 대분류 정리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18개 평면 나열 → 4개 묶음</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학부모 화면 왼쪽 메뉴가 18개 항목을 아무 구분 없이 늘어놓던 것에서 대분류 네 묶음으로 정리됐습니다. 우리 아이 학습 / 수업 / 학습 도구 / 결제·문의 (+기타)로 제목만 얹었고, 항목은 여전히 클릭 1회로 열립니다.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865479"/>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학부모 화면 왼쪽 메뉴를 열어요.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네 개의 대분류 제목과 그 아래 항목을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학부모 문의 시 ‘결제·문의 묶음을 보세요’ 처럼 묶음 이름으로 안내해요.</a:t>
            </a:r>
          </a:p>
        </p:txBody>
      </p:sp>
      <p:sp>
        <p:nvSpPr>
          <p:cNvPr id="14" name="Rounded Rectangle 13"/>
          <p:cNvSpPr/>
          <p:nvPr/>
        </p:nvSpPr>
        <p:spPr>
          <a:xfrm>
            <a:off x="457200" y="4705959"/>
            <a:ext cx="5669280" cy="121889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751679"/>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4998567"/>
            <a:ext cx="5394960" cy="88971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접는 메뉴(아코디언)로 만들지 않았어요 — 접으면 모든 항목이 클릭 한 번씩 더 듭니다.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항목 18개가 하나도 사라지지 않았습니다(검증 완료).</a:t>
            </a:r>
          </a:p>
          <a:p>
            <a:pPr>
              <a:lnSpc>
                <a:spcPct val="115000"/>
              </a:lnSpc>
              <a:spcAft>
                <a:spcPts val="100"/>
              </a:spcAft>
            </a:pPr>
            <a:r>
              <a:rPr sz="650" b="1">
                <a:solidFill>
                  <a:srgbClr val="4F46E5"/>
                </a:solidFill>
                <a:latin typeface="Malgun Gothic"/>
              </a:rPr>
              <a:t>● </a:t>
            </a:r>
            <a:r>
              <a:rPr sz="850">
                <a:solidFill>
                  <a:srgbClr val="334155"/>
                </a:solidFill>
                <a:latin typeface="Malgun Gothic"/>
              </a:rPr>
              <a:t>묶음에 등록을 잊은 항목은 ‘기타’로 자동 수집돼 조용히 사라지지 않아요.</a:t>
            </a:r>
          </a:p>
        </p:txBody>
      </p:sp>
      <p:sp>
        <p:nvSpPr>
          <p:cNvPr id="17" name="Rounded Rectangle 16"/>
          <p:cNvSpPr/>
          <p:nvPr/>
        </p:nvSpPr>
        <p:spPr>
          <a:xfrm>
            <a:off x="365760" y="6217920"/>
            <a:ext cx="11457432" cy="47548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63640"/>
            <a:ext cx="11183111" cy="384048"/>
          </a:xfrm>
          <a:prstGeom prst="rect">
            <a:avLst/>
          </a:prstGeom>
          <a:noFill/>
        </p:spPr>
        <p:txBody>
          <a:bodyPr wrap="square" anchor="t">
            <a:spAutoFit/>
          </a:bodyPr>
          <a:lstStyle/>
          <a:p>
            <a:pPr algn="l">
              <a:lnSpc>
                <a:spcPct val="100000"/>
              </a:lnSpc>
            </a:pPr>
            <a:r>
              <a:rPr sz="950" b="0">
                <a:solidFill>
                  <a:srgbClr val="5B4A2A"/>
                </a:solidFill>
                <a:latin typeface="Malgun Gothic"/>
              </a:rPr>
              <a:t>💡 꿀팁 · 전화 상담에서 위치를 안내할 때 묶음 이름을 먼저 말하면 학부모가 훨씬 빨리 찾습니다.</a:t>
            </a:r>
          </a:p>
        </p:txBody>
      </p:sp>
      <p:sp>
        <p:nvSpPr>
          <p:cNvPr id="19" name="Rectangle 18"/>
          <p:cNvSpPr/>
          <p:nvPr/>
        </p:nvSpPr>
        <p:spPr>
          <a:xfrm>
            <a:off x="6819595" y="3255264"/>
            <a:ext cx="4557369" cy="28895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874459" y="3310128"/>
            <a:ext cx="4447641" cy="2779776"/>
          </a:xfrm>
          <a:prstGeom prst="rect">
            <a:avLst/>
          </a:prstGeom>
        </p:spPr>
      </p:pic>
      <p:sp>
        <p:nvSpPr>
          <p:cNvPr id="21" name="Rounded Rectangle 20"/>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364077" y="2670048"/>
            <a:ext cx="1355140"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446373"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6373"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5" name="TextBox 24"/>
          <p:cNvSpPr txBox="1"/>
          <p:nvPr/>
        </p:nvSpPr>
        <p:spPr>
          <a:xfrm>
            <a:off x="3748125" y="2670048"/>
            <a:ext cx="934516"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왼쪽 메뉴</a:t>
            </a:r>
          </a:p>
        </p:txBody>
      </p:sp>
      <p:sp>
        <p:nvSpPr>
          <p:cNvPr id="26" name="TextBox 25"/>
          <p:cNvSpPr txBox="1"/>
          <p:nvPr/>
        </p:nvSpPr>
        <p:spPr>
          <a:xfrm>
            <a:off x="4719218"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7" name="Rounded Rectangle 26"/>
          <p:cNvSpPr/>
          <p:nvPr/>
        </p:nvSpPr>
        <p:spPr>
          <a:xfrm>
            <a:off x="4902098"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84394"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84394"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0" name="TextBox 29"/>
          <p:cNvSpPr txBox="1"/>
          <p:nvPr/>
        </p:nvSpPr>
        <p:spPr>
          <a:xfrm>
            <a:off x="5286146"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대분류 제목</a:t>
            </a:r>
          </a:p>
        </p:txBody>
      </p:sp>
      <p:sp>
        <p:nvSpPr>
          <p:cNvPr id="31" name="TextBox 30"/>
          <p:cNvSpPr txBox="1"/>
          <p:nvPr/>
        </p:nvSpPr>
        <p:spPr>
          <a:xfrm>
            <a:off x="641451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2" name="Rounded Rectangle 31"/>
          <p:cNvSpPr/>
          <p:nvPr/>
        </p:nvSpPr>
        <p:spPr>
          <a:xfrm>
            <a:off x="6597396"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67969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969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5" name="TextBox 34"/>
          <p:cNvSpPr txBox="1"/>
          <p:nvPr/>
        </p:nvSpPr>
        <p:spPr>
          <a:xfrm>
            <a:off x="6981444"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‘결제·문의 묶음을…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비밀번호 셀프 재설정 안내 (문자 인증)</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학부모 문의를 줄이는 자가 해결 경로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학생·학부모가 직원을 거치지 않고 스스로 비밀번호를 바꿀 수 있는 길이 로그인 모달과 평가표(성적표) 화면에 모두 연결됐습니다. 등록된 전화번호로 6자리 인증 문자를 받아 확인하면 바로 새 비밀번호를 정할 수 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1314450"/>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학부모에게 로그인 화면 또는 평가표 화면의 🔑 비밀번호를 잊으셨나요? — 문자로 재설정을 안내해요.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아이디를 넣으면 등록된 전화번호로 6자리 코드가 갑니다.</a:t>
            </a:r>
          </a:p>
          <a:p>
            <a:pPr>
              <a:lnSpc>
                <a:spcPct val="115000"/>
              </a:lnSpc>
              <a:spcAft>
                <a:spcPts val="300"/>
              </a:spcAft>
            </a:pPr>
            <a:r>
              <a:rPr sz="700" b="1">
                <a:solidFill>
                  <a:srgbClr val="4F46E5"/>
                </a:solidFill>
                <a:latin typeface="Malgun Gothic"/>
              </a:rPr>
              <a:t>● </a:t>
            </a:r>
            <a:r>
              <a:rPr sz="900">
                <a:solidFill>
                  <a:srgbClr val="334155"/>
                </a:solidFill>
                <a:latin typeface="Malgun Gothic"/>
              </a:rPr>
              <a:t>코드를 확인하면 새 비밀번호를 바로 정할 수 있어요.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번호가 없다는 안내가 뜨면 카카오 채널 문의로 이어 주세요.</a:t>
            </a:r>
          </a:p>
        </p:txBody>
      </p:sp>
      <p:sp>
        <p:nvSpPr>
          <p:cNvPr id="14" name="Rounded Rectangle 13"/>
          <p:cNvSpPr/>
          <p:nvPr/>
        </p:nvSpPr>
        <p:spPr>
          <a:xfrm>
            <a:off x="457200" y="5154930"/>
            <a:ext cx="5669280" cy="985037"/>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00650"/>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5447538"/>
            <a:ext cx="5394960" cy="655853"/>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평가표 화면에도 링크가 생겨 성적표 보러 왔다가 막히는 일이 줄었어요.</a:t>
            </a:r>
          </a:p>
          <a:p>
            <a:pPr>
              <a:lnSpc>
                <a:spcPct val="115000"/>
              </a:lnSpc>
              <a:spcAft>
                <a:spcPts val="100"/>
              </a:spcAft>
            </a:pPr>
            <a:r>
              <a:rPr sz="650" b="1">
                <a:solidFill>
                  <a:srgbClr val="4F46E5"/>
                </a:solidFill>
                <a:latin typeface="Malgun Gothic"/>
              </a:rPr>
              <a:t>● </a:t>
            </a:r>
            <a:r>
              <a:rPr sz="850">
                <a:solidFill>
                  <a:srgbClr val="334155"/>
                </a:solidFill>
                <a:latin typeface="Malgun Gothic"/>
              </a:rPr>
              <a:t>카카오 문의 버튼은 그대로 유지됩니다 — 셀프가 막히면 자연스럽게 상담으로 이어져요.</a:t>
            </a:r>
          </a:p>
        </p:txBody>
      </p:sp>
      <p:sp>
        <p:nvSpPr>
          <p:cNvPr id="17" name="Rounded Rectangle 16"/>
          <p:cNvSpPr/>
          <p:nvPr/>
        </p:nvSpPr>
        <p:spPr>
          <a:xfrm>
            <a:off x="365760" y="6021324"/>
            <a:ext cx="5646420" cy="672084"/>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067044"/>
            <a:ext cx="5372100" cy="580644"/>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연락처가 등록된 계정만 실제로 동작합니다. 현재 대부분의 계정에 전화번호가 비어 있어, 번호가 채워지는 만큼 자동으로 동작 범위가 넓어집니다. 근본 해결은 연락처 이관(카페24 동기화)입니다.</a:t>
            </a:r>
          </a:p>
        </p:txBody>
      </p:sp>
      <p:sp>
        <p:nvSpPr>
          <p:cNvPr id="19" name="Rounded Rectangle 18"/>
          <p:cNvSpPr/>
          <p:nvPr/>
        </p:nvSpPr>
        <p:spPr>
          <a:xfrm>
            <a:off x="6176772" y="6021324"/>
            <a:ext cx="5646420" cy="672084"/>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067044"/>
            <a:ext cx="5372100" cy="580644"/>
          </a:xfrm>
          <a:prstGeom prst="rect">
            <a:avLst/>
          </a:prstGeom>
          <a:noFill/>
        </p:spPr>
        <p:txBody>
          <a:bodyPr wrap="square" anchor="t">
            <a:spAutoFit/>
          </a:bodyPr>
          <a:lstStyle/>
          <a:p>
            <a:pPr algn="l">
              <a:lnSpc>
                <a:spcPct val="100000"/>
              </a:lnSpc>
            </a:pPr>
            <a:r>
              <a:rPr sz="950" b="0">
                <a:solidFill>
                  <a:srgbClr val="5B4A2A"/>
                </a:solidFill>
                <a:latin typeface="Malgun Gothic"/>
              </a:rPr>
              <a:t>💡 꿀팁 · 상담 전화가 오면 먼저 연락처를 등록해 드리세요. 그 다음부터는 학부모가 스스로 해결합니다.</a:t>
            </a:r>
          </a:p>
        </p:txBody>
      </p:sp>
      <p:sp>
        <p:nvSpPr>
          <p:cNvPr id="21" name="Rectangle 20"/>
          <p:cNvSpPr/>
          <p:nvPr/>
        </p:nvSpPr>
        <p:spPr>
          <a:xfrm>
            <a:off x="6976872" y="3255264"/>
            <a:ext cx="4242816" cy="26929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home.jpg"/>
          <p:cNvPicPr>
            <a:picLocks noChangeAspect="1"/>
          </p:cNvPicPr>
          <p:nvPr/>
        </p:nvPicPr>
        <p:blipFill>
          <a:blip r:embed="rId2"/>
          <a:stretch>
            <a:fillRect/>
          </a:stretch>
        </p:blipFill>
        <p:spPr>
          <a:xfrm>
            <a:off x="7031736" y="3310128"/>
            <a:ext cx="4133088" cy="2583180"/>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922983" y="2670048"/>
            <a:ext cx="2227478"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00527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00527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2307031" y="2670048"/>
            <a:ext cx="1806854"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 비밀번호를 잊으…</a:t>
            </a:r>
          </a:p>
        </p:txBody>
      </p:sp>
      <p:sp>
        <p:nvSpPr>
          <p:cNvPr id="28" name="TextBox 27"/>
          <p:cNvSpPr txBox="1"/>
          <p:nvPr/>
        </p:nvSpPr>
        <p:spPr>
          <a:xfrm>
            <a:off x="4150461"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333341" y="2670048"/>
            <a:ext cx="21415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415637"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15637"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4717389" y="2670048"/>
            <a:ext cx="17209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등록된 전화번호로…</a:t>
            </a:r>
          </a:p>
        </p:txBody>
      </p:sp>
      <p:sp>
        <p:nvSpPr>
          <p:cNvPr id="33" name="TextBox 32"/>
          <p:cNvSpPr txBox="1"/>
          <p:nvPr/>
        </p:nvSpPr>
        <p:spPr>
          <a:xfrm>
            <a:off x="6474866"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6657746" y="2670048"/>
            <a:ext cx="151241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740042"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40042"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041794" y="2670048"/>
            <a:ext cx="109179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새 비밀번호</a:t>
            </a:r>
          </a:p>
        </p:txBody>
      </p:sp>
      <p:sp>
        <p:nvSpPr>
          <p:cNvPr id="38" name="TextBox 37"/>
          <p:cNvSpPr txBox="1"/>
          <p:nvPr/>
        </p:nvSpPr>
        <p:spPr>
          <a:xfrm>
            <a:off x="817016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9" name="Rounded Rectangle 38"/>
          <p:cNvSpPr/>
          <p:nvPr/>
        </p:nvSpPr>
        <p:spPr>
          <a:xfrm>
            <a:off x="8353043" y="2670048"/>
            <a:ext cx="1912924"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3533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3533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4</a:t>
            </a:r>
          </a:p>
        </p:txBody>
      </p:sp>
      <p:sp>
        <p:nvSpPr>
          <p:cNvPr id="42" name="TextBox 41"/>
          <p:cNvSpPr txBox="1"/>
          <p:nvPr/>
        </p:nvSpPr>
        <p:spPr>
          <a:xfrm>
            <a:off x="8737091" y="2670048"/>
            <a:ext cx="1492300"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카카오 채널 문의</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상담 창구·운영시간 통일 (카카오 1순위)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화면마다 달랐던 안내를 한 값으로</a:t>
            </a:r>
          </a:p>
        </p:txBody>
      </p:sp>
      <p:sp>
        <p:nvSpPr>
          <p:cNvPr id="10" name="Rounded Rectangle 9"/>
          <p:cNvSpPr/>
          <p:nvPr/>
        </p:nvSpPr>
        <p:spPr>
          <a:xfrm>
            <a:off x="365760" y="1828800"/>
            <a:ext cx="11430000" cy="73152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74519"/>
            <a:ext cx="11064240" cy="640080"/>
          </a:xfrm>
          <a:prstGeom prst="rect">
            <a:avLst/>
          </a:prstGeom>
          <a:noFill/>
        </p:spPr>
        <p:txBody>
          <a:bodyPr wrap="square" anchor="t">
            <a:spAutoFit/>
          </a:bodyPr>
          <a:lstStyle/>
          <a:p>
            <a:pPr algn="l">
              <a:lnSpc>
                <a:spcPct val="112000"/>
              </a:lnSpc>
            </a:pPr>
            <a:r>
              <a:rPr sz="1150" b="0">
                <a:solidFill>
                  <a:srgbClr val="334155"/>
                </a:solidFill>
                <a:latin typeface="Malgun Gothic"/>
              </a:rPr>
              <a:t>상담 운영시간이 화면마다 09-22 / 10-20 / 오후 7시로 제각각이던 문제를 10:00~23:00 (주말·공휴일 휴무) 한 값으로 통일했습니다. 또한 카카오 채널을 1순위 창구로 올리고, 전화 카드에도 ‘카카오가 더 빠릅니다’를 함께 표기했습니다.</a:t>
            </a:r>
          </a:p>
        </p:txBody>
      </p:sp>
      <p:sp>
        <p:nvSpPr>
          <p:cNvPr id="12" name="TextBox 11"/>
          <p:cNvSpPr txBox="1"/>
          <p:nvPr/>
        </p:nvSpPr>
        <p:spPr>
          <a:xfrm>
            <a:off x="457200" y="338328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사용 방법</a:t>
            </a:r>
          </a:p>
        </p:txBody>
      </p:sp>
      <p:sp>
        <p:nvSpPr>
          <p:cNvPr id="13" name="TextBox 12"/>
          <p:cNvSpPr txBox="1"/>
          <p:nvPr/>
        </p:nvSpPr>
        <p:spPr>
          <a:xfrm>
            <a:off x="457200" y="3749040"/>
            <a:ext cx="5669280" cy="865479"/>
          </a:xfrm>
          <a:prstGeom prst="rect">
            <a:avLst/>
          </a:prstGeom>
          <a:noFill/>
        </p:spPr>
        <p:txBody>
          <a:bodyPr wrap="square">
            <a:spAutoFit/>
          </a:bodyPr>
          <a:lstStyle/>
          <a:p>
            <a:pPr>
              <a:lnSpc>
                <a:spcPct val="115000"/>
              </a:lnSpc>
              <a:spcAft>
                <a:spcPts val="300"/>
              </a:spcAft>
            </a:pPr>
            <a:r>
              <a:rPr sz="700" b="1">
                <a:solidFill>
                  <a:srgbClr val="4F46E5"/>
                </a:solidFill>
                <a:latin typeface="Malgun Gothic"/>
              </a:rPr>
              <a:t>● </a:t>
            </a:r>
            <a:r>
              <a:rPr sz="900">
                <a:solidFill>
                  <a:srgbClr val="334155"/>
                </a:solidFill>
                <a:latin typeface="Malgun Gothic"/>
              </a:rPr>
              <a:t>문의하기 화면에서 카드 순서가 카카오 → 전화 인지 확인해요.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학부모 안내 시 카카오 채널을 먼저 안내해요.</a:t>
            </a:r>
          </a:p>
          <a:p>
            <a:pPr>
              <a:lnSpc>
                <a:spcPct val="115000"/>
              </a:lnSpc>
              <a:spcAft>
                <a:spcPts val="300"/>
              </a:spcAft>
            </a:pPr>
            <a:r>
              <a:rPr sz="700" b="1">
                <a:solidFill>
                  <a:srgbClr val="4F46E5"/>
                </a:solidFill>
                <a:latin typeface="Malgun Gothic"/>
              </a:rPr>
              <a:t>● </a:t>
            </a:r>
            <a:r>
              <a:rPr sz="900">
                <a:solidFill>
                  <a:srgbClr val="334155"/>
                </a:solidFill>
                <a:latin typeface="Malgun Gothic"/>
              </a:rPr>
              <a:t>운영시간은 10:00~23:00 (주말·공휴일 휴무) 로 통일해 안내해요.</a:t>
            </a:r>
          </a:p>
        </p:txBody>
      </p:sp>
      <p:sp>
        <p:nvSpPr>
          <p:cNvPr id="14" name="Rounded Rectangle 13"/>
          <p:cNvSpPr/>
          <p:nvPr/>
        </p:nvSpPr>
        <p:spPr>
          <a:xfrm>
            <a:off x="457200" y="4705959"/>
            <a:ext cx="5669280" cy="1218895"/>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751679"/>
            <a:ext cx="5394960" cy="274320"/>
          </a:xfrm>
          <a:prstGeom prst="rect">
            <a:avLst/>
          </a:prstGeom>
          <a:noFill/>
        </p:spPr>
        <p:txBody>
          <a:bodyPr wrap="square" anchor="t">
            <a:spAutoFit/>
          </a:bodyPr>
          <a:lstStyle/>
          <a:p>
            <a:pPr algn="l">
              <a:lnSpc>
                <a:spcPct val="100000"/>
              </a:lnSpc>
            </a:pPr>
            <a:r>
              <a:rPr sz="1100" b="1">
                <a:solidFill>
                  <a:srgbClr val="4F46E5"/>
                </a:solidFill>
                <a:latin typeface="Malgun Gothic"/>
              </a:rPr>
              <a:t>✅ 핵심 포인트</a:t>
            </a:r>
          </a:p>
        </p:txBody>
      </p:sp>
      <p:sp>
        <p:nvSpPr>
          <p:cNvPr id="16" name="TextBox 15"/>
          <p:cNvSpPr txBox="1"/>
          <p:nvPr/>
        </p:nvSpPr>
        <p:spPr>
          <a:xfrm>
            <a:off x="594360" y="4998567"/>
            <a:ext cx="5394960" cy="889711"/>
          </a:xfrm>
          <a:prstGeom prst="rect">
            <a:avLst/>
          </a:prstGeom>
          <a:noFill/>
        </p:spPr>
        <p:txBody>
          <a:bodyPr wrap="square">
            <a:spAutoFit/>
          </a:bodyPr>
          <a:lstStyle/>
          <a:p>
            <a:pPr>
              <a:lnSpc>
                <a:spcPct val="115000"/>
              </a:lnSpc>
              <a:spcAft>
                <a:spcPts val="100"/>
              </a:spcAft>
            </a:pPr>
            <a:r>
              <a:rPr sz="650" b="1">
                <a:solidFill>
                  <a:srgbClr val="4F46E5"/>
                </a:solidFill>
                <a:latin typeface="Malgun Gothic"/>
              </a:rPr>
              <a:t>● </a:t>
            </a:r>
            <a:r>
              <a:rPr sz="850">
                <a:solidFill>
                  <a:srgbClr val="334155"/>
                </a:solidFill>
                <a:latin typeface="Malgun Gothic"/>
              </a:rPr>
              <a:t>고친 곳: 문의 화면·홈 메뉴·FAQ(한/영)·AI 상담사 사실블록·학생 FAQ까지 전부 같은 값입니다.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쓰지 않는 팩스 번호와 자리표시자 전화번호는 삭제했습니다.</a:t>
            </a:r>
          </a:p>
          <a:p>
            <a:pPr>
              <a:lnSpc>
                <a:spcPct val="115000"/>
              </a:lnSpc>
              <a:spcAft>
                <a:spcPts val="100"/>
              </a:spcAft>
            </a:pPr>
            <a:r>
              <a:rPr sz="650" b="1">
                <a:solidFill>
                  <a:srgbClr val="4F46E5"/>
                </a:solidFill>
                <a:latin typeface="Malgun Gothic"/>
              </a:rPr>
              <a:t>● </a:t>
            </a:r>
            <a:r>
              <a:rPr sz="850">
                <a:solidFill>
                  <a:srgbClr val="334155"/>
                </a:solidFill>
                <a:latin typeface="Malgun Gothic"/>
              </a:rPr>
              <a:t>AI 상담사도 같은 시간·같은 창구 순서로 안내합니다.</a:t>
            </a:r>
          </a:p>
        </p:txBody>
      </p:sp>
      <p:sp>
        <p:nvSpPr>
          <p:cNvPr id="17" name="Rounded Rectangle 16"/>
          <p:cNvSpPr/>
          <p:nvPr/>
        </p:nvSpPr>
        <p:spPr>
          <a:xfrm>
            <a:off x="365760" y="6172200"/>
            <a:ext cx="5646420" cy="521208"/>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217920"/>
            <a:ext cx="5372100" cy="429768"/>
          </a:xfrm>
          <a:prstGeom prst="rect">
            <a:avLst/>
          </a:prstGeom>
          <a:noFill/>
        </p:spPr>
        <p:txBody>
          <a:bodyPr wrap="square" anchor="t">
            <a:spAutoFit/>
          </a:bodyPr>
          <a:lstStyle/>
          <a:p>
            <a:pPr algn="l">
              <a:lnSpc>
                <a:spcPct val="100000"/>
              </a:lnSpc>
            </a:pPr>
            <a:r>
              <a:rPr sz="950" b="0">
                <a:solidFill>
                  <a:srgbClr val="92670A"/>
                </a:solidFill>
                <a:latin typeface="Malgun Gothic"/>
              </a:rPr>
              <a:t>알아두기 · 실제 운영시간이 바뀌면 이 값들을 한꺼번에 고쳐야 합니다. 한 곳만 고치면 다시 화면마다 달라집니다.</a:t>
            </a:r>
          </a:p>
        </p:txBody>
      </p:sp>
      <p:sp>
        <p:nvSpPr>
          <p:cNvPr id="19" name="Rounded Rectangle 18"/>
          <p:cNvSpPr/>
          <p:nvPr/>
        </p:nvSpPr>
        <p:spPr>
          <a:xfrm>
            <a:off x="6176772" y="6172200"/>
            <a:ext cx="5646420" cy="52120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13932" y="6217920"/>
            <a:ext cx="5372100" cy="429768"/>
          </a:xfrm>
          <a:prstGeom prst="rect">
            <a:avLst/>
          </a:prstGeom>
          <a:noFill/>
        </p:spPr>
        <p:txBody>
          <a:bodyPr wrap="square" anchor="t">
            <a:spAutoFit/>
          </a:bodyPr>
          <a:lstStyle/>
          <a:p>
            <a:pPr algn="l">
              <a:lnSpc>
                <a:spcPct val="100000"/>
              </a:lnSpc>
            </a:pPr>
            <a:r>
              <a:rPr sz="950" b="0">
                <a:solidFill>
                  <a:srgbClr val="5B4A2A"/>
                </a:solidFill>
                <a:latin typeface="Malgun Gothic"/>
              </a:rPr>
              <a:t>💡 꿀팁 · 필리핀 콜센터 번호가 필요하면 실번호를 알려 주세요 — 자리표시자였던 번호는 삭제된 상태입니다.</a:t>
            </a:r>
          </a:p>
        </p:txBody>
      </p:sp>
      <p:sp>
        <p:nvSpPr>
          <p:cNvPr id="21" name="Rectangle 20"/>
          <p:cNvSpPr/>
          <p:nvPr/>
        </p:nvSpPr>
        <p:spPr>
          <a:xfrm>
            <a:off x="6856171" y="3255264"/>
            <a:ext cx="4484217" cy="28437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contact.jpg"/>
          <p:cNvPicPr>
            <a:picLocks noChangeAspect="1"/>
          </p:cNvPicPr>
          <p:nvPr/>
        </p:nvPicPr>
        <p:blipFill>
          <a:blip r:embed="rId2"/>
          <a:stretch>
            <a:fillRect/>
          </a:stretch>
        </p:blipFill>
        <p:spPr>
          <a:xfrm>
            <a:off x="6911035" y="3310128"/>
            <a:ext cx="4374489" cy="2734056"/>
          </a:xfrm>
          <a:prstGeom prst="rect">
            <a:avLst/>
          </a:prstGeom>
        </p:spPr>
      </p:pic>
      <p:sp>
        <p:nvSpPr>
          <p:cNvPr id="23" name="Rounded Rectangle 22"/>
          <p:cNvSpPr/>
          <p:nvPr/>
        </p:nvSpPr>
        <p:spPr>
          <a:xfrm>
            <a:off x="365760" y="2578608"/>
            <a:ext cx="11457432" cy="658368"/>
          </a:xfrm>
          <a:prstGeom prst="roundRect">
            <a:avLst/>
          </a:prstGeom>
          <a:solidFill>
            <a:srgbClr val="F8FAFC"/>
          </a:solidFill>
          <a:ln w="12700">
            <a:solidFill>
              <a:srgbClr val="E7EC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13455" y="2670048"/>
            <a:ext cx="1269187"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495751"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95751"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1</a:t>
            </a:r>
          </a:p>
        </p:txBody>
      </p:sp>
      <p:sp>
        <p:nvSpPr>
          <p:cNvPr id="27" name="TextBox 26"/>
          <p:cNvSpPr txBox="1"/>
          <p:nvPr/>
        </p:nvSpPr>
        <p:spPr>
          <a:xfrm>
            <a:off x="3797503" y="2670048"/>
            <a:ext cx="848563"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문의하기</a:t>
            </a:r>
          </a:p>
        </p:txBody>
      </p:sp>
      <p:sp>
        <p:nvSpPr>
          <p:cNvPr id="28" name="TextBox 27"/>
          <p:cNvSpPr txBox="1"/>
          <p:nvPr/>
        </p:nvSpPr>
        <p:spPr>
          <a:xfrm>
            <a:off x="4682642"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29" name="Rounded Rectangle 28"/>
          <p:cNvSpPr/>
          <p:nvPr/>
        </p:nvSpPr>
        <p:spPr>
          <a:xfrm>
            <a:off x="4865522" y="2670048"/>
            <a:ext cx="2070201"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947818"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947818"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2</a:t>
            </a:r>
          </a:p>
        </p:txBody>
      </p:sp>
      <p:sp>
        <p:nvSpPr>
          <p:cNvPr id="32" name="TextBox 31"/>
          <p:cNvSpPr txBox="1"/>
          <p:nvPr/>
        </p:nvSpPr>
        <p:spPr>
          <a:xfrm>
            <a:off x="5249570" y="2670048"/>
            <a:ext cx="1649577"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카카오 채널을 먼저</a:t>
            </a:r>
          </a:p>
        </p:txBody>
      </p:sp>
      <p:sp>
        <p:nvSpPr>
          <p:cNvPr id="33" name="TextBox 32"/>
          <p:cNvSpPr txBox="1"/>
          <p:nvPr/>
        </p:nvSpPr>
        <p:spPr>
          <a:xfrm>
            <a:off x="6935723" y="2670048"/>
            <a:ext cx="182880" cy="457200"/>
          </a:xfrm>
          <a:prstGeom prst="rect">
            <a:avLst/>
          </a:prstGeom>
          <a:noFill/>
        </p:spPr>
        <p:txBody>
          <a:bodyPr wrap="square" anchor="ctr">
            <a:spAutoFit/>
          </a:bodyPr>
          <a:lstStyle/>
          <a:p>
            <a:pPr algn="ctr">
              <a:lnSpc>
                <a:spcPct val="100000"/>
              </a:lnSpc>
            </a:pPr>
            <a:r>
              <a:rPr sz="1500" b="1">
                <a:solidFill>
                  <a:srgbClr val="4F46E5"/>
                </a:solidFill>
                <a:latin typeface="Malgun Gothic"/>
              </a:rPr>
              <a:t>›</a:t>
            </a:r>
          </a:p>
        </p:txBody>
      </p:sp>
      <p:sp>
        <p:nvSpPr>
          <p:cNvPr id="34" name="Rounded Rectangle 33"/>
          <p:cNvSpPr/>
          <p:nvPr/>
        </p:nvSpPr>
        <p:spPr>
          <a:xfrm>
            <a:off x="7118603" y="2670048"/>
            <a:ext cx="1656892" cy="457200"/>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200899" y="2761488"/>
            <a:ext cx="274320" cy="27432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00899" y="2761488"/>
            <a:ext cx="274320" cy="274320"/>
          </a:xfrm>
          <a:prstGeom prst="rect">
            <a:avLst/>
          </a:prstGeom>
          <a:noFill/>
        </p:spPr>
        <p:txBody>
          <a:bodyPr wrap="square" anchor="ctr">
            <a:spAutoFit/>
          </a:bodyPr>
          <a:lstStyle/>
          <a:p>
            <a:pPr algn="ctr">
              <a:lnSpc>
                <a:spcPct val="100000"/>
              </a:lnSpc>
            </a:pPr>
            <a:r>
              <a:rPr sz="900" b="1">
                <a:solidFill>
                  <a:srgbClr val="FFFFFF"/>
                </a:solidFill>
                <a:latin typeface="Malgun Gothic"/>
              </a:rPr>
              <a:t>3</a:t>
            </a:r>
          </a:p>
        </p:txBody>
      </p:sp>
      <p:sp>
        <p:nvSpPr>
          <p:cNvPr id="37" name="TextBox 36"/>
          <p:cNvSpPr txBox="1"/>
          <p:nvPr/>
        </p:nvSpPr>
        <p:spPr>
          <a:xfrm>
            <a:off x="7502652" y="2670048"/>
            <a:ext cx="1236268" cy="457200"/>
          </a:xfrm>
          <a:prstGeom prst="rect">
            <a:avLst/>
          </a:prstGeom>
          <a:noFill/>
        </p:spPr>
        <p:txBody>
          <a:bodyPr wrap="none" anchor="ctr" lIns="0" rIns="0">
            <a:spAutoFit/>
          </a:bodyPr>
          <a:lstStyle/>
          <a:p>
            <a:pPr algn="l">
              <a:lnSpc>
                <a:spcPct val="100000"/>
              </a:lnSpc>
            </a:pPr>
            <a:r>
              <a:rPr sz="1050" b="1">
                <a:solidFill>
                  <a:srgbClr val="334155"/>
                </a:solidFill>
                <a:latin typeface="Malgun Gothic"/>
              </a:rPr>
              <a:t>10:00~23:0…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50</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관리자 기능 카테고리</a:t>
            </a:r>
          </a:p>
        </p:txBody>
      </p:sp>
      <p:graphicFrame>
        <p:nvGraphicFramePr>
          <p:cNvPr id="9" name="Table 8"/>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카테고리</a:t>
                      </a:r>
                    </a:p>
                  </a:txBody>
                  <a:tcPr>
                    <a:solidFill>
                      <a:srgbClr val="4F46E5"/>
                    </a:solidFill>
                  </a:tcPr>
                </a:tc>
                <a:tc>
                  <a:txBody>
                    <a:bodyPr/>
                    <a:lstStyle/>
                    <a:p>
                      <a:pPr algn="ctr"/>
                      <a:r>
                        <a:rPr sz="1300" b="1">
                          <a:solidFill>
                            <a:srgbClr val="FFFFFF"/>
                          </a:solidFill>
                          <a:latin typeface="Malgun Gothic"/>
                        </a:rPr>
                        <a:t>대표 기능</a:t>
                      </a:r>
                    </a:p>
                  </a:txBody>
                  <a:tcPr>
                    <a:solidFill>
                      <a:srgbClr val="4F46E5"/>
                    </a:solidFill>
                  </a:tcPr>
                </a:tc>
                <a:tc>
                  <a:txBody>
                    <a:bodyPr/>
                    <a:lstStyle/>
                    <a:p>
                      <a:pPr algn="ctr"/>
                      <a:r>
                        <a:rPr sz="1300" b="1">
                          <a:solidFill>
                            <a:srgbClr val="FFFFFF"/>
                          </a:solidFill>
                          <a:latin typeface="Malgun Gothic"/>
                        </a:rPr>
                        <a:t>개수(예)</a:t>
                      </a:r>
                    </a:p>
                  </a:txBody>
                  <a:tcPr>
                    <a:solidFill>
                      <a:srgbClr val="4F46E5"/>
                    </a:solidFill>
                  </a:tcPr>
                </a:tc>
                <a:tc>
                  <a:txBody>
                    <a:bodyPr/>
                    <a:lstStyle/>
                    <a:p>
                      <a:pPr algn="ctr"/>
                      <a:r>
                        <a:rPr sz="1300" b="1">
                          <a:solidFill>
                            <a:srgbClr val="FFFFFF"/>
                          </a:solidFill>
                          <a:latin typeface="Malgun Gothic"/>
                        </a:rPr>
                        <a:t>핵심 효과</a:t>
                      </a:r>
                    </a:p>
                  </a:txBody>
                  <a:tcPr>
                    <a:solidFill>
                      <a:srgbClr val="4F46E5"/>
                    </a:solidFill>
                  </a:tcPr>
                </a:tc>
              </a:tr>
              <a:tr h="522514">
                <a:tc>
                  <a:txBody>
                    <a:bodyPr/>
                    <a:lstStyle/>
                    <a:p>
                      <a:pPr algn="l"/>
                      <a:r>
                        <a:rPr sz="1200" b="1">
                          <a:solidFill>
                            <a:srgbClr val="334155"/>
                          </a:solidFill>
                          <a:latin typeface="Malgun Gothic"/>
                        </a:rPr>
                        <a:t>강사 통합</a:t>
                      </a:r>
                    </a:p>
                  </a:txBody>
                  <a:tcPr>
                    <a:solidFill>
                      <a:srgbClr val="FFFFFF"/>
                    </a:solidFill>
                  </a:tcPr>
                </a:tc>
                <a:tc>
                  <a:txBody>
                    <a:bodyPr/>
                    <a:lstStyle/>
                    <a:p>
                      <a:pPr algn="ctr"/>
                      <a:r>
                        <a:rPr sz="1200">
                          <a:solidFill>
                            <a:srgbClr val="334155"/>
                          </a:solidFill>
                          <a:latin typeface="Malgun Gothic"/>
                        </a:rPr>
                        <a:t>급여·매칭·평가·MBTI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강사 관리 효율화</a:t>
                      </a:r>
                    </a:p>
                  </a:txBody>
                  <a:tcPr>
                    <a:solidFill>
                      <a:srgbClr val="FFFFFF"/>
                    </a:solidFill>
                  </a:tcPr>
                </a:tc>
              </a:tr>
              <a:tr h="522514">
                <a:tc>
                  <a:txBody>
                    <a:bodyPr/>
                    <a:lstStyle/>
                    <a:p>
                      <a:pPr algn="l"/>
                      <a:r>
                        <a:rPr sz="1200" b="1">
                          <a:solidFill>
                            <a:srgbClr val="334155"/>
                          </a:solidFill>
                          <a:latin typeface="Malgun Gothic"/>
                        </a:rPr>
                        <a:t>회계 / 포인트</a:t>
                      </a:r>
                    </a:p>
                  </a:txBody>
                  <a:tcPr>
                    <a:solidFill>
                      <a:srgbClr val="F8FAFC"/>
                    </a:solidFill>
                  </a:tcPr>
                </a:tc>
                <a:tc>
                  <a:txBody>
                    <a:bodyPr/>
                    <a:lstStyle/>
                    <a:p>
                      <a:pPr algn="ctr"/>
                      <a:r>
                        <a:rPr sz="1200">
                          <a:solidFill>
                            <a:srgbClr val="334155"/>
                          </a:solidFill>
                          <a:latin typeface="Malgun Gothic"/>
                        </a:rPr>
                        <a:t>결제·미납·환불·포인트</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정확한 정산</a:t>
                      </a:r>
                    </a:p>
                  </a:txBody>
                  <a:tcPr>
                    <a:solidFill>
                      <a:srgbClr val="F8FAFC"/>
                    </a:solidFill>
                  </a:tcPr>
                </a:tc>
              </a:tr>
              <a:tr h="522514">
                <a:tc>
                  <a:txBody>
                    <a:bodyPr/>
                    <a:lstStyle/>
                    <a:p>
                      <a:pPr algn="l"/>
                      <a:r>
                        <a:rPr sz="1200" b="1">
                          <a:solidFill>
                            <a:srgbClr val="334155"/>
                          </a:solidFill>
                          <a:latin typeface="Malgun Gothic"/>
                        </a:rPr>
                        <a:t>학생 / 학부모</a:t>
                      </a:r>
                    </a:p>
                  </a:txBody>
                  <a:tcPr>
                    <a:solidFill>
                      <a:srgbClr val="FFFFFF"/>
                    </a:solidFill>
                  </a:tcPr>
                </a:tc>
                <a:tc>
                  <a:txBody>
                    <a:bodyPr/>
                    <a:lstStyle/>
                    <a:p>
                      <a:pPr algn="ctr"/>
                      <a:r>
                        <a:rPr sz="1200">
                          <a:solidFill>
                            <a:srgbClr val="334155"/>
                          </a:solidFill>
                          <a:latin typeface="Malgun Gothic"/>
                        </a:rPr>
                        <a:t>학생목록·출결·성적·학부모</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이탈 방지</a:t>
                      </a:r>
                    </a:p>
                  </a:txBody>
                  <a:tcPr>
                    <a:solidFill>
                      <a:srgbClr val="FFFFFF"/>
                    </a:solidFill>
                  </a:tcPr>
                </a:tc>
              </a:tr>
              <a:tr h="522514">
                <a:tc>
                  <a:txBody>
                    <a:bodyPr/>
                    <a:lstStyle/>
                    <a:p>
                      <a:pPr algn="l"/>
                      <a:r>
                        <a:rPr sz="1200" b="1">
                          <a:solidFill>
                            <a:srgbClr val="334155"/>
                          </a:solidFill>
                          <a:latin typeface="Malgun Gothic"/>
                        </a:rPr>
                        <a:t>교육 / 콘텐츠</a:t>
                      </a:r>
                    </a:p>
                  </a:txBody>
                  <a:tcPr>
                    <a:solidFill>
                      <a:srgbClr val="F8FAFC"/>
                    </a:solidFill>
                  </a:tcPr>
                </a:tc>
                <a:tc>
                  <a:txBody>
                    <a:bodyPr/>
                    <a:lstStyle/>
                    <a:p>
                      <a:pPr algn="ctr"/>
                      <a:r>
                        <a:rPr sz="1200">
                          <a:solidFill>
                            <a:srgbClr val="334155"/>
                          </a:solidFill>
                          <a:latin typeface="Malgun Gothic"/>
                        </a:rPr>
                        <a:t>커리큘럼·교재·게임리포트</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학습 품질 ↑</a:t>
                      </a:r>
                    </a:p>
                  </a:txBody>
                  <a:tcPr>
                    <a:solidFill>
                      <a:srgbClr val="F8FAFC"/>
                    </a:solidFill>
                  </a:tcPr>
                </a:tc>
              </a:tr>
              <a:tr h="522514">
                <a:tc>
                  <a:txBody>
                    <a:bodyPr/>
                    <a:lstStyle/>
                    <a:p>
                      <a:pPr algn="l"/>
                      <a:r>
                        <a:rPr sz="1200" b="1">
                          <a:solidFill>
                            <a:srgbClr val="334155"/>
                          </a:solidFill>
                          <a:latin typeface="Malgun Gothic"/>
                        </a:rPr>
                        <a:t>시스템</a:t>
                      </a:r>
                    </a:p>
                  </a:txBody>
                  <a:tcPr>
                    <a:solidFill>
                      <a:srgbClr val="FFFFFF"/>
                    </a:solidFill>
                  </a:tcPr>
                </a:tc>
                <a:tc>
                  <a:txBody>
                    <a:bodyPr/>
                    <a:lstStyle/>
                    <a:p>
                      <a:pPr algn="ctr"/>
                      <a:r>
                        <a:rPr sz="1200">
                          <a:solidFill>
                            <a:srgbClr val="334155"/>
                          </a:solidFill>
                          <a:latin typeface="Malgun Gothic"/>
                        </a:rPr>
                        <a:t>설정·권한·로그</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안전한 운영</a:t>
                      </a:r>
                    </a:p>
                  </a:txBody>
                  <a:tcPr>
                    <a:solidFill>
                      <a:srgbClr val="FFFFFF"/>
                    </a:solidFill>
                  </a:tcPr>
                </a:tc>
              </a:tr>
              <a:tr h="522516">
                <a:tc>
                  <a:txBody>
                    <a:bodyPr/>
                    <a:lstStyle/>
                    <a:p>
                      <a:pPr algn="l"/>
                      <a:r>
                        <a:rPr sz="1200" b="1">
                          <a:solidFill>
                            <a:srgbClr val="334155"/>
                          </a:solidFill>
                          <a:latin typeface="Malgun Gothic"/>
                        </a:rPr>
                        <a:t>AI 운영비서</a:t>
                      </a:r>
                    </a:p>
                  </a:txBody>
                  <a:tcPr>
                    <a:solidFill>
                      <a:srgbClr val="F8FAFC"/>
                    </a:solidFill>
                  </a:tcPr>
                </a:tc>
                <a:tc>
                  <a:txBody>
                    <a:bodyPr/>
                    <a:lstStyle/>
                    <a:p>
                      <a:pPr algn="ctr"/>
                      <a:r>
                        <a:rPr sz="1200">
                          <a:solidFill>
                            <a:srgbClr val="334155"/>
                          </a:solidFill>
                          <a:latin typeface="Malgun Gothic"/>
                        </a:rPr>
                        <a:t>말·글로 조회/처리</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운영 속도 ↑</a:t>
                      </a:r>
                    </a:p>
                  </a:txBody>
                  <a:tcPr>
                    <a:solidFill>
                      <a:srgbClr val="F8FAFC"/>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한눈에 보는 데이터</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카테고리별 기능 수</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이탈위험 학생 분포(예시)</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52</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자주 묻는 질문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어디서 접속하나요?</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admin.mangoi.co.kr 에서 로그인해요. 휴대폰·태블릿·PC 모두 웹에서 바로 접속할 수 있어요.</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기능이 안 보여요.</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권한(역할)에 따라 메뉴가 달라요. 상단 기능 검색이나 AI 비서에게 이름을 말해 찾으세요.</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학생이 수업 입장이 안 된대요.</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대부분 브라우저 권한 문제예요. 크롬/엣지로 재접속 후 카메라·마이크 ‘허용’을 안내하세요. 카카오톡 안이면 외부 브라우저로 열게 하세요.</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AI 비서가 실행까지 하나요?</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조회는 바로, 중요한 처리는 ‘할까요?’로 확인 후 실행해요. 권한이 있는 일만 처리합니다.</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환불 계산이 헷갈려요.</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환불 규정표대로 자동 계산되며, 할인 결제는 정가 기준으로 재정산됩니다.</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이탈이 걱정돼요.</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리텐션 센터의 이탈위험·전염 관계망으로 미리 찾아 알림톡·상담으로 개입하세요.</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매일 운영 체크리스트</a:t>
            </a:r>
          </a:p>
        </p:txBody>
      </p:sp>
      <p:sp>
        <p:nvSpPr>
          <p:cNvPr id="9" name="Rounded Rectangle 8"/>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오늘 매출·재원·출석률 지표를 확인했나요?</a:t>
            </a:r>
          </a:p>
        </p:txBody>
      </p:sp>
      <p:sp>
        <p:nvSpPr>
          <p:cNvPr id="11" name="Rounded Rectangle 10"/>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신규 상담/문의를 처리했나요?</a:t>
            </a:r>
          </a:p>
        </p:txBody>
      </p:sp>
      <p:sp>
        <p:nvSpPr>
          <p:cNvPr id="13" name="Rounded Rectangle 12"/>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미납·환불 건을 확인했나요?</a:t>
            </a:r>
          </a:p>
        </p:txBody>
      </p:sp>
      <p:sp>
        <p:nvSpPr>
          <p:cNvPr id="15" name="Rounded Rectangle 14"/>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실시간 수업(LIVE) 상태를 점검했나요?</a:t>
            </a:r>
          </a:p>
        </p:txBody>
      </p:sp>
      <p:sp>
        <p:nvSpPr>
          <p:cNvPr id="17" name="Rounded Rectangle 16"/>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이탈위험이 오른 학생을 챙겼나요?</a:t>
            </a:r>
          </a:p>
        </p:txBody>
      </p:sp>
      <p:sp>
        <p:nvSpPr>
          <p:cNvPr id="19" name="Rounded Rectangle 18"/>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강사 평가/코칭 피드백을 반영했나요?</a:t>
            </a:r>
          </a:p>
        </p:txBody>
      </p:sp>
      <p:sp>
        <p:nvSpPr>
          <p:cNvPr id="21" name="Rounded Rectangle 20"/>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반복 문의를 FAQ에 추가했나요?</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관리자용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54</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마무리 · 안정적인 학원 운영을 위한 실천 가이드</a:t>
            </a:r>
          </a:p>
        </p:txBody>
      </p:sp>
      <p:sp>
        <p:nvSpPr>
          <p:cNvPr id="9" name="Rounded Rectangle 8"/>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관리자 페이지의 모든 기능을 살펴봤어요. 마지막으로 하루 운영이 어떻게 흘러가는지, 그리고 안정적인 운영을 위해 꼭 지킬 원칙을 한 장에 정리합니다. 매일 이 리듬만 지켜도 운영이 훨씬 가벼워져요.</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하루 흐름 한눈에</a:t>
            </a:r>
          </a:p>
        </p:txBody>
      </p:sp>
      <p:sp>
        <p:nvSpPr>
          <p:cNvPr id="12" name="Rounded Rectangle 11"/>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아침 (5분)</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대시보드에서 오늘 매출·재원생·출석률 확인, AI 인사이트로 학원 상태 요약 파악</a:t>
            </a:r>
          </a:p>
        </p:txBody>
      </p:sp>
      <p:sp>
        <p:nvSpPr>
          <p:cNvPr id="15" name="Rounded Rectangle 14"/>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오전</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신규 상담·문의 처리, 미납·환불 건 확인 및 알림톡 발송</a:t>
            </a:r>
          </a:p>
        </p:txBody>
      </p:sp>
      <p:sp>
        <p:nvSpPr>
          <p:cNvPr id="18" name="Rounded Rectangle 17"/>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시간</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실시간 수업(LIVE) 모니터링, ‘입장 안 됨’ 문의는 브라우저·권한부터 안내</a:t>
            </a:r>
          </a:p>
        </p:txBody>
      </p:sp>
      <p:sp>
        <p:nvSpPr>
          <p:cNvPr id="21" name="Rounded Rectangle 20"/>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오후</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리텐션 센터에서 이탈위험 학생 케어, 강사 평가·코칭 피드백 반영</a:t>
            </a:r>
          </a:p>
        </p:txBody>
      </p:sp>
      <p:sp>
        <p:nvSpPr>
          <p:cNvPr id="24" name="Rounded Rectangle 23"/>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주간·월간</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조직 정산·월간 리포트 배포, 포인트·리워드(상점/기프티콘) 점검, FAQ 보완</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핵심 원칙</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지표는 매일 아침 5분 — 매출·출석 이상 신호를 빨리 잡을수록 대응이 쉬워요.</a:t>
            </a:r>
          </a:p>
          <a:p>
            <a:pPr>
              <a:lnSpc>
                <a:spcPct val="115000"/>
              </a:lnSpc>
              <a:spcAft>
                <a:spcPts val="500"/>
              </a:spcAft>
            </a:pPr>
            <a:r>
              <a:rPr sz="900" b="1">
                <a:solidFill>
                  <a:srgbClr val="4F46E5"/>
                </a:solidFill>
                <a:latin typeface="Malgun Gothic"/>
              </a:rPr>
              <a:t>● </a:t>
            </a:r>
            <a:r>
              <a:rPr sz="1100">
                <a:solidFill>
                  <a:srgbClr val="334155"/>
                </a:solidFill>
                <a:latin typeface="Malgun Gothic"/>
              </a:rPr>
              <a:t>이탈은 조기 개입 — 위험 학생을 빨리 챙길수록 잔존율이 올라가요.</a:t>
            </a:r>
          </a:p>
          <a:p>
            <a:pPr>
              <a:lnSpc>
                <a:spcPct val="115000"/>
              </a:lnSpc>
              <a:spcAft>
                <a:spcPts val="500"/>
              </a:spcAft>
            </a:pPr>
            <a:r>
              <a:rPr sz="900" b="1">
                <a:solidFill>
                  <a:srgbClr val="4F46E5"/>
                </a:solidFill>
                <a:latin typeface="Malgun Gothic"/>
              </a:rPr>
              <a:t>● </a:t>
            </a:r>
            <a:r>
              <a:rPr sz="1100">
                <a:solidFill>
                  <a:srgbClr val="334155"/>
                </a:solidFill>
                <a:latin typeface="Malgun Gothic"/>
              </a:rPr>
              <a:t>규정은 미리 안내 — 환불·연기 규정을 등록 시 안내하면 분쟁이 크게 줄어요.</a:t>
            </a:r>
          </a:p>
          <a:p>
            <a:pPr>
              <a:lnSpc>
                <a:spcPct val="115000"/>
              </a:lnSpc>
              <a:spcAft>
                <a:spcPts val="500"/>
              </a:spcAft>
            </a:pPr>
            <a:r>
              <a:rPr sz="900" b="1">
                <a:solidFill>
                  <a:srgbClr val="4F46E5"/>
                </a:solidFill>
                <a:latin typeface="Malgun Gothic"/>
              </a:rPr>
              <a:t>● </a:t>
            </a:r>
            <a:r>
              <a:rPr sz="1100">
                <a:solidFill>
                  <a:srgbClr val="334155"/>
                </a:solidFill>
                <a:latin typeface="Malgun Gothic"/>
              </a:rPr>
              <a:t>반복 문의는 FAQ로 — 자주 오는 질문은 캡처와 함께 FAQ로 만들어요.</a:t>
            </a:r>
          </a:p>
          <a:p>
            <a:pPr>
              <a:lnSpc>
                <a:spcPct val="115000"/>
              </a:lnSpc>
              <a:spcAft>
                <a:spcPts val="500"/>
              </a:spcAft>
            </a:pPr>
            <a:r>
              <a:rPr sz="900" b="1">
                <a:solidFill>
                  <a:srgbClr val="4F46E5"/>
                </a:solidFill>
                <a:latin typeface="Malgun Gothic"/>
              </a:rPr>
              <a:t>● </a:t>
            </a:r>
            <a:r>
              <a:rPr sz="1100">
                <a:solidFill>
                  <a:srgbClr val="334155"/>
                </a:solidFill>
                <a:latin typeface="Malgun Gothic"/>
              </a:rPr>
              <a:t>데이터로 결정 — 감이 아니라 지표·그래프로 판단하고 개선해요.</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꼭 기억하세요</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접속은 admin.mangoi.co.kr, 권한(역할)에 따라 보이는 메뉴·데이터가 달라져요</a:t>
            </a:r>
          </a:p>
          <a:p>
            <a:pPr>
              <a:lnSpc>
                <a:spcPct val="115000"/>
              </a:lnSpc>
              <a:spcAft>
                <a:spcPts val="400"/>
              </a:spcAft>
            </a:pPr>
            <a:r>
              <a:rPr sz="850" b="1">
                <a:solidFill>
                  <a:srgbClr val="FF9F1C"/>
                </a:solidFill>
                <a:latin typeface="Malgun Gothic"/>
              </a:rPr>
              <a:t>● </a:t>
            </a:r>
            <a:r>
              <a:rPr sz="1050">
                <a:solidFill>
                  <a:srgbClr val="334155"/>
                </a:solidFill>
                <a:latin typeface="Malgun Gothic"/>
              </a:rPr>
              <a:t>AI 비서는 조회는 즉시·중요 처리는 확인 후, 권한이 있는 일만 실행해요</a:t>
            </a:r>
          </a:p>
          <a:p>
            <a:pPr>
              <a:lnSpc>
                <a:spcPct val="115000"/>
              </a:lnSpc>
              <a:spcAft>
                <a:spcPts val="400"/>
              </a:spcAft>
            </a:pPr>
            <a:r>
              <a:rPr sz="850" b="1">
                <a:solidFill>
                  <a:srgbClr val="FF9F1C"/>
                </a:solidFill>
                <a:latin typeface="Malgun Gothic"/>
              </a:rPr>
              <a:t>● </a:t>
            </a:r>
            <a:r>
              <a:rPr sz="1050">
                <a:solidFill>
                  <a:srgbClr val="334155"/>
                </a:solidFill>
                <a:latin typeface="Malgun Gothic"/>
              </a:rPr>
              <a:t>학생 ‘수업 입장 안 됨’ 문의의 대부분은 브라우저·카메라/마이크 권한 문제예요</a:t>
            </a:r>
          </a:p>
          <a:p>
            <a:pPr>
              <a:lnSpc>
                <a:spcPct val="115000"/>
              </a:lnSpc>
              <a:spcAft>
                <a:spcPts val="400"/>
              </a:spcAft>
            </a:pPr>
            <a:r>
              <a:rPr sz="850" b="1">
                <a:solidFill>
                  <a:srgbClr val="FF9F1C"/>
                </a:solidFill>
                <a:latin typeface="Malgun Gothic"/>
              </a:rPr>
              <a:t>● </a:t>
            </a:r>
            <a:r>
              <a:rPr sz="1050">
                <a:solidFill>
                  <a:srgbClr val="334155"/>
                </a:solidFill>
                <a:latin typeface="Malgun Gothic"/>
              </a:rPr>
              <a:t>칭찬 포인트 → 학생 총포인트 → 상점·기프티콘, 정책·보상 구성은 관리자 몫</a:t>
            </a:r>
          </a:p>
        </p:txBody>
      </p:sp>
      <p:sp>
        <p:nvSpPr>
          <p:cNvPr id="31" name="Rounded Rectangle 30"/>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좋은 운영은 화려한 기능이 아니라 ‘매일의 작은 확인’에서 나옵니다. 지표를 챙기고, 이탈을 미리 막고, 규정을 명확히 안내하세요. AI 운영비서와 리텐션 센터가 그 일을 함께 도와드립니다. 궁금한 점은 언제든 고객센터로 — 안정적으로 성장하는 학원을 응원합니다!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