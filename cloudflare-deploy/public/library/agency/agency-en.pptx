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값</c:v>
                </c:pt>
              </c:strCache>
            </c:strRef>
          </c:tx>
          <c:dPt>
            <c:idx val="0"/>
            <c:spPr>
              <a:solidFill>
                <a:srgbClr val="E11D48"/>
              </a:solidFill>
            </c:spPr>
          </c:dPt>
          <c:dPt>
            <c:idx val="1"/>
            <c:spPr>
              <a:solidFill>
                <a:srgbClr val="F59E0B"/>
              </a:solidFill>
            </c:spPr>
          </c:dPt>
          <c:dPt>
            <c:idx val="2"/>
            <c:spPr>
              <a:solidFill>
                <a:srgbClr val="0EA5E9"/>
              </a:solidFill>
            </c:spPr>
          </c:dPt>
          <c:cat>
            <c:strRef>
              <c:f>Sheet1!$A$2:$A$4</c:f>
              <c:strCache>
                <c:ptCount val="3"/>
                <c:pt idx="0">
                  <c:v>Revenue (10k KRW)</c:v>
                </c:pt>
                <c:pt idx="1">
                  <c:v>Enrolled</c:v>
                </c:pt>
                <c:pt idx="2">
                  <c:v>Attendance (%)</c:v>
                </c:pt>
              </c:strCache>
            </c:strRef>
          </c:cat>
          <c:val>
            <c:numRef>
              <c:f>Sheet1!$B$2:$B$4</c:f>
              <c:numCache>
                <c:formatCode>General</c:formatCode>
                <c:ptCount val="3"/>
                <c:pt idx="0">
                  <c:v>46</c:v>
                </c:pt>
                <c:pt idx="1">
                  <c:v>180</c:v>
                </c:pt>
                <c:pt idx="2">
                  <c:v>93</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l"/>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b"/>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값</c:v>
                </c:pt>
              </c:strCache>
            </c:strRef>
          </c:tx>
          <c:spPr>
            <a:solidFill>
              <a:srgbClr val="E11D48"/>
            </a:solidFill>
          </c:spP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120</c:v>
                </c:pt>
                <c:pt idx="1">
                  <c:v>135</c:v>
                </c:pt>
                <c:pt idx="2">
                  <c:v>150</c:v>
                </c:pt>
                <c:pt idx="3">
                  <c:v>162</c:v>
                </c:pt>
                <c:pt idx="4">
                  <c:v>171</c:v>
                </c:pt>
                <c:pt idx="5">
                  <c:v>180</c:v>
                </c:pt>
              </c:numCache>
            </c:numRef>
          </c:val>
        </c:ser>
        <c:dLbls>
          <c:txPr>
            <a:bodyPr/>
            <a:lstStyle/>
            <a:p>
              <a:pPr>
                <a:defRPr sz="1100" b="1">
                  <a:latin typeface="Malgun Gothic"/>
                </a:defRPr>
              </a:pPr>
            </a:p>
          </c:txPr>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txPr>
          <a:bodyPr/>
          <a:lstStyle/>
          <a:p>
            <a:pPr>
              <a:defRPr sz="1000">
                <a:latin typeface="Malgun Gothic"/>
              </a:defRPr>
            </a:pPr>
          </a:p>
        </c:txPr>
        <c:crossAx val="-2113994440"/>
        <c:crosses val="autoZero"/>
        <c:auto val="1"/>
        <c:lblAlgn val="ctr"/>
        <c:lblOffset val="100"/>
        <c:noMultiLvlLbl val="0"/>
      </c:catAx>
      <c:valAx>
        <c:axId val="-2113994440"/>
        <c:scaling/>
        <c:delete val="0"/>
        <c:axPos val="l"/>
        <c:majorGridlines/>
        <c:majorTickMark val="out"/>
        <c:minorTickMark val="none"/>
        <c:tickLblPos val="nextTo"/>
        <c:txPr>
          <a:bodyPr/>
          <a:lstStyle/>
          <a:p>
            <a:pPr>
              <a:defRPr sz="1000">
                <a:latin typeface="Malgun Gothic"/>
              </a:defRPr>
            </a:pPr>
          </a:p>
        </c:txPr>
        <c:crossAx val="-2068027336"/>
        <c:crosses val="autoZero"/>
      </c:valAx>
    </c:plotArea>
    <c:dispBlanksAs val="gap"/>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값</c:v>
                </c:pt>
              </c:strCache>
            </c:strRef>
          </c:tx>
          <c:dPt>
            <c:idx val="0"/>
            <c:spPr>
              <a:solidFill>
                <a:srgbClr val="10B981"/>
              </a:solidFill>
            </c:spPr>
          </c:dPt>
          <c:dPt>
            <c:idx val="1"/>
            <c:spPr>
              <a:solidFill>
                <a:srgbClr val="F59E0B"/>
              </a:solidFill>
            </c:spPr>
          </c:dPt>
          <c:dPt>
            <c:idx val="2"/>
            <c:spPr>
              <a:solidFill>
                <a:srgbClr val="EF4444"/>
              </a:solidFill>
            </c:spPr>
          </c:dPt>
          <c:cat>
            <c:strRef>
              <c:f>Sheet1!$A$2:$A$4</c:f>
              <c:strCache>
                <c:ptCount val="3"/>
                <c:pt idx="0">
                  <c:v>Safe</c:v>
                </c:pt>
                <c:pt idx="1">
                  <c:v>Watch</c:v>
                </c:pt>
                <c:pt idx="2">
                  <c:v>At risk</c:v>
                </c:pt>
              </c:strCache>
            </c:strRef>
          </c:cat>
          <c:val>
            <c:numRef>
              <c:f>Sheet1!$B$2:$B$4</c:f>
              <c:numCache>
                <c:formatCode>General</c:formatCode>
                <c:ptCount val="3"/>
                <c:pt idx="0">
                  <c:v>72</c:v>
                </c:pt>
                <c:pt idx="1">
                  <c:v>20</c:v>
                </c:pt>
                <c:pt idx="2">
                  <c:v>8</c:v>
                </c:pt>
              </c:numCache>
            </c:numRef>
          </c:val>
        </c:ser>
        <c:dLbls>
          <c:txPr>
            <a:bodyPr/>
            <a:lstStyle/>
            <a:p>
              <a:pPr>
                <a:defRPr sz="1100" b="1">
                  <a:latin typeface="Malgun Gothic"/>
                </a:defRPr>
              </a:pPr>
            </a:p>
          </c:txPr>
          <c:showLegendKey val="0"/>
          <c:showVal val="0"/>
          <c:showCatName val="0"/>
          <c:showSerName val="0"/>
          <c:showPercent val="0"/>
          <c:showBubbleSize val="0"/>
          <c:showLeaderLines val="1"/>
        </c:dLbls>
        <c:firstSliceAng val="0"/>
        <c:holeSize val="50"/>
      </c:doughnutChart>
    </c:plotArea>
    <c:legend>
      <c:legendPos/>
      <c:layout/>
      <c:overlay val="0"/>
      <c:txPr>
        <a:bodyPr/>
        <a:lstStyle/>
        <a:p>
          <a:pPr>
            <a:defRPr sz="1100">
              <a:latin typeface="Malgun Gothic"/>
            </a:defRPr>
          </a:pPr>
        </a:p>
      </c:txPr>
    </c:legend>
    <c:plotVisOnly val="1"/>
    <c:dispBlanksAs val="gap"/>
    <c:showDLblsOverMax val="0"/>
  </c:chart>
  <c:txPr>
    <a:bodyPr/>
    <a:lstStyle/>
    <a:p>
      <a:pPr>
        <a:defRPr sz="1800"/>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 Id="rId3" Type="http://schemas.openxmlformats.org/officeDocument/2006/relationships/image" Target="../media/image2.jp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image" Target="../media/image4.jp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 Id="rId3" Type="http://schemas.openxmlformats.org/officeDocument/2006/relationships/chart" Target="../charts/chart3.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BE123C"/>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0607040" y="-1097280"/>
            <a:ext cx="3840480" cy="38404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280160" y="5669280"/>
            <a:ext cx="2926080" cy="2926080"/>
          </a:xfrm>
          <a:prstGeom prst="ellipse">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914400" y="1097280"/>
            <a:ext cx="1280160" cy="1280160"/>
          </a:xfrm>
          <a:prstGeom prst="ellipse">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822960" y="822960"/>
            <a:ext cx="2468880" cy="457200"/>
          </a:xfrm>
          <a:prstGeom prst="round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22960" y="822960"/>
            <a:ext cx="2468880" cy="457200"/>
          </a:xfrm>
          <a:prstGeom prst="rect">
            <a:avLst/>
          </a:prstGeom>
          <a:noFill/>
        </p:spPr>
        <p:txBody>
          <a:bodyPr wrap="square" anchor="ctr">
            <a:spAutoFit/>
          </a:bodyPr>
          <a:lstStyle/>
          <a:p>
            <a:pPr algn="ctr">
              <a:lnSpc>
                <a:spcPct val="100000"/>
              </a:lnSpc>
            </a:pPr>
            <a:r>
              <a:rPr sz="1300" b="1">
                <a:solidFill>
                  <a:srgbClr val="E11D48"/>
                </a:solidFill>
                <a:latin typeface="Malgun Gothic"/>
              </a:rPr>
              <a:t>🤝 AGENCY GUIDE</a:t>
            </a:r>
          </a:p>
        </p:txBody>
      </p:sp>
      <p:sp>
        <p:nvSpPr>
          <p:cNvPr id="8" name="TextBox 7"/>
          <p:cNvSpPr txBox="1"/>
          <p:nvPr/>
        </p:nvSpPr>
        <p:spPr>
          <a:xfrm>
            <a:off x="822960" y="2286000"/>
            <a:ext cx="7315200" cy="457200"/>
          </a:xfrm>
          <a:prstGeom prst="rect">
            <a:avLst/>
          </a:prstGeom>
          <a:noFill/>
        </p:spPr>
        <p:txBody>
          <a:bodyPr wrap="square" anchor="t">
            <a:spAutoFit/>
          </a:bodyPr>
          <a:lstStyle/>
          <a:p>
            <a:pPr algn="l">
              <a:lnSpc>
                <a:spcPct val="100000"/>
              </a:lnSpc>
            </a:pPr>
            <a:r>
              <a:rPr sz="1600" b="1">
                <a:solidFill>
                  <a:srgbClr val="FFFFFF"/>
                </a:solidFill>
                <a:latin typeface="Malgun Gothic"/>
              </a:rPr>
              <a:t>Mangoi · MANGOI</a:t>
            </a:r>
          </a:p>
        </p:txBody>
      </p:sp>
      <p:sp>
        <p:nvSpPr>
          <p:cNvPr id="9" name="TextBox 8"/>
          <p:cNvSpPr txBox="1"/>
          <p:nvPr/>
        </p:nvSpPr>
        <p:spPr>
          <a:xfrm>
            <a:off x="777240" y="2697480"/>
            <a:ext cx="7772400" cy="1371600"/>
          </a:xfrm>
          <a:prstGeom prst="rect">
            <a:avLst/>
          </a:prstGeom>
          <a:noFill/>
        </p:spPr>
        <p:txBody>
          <a:bodyPr wrap="square" anchor="t">
            <a:spAutoFit/>
          </a:bodyPr>
          <a:lstStyle/>
          <a:p>
            <a:pPr algn="l">
              <a:lnSpc>
                <a:spcPct val="100000"/>
              </a:lnSpc>
            </a:pPr>
            <a:r>
              <a:rPr sz="4600" b="1">
                <a:solidFill>
                  <a:srgbClr val="FFFFFF"/>
                </a:solidFill>
                <a:latin typeface="Malgun Gothic"/>
              </a:rPr>
              <a:t>Agency User Guide</a:t>
            </a:r>
          </a:p>
        </p:txBody>
      </p:sp>
      <p:sp>
        <p:nvSpPr>
          <p:cNvPr id="10" name="TextBox 9"/>
          <p:cNvSpPr txBox="1"/>
          <p:nvPr/>
        </p:nvSpPr>
        <p:spPr>
          <a:xfrm>
            <a:off x="822960" y="4114800"/>
            <a:ext cx="7315200" cy="548640"/>
          </a:xfrm>
          <a:prstGeom prst="rect">
            <a:avLst/>
          </a:prstGeom>
          <a:noFill/>
        </p:spPr>
        <p:txBody>
          <a:bodyPr wrap="square" anchor="t">
            <a:spAutoFit/>
          </a:bodyPr>
          <a:lstStyle/>
          <a:p>
            <a:pPr algn="l">
              <a:lnSpc>
                <a:spcPct val="100000"/>
              </a:lnSpc>
            </a:pPr>
            <a:r>
              <a:rPr sz="1900" b="1">
                <a:solidFill>
                  <a:srgbClr val="FFFFFF"/>
                </a:solidFill>
                <a:latin typeface="Malgun Gothic"/>
              </a:rPr>
              <a:t>From enrollment to lessons and settlement, in one book</a:t>
            </a:r>
          </a:p>
        </p:txBody>
      </p:sp>
      <p:sp>
        <p:nvSpPr>
          <p:cNvPr id="11" name="TextBox 10"/>
          <p:cNvSpPr txBox="1"/>
          <p:nvPr/>
        </p:nvSpPr>
        <p:spPr>
          <a:xfrm>
            <a:off x="822960" y="5943600"/>
            <a:ext cx="7315200" cy="457200"/>
          </a:xfrm>
          <a:prstGeom prst="rect">
            <a:avLst/>
          </a:prstGeom>
          <a:noFill/>
        </p:spPr>
        <p:txBody>
          <a:bodyPr wrap="square" anchor="t">
            <a:spAutoFit/>
          </a:bodyPr>
          <a:lstStyle/>
          <a:p>
            <a:pPr algn="l">
              <a:lnSpc>
                <a:spcPct val="100000"/>
              </a:lnSpc>
            </a:pPr>
            <a:r>
              <a:rPr sz="1300" b="0">
                <a:solidFill>
                  <a:srgbClr val="FFFFFF"/>
                </a:solidFill>
                <a:latin typeface="Malgun Gothic"/>
              </a:rPr>
              <a:t>For · Agency (franchise) operators   |   www.mangoi.co.kr</a:t>
            </a:r>
          </a:p>
        </p:txBody>
      </p:sp>
      <p:pic>
        <p:nvPicPr>
          <p:cNvPr id="12" name="Picture 11" descr="mango_char.png"/>
          <p:cNvPicPr>
            <a:picLocks noChangeAspect="1"/>
          </p:cNvPicPr>
          <p:nvPr/>
        </p:nvPicPr>
        <p:blipFill>
          <a:blip r:embed="rId2"/>
          <a:stretch>
            <a:fillRect/>
          </a:stretch>
        </p:blipFill>
        <p:spPr>
          <a:xfrm>
            <a:off x="7477245" y="3108960"/>
            <a:ext cx="4074369" cy="329184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Introduction</a:t>
            </a:r>
          </a:p>
        </p:txBody>
      </p:sp>
      <p:sp>
        <p:nvSpPr>
          <p:cNvPr id="6" name="Rounded Rectangle 5"/>
          <p:cNvSpPr/>
          <p:nvPr/>
        </p:nvSpPr>
        <p:spPr>
          <a:xfrm>
            <a:off x="365760" y="868680"/>
            <a:ext cx="11460175" cy="15544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1005840"/>
            <a:ext cx="10881360" cy="457200"/>
          </a:xfrm>
          <a:prstGeom prst="rect">
            <a:avLst/>
          </a:prstGeom>
          <a:noFill/>
        </p:spPr>
        <p:txBody>
          <a:bodyPr wrap="square" anchor="t">
            <a:spAutoFit/>
          </a:bodyPr>
          <a:lstStyle/>
          <a:p>
            <a:pPr algn="l">
              <a:lnSpc>
                <a:spcPct val="100000"/>
              </a:lnSpc>
            </a:pPr>
            <a:r>
              <a:rPr sz="2400" b="1">
                <a:solidFill>
                  <a:srgbClr val="E11D48"/>
                </a:solidFill>
                <a:latin typeface="Malgun Gothic"/>
              </a:rPr>
              <a:t>What is the Agency Admin Page?</a:t>
            </a:r>
          </a:p>
        </p:txBody>
      </p:sp>
      <p:sp>
        <p:nvSpPr>
          <p:cNvPr id="8" name="TextBox 7"/>
          <p:cNvSpPr txBox="1"/>
          <p:nvPr/>
        </p:nvSpPr>
        <p:spPr>
          <a:xfrm>
            <a:off x="640080" y="1481328"/>
            <a:ext cx="10972800" cy="914400"/>
          </a:xfrm>
          <a:prstGeom prst="rect">
            <a:avLst/>
          </a:prstGeom>
          <a:noFill/>
        </p:spPr>
        <p:txBody>
          <a:bodyPr wrap="square" anchor="t">
            <a:spAutoFit/>
          </a:bodyPr>
          <a:lstStyle/>
          <a:p>
            <a:pPr algn="l">
              <a:lnSpc>
                <a:spcPct val="125000"/>
              </a:lnSpc>
            </a:pPr>
            <a:r>
              <a:rPr sz="1300" b="0">
                <a:solidFill>
                  <a:srgbClr val="334155"/>
                </a:solidFill>
                <a:latin typeface="Malgun Gothic"/>
              </a:rPr>
              <a:t>The agency page is where you directly manage your agency's students, lessons, payments and settlement. From recruiting and counseling to enrollment, lesson assignment, collection, parent communication and receiving settlement — everything you need to run an agency is here. On login, only 'my agency' data shows, so you can focus on your students.</a:t>
            </a:r>
          </a:p>
        </p:txBody>
      </p:sp>
      <p:sp>
        <p:nvSpPr>
          <p:cNvPr id="9" name="Rounded Rectangle 8"/>
          <p:cNvSpPr/>
          <p:nvPr/>
        </p:nvSpPr>
        <p:spPr>
          <a:xfrm>
            <a:off x="365760"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02920"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2" name="TextBox 11"/>
          <p:cNvSpPr txBox="1"/>
          <p:nvPr/>
        </p:nvSpPr>
        <p:spPr>
          <a:xfrm>
            <a:off x="1143000"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My-agency scope, automatic</a:t>
            </a:r>
          </a:p>
        </p:txBody>
      </p:sp>
      <p:sp>
        <p:nvSpPr>
          <p:cNvPr id="13" name="TextBox 12"/>
          <p:cNvSpPr txBox="1"/>
          <p:nvPr/>
        </p:nvSpPr>
        <p:spPr>
          <a:xfrm>
            <a:off x="1143000"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Just log in and see only your students/revenue.</a:t>
            </a:r>
          </a:p>
        </p:txBody>
      </p:sp>
      <p:sp>
        <p:nvSpPr>
          <p:cNvPr id="14" name="Rounded Rectangle 13"/>
          <p:cNvSpPr/>
          <p:nvPr/>
        </p:nvSpPr>
        <p:spPr>
          <a:xfrm>
            <a:off x="6301587" y="269748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438747" y="285292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438747" y="285292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17" name="TextBox 16"/>
          <p:cNvSpPr txBox="1"/>
          <p:nvPr/>
        </p:nvSpPr>
        <p:spPr>
          <a:xfrm>
            <a:off x="7078827" y="281635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Recruit·enroll·manage students</a:t>
            </a:r>
          </a:p>
        </p:txBody>
      </p:sp>
      <p:sp>
        <p:nvSpPr>
          <p:cNvPr id="18" name="TextBox 17"/>
          <p:cNvSpPr txBox="1"/>
          <p:nvPr/>
        </p:nvSpPr>
        <p:spPr>
          <a:xfrm>
            <a:off x="7078827" y="312724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From counseling to enrollment and lesson assignment.</a:t>
            </a:r>
          </a:p>
        </p:txBody>
      </p:sp>
      <p:sp>
        <p:nvSpPr>
          <p:cNvPr id="19" name="Rounded Rectangle 18"/>
          <p:cNvSpPr/>
          <p:nvPr/>
        </p:nvSpPr>
        <p:spPr>
          <a:xfrm>
            <a:off x="365760"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502920"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02920"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2" name="TextBox 21"/>
          <p:cNvSpPr txBox="1"/>
          <p:nvPr/>
        </p:nvSpPr>
        <p:spPr>
          <a:xfrm>
            <a:off x="1143000"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Collection·settlement</a:t>
            </a:r>
          </a:p>
        </p:txBody>
      </p:sp>
      <p:sp>
        <p:nvSpPr>
          <p:cNvPr id="23" name="TextBox 22"/>
          <p:cNvSpPr txBox="1"/>
          <p:nvPr/>
        </p:nvSpPr>
        <p:spPr>
          <a:xfrm>
            <a:off x="1143000"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Payments/overdue and receiving branch→agency settlement.</a:t>
            </a:r>
          </a:p>
        </p:txBody>
      </p:sp>
      <p:sp>
        <p:nvSpPr>
          <p:cNvPr id="24" name="Rounded Rectangle 23"/>
          <p:cNvSpPr/>
          <p:nvPr/>
        </p:nvSpPr>
        <p:spPr>
          <a:xfrm>
            <a:off x="6301587" y="3657600"/>
            <a:ext cx="5524347" cy="822960"/>
          </a:xfrm>
          <a:prstGeom prst="round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6438747" y="3813048"/>
            <a:ext cx="512064" cy="512064"/>
          </a:xfrm>
          <a:prstGeom prst="roundRect">
            <a:avLst/>
          </a:prstGeom>
          <a:solidFill>
            <a:srgbClr val="FFE4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438747" y="3813048"/>
            <a:ext cx="512064" cy="512064"/>
          </a:xfrm>
          <a:prstGeom prst="rect">
            <a:avLst/>
          </a:prstGeom>
          <a:noFill/>
        </p:spPr>
        <p:txBody>
          <a:bodyPr wrap="square" anchor="ctr">
            <a:spAutoFit/>
          </a:bodyPr>
          <a:lstStyle/>
          <a:p>
            <a:pPr algn="ctr">
              <a:lnSpc>
                <a:spcPct val="100000"/>
              </a:lnSpc>
            </a:pPr>
            <a:r>
              <a:rPr sz="2000" b="0">
                <a:solidFill>
                  <a:srgbClr val="E11D48"/>
                </a:solidFill>
                <a:latin typeface="Malgun Gothic"/>
              </a:rPr>
              <a:t>📈</a:t>
            </a:r>
          </a:p>
        </p:txBody>
      </p:sp>
      <p:sp>
        <p:nvSpPr>
          <p:cNvPr id="27" name="TextBox 26"/>
          <p:cNvSpPr txBox="1"/>
          <p:nvPr/>
        </p:nvSpPr>
        <p:spPr>
          <a:xfrm>
            <a:off x="7078827" y="3776472"/>
            <a:ext cx="4609947" cy="365760"/>
          </a:xfrm>
          <a:prstGeom prst="rect">
            <a:avLst/>
          </a:prstGeom>
          <a:noFill/>
        </p:spPr>
        <p:txBody>
          <a:bodyPr wrap="square" anchor="t">
            <a:spAutoFit/>
          </a:bodyPr>
          <a:lstStyle/>
          <a:p>
            <a:pPr algn="l">
              <a:lnSpc>
                <a:spcPct val="100000"/>
              </a:lnSpc>
            </a:pPr>
            <a:r>
              <a:rPr sz="1400" b="1">
                <a:solidFill>
                  <a:srgbClr val="1E2340"/>
                </a:solidFill>
                <a:latin typeface="Malgun Gothic"/>
              </a:rPr>
              <a:t>Learning status·reports</a:t>
            </a:r>
          </a:p>
        </p:txBody>
      </p:sp>
      <p:sp>
        <p:nvSpPr>
          <p:cNvPr id="28" name="TextBox 27"/>
          <p:cNvSpPr txBox="1"/>
          <p:nvPr/>
        </p:nvSpPr>
        <p:spPr>
          <a:xfrm>
            <a:off x="7078827" y="4087368"/>
            <a:ext cx="4609947" cy="365760"/>
          </a:xfrm>
          <a:prstGeom prst="rect">
            <a:avLst/>
          </a:prstGeom>
          <a:noFill/>
        </p:spPr>
        <p:txBody>
          <a:bodyPr wrap="square" anchor="t">
            <a:spAutoFit/>
          </a:bodyPr>
          <a:lstStyle/>
          <a:p>
            <a:pPr algn="l">
              <a:lnSpc>
                <a:spcPct val="100000"/>
              </a:lnSpc>
            </a:pPr>
            <a:r>
              <a:rPr sz="1050" b="0">
                <a:solidFill>
                  <a:srgbClr val="64748B"/>
                </a:solidFill>
                <a:latin typeface="Malgun Gothic"/>
              </a:rPr>
              <a:t>Your students' learning at a glance.</a:t>
            </a:r>
          </a:p>
        </p:txBody>
      </p:sp>
      <p:sp>
        <p:nvSpPr>
          <p:cNvPr id="29" name="TextBox 28"/>
          <p:cNvSpPr txBox="1"/>
          <p:nvPr/>
        </p:nvSpPr>
        <p:spPr>
          <a:xfrm>
            <a:off x="365760" y="4754880"/>
            <a:ext cx="5486400" cy="365760"/>
          </a:xfrm>
          <a:prstGeom prst="rect">
            <a:avLst/>
          </a:prstGeom>
          <a:noFill/>
        </p:spPr>
        <p:txBody>
          <a:bodyPr wrap="square" anchor="t">
            <a:spAutoFit/>
          </a:bodyPr>
          <a:lstStyle/>
          <a:p>
            <a:pPr algn="l">
              <a:lnSpc>
                <a:spcPct val="100000"/>
              </a:lnSpc>
            </a:pPr>
            <a:r>
              <a:rPr sz="1300" b="1">
                <a:solidFill>
                  <a:srgbClr val="E11D48"/>
                </a:solidFill>
                <a:latin typeface="Malgun Gothic"/>
              </a:rPr>
              <a:t>Your Agency Metrics (example)</a:t>
            </a:r>
          </a:p>
        </p:txBody>
      </p:sp>
      <p:graphicFrame>
        <p:nvGraphicFramePr>
          <p:cNvPr id="30" name="Chart 29"/>
          <p:cNvGraphicFramePr>
            <a:graphicFrameLocks noGrp="1"/>
          </p:cNvGraphicFramePr>
          <p:nvPr/>
        </p:nvGraphicFramePr>
        <p:xfrm>
          <a:off x="365760" y="5074920"/>
          <a:ext cx="5669280" cy="1554480"/>
        </p:xfrm>
        <a:graphic>
          <a:graphicData uri="http://schemas.openxmlformats.org/drawingml/2006/chart">
            <c:chart xmlns:c="http://schemas.openxmlformats.org/drawingml/2006/chart" r:id="rId2"/>
          </a:graphicData>
        </a:graphic>
      </p:graphicFrame>
      <p:sp>
        <p:nvSpPr>
          <p:cNvPr id="31" name="Rectangle 30"/>
          <p:cNvSpPr/>
          <p:nvPr/>
        </p:nvSpPr>
        <p:spPr>
          <a:xfrm>
            <a:off x="7470648" y="4654296"/>
            <a:ext cx="3255264" cy="207568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2" name="Picture 31" descr="admin_login.jpg"/>
          <p:cNvPicPr>
            <a:picLocks noChangeAspect="1"/>
          </p:cNvPicPr>
          <p:nvPr/>
        </p:nvPicPr>
        <p:blipFill>
          <a:blip r:embed="rId3"/>
          <a:stretch>
            <a:fillRect/>
          </a:stretch>
        </p:blipFill>
        <p:spPr>
          <a:xfrm>
            <a:off x="7525512" y="4709160"/>
            <a:ext cx="3145536" cy="196596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Contents</a:t>
            </a:r>
          </a:p>
        </p:txBody>
      </p:sp>
      <p:sp>
        <p:nvSpPr>
          <p:cNvPr id="6" name="TextBox 5"/>
          <p:cNvSpPr txBox="1"/>
          <p:nvPr/>
        </p:nvSpPr>
        <p:spPr>
          <a:xfrm>
            <a:off x="365760" y="82296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Contents</a:t>
            </a:r>
          </a:p>
        </p:txBody>
      </p:sp>
      <p:sp>
        <p:nvSpPr>
          <p:cNvPr id="7" name="TextBox 6"/>
          <p:cNvSpPr txBox="1"/>
          <p:nvPr/>
        </p:nvSpPr>
        <p:spPr>
          <a:xfrm>
            <a:off x="886968"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Introduction</a:t>
            </a:r>
          </a:p>
        </p:txBody>
      </p:sp>
      <p:sp>
        <p:nvSpPr>
          <p:cNvPr id="8" name="TextBox 7"/>
          <p:cNvSpPr txBox="1"/>
          <p:nvPr/>
        </p:nvSpPr>
        <p:spPr>
          <a:xfrm>
            <a:off x="5483199" y="14538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a:t>
            </a:r>
          </a:p>
        </p:txBody>
      </p:sp>
      <p:sp>
        <p:nvSpPr>
          <p:cNvPr id="9" name="Rounded Rectangle 8"/>
          <p:cNvSpPr/>
          <p:nvPr/>
        </p:nvSpPr>
        <p:spPr>
          <a:xfrm>
            <a:off x="411480" y="17556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11480"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01</a:t>
            </a:r>
          </a:p>
        </p:txBody>
      </p:sp>
      <p:sp>
        <p:nvSpPr>
          <p:cNvPr id="11" name="TextBox 10"/>
          <p:cNvSpPr txBox="1"/>
          <p:nvPr/>
        </p:nvSpPr>
        <p:spPr>
          <a:xfrm>
            <a:off x="886968"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Agency Login &amp; Permissions</a:t>
            </a:r>
          </a:p>
        </p:txBody>
      </p:sp>
      <p:sp>
        <p:nvSpPr>
          <p:cNvPr id="12" name="TextBox 11"/>
          <p:cNvSpPr txBox="1"/>
          <p:nvPr/>
        </p:nvSpPr>
        <p:spPr>
          <a:xfrm>
            <a:off x="5483199" y="17282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4</a:t>
            </a:r>
          </a:p>
        </p:txBody>
      </p:sp>
      <p:sp>
        <p:nvSpPr>
          <p:cNvPr id="13" name="Rounded Rectangle 12"/>
          <p:cNvSpPr/>
          <p:nvPr/>
        </p:nvSpPr>
        <p:spPr>
          <a:xfrm>
            <a:off x="411480" y="20299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11480"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02</a:t>
            </a:r>
          </a:p>
        </p:txBody>
      </p:sp>
      <p:sp>
        <p:nvSpPr>
          <p:cNvPr id="15" name="TextBox 14"/>
          <p:cNvSpPr txBox="1"/>
          <p:nvPr/>
        </p:nvSpPr>
        <p:spPr>
          <a:xfrm>
            <a:off x="886968"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My Page &amp; Admin Dashboard</a:t>
            </a:r>
          </a:p>
        </p:txBody>
      </p:sp>
      <p:sp>
        <p:nvSpPr>
          <p:cNvPr id="16" name="TextBox 15"/>
          <p:cNvSpPr txBox="1"/>
          <p:nvPr/>
        </p:nvSpPr>
        <p:spPr>
          <a:xfrm>
            <a:off x="5483199" y="20025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5</a:t>
            </a:r>
          </a:p>
        </p:txBody>
      </p:sp>
      <p:sp>
        <p:nvSpPr>
          <p:cNvPr id="17" name="Rounded Rectangle 16"/>
          <p:cNvSpPr/>
          <p:nvPr/>
        </p:nvSpPr>
        <p:spPr>
          <a:xfrm>
            <a:off x="411480" y="23042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11480"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03</a:t>
            </a:r>
          </a:p>
        </p:txBody>
      </p:sp>
      <p:sp>
        <p:nvSpPr>
          <p:cNvPr id="19" name="TextBox 18"/>
          <p:cNvSpPr txBox="1"/>
          <p:nvPr/>
        </p:nvSpPr>
        <p:spPr>
          <a:xfrm>
            <a:off x="886968"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Agency Dashboard</a:t>
            </a:r>
          </a:p>
        </p:txBody>
      </p:sp>
      <p:sp>
        <p:nvSpPr>
          <p:cNvPr id="20" name="TextBox 19"/>
          <p:cNvSpPr txBox="1"/>
          <p:nvPr/>
        </p:nvSpPr>
        <p:spPr>
          <a:xfrm>
            <a:off x="5483199" y="22768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6</a:t>
            </a:r>
          </a:p>
        </p:txBody>
      </p:sp>
      <p:sp>
        <p:nvSpPr>
          <p:cNvPr id="21" name="Rounded Rectangle 20"/>
          <p:cNvSpPr/>
          <p:nvPr/>
        </p:nvSpPr>
        <p:spPr>
          <a:xfrm>
            <a:off x="411480" y="25786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11480"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04</a:t>
            </a:r>
          </a:p>
        </p:txBody>
      </p:sp>
      <p:sp>
        <p:nvSpPr>
          <p:cNvPr id="23" name="TextBox 22"/>
          <p:cNvSpPr txBox="1"/>
          <p:nvPr/>
        </p:nvSpPr>
        <p:spPr>
          <a:xfrm>
            <a:off x="886968"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Using the AI Assistant</a:t>
            </a:r>
          </a:p>
        </p:txBody>
      </p:sp>
      <p:sp>
        <p:nvSpPr>
          <p:cNvPr id="24" name="TextBox 23"/>
          <p:cNvSpPr txBox="1"/>
          <p:nvPr/>
        </p:nvSpPr>
        <p:spPr>
          <a:xfrm>
            <a:off x="5483199" y="25511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7</a:t>
            </a:r>
          </a:p>
        </p:txBody>
      </p:sp>
      <p:sp>
        <p:nvSpPr>
          <p:cNvPr id="25" name="Rounded Rectangle 24"/>
          <p:cNvSpPr/>
          <p:nvPr/>
        </p:nvSpPr>
        <p:spPr>
          <a:xfrm>
            <a:off x="411480" y="28529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11480"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05</a:t>
            </a:r>
          </a:p>
        </p:txBody>
      </p:sp>
      <p:sp>
        <p:nvSpPr>
          <p:cNvPr id="27" name="TextBox 26"/>
          <p:cNvSpPr txBox="1"/>
          <p:nvPr/>
        </p:nvSpPr>
        <p:spPr>
          <a:xfrm>
            <a:off x="886968"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Recruit·Enroll·Manage Students</a:t>
            </a:r>
          </a:p>
        </p:txBody>
      </p:sp>
      <p:sp>
        <p:nvSpPr>
          <p:cNvPr id="28" name="TextBox 27"/>
          <p:cNvSpPr txBox="1"/>
          <p:nvPr/>
        </p:nvSpPr>
        <p:spPr>
          <a:xfrm>
            <a:off x="5483199" y="28254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8</a:t>
            </a:r>
          </a:p>
        </p:txBody>
      </p:sp>
      <p:sp>
        <p:nvSpPr>
          <p:cNvPr id="29" name="Rounded Rectangle 28"/>
          <p:cNvSpPr/>
          <p:nvPr/>
        </p:nvSpPr>
        <p:spPr>
          <a:xfrm>
            <a:off x="411480" y="31272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411480"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06</a:t>
            </a:r>
          </a:p>
        </p:txBody>
      </p:sp>
      <p:sp>
        <p:nvSpPr>
          <p:cNvPr id="31" name="TextBox 30"/>
          <p:cNvSpPr txBox="1"/>
          <p:nvPr/>
        </p:nvSpPr>
        <p:spPr>
          <a:xfrm>
            <a:off x="886968"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Parent Communication</a:t>
            </a:r>
          </a:p>
        </p:txBody>
      </p:sp>
      <p:sp>
        <p:nvSpPr>
          <p:cNvPr id="32" name="TextBox 31"/>
          <p:cNvSpPr txBox="1"/>
          <p:nvPr/>
        </p:nvSpPr>
        <p:spPr>
          <a:xfrm>
            <a:off x="5483199" y="30998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9</a:t>
            </a:r>
          </a:p>
        </p:txBody>
      </p:sp>
      <p:sp>
        <p:nvSpPr>
          <p:cNvPr id="33" name="Rounded Rectangle 32"/>
          <p:cNvSpPr/>
          <p:nvPr/>
        </p:nvSpPr>
        <p:spPr>
          <a:xfrm>
            <a:off x="411480" y="34015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11480"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07</a:t>
            </a:r>
          </a:p>
        </p:txBody>
      </p:sp>
      <p:sp>
        <p:nvSpPr>
          <p:cNvPr id="35" name="TextBox 34"/>
          <p:cNvSpPr txBox="1"/>
          <p:nvPr/>
        </p:nvSpPr>
        <p:spPr>
          <a:xfrm>
            <a:off x="886968"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Booking·Assignment</a:t>
            </a:r>
          </a:p>
        </p:txBody>
      </p:sp>
      <p:sp>
        <p:nvSpPr>
          <p:cNvPr id="36" name="TextBox 35"/>
          <p:cNvSpPr txBox="1"/>
          <p:nvPr/>
        </p:nvSpPr>
        <p:spPr>
          <a:xfrm>
            <a:off x="5483199" y="33741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10</a:t>
            </a:r>
          </a:p>
        </p:txBody>
      </p:sp>
      <p:sp>
        <p:nvSpPr>
          <p:cNvPr id="37" name="Rounded Rectangle 36"/>
          <p:cNvSpPr/>
          <p:nvPr/>
        </p:nvSpPr>
        <p:spPr>
          <a:xfrm>
            <a:off x="411480" y="3675887"/>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411480"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08</a:t>
            </a:r>
          </a:p>
        </p:txBody>
      </p:sp>
      <p:sp>
        <p:nvSpPr>
          <p:cNvPr id="39" name="TextBox 38"/>
          <p:cNvSpPr txBox="1"/>
          <p:nvPr/>
        </p:nvSpPr>
        <p:spPr>
          <a:xfrm>
            <a:off x="886968"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Payments·Collection</a:t>
            </a:r>
          </a:p>
        </p:txBody>
      </p:sp>
      <p:sp>
        <p:nvSpPr>
          <p:cNvPr id="40" name="TextBox 39"/>
          <p:cNvSpPr txBox="1"/>
          <p:nvPr/>
        </p:nvSpPr>
        <p:spPr>
          <a:xfrm>
            <a:off x="5483199" y="36484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11</a:t>
            </a:r>
          </a:p>
        </p:txBody>
      </p:sp>
      <p:sp>
        <p:nvSpPr>
          <p:cNvPr id="41" name="Rounded Rectangle 40"/>
          <p:cNvSpPr/>
          <p:nvPr/>
        </p:nvSpPr>
        <p:spPr>
          <a:xfrm>
            <a:off x="411480" y="39502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411480"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09</a:t>
            </a:r>
          </a:p>
        </p:txBody>
      </p:sp>
      <p:sp>
        <p:nvSpPr>
          <p:cNvPr id="43" name="TextBox 42"/>
          <p:cNvSpPr txBox="1"/>
          <p:nvPr/>
        </p:nvSpPr>
        <p:spPr>
          <a:xfrm>
            <a:off x="886968"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Student Learning·Reports</a:t>
            </a:r>
          </a:p>
        </p:txBody>
      </p:sp>
      <p:sp>
        <p:nvSpPr>
          <p:cNvPr id="44" name="TextBox 43"/>
          <p:cNvSpPr txBox="1"/>
          <p:nvPr/>
        </p:nvSpPr>
        <p:spPr>
          <a:xfrm>
            <a:off x="5483199" y="39227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12</a:t>
            </a:r>
          </a:p>
        </p:txBody>
      </p:sp>
      <p:sp>
        <p:nvSpPr>
          <p:cNvPr id="45" name="Rounded Rectangle 44"/>
          <p:cNvSpPr/>
          <p:nvPr/>
        </p:nvSpPr>
        <p:spPr>
          <a:xfrm>
            <a:off x="411480" y="42245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411480"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10</a:t>
            </a:r>
          </a:p>
        </p:txBody>
      </p:sp>
      <p:sp>
        <p:nvSpPr>
          <p:cNvPr id="47" name="TextBox 46"/>
          <p:cNvSpPr txBox="1"/>
          <p:nvPr/>
        </p:nvSpPr>
        <p:spPr>
          <a:xfrm>
            <a:off x="886968"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Agency Settlement</a:t>
            </a:r>
          </a:p>
        </p:txBody>
      </p:sp>
      <p:sp>
        <p:nvSpPr>
          <p:cNvPr id="48" name="TextBox 47"/>
          <p:cNvSpPr txBox="1"/>
          <p:nvPr/>
        </p:nvSpPr>
        <p:spPr>
          <a:xfrm>
            <a:off x="5483199" y="41970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13</a:t>
            </a:r>
          </a:p>
        </p:txBody>
      </p:sp>
      <p:sp>
        <p:nvSpPr>
          <p:cNvPr id="49" name="Rounded Rectangle 48"/>
          <p:cNvSpPr/>
          <p:nvPr/>
        </p:nvSpPr>
        <p:spPr>
          <a:xfrm>
            <a:off x="411480" y="44988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411480"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11</a:t>
            </a:r>
          </a:p>
        </p:txBody>
      </p:sp>
      <p:sp>
        <p:nvSpPr>
          <p:cNvPr id="51" name="TextBox 50"/>
          <p:cNvSpPr txBox="1"/>
          <p:nvPr/>
        </p:nvSpPr>
        <p:spPr>
          <a:xfrm>
            <a:off x="886968"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Prevent Churn (care for students)</a:t>
            </a:r>
          </a:p>
        </p:txBody>
      </p:sp>
      <p:sp>
        <p:nvSpPr>
          <p:cNvPr id="52" name="TextBox 51"/>
          <p:cNvSpPr txBox="1"/>
          <p:nvPr/>
        </p:nvSpPr>
        <p:spPr>
          <a:xfrm>
            <a:off x="5483199" y="44714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14</a:t>
            </a:r>
          </a:p>
        </p:txBody>
      </p:sp>
      <p:sp>
        <p:nvSpPr>
          <p:cNvPr id="53" name="Rounded Rectangle 52"/>
          <p:cNvSpPr/>
          <p:nvPr/>
        </p:nvSpPr>
        <p:spPr>
          <a:xfrm>
            <a:off x="411480" y="47731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411480"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12</a:t>
            </a:r>
          </a:p>
        </p:txBody>
      </p:sp>
      <p:sp>
        <p:nvSpPr>
          <p:cNvPr id="55" name="TextBox 54"/>
          <p:cNvSpPr txBox="1"/>
          <p:nvPr/>
        </p:nvSpPr>
        <p:spPr>
          <a:xfrm>
            <a:off x="886968"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New Counseling·Recruiting</a:t>
            </a:r>
          </a:p>
        </p:txBody>
      </p:sp>
      <p:sp>
        <p:nvSpPr>
          <p:cNvPr id="56" name="TextBox 55"/>
          <p:cNvSpPr txBox="1"/>
          <p:nvPr/>
        </p:nvSpPr>
        <p:spPr>
          <a:xfrm>
            <a:off x="5483199" y="47457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15</a:t>
            </a:r>
          </a:p>
        </p:txBody>
      </p:sp>
      <p:sp>
        <p:nvSpPr>
          <p:cNvPr id="57" name="Rounded Rectangle 56"/>
          <p:cNvSpPr/>
          <p:nvPr/>
        </p:nvSpPr>
        <p:spPr>
          <a:xfrm>
            <a:off x="411480" y="50474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11480"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13</a:t>
            </a:r>
          </a:p>
        </p:txBody>
      </p:sp>
      <p:sp>
        <p:nvSpPr>
          <p:cNvPr id="59" name="TextBox 58"/>
          <p:cNvSpPr txBox="1"/>
          <p:nvPr/>
        </p:nvSpPr>
        <p:spPr>
          <a:xfrm>
            <a:off x="886968"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Support·Help</a:t>
            </a:r>
          </a:p>
        </p:txBody>
      </p:sp>
      <p:sp>
        <p:nvSpPr>
          <p:cNvPr id="60" name="TextBox 59"/>
          <p:cNvSpPr txBox="1"/>
          <p:nvPr/>
        </p:nvSpPr>
        <p:spPr>
          <a:xfrm>
            <a:off x="5483199" y="5020055"/>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16</a:t>
            </a:r>
          </a:p>
        </p:txBody>
      </p:sp>
      <p:sp>
        <p:nvSpPr>
          <p:cNvPr id="61" name="Rounded Rectangle 60"/>
          <p:cNvSpPr/>
          <p:nvPr/>
        </p:nvSpPr>
        <p:spPr>
          <a:xfrm>
            <a:off x="411480" y="53218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11480" y="53035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14</a:t>
            </a:r>
          </a:p>
        </p:txBody>
      </p:sp>
      <p:sp>
        <p:nvSpPr>
          <p:cNvPr id="63" name="TextBox 62"/>
          <p:cNvSpPr txBox="1"/>
          <p:nvPr/>
        </p:nvSpPr>
        <p:spPr>
          <a:xfrm>
            <a:off x="886968" y="52943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Korea·Philippines Dual Clock</a:t>
            </a:r>
          </a:p>
        </p:txBody>
      </p:sp>
      <p:sp>
        <p:nvSpPr>
          <p:cNvPr id="64" name="TextBox 63"/>
          <p:cNvSpPr txBox="1"/>
          <p:nvPr/>
        </p:nvSpPr>
        <p:spPr>
          <a:xfrm>
            <a:off x="5483199" y="52943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17</a:t>
            </a:r>
          </a:p>
        </p:txBody>
      </p:sp>
      <p:sp>
        <p:nvSpPr>
          <p:cNvPr id="65" name="Rounded Rectangle 64"/>
          <p:cNvSpPr/>
          <p:nvPr/>
        </p:nvSpPr>
        <p:spPr>
          <a:xfrm>
            <a:off x="6141567" y="14813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6" name="TextBox 65"/>
          <p:cNvSpPr txBox="1"/>
          <p:nvPr/>
        </p:nvSpPr>
        <p:spPr>
          <a:xfrm>
            <a:off x="6141567" y="14630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15</a:t>
            </a:r>
          </a:p>
        </p:txBody>
      </p:sp>
      <p:sp>
        <p:nvSpPr>
          <p:cNvPr id="67" name="TextBox 66"/>
          <p:cNvSpPr txBox="1"/>
          <p:nvPr/>
        </p:nvSpPr>
        <p:spPr>
          <a:xfrm>
            <a:off x="6617055" y="14538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Chinese Pronunciation Coach</a:t>
            </a:r>
          </a:p>
        </p:txBody>
      </p:sp>
      <p:sp>
        <p:nvSpPr>
          <p:cNvPr id="68" name="TextBox 67"/>
          <p:cNvSpPr txBox="1"/>
          <p:nvPr/>
        </p:nvSpPr>
        <p:spPr>
          <a:xfrm>
            <a:off x="11213287" y="14538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18</a:t>
            </a:r>
          </a:p>
        </p:txBody>
      </p:sp>
      <p:sp>
        <p:nvSpPr>
          <p:cNvPr id="69" name="Rounded Rectangle 68"/>
          <p:cNvSpPr/>
          <p:nvPr/>
        </p:nvSpPr>
        <p:spPr>
          <a:xfrm>
            <a:off x="6141567" y="17556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6141567" y="17373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16</a:t>
            </a:r>
          </a:p>
        </p:txBody>
      </p:sp>
      <p:sp>
        <p:nvSpPr>
          <p:cNvPr id="71" name="TextBox 70"/>
          <p:cNvSpPr txBox="1"/>
          <p:nvPr/>
        </p:nvSpPr>
        <p:spPr>
          <a:xfrm>
            <a:off x="6617055" y="17282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In-class Praise Points (understand &amp; use)</a:t>
            </a:r>
          </a:p>
        </p:txBody>
      </p:sp>
      <p:sp>
        <p:nvSpPr>
          <p:cNvPr id="72" name="TextBox 71"/>
          <p:cNvSpPr txBox="1"/>
          <p:nvPr/>
        </p:nvSpPr>
        <p:spPr>
          <a:xfrm>
            <a:off x="11213287" y="17282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19</a:t>
            </a:r>
          </a:p>
        </p:txBody>
      </p:sp>
      <p:sp>
        <p:nvSpPr>
          <p:cNvPr id="73" name="Rounded Rectangle 72"/>
          <p:cNvSpPr/>
          <p:nvPr/>
        </p:nvSpPr>
        <p:spPr>
          <a:xfrm>
            <a:off x="6141567" y="20299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4" name="TextBox 73"/>
          <p:cNvSpPr txBox="1"/>
          <p:nvPr/>
        </p:nvSpPr>
        <p:spPr>
          <a:xfrm>
            <a:off x="6141567" y="20116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17</a:t>
            </a:r>
          </a:p>
        </p:txBody>
      </p:sp>
      <p:sp>
        <p:nvSpPr>
          <p:cNvPr id="75" name="TextBox 74"/>
          <p:cNvSpPr txBox="1"/>
          <p:nvPr/>
        </p:nvSpPr>
        <p:spPr>
          <a:xfrm>
            <a:off x="6617055" y="20025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Notice Studio (Poster + Popup)</a:t>
            </a:r>
          </a:p>
        </p:txBody>
      </p:sp>
      <p:sp>
        <p:nvSpPr>
          <p:cNvPr id="76" name="TextBox 75"/>
          <p:cNvSpPr txBox="1"/>
          <p:nvPr/>
        </p:nvSpPr>
        <p:spPr>
          <a:xfrm>
            <a:off x="11213287" y="20025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20</a:t>
            </a:r>
          </a:p>
        </p:txBody>
      </p:sp>
      <p:sp>
        <p:nvSpPr>
          <p:cNvPr id="77" name="Rounded Rectangle 76"/>
          <p:cNvSpPr/>
          <p:nvPr/>
        </p:nvSpPr>
        <p:spPr>
          <a:xfrm>
            <a:off x="6141567" y="23042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8" name="TextBox 77"/>
          <p:cNvSpPr txBox="1"/>
          <p:nvPr/>
        </p:nvSpPr>
        <p:spPr>
          <a:xfrm>
            <a:off x="6141567" y="22860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18</a:t>
            </a:r>
          </a:p>
        </p:txBody>
      </p:sp>
      <p:sp>
        <p:nvSpPr>
          <p:cNvPr id="79" name="TextBox 78"/>
          <p:cNvSpPr txBox="1"/>
          <p:nvPr/>
        </p:nvSpPr>
        <p:spPr>
          <a:xfrm>
            <a:off x="6617055" y="22768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Command the AI Operations Assistant</a:t>
            </a:r>
          </a:p>
        </p:txBody>
      </p:sp>
      <p:sp>
        <p:nvSpPr>
          <p:cNvPr id="80" name="TextBox 79"/>
          <p:cNvSpPr txBox="1"/>
          <p:nvPr/>
        </p:nvSpPr>
        <p:spPr>
          <a:xfrm>
            <a:off x="11213287" y="22768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21</a:t>
            </a:r>
          </a:p>
        </p:txBody>
      </p:sp>
      <p:sp>
        <p:nvSpPr>
          <p:cNvPr id="81" name="Rounded Rectangle 80"/>
          <p:cNvSpPr/>
          <p:nvPr/>
        </p:nvSpPr>
        <p:spPr>
          <a:xfrm>
            <a:off x="6141567" y="25786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2" name="TextBox 81"/>
          <p:cNvSpPr txBox="1"/>
          <p:nvPr/>
        </p:nvSpPr>
        <p:spPr>
          <a:xfrm>
            <a:off x="6141567" y="25603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19</a:t>
            </a:r>
          </a:p>
        </p:txBody>
      </p:sp>
      <p:sp>
        <p:nvSpPr>
          <p:cNvPr id="83" name="TextBox 82"/>
          <p:cNvSpPr txBox="1"/>
          <p:nvPr/>
        </p:nvSpPr>
        <p:spPr>
          <a:xfrm>
            <a:off x="6617055" y="25511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Share Library Links via KakaoTalk</a:t>
            </a:r>
          </a:p>
        </p:txBody>
      </p:sp>
      <p:sp>
        <p:nvSpPr>
          <p:cNvPr id="84" name="TextBox 83"/>
          <p:cNvSpPr txBox="1"/>
          <p:nvPr/>
        </p:nvSpPr>
        <p:spPr>
          <a:xfrm>
            <a:off x="11213287" y="25511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22</a:t>
            </a:r>
          </a:p>
        </p:txBody>
      </p:sp>
      <p:sp>
        <p:nvSpPr>
          <p:cNvPr id="85" name="Rounded Rectangle 84"/>
          <p:cNvSpPr/>
          <p:nvPr/>
        </p:nvSpPr>
        <p:spPr>
          <a:xfrm>
            <a:off x="6141567" y="28529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6" name="TextBox 85"/>
          <p:cNvSpPr txBox="1"/>
          <p:nvPr/>
        </p:nvSpPr>
        <p:spPr>
          <a:xfrm>
            <a:off x="6141567" y="28346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20</a:t>
            </a:r>
          </a:p>
        </p:txBody>
      </p:sp>
      <p:sp>
        <p:nvSpPr>
          <p:cNvPr id="87" name="TextBox 86"/>
          <p:cNvSpPr txBox="1"/>
          <p:nvPr/>
        </p:nvSpPr>
        <p:spPr>
          <a:xfrm>
            <a:off x="6617055" y="28254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A refreshed admin screen</a:t>
            </a:r>
          </a:p>
        </p:txBody>
      </p:sp>
      <p:sp>
        <p:nvSpPr>
          <p:cNvPr id="88" name="TextBox 87"/>
          <p:cNvSpPr txBox="1"/>
          <p:nvPr/>
        </p:nvSpPr>
        <p:spPr>
          <a:xfrm>
            <a:off x="11213287" y="28254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23</a:t>
            </a:r>
          </a:p>
        </p:txBody>
      </p:sp>
      <p:sp>
        <p:nvSpPr>
          <p:cNvPr id="89" name="Rounded Rectangle 88"/>
          <p:cNvSpPr/>
          <p:nvPr/>
        </p:nvSpPr>
        <p:spPr>
          <a:xfrm>
            <a:off x="6141567" y="31272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0" name="TextBox 89"/>
          <p:cNvSpPr txBox="1"/>
          <p:nvPr/>
        </p:nvSpPr>
        <p:spPr>
          <a:xfrm>
            <a:off x="6141567" y="31089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21</a:t>
            </a:r>
          </a:p>
        </p:txBody>
      </p:sp>
      <p:sp>
        <p:nvSpPr>
          <p:cNvPr id="91" name="TextBox 90"/>
          <p:cNvSpPr txBox="1"/>
          <p:nvPr/>
        </p:nvSpPr>
        <p:spPr>
          <a:xfrm>
            <a:off x="6617055" y="30998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The interface language sets itself</a:t>
            </a:r>
          </a:p>
        </p:txBody>
      </p:sp>
      <p:sp>
        <p:nvSpPr>
          <p:cNvPr id="92" name="TextBox 91"/>
          <p:cNvSpPr txBox="1"/>
          <p:nvPr/>
        </p:nvSpPr>
        <p:spPr>
          <a:xfrm>
            <a:off x="11213287" y="30998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24</a:t>
            </a:r>
          </a:p>
        </p:txBody>
      </p:sp>
      <p:sp>
        <p:nvSpPr>
          <p:cNvPr id="93" name="Rounded Rectangle 92"/>
          <p:cNvSpPr/>
          <p:nvPr/>
        </p:nvSpPr>
        <p:spPr>
          <a:xfrm>
            <a:off x="6141567" y="34015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4" name="TextBox 93"/>
          <p:cNvSpPr txBox="1"/>
          <p:nvPr/>
        </p:nvSpPr>
        <p:spPr>
          <a:xfrm>
            <a:off x="6141567" y="33832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22</a:t>
            </a:r>
          </a:p>
        </p:txBody>
      </p:sp>
      <p:sp>
        <p:nvSpPr>
          <p:cNvPr id="95" name="TextBox 94"/>
          <p:cNvSpPr txBox="1"/>
          <p:nvPr/>
        </p:nvSpPr>
        <p:spPr>
          <a:xfrm>
            <a:off x="6617055" y="33741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Enrolment &amp; payment → automatic lesson creation</a:t>
            </a:r>
          </a:p>
        </p:txBody>
      </p:sp>
      <p:sp>
        <p:nvSpPr>
          <p:cNvPr id="96" name="TextBox 95"/>
          <p:cNvSpPr txBox="1"/>
          <p:nvPr/>
        </p:nvSpPr>
        <p:spPr>
          <a:xfrm>
            <a:off x="11213287" y="33741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25</a:t>
            </a:r>
          </a:p>
        </p:txBody>
      </p:sp>
      <p:sp>
        <p:nvSpPr>
          <p:cNvPr id="97" name="Rounded Rectangle 96"/>
          <p:cNvSpPr/>
          <p:nvPr/>
        </p:nvSpPr>
        <p:spPr>
          <a:xfrm>
            <a:off x="6141567" y="3675887"/>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8" name="TextBox 97"/>
          <p:cNvSpPr txBox="1"/>
          <p:nvPr/>
        </p:nvSpPr>
        <p:spPr>
          <a:xfrm>
            <a:off x="6141567" y="3657599"/>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23</a:t>
            </a:r>
          </a:p>
        </p:txBody>
      </p:sp>
      <p:sp>
        <p:nvSpPr>
          <p:cNvPr id="99" name="TextBox 98"/>
          <p:cNvSpPr txBox="1"/>
          <p:nvPr/>
        </p:nvSpPr>
        <p:spPr>
          <a:xfrm>
            <a:off x="6617055" y="364845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Teacher Management, redesigned (roster filters · groups · detail tabs)</a:t>
            </a:r>
          </a:p>
        </p:txBody>
      </p:sp>
      <p:sp>
        <p:nvSpPr>
          <p:cNvPr id="100" name="TextBox 99"/>
          <p:cNvSpPr txBox="1"/>
          <p:nvPr/>
        </p:nvSpPr>
        <p:spPr>
          <a:xfrm>
            <a:off x="11213287" y="364845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26</a:t>
            </a:r>
          </a:p>
        </p:txBody>
      </p:sp>
      <p:sp>
        <p:nvSpPr>
          <p:cNvPr id="101" name="Rounded Rectangle 100"/>
          <p:cNvSpPr/>
          <p:nvPr/>
        </p:nvSpPr>
        <p:spPr>
          <a:xfrm>
            <a:off x="6141567" y="39502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2" name="TextBox 101"/>
          <p:cNvSpPr txBox="1"/>
          <p:nvPr/>
        </p:nvSpPr>
        <p:spPr>
          <a:xfrm>
            <a:off x="6141567" y="39319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24</a:t>
            </a:r>
          </a:p>
        </p:txBody>
      </p:sp>
      <p:sp>
        <p:nvSpPr>
          <p:cNvPr id="103" name="TextBox 102"/>
          <p:cNvSpPr txBox="1"/>
          <p:nvPr/>
        </p:nvSpPr>
        <p:spPr>
          <a:xfrm>
            <a:off x="6617055" y="39227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Sending the Parent Monthly Report (pentagon)</a:t>
            </a:r>
          </a:p>
        </p:txBody>
      </p:sp>
      <p:sp>
        <p:nvSpPr>
          <p:cNvPr id="104" name="TextBox 103"/>
          <p:cNvSpPr txBox="1"/>
          <p:nvPr/>
        </p:nvSpPr>
        <p:spPr>
          <a:xfrm>
            <a:off x="11213287" y="39227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27</a:t>
            </a:r>
          </a:p>
        </p:txBody>
      </p:sp>
      <p:sp>
        <p:nvSpPr>
          <p:cNvPr id="105" name="Rounded Rectangle 104"/>
          <p:cNvSpPr/>
          <p:nvPr/>
        </p:nvSpPr>
        <p:spPr>
          <a:xfrm>
            <a:off x="6141567" y="422452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6" name="TextBox 105"/>
          <p:cNvSpPr txBox="1"/>
          <p:nvPr/>
        </p:nvSpPr>
        <p:spPr>
          <a:xfrm>
            <a:off x="6141567" y="420624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25</a:t>
            </a:r>
          </a:p>
        </p:txBody>
      </p:sp>
      <p:sp>
        <p:nvSpPr>
          <p:cNvPr id="107" name="TextBox 106"/>
          <p:cNvSpPr txBox="1"/>
          <p:nvPr/>
        </p:nvSpPr>
        <p:spPr>
          <a:xfrm>
            <a:off x="6617055" y="419709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Feature Summary · Data</a:t>
            </a:r>
          </a:p>
        </p:txBody>
      </p:sp>
      <p:sp>
        <p:nvSpPr>
          <p:cNvPr id="108" name="TextBox 107"/>
          <p:cNvSpPr txBox="1"/>
          <p:nvPr/>
        </p:nvSpPr>
        <p:spPr>
          <a:xfrm>
            <a:off x="11213287" y="419709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28</a:t>
            </a:r>
          </a:p>
        </p:txBody>
      </p:sp>
      <p:sp>
        <p:nvSpPr>
          <p:cNvPr id="109" name="Rounded Rectangle 108"/>
          <p:cNvSpPr/>
          <p:nvPr/>
        </p:nvSpPr>
        <p:spPr>
          <a:xfrm>
            <a:off x="6141567" y="449884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0" name="TextBox 109"/>
          <p:cNvSpPr txBox="1"/>
          <p:nvPr/>
        </p:nvSpPr>
        <p:spPr>
          <a:xfrm>
            <a:off x="6141567" y="448056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26</a:t>
            </a:r>
          </a:p>
        </p:txBody>
      </p:sp>
      <p:sp>
        <p:nvSpPr>
          <p:cNvPr id="111" name="TextBox 110"/>
          <p:cNvSpPr txBox="1"/>
          <p:nvPr/>
        </p:nvSpPr>
        <p:spPr>
          <a:xfrm>
            <a:off x="6617055" y="447141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Data at a Glance</a:t>
            </a:r>
          </a:p>
        </p:txBody>
      </p:sp>
      <p:sp>
        <p:nvSpPr>
          <p:cNvPr id="112" name="TextBox 111"/>
          <p:cNvSpPr txBox="1"/>
          <p:nvPr/>
        </p:nvSpPr>
        <p:spPr>
          <a:xfrm>
            <a:off x="11213287" y="447141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29</a:t>
            </a:r>
          </a:p>
        </p:txBody>
      </p:sp>
      <p:sp>
        <p:nvSpPr>
          <p:cNvPr id="113" name="Rounded Rectangle 112"/>
          <p:cNvSpPr/>
          <p:nvPr/>
        </p:nvSpPr>
        <p:spPr>
          <a:xfrm>
            <a:off x="6141567" y="477316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4" name="TextBox 113"/>
          <p:cNvSpPr txBox="1"/>
          <p:nvPr/>
        </p:nvSpPr>
        <p:spPr>
          <a:xfrm>
            <a:off x="6141567" y="475488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27</a:t>
            </a:r>
          </a:p>
        </p:txBody>
      </p:sp>
      <p:sp>
        <p:nvSpPr>
          <p:cNvPr id="115" name="TextBox 114"/>
          <p:cNvSpPr txBox="1"/>
          <p:nvPr/>
        </p:nvSpPr>
        <p:spPr>
          <a:xfrm>
            <a:off x="6617055" y="474573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Frequently Asked Questions (FAQ)</a:t>
            </a:r>
          </a:p>
        </p:txBody>
      </p:sp>
      <p:sp>
        <p:nvSpPr>
          <p:cNvPr id="116" name="TextBox 115"/>
          <p:cNvSpPr txBox="1"/>
          <p:nvPr/>
        </p:nvSpPr>
        <p:spPr>
          <a:xfrm>
            <a:off x="11213287" y="474573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30</a:t>
            </a:r>
          </a:p>
        </p:txBody>
      </p:sp>
      <p:sp>
        <p:nvSpPr>
          <p:cNvPr id="117" name="Rounded Rectangle 116"/>
          <p:cNvSpPr/>
          <p:nvPr/>
        </p:nvSpPr>
        <p:spPr>
          <a:xfrm>
            <a:off x="6141567" y="504748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8" name="TextBox 117"/>
          <p:cNvSpPr txBox="1"/>
          <p:nvPr/>
        </p:nvSpPr>
        <p:spPr>
          <a:xfrm>
            <a:off x="6141567" y="502920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28</a:t>
            </a:r>
          </a:p>
        </p:txBody>
      </p:sp>
      <p:sp>
        <p:nvSpPr>
          <p:cNvPr id="119" name="TextBox 118"/>
          <p:cNvSpPr txBox="1"/>
          <p:nvPr/>
        </p:nvSpPr>
        <p:spPr>
          <a:xfrm>
            <a:off x="6617055" y="5020055"/>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Checklist</a:t>
            </a:r>
          </a:p>
        </p:txBody>
      </p:sp>
      <p:sp>
        <p:nvSpPr>
          <p:cNvPr id="120" name="TextBox 119"/>
          <p:cNvSpPr txBox="1"/>
          <p:nvPr/>
        </p:nvSpPr>
        <p:spPr>
          <a:xfrm>
            <a:off x="11213287" y="5020055"/>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31</a:t>
            </a:r>
          </a:p>
        </p:txBody>
      </p:sp>
      <p:sp>
        <p:nvSpPr>
          <p:cNvPr id="121" name="Rounded Rectangle 120"/>
          <p:cNvSpPr/>
          <p:nvPr/>
        </p:nvSpPr>
        <p:spPr>
          <a:xfrm>
            <a:off x="6141567" y="5321808"/>
            <a:ext cx="384048" cy="22860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2" name="TextBox 121"/>
          <p:cNvSpPr txBox="1"/>
          <p:nvPr/>
        </p:nvSpPr>
        <p:spPr>
          <a:xfrm>
            <a:off x="6141567" y="5303520"/>
            <a:ext cx="384048" cy="265176"/>
          </a:xfrm>
          <a:prstGeom prst="rect">
            <a:avLst/>
          </a:prstGeom>
          <a:noFill/>
        </p:spPr>
        <p:txBody>
          <a:bodyPr wrap="square" anchor="ctr">
            <a:spAutoFit/>
          </a:bodyPr>
          <a:lstStyle/>
          <a:p>
            <a:pPr algn="ctr">
              <a:lnSpc>
                <a:spcPct val="100000"/>
              </a:lnSpc>
            </a:pPr>
            <a:r>
              <a:rPr sz="900" b="1">
                <a:solidFill>
                  <a:srgbClr val="FFFFFF"/>
                </a:solidFill>
                <a:latin typeface="Malgun Gothic"/>
              </a:rPr>
              <a:t>29</a:t>
            </a:r>
          </a:p>
        </p:txBody>
      </p:sp>
      <p:sp>
        <p:nvSpPr>
          <p:cNvPr id="123" name="TextBox 122"/>
          <p:cNvSpPr txBox="1"/>
          <p:nvPr/>
        </p:nvSpPr>
        <p:spPr>
          <a:xfrm>
            <a:off x="6617055" y="5294376"/>
            <a:ext cx="4587087" cy="274320"/>
          </a:xfrm>
          <a:prstGeom prst="rect">
            <a:avLst/>
          </a:prstGeom>
          <a:noFill/>
        </p:spPr>
        <p:txBody>
          <a:bodyPr wrap="square" anchor="ctr">
            <a:spAutoFit/>
          </a:bodyPr>
          <a:lstStyle/>
          <a:p>
            <a:pPr algn="l">
              <a:lnSpc>
                <a:spcPct val="100000"/>
              </a:lnSpc>
            </a:pPr>
            <a:r>
              <a:rPr sz="1050" b="1">
                <a:solidFill>
                  <a:srgbClr val="334155"/>
                </a:solidFill>
                <a:latin typeface="Malgun Gothic"/>
              </a:rPr>
              <a:t>Conclusion</a:t>
            </a:r>
          </a:p>
        </p:txBody>
      </p:sp>
      <p:sp>
        <p:nvSpPr>
          <p:cNvPr id="124" name="TextBox 123"/>
          <p:cNvSpPr txBox="1"/>
          <p:nvPr/>
        </p:nvSpPr>
        <p:spPr>
          <a:xfrm>
            <a:off x="11213287" y="5294376"/>
            <a:ext cx="457200" cy="274320"/>
          </a:xfrm>
          <a:prstGeom prst="rect">
            <a:avLst/>
          </a:prstGeom>
          <a:noFill/>
        </p:spPr>
        <p:txBody>
          <a:bodyPr wrap="square" anchor="ctr">
            <a:spAutoFit/>
          </a:bodyPr>
          <a:lstStyle/>
          <a:p>
            <a:pPr algn="r">
              <a:lnSpc>
                <a:spcPct val="100000"/>
              </a:lnSpc>
            </a:pPr>
            <a:r>
              <a:rPr sz="1050" b="1">
                <a:solidFill>
                  <a:srgbClr val="E11D48"/>
                </a:solidFill>
                <a:latin typeface="Malgun Gothic"/>
              </a:rPr>
              <a:t>32</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Agency Login &amp; Permissions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Only my agency's data</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Logging in with an agency account shows only 'my agency' menus and data. Other agencies or branch-wide data isn't visible, so you can focus on managing your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Log in with ID and password (social login also works).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On login, menus/data for your role (agency) are applied automatically.</a:t>
            </a:r>
          </a:p>
          <a:p>
            <a:pPr>
              <a:lnSpc>
                <a:spcPct val="115000"/>
              </a:lnSpc>
              <a:spcAft>
                <a:spcPts val="600"/>
              </a:spcAft>
            </a:pPr>
            <a:r>
              <a:rPr sz="1050" b="1">
                <a:solidFill>
                  <a:srgbClr val="E11D48"/>
                </a:solidFill>
                <a:latin typeface="Malgun Gothic"/>
              </a:rPr>
              <a:t>● </a:t>
            </a:r>
            <a:r>
              <a:rPr sz="1250">
                <a:solidFill>
                  <a:srgbClr val="334155"/>
                </a:solidFill>
                <a:latin typeface="Malgun Gothic"/>
              </a:rPr>
              <a:t>Forgot your password? Reset via 'Find password'.</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Only your agency's student/revenue data shows.</a:t>
            </a:r>
          </a:p>
          <a:p>
            <a:pPr>
              <a:lnSpc>
                <a:spcPct val="115000"/>
              </a:lnSpc>
              <a:spcAft>
                <a:spcPts val="200"/>
              </a:spcAft>
            </a:pPr>
            <a:r>
              <a:rPr sz="900" b="1">
                <a:solidFill>
                  <a:srgbClr val="E11D48"/>
                </a:solidFill>
                <a:latin typeface="Malgun Gothic"/>
              </a:rPr>
              <a:t>● </a:t>
            </a:r>
            <a:r>
              <a:rPr sz="1100">
                <a:solidFill>
                  <a:srgbClr val="334155"/>
                </a:solidFill>
                <a:latin typeface="Malgun Gothic"/>
              </a:rPr>
              <a:t>Turn on 'Save ID' only on your own trusted PC.</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On shared PCs, turn off auto-login and log out when done.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logi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My Page &amp; Admin Dashboard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Open the management screen from My Page</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Agency operations also start from 'My Page.' After logging in, press the 📊 'Admin' button in the My Page menu to enter the agency-scope admin (operations) dashboard, where you manage students, revenue, lessons and settlement.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After logging in, open '👤 My Page'.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Press the 📊 'Admin' button in the My Page menu. (goes to the admin dashboard)</a:t>
            </a:r>
          </a:p>
          <a:p>
            <a:pPr>
              <a:lnSpc>
                <a:spcPct val="115000"/>
              </a:lnSpc>
              <a:spcAft>
                <a:spcPts val="600"/>
              </a:spcAft>
            </a:pPr>
            <a:r>
              <a:rPr sz="1050" b="1">
                <a:solidFill>
                  <a:srgbClr val="E11D48"/>
                </a:solidFill>
                <a:latin typeface="Malgun Gothic"/>
              </a:rPr>
              <a:t>● </a:t>
            </a:r>
            <a:r>
              <a:rPr sz="1250">
                <a:solidFill>
                  <a:srgbClr val="334155"/>
                </a:solidFill>
                <a:latin typeface="Malgun Gothic"/>
              </a:rPr>
              <a:t>On the admin dashboard, check your agency revenue, enrollment and today's lessons.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My Page also has postpone/change, new inquiry, all-menu, pre-check and more.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If text looks English, use the EN button to switch language.</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One 'Admin' button takes you straight to the operations dashboard.</a:t>
            </a:r>
          </a:p>
          <a:p>
            <a:pPr>
              <a:lnSpc>
                <a:spcPct val="115000"/>
              </a:lnSpc>
              <a:spcAft>
                <a:spcPts val="200"/>
              </a:spcAft>
            </a:pPr>
            <a:r>
              <a:rPr sz="900" b="1">
                <a:solidFill>
                  <a:srgbClr val="E11D48"/>
                </a:solidFill>
                <a:latin typeface="Malgun Gothic"/>
              </a:rPr>
              <a:t>● </a:t>
            </a:r>
            <a:r>
              <a:rPr sz="1100">
                <a:solidFill>
                  <a:srgbClr val="334155"/>
                </a:solidFill>
                <a:latin typeface="Malgun Gothic"/>
              </a:rPr>
              <a:t>All dashboard data is auto-totaled to 'your agency scope'.</a:t>
            </a:r>
          </a:p>
          <a:p>
            <a:pPr>
              <a:lnSpc>
                <a:spcPct val="115000"/>
              </a:lnSpc>
              <a:spcAft>
                <a:spcPts val="200"/>
              </a:spcAft>
            </a:pPr>
            <a:r>
              <a:rPr sz="900" b="1">
                <a:solidFill>
                  <a:srgbClr val="E11D48"/>
                </a:solidFill>
                <a:latin typeface="Malgun Gothic"/>
              </a:rPr>
              <a:t>● </a:t>
            </a:r>
            <a:r>
              <a:rPr sz="1100">
                <a:solidFill>
                  <a:srgbClr val="334155"/>
                </a:solidFill>
                <a:latin typeface="Malgun Gothic"/>
              </a:rPr>
              <a:t>Menus and data are set automatically by your role (agency).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My Page and the admin dashboard open only within the logged-in agency account's permission scope.</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Each day, go My Page → Admin dashboard to check your agency metrics.</a:t>
            </a:r>
          </a:p>
        </p:txBody>
      </p:sp>
      <p:sp>
        <p:nvSpPr>
          <p:cNvPr id="21" name="Rectangle 20"/>
          <p:cNvSpPr/>
          <p:nvPr/>
        </p:nvSpPr>
        <p:spPr>
          <a:xfrm>
            <a:off x="6300216" y="2700458"/>
            <a:ext cx="2761488" cy="451242"/>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mypage_menu.jpg"/>
          <p:cNvPicPr>
            <a:picLocks noChangeAspect="1"/>
          </p:cNvPicPr>
          <p:nvPr/>
        </p:nvPicPr>
        <p:blipFill>
          <a:blip r:embed="rId2"/>
          <a:stretch>
            <a:fillRect/>
          </a:stretch>
        </p:blipFill>
        <p:spPr>
          <a:xfrm>
            <a:off x="6355080" y="2755322"/>
            <a:ext cx="2651760" cy="341514"/>
          </a:xfrm>
          <a:prstGeom prst="rect">
            <a:avLst/>
          </a:prstGeom>
        </p:spPr>
      </p:pic>
      <p:sp>
        <p:nvSpPr>
          <p:cNvPr id="23" name="Rectangle 22"/>
          <p:cNvSpPr/>
          <p:nvPr/>
        </p:nvSpPr>
        <p:spPr>
          <a:xfrm>
            <a:off x="9134856" y="2042541"/>
            <a:ext cx="2761488" cy="1767077"/>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admin_dashboard.jpg"/>
          <p:cNvPicPr>
            <a:picLocks noChangeAspect="1"/>
          </p:cNvPicPr>
          <p:nvPr/>
        </p:nvPicPr>
        <p:blipFill>
          <a:blip r:embed="rId3"/>
          <a:stretch>
            <a:fillRect/>
          </a:stretch>
        </p:blipFill>
        <p:spPr>
          <a:xfrm>
            <a:off x="9189720" y="2097405"/>
            <a:ext cx="2651760" cy="1657349"/>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Agency Dashboard</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Your students·revenue·today's lessons</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login, your agency's enrollment, revenue and today's lessons are organized as cards. Find features fast with the search box.</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Check today's revenue, enrollment and attendance (your agency) at the top.</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Tap features from the category cards (students, accounting, content, etc.).</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Type a word in the feature search box to jump right there.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Check the live (LIVE) lesson status.</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Numbers are auto-totaled to 'your agency scope'.</a:t>
            </a:r>
          </a:p>
          <a:p>
            <a:pPr>
              <a:lnSpc>
                <a:spcPct val="115000"/>
              </a:lnSpc>
              <a:spcAft>
                <a:spcPts val="200"/>
              </a:spcAft>
            </a:pPr>
            <a:r>
              <a:rPr sz="900" b="1">
                <a:solidFill>
                  <a:srgbClr val="E11D48"/>
                </a:solidFill>
                <a:latin typeface="Malgun Gothic"/>
              </a:rPr>
              <a:t>● </a:t>
            </a:r>
            <a:r>
              <a:rPr sz="1100">
                <a:solidFill>
                  <a:srgbClr val="334155"/>
                </a:solidFill>
                <a:latin typeface="Malgun Gothic"/>
              </a:rPr>
              <a:t>If a feature is hard to find, search is fastest.</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A morning metrics check quickly tells you your academy's status.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Using the AI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Look up/act by voice or text</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Speak or type into the search/mic and the AI helps you look up and handle things within your agency scope. Especially handy during busy counseling hours.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Speak or type into the center search/mic. e.g. 'How's today's revenue?'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The AI looks up or opens a screen. e.g. 'Open student management.'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Important actions are confirmed with 'Shall I?' first.</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Voice is much faster than clicking.</a:t>
            </a:r>
          </a:p>
          <a:p>
            <a:pPr>
              <a:lnSpc>
                <a:spcPct val="115000"/>
              </a:lnSpc>
              <a:spcAft>
                <a:spcPts val="200"/>
              </a:spcAft>
            </a:pPr>
            <a:r>
              <a:rPr sz="900" b="1">
                <a:solidFill>
                  <a:srgbClr val="E11D48"/>
                </a:solidFill>
                <a:latin typeface="Malgun Gothic"/>
              </a:rPr>
              <a:t>● </a:t>
            </a:r>
            <a:r>
              <a:rPr sz="1100">
                <a:solidFill>
                  <a:srgbClr val="334155"/>
                </a:solidFill>
                <a:latin typeface="Malgun Gothic"/>
              </a:rPr>
              <a:t>Only permitted actions are handled, safely.</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Can't find a button? Just say 'open ○○'.</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Recruit·Enroll·Manage Students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From counseling to enrollment</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Take new counseling, enroll students, and manage enrolled students' attendance, grades and history. This is your agency's core work.</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Take new counseling and convert to enrollment.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Manage the roster/history in Students/Parents.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Check attendance/reviews/points/chat history by student.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Flag and care for students who need attention.</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The student list is linked to real member data.</a:t>
            </a:r>
          </a:p>
          <a:p>
            <a:pPr>
              <a:lnSpc>
                <a:spcPct val="115000"/>
              </a:lnSpc>
              <a:spcAft>
                <a:spcPts val="200"/>
              </a:spcAft>
            </a:pPr>
            <a:r>
              <a:rPr sz="900" b="1">
                <a:solidFill>
                  <a:srgbClr val="E11D48"/>
                </a:solidFill>
                <a:latin typeface="Malgun Gothic"/>
              </a:rPr>
              <a:t>● </a:t>
            </a:r>
            <a:r>
              <a:rPr sz="1100">
                <a:solidFill>
                  <a:srgbClr val="334155"/>
                </a:solidFill>
                <a:latin typeface="Malgun Gothic"/>
              </a:rPr>
              <a:t>Raising the counsel→enroll conversion is key to growth.</a:t>
            </a:r>
          </a:p>
        </p:txBody>
      </p:sp>
      <p:sp>
        <p:nvSpPr>
          <p:cNvPr id="17" name="Rounded Rectangle 16"/>
          <p:cNvSpPr/>
          <p:nvPr/>
        </p:nvSpPr>
        <p:spPr>
          <a:xfrm>
            <a:off x="457200" y="589787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Keeping thorough counseling notes greatly helps re-counseling and conversion.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enu_student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Parent Communication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Guide My Page</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Guide parents to My Page so they can check their child's learning themselves. It reduces inquiries and raises satisfaction and re-enrollment.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Share the My Page link with parents.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Parents check attendance/reviews/payments/reports with the child's student ID.</a:t>
            </a:r>
          </a:p>
          <a:p>
            <a:pPr>
              <a:lnSpc>
                <a:spcPct val="115000"/>
              </a:lnSpc>
              <a:spcAft>
                <a:spcPts val="600"/>
              </a:spcAft>
            </a:pPr>
            <a:r>
              <a:rPr sz="1050" b="1">
                <a:solidFill>
                  <a:srgbClr val="E11D48"/>
                </a:solidFill>
                <a:latin typeface="Malgun Gothic"/>
              </a:rPr>
              <a:t>● </a:t>
            </a:r>
            <a:r>
              <a:rPr sz="1250">
                <a:solidFill>
                  <a:srgbClr val="334155"/>
                </a:solidFill>
                <a:latin typeface="Malgun Gothic"/>
              </a:rPr>
              <a:t>Share growth with the monthly report (print/PDF).</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Parent satisfaction leads to re-enrollment.</a:t>
            </a:r>
          </a:p>
          <a:p>
            <a:pPr>
              <a:lnSpc>
                <a:spcPct val="115000"/>
              </a:lnSpc>
              <a:spcAft>
                <a:spcPts val="200"/>
              </a:spcAft>
            </a:pPr>
            <a:r>
              <a:rPr sz="900" b="1">
                <a:solidFill>
                  <a:srgbClr val="E11D48"/>
                </a:solidFill>
                <a:latin typeface="Malgun Gothic"/>
              </a:rPr>
              <a:t>● </a:t>
            </a:r>
            <a:r>
              <a:rPr sz="1100">
                <a:solidFill>
                  <a:srgbClr val="334155"/>
                </a:solidFill>
                <a:latin typeface="Malgun Gothic"/>
              </a:rPr>
              <a:t>Advise managing the student ID like a password.</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Reading the review together periodically builds parent trust.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Booking·Assignment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Schedule and teacher</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Assign a student's lesson type, time and teacher, and manage booking status. Handle postpone/change requests too.</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Assign lesson type, teacher and time in Booking.</a:t>
            </a:r>
          </a:p>
          <a:p>
            <a:pPr>
              <a:lnSpc>
                <a:spcPct val="115000"/>
              </a:lnSpc>
              <a:spcAft>
                <a:spcPts val="600"/>
              </a:spcAft>
            </a:pPr>
            <a:r>
              <a:rPr sz="1050" b="1">
                <a:solidFill>
                  <a:srgbClr val="E11D48"/>
                </a:solidFill>
                <a:latin typeface="Malgun Gothic"/>
              </a:rPr>
              <a:t>● </a:t>
            </a:r>
            <a:r>
              <a:rPr sz="1250">
                <a:solidFill>
                  <a:srgbClr val="334155"/>
                </a:solidFill>
                <a:latin typeface="Malgun Gothic"/>
              </a:rPr>
              <a:t>Check empty slots/overlaps and adjust.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Handle students' postpone/change requests per policy.</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Assign popular slots in advance.</a:t>
            </a:r>
          </a:p>
          <a:p>
            <a:pPr>
              <a:lnSpc>
                <a:spcPct val="115000"/>
              </a:lnSpc>
              <a:spcAft>
                <a:spcPts val="200"/>
              </a:spcAft>
            </a:pPr>
            <a:r>
              <a:rPr sz="900" b="1">
                <a:solidFill>
                  <a:srgbClr val="E11D48"/>
                </a:solidFill>
                <a:latin typeface="Malgun Gothic"/>
              </a:rPr>
              <a:t>● </a:t>
            </a:r>
            <a:r>
              <a:rPr sz="1100">
                <a:solidFill>
                  <a:srgbClr val="334155"/>
                </a:solidFill>
                <a:latin typeface="Malgun Gothic"/>
              </a:rPr>
              <a:t>Announcing the postpone cutoff reduces no-shows.</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Pre-registering each teacher's available times speeds up assignment.</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booking.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Payments·Collection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Payments·overdue·refunds</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Process your agency's payments, overdue and refunds. Amounts auto-calculate by policy, and overdue is managed with alerts.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Process payments/overdue/refunds in Accounting/Points.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Notify overdue via alert-talk/SMS.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Amounts are auto-calculated per the refund table.</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Automate overdue alerts to raise collection.</a:t>
            </a:r>
          </a:p>
          <a:p>
            <a:pPr>
              <a:lnSpc>
                <a:spcPct val="115000"/>
              </a:lnSpc>
              <a:spcAft>
                <a:spcPts val="200"/>
              </a:spcAft>
            </a:pPr>
            <a:r>
              <a:rPr sz="900" b="1">
                <a:solidFill>
                  <a:srgbClr val="E11D48"/>
                </a:solidFill>
                <a:latin typeface="Malgun Gothic"/>
              </a:rPr>
              <a:t>● </a:t>
            </a:r>
            <a:r>
              <a:rPr sz="1100">
                <a:solidFill>
                  <a:srgbClr val="334155"/>
                </a:solidFill>
                <a:latin typeface="Malgun Gothic"/>
              </a:rPr>
              <a:t>Discounted-payment refunds recalc at list price.</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Reviewing collection status regularly stabilizes revenue.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refu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09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Student Learning·Reports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Progress·performance</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your students' attendance, reviews and learning progress, and review performance with reports. Use it for parent counseling and re-enrollment persuasion.</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Check each student's attendance·reviews·progress.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Summarize performance with the monthly report.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Use reports in parent counseling.</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Showing data builds parent trust.</a:t>
            </a:r>
          </a:p>
          <a:p>
            <a:pPr>
              <a:lnSpc>
                <a:spcPct val="115000"/>
              </a:lnSpc>
              <a:spcAft>
                <a:spcPts val="200"/>
              </a:spcAft>
            </a:pPr>
            <a:r>
              <a:rPr sz="900" b="1">
                <a:solidFill>
                  <a:srgbClr val="E11D48"/>
                </a:solidFill>
                <a:latin typeface="Malgun Gothic"/>
              </a:rPr>
              <a:t>● </a:t>
            </a:r>
            <a:r>
              <a:rPr sz="1100">
                <a:solidFill>
                  <a:srgbClr val="334155"/>
                </a:solidFill>
                <a:latin typeface="Malgun Gothic"/>
              </a:rPr>
              <a:t>Link high-performing students to reviews/referrals.</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Showing performance with a report before re-enrollment makes persuasion easier.</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paren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Agency Settlement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Receive branch→agency</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Check the settlement coming from the branch to your agency. Revenue and commissions are auto-calculated down the org tree, so you can see your share transparently.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Check branch→agency settlement (received) by month.</a:t>
            </a:r>
          </a:p>
          <a:p>
            <a:pPr>
              <a:lnSpc>
                <a:spcPct val="115000"/>
              </a:lnSpc>
              <a:spcAft>
                <a:spcPts val="600"/>
              </a:spcAft>
            </a:pPr>
            <a:r>
              <a:rPr sz="1050" b="1">
                <a:solidFill>
                  <a:srgbClr val="E11D48"/>
                </a:solidFill>
                <a:latin typeface="Malgun Gothic"/>
              </a:rPr>
              <a:t>● </a:t>
            </a:r>
            <a:r>
              <a:rPr sz="1250">
                <a:solidFill>
                  <a:srgbClr val="334155"/>
                </a:solidFill>
                <a:latin typeface="Malgun Gothic"/>
              </a:rPr>
              <a:t>Review the revenue/commission calculation details.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Save (PDF) the settlement report to keep.</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Settlement is auto-calculated by the org tree.</a:t>
            </a:r>
          </a:p>
          <a:p>
            <a:pPr>
              <a:lnSpc>
                <a:spcPct val="115000"/>
              </a:lnSpc>
              <a:spcAft>
                <a:spcPts val="200"/>
              </a:spcAft>
            </a:pPr>
            <a:r>
              <a:rPr sz="900" b="1">
                <a:solidFill>
                  <a:srgbClr val="E11D48"/>
                </a:solidFill>
                <a:latin typeface="Malgun Gothic"/>
              </a:rPr>
              <a:t>● </a:t>
            </a:r>
            <a:r>
              <a:rPr sz="1100">
                <a:solidFill>
                  <a:srgbClr val="334155"/>
                </a:solidFill>
                <a:latin typeface="Malgun Gothic"/>
              </a:rPr>
              <a:t>Ask the branch/HQ to confirm any off items.</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Viewing revenue and settlement together clarifies your agency's profit structure.</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monthlyrepor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Prevent Churn (care for students)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Spot at-risk early</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Find students likely to quit early and care for them. Quickly caring for students with frequent absences or dropping performance raises re-enrollment.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Check churn-risk signals (absences·performance drop).</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Intervene on at-risk students with counseling/alert-talk.</a:t>
            </a:r>
          </a:p>
          <a:p>
            <a:pPr>
              <a:lnSpc>
                <a:spcPct val="115000"/>
              </a:lnSpc>
              <a:spcAft>
                <a:spcPts val="600"/>
              </a:spcAft>
            </a:pPr>
            <a:r>
              <a:rPr sz="1050" b="1">
                <a:solidFill>
                  <a:srgbClr val="E11D48"/>
                </a:solidFill>
                <a:latin typeface="Malgun Gothic"/>
              </a:rPr>
              <a:t>● </a:t>
            </a:r>
            <a:r>
              <a:rPr sz="1250">
                <a:solidFill>
                  <a:srgbClr val="334155"/>
                </a:solidFill>
                <a:latin typeface="Malgun Gothic"/>
              </a:rPr>
              <a:t>Manage family/referral relationships too.</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Intervening early raises retention.</a:t>
            </a:r>
          </a:p>
          <a:p>
            <a:pPr>
              <a:lnSpc>
                <a:spcPct val="115000"/>
              </a:lnSpc>
              <a:spcAft>
                <a:spcPts val="200"/>
              </a:spcAft>
            </a:pPr>
            <a:r>
              <a:rPr sz="900" b="1">
                <a:solidFill>
                  <a:srgbClr val="E11D48"/>
                </a:solidFill>
                <a:latin typeface="Malgun Gothic"/>
              </a:rPr>
              <a:t>● </a:t>
            </a:r>
            <a:r>
              <a:rPr sz="1100">
                <a:solidFill>
                  <a:srgbClr val="334155"/>
                </a:solidFill>
                <a:latin typeface="Malgun Gothic"/>
              </a:rPr>
              <a:t>Care before re-enrollment season is especially important.</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Caring first for frequently-absent students noticeably cuts churn.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New Counseling·Recruiting</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Intake·conversion</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Take new counseling/inquiries and convert to enrollment. Recruiting is the starting point of agency growth.</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Take new counseling/inquiries.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Record the counseling and convert to enrollment.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Drive enrollment with trial lessons·level tests.</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Fast response raises conversion.</a:t>
            </a:r>
          </a:p>
          <a:p>
            <a:pPr>
              <a:lnSpc>
                <a:spcPct val="115000"/>
              </a:lnSpc>
              <a:spcAft>
                <a:spcPts val="200"/>
              </a:spcAft>
            </a:pPr>
            <a:r>
              <a:rPr sz="900" b="1">
                <a:solidFill>
                  <a:srgbClr val="E11D48"/>
                </a:solidFill>
                <a:latin typeface="Malgun Gothic"/>
              </a:rPr>
              <a:t>● </a:t>
            </a:r>
            <a:r>
              <a:rPr sz="1100">
                <a:solidFill>
                  <a:srgbClr val="334155"/>
                </a:solidFill>
                <a:latin typeface="Malgun Gothic"/>
              </a:rPr>
              <a:t>Make the trial→enroll flow smooth.</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Following up after counseling raises conversion.</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Support·Help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Get branch·HQ support</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If a problem comes up in operations, contact branch/HQ support. System/settlement/policy questions get resolved quickly.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Use phone, email, Kakao and remote support in Support.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Route settlement/policy questions to the branch/HQ.</a:t>
            </a:r>
          </a:p>
          <a:p>
            <a:pPr>
              <a:lnSpc>
                <a:spcPct val="115000"/>
              </a:lnSpc>
              <a:spcAft>
                <a:spcPts val="600"/>
              </a:spcAft>
            </a:pPr>
            <a:r>
              <a:rPr sz="1050" b="1">
                <a:solidFill>
                  <a:srgbClr val="E11D48"/>
                </a:solidFill>
                <a:latin typeface="Malgun Gothic"/>
              </a:rPr>
              <a:t>● </a:t>
            </a:r>
            <a:r>
              <a:rPr sz="1250">
                <a:solidFill>
                  <a:srgbClr val="334155"/>
                </a:solidFill>
                <a:latin typeface="Malgun Gothic"/>
              </a:rPr>
              <a:t>Note the fix for repeat issues.</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System issues resolve fast with remote support.</a:t>
            </a:r>
          </a:p>
          <a:p>
            <a:pPr>
              <a:lnSpc>
                <a:spcPct val="115000"/>
              </a:lnSpc>
              <a:spcAft>
                <a:spcPts val="200"/>
              </a:spcAft>
            </a:pPr>
            <a:r>
              <a:rPr sz="900" b="1">
                <a:solidFill>
                  <a:srgbClr val="E11D48"/>
                </a:solidFill>
                <a:latin typeface="Malgun Gothic"/>
              </a:rPr>
              <a:t>● </a:t>
            </a:r>
            <a:r>
              <a:rPr sz="1100">
                <a:solidFill>
                  <a:srgbClr val="334155"/>
                </a:solidFill>
                <a:latin typeface="Malgun Gothic"/>
              </a:rPr>
              <a:t>For 'can't enter' tickets, check browser/permission first.</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Compiling common inquiries and fixes speeds up counseling.</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common_contact.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Korea·Philippines Dual Clock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Two countries' time on screen</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A clock on screen shows 🇰🇷 Korea and 🇵🇭 Philippines time together. It lets you check the time difference instantly when coordinating lessons between Philippine teachers and Korean students.</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On the on-screen dual clock, see 🇰🇷 Korea and 🇵🇭 Philippines time at once.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Drag the clock to move it anywhere you like.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Tap (click) the clock to go to the home screen.</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The Philippines is 1 hour behind Korea (−1 hour).</a:t>
            </a:r>
          </a:p>
          <a:p>
            <a:pPr>
              <a:lnSpc>
                <a:spcPct val="115000"/>
              </a:lnSpc>
              <a:spcAft>
                <a:spcPts val="200"/>
              </a:spcAft>
            </a:pPr>
            <a:r>
              <a:rPr sz="900" b="1">
                <a:solidFill>
                  <a:srgbClr val="E11D48"/>
                </a:solidFill>
                <a:latin typeface="Malgun Gothic"/>
              </a:rPr>
              <a:t>● </a:t>
            </a:r>
            <a:r>
              <a:rPr sz="1100">
                <a:solidFill>
                  <a:srgbClr val="334155"/>
                </a:solidFill>
                <a:latin typeface="Malgun Gothic"/>
              </a:rPr>
              <a:t>You can check booking/entry times in both countries' time.</a:t>
            </a:r>
          </a:p>
        </p:txBody>
      </p:sp>
      <p:sp>
        <p:nvSpPr>
          <p:cNvPr id="17" name="Rounded Rectangle 16"/>
          <p:cNvSpPr/>
          <p:nvPr/>
        </p:nvSpPr>
        <p:spPr>
          <a:xfrm>
            <a:off x="457200" y="551383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a lesson time is confusing due to the time difference, this clock clears it up instantly.</a:t>
            </a:r>
          </a:p>
        </p:txBody>
      </p:sp>
      <p:sp>
        <p:nvSpPr>
          <p:cNvPr id="19" name="Rectangle 18"/>
          <p:cNvSpPr/>
          <p:nvPr/>
        </p:nvSpPr>
        <p:spPr>
          <a:xfrm>
            <a:off x="6300216" y="2356264"/>
            <a:ext cx="5596128" cy="3517071"/>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world_clock.jpg"/>
          <p:cNvPicPr>
            <a:picLocks noChangeAspect="1"/>
          </p:cNvPicPr>
          <p:nvPr/>
        </p:nvPicPr>
        <p:blipFill>
          <a:blip r:embed="rId2"/>
          <a:stretch>
            <a:fillRect/>
          </a:stretch>
        </p:blipFill>
        <p:spPr>
          <a:xfrm>
            <a:off x="6355080" y="2411128"/>
            <a:ext cx="5486400" cy="3407343"/>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15</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Chinese Pronunciation Coach</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Darakwon Chinese Master Lv1–20</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Mangoi offers not only English but also a Chinese course. With a Darakwon Chinese Master (Lv 1–20) pronunciation coach (characters+pinyin, AI voice recognition, native comparison), you can attract and manage students who want Chinese.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In the AI voice coach, pick the CN Chinese level (or go to the Chinese pronunciation coach).</a:t>
            </a:r>
          </a:p>
          <a:p>
            <a:pPr>
              <a:lnSpc>
                <a:spcPct val="115000"/>
              </a:lnSpc>
              <a:spcAft>
                <a:spcPts val="600"/>
              </a:spcAft>
            </a:pPr>
            <a:r>
              <a:rPr sz="1050" b="1">
                <a:solidFill>
                  <a:srgbClr val="E11D48"/>
                </a:solidFill>
                <a:latin typeface="Malgun Gothic"/>
              </a:rPr>
              <a:t>● </a:t>
            </a:r>
            <a:r>
              <a:rPr sz="1250">
                <a:solidFill>
                  <a:srgbClr val="334155"/>
                </a:solidFill>
                <a:latin typeface="Malgun Gothic"/>
              </a:rPr>
              <a:t>Choose a Master series (1–6, HSK 1–6) and a unit.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Read the sentence (characters + pinyin) and compare with 'Play native audio'.</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Practice hard sounds/tones with repeat and slow (0.85x).</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Characters and pinyin appear together, so it's easy to read.</a:t>
            </a:r>
          </a:p>
          <a:p>
            <a:pPr>
              <a:lnSpc>
                <a:spcPct val="115000"/>
              </a:lnSpc>
              <a:spcAft>
                <a:spcPts val="200"/>
              </a:spcAft>
            </a:pPr>
            <a:r>
              <a:rPr sz="900" b="1">
                <a:solidFill>
                  <a:srgbClr val="E11D48"/>
                </a:solidFill>
                <a:latin typeface="Malgun Gothic"/>
              </a:rPr>
              <a:t>● </a:t>
            </a:r>
            <a:r>
              <a:rPr sz="1100">
                <a:solidFill>
                  <a:srgbClr val="334155"/>
                </a:solidFill>
                <a:latin typeface="Malgun Gothic"/>
              </a:rPr>
              <a:t>The AI recognizes your voice and compares it to a native speaker.</a:t>
            </a:r>
          </a:p>
          <a:p>
            <a:pPr>
              <a:lnSpc>
                <a:spcPct val="115000"/>
              </a:lnSpc>
              <a:spcAft>
                <a:spcPts val="200"/>
              </a:spcAft>
            </a:pPr>
            <a:r>
              <a:rPr sz="900" b="1">
                <a:solidFill>
                  <a:srgbClr val="E11D48"/>
                </a:solidFill>
                <a:latin typeface="Malgun Gothic"/>
              </a:rPr>
              <a:t>● </a:t>
            </a:r>
            <a:r>
              <a:rPr sz="1100">
                <a:solidFill>
                  <a:srgbClr val="334155"/>
                </a:solidFill>
                <a:latin typeface="Malgun Gothic"/>
              </a:rPr>
              <a:t>The learning games hub supports Chinese too.</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Listen slowly and repeat clearly to nail the four tones.</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student_speechcoach_c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16</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In-class Praise Points (understand &amp; use)</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Linked to motivation·re-enrollment</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During class the teacher gives 🌟 praise points (+1P) to students on the spot, and an end-of-class rating (+10P) adds up into the student's total points. Points lead to shop/gift rewards, helping motivation and re-enrollment. Your agency understands and uses this flow for performance.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The teacher gives +1P via the 🌟 praise button on a student's video during class.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It accrues live in the student's 🧺 point basket and sums into their total.</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 post-class star rating gives the student an extra +10P.</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Points connect to shop/roulette/gift rewards.</a:t>
            </a:r>
          </a:p>
        </p:txBody>
      </p:sp>
      <p:sp>
        <p:nvSpPr>
          <p:cNvPr id="14" name="Rounded Rectangle 13"/>
          <p:cNvSpPr/>
          <p:nvPr/>
        </p:nvSpPr>
        <p:spPr>
          <a:xfrm>
            <a:off x="457200" y="4782312"/>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Instant rewards boost participation and re-enrollment.</a:t>
            </a:r>
          </a:p>
          <a:p>
            <a:pPr>
              <a:lnSpc>
                <a:spcPct val="115000"/>
              </a:lnSpc>
              <a:spcAft>
                <a:spcPts val="200"/>
              </a:spcAft>
            </a:pPr>
            <a:r>
              <a:rPr sz="900" b="1">
                <a:solidFill>
                  <a:srgbClr val="E11D48"/>
                </a:solidFill>
                <a:latin typeface="Malgun Gothic"/>
              </a:rPr>
              <a:t>● </a:t>
            </a:r>
            <a:r>
              <a:rPr sz="1100">
                <a:solidFill>
                  <a:srgbClr val="334155"/>
                </a:solidFill>
                <a:latin typeface="Malgun Gothic"/>
              </a:rPr>
              <a:t>Use your agency students' points/reward response as a performance signal.</a:t>
            </a:r>
          </a:p>
        </p:txBody>
      </p:sp>
      <p:sp>
        <p:nvSpPr>
          <p:cNvPr id="17" name="Rounded Rectangle 16"/>
          <p:cNvSpPr/>
          <p:nvPr/>
        </p:nvSpPr>
        <p:spPr>
          <a:xfrm>
            <a:off x="457200" y="5897879"/>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943599"/>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Teachers give praise points; HQ (admin) configures the shop/reward/gift policy.</a:t>
            </a:r>
          </a:p>
        </p:txBody>
      </p:sp>
      <p:sp>
        <p:nvSpPr>
          <p:cNvPr id="19" name="Rounded Rectangle 18"/>
          <p:cNvSpPr/>
          <p:nvPr/>
        </p:nvSpPr>
        <p:spPr>
          <a:xfrm>
            <a:off x="457200" y="6629399"/>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675119"/>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Classes (teachers) where praise points flow well tend to have higher re-enrollment.</a:t>
            </a:r>
          </a:p>
        </p:txBody>
      </p:sp>
      <p:sp>
        <p:nvSpPr>
          <p:cNvPr id="21" name="Rectangle 20"/>
          <p:cNvSpPr/>
          <p:nvPr/>
        </p:nvSpPr>
        <p:spPr>
          <a:xfrm>
            <a:off x="6300216" y="3266070"/>
            <a:ext cx="5596128" cy="169745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class_praise.jpg"/>
          <p:cNvPicPr>
            <a:picLocks noChangeAspect="1"/>
          </p:cNvPicPr>
          <p:nvPr/>
        </p:nvPicPr>
        <p:blipFill>
          <a:blip r:embed="rId2"/>
          <a:stretch>
            <a:fillRect/>
          </a:stretch>
        </p:blipFill>
        <p:spPr>
          <a:xfrm>
            <a:off x="6355080" y="3320934"/>
            <a:ext cx="5486400" cy="158773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17</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Notice Studio (Poster + Popup)</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Design notice/event posters and push them as app popups</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This merges the old ‘Poster Maker’ and ‘Popup Notice’ tools into one place. In the ①Create tab you design a notice/event poster, then hand it straight to the ②Publish·Popup tab to show it as a popup in your agency's student app.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Go to the admin menu Notification Center → 📢 Notice Studio.</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In the ①Create tab, design a poster with text, images, and video (resize · save on server · reuse).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Press ‘📢 Publish as popup’ on the finished poster to auto-switch to the ②Publish·Popup tab.</a:t>
            </a:r>
          </a:p>
          <a:p>
            <a:pPr>
              <a:lnSpc>
                <a:spcPct val="115000"/>
              </a:lnSpc>
              <a:spcAft>
                <a:spcPts val="600"/>
              </a:spcAft>
            </a:pPr>
            <a:r>
              <a:rPr sz="1050" b="1">
                <a:solidFill>
                  <a:srgbClr val="E11D48"/>
                </a:solidFill>
                <a:latin typeface="Malgun Gothic"/>
              </a:rPr>
              <a:t>● </a:t>
            </a:r>
            <a:r>
              <a:rPr sz="1250">
                <a:solidFill>
                  <a:srgbClr val="334155"/>
                </a:solidFill>
                <a:latin typeface="Malgun Gothic"/>
              </a:rPr>
              <a:t>In the publish tab, set the display period / stop and publish it as a student-app popup.</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Poster creation and popup publishing flow through one screen, two tabs — no more confusion.</a:t>
            </a:r>
          </a:p>
          <a:p>
            <a:pPr>
              <a:lnSpc>
                <a:spcPct val="115000"/>
              </a:lnSpc>
              <a:spcAft>
                <a:spcPts val="200"/>
              </a:spcAft>
            </a:pPr>
            <a:r>
              <a:rPr sz="900" b="1">
                <a:solidFill>
                  <a:srgbClr val="E11D48"/>
                </a:solidFill>
                <a:latin typeface="Malgun Gothic"/>
              </a:rPr>
              <a:t>● </a:t>
            </a:r>
            <a:r>
              <a:rPr sz="1100">
                <a:solidFill>
                  <a:srgbClr val="334155"/>
                </a:solidFill>
                <a:latin typeface="Malgun Gothic"/>
              </a:rPr>
              <a:t>Posters you make can be saved and reused.</a:t>
            </a:r>
          </a:p>
          <a:p>
            <a:pPr>
              <a:lnSpc>
                <a:spcPct val="115000"/>
              </a:lnSpc>
              <a:spcAft>
                <a:spcPts val="200"/>
              </a:spcAft>
            </a:pPr>
            <a:r>
              <a:rPr sz="900" b="1">
                <a:solidFill>
                  <a:srgbClr val="E11D48"/>
                </a:solidFill>
                <a:latin typeface="Malgun Gothic"/>
              </a:rPr>
              <a:t>● </a:t>
            </a:r>
            <a:r>
              <a:rPr sz="1100">
                <a:solidFill>
                  <a:srgbClr val="334155"/>
                </a:solidFill>
                <a:latin typeface="Malgun Gothic"/>
              </a:rPr>
              <a:t>Whichever route you enter from — AI assistant or sidebar search — the correct tab opens.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Existing posters/popups are preserved (it was only merged, nothing was deleted).</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Promoting an event takes just one flow: ‘Create → Publish as popup’ right away.</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18</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Command the AI Operations Assistant</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Navigate with one phrase: “Take me to ○○”</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Type what you want to do into the top search bar (or the bottom-right AI assistant) in plain language, and the AI understands and jumps straight to that screen. It now reliably follows navigation commands like ‘Take me to teacher ○○'s schedule’ or ‘Open auto-scheduling’.</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Type a command in the top search bar or speak with the 🎤 mic.</a:t>
            </a:r>
          </a:p>
          <a:p>
            <a:pPr>
              <a:lnSpc>
                <a:spcPct val="115000"/>
              </a:lnSpc>
              <a:spcAft>
                <a:spcPts val="600"/>
              </a:spcAft>
            </a:pPr>
            <a:r>
              <a:rPr sz="1050" b="1">
                <a:solidFill>
                  <a:srgbClr val="E11D48"/>
                </a:solidFill>
                <a:latin typeface="Malgun Gothic"/>
              </a:rPr>
              <a:t>● </a:t>
            </a:r>
            <a:r>
              <a:rPr sz="1250">
                <a:solidFill>
                  <a:srgbClr val="334155"/>
                </a:solidFill>
                <a:latin typeface="Malgun Gothic"/>
              </a:rPr>
              <a:t>e.g. “Take me to teacher Kim Minji's schedule” → auto-finds that teacher in the weekly schedule and opens it.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e.g. “Open auto-scheduling,” “Go to settlement” to navigate menus.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Press ‘Go now →’ on the AI response card to move to that screen.</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Navigation commands actually navigate — far fewer ‘explain only, do nothing’ replies.</a:t>
            </a:r>
          </a:p>
          <a:p>
            <a:pPr>
              <a:lnSpc>
                <a:spcPct val="115000"/>
              </a:lnSpc>
              <a:spcAft>
                <a:spcPts val="200"/>
              </a:spcAft>
            </a:pPr>
            <a:r>
              <a:rPr sz="900" b="1">
                <a:solidFill>
                  <a:srgbClr val="E11D48"/>
                </a:solidFill>
                <a:latin typeface="Malgun Gothic"/>
              </a:rPr>
              <a:t>● </a:t>
            </a:r>
            <a:r>
              <a:rPr sz="1100">
                <a:solidFill>
                  <a:srgbClr val="334155"/>
                </a:solidFill>
                <a:latin typeface="Malgun Gothic"/>
              </a:rPr>
              <a:t>Searching a schedule by teacher name auto-fills the search box + filters + scrolls.</a:t>
            </a:r>
          </a:p>
          <a:p>
            <a:pPr>
              <a:lnSpc>
                <a:spcPct val="115000"/>
              </a:lnSpc>
              <a:spcAft>
                <a:spcPts val="200"/>
              </a:spcAft>
            </a:pPr>
            <a:r>
              <a:rPr sz="900" b="1">
                <a:solidFill>
                  <a:srgbClr val="E11D48"/>
                </a:solidFill>
                <a:latin typeface="Malgun Gothic"/>
              </a:rPr>
              <a:t>● </a:t>
            </a:r>
            <a:r>
              <a:rPr sz="1100">
                <a:solidFill>
                  <a:srgbClr val="334155"/>
                </a:solidFill>
                <a:latin typeface="Malgun Gothic"/>
              </a:rPr>
              <a:t>For data/statistics questions it also helps with card-style answers.</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Commands that actually change things — ‘register · send · modify’ — ask for one more confirmation (a safety guard).</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When you can't recall a menu name, just say what you want to do — it finds its way there.</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aicomman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19</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Share Library Links via KakaoTalk</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Send videos &amp; docs in original quality</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Every guide and video in the library now has a '💬 Copy KakaoTalk link' button. Attaching a file to KakaoTalk crushes the quality, but sending a link plays the original as-is. One tap copies the link — guiding parents and teachers gets much easier.</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In the admin Library, press 💬 Copy KakaoTalk link next to the file.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Paste it into the KakaoTalk chat room.</a:t>
            </a:r>
          </a:p>
          <a:p>
            <a:pPr>
              <a:lnSpc>
                <a:spcPct val="115000"/>
              </a:lnSpc>
              <a:spcAft>
                <a:spcPts val="600"/>
              </a:spcAft>
            </a:pPr>
            <a:r>
              <a:rPr sz="1050" b="1">
                <a:solidFill>
                  <a:srgbClr val="E11D48"/>
                </a:solidFill>
                <a:latin typeface="Malgun Gothic"/>
              </a:rPr>
              <a:t>● </a:t>
            </a:r>
            <a:r>
              <a:rPr sz="1250">
                <a:solidFill>
                  <a:srgbClr val="334155"/>
                </a:solidFill>
                <a:latin typeface="Malgun Gothic"/>
              </a:rPr>
              <a:t>Recipients tap the link to watch or download in original quality.</a:t>
            </a:r>
          </a:p>
        </p:txBody>
      </p:sp>
      <p:sp>
        <p:nvSpPr>
          <p:cNvPr id="14" name="Rounded Rectangle 13"/>
          <p:cNvSpPr/>
          <p:nvPr/>
        </p:nvSpPr>
        <p:spPr>
          <a:xfrm>
            <a:off x="457200" y="4398264"/>
            <a:ext cx="5669280" cy="1005840"/>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453127"/>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4727448"/>
            <a:ext cx="5394960" cy="640080"/>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For videos, link sharing = original quality; file attachments degrade it.</a:t>
            </a:r>
          </a:p>
          <a:p>
            <a:pPr>
              <a:lnSpc>
                <a:spcPct val="115000"/>
              </a:lnSpc>
              <a:spcAft>
                <a:spcPts val="200"/>
              </a:spcAft>
            </a:pPr>
            <a:r>
              <a:rPr sz="900" b="1">
                <a:solidFill>
                  <a:srgbClr val="E11D48"/>
                </a:solidFill>
                <a:latin typeface="Malgun Gothic"/>
              </a:rPr>
              <a:t>● </a:t>
            </a:r>
            <a:r>
              <a:rPr sz="1100">
                <a:solidFill>
                  <a:srgbClr val="334155"/>
                </a:solidFill>
                <a:latin typeface="Malgun Gothic"/>
              </a:rPr>
              <a:t>Works the same for PDFs, PPTs, and videos anywhere in the library.</a:t>
            </a:r>
          </a:p>
        </p:txBody>
      </p:sp>
      <p:sp>
        <p:nvSpPr>
          <p:cNvPr id="17" name="Rounded Rectangle 16"/>
          <p:cNvSpPr/>
          <p:nvPr/>
        </p:nvSpPr>
        <p:spPr>
          <a:xfrm>
            <a:off x="457200" y="5513831"/>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5559551"/>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Anyone with the link can open it. For internal-only material, check who you share with.</a:t>
            </a:r>
          </a:p>
        </p:txBody>
      </p:sp>
      <p:sp>
        <p:nvSpPr>
          <p:cNvPr id="19" name="Rounded Rectangle 18"/>
          <p:cNvSpPr/>
          <p:nvPr/>
        </p:nvSpPr>
        <p:spPr>
          <a:xfrm>
            <a:off x="457200" y="6245351"/>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291071"/>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In a parents' group chat, one video-guide link does all the explaining.</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noticestudio.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20</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A refreshed admin screen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Collapsible sidebar · lighter background · line icons</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admin screen is now easier on the eyes and wider. The left menu collapses to a narrow icon rail via the ‹ Collapse button, and the background is now a consistent light tone. Menu icons were redrawn as line icons so labels read clearly.</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Press ‹ Collapse at the top of the left menu — it shrinks to an icon rail and the content gets wider.</a:t>
            </a:r>
          </a:p>
          <a:p>
            <a:pPr>
              <a:lnSpc>
                <a:spcPct val="115000"/>
              </a:lnSpc>
              <a:spcAft>
                <a:spcPts val="600"/>
              </a:spcAft>
            </a:pPr>
            <a:r>
              <a:rPr sz="1050" b="1">
                <a:solidFill>
                  <a:srgbClr val="E11D48"/>
                </a:solidFill>
                <a:latin typeface="Malgun Gothic"/>
              </a:rPr>
              <a:t>● </a:t>
            </a:r>
            <a:r>
              <a:rPr sz="1250">
                <a:solidFill>
                  <a:srgbClr val="334155"/>
                </a:solidFill>
                <a:latin typeface="Malgun Gothic"/>
              </a:rPr>
              <a:t>Press the › button in the same place to expand it again.</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The collapsed state is remembered for your next visit.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Too many menus to find one? Type its name into menu search at the top.</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Screens full of tables and lists gain a lot of horizontal space.</a:t>
            </a:r>
          </a:p>
          <a:p>
            <a:pPr>
              <a:lnSpc>
                <a:spcPct val="115000"/>
              </a:lnSpc>
              <a:spcAft>
                <a:spcPts val="200"/>
              </a:spcAft>
            </a:pPr>
            <a:r>
              <a:rPr sz="900" b="1">
                <a:solidFill>
                  <a:srgbClr val="E11D48"/>
                </a:solidFill>
                <a:latin typeface="Malgun Gothic"/>
              </a:rPr>
              <a:t>● </a:t>
            </a:r>
            <a:r>
              <a:rPr sz="1100">
                <a:solidFill>
                  <a:srgbClr val="334155"/>
                </a:solidFill>
                <a:latin typeface="Malgun Gothic"/>
              </a:rPr>
              <a:t>15 sub-pages were moved onto the same light theme, so the colour jump between screens is gone.</a:t>
            </a:r>
          </a:p>
          <a:p>
            <a:pPr>
              <a:lnSpc>
                <a:spcPct val="115000"/>
              </a:lnSpc>
              <a:spcAft>
                <a:spcPts val="200"/>
              </a:spcAft>
            </a:pPr>
            <a:r>
              <a:rPr sz="900" b="1">
                <a:solidFill>
                  <a:srgbClr val="E11D48"/>
                </a:solidFill>
                <a:latin typeface="Malgun Gothic"/>
              </a:rPr>
              <a:t>● </a:t>
            </a:r>
            <a:r>
              <a:rPr sz="1100">
                <a:solidFill>
                  <a:srgbClr val="334155"/>
                </a:solidFill>
                <a:latin typeface="Malgun Gothic"/>
              </a:rPr>
              <a:t>The collapse animation was removed so low-spec PCs don't stutter.</a:t>
            </a:r>
          </a:p>
        </p:txBody>
      </p:sp>
      <p:sp>
        <p:nvSpPr>
          <p:cNvPr id="17" name="Rounded Rectangle 16"/>
          <p:cNvSpPr/>
          <p:nvPr/>
        </p:nvSpPr>
        <p:spPr>
          <a:xfrm>
            <a:off x="457200" y="620877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Wide-table screens like settlement and payroll are far easier to read with the menu collapsed.</a:t>
            </a:r>
          </a:p>
        </p:txBody>
      </p:sp>
      <p:sp>
        <p:nvSpPr>
          <p:cNvPr id="19" name="Rectangle 18"/>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admin_sidebar_rai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21</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The interface language sets itself</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Overseas staff and teachers start in English</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Filipino teachers and overseas staff now start in English from the first screen. The interface language is decided from the account's nationality, and teacher accounts are always English regardless of name or previous choice. You can still switch any time with the 🌐 EN / KR button at the top.</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If the account has a nationality on file, the right language appears automatically at login.</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To change it manually, press the 🌐 EN / KR button at the top.</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 manual choice is stored per account — several people can share one PC without interference.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Teacher guide slides and manuals switch to the English editions with it.</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Teacher accounts are always English — no more getting lost in a Korean screen.</a:t>
            </a:r>
          </a:p>
          <a:p>
            <a:pPr>
              <a:lnSpc>
                <a:spcPct val="115000"/>
              </a:lnSpc>
              <a:spcAft>
                <a:spcPts val="200"/>
              </a:spcAft>
            </a:pPr>
            <a:r>
              <a:rPr sz="900" b="1">
                <a:solidFill>
                  <a:srgbClr val="E11D48"/>
                </a:solidFill>
                <a:latin typeface="Malgun Gothic"/>
              </a:rPr>
              <a:t>● </a:t>
            </a:r>
            <a:r>
              <a:rPr sz="1100">
                <a:solidFill>
                  <a:srgbClr val="334155"/>
                </a:solidFill>
                <a:latin typeface="Malgun Gothic"/>
              </a:rPr>
              <a:t>Accounts with an English name no longer flip to Korean because of a Korean job title.</a:t>
            </a:r>
          </a:p>
          <a:p>
            <a:pPr>
              <a:lnSpc>
                <a:spcPct val="115000"/>
              </a:lnSpc>
              <a:spcAft>
                <a:spcPts val="200"/>
              </a:spcAft>
            </a:pPr>
            <a:r>
              <a:rPr sz="900" b="1">
                <a:solidFill>
                  <a:srgbClr val="E11D48"/>
                </a:solidFill>
                <a:latin typeface="Malgun Gothic"/>
              </a:rPr>
              <a:t>● </a:t>
            </a:r>
            <a:r>
              <a:rPr sz="1100">
                <a:solidFill>
                  <a:srgbClr val="334155"/>
                </a:solidFill>
                <a:latin typeface="Malgun Gothic"/>
              </a:rPr>
              <a:t>Language choice is isolated per account, so an overseas account isn't overwritten by someone else's pick.</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Accounts with no nationality fall back to the old name/ID heuristic. Please fill in nationality when registering teachers.</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Enter nationality when registering a new teacher and their very first login is in English — fewer support requests.</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dashboard.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22</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Enrolment &amp; payment → automatic lesson creation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Once payment is confirmed, every session is scheduled</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On the Enrolment screen a student picks teacher, days and time and pays — and all lesson sessions are created automatically the moment payment is confirmed. The old manual timetable entry after payment is gone. If the slot clashes with an existing lesson, the conflict is detected before payment.</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Send students and parents the enrolment link.</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They choose teacher → lesson options (weekly count, term, length) → days &amp; time.</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The slot check must pass before the pay button unlocks (payment is blocked on a clash).</a:t>
            </a:r>
          </a:p>
          <a:p>
            <a:pPr>
              <a:lnSpc>
                <a:spcPct val="115000"/>
              </a:lnSpc>
              <a:spcAft>
                <a:spcPts val="600"/>
              </a:spcAft>
            </a:pPr>
            <a:r>
              <a:rPr sz="1050" b="1">
                <a:solidFill>
                  <a:srgbClr val="E11D48"/>
                </a:solidFill>
                <a:latin typeface="Malgun Gothic"/>
              </a:rPr>
              <a:t>● </a:t>
            </a:r>
            <a:r>
              <a:rPr sz="1250">
                <a:solidFill>
                  <a:srgbClr val="334155"/>
                </a:solidFill>
                <a:latin typeface="Malgun Gothic"/>
              </a:rPr>
              <a:t>On confirmed payment, all sessions are created at once — verify in the admin lesson list.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Head-office prices and discount rates are managed on the pricing screen.</a:t>
            </a:r>
          </a:p>
        </p:txBody>
      </p:sp>
      <p:sp>
        <p:nvSpPr>
          <p:cNvPr id="14" name="Rounded Rectangle 13"/>
          <p:cNvSpPr/>
          <p:nvPr/>
        </p:nvSpPr>
        <p:spPr>
          <a:xfrm>
            <a:off x="457200" y="5166360"/>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495544"/>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Idempotent — a duplicated payment callback will not create the sessions twice.</a:t>
            </a:r>
          </a:p>
          <a:p>
            <a:pPr>
              <a:lnSpc>
                <a:spcPct val="115000"/>
              </a:lnSpc>
              <a:spcAft>
                <a:spcPts val="200"/>
              </a:spcAft>
            </a:pPr>
            <a:r>
              <a:rPr sz="900" b="1">
                <a:solidFill>
                  <a:srgbClr val="E11D48"/>
                </a:solidFill>
                <a:latin typeface="Malgun Gothic"/>
              </a:rPr>
              <a:t>● </a:t>
            </a:r>
            <a:r>
              <a:rPr sz="1100">
                <a:solidFill>
                  <a:srgbClr val="334155"/>
                </a:solidFill>
                <a:latin typeface="Malgun Gothic"/>
              </a:rPr>
              <a:t>Clashes with holidays or existing lessons are pushed back so the session count is still met.</a:t>
            </a:r>
          </a:p>
          <a:p>
            <a:pPr>
              <a:lnSpc>
                <a:spcPct val="115000"/>
              </a:lnSpc>
              <a:spcAft>
                <a:spcPts val="200"/>
              </a:spcAft>
            </a:pPr>
            <a:r>
              <a:rPr sz="900" b="1">
                <a:solidFill>
                  <a:srgbClr val="E11D48"/>
                </a:solidFill>
                <a:latin typeface="Malgun Gothic"/>
              </a:rPr>
              <a:t>● </a:t>
            </a:r>
            <a:r>
              <a:rPr sz="1100">
                <a:solidFill>
                  <a:srgbClr val="334155"/>
                </a:solidFill>
                <a:latin typeface="Malgun Gothic"/>
              </a:rPr>
              <a:t>Term discounts (6 months −5%, 12 months −10%) are applied to the amount automatically.</a:t>
            </a:r>
          </a:p>
        </p:txBody>
      </p:sp>
      <p:sp>
        <p:nvSpPr>
          <p:cNvPr id="17" name="Rounded Rectangle 16"/>
          <p:cNvSpPr/>
          <p:nvPr/>
        </p:nvSpPr>
        <p:spPr>
          <a:xfrm>
            <a:off x="457200" y="6592824"/>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638544"/>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Stage 1 (enrol → pay → auto-create sessions) is live today. Later stages will follow.</a:t>
            </a:r>
          </a:p>
        </p:txBody>
      </p:sp>
      <p:sp>
        <p:nvSpPr>
          <p:cNvPr id="19" name="Rounded Rectangle 18"/>
          <p:cNvSpPr/>
          <p:nvPr/>
        </p:nvSpPr>
        <p:spPr>
          <a:xfrm>
            <a:off x="457200" y="7324344"/>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370064"/>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Consultation → level test → send the enrolment link is the smoothest conversion path.</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enroll.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23</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Teacher Management, redesigned (roster filters · groups · detail tabs)</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Easy-to-search roster · detail at a glance</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teacher-management screen is now easier to search and read. Scattered menus are grouped into four bundles in the sidebar, and above the roster there are status/group dropdown filters with applied-filter chips. Tapping a teacher opens a detail view split into Profile / Payroll / Evaluation tabs, with a manager badge and employment status (active / on-leave / left) shown at a glance.</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Open Teachers in the admin menu (menus are tidied into four bundles).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Filter to just the teachers you want with the status/group dropdowns above the roster.</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Applied filters show as chips; remove a chip to clear it.</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Tap a teacher to open the Profile / Payroll / Evaluation detail tabs.</a:t>
            </a:r>
          </a:p>
          <a:p>
            <a:pPr>
              <a:lnSpc>
                <a:spcPct val="115000"/>
              </a:lnSpc>
              <a:spcAft>
                <a:spcPts val="600"/>
              </a:spcAft>
            </a:pPr>
            <a:r>
              <a:rPr sz="1050" b="1">
                <a:solidFill>
                  <a:srgbClr val="E11D48"/>
                </a:solidFill>
                <a:latin typeface="Malgun Gothic"/>
              </a:rPr>
              <a:t>● </a:t>
            </a:r>
            <a:r>
              <a:rPr sz="1250">
                <a:solidFill>
                  <a:srgbClr val="334155"/>
                </a:solidFill>
                <a:latin typeface="Malgun Gothic"/>
              </a:rPr>
              <a:t>The summary numbers on the payroll/evaluation tabs load only as needed when opened.</a:t>
            </a:r>
          </a:p>
        </p:txBody>
      </p:sp>
      <p:sp>
        <p:nvSpPr>
          <p:cNvPr id="14" name="Rounded Rectangle 13"/>
          <p:cNvSpPr/>
          <p:nvPr/>
        </p:nvSpPr>
        <p:spPr>
          <a:xfrm>
            <a:off x="457200" y="5166360"/>
            <a:ext cx="5669280" cy="1627632"/>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5221224"/>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495544"/>
            <a:ext cx="5394960" cy="1261872"/>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Managers are marked with a badge, and status shows as active / on-leave / left (3 states).</a:t>
            </a:r>
          </a:p>
          <a:p>
            <a:pPr>
              <a:lnSpc>
                <a:spcPct val="115000"/>
              </a:lnSpc>
              <a:spcAft>
                <a:spcPts val="200"/>
              </a:spcAft>
            </a:pPr>
            <a:r>
              <a:rPr sz="900" b="1">
                <a:solidFill>
                  <a:srgbClr val="E11D48"/>
                </a:solidFill>
                <a:latin typeface="Malgun Gothic"/>
              </a:rPr>
              <a:t>● </a:t>
            </a:r>
            <a:r>
              <a:rPr sz="1100">
                <a:solidFill>
                  <a:srgbClr val="334155"/>
                </a:solidFill>
                <a:latin typeface="Malgun Gothic"/>
              </a:rPr>
              <a:t>A blank name falls back to the ID, so there are no empty cells.</a:t>
            </a:r>
          </a:p>
          <a:p>
            <a:pPr>
              <a:lnSpc>
                <a:spcPct val="115000"/>
              </a:lnSpc>
              <a:spcAft>
                <a:spcPts val="200"/>
              </a:spcAft>
            </a:pPr>
            <a:r>
              <a:rPr sz="900" b="1">
                <a:solidFill>
                  <a:srgbClr val="E11D48"/>
                </a:solidFill>
                <a:latin typeface="Malgun Gothic"/>
              </a:rPr>
              <a:t>● </a:t>
            </a:r>
            <a:r>
              <a:rPr sz="1100">
                <a:solidFill>
                  <a:srgbClr val="334155"/>
                </a:solidFill>
                <a:latin typeface="Malgun Gothic"/>
              </a:rPr>
              <a:t>Detail tabs reuse existing APIs for speed, and the screen is bilingual (KO/EN).</a:t>
            </a:r>
          </a:p>
          <a:p>
            <a:pPr>
              <a:lnSpc>
                <a:spcPct val="115000"/>
              </a:lnSpc>
              <a:spcAft>
                <a:spcPts val="200"/>
              </a:spcAft>
            </a:pPr>
            <a:r>
              <a:rPr sz="900" b="1">
                <a:solidFill>
                  <a:srgbClr val="E11D48"/>
                </a:solidFill>
                <a:latin typeface="Malgun Gothic"/>
              </a:rPr>
              <a:t>● </a:t>
            </a:r>
            <a:r>
              <a:rPr sz="1100">
                <a:solidFill>
                  <a:srgbClr val="334155"/>
                </a:solidFill>
                <a:latin typeface="Malgun Gothic"/>
              </a:rPr>
              <a:t>The duplicate payroll entry was tidied and bug reports moved to a separate system.</a:t>
            </a:r>
          </a:p>
        </p:txBody>
      </p:sp>
      <p:sp>
        <p:nvSpPr>
          <p:cNvPr id="17" name="Rounded Rectangle 16"/>
          <p:cNvSpPr/>
          <p:nvPr/>
        </p:nvSpPr>
        <p:spPr>
          <a:xfrm>
            <a:off x="457200" y="6903720"/>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949440"/>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This is a filtering/detail cleanup. Registering, editing and deleting teachers works exactly as before.</a:t>
            </a:r>
          </a:p>
        </p:txBody>
      </p:sp>
      <p:sp>
        <p:nvSpPr>
          <p:cNvPr id="19" name="Rounded Rectangle 18"/>
          <p:cNvSpPr/>
          <p:nvPr/>
        </p:nvSpPr>
        <p:spPr>
          <a:xfrm>
            <a:off x="457200" y="7635240"/>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7680960"/>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The more teachers you have, the more the status/group filters help. Keep your usual conditions filtered.</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admin_teachers.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How to Use the Main Features</a:t>
            </a:r>
          </a:p>
        </p:txBody>
      </p:sp>
      <p:sp>
        <p:nvSpPr>
          <p:cNvPr id="6" name="Rounded Rectangle 5"/>
          <p:cNvSpPr/>
          <p:nvPr/>
        </p:nvSpPr>
        <p:spPr>
          <a:xfrm>
            <a:off x="365760" y="822960"/>
            <a:ext cx="868680" cy="868680"/>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22960"/>
            <a:ext cx="868680" cy="868680"/>
          </a:xfrm>
          <a:prstGeom prst="rect">
            <a:avLst/>
          </a:prstGeom>
          <a:noFill/>
        </p:spPr>
        <p:txBody>
          <a:bodyPr wrap="square" anchor="ctr">
            <a:spAutoFit/>
          </a:bodyPr>
          <a:lstStyle/>
          <a:p>
            <a:pPr algn="ctr">
              <a:lnSpc>
                <a:spcPct val="100000"/>
              </a:lnSpc>
            </a:pPr>
            <a:r>
              <a:rPr sz="2600" b="1">
                <a:solidFill>
                  <a:srgbClr val="FFFFFF"/>
                </a:solidFill>
                <a:latin typeface="Malgun Gothic"/>
              </a:rPr>
              <a:t>24</a:t>
            </a:r>
          </a:p>
        </p:txBody>
      </p:sp>
      <p:sp>
        <p:nvSpPr>
          <p:cNvPr id="8" name="TextBox 7"/>
          <p:cNvSpPr txBox="1"/>
          <p:nvPr/>
        </p:nvSpPr>
        <p:spPr>
          <a:xfrm>
            <a:off x="1371600" y="822960"/>
            <a:ext cx="10424160" cy="502920"/>
          </a:xfrm>
          <a:prstGeom prst="rect">
            <a:avLst/>
          </a:prstGeom>
          <a:noFill/>
        </p:spPr>
        <p:txBody>
          <a:bodyPr wrap="square" anchor="t">
            <a:spAutoFit/>
          </a:bodyPr>
          <a:lstStyle/>
          <a:p>
            <a:pPr algn="l">
              <a:lnSpc>
                <a:spcPct val="100000"/>
              </a:lnSpc>
            </a:pPr>
            <a:r>
              <a:rPr sz="2300" b="1">
                <a:solidFill>
                  <a:srgbClr val="1E2340"/>
                </a:solidFill>
                <a:latin typeface="Malgun Gothic"/>
              </a:rPr>
              <a:t>🌟 Sending the Parent Monthly Report (pentagon)</a:t>
            </a:r>
          </a:p>
        </p:txBody>
      </p:sp>
      <p:sp>
        <p:nvSpPr>
          <p:cNvPr id="9" name="TextBox 8"/>
          <p:cNvSpPr txBox="1"/>
          <p:nvPr/>
        </p:nvSpPr>
        <p:spPr>
          <a:xfrm>
            <a:off x="1417320" y="1353312"/>
            <a:ext cx="10424160" cy="320040"/>
          </a:xfrm>
          <a:prstGeom prst="rect">
            <a:avLst/>
          </a:prstGeom>
          <a:noFill/>
        </p:spPr>
        <p:txBody>
          <a:bodyPr wrap="square" anchor="t">
            <a:spAutoFit/>
          </a:bodyPr>
          <a:lstStyle/>
          <a:p>
            <a:pPr algn="l">
              <a:lnSpc>
                <a:spcPct val="100000"/>
              </a:lnSpc>
            </a:pPr>
            <a:r>
              <a:rPr sz="1300" b="0">
                <a:solidFill>
                  <a:srgbClr val="64748B"/>
                </a:solidFill>
                <a:latin typeface="Malgun Gothic"/>
              </a:rPr>
              <a:t>Preview the 5-axis report, then share the link</a:t>
            </a:r>
          </a:p>
        </p:txBody>
      </p:sp>
      <p:sp>
        <p:nvSpPr>
          <p:cNvPr id="10" name="Rounded Rectangle 9"/>
          <p:cNvSpPr/>
          <p:nvPr/>
        </p:nvSpPr>
        <p:spPr>
          <a:xfrm>
            <a:off x="365760" y="1828800"/>
            <a:ext cx="11430000" cy="77724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48640" y="1901952"/>
            <a:ext cx="11064240" cy="640080"/>
          </a:xfrm>
          <a:prstGeom prst="rect">
            <a:avLst/>
          </a:prstGeom>
          <a:noFill/>
        </p:spPr>
        <p:txBody>
          <a:bodyPr wrap="square" anchor="t">
            <a:spAutoFit/>
          </a:bodyPr>
          <a:lstStyle/>
          <a:p>
            <a:pPr algn="l">
              <a:lnSpc>
                <a:spcPct val="115000"/>
              </a:lnSpc>
            </a:pPr>
            <a:r>
              <a:rPr sz="1200" b="0">
                <a:solidFill>
                  <a:srgbClr val="334155"/>
                </a:solidFill>
                <a:latin typeface="Malgun Gothic"/>
              </a:rPr>
              <a:t>The monthly report sent to parents is renewed as a pentagon 5-axis graph — Pronunciation &amp; Fluency / Vocabulary / Sentence Building / Class Attitude / Participation — at a glance, with attendance, judgment and a teacher's note. Admins and teachers enter a student ID and month to preview, then send the KakaoTalk link.</a:t>
            </a:r>
          </a:p>
        </p:txBody>
      </p:sp>
      <p:sp>
        <p:nvSpPr>
          <p:cNvPr id="12" name="TextBox 11"/>
          <p:cNvSpPr txBox="1"/>
          <p:nvPr/>
        </p:nvSpPr>
        <p:spPr>
          <a:xfrm>
            <a:off x="457200" y="2743200"/>
            <a:ext cx="5669280" cy="320040"/>
          </a:xfrm>
          <a:prstGeom prst="rect">
            <a:avLst/>
          </a:prstGeom>
          <a:noFill/>
        </p:spPr>
        <p:txBody>
          <a:bodyPr wrap="square" anchor="t">
            <a:spAutoFit/>
          </a:bodyPr>
          <a:lstStyle/>
          <a:p>
            <a:pPr algn="l">
              <a:lnSpc>
                <a:spcPct val="100000"/>
              </a:lnSpc>
            </a:pPr>
            <a:r>
              <a:rPr sz="1350" b="1">
                <a:solidFill>
                  <a:srgbClr val="E11D48"/>
                </a:solidFill>
                <a:latin typeface="Malgun Gothic"/>
              </a:rPr>
              <a:t>How to use</a:t>
            </a:r>
          </a:p>
        </p:txBody>
      </p:sp>
      <p:sp>
        <p:nvSpPr>
          <p:cNvPr id="13" name="TextBox 12"/>
          <p:cNvSpPr txBox="1"/>
          <p:nvPr/>
        </p:nvSpPr>
        <p:spPr>
          <a:xfrm>
            <a:off x="457200" y="3108960"/>
            <a:ext cx="5669280" cy="2377440"/>
          </a:xfrm>
          <a:prstGeom prst="rect">
            <a:avLst/>
          </a:prstGeom>
          <a:noFill/>
        </p:spPr>
        <p:txBody>
          <a:bodyPr wrap="square">
            <a:spAutoFit/>
          </a:bodyPr>
          <a:lstStyle/>
          <a:p>
            <a:pPr>
              <a:lnSpc>
                <a:spcPct val="115000"/>
              </a:lnSpc>
              <a:spcAft>
                <a:spcPts val="600"/>
              </a:spcAft>
            </a:pPr>
            <a:r>
              <a:rPr sz="1050" b="1">
                <a:solidFill>
                  <a:srgbClr val="E11D48"/>
                </a:solidFill>
                <a:latin typeface="Malgun Gothic"/>
              </a:rPr>
              <a:t>● </a:t>
            </a:r>
            <a:r>
              <a:rPr sz="1250">
                <a:solidFill>
                  <a:srgbClr val="334155"/>
                </a:solidFill>
                <a:latin typeface="Malgun Gothic"/>
              </a:rPr>
              <a:t>Open the Monthly Report screen.</a:t>
            </a:r>
          </a:p>
          <a:p>
            <a:pPr>
              <a:lnSpc>
                <a:spcPct val="115000"/>
              </a:lnSpc>
              <a:spcAft>
                <a:spcPts val="600"/>
              </a:spcAft>
            </a:pPr>
            <a:r>
              <a:rPr sz="1050" b="1">
                <a:solidFill>
                  <a:srgbClr val="E11D48"/>
                </a:solidFill>
                <a:latin typeface="Malgun Gothic"/>
              </a:rPr>
              <a:t>● </a:t>
            </a:r>
            <a:r>
              <a:rPr sz="1250">
                <a:solidFill>
                  <a:srgbClr val="334155"/>
                </a:solidFill>
                <a:latin typeface="Malgun Gothic"/>
              </a:rPr>
              <a:t>Enter a student ID and month, press View Report to preview.</a:t>
            </a:r>
          </a:p>
          <a:p>
            <a:pPr>
              <a:lnSpc>
                <a:spcPct val="115000"/>
              </a:lnSpc>
              <a:spcAft>
                <a:spcPts val="600"/>
              </a:spcAft>
            </a:pPr>
            <a:r>
              <a:rPr sz="1050" b="1">
                <a:solidFill>
                  <a:srgbClr val="E11D48"/>
                </a:solidFill>
                <a:latin typeface="Malgun Gothic"/>
              </a:rPr>
              <a:t>● </a:t>
            </a:r>
            <a:r>
              <a:rPr sz="1250">
                <a:solidFill>
                  <a:srgbClr val="334155"/>
                </a:solidFill>
                <a:latin typeface="Malgun Gothic"/>
              </a:rPr>
              <a:t>Check the pentagon and teacher's note; top up evaluations if needed.</a:t>
            </a:r>
          </a:p>
          <a:p>
            <a:pPr>
              <a:lnSpc>
                <a:spcPct val="115000"/>
              </a:lnSpc>
              <a:spcAft>
                <a:spcPts val="600"/>
              </a:spcAft>
            </a:pPr>
            <a:r>
              <a:rPr sz="1050" b="1">
                <a:solidFill>
                  <a:srgbClr val="E11D48"/>
                </a:solidFill>
                <a:latin typeface="Malgun Gothic"/>
              </a:rPr>
              <a:t>● </a:t>
            </a:r>
            <a:r>
              <a:rPr sz="1250">
                <a:solidFill>
                  <a:srgbClr val="334155"/>
                </a:solidFill>
                <a:latin typeface="Malgun Gothic"/>
              </a:rPr>
              <a:t>Append ?uid=ID&amp;period=YYYY-MM to the URL and send the KakaoTalk link.</a:t>
            </a:r>
          </a:p>
        </p:txBody>
      </p:sp>
      <p:sp>
        <p:nvSpPr>
          <p:cNvPr id="14" name="Rounded Rectangle 13"/>
          <p:cNvSpPr/>
          <p:nvPr/>
        </p:nvSpPr>
        <p:spPr>
          <a:xfrm>
            <a:off x="457200" y="4782312"/>
            <a:ext cx="5669280" cy="1316736"/>
          </a:xfrm>
          <a:prstGeom prst="roundRect">
            <a:avLst/>
          </a:prstGeom>
          <a:solidFill>
            <a:srgbClr val="F4F7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94360" y="4837175"/>
            <a:ext cx="5394960" cy="274320"/>
          </a:xfrm>
          <a:prstGeom prst="rect">
            <a:avLst/>
          </a:prstGeom>
          <a:noFill/>
        </p:spPr>
        <p:txBody>
          <a:bodyPr wrap="square" anchor="t">
            <a:spAutoFit/>
          </a:bodyPr>
          <a:lstStyle/>
          <a:p>
            <a:pPr algn="l">
              <a:lnSpc>
                <a:spcPct val="100000"/>
              </a:lnSpc>
            </a:pPr>
            <a:r>
              <a:rPr sz="1150" b="1">
                <a:solidFill>
                  <a:srgbClr val="E11D48"/>
                </a:solidFill>
                <a:latin typeface="Malgun Gothic"/>
              </a:rPr>
              <a:t>✅ Key Points</a:t>
            </a:r>
          </a:p>
        </p:txBody>
      </p:sp>
      <p:sp>
        <p:nvSpPr>
          <p:cNvPr id="16" name="TextBox 15"/>
          <p:cNvSpPr txBox="1"/>
          <p:nvPr/>
        </p:nvSpPr>
        <p:spPr>
          <a:xfrm>
            <a:off x="594360" y="5111496"/>
            <a:ext cx="5394960" cy="950976"/>
          </a:xfrm>
          <a:prstGeom prst="rect">
            <a:avLst/>
          </a:prstGeom>
          <a:noFill/>
        </p:spPr>
        <p:txBody>
          <a:bodyPr wrap="square">
            <a:spAutoFit/>
          </a:bodyPr>
          <a:lstStyle/>
          <a:p>
            <a:pPr>
              <a:lnSpc>
                <a:spcPct val="115000"/>
              </a:lnSpc>
              <a:spcAft>
                <a:spcPts val="200"/>
              </a:spcAft>
            </a:pPr>
            <a:r>
              <a:rPr sz="900" b="1">
                <a:solidFill>
                  <a:srgbClr val="E11D48"/>
                </a:solidFill>
                <a:latin typeface="Malgun Gothic"/>
              </a:rPr>
              <a:t>● </a:t>
            </a:r>
            <a:r>
              <a:rPr sz="1100">
                <a:solidFill>
                  <a:srgbClr val="334155"/>
                </a:solidFill>
                <a:latin typeface="Malgun Gothic"/>
              </a:rPr>
              <a:t>Only axes with real records are filled, so it's trustworthy.</a:t>
            </a:r>
          </a:p>
          <a:p>
            <a:pPr>
              <a:lnSpc>
                <a:spcPct val="115000"/>
              </a:lnSpc>
              <a:spcAft>
                <a:spcPts val="200"/>
              </a:spcAft>
            </a:pPr>
            <a:r>
              <a:rPr sz="900" b="1">
                <a:solidFill>
                  <a:srgbClr val="E11D48"/>
                </a:solidFill>
                <a:latin typeface="Malgun Gothic"/>
              </a:rPr>
              <a:t>● </a:t>
            </a:r>
            <a:r>
              <a:rPr sz="1100">
                <a:solidFill>
                  <a:srgbClr val="334155"/>
                </a:solidFill>
                <a:latin typeface="Malgun Gothic"/>
              </a:rPr>
              <a:t>Compiled on a two-month cycle — conveys change without tiring parents.</a:t>
            </a:r>
          </a:p>
          <a:p>
            <a:pPr>
              <a:lnSpc>
                <a:spcPct val="115000"/>
              </a:lnSpc>
              <a:spcAft>
                <a:spcPts val="200"/>
              </a:spcAft>
            </a:pPr>
            <a:r>
              <a:rPr sz="900" b="1">
                <a:solidFill>
                  <a:srgbClr val="E11D48"/>
                </a:solidFill>
                <a:latin typeface="Malgun Gothic"/>
              </a:rPr>
              <a:t>● </a:t>
            </a:r>
            <a:r>
              <a:rPr sz="1100">
                <a:solidFill>
                  <a:srgbClr val="334155"/>
                </a:solidFill>
                <a:latin typeface="Malgun Gothic"/>
              </a:rPr>
              <a:t>The Print/PDF button makes a paper report for consultations instantly.</a:t>
            </a:r>
          </a:p>
        </p:txBody>
      </p:sp>
      <p:sp>
        <p:nvSpPr>
          <p:cNvPr id="17" name="Rounded Rectangle 16"/>
          <p:cNvSpPr/>
          <p:nvPr/>
        </p:nvSpPr>
        <p:spPr>
          <a:xfrm>
            <a:off x="457200" y="6208775"/>
            <a:ext cx="5669280" cy="640080"/>
          </a:xfrm>
          <a:prstGeom prst="roundRect">
            <a:avLst/>
          </a:prstGeom>
          <a:solidFill>
            <a:srgbClr val="FFFBEB"/>
          </a:solidFill>
          <a:ln w="12700">
            <a:solidFill>
              <a:srgbClr val="F59E0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94360" y="6254495"/>
            <a:ext cx="5394960" cy="548640"/>
          </a:xfrm>
          <a:prstGeom prst="rect">
            <a:avLst/>
          </a:prstGeom>
          <a:noFill/>
        </p:spPr>
        <p:txBody>
          <a:bodyPr wrap="square" anchor="t">
            <a:spAutoFit/>
          </a:bodyPr>
          <a:lstStyle/>
          <a:p>
            <a:pPr algn="l">
              <a:lnSpc>
                <a:spcPct val="105000"/>
              </a:lnSpc>
            </a:pPr>
            <a:r>
              <a:rPr sz="1050" b="0">
                <a:solidFill>
                  <a:srgbClr val="92670A"/>
                </a:solidFill>
                <a:latin typeface="Malgun Gothic"/>
              </a:rPr>
              <a:t>⚠️ Good to know · Report access passes an approval gate — admins via their login session, parents only via the issued link (token).</a:t>
            </a:r>
          </a:p>
        </p:txBody>
      </p:sp>
      <p:sp>
        <p:nvSpPr>
          <p:cNvPr id="19" name="Rounded Rectangle 18"/>
          <p:cNvSpPr/>
          <p:nvPr/>
        </p:nvSpPr>
        <p:spPr>
          <a:xfrm>
            <a:off x="457200" y="6940295"/>
            <a:ext cx="5669280" cy="658368"/>
          </a:xfrm>
          <a:prstGeom prst="roundRect">
            <a:avLst/>
          </a:prstGeom>
          <a:solidFill>
            <a:srgbClr val="FFF7E6"/>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94360" y="6986015"/>
            <a:ext cx="5394960" cy="566928"/>
          </a:xfrm>
          <a:prstGeom prst="rect">
            <a:avLst/>
          </a:prstGeom>
          <a:noFill/>
        </p:spPr>
        <p:txBody>
          <a:bodyPr wrap="square" anchor="t">
            <a:spAutoFit/>
          </a:bodyPr>
          <a:lstStyle/>
          <a:p>
            <a:pPr algn="l">
              <a:lnSpc>
                <a:spcPct val="105000"/>
              </a:lnSpc>
            </a:pPr>
            <a:r>
              <a:rPr sz="1050" b="0">
                <a:solidFill>
                  <a:srgbClr val="5B4A2A"/>
                </a:solidFill>
                <a:latin typeface="Malgun Gothic"/>
              </a:rPr>
              <a:t>💡 Tip · Sending the report link ahead of a booked consultation makes the meeting much smoother.</a:t>
            </a:r>
          </a:p>
        </p:txBody>
      </p:sp>
      <p:sp>
        <p:nvSpPr>
          <p:cNvPr id="21" name="Rectangle 20"/>
          <p:cNvSpPr/>
          <p:nvPr/>
        </p:nvSpPr>
        <p:spPr>
          <a:xfrm>
            <a:off x="6300216" y="2345436"/>
            <a:ext cx="5596128" cy="3538728"/>
          </a:xfrm>
          <a:prstGeom prst="rect">
            <a:avLst/>
          </a:prstGeom>
          <a:solidFill>
            <a:srgbClr val="FFFFFF"/>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2" name="Picture 21" descr="student_report_pentagon.jpg"/>
          <p:cNvPicPr>
            <a:picLocks noChangeAspect="1"/>
          </p:cNvPicPr>
          <p:nvPr/>
        </p:nvPicPr>
        <p:blipFill>
          <a:blip r:embed="rId2"/>
          <a:stretch>
            <a:fillRect/>
          </a:stretch>
        </p:blipFill>
        <p:spPr>
          <a:xfrm>
            <a:off x="6355080" y="2400300"/>
            <a:ext cx="5486400" cy="3429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Feature Summary · Data</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25</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Agency Features at a Glance</a:t>
            </a:r>
          </a:p>
        </p:txBody>
      </p:sp>
      <p:graphicFrame>
        <p:nvGraphicFramePr>
          <p:cNvPr id="9" name="Table 8"/>
          <p:cNvGraphicFramePr>
            <a:graphicFrameLocks noGrp="1"/>
          </p:cNvGraphicFramePr>
          <p:nvPr/>
        </p:nvGraphicFramePr>
        <p:xfrm>
          <a:off x="365760" y="1463040"/>
          <a:ext cx="11460175" cy="4572000"/>
        </p:xfrm>
        <a:graphic>
          <a:graphicData uri="http://schemas.openxmlformats.org/drawingml/2006/table">
            <a:tbl>
              <a:tblPr firstRow="1" bandRow="1">
                <a:tableStyleId>{5C22544A-7EE6-4342-B048-85BDC9FD1C3A}</a:tableStyleId>
              </a:tblPr>
              <a:tblGrid>
                <a:gridCol w="2865043"/>
                <a:gridCol w="2865043"/>
                <a:gridCol w="2865043"/>
                <a:gridCol w="2865046"/>
              </a:tblGrid>
              <a:tr h="508000">
                <a:tc>
                  <a:txBody>
                    <a:bodyPr/>
                    <a:lstStyle/>
                    <a:p>
                      <a:pPr algn="ctr"/>
                      <a:r>
                        <a:rPr sz="1300" b="1">
                          <a:solidFill>
                            <a:srgbClr val="FFFFFF"/>
                          </a:solidFill>
                          <a:latin typeface="Malgun Gothic"/>
                        </a:rPr>
                        <a:t>Feature</a:t>
                      </a:r>
                    </a:p>
                  </a:txBody>
                  <a:tcPr>
                    <a:solidFill>
                      <a:srgbClr val="E11D48"/>
                    </a:solidFill>
                  </a:tcPr>
                </a:tc>
                <a:tc>
                  <a:txBody>
                    <a:bodyPr/>
                    <a:lstStyle/>
                    <a:p>
                      <a:pPr algn="ctr"/>
                      <a:r>
                        <a:rPr sz="1300" b="1">
                          <a:solidFill>
                            <a:srgbClr val="FFFFFF"/>
                          </a:solidFill>
                          <a:latin typeface="Malgun Gothic"/>
                        </a:rPr>
                        <a:t>What it does</a:t>
                      </a:r>
                    </a:p>
                  </a:txBody>
                  <a:tcPr>
                    <a:solidFill>
                      <a:srgbClr val="E11D48"/>
                    </a:solidFill>
                  </a:tcPr>
                </a:tc>
                <a:tc>
                  <a:txBody>
                    <a:bodyPr/>
                    <a:lstStyle/>
                    <a:p>
                      <a:pPr algn="ctr"/>
                      <a:r>
                        <a:rPr sz="1300" b="1">
                          <a:solidFill>
                            <a:srgbClr val="FFFFFF"/>
                          </a:solidFill>
                          <a:latin typeface="Malgun Gothic"/>
                        </a:rPr>
                        <a:t>When</a:t>
                      </a:r>
                    </a:p>
                  </a:txBody>
                  <a:tcPr>
                    <a:solidFill>
                      <a:srgbClr val="E11D48"/>
                    </a:solidFill>
                  </a:tcPr>
                </a:tc>
                <a:tc>
                  <a:txBody>
                    <a:bodyPr/>
                    <a:lstStyle/>
                    <a:p>
                      <a:pPr algn="ctr"/>
                      <a:r>
                        <a:rPr sz="1300" b="1">
                          <a:solidFill>
                            <a:srgbClr val="FFFFFF"/>
                          </a:solidFill>
                          <a:latin typeface="Malgun Gothic"/>
                        </a:rPr>
                        <a:t>Core benefit</a:t>
                      </a:r>
                    </a:p>
                  </a:txBody>
                  <a:tcPr>
                    <a:solidFill>
                      <a:srgbClr val="E11D48"/>
                    </a:solidFill>
                  </a:tcPr>
                </a:tc>
              </a:tr>
              <a:tr h="508000">
                <a:tc>
                  <a:txBody>
                    <a:bodyPr/>
                    <a:lstStyle/>
                    <a:p>
                      <a:pPr algn="l"/>
                      <a:r>
                        <a:rPr sz="1200" b="1">
                          <a:solidFill>
                            <a:srgbClr val="334155"/>
                          </a:solidFill>
                          <a:latin typeface="Malgun Gothic"/>
                        </a:rPr>
                        <a:t>Dashboard</a:t>
                      </a:r>
                    </a:p>
                  </a:txBody>
                  <a:tcPr>
                    <a:solidFill>
                      <a:srgbClr val="FFFFFF"/>
                    </a:solidFill>
                  </a:tcPr>
                </a:tc>
                <a:tc>
                  <a:txBody>
                    <a:bodyPr/>
                    <a:lstStyle/>
                    <a:p>
                      <a:pPr algn="ctr"/>
                      <a:r>
                        <a:rPr sz="1200">
                          <a:solidFill>
                            <a:srgbClr val="334155"/>
                          </a:solidFill>
                          <a:latin typeface="Malgun Gothic"/>
                        </a:rPr>
                        <a:t>Revenue·enrollment·today</a:t>
                      </a:r>
                    </a:p>
                  </a:txBody>
                  <a:tcPr>
                    <a:solidFill>
                      <a:srgbClr val="FFFFFF"/>
                    </a:solidFill>
                  </a:tcPr>
                </a:tc>
                <a:tc>
                  <a:txBody>
                    <a:bodyPr/>
                    <a:lstStyle/>
                    <a:p>
                      <a:pPr algn="ctr"/>
                      <a:r>
                        <a:rPr sz="1200">
                          <a:solidFill>
                            <a:srgbClr val="334155"/>
                          </a:solidFill>
                          <a:latin typeface="Malgun Gothic"/>
                        </a:rPr>
                        <a:t>Every morning</a:t>
                      </a:r>
                    </a:p>
                  </a:txBody>
                  <a:tcPr>
                    <a:solidFill>
                      <a:srgbClr val="FFFFFF"/>
                    </a:solidFill>
                  </a:tcPr>
                </a:tc>
                <a:tc>
                  <a:txBody>
                    <a:bodyPr/>
                    <a:lstStyle/>
                    <a:p>
                      <a:pPr algn="ctr"/>
                      <a:r>
                        <a:rPr sz="1200">
                          <a:solidFill>
                            <a:srgbClr val="334155"/>
                          </a:solidFill>
                          <a:latin typeface="Malgun Gothic"/>
                        </a:rPr>
                        <a:t>Quick read</a:t>
                      </a:r>
                    </a:p>
                  </a:txBody>
                  <a:tcPr>
                    <a:solidFill>
                      <a:srgbClr val="FFFFFF"/>
                    </a:solidFill>
                  </a:tcPr>
                </a:tc>
              </a:tr>
              <a:tr h="508000">
                <a:tc>
                  <a:txBody>
                    <a:bodyPr/>
                    <a:lstStyle/>
                    <a:p>
                      <a:pPr algn="l"/>
                      <a:r>
                        <a:rPr sz="1200" b="1">
                          <a:solidFill>
                            <a:srgbClr val="334155"/>
                          </a:solidFill>
                          <a:latin typeface="Malgun Gothic"/>
                        </a:rPr>
                        <a:t>Student mgmt</a:t>
                      </a:r>
                    </a:p>
                  </a:txBody>
                  <a:tcPr>
                    <a:solidFill>
                      <a:srgbClr val="F8FAFC"/>
                    </a:solidFill>
                  </a:tcPr>
                </a:tc>
                <a:tc>
                  <a:txBody>
                    <a:bodyPr/>
                    <a:lstStyle/>
                    <a:p>
                      <a:pPr algn="ctr"/>
                      <a:r>
                        <a:rPr sz="1200">
                          <a:solidFill>
                            <a:srgbClr val="334155"/>
                          </a:solidFill>
                          <a:latin typeface="Malgun Gothic"/>
                        </a:rPr>
                        <a:t>Recruit·enroll·history</a:t>
                      </a:r>
                    </a:p>
                  </a:txBody>
                  <a:tcPr>
                    <a:solidFill>
                      <a:srgbClr val="F8FAFC"/>
                    </a:solidFill>
                  </a:tcPr>
                </a:tc>
                <a:tc>
                  <a:txBody>
                    <a:bodyPr/>
                    <a:lstStyle/>
                    <a:p>
                      <a:pPr algn="ctr"/>
                      <a:r>
                        <a:rPr sz="1200">
                          <a:solidFill>
                            <a:srgbClr val="334155"/>
                          </a:solidFill>
                          <a:latin typeface="Malgun Gothic"/>
                        </a:rPr>
                        <a:t>Always</a:t>
                      </a:r>
                    </a:p>
                  </a:txBody>
                  <a:tcPr>
                    <a:solidFill>
                      <a:srgbClr val="F8FAFC"/>
                    </a:solidFill>
                  </a:tcPr>
                </a:tc>
                <a:tc>
                  <a:txBody>
                    <a:bodyPr/>
                    <a:lstStyle/>
                    <a:p>
                      <a:pPr algn="ctr"/>
                      <a:r>
                        <a:rPr sz="1200">
                          <a:solidFill>
                            <a:srgbClr val="334155"/>
                          </a:solidFill>
                          <a:latin typeface="Malgun Gothic"/>
                        </a:rPr>
                        <a:t>Grow enrollment</a:t>
                      </a:r>
                    </a:p>
                  </a:txBody>
                  <a:tcPr>
                    <a:solidFill>
                      <a:srgbClr val="F8FAFC"/>
                    </a:solidFill>
                  </a:tcPr>
                </a:tc>
              </a:tr>
              <a:tr h="508000">
                <a:tc>
                  <a:txBody>
                    <a:bodyPr/>
                    <a:lstStyle/>
                    <a:p>
                      <a:pPr algn="l"/>
                      <a:r>
                        <a:rPr sz="1200" b="1">
                          <a:solidFill>
                            <a:srgbClr val="334155"/>
                          </a:solidFill>
                          <a:latin typeface="Malgun Gothic"/>
                        </a:rPr>
                        <a:t>Parent comm</a:t>
                      </a:r>
                    </a:p>
                  </a:txBody>
                  <a:tcPr>
                    <a:solidFill>
                      <a:srgbClr val="FFFFFF"/>
                    </a:solidFill>
                  </a:tcPr>
                </a:tc>
                <a:tc>
                  <a:txBody>
                    <a:bodyPr/>
                    <a:lstStyle/>
                    <a:p>
                      <a:pPr algn="ctr"/>
                      <a:r>
                        <a:rPr sz="1200">
                          <a:solidFill>
                            <a:srgbClr val="334155"/>
                          </a:solidFill>
                          <a:latin typeface="Malgun Gothic"/>
                        </a:rPr>
                        <a:t>Guide My Page</a:t>
                      </a:r>
                    </a:p>
                  </a:txBody>
                  <a:tcPr>
                    <a:solidFill>
                      <a:srgbClr val="FFFFFF"/>
                    </a:solidFill>
                  </a:tcPr>
                </a:tc>
                <a:tc>
                  <a:txBody>
                    <a:bodyPr/>
                    <a:lstStyle/>
                    <a:p>
                      <a:pPr algn="ctr"/>
                      <a:r>
                        <a:rPr sz="1200">
                          <a:solidFill>
                            <a:srgbClr val="334155"/>
                          </a:solidFill>
                          <a:latin typeface="Malgun Gothic"/>
                        </a:rPr>
                        <a:t>Enroll·re-enroll</a:t>
                      </a:r>
                    </a:p>
                  </a:txBody>
                  <a:tcPr>
                    <a:solidFill>
                      <a:srgbClr val="FFFFFF"/>
                    </a:solidFill>
                  </a:tcPr>
                </a:tc>
                <a:tc>
                  <a:txBody>
                    <a:bodyPr/>
                    <a:lstStyle/>
                    <a:p>
                      <a:pPr algn="ctr"/>
                      <a:r>
                        <a:rPr sz="1200">
                          <a:solidFill>
                            <a:srgbClr val="334155"/>
                          </a:solidFill>
                          <a:latin typeface="Malgun Gothic"/>
                        </a:rPr>
                        <a:t>Satisfaction ↑</a:t>
                      </a:r>
                    </a:p>
                  </a:txBody>
                  <a:tcPr>
                    <a:solidFill>
                      <a:srgbClr val="FFFFFF"/>
                    </a:solidFill>
                  </a:tcPr>
                </a:tc>
              </a:tr>
              <a:tr h="508000">
                <a:tc>
                  <a:txBody>
                    <a:bodyPr/>
                    <a:lstStyle/>
                    <a:p>
                      <a:pPr algn="l"/>
                      <a:r>
                        <a:rPr sz="1200" b="1">
                          <a:solidFill>
                            <a:srgbClr val="334155"/>
                          </a:solidFill>
                          <a:latin typeface="Malgun Gothic"/>
                        </a:rPr>
                        <a:t>Booking</a:t>
                      </a:r>
                    </a:p>
                  </a:txBody>
                  <a:tcPr>
                    <a:solidFill>
                      <a:srgbClr val="F8FAFC"/>
                    </a:solidFill>
                  </a:tcPr>
                </a:tc>
                <a:tc>
                  <a:txBody>
                    <a:bodyPr/>
                    <a:lstStyle/>
                    <a:p>
                      <a:pPr algn="ctr"/>
                      <a:r>
                        <a:rPr sz="1200">
                          <a:solidFill>
                            <a:srgbClr val="334155"/>
                          </a:solidFill>
                          <a:latin typeface="Malgun Gothic"/>
                        </a:rPr>
                        <a:t>Schedule·teacher</a:t>
                      </a:r>
                    </a:p>
                  </a:txBody>
                  <a:tcPr>
                    <a:solidFill>
                      <a:srgbClr val="F8FAFC"/>
                    </a:solidFill>
                  </a:tcPr>
                </a:tc>
                <a:tc>
                  <a:txBody>
                    <a:bodyPr/>
                    <a:lstStyle/>
                    <a:p>
                      <a:pPr algn="ctr"/>
                      <a:r>
                        <a:rPr sz="1200">
                          <a:solidFill>
                            <a:srgbClr val="334155"/>
                          </a:solidFill>
                          <a:latin typeface="Malgun Gothic"/>
                        </a:rPr>
                        <a:t>Assigning lessons</a:t>
                      </a:r>
                    </a:p>
                  </a:txBody>
                  <a:tcPr>
                    <a:solidFill>
                      <a:srgbClr val="F8FAFC"/>
                    </a:solidFill>
                  </a:tcPr>
                </a:tc>
                <a:tc>
                  <a:txBody>
                    <a:bodyPr/>
                    <a:lstStyle/>
                    <a:p>
                      <a:pPr algn="ctr"/>
                      <a:r>
                        <a:rPr sz="1200">
                          <a:solidFill>
                            <a:srgbClr val="334155"/>
                          </a:solidFill>
                          <a:latin typeface="Malgun Gothic"/>
                        </a:rPr>
                        <a:t>Smooth flow</a:t>
                      </a:r>
                    </a:p>
                  </a:txBody>
                  <a:tcPr>
                    <a:solidFill>
                      <a:srgbClr val="F8FAFC"/>
                    </a:solidFill>
                  </a:tcPr>
                </a:tc>
              </a:tr>
              <a:tr h="508000">
                <a:tc>
                  <a:txBody>
                    <a:bodyPr/>
                    <a:lstStyle/>
                    <a:p>
                      <a:pPr algn="l"/>
                      <a:r>
                        <a:rPr sz="1200" b="1">
                          <a:solidFill>
                            <a:srgbClr val="334155"/>
                          </a:solidFill>
                          <a:latin typeface="Malgun Gothic"/>
                        </a:rPr>
                        <a:t>Payments</a:t>
                      </a:r>
                    </a:p>
                  </a:txBody>
                  <a:tcPr>
                    <a:solidFill>
                      <a:srgbClr val="FFFFFF"/>
                    </a:solidFill>
                  </a:tcPr>
                </a:tc>
                <a:tc>
                  <a:txBody>
                    <a:bodyPr/>
                    <a:lstStyle/>
                    <a:p>
                      <a:pPr algn="ctr"/>
                      <a:r>
                        <a:rPr sz="1200">
                          <a:solidFill>
                            <a:srgbClr val="334155"/>
                          </a:solidFill>
                          <a:latin typeface="Malgun Gothic"/>
                        </a:rPr>
                        <a:t>Payments·overdue·refunds</a:t>
                      </a:r>
                    </a:p>
                  </a:txBody>
                  <a:tcPr>
                    <a:solidFill>
                      <a:srgbClr val="FFFFFF"/>
                    </a:solidFill>
                  </a:tcPr>
                </a:tc>
                <a:tc>
                  <a:txBody>
                    <a:bodyPr/>
                    <a:lstStyle/>
                    <a:p>
                      <a:pPr algn="ctr"/>
                      <a:r>
                        <a:rPr sz="1200">
                          <a:solidFill>
                            <a:srgbClr val="334155"/>
                          </a:solidFill>
                          <a:latin typeface="Malgun Gothic"/>
                        </a:rPr>
                        <a:t>Collection</a:t>
                      </a:r>
                    </a:p>
                  </a:txBody>
                  <a:tcPr>
                    <a:solidFill>
                      <a:srgbClr val="FFFFFF"/>
                    </a:solidFill>
                  </a:tcPr>
                </a:tc>
                <a:tc>
                  <a:txBody>
                    <a:bodyPr/>
                    <a:lstStyle/>
                    <a:p>
                      <a:pPr algn="ctr"/>
                      <a:r>
                        <a:rPr sz="1200">
                          <a:solidFill>
                            <a:srgbClr val="334155"/>
                          </a:solidFill>
                          <a:latin typeface="Malgun Gothic"/>
                        </a:rPr>
                        <a:t>Stable revenue</a:t>
                      </a:r>
                    </a:p>
                  </a:txBody>
                  <a:tcPr>
                    <a:solidFill>
                      <a:srgbClr val="FFFFFF"/>
                    </a:solidFill>
                  </a:tcPr>
                </a:tc>
              </a:tr>
              <a:tr h="508000">
                <a:tc>
                  <a:txBody>
                    <a:bodyPr/>
                    <a:lstStyle/>
                    <a:p>
                      <a:pPr algn="l"/>
                      <a:r>
                        <a:rPr sz="1200" b="1">
                          <a:solidFill>
                            <a:srgbClr val="334155"/>
                          </a:solidFill>
                          <a:latin typeface="Malgun Gothic"/>
                        </a:rPr>
                        <a:t>Reports</a:t>
                      </a:r>
                    </a:p>
                  </a:txBody>
                  <a:tcPr>
                    <a:solidFill>
                      <a:srgbClr val="F8FAFC"/>
                    </a:solidFill>
                  </a:tcPr>
                </a:tc>
                <a:tc>
                  <a:txBody>
                    <a:bodyPr/>
                    <a:lstStyle/>
                    <a:p>
                      <a:pPr algn="ctr"/>
                      <a:r>
                        <a:rPr sz="1200">
                          <a:solidFill>
                            <a:srgbClr val="334155"/>
                          </a:solidFill>
                          <a:latin typeface="Malgun Gothic"/>
                        </a:rPr>
                        <a:t>Learning performance</a:t>
                      </a:r>
                    </a:p>
                  </a:txBody>
                  <a:tcPr>
                    <a:solidFill>
                      <a:srgbClr val="F8FAFC"/>
                    </a:solidFill>
                  </a:tcPr>
                </a:tc>
                <a:tc>
                  <a:txBody>
                    <a:bodyPr/>
                    <a:lstStyle/>
                    <a:p>
                      <a:pPr algn="ctr"/>
                      <a:r>
                        <a:rPr sz="1200">
                          <a:solidFill>
                            <a:srgbClr val="334155"/>
                          </a:solidFill>
                          <a:latin typeface="Malgun Gothic"/>
                        </a:rPr>
                        <a:t>Counsel·re-enroll</a:t>
                      </a:r>
                    </a:p>
                  </a:txBody>
                  <a:tcPr>
                    <a:solidFill>
                      <a:srgbClr val="F8FAFC"/>
                    </a:solidFill>
                  </a:tcPr>
                </a:tc>
                <a:tc>
                  <a:txBody>
                    <a:bodyPr/>
                    <a:lstStyle/>
                    <a:p>
                      <a:pPr algn="ctr"/>
                      <a:r>
                        <a:rPr sz="1200">
                          <a:solidFill>
                            <a:srgbClr val="334155"/>
                          </a:solidFill>
                          <a:latin typeface="Malgun Gothic"/>
                        </a:rPr>
                        <a:t>Persuasion ↑</a:t>
                      </a:r>
                    </a:p>
                  </a:txBody>
                  <a:tcPr>
                    <a:solidFill>
                      <a:srgbClr val="F8FAFC"/>
                    </a:solidFill>
                  </a:tcPr>
                </a:tc>
              </a:tr>
              <a:tr h="508000">
                <a:tc>
                  <a:txBody>
                    <a:bodyPr/>
                    <a:lstStyle/>
                    <a:p>
                      <a:pPr algn="l"/>
                      <a:r>
                        <a:rPr sz="1200" b="1">
                          <a:solidFill>
                            <a:srgbClr val="334155"/>
                          </a:solidFill>
                          <a:latin typeface="Malgun Gothic"/>
                        </a:rPr>
                        <a:t>Settlement</a:t>
                      </a:r>
                    </a:p>
                  </a:txBody>
                  <a:tcPr>
                    <a:solidFill>
                      <a:srgbClr val="FFFFFF"/>
                    </a:solidFill>
                  </a:tcPr>
                </a:tc>
                <a:tc>
                  <a:txBody>
                    <a:bodyPr/>
                    <a:lstStyle/>
                    <a:p>
                      <a:pPr algn="ctr"/>
                      <a:r>
                        <a:rPr sz="1200">
                          <a:solidFill>
                            <a:srgbClr val="334155"/>
                          </a:solidFill>
                          <a:latin typeface="Malgun Gothic"/>
                        </a:rPr>
                        <a:t>Receive branch→agency</a:t>
                      </a:r>
                    </a:p>
                  </a:txBody>
                  <a:tcPr>
                    <a:solidFill>
                      <a:srgbClr val="FFFFFF"/>
                    </a:solidFill>
                  </a:tcPr>
                </a:tc>
                <a:tc>
                  <a:txBody>
                    <a:bodyPr/>
                    <a:lstStyle/>
                    <a:p>
                      <a:pPr algn="ctr"/>
                      <a:r>
                        <a:rPr sz="1200">
                          <a:solidFill>
                            <a:srgbClr val="334155"/>
                          </a:solidFill>
                          <a:latin typeface="Malgun Gothic"/>
                        </a:rPr>
                        <a:t>Monthly</a:t>
                      </a:r>
                    </a:p>
                  </a:txBody>
                  <a:tcPr>
                    <a:solidFill>
                      <a:srgbClr val="FFFFFF"/>
                    </a:solidFill>
                  </a:tcPr>
                </a:tc>
                <a:tc>
                  <a:txBody>
                    <a:bodyPr/>
                    <a:lstStyle/>
                    <a:p>
                      <a:pPr algn="ctr"/>
                      <a:r>
                        <a:rPr sz="1200">
                          <a:solidFill>
                            <a:srgbClr val="334155"/>
                          </a:solidFill>
                          <a:latin typeface="Malgun Gothic"/>
                        </a:rPr>
                        <a:t>Transparent profit</a:t>
                      </a:r>
                    </a:p>
                  </a:txBody>
                  <a:tcPr>
                    <a:solidFill>
                      <a:srgbClr val="FFFFFF"/>
                    </a:solidFill>
                  </a:tcPr>
                </a:tc>
              </a:tr>
              <a:tr h="508000">
                <a:tc>
                  <a:txBody>
                    <a:bodyPr/>
                    <a:lstStyle/>
                    <a:p>
                      <a:pPr algn="l"/>
                      <a:r>
                        <a:rPr sz="1200" b="1">
                          <a:solidFill>
                            <a:srgbClr val="334155"/>
                          </a:solidFill>
                          <a:latin typeface="Malgun Gothic"/>
                        </a:rPr>
                        <a:t>Retention</a:t>
                      </a:r>
                    </a:p>
                  </a:txBody>
                  <a:tcPr>
                    <a:solidFill>
                      <a:srgbClr val="F8FAFC"/>
                    </a:solidFill>
                  </a:tcPr>
                </a:tc>
                <a:tc>
                  <a:txBody>
                    <a:bodyPr/>
                    <a:lstStyle/>
                    <a:p>
                      <a:pPr algn="ctr"/>
                      <a:r>
                        <a:rPr sz="1200">
                          <a:solidFill>
                            <a:srgbClr val="334155"/>
                          </a:solidFill>
                          <a:latin typeface="Malgun Gothic"/>
                        </a:rPr>
                        <a:t>Care for at-risk</a:t>
                      </a:r>
                    </a:p>
                  </a:txBody>
                  <a:tcPr>
                    <a:solidFill>
                      <a:srgbClr val="F8FAFC"/>
                    </a:solidFill>
                  </a:tcPr>
                </a:tc>
                <a:tc>
                  <a:txBody>
                    <a:bodyPr/>
                    <a:lstStyle/>
                    <a:p>
                      <a:pPr algn="ctr"/>
                      <a:r>
                        <a:rPr sz="1200">
                          <a:solidFill>
                            <a:srgbClr val="334155"/>
                          </a:solidFill>
                          <a:latin typeface="Malgun Gothic"/>
                        </a:rPr>
                        <a:t>Always</a:t>
                      </a:r>
                    </a:p>
                  </a:txBody>
                  <a:tcPr>
                    <a:solidFill>
                      <a:srgbClr val="F8FAFC"/>
                    </a:solidFill>
                  </a:tcPr>
                </a:tc>
                <a:tc>
                  <a:txBody>
                    <a:bodyPr/>
                    <a:lstStyle/>
                    <a:p>
                      <a:pPr algn="ctr"/>
                      <a:r>
                        <a:rPr sz="1200">
                          <a:solidFill>
                            <a:srgbClr val="334155"/>
                          </a:solidFill>
                          <a:latin typeface="Malgun Gothic"/>
                        </a:rPr>
                        <a:t>Retention ↑</a:t>
                      </a:r>
                    </a:p>
                  </a:txBody>
                  <a:tcPr>
                    <a:solidFill>
                      <a:srgbClr val="F8FAFC"/>
                    </a:solidFill>
                  </a:tcPr>
                </a:tc>
              </a:tr>
            </a:tbl>
          </a:graphicData>
        </a:graphic>
      </p:graphicFrame>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Data at a Glance</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26</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Data at a Glance</a:t>
            </a:r>
          </a:p>
        </p:txBody>
      </p:sp>
      <p:sp>
        <p:nvSpPr>
          <p:cNvPr id="9" name="TextBox 8"/>
          <p:cNvSpPr txBox="1"/>
          <p:nvPr/>
        </p:nvSpPr>
        <p:spPr>
          <a:xfrm>
            <a:off x="45720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Enrollment Trend (example)</a:t>
            </a:r>
          </a:p>
        </p:txBody>
      </p:sp>
      <p:graphicFrame>
        <p:nvGraphicFramePr>
          <p:cNvPr id="10" name="Chart 9"/>
          <p:cNvGraphicFramePr>
            <a:graphicFrameLocks noGrp="1"/>
          </p:cNvGraphicFramePr>
          <p:nvPr/>
        </p:nvGraphicFramePr>
        <p:xfrm>
          <a:off x="457200" y="1920240"/>
          <a:ext cx="5486400" cy="4206240"/>
        </p:xfrm>
        <a:graphic>
          <a:graphicData uri="http://schemas.openxmlformats.org/drawingml/2006/chart">
            <c:chart xmlns:c="http://schemas.openxmlformats.org/drawingml/2006/chart" r:id="rId2"/>
          </a:graphicData>
        </a:graphic>
      </p:graphicFrame>
      <p:sp>
        <p:nvSpPr>
          <p:cNvPr id="11" name="TextBox 10"/>
          <p:cNvSpPr txBox="1"/>
          <p:nvPr/>
        </p:nvSpPr>
        <p:spPr>
          <a:xfrm>
            <a:off x="6309360" y="1554480"/>
            <a:ext cx="5486400" cy="365760"/>
          </a:xfrm>
          <a:prstGeom prst="rect">
            <a:avLst/>
          </a:prstGeom>
          <a:noFill/>
        </p:spPr>
        <p:txBody>
          <a:bodyPr wrap="square" anchor="t">
            <a:spAutoFit/>
          </a:bodyPr>
          <a:lstStyle/>
          <a:p>
            <a:pPr algn="l">
              <a:lnSpc>
                <a:spcPct val="100000"/>
              </a:lnSpc>
            </a:pPr>
            <a:r>
              <a:rPr sz="1400" b="1">
                <a:solidFill>
                  <a:srgbClr val="1E2340"/>
                </a:solidFill>
                <a:latin typeface="Malgun Gothic"/>
              </a:rPr>
              <a:t>Churn-risk Distribution (example)</a:t>
            </a:r>
          </a:p>
        </p:txBody>
      </p:sp>
      <p:graphicFrame>
        <p:nvGraphicFramePr>
          <p:cNvPr id="12" name="Chart 11"/>
          <p:cNvGraphicFramePr>
            <a:graphicFrameLocks noGrp="1"/>
          </p:cNvGraphicFramePr>
          <p:nvPr/>
        </p:nvGraphicFramePr>
        <p:xfrm>
          <a:off x="6309360" y="1920240"/>
          <a:ext cx="5486400" cy="4206240"/>
        </p:xfrm>
        <a:graphic>
          <a:graphicData uri="http://schemas.openxmlformats.org/drawingml/2006/chart">
            <c:chart xmlns:c="http://schemas.openxmlformats.org/drawingml/2006/chart" r:id="rId3"/>
          </a:graphicData>
        </a:graphic>
      </p:graphicFrame>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Frequently Asked Questions (FAQ)</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27</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Frequently Asked Questions (FAQ)</a:t>
            </a:r>
          </a:p>
        </p:txBody>
      </p:sp>
      <p:sp>
        <p:nvSpPr>
          <p:cNvPr id="9" name="Rounded Rectangle 8"/>
          <p:cNvSpPr/>
          <p:nvPr/>
        </p:nvSpPr>
        <p:spPr>
          <a:xfrm>
            <a:off x="365760" y="1554480"/>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627632"/>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Where do I log in?</a:t>
            </a:r>
          </a:p>
        </p:txBody>
      </p:sp>
      <p:sp>
        <p:nvSpPr>
          <p:cNvPr id="11" name="TextBox 10"/>
          <p:cNvSpPr txBox="1"/>
          <p:nvPr/>
        </p:nvSpPr>
        <p:spPr>
          <a:xfrm>
            <a:off x="548640" y="1965960"/>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Log in at admin.mangoi.co.kr. By role (agency), only your agency's data shows automatically.</a:t>
            </a:r>
          </a:p>
        </p:txBody>
      </p:sp>
      <p:sp>
        <p:nvSpPr>
          <p:cNvPr id="12" name="Rounded Rectangle 11"/>
          <p:cNvSpPr/>
          <p:nvPr/>
        </p:nvSpPr>
        <p:spPr>
          <a:xfrm>
            <a:off x="365760" y="2542032"/>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548640" y="2615184"/>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Can I see other agencies' data?</a:t>
            </a:r>
          </a:p>
        </p:txBody>
      </p:sp>
      <p:sp>
        <p:nvSpPr>
          <p:cNvPr id="14" name="TextBox 13"/>
          <p:cNvSpPr txBox="1"/>
          <p:nvPr/>
        </p:nvSpPr>
        <p:spPr>
          <a:xfrm>
            <a:off x="548640" y="2953512"/>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No. By permission scope, only your agency's data is visible.</a:t>
            </a:r>
          </a:p>
        </p:txBody>
      </p:sp>
      <p:sp>
        <p:nvSpPr>
          <p:cNvPr id="15" name="Rounded Rectangle 14"/>
          <p:cNvSpPr/>
          <p:nvPr/>
        </p:nvSpPr>
        <p:spPr>
          <a:xfrm>
            <a:off x="365760" y="3529584"/>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48640" y="3602736"/>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How do I grow enrollment?</a:t>
            </a:r>
          </a:p>
        </p:txBody>
      </p:sp>
      <p:sp>
        <p:nvSpPr>
          <p:cNvPr id="17" name="TextBox 16"/>
          <p:cNvSpPr txBox="1"/>
          <p:nvPr/>
        </p:nvSpPr>
        <p:spPr>
          <a:xfrm>
            <a:off x="548640" y="3941064"/>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Fast counseling response, a smooth trial→enroll flow, and persuading parents with learning reports are key.</a:t>
            </a:r>
          </a:p>
        </p:txBody>
      </p:sp>
      <p:sp>
        <p:nvSpPr>
          <p:cNvPr id="18" name="Rounded Rectangle 17"/>
          <p:cNvSpPr/>
          <p:nvPr/>
        </p:nvSpPr>
        <p:spPr>
          <a:xfrm>
            <a:off x="365760" y="4517136"/>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8640" y="4590288"/>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How do I check settlement?</a:t>
            </a:r>
          </a:p>
        </p:txBody>
      </p:sp>
      <p:sp>
        <p:nvSpPr>
          <p:cNvPr id="20" name="TextBox 19"/>
          <p:cNvSpPr txBox="1"/>
          <p:nvPr/>
        </p:nvSpPr>
        <p:spPr>
          <a:xfrm>
            <a:off x="548640" y="4928616"/>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Branch→agency settlement (received) is auto-calculated by the org tree; check it in the monthly report.</a:t>
            </a:r>
          </a:p>
        </p:txBody>
      </p:sp>
      <p:sp>
        <p:nvSpPr>
          <p:cNvPr id="21" name="Rounded Rectangle 20"/>
          <p:cNvSpPr/>
          <p:nvPr/>
        </p:nvSpPr>
        <p:spPr>
          <a:xfrm>
            <a:off x="365760" y="5504688"/>
            <a:ext cx="11460175" cy="868680"/>
          </a:xfrm>
          <a:prstGeom prst="roundRect">
            <a:avLst/>
          </a:prstGeom>
          <a:solidFill>
            <a:srgbClr val="F8FAFC"/>
          </a:solidFill>
          <a:ln w="12700">
            <a:solidFill>
              <a:srgbClr val="E2E8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48640" y="5577840"/>
            <a:ext cx="11094415" cy="365760"/>
          </a:xfrm>
          <a:prstGeom prst="rect">
            <a:avLst/>
          </a:prstGeom>
          <a:noFill/>
        </p:spPr>
        <p:txBody>
          <a:bodyPr wrap="square" anchor="t">
            <a:spAutoFit/>
          </a:bodyPr>
          <a:lstStyle/>
          <a:p>
            <a:pPr algn="l">
              <a:lnSpc>
                <a:spcPct val="100000"/>
              </a:lnSpc>
            </a:pPr>
            <a:r>
              <a:rPr sz="1350" b="1">
                <a:solidFill>
                  <a:srgbClr val="E11D48"/>
                </a:solidFill>
                <a:latin typeface="Malgun Gothic"/>
              </a:rPr>
              <a:t>Q. A student seems about to quit.</a:t>
            </a:r>
          </a:p>
        </p:txBody>
      </p:sp>
      <p:sp>
        <p:nvSpPr>
          <p:cNvPr id="23" name="TextBox 22"/>
          <p:cNvSpPr txBox="1"/>
          <p:nvPr/>
        </p:nvSpPr>
        <p:spPr>
          <a:xfrm>
            <a:off x="548640" y="5916168"/>
            <a:ext cx="11094415" cy="411480"/>
          </a:xfrm>
          <a:prstGeom prst="rect">
            <a:avLst/>
          </a:prstGeom>
          <a:noFill/>
        </p:spPr>
        <p:txBody>
          <a:bodyPr wrap="square" anchor="t">
            <a:spAutoFit/>
          </a:bodyPr>
          <a:lstStyle/>
          <a:p>
            <a:pPr algn="l">
              <a:lnSpc>
                <a:spcPct val="105000"/>
              </a:lnSpc>
            </a:pPr>
            <a:r>
              <a:rPr sz="1150" b="0">
                <a:solidFill>
                  <a:srgbClr val="475569"/>
                </a:solidFill>
                <a:latin typeface="Malgun Gothic"/>
              </a:rPr>
              <a:t>A. Watch churn-risk signals (absences·performance drop) and intervene quickly with counseling/alert-talk.</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1F2"/>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Checklist</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28</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200" b="1">
                <a:solidFill>
                  <a:srgbClr val="E11D48"/>
                </a:solidFill>
                <a:latin typeface="Malgun Gothic"/>
              </a:rPr>
              <a:t>✅ Agency Operations Checklist</a:t>
            </a:r>
          </a:p>
        </p:txBody>
      </p:sp>
      <p:sp>
        <p:nvSpPr>
          <p:cNvPr id="9" name="Rounded Rectangle 8"/>
          <p:cNvSpPr/>
          <p:nvPr/>
        </p:nvSpPr>
        <p:spPr>
          <a:xfrm>
            <a:off x="457200" y="164592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14400" y="158191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today's revenue/enrollment/attendance?</a:t>
            </a:r>
          </a:p>
        </p:txBody>
      </p:sp>
      <p:sp>
        <p:nvSpPr>
          <p:cNvPr id="11" name="Rounded Rectangle 10"/>
          <p:cNvSpPr/>
          <p:nvPr/>
        </p:nvSpPr>
        <p:spPr>
          <a:xfrm>
            <a:off x="457200" y="221284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14884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take and respond to new counseling/inquiries?</a:t>
            </a:r>
          </a:p>
        </p:txBody>
      </p:sp>
      <p:sp>
        <p:nvSpPr>
          <p:cNvPr id="13" name="Rounded Rectangle 12"/>
          <p:cNvSpPr/>
          <p:nvPr/>
        </p:nvSpPr>
        <p:spPr>
          <a:xfrm>
            <a:off x="457200" y="2779776"/>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2715768"/>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and notify overdue items?</a:t>
            </a:r>
          </a:p>
        </p:txBody>
      </p:sp>
      <p:sp>
        <p:nvSpPr>
          <p:cNvPr id="15" name="Rounded Rectangle 14"/>
          <p:cNvSpPr/>
          <p:nvPr/>
        </p:nvSpPr>
        <p:spPr>
          <a:xfrm>
            <a:off x="457200" y="3346704"/>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3282696"/>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care for at-risk students?</a:t>
            </a:r>
          </a:p>
        </p:txBody>
      </p:sp>
      <p:sp>
        <p:nvSpPr>
          <p:cNvPr id="17" name="Rounded Rectangle 16"/>
          <p:cNvSpPr/>
          <p:nvPr/>
        </p:nvSpPr>
        <p:spPr>
          <a:xfrm>
            <a:off x="457200" y="3913632"/>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3849624"/>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guide parents to the report/My Page?</a:t>
            </a:r>
          </a:p>
        </p:txBody>
      </p:sp>
      <p:sp>
        <p:nvSpPr>
          <p:cNvPr id="19" name="Rounded Rectangle 18"/>
          <p:cNvSpPr/>
          <p:nvPr/>
        </p:nvSpPr>
        <p:spPr>
          <a:xfrm>
            <a:off x="457200" y="4480560"/>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14400" y="4416552"/>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check this month's settlement (received)?</a:t>
            </a:r>
          </a:p>
        </p:txBody>
      </p:sp>
      <p:sp>
        <p:nvSpPr>
          <p:cNvPr id="21" name="Rounded Rectangle 20"/>
          <p:cNvSpPr/>
          <p:nvPr/>
        </p:nvSpPr>
        <p:spPr>
          <a:xfrm>
            <a:off x="457200" y="5047488"/>
            <a:ext cx="292608" cy="292608"/>
          </a:xfrm>
          <a:prstGeom prst="roundRect">
            <a:avLst/>
          </a:prstGeom>
          <a:solidFill>
            <a:srgbClr val="FFFFFF"/>
          </a:solidFill>
          <a:ln w="12700">
            <a:solidFill>
              <a:srgbClr val="E11D48"/>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 y="4983480"/>
            <a:ext cx="10058400" cy="411480"/>
          </a:xfrm>
          <a:prstGeom prst="rect">
            <a:avLst/>
          </a:prstGeom>
          <a:noFill/>
        </p:spPr>
        <p:txBody>
          <a:bodyPr wrap="square" anchor="t">
            <a:spAutoFit/>
          </a:bodyPr>
          <a:lstStyle/>
          <a:p>
            <a:pPr algn="l">
              <a:lnSpc>
                <a:spcPct val="100000"/>
              </a:lnSpc>
            </a:pPr>
            <a:r>
              <a:rPr sz="1500" b="1">
                <a:solidFill>
                  <a:srgbClr val="334155"/>
                </a:solidFill>
                <a:latin typeface="Malgun Gothic"/>
              </a:rPr>
              <a:t>Did you follow up on trial→enroll?</a:t>
            </a:r>
          </a:p>
        </p:txBody>
      </p:sp>
      <p:pic>
        <p:nvPicPr>
          <p:cNvPr id="23" name="Picture 22" descr="mango_char.png"/>
          <p:cNvPicPr>
            <a:picLocks noChangeAspect="1"/>
          </p:cNvPicPr>
          <p:nvPr/>
        </p:nvPicPr>
        <p:blipFill>
          <a:blip r:embed="rId2"/>
          <a:stretch>
            <a:fillRect/>
          </a:stretch>
        </p:blipFill>
        <p:spPr>
          <a:xfrm>
            <a:off x="9153162" y="4480559"/>
            <a:ext cx="2489892" cy="201168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566928"/>
          </a:xfrm>
          <a:prstGeom prst="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566928"/>
            <a:ext cx="12191695" cy="54864"/>
          </a:xfrm>
          <a:prstGeom prst="rect">
            <a:avLst/>
          </a:prstGeom>
          <a:solidFill>
            <a:srgbClr val="0EA5E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27432"/>
            <a:ext cx="7315200" cy="502920"/>
          </a:xfrm>
          <a:prstGeom prst="rect">
            <a:avLst/>
          </a:prstGeom>
          <a:noFill/>
        </p:spPr>
        <p:txBody>
          <a:bodyPr wrap="square" anchor="ctr">
            <a:spAutoFit/>
          </a:bodyPr>
          <a:lstStyle/>
          <a:p>
            <a:pPr algn="l">
              <a:lnSpc>
                <a:spcPct val="100000"/>
              </a:lnSpc>
            </a:pPr>
            <a:r>
              <a:rPr sz="1500" b="1">
                <a:solidFill>
                  <a:srgbClr val="FFFFFF"/>
                </a:solidFill>
                <a:latin typeface="Malgun Gothic"/>
              </a:rPr>
              <a:t>🤝 Mangoi Agency User Guide</a:t>
            </a:r>
          </a:p>
        </p:txBody>
      </p:sp>
      <p:sp>
        <p:nvSpPr>
          <p:cNvPr id="5" name="TextBox 4"/>
          <p:cNvSpPr txBox="1"/>
          <p:nvPr/>
        </p:nvSpPr>
        <p:spPr>
          <a:xfrm>
            <a:off x="8168335" y="27432"/>
            <a:ext cx="3657600" cy="502920"/>
          </a:xfrm>
          <a:prstGeom prst="rect">
            <a:avLst/>
          </a:prstGeom>
          <a:noFill/>
        </p:spPr>
        <p:txBody>
          <a:bodyPr wrap="square" anchor="ctr">
            <a:spAutoFit/>
          </a:bodyPr>
          <a:lstStyle/>
          <a:p>
            <a:pPr algn="r">
              <a:lnSpc>
                <a:spcPct val="100000"/>
              </a:lnSpc>
            </a:pPr>
            <a:r>
              <a:rPr sz="1300" b="1">
                <a:solidFill>
                  <a:srgbClr val="F1F5F9"/>
                </a:solidFill>
                <a:latin typeface="Malgun Gothic"/>
              </a:rPr>
              <a:t>Conclusion</a:t>
            </a:r>
          </a:p>
        </p:txBody>
      </p:sp>
      <p:sp>
        <p:nvSpPr>
          <p:cNvPr id="6" name="Rounded Rectangle 5"/>
          <p:cNvSpPr/>
          <p:nvPr/>
        </p:nvSpPr>
        <p:spPr>
          <a:xfrm>
            <a:off x="365760" y="841248"/>
            <a:ext cx="658368" cy="512064"/>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65760" y="841248"/>
            <a:ext cx="658368" cy="512064"/>
          </a:xfrm>
          <a:prstGeom prst="rect">
            <a:avLst/>
          </a:prstGeom>
          <a:noFill/>
        </p:spPr>
        <p:txBody>
          <a:bodyPr wrap="square" anchor="ctr">
            <a:spAutoFit/>
          </a:bodyPr>
          <a:lstStyle/>
          <a:p>
            <a:pPr algn="ctr">
              <a:lnSpc>
                <a:spcPct val="100000"/>
              </a:lnSpc>
            </a:pPr>
            <a:r>
              <a:rPr sz="1700" b="1">
                <a:solidFill>
                  <a:srgbClr val="FFFFFF"/>
                </a:solidFill>
                <a:latin typeface="Malgun Gothic"/>
              </a:rPr>
              <a:t>29</a:t>
            </a:r>
          </a:p>
        </p:txBody>
      </p:sp>
      <p:sp>
        <p:nvSpPr>
          <p:cNvPr id="8" name="TextBox 7"/>
          <p:cNvSpPr txBox="1"/>
          <p:nvPr/>
        </p:nvSpPr>
        <p:spPr>
          <a:xfrm>
            <a:off x="1143000" y="868680"/>
            <a:ext cx="9144000" cy="457200"/>
          </a:xfrm>
          <a:prstGeom prst="rect">
            <a:avLst/>
          </a:prstGeom>
          <a:noFill/>
        </p:spPr>
        <p:txBody>
          <a:bodyPr wrap="square" anchor="t">
            <a:spAutoFit/>
          </a:bodyPr>
          <a:lstStyle/>
          <a:p>
            <a:pPr algn="l">
              <a:lnSpc>
                <a:spcPct val="100000"/>
              </a:lnSpc>
            </a:pPr>
            <a:r>
              <a:rPr sz="2100" b="1">
                <a:solidFill>
                  <a:srgbClr val="E11D48"/>
                </a:solidFill>
                <a:latin typeface="Malgun Gothic"/>
              </a:rPr>
              <a:t>🏁 Conclusion · A Practical Guide to Agency Growth</a:t>
            </a:r>
          </a:p>
        </p:txBody>
      </p:sp>
      <p:sp>
        <p:nvSpPr>
          <p:cNvPr id="9" name="Rounded Rectangle 8"/>
          <p:cNvSpPr/>
          <p:nvPr/>
        </p:nvSpPr>
        <p:spPr>
          <a:xfrm>
            <a:off x="365760" y="1371600"/>
            <a:ext cx="11430000" cy="868680"/>
          </a:xfrm>
          <a:prstGeom prst="roundRect">
            <a:avLst/>
          </a:prstGeom>
          <a:solidFill>
            <a:srgbClr val="FFF1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48640" y="1426464"/>
            <a:ext cx="11064240" cy="777240"/>
          </a:xfrm>
          <a:prstGeom prst="rect">
            <a:avLst/>
          </a:prstGeom>
          <a:noFill/>
        </p:spPr>
        <p:txBody>
          <a:bodyPr wrap="square" anchor="t">
            <a:spAutoFit/>
          </a:bodyPr>
          <a:lstStyle/>
          <a:p>
            <a:pPr algn="l">
              <a:lnSpc>
                <a:spcPct val="115000"/>
              </a:lnSpc>
            </a:pPr>
            <a:r>
              <a:rPr sz="1150" b="0">
                <a:solidFill>
                  <a:srgbClr val="334155"/>
                </a:solidFill>
                <a:latin typeface="Malgun Gothic"/>
              </a:rPr>
              <a:t>The core of agency operations is the virtuous cycle of 'recruit → enroll → satisfy → re-enroll.' Respond to counseling fast, show learning results with data, and prevent churn early — and your agency grows steadily. Keep this rhythm and operations feel solid.</a:t>
            </a:r>
          </a:p>
        </p:txBody>
      </p:sp>
      <p:sp>
        <p:nvSpPr>
          <p:cNvPr id="11" name="TextBox 10"/>
          <p:cNvSpPr txBox="1"/>
          <p:nvPr/>
        </p:nvSpPr>
        <p:spPr>
          <a:xfrm>
            <a:off x="457200" y="2423160"/>
            <a:ext cx="5760720" cy="320040"/>
          </a:xfrm>
          <a:prstGeom prst="rect">
            <a:avLst/>
          </a:prstGeom>
          <a:noFill/>
        </p:spPr>
        <p:txBody>
          <a:bodyPr wrap="square" anchor="t">
            <a:spAutoFit/>
          </a:bodyPr>
          <a:lstStyle/>
          <a:p>
            <a:pPr algn="l">
              <a:lnSpc>
                <a:spcPct val="100000"/>
              </a:lnSpc>
            </a:pPr>
            <a:r>
              <a:rPr sz="1350" b="1">
                <a:solidFill>
                  <a:srgbClr val="E11D48"/>
                </a:solidFill>
                <a:latin typeface="Malgun Gothic"/>
              </a:rPr>
              <a:t>🔄 The Flow at a Glance</a:t>
            </a:r>
          </a:p>
        </p:txBody>
      </p:sp>
      <p:sp>
        <p:nvSpPr>
          <p:cNvPr id="12" name="Rounded Rectangle 11"/>
          <p:cNvSpPr/>
          <p:nvPr/>
        </p:nvSpPr>
        <p:spPr>
          <a:xfrm>
            <a:off x="457200" y="27889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27889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Morning (5 min)</a:t>
            </a:r>
          </a:p>
        </p:txBody>
      </p:sp>
      <p:sp>
        <p:nvSpPr>
          <p:cNvPr id="14" name="TextBox 13"/>
          <p:cNvSpPr txBox="1"/>
          <p:nvPr/>
        </p:nvSpPr>
        <p:spPr>
          <a:xfrm>
            <a:off x="2148840" y="27706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revenue/enrollment/attendance on the dashboard; check live-lesson status</a:t>
            </a:r>
          </a:p>
        </p:txBody>
      </p:sp>
      <p:sp>
        <p:nvSpPr>
          <p:cNvPr id="15" name="Rounded Rectangle 14"/>
          <p:cNvSpPr/>
          <p:nvPr/>
        </p:nvSpPr>
        <p:spPr>
          <a:xfrm>
            <a:off x="457200" y="32461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57200" y="32461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Late morning</a:t>
            </a:r>
          </a:p>
        </p:txBody>
      </p:sp>
      <p:sp>
        <p:nvSpPr>
          <p:cNvPr id="17" name="TextBox 16"/>
          <p:cNvSpPr txBox="1"/>
          <p:nvPr/>
        </p:nvSpPr>
        <p:spPr>
          <a:xfrm>
            <a:off x="2148840" y="32278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Respond to new counseling·convert; notify overdue</a:t>
            </a:r>
          </a:p>
        </p:txBody>
      </p:sp>
      <p:sp>
        <p:nvSpPr>
          <p:cNvPr id="18" name="Rounded Rectangle 17"/>
          <p:cNvSpPr/>
          <p:nvPr/>
        </p:nvSpPr>
        <p:spPr>
          <a:xfrm>
            <a:off x="457200" y="37033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57200" y="37033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Class hours</a:t>
            </a:r>
          </a:p>
        </p:txBody>
      </p:sp>
      <p:sp>
        <p:nvSpPr>
          <p:cNvPr id="20" name="TextBox 19"/>
          <p:cNvSpPr txBox="1"/>
          <p:nvPr/>
        </p:nvSpPr>
        <p:spPr>
          <a:xfrm>
            <a:off x="2148840" y="36850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lesson assignment/progress; guide 'entry' tickets to browser/permission first</a:t>
            </a:r>
          </a:p>
        </p:txBody>
      </p:sp>
      <p:sp>
        <p:nvSpPr>
          <p:cNvPr id="21" name="Rounded Rectangle 20"/>
          <p:cNvSpPr/>
          <p:nvPr/>
        </p:nvSpPr>
        <p:spPr>
          <a:xfrm>
            <a:off x="457200" y="41605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 y="41605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Afternoon</a:t>
            </a:r>
          </a:p>
        </p:txBody>
      </p:sp>
      <p:sp>
        <p:nvSpPr>
          <p:cNvPr id="23" name="TextBox 22"/>
          <p:cNvSpPr txBox="1"/>
          <p:nvPr/>
        </p:nvSpPr>
        <p:spPr>
          <a:xfrm>
            <a:off x="2148840" y="41422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Care for at-risk students; parent reports·counseling</a:t>
            </a:r>
          </a:p>
        </p:txBody>
      </p:sp>
      <p:sp>
        <p:nvSpPr>
          <p:cNvPr id="24" name="Rounded Rectangle 23"/>
          <p:cNvSpPr/>
          <p:nvPr/>
        </p:nvSpPr>
        <p:spPr>
          <a:xfrm>
            <a:off x="457200" y="4617720"/>
            <a:ext cx="1600200" cy="384048"/>
          </a:xfrm>
          <a:prstGeom prst="roundRect">
            <a:avLst/>
          </a:prstGeom>
          <a:solidFill>
            <a:srgbClr val="E11D4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617720"/>
            <a:ext cx="1600200" cy="384048"/>
          </a:xfrm>
          <a:prstGeom prst="rect">
            <a:avLst/>
          </a:prstGeom>
          <a:noFill/>
        </p:spPr>
        <p:txBody>
          <a:bodyPr wrap="square" anchor="ctr">
            <a:spAutoFit/>
          </a:bodyPr>
          <a:lstStyle/>
          <a:p>
            <a:pPr algn="ctr">
              <a:lnSpc>
                <a:spcPct val="100000"/>
              </a:lnSpc>
            </a:pPr>
            <a:r>
              <a:rPr sz="850" b="1">
                <a:solidFill>
                  <a:srgbClr val="FFFFFF"/>
                </a:solidFill>
                <a:latin typeface="Malgun Gothic"/>
              </a:rPr>
              <a:t>Monthly</a:t>
            </a:r>
          </a:p>
        </p:txBody>
      </p:sp>
      <p:sp>
        <p:nvSpPr>
          <p:cNvPr id="26" name="TextBox 25"/>
          <p:cNvSpPr txBox="1"/>
          <p:nvPr/>
        </p:nvSpPr>
        <p:spPr>
          <a:xfrm>
            <a:off x="2148840" y="4599432"/>
            <a:ext cx="4114800" cy="420624"/>
          </a:xfrm>
          <a:prstGeom prst="rect">
            <a:avLst/>
          </a:prstGeom>
          <a:noFill/>
        </p:spPr>
        <p:txBody>
          <a:bodyPr wrap="square" anchor="ctr">
            <a:spAutoFit/>
          </a:bodyPr>
          <a:lstStyle/>
          <a:p>
            <a:pPr algn="l">
              <a:lnSpc>
                <a:spcPct val="100000"/>
              </a:lnSpc>
            </a:pPr>
            <a:r>
              <a:rPr sz="850" b="0">
                <a:solidFill>
                  <a:srgbClr val="334155"/>
                </a:solidFill>
                <a:latin typeface="Malgun Gothic"/>
              </a:rPr>
              <a:t>Check branch→agency settlement; re-enroll·follow-up</a:t>
            </a:r>
          </a:p>
        </p:txBody>
      </p:sp>
      <p:sp>
        <p:nvSpPr>
          <p:cNvPr id="27" name="TextBox 26"/>
          <p:cNvSpPr txBox="1"/>
          <p:nvPr/>
        </p:nvSpPr>
        <p:spPr>
          <a:xfrm>
            <a:off x="6400800" y="242316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Key Principles</a:t>
            </a:r>
          </a:p>
        </p:txBody>
      </p:sp>
      <p:sp>
        <p:nvSpPr>
          <p:cNvPr id="28" name="TextBox 27"/>
          <p:cNvSpPr txBox="1"/>
          <p:nvPr/>
        </p:nvSpPr>
        <p:spPr>
          <a:xfrm>
            <a:off x="6400800" y="2788920"/>
            <a:ext cx="5394960" cy="2103120"/>
          </a:xfrm>
          <a:prstGeom prst="rect">
            <a:avLst/>
          </a:prstGeom>
          <a:noFill/>
        </p:spPr>
        <p:txBody>
          <a:bodyPr wrap="square">
            <a:spAutoFit/>
          </a:bodyPr>
          <a:lstStyle/>
          <a:p>
            <a:pPr>
              <a:lnSpc>
                <a:spcPct val="115000"/>
              </a:lnSpc>
              <a:spcAft>
                <a:spcPts val="500"/>
              </a:spcAft>
            </a:pPr>
            <a:r>
              <a:rPr sz="900" b="1">
                <a:solidFill>
                  <a:srgbClr val="E11D48"/>
                </a:solidFill>
                <a:latin typeface="Malgun Gothic"/>
              </a:rPr>
              <a:t>● </a:t>
            </a:r>
            <a:r>
              <a:rPr sz="1100">
                <a:solidFill>
                  <a:srgbClr val="334155"/>
                </a:solidFill>
                <a:latin typeface="Malgun Gothic"/>
              </a:rPr>
              <a:t>Respond fast — the faster you handle counseling/inquiries, the higher conversion.</a:t>
            </a:r>
          </a:p>
          <a:p>
            <a:pPr>
              <a:lnSpc>
                <a:spcPct val="115000"/>
              </a:lnSpc>
              <a:spcAft>
                <a:spcPts val="500"/>
              </a:spcAft>
            </a:pPr>
            <a:r>
              <a:rPr sz="900" b="1">
                <a:solidFill>
                  <a:srgbClr val="E11D48"/>
                </a:solidFill>
                <a:latin typeface="Malgun Gothic"/>
              </a:rPr>
              <a:t>● </a:t>
            </a:r>
            <a:r>
              <a:rPr sz="1100">
                <a:solidFill>
                  <a:srgbClr val="334155"/>
                </a:solidFill>
                <a:latin typeface="Malgun Gothic"/>
              </a:rPr>
              <a:t>Persuade with data — showing results via learning reports makes re-enrollment easy.</a:t>
            </a:r>
          </a:p>
          <a:p>
            <a:pPr>
              <a:lnSpc>
                <a:spcPct val="115000"/>
              </a:lnSpc>
              <a:spcAft>
                <a:spcPts val="500"/>
              </a:spcAft>
            </a:pPr>
            <a:r>
              <a:rPr sz="900" b="1">
                <a:solidFill>
                  <a:srgbClr val="E11D48"/>
                </a:solidFill>
                <a:latin typeface="Malgun Gothic"/>
              </a:rPr>
              <a:t>● </a:t>
            </a:r>
            <a:r>
              <a:rPr sz="1100">
                <a:solidFill>
                  <a:srgbClr val="334155"/>
                </a:solidFill>
                <a:latin typeface="Malgun Gothic"/>
              </a:rPr>
              <a:t>Intervene on churn early — care first for frequently-absent students.</a:t>
            </a:r>
          </a:p>
          <a:p>
            <a:pPr>
              <a:lnSpc>
                <a:spcPct val="115000"/>
              </a:lnSpc>
              <a:spcAft>
                <a:spcPts val="500"/>
              </a:spcAft>
            </a:pPr>
            <a:r>
              <a:rPr sz="900" b="1">
                <a:solidFill>
                  <a:srgbClr val="E11D48"/>
                </a:solidFill>
                <a:latin typeface="Malgun Gothic"/>
              </a:rPr>
              <a:t>● </a:t>
            </a:r>
            <a:r>
              <a:rPr sz="1100">
                <a:solidFill>
                  <a:srgbClr val="334155"/>
                </a:solidFill>
                <a:latin typeface="Malgun Gothic"/>
              </a:rPr>
              <a:t>Communicate with parents — build trust with My Page and reports.</a:t>
            </a:r>
          </a:p>
          <a:p>
            <a:pPr>
              <a:lnSpc>
                <a:spcPct val="115000"/>
              </a:lnSpc>
              <a:spcAft>
                <a:spcPts val="500"/>
              </a:spcAft>
            </a:pPr>
            <a:r>
              <a:rPr sz="900" b="1">
                <a:solidFill>
                  <a:srgbClr val="E11D48"/>
                </a:solidFill>
                <a:latin typeface="Malgun Gothic"/>
              </a:rPr>
              <a:t>● </a:t>
            </a:r>
            <a:r>
              <a:rPr sz="1100">
                <a:solidFill>
                  <a:srgbClr val="334155"/>
                </a:solidFill>
                <a:latin typeface="Malgun Gothic"/>
              </a:rPr>
              <a:t>Follow up — following up after counseling completes enrollment.</a:t>
            </a:r>
          </a:p>
        </p:txBody>
      </p:sp>
      <p:sp>
        <p:nvSpPr>
          <p:cNvPr id="29" name="TextBox 28"/>
          <p:cNvSpPr txBox="1"/>
          <p:nvPr/>
        </p:nvSpPr>
        <p:spPr>
          <a:xfrm>
            <a:off x="6400800" y="4892040"/>
            <a:ext cx="5486400" cy="320040"/>
          </a:xfrm>
          <a:prstGeom prst="rect">
            <a:avLst/>
          </a:prstGeom>
          <a:noFill/>
        </p:spPr>
        <p:txBody>
          <a:bodyPr wrap="square" anchor="t">
            <a:spAutoFit/>
          </a:bodyPr>
          <a:lstStyle/>
          <a:p>
            <a:pPr algn="l">
              <a:lnSpc>
                <a:spcPct val="100000"/>
              </a:lnSpc>
            </a:pPr>
            <a:r>
              <a:rPr sz="1350" b="1">
                <a:solidFill>
                  <a:srgbClr val="E11D48"/>
                </a:solidFill>
                <a:latin typeface="Malgun Gothic"/>
              </a:rPr>
              <a:t>📌 Remember</a:t>
            </a:r>
          </a:p>
        </p:txBody>
      </p:sp>
      <p:sp>
        <p:nvSpPr>
          <p:cNvPr id="30" name="TextBox 29"/>
          <p:cNvSpPr txBox="1"/>
          <p:nvPr/>
        </p:nvSpPr>
        <p:spPr>
          <a:xfrm>
            <a:off x="6400800" y="5257800"/>
            <a:ext cx="5394960" cy="1645920"/>
          </a:xfrm>
          <a:prstGeom prst="rect">
            <a:avLst/>
          </a:prstGeom>
          <a:noFill/>
        </p:spPr>
        <p:txBody>
          <a:bodyPr wrap="square">
            <a:spAutoFit/>
          </a:bodyPr>
          <a:lstStyle/>
          <a:p>
            <a:pPr>
              <a:lnSpc>
                <a:spcPct val="115000"/>
              </a:lnSpc>
              <a:spcAft>
                <a:spcPts val="400"/>
              </a:spcAft>
            </a:pPr>
            <a:r>
              <a:rPr sz="850" b="1">
                <a:solidFill>
                  <a:srgbClr val="0EA5E9"/>
                </a:solidFill>
                <a:latin typeface="Malgun Gothic"/>
              </a:rPr>
              <a:t>● </a:t>
            </a:r>
            <a:r>
              <a:rPr sz="1050">
                <a:solidFill>
                  <a:srgbClr val="334155"/>
                </a:solidFill>
                <a:latin typeface="Malgun Gothic"/>
              </a:rPr>
              <a:t>Log in at admin.mangoi.co.kr; data is auto-limited to your agency scope</a:t>
            </a:r>
          </a:p>
          <a:p>
            <a:pPr>
              <a:lnSpc>
                <a:spcPct val="115000"/>
              </a:lnSpc>
              <a:spcAft>
                <a:spcPts val="400"/>
              </a:spcAft>
            </a:pPr>
            <a:r>
              <a:rPr sz="850" b="1">
                <a:solidFill>
                  <a:srgbClr val="0EA5E9"/>
                </a:solidFill>
                <a:latin typeface="Malgun Gothic"/>
              </a:rPr>
              <a:t>● </a:t>
            </a:r>
            <a:r>
              <a:rPr sz="1050">
                <a:solidFill>
                  <a:srgbClr val="334155"/>
                </a:solidFill>
                <a:latin typeface="Malgun Gothic"/>
              </a:rPr>
              <a:t>Settlement is auto-calculated by the branch→agency tree</a:t>
            </a:r>
          </a:p>
          <a:p>
            <a:pPr>
              <a:lnSpc>
                <a:spcPct val="115000"/>
              </a:lnSpc>
              <a:spcAft>
                <a:spcPts val="400"/>
              </a:spcAft>
            </a:pPr>
            <a:r>
              <a:rPr sz="850" b="1">
                <a:solidFill>
                  <a:srgbClr val="0EA5E9"/>
                </a:solidFill>
                <a:latin typeface="Malgun Gothic"/>
              </a:rPr>
              <a:t>● </a:t>
            </a:r>
            <a:r>
              <a:rPr sz="1050">
                <a:solidFill>
                  <a:srgbClr val="334155"/>
                </a:solidFill>
                <a:latin typeface="Malgun Gothic"/>
              </a:rPr>
              <a:t>Most 'can't enter class' tickets are browser/permission issues</a:t>
            </a:r>
          </a:p>
          <a:p>
            <a:pPr>
              <a:lnSpc>
                <a:spcPct val="115000"/>
              </a:lnSpc>
              <a:spcAft>
                <a:spcPts val="400"/>
              </a:spcAft>
            </a:pPr>
            <a:r>
              <a:rPr sz="850" b="1">
                <a:solidFill>
                  <a:srgbClr val="0EA5E9"/>
                </a:solidFill>
                <a:latin typeface="Malgun Gothic"/>
              </a:rPr>
              <a:t>● </a:t>
            </a:r>
            <a:r>
              <a:rPr sz="1050">
                <a:solidFill>
                  <a:srgbClr val="334155"/>
                </a:solidFill>
                <a:latin typeface="Malgun Gothic"/>
              </a:rPr>
              <a:t>Growth rhythm: 'Recruit → Enroll → Satisfy → Re-enroll'!</a:t>
            </a:r>
          </a:p>
        </p:txBody>
      </p:sp>
      <p:sp>
        <p:nvSpPr>
          <p:cNvPr id="31" name="Rounded Rectangle 30"/>
          <p:cNvSpPr/>
          <p:nvPr/>
        </p:nvSpPr>
        <p:spPr>
          <a:xfrm>
            <a:off x="457200" y="6172200"/>
            <a:ext cx="11338560" cy="566928"/>
          </a:xfrm>
          <a:prstGeom prst="roundRect">
            <a:avLst/>
          </a:prstGeom>
          <a:solidFill>
            <a:srgbClr val="FFF1F2"/>
          </a:solidFill>
          <a:ln w="12700">
            <a:solidFill>
              <a:srgbClr val="0EA5E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40080" y="6208776"/>
            <a:ext cx="10972800" cy="502920"/>
          </a:xfrm>
          <a:prstGeom prst="rect">
            <a:avLst/>
          </a:prstGeom>
          <a:noFill/>
        </p:spPr>
        <p:txBody>
          <a:bodyPr wrap="square" anchor="t">
            <a:spAutoFit/>
          </a:bodyPr>
          <a:lstStyle/>
          <a:p>
            <a:pPr algn="l">
              <a:lnSpc>
                <a:spcPct val="102000"/>
              </a:lnSpc>
            </a:pPr>
            <a:r>
              <a:rPr sz="1000" b="0">
                <a:solidFill>
                  <a:srgbClr val="5B4A2A"/>
                </a:solidFill>
                <a:latin typeface="Malgun Gothic"/>
              </a:rPr>
              <a:t>🍊 An agency's strength comes from 'the care you give each student.' Respond quickly, show results, and prevent churn early. Your branch and HQ back you up solidly. Questions? Contact support anytime — cheering on your thriving agency! 🍊</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59E0B"/>
        </a:solidFill>
        <a:effectLst/>
      </p:bgPr>
    </p:bg>
    <p:spTree>
      <p:nvGrpSpPr>
        <p:cNvPr id="1" name=""/>
        <p:cNvGrpSpPr/>
        <p:nvPr/>
      </p:nvGrpSpPr>
      <p:grpSpPr/>
      <p:sp>
        <p:nvSpPr>
          <p:cNvPr id="2" name="Rectangle 1"/>
          <p:cNvSpPr/>
          <p:nvPr/>
        </p:nvSpPr>
        <p:spPr>
          <a:xfrm>
            <a:off x="0" y="0"/>
            <a:ext cx="12191695" cy="6858000"/>
          </a:xfrm>
          <a:prstGeom prst="rect">
            <a:avLst/>
          </a:prstGeom>
          <a:solidFill>
            <a:srgbClr val="F59E0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371600" y="-13716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0515600" y="4572000"/>
            <a:ext cx="3657600" cy="3657600"/>
          </a:xfrm>
          <a:prstGeom prst="ellipse">
            <a:avLst/>
          </a:prstGeom>
          <a:solidFill>
            <a:srgbClr val="BE123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0" y="2194560"/>
            <a:ext cx="12191695" cy="914400"/>
          </a:xfrm>
          <a:prstGeom prst="rect">
            <a:avLst/>
          </a:prstGeom>
          <a:noFill/>
        </p:spPr>
        <p:txBody>
          <a:bodyPr wrap="square" anchor="t">
            <a:spAutoFit/>
          </a:bodyPr>
          <a:lstStyle/>
          <a:p>
            <a:pPr algn="ctr">
              <a:lnSpc>
                <a:spcPct val="100000"/>
              </a:lnSpc>
            </a:pPr>
            <a:r>
              <a:rPr sz="3400" b="1">
                <a:solidFill>
                  <a:srgbClr val="FFFFFF"/>
                </a:solidFill>
                <a:latin typeface="Malgun Gothic"/>
              </a:rPr>
              <a:t>Let's grow together with Mangoi!</a:t>
            </a:r>
          </a:p>
        </p:txBody>
      </p:sp>
      <p:sp>
        <p:nvSpPr>
          <p:cNvPr id="6" name="TextBox 5"/>
          <p:cNvSpPr txBox="1"/>
          <p:nvPr/>
        </p:nvSpPr>
        <p:spPr>
          <a:xfrm>
            <a:off x="0" y="3291840"/>
            <a:ext cx="12191695" cy="548640"/>
          </a:xfrm>
          <a:prstGeom prst="rect">
            <a:avLst/>
          </a:prstGeom>
          <a:noFill/>
        </p:spPr>
        <p:txBody>
          <a:bodyPr wrap="square" anchor="t">
            <a:spAutoFit/>
          </a:bodyPr>
          <a:lstStyle/>
          <a:p>
            <a:pPr algn="ctr">
              <a:lnSpc>
                <a:spcPct val="100000"/>
              </a:lnSpc>
            </a:pPr>
            <a:r>
              <a:rPr sz="1600" b="0">
                <a:solidFill>
                  <a:srgbClr val="FFFFFF"/>
                </a:solidFill>
                <a:latin typeface="Malgun Gothic"/>
              </a:rPr>
              <a:t>Questions? Ask the on-site A.i assistant or contact customer support.</a:t>
            </a:r>
          </a:p>
        </p:txBody>
      </p:sp>
      <p:sp>
        <p:nvSpPr>
          <p:cNvPr id="7" name="TextBox 6"/>
          <p:cNvSpPr txBox="1"/>
          <p:nvPr/>
        </p:nvSpPr>
        <p:spPr>
          <a:xfrm>
            <a:off x="0" y="4114800"/>
            <a:ext cx="12191695" cy="457200"/>
          </a:xfrm>
          <a:prstGeom prst="rect">
            <a:avLst/>
          </a:prstGeom>
          <a:noFill/>
        </p:spPr>
        <p:txBody>
          <a:bodyPr wrap="square" anchor="t">
            <a:spAutoFit/>
          </a:bodyPr>
          <a:lstStyle/>
          <a:p>
            <a:pPr algn="ctr">
              <a:lnSpc>
                <a:spcPct val="100000"/>
              </a:lnSpc>
            </a:pPr>
            <a:r>
              <a:rPr sz="1400" b="0">
                <a:solidFill>
                  <a:srgbClr val="FFFFFF"/>
                </a:solidFill>
                <a:latin typeface="Malgun Gothic"/>
              </a:rPr>
              <a:t>🌐 www.mangoi.co.kr    📞 1644-0561    ✉ support@mangoi.co.kr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