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Revenue (10k KRW)</c:v>
                </c:pt>
                <c:pt idx="1">
                  <c:v>Enrolled</c:v>
                </c:pt>
                <c:pt idx="2">
                  <c:v>Attendance (%)</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Agency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From enrollment to lessons and settlement,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Agency (franchise) operators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What is the Agency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agency page is where you directly manage your agency's students, lessons, payments and settlement. From recruiting and counseling to enrollment, lesson assignment, collection, parent communication and receiving settlement — everything you need to run an agency is here. On login, only 'my agency' data shows, so you can focus on your students.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My-agency scope, automatic</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Just log in and see only your students/revenue.</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Recruit·enroll·manage students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From counseling to enrollment and lesson assignment.</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Collection·settlement</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Payments/overdue and receiving branch→agency settlement.</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status·reports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Your students' learning at a glance.</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Your Agency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Contents</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a:t>
            </a:r>
          </a:p>
        </p:txBody>
      </p:sp>
      <p:sp>
        <p:nvSpPr>
          <p:cNvPr id="9" name="Rounded Rectangle 8"/>
          <p:cNvSpPr/>
          <p:nvPr/>
        </p:nvSpPr>
        <p:spPr>
          <a:xfrm>
            <a:off x="411480"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4</a:t>
            </a:r>
          </a:p>
        </p:txBody>
      </p:sp>
      <p:sp>
        <p:nvSpPr>
          <p:cNvPr id="13" name="Rounded Rectangle 12"/>
          <p:cNvSpPr/>
          <p:nvPr/>
        </p:nvSpPr>
        <p:spPr>
          <a:xfrm>
            <a:off x="411480"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Page &amp; Admin Dashboard</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5</a:t>
            </a:r>
          </a:p>
        </p:txBody>
      </p:sp>
      <p:sp>
        <p:nvSpPr>
          <p:cNvPr id="17" name="Rounded Rectangle 16"/>
          <p:cNvSpPr/>
          <p:nvPr/>
        </p:nvSpPr>
        <p:spPr>
          <a:xfrm>
            <a:off x="411480"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Dashboard</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6</a:t>
            </a:r>
          </a:p>
        </p:txBody>
      </p:sp>
      <p:sp>
        <p:nvSpPr>
          <p:cNvPr id="21" name="Rounded Rectangle 20"/>
          <p:cNvSpPr/>
          <p:nvPr/>
        </p:nvSpPr>
        <p:spPr>
          <a:xfrm>
            <a:off x="411480"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the AI Assistant</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7</a:t>
            </a:r>
          </a:p>
        </p:txBody>
      </p:sp>
      <p:sp>
        <p:nvSpPr>
          <p:cNvPr id="25" name="Rounded Rectangle 24"/>
          <p:cNvSpPr/>
          <p:nvPr/>
        </p:nvSpPr>
        <p:spPr>
          <a:xfrm>
            <a:off x="411480"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Recruit·Enroll·Manage Students</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8</a:t>
            </a:r>
          </a:p>
        </p:txBody>
      </p:sp>
      <p:sp>
        <p:nvSpPr>
          <p:cNvPr id="29" name="Rounded Rectangle 28"/>
          <p:cNvSpPr/>
          <p:nvPr/>
        </p:nvSpPr>
        <p:spPr>
          <a:xfrm>
            <a:off x="411480"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Communication</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9</a:t>
            </a:r>
          </a:p>
        </p:txBody>
      </p:sp>
      <p:sp>
        <p:nvSpPr>
          <p:cNvPr id="33" name="Rounded Rectangle 32"/>
          <p:cNvSpPr/>
          <p:nvPr/>
        </p:nvSpPr>
        <p:spPr>
          <a:xfrm>
            <a:off x="411480"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Booking·Assignment</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10</a:t>
            </a:r>
          </a:p>
        </p:txBody>
      </p:sp>
      <p:sp>
        <p:nvSpPr>
          <p:cNvPr id="37" name="Rounded Rectangle 36"/>
          <p:cNvSpPr/>
          <p:nvPr/>
        </p:nvSpPr>
        <p:spPr>
          <a:xfrm>
            <a:off x="411480"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Payments·Collection</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11</a:t>
            </a:r>
          </a:p>
        </p:txBody>
      </p:sp>
      <p:sp>
        <p:nvSpPr>
          <p:cNvPr id="41" name="Rounded Rectangle 40"/>
          <p:cNvSpPr/>
          <p:nvPr/>
        </p:nvSpPr>
        <p:spPr>
          <a:xfrm>
            <a:off x="411480"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Learning·Reports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12</a:t>
            </a:r>
          </a:p>
        </p:txBody>
      </p:sp>
      <p:sp>
        <p:nvSpPr>
          <p:cNvPr id="45" name="Rounded Rectangle 44"/>
          <p:cNvSpPr/>
          <p:nvPr/>
        </p:nvSpPr>
        <p:spPr>
          <a:xfrm>
            <a:off x="411480"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Settlement</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13</a:t>
            </a:r>
          </a:p>
        </p:txBody>
      </p:sp>
      <p:sp>
        <p:nvSpPr>
          <p:cNvPr id="49" name="Rounded Rectangle 48"/>
          <p:cNvSpPr/>
          <p:nvPr/>
        </p:nvSpPr>
        <p:spPr>
          <a:xfrm>
            <a:off x="411480"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Prevent Churn (care for students)</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14</a:t>
            </a:r>
          </a:p>
        </p:txBody>
      </p:sp>
      <p:sp>
        <p:nvSpPr>
          <p:cNvPr id="53" name="Rounded Rectangle 52"/>
          <p:cNvSpPr/>
          <p:nvPr/>
        </p:nvSpPr>
        <p:spPr>
          <a:xfrm>
            <a:off x="411480"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 Counseling·Recruiting</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15</a:t>
            </a:r>
          </a:p>
        </p:txBody>
      </p:sp>
      <p:sp>
        <p:nvSpPr>
          <p:cNvPr id="57" name="Rounded Rectangle 56"/>
          <p:cNvSpPr/>
          <p:nvPr/>
        </p:nvSpPr>
        <p:spPr>
          <a:xfrm>
            <a:off x="411480"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Support·Help</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16</a:t>
            </a:r>
          </a:p>
        </p:txBody>
      </p:sp>
      <p:sp>
        <p:nvSpPr>
          <p:cNvPr id="61" name="Rounded Rectangle 60"/>
          <p:cNvSpPr/>
          <p:nvPr/>
        </p:nvSpPr>
        <p:spPr>
          <a:xfrm>
            <a:off x="6141567" y="14813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17</a:t>
            </a:r>
          </a:p>
        </p:txBody>
      </p:sp>
      <p:sp>
        <p:nvSpPr>
          <p:cNvPr id="65" name="Rounded Rectangle 64"/>
          <p:cNvSpPr/>
          <p:nvPr/>
        </p:nvSpPr>
        <p:spPr>
          <a:xfrm>
            <a:off x="6141567"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18</a:t>
            </a:r>
          </a:p>
        </p:txBody>
      </p:sp>
      <p:sp>
        <p:nvSpPr>
          <p:cNvPr id="69" name="Rounded Rectangle 68"/>
          <p:cNvSpPr/>
          <p:nvPr/>
        </p:nvSpPr>
        <p:spPr>
          <a:xfrm>
            <a:off x="6141567"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(understand &amp; use)</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19</a:t>
            </a:r>
          </a:p>
        </p:txBody>
      </p:sp>
      <p:sp>
        <p:nvSpPr>
          <p:cNvPr id="73" name="Rounded Rectangle 72"/>
          <p:cNvSpPr/>
          <p:nvPr/>
        </p:nvSpPr>
        <p:spPr>
          <a:xfrm>
            <a:off x="6141567"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20</a:t>
            </a:r>
          </a:p>
        </p:txBody>
      </p:sp>
      <p:sp>
        <p:nvSpPr>
          <p:cNvPr id="77" name="Rounded Rectangle 76"/>
          <p:cNvSpPr/>
          <p:nvPr/>
        </p:nvSpPr>
        <p:spPr>
          <a:xfrm>
            <a:off x="6141567"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21</a:t>
            </a:r>
          </a:p>
        </p:txBody>
      </p:sp>
      <p:sp>
        <p:nvSpPr>
          <p:cNvPr id="81" name="Rounded Rectangle 80"/>
          <p:cNvSpPr/>
          <p:nvPr/>
        </p:nvSpPr>
        <p:spPr>
          <a:xfrm>
            <a:off x="6141567"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22</a:t>
            </a:r>
          </a:p>
        </p:txBody>
      </p:sp>
      <p:sp>
        <p:nvSpPr>
          <p:cNvPr id="85" name="Rounded Rectangle 84"/>
          <p:cNvSpPr/>
          <p:nvPr/>
        </p:nvSpPr>
        <p:spPr>
          <a:xfrm>
            <a:off x="6141567"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23</a:t>
            </a:r>
          </a:p>
        </p:txBody>
      </p:sp>
      <p:sp>
        <p:nvSpPr>
          <p:cNvPr id="89" name="Rounded Rectangle 88"/>
          <p:cNvSpPr/>
          <p:nvPr/>
        </p:nvSpPr>
        <p:spPr>
          <a:xfrm>
            <a:off x="6141567"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24</a:t>
            </a:r>
          </a:p>
        </p:txBody>
      </p:sp>
      <p:sp>
        <p:nvSpPr>
          <p:cNvPr id="93" name="Rounded Rectangle 92"/>
          <p:cNvSpPr/>
          <p:nvPr/>
        </p:nvSpPr>
        <p:spPr>
          <a:xfrm>
            <a:off x="6141567"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25</a:t>
            </a:r>
          </a:p>
        </p:txBody>
      </p:sp>
      <p:sp>
        <p:nvSpPr>
          <p:cNvPr id="97" name="Rounded Rectangle 96"/>
          <p:cNvSpPr/>
          <p:nvPr/>
        </p:nvSpPr>
        <p:spPr>
          <a:xfrm>
            <a:off x="6141567"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26</a:t>
            </a:r>
          </a:p>
        </p:txBody>
      </p:sp>
      <p:sp>
        <p:nvSpPr>
          <p:cNvPr id="101" name="Rounded Rectangle 100"/>
          <p:cNvSpPr/>
          <p:nvPr/>
        </p:nvSpPr>
        <p:spPr>
          <a:xfrm>
            <a:off x="6141567"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27</a:t>
            </a:r>
          </a:p>
        </p:txBody>
      </p:sp>
      <p:sp>
        <p:nvSpPr>
          <p:cNvPr id="105" name="Rounded Rectangle 104"/>
          <p:cNvSpPr/>
          <p:nvPr/>
        </p:nvSpPr>
        <p:spPr>
          <a:xfrm>
            <a:off x="6141567"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28</a:t>
            </a:r>
          </a:p>
        </p:txBody>
      </p:sp>
      <p:sp>
        <p:nvSpPr>
          <p:cNvPr id="109" name="Rounded Rectangle 108"/>
          <p:cNvSpPr/>
          <p:nvPr/>
        </p:nvSpPr>
        <p:spPr>
          <a:xfrm>
            <a:off x="6141567"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29</a:t>
            </a:r>
          </a:p>
        </p:txBody>
      </p:sp>
      <p:sp>
        <p:nvSpPr>
          <p:cNvPr id="113" name="Rounded Rectangle 112"/>
          <p:cNvSpPr/>
          <p:nvPr/>
        </p:nvSpPr>
        <p:spPr>
          <a:xfrm>
            <a:off x="6141567"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16" name="TextBox 115"/>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Only my agency's data</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agency account shows only 'my agency' menus and data. Other agencies or branch-wide data isn't visible, so you can focus on managing your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Log in with ID and password (social login also works).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login, menus/data for your role (agency) are applied automatically.</a:t>
            </a:r>
          </a:p>
          <a:p>
            <a:pPr>
              <a:lnSpc>
                <a:spcPct val="115000"/>
              </a:lnSpc>
              <a:spcAft>
                <a:spcPts val="600"/>
              </a:spcAft>
            </a:pPr>
            <a:r>
              <a:rPr sz="1050" b="1">
                <a:solidFill>
                  <a:srgbClr val="E11D48"/>
                </a:solidFill>
                <a:latin typeface="Malgun Gothic"/>
              </a:rPr>
              <a:t>● </a:t>
            </a:r>
            <a:r>
              <a:rPr sz="1250">
                <a:solidFill>
                  <a:srgbClr val="334155"/>
                </a:solidFill>
                <a:latin typeface="Malgun Gothic"/>
              </a:rPr>
              <a:t>Forgot your password? Reset via 'Find password'.</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Only your agency's student/revenue data shows.</a:t>
            </a:r>
          </a:p>
          <a:p>
            <a:pPr>
              <a:lnSpc>
                <a:spcPct val="115000"/>
              </a:lnSpc>
              <a:spcAft>
                <a:spcPts val="200"/>
              </a:spcAft>
            </a:pPr>
            <a:r>
              <a:rPr sz="900" b="1">
                <a:solidFill>
                  <a:srgbClr val="E11D48"/>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Page &amp; Admin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Open the management screen from My Page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Agency operations also start from 'My Page.' After logging in, press the 📊 'Admin' button in the My Page menu to enter the agency-scope admin (operations) dashboard, where you manage students, revenue, lessons and settlement.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After logging in, open '👤 My Page'.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the 📊 'Admin' button in the My Page menu. (goes to the admin dashboard)</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the admin dashboard, check your agency revenue, enrollment and today's lessons.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My Page also has postpone/change, new inquiry, all-menu, pre-check and more.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If text looks English, use the EN button to switch language.</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One 'Admin' button takes you straight to the operations dashboard.</a:t>
            </a:r>
          </a:p>
          <a:p>
            <a:pPr>
              <a:lnSpc>
                <a:spcPct val="115000"/>
              </a:lnSpc>
              <a:spcAft>
                <a:spcPts val="200"/>
              </a:spcAft>
            </a:pPr>
            <a:r>
              <a:rPr sz="900" b="1">
                <a:solidFill>
                  <a:srgbClr val="E11D48"/>
                </a:solidFill>
                <a:latin typeface="Malgun Gothic"/>
              </a:rPr>
              <a:t>● </a:t>
            </a:r>
            <a:r>
              <a:rPr sz="1100">
                <a:solidFill>
                  <a:srgbClr val="334155"/>
                </a:solidFill>
                <a:latin typeface="Malgun Gothic"/>
              </a:rPr>
              <a:t>All dashboard data is auto-totaled to 'your agency scope'.</a:t>
            </a:r>
          </a:p>
          <a:p>
            <a:pPr>
              <a:lnSpc>
                <a:spcPct val="115000"/>
              </a:lnSpc>
              <a:spcAft>
                <a:spcPts val="200"/>
              </a:spcAft>
            </a:pPr>
            <a:r>
              <a:rPr sz="900" b="1">
                <a:solidFill>
                  <a:srgbClr val="E11D48"/>
                </a:solidFill>
                <a:latin typeface="Malgun Gothic"/>
              </a:rPr>
              <a:t>● </a:t>
            </a:r>
            <a:r>
              <a:rPr sz="1100">
                <a:solidFill>
                  <a:srgbClr val="334155"/>
                </a:solidFill>
                <a:latin typeface="Malgun Gothic"/>
              </a:rPr>
              <a:t>Menus and data are set automatically by your role (agency).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My Page and the admin dashboard open only within the logged-in agency account's permission scope.</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Each day, go My Page → Admin dashboard to check your agency metrics.</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Your students·revenue·today's lessons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login, your agency's enrollment, revenue and today's lessons are organized as cards. Find features fast with the search box.</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today's revenue, enrollment and attendance (your agency) at the top.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Tap features from the category cards (students, accounting, content, etc.).</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the live (LIVE) lesson status.</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Numbers are auto-totaled to 'your agency scope'.</a:t>
            </a:r>
          </a:p>
          <a:p>
            <a:pPr>
              <a:lnSpc>
                <a:spcPct val="115000"/>
              </a:lnSpc>
              <a:spcAft>
                <a:spcPts val="200"/>
              </a:spcAft>
            </a:pPr>
            <a:r>
              <a:rPr sz="900" b="1">
                <a:solidFill>
                  <a:srgbClr val="E11D48"/>
                </a:solidFill>
                <a:latin typeface="Malgun Gothic"/>
              </a:rPr>
              <a:t>● </a:t>
            </a:r>
            <a:r>
              <a:rPr sz="1100">
                <a:solidFill>
                  <a:srgbClr val="334155"/>
                </a:solidFill>
                <a:latin typeface="Malgun Gothic"/>
              </a:rPr>
              <a:t>If a feature is hard to find, search is fastest.</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morning metrics check quickly tells you your academy's status.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Look up/act by voice or text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helps you look up and handle things within your agency scope. Especially handy during busy counseling hours.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AI looks up or opens a screen. e.g. 'Open student management.'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Important actions are confirmed with 'Shall I?' first.</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Voice is much faster than clicking.</a:t>
            </a:r>
          </a:p>
          <a:p>
            <a:pPr>
              <a:lnSpc>
                <a:spcPct val="115000"/>
              </a:lnSpc>
              <a:spcAft>
                <a:spcPts val="200"/>
              </a:spcAft>
            </a:pPr>
            <a:r>
              <a:rPr sz="900" b="1">
                <a:solidFill>
                  <a:srgbClr val="E11D48"/>
                </a:solidFill>
                <a:latin typeface="Malgun Gothic"/>
              </a:rPr>
              <a:t>● </a:t>
            </a:r>
            <a:r>
              <a:rPr sz="1100">
                <a:solidFill>
                  <a:srgbClr val="334155"/>
                </a:solidFill>
                <a:latin typeface="Malgun Gothic"/>
              </a:rPr>
              <a:t>Only permitted actions are handled, safely.</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Can't find a button? Just say 'open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Recruit·Enroll·Manage Students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counseling to enrollment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new counseling, enroll students, and manage enrolled students' attendance, grades and history. This is your agency's core work.</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Take new counseling and convert to enrollment.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Manage the roster/history in Students/Parents.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attendance/reviews/points/chat history by student.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Flag and care for students who need attention.</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The student list is linked to real member data.</a:t>
            </a:r>
          </a:p>
          <a:p>
            <a:pPr>
              <a:lnSpc>
                <a:spcPct val="115000"/>
              </a:lnSpc>
              <a:spcAft>
                <a:spcPts val="200"/>
              </a:spcAft>
            </a:pPr>
            <a:r>
              <a:rPr sz="900" b="1">
                <a:solidFill>
                  <a:srgbClr val="E11D48"/>
                </a:solidFill>
                <a:latin typeface="Malgun Gothic"/>
              </a:rPr>
              <a:t>● </a:t>
            </a:r>
            <a:r>
              <a:rPr sz="1100">
                <a:solidFill>
                  <a:srgbClr val="334155"/>
                </a:solidFill>
                <a:latin typeface="Malgun Gothic"/>
              </a:rPr>
              <a:t>Raising the counsel→enroll conversion is key to growth.</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thorough counseling notes greatly helps re-counseling and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Communication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Guide My Page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parents to My Page so they can check their child's learning themselves. It reduces inquiries and raises satisfaction and re-enrollment.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Share the My Page link with parents.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Parents check attendance/reviews/payments/reports with the child's student ID.</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Share growth with the monthly report (print/PDF).</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Parent satisfaction leads to re-enrollment.</a:t>
            </a:r>
          </a:p>
          <a:p>
            <a:pPr>
              <a:lnSpc>
                <a:spcPct val="115000"/>
              </a:lnSpc>
              <a:spcAft>
                <a:spcPts val="200"/>
              </a:spcAft>
            </a:pPr>
            <a:r>
              <a:rPr sz="900" b="1">
                <a:solidFill>
                  <a:srgbClr val="E11D48"/>
                </a:solidFill>
                <a:latin typeface="Malgun Gothic"/>
              </a:rPr>
              <a:t>● </a:t>
            </a:r>
            <a:r>
              <a:rPr sz="1100">
                <a:solidFill>
                  <a:srgbClr val="334155"/>
                </a:solidFill>
                <a:latin typeface="Malgun Gothic"/>
              </a:rPr>
              <a:t>Advise managing the student ID like a password.</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periodically builds parent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Booking·Assignment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and teacher</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Assign a student's lesson type, time and teacher, and manage booking status. Handle postpone/change requests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Assign lesson type, teacher and time in Booking.</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empty slots/overlaps and adjust.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Handle students' postpone/change requests per policy.</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Assign popular slots in advance.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Announcing the postpone cutoff reduces no-shows.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Pre-registering each teacher's available times speeds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Payments·Collection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Payments·overdue·refunds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Process your agency's payments, overdue and refunds. Amounts auto-calculate by policy, and overdue is managed with alerts.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Process payments/overdue/refunds in Accounting/Points.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Notify overdue via alert-talk/SMS.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Amounts are auto-calculated per the refund table.</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Automate overdue alerts to raise collection.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Discounted-payment refunds recalc at list price.</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collection status regularly stabilizes revenue.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Learning·Reports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Progress·performance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your students' attendance, reviews and learning progress, and review performance with reports. Use it for parent counseling and re-enrollment persuasion.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each student's attendance·reviews·progress.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Summarize performance with the monthly report.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Use reports in parent counseling.</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Showing data builds parent trust.</a:t>
            </a:r>
          </a:p>
          <a:p>
            <a:pPr>
              <a:lnSpc>
                <a:spcPct val="115000"/>
              </a:lnSpc>
              <a:spcAft>
                <a:spcPts val="200"/>
              </a:spcAft>
            </a:pPr>
            <a:r>
              <a:rPr sz="900" b="1">
                <a:solidFill>
                  <a:srgbClr val="E11D48"/>
                </a:solidFill>
                <a:latin typeface="Malgun Gothic"/>
              </a:rPr>
              <a:t>● </a:t>
            </a:r>
            <a:r>
              <a:rPr sz="1100">
                <a:solidFill>
                  <a:srgbClr val="334155"/>
                </a:solidFill>
                <a:latin typeface="Malgun Gothic"/>
              </a:rPr>
              <a:t>Link high-performing students to reviews/referrals.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Showing performance with a report before re-enrollment makes persuasion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Settlement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Receive branch→agency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the settlement coming from the branch to your agency. Revenue and commissions are auto-calculated down the org tree, so you can see your share transparently.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branch→agency settlement (received) by month.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Review the revenue/commission calculation details.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Save (PDF) the settlement report to keep.</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Settlement is auto-calculated by the org tree.</a:t>
            </a:r>
          </a:p>
          <a:p>
            <a:pPr>
              <a:lnSpc>
                <a:spcPct val="115000"/>
              </a:lnSpc>
              <a:spcAft>
                <a:spcPts val="200"/>
              </a:spcAft>
            </a:pPr>
            <a:r>
              <a:rPr sz="900" b="1">
                <a:solidFill>
                  <a:srgbClr val="E11D48"/>
                </a:solidFill>
                <a:latin typeface="Malgun Gothic"/>
              </a:rPr>
              <a:t>● </a:t>
            </a:r>
            <a:r>
              <a:rPr sz="1100">
                <a:solidFill>
                  <a:srgbClr val="334155"/>
                </a:solidFill>
                <a:latin typeface="Malgun Gothic"/>
              </a:rPr>
              <a:t>Ask the branch/HQ to confirm any off items.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Viewing revenue and settlement together clarifies your agency's profit structure.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Prevent Churn (care for students)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Spot at-risk early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Find students likely to quit early and care for them. Quickly caring for students with frequent absences or dropping performance raises re-enrollment.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churn-risk signals (absences·performance drop).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Intervene on at-risk students with counseling/alert-talk.</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Manage family/referral relationships too.</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Care before re-enrollment season is especially important.</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Caring first for frequently-absent students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 Counseling·Recruiting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Intake·conversion</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new counseling/inquiries and convert to enrollment. Recruiting is the starting point of agency growth.</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Take new counseling/inquiries.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Record the counseling and convert to enrollment.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Drive enrollment with trial lessons·level tests.</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Fast response raises conversion.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Make the trial→enroll flow smooth.</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Following up after counseling raises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Support·Help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 branch·HQ support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problem comes up in operations, contact branch/HQ support. System/settlement/policy questions get resolved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Route settlement/policy questions to the branch/HQ.</a:t>
            </a:r>
          </a:p>
          <a:p>
            <a:pPr>
              <a:lnSpc>
                <a:spcPct val="115000"/>
              </a:lnSpc>
              <a:spcAft>
                <a:spcPts val="600"/>
              </a:spcAft>
            </a:pPr>
            <a:r>
              <a:rPr sz="1050" b="1">
                <a:solidFill>
                  <a:srgbClr val="E11D48"/>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System issues resolve fast with remote support.</a:t>
            </a:r>
          </a:p>
          <a:p>
            <a:pPr>
              <a:lnSpc>
                <a:spcPct val="115000"/>
              </a:lnSpc>
              <a:spcAft>
                <a:spcPts val="200"/>
              </a:spcAft>
            </a:pPr>
            <a:r>
              <a:rPr sz="900" b="1">
                <a:solidFill>
                  <a:srgbClr val="E11D48"/>
                </a:solidFill>
                <a:latin typeface="Malgun Gothic"/>
              </a:rPr>
              <a:t>● </a:t>
            </a:r>
            <a:r>
              <a:rPr sz="1100">
                <a:solidFill>
                  <a:srgbClr val="334155"/>
                </a:solidFill>
                <a:latin typeface="Malgun Gothic"/>
              </a:rPr>
              <a:t>For 'can't enter' tickets, check browser/permission first.</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Compiling common inquiries and fixes speeds up counseling.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11D48"/>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(understand &amp; use)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Linked to motivation·re-enrollment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gives 🌟 praise points (+1P) to students on the spot, and an end-of-class rating (+10P) adds up into the student's total points. Points lead to shop/gift rewards, helping motivation and re-enrollment. Your agency understands and uses this flow for performance.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The teacher gives +1P via the 🌟 praise button on a student's video during class.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It accrues live in the student's 🧺 point basket and sums into their total.</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Points connect to shop/roulette/gift rewards.</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Instant rewards boost participation and re-enrollment.</a:t>
            </a:r>
          </a:p>
          <a:p>
            <a:pPr>
              <a:lnSpc>
                <a:spcPct val="115000"/>
              </a:lnSpc>
              <a:spcAft>
                <a:spcPts val="200"/>
              </a:spcAft>
            </a:pPr>
            <a:r>
              <a:rPr sz="900" b="1">
                <a:solidFill>
                  <a:srgbClr val="E11D48"/>
                </a:solidFill>
                <a:latin typeface="Malgun Gothic"/>
              </a:rPr>
              <a:t>● </a:t>
            </a:r>
            <a:r>
              <a:rPr sz="1100">
                <a:solidFill>
                  <a:srgbClr val="334155"/>
                </a:solidFill>
                <a:latin typeface="Malgun Gothic"/>
              </a:rPr>
              <a:t>Use your agency students' points/reward response as a performance signal.</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HQ (admin) configures the shop/reward/gift policy.</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Classes (teachers) where praise points flow well tend to have higher re-enrollment.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agency's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E11D48"/>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E11D48"/>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E11D48"/>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E11D48"/>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E11D48"/>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Press ‹ Collapse at the top of the left menu — it shrinks to an icon rail and the content gets wider.</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the › button in the same place to expand it again.</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collapsed state is remembered for your next visit.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Too many menus to find one? Type its name into menu search at the top.</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Screens full of tables and lists gain a lot of horizontal space.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15 sub-pages were moved onto the same light theme, so the colour jump between screens is gone.</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collapse animation was removed so low-spec PCs don't stutter.</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If the account has a nationality on file, the right language appears automatically at login.</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To change it manually, press the 🌐 EN / KR button at the top.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 manual choice is stored per account — several people can share one PC without interference.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Teacher guide slides and manuals switch to the English editions with it.</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Teacher accounts are always English — no more getting lost in a Korean screen.</a:t>
            </a:r>
          </a:p>
          <a:p>
            <a:pPr>
              <a:lnSpc>
                <a:spcPct val="115000"/>
              </a:lnSpc>
              <a:spcAft>
                <a:spcPts val="200"/>
              </a:spcAft>
            </a:pPr>
            <a:r>
              <a:rPr sz="900" b="1">
                <a:solidFill>
                  <a:srgbClr val="E11D48"/>
                </a:solidFill>
                <a:latin typeface="Malgun Gothic"/>
              </a:rPr>
              <a:t>● </a:t>
            </a:r>
            <a:r>
              <a:rPr sz="1100">
                <a:solidFill>
                  <a:srgbClr val="334155"/>
                </a:solidFill>
                <a:latin typeface="Malgun Gothic"/>
              </a:rPr>
              <a:t>Accounts with an English name no longer flip to Korean because of a Korean job title.</a:t>
            </a:r>
          </a:p>
          <a:p>
            <a:pPr>
              <a:lnSpc>
                <a:spcPct val="115000"/>
              </a:lnSpc>
              <a:spcAft>
                <a:spcPts val="200"/>
              </a:spcAft>
            </a:pPr>
            <a:r>
              <a:rPr sz="900" b="1">
                <a:solidFill>
                  <a:srgbClr val="E11D48"/>
                </a:solidFill>
                <a:latin typeface="Malgun Gothic"/>
              </a:rPr>
              <a:t>● </a:t>
            </a:r>
            <a:r>
              <a:rPr sz="110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Accounts with no nationality fall back to the old name/ID heuristic. Please fill in nationality when registering teachers.</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Send students and parents the enrolment link.</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They choose teacher → lesson options (weekly count, term, length) → days &amp; time.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slot check must pass before the pay button unlocks (payment is blocked on a clash).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confirmed payment, all sessions are created at once — verify in the admin lesson list.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Head-office prices and discount rates are managed on the pricing screen.</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Idempotent — a duplicated payment callback will not create the sessions twice.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Clashes with holidays or existing lessons are pushed back so the session count is still met.</a:t>
            </a:r>
          </a:p>
          <a:p>
            <a:pPr>
              <a:lnSpc>
                <a:spcPct val="115000"/>
              </a:lnSpc>
              <a:spcAft>
                <a:spcPts val="200"/>
              </a:spcAft>
            </a:pPr>
            <a:r>
              <a:rPr sz="900" b="1">
                <a:solidFill>
                  <a:srgbClr val="E11D48"/>
                </a:solidFill>
                <a:latin typeface="Malgun Gothic"/>
              </a:rPr>
              <a:t>● </a:t>
            </a:r>
            <a:r>
              <a:rPr sz="1100">
                <a:solidFill>
                  <a:srgbClr val="334155"/>
                </a:solidFill>
                <a:latin typeface="Malgun Gothic"/>
              </a:rPr>
              <a:t>Term discounts (6 months −5%, 12 months −10%) are applied to the amount automatically.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Stage 1 (enrol → pay → auto-create sessions) is live today. Later stages will follow.</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Consultation → level test → send the enrolment link is the smoothest conversion path.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Agency Features at a Glance</a:t>
            </a:r>
          </a:p>
        </p:txBody>
      </p:sp>
      <p:graphicFrame>
        <p:nvGraphicFramePr>
          <p:cNvPr id="9" name="Table 8"/>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Feature</a:t>
                      </a:r>
                    </a:p>
                  </a:txBody>
                  <a:tcPr>
                    <a:solidFill>
                      <a:srgbClr val="E11D48"/>
                    </a:solidFill>
                  </a:tcPr>
                </a:tc>
                <a:tc>
                  <a:txBody>
                    <a:bodyPr/>
                    <a:lstStyle/>
                    <a:p>
                      <a:pPr algn="ctr"/>
                      <a:r>
                        <a:rPr sz="1300" b="1">
                          <a:solidFill>
                            <a:srgbClr val="FFFFFF"/>
                          </a:solidFill>
                          <a:latin typeface="Malgun Gothic"/>
                        </a:rPr>
                        <a:t>What it does</a:t>
                      </a:r>
                    </a:p>
                  </a:txBody>
                  <a:tcPr>
                    <a:solidFill>
                      <a:srgbClr val="E11D48"/>
                    </a:solidFill>
                  </a:tcPr>
                </a:tc>
                <a:tc>
                  <a:txBody>
                    <a:bodyPr/>
                    <a:lstStyle/>
                    <a:p>
                      <a:pPr algn="ctr"/>
                      <a:r>
                        <a:rPr sz="1300" b="1">
                          <a:solidFill>
                            <a:srgbClr val="FFFFFF"/>
                          </a:solidFill>
                          <a:latin typeface="Malgun Gothic"/>
                        </a:rPr>
                        <a:t>When</a:t>
                      </a:r>
                    </a:p>
                  </a:txBody>
                  <a:tcPr>
                    <a:solidFill>
                      <a:srgbClr val="E11D48"/>
                    </a:solidFill>
                  </a:tcPr>
                </a:tc>
                <a:tc>
                  <a:txBody>
                    <a:bodyPr/>
                    <a:lstStyle/>
                    <a:p>
                      <a:pPr algn="ctr"/>
                      <a:r>
                        <a:rPr sz="1300" b="1">
                          <a:solidFill>
                            <a:srgbClr val="FFFFFF"/>
                          </a:solidFill>
                          <a:latin typeface="Malgun Gothic"/>
                        </a:rPr>
                        <a:t>Core benefit</a:t>
                      </a:r>
                    </a:p>
                  </a:txBody>
                  <a:tcPr>
                    <a:solidFill>
                      <a:srgbClr val="E11D48"/>
                    </a:solidFill>
                  </a:tcPr>
                </a:tc>
              </a:tr>
              <a:tr h="508000">
                <a:tc>
                  <a:txBody>
                    <a:bodyPr/>
                    <a:lstStyle/>
                    <a:p>
                      <a:pPr algn="l"/>
                      <a:r>
                        <a:rPr sz="1200" b="1">
                          <a:solidFill>
                            <a:srgbClr val="334155"/>
                          </a:solidFill>
                          <a:latin typeface="Malgun Gothic"/>
                        </a:rPr>
                        <a:t>Dashboard</a:t>
                      </a:r>
                    </a:p>
                  </a:txBody>
                  <a:tcPr>
                    <a:solidFill>
                      <a:srgbClr val="FFFFFF"/>
                    </a:solidFill>
                  </a:tcPr>
                </a:tc>
                <a:tc>
                  <a:txBody>
                    <a:bodyPr/>
                    <a:lstStyle/>
                    <a:p>
                      <a:pPr algn="ctr"/>
                      <a:r>
                        <a:rPr sz="1200">
                          <a:solidFill>
                            <a:srgbClr val="334155"/>
                          </a:solidFill>
                          <a:latin typeface="Malgun Gothic"/>
                        </a:rPr>
                        <a:t>Revenue·enrollment·today</a:t>
                      </a:r>
                    </a:p>
                  </a:txBody>
                  <a:tcPr>
                    <a:solidFill>
                      <a:srgbClr val="FFFFFF"/>
                    </a:solidFill>
                  </a:tcPr>
                </a:tc>
                <a:tc>
                  <a:txBody>
                    <a:bodyPr/>
                    <a:lstStyle/>
                    <a:p>
                      <a:pPr algn="ctr"/>
                      <a:r>
                        <a:rPr sz="1200">
                          <a:solidFill>
                            <a:srgbClr val="334155"/>
                          </a:solidFill>
                          <a:latin typeface="Malgun Gothic"/>
                        </a:rPr>
                        <a:t>Every morning</a:t>
                      </a:r>
                    </a:p>
                  </a:txBody>
                  <a:tcPr>
                    <a:solidFill>
                      <a:srgbClr val="FFFFFF"/>
                    </a:solidFill>
                  </a:tcPr>
                </a:tc>
                <a:tc>
                  <a:txBody>
                    <a:bodyPr/>
                    <a:lstStyle/>
                    <a:p>
                      <a:pPr algn="ctr"/>
                      <a:r>
                        <a:rPr sz="1200">
                          <a:solidFill>
                            <a:srgbClr val="334155"/>
                          </a:solidFill>
                          <a:latin typeface="Malgun Gothic"/>
                        </a:rPr>
                        <a:t>Quick read</a:t>
                      </a:r>
                    </a:p>
                  </a:txBody>
                  <a:tcPr>
                    <a:solidFill>
                      <a:srgbClr val="FFFFFF"/>
                    </a:solidFill>
                  </a:tcPr>
                </a:tc>
              </a:tr>
              <a:tr h="508000">
                <a:tc>
                  <a:txBody>
                    <a:bodyPr/>
                    <a:lstStyle/>
                    <a:p>
                      <a:pPr algn="l"/>
                      <a:r>
                        <a:rPr sz="1200" b="1">
                          <a:solidFill>
                            <a:srgbClr val="334155"/>
                          </a:solidFill>
                          <a:latin typeface="Malgun Gothic"/>
                        </a:rPr>
                        <a:t>Student mgmt</a:t>
                      </a:r>
                    </a:p>
                  </a:txBody>
                  <a:tcPr>
                    <a:solidFill>
                      <a:srgbClr val="F8FAFC"/>
                    </a:solidFill>
                  </a:tcPr>
                </a:tc>
                <a:tc>
                  <a:txBody>
                    <a:bodyPr/>
                    <a:lstStyle/>
                    <a:p>
                      <a:pPr algn="ctr"/>
                      <a:r>
                        <a:rPr sz="1200">
                          <a:solidFill>
                            <a:srgbClr val="334155"/>
                          </a:solidFill>
                          <a:latin typeface="Malgun Gothic"/>
                        </a:rPr>
                        <a:t>Recruit·enroll·history</a:t>
                      </a:r>
                    </a:p>
                  </a:txBody>
                  <a:tcPr>
                    <a:solidFill>
                      <a:srgbClr val="F8FAFC"/>
                    </a:solidFill>
                  </a:tcPr>
                </a:tc>
                <a:tc>
                  <a:txBody>
                    <a:bodyPr/>
                    <a:lstStyle/>
                    <a:p>
                      <a:pPr algn="ctr"/>
                      <a:r>
                        <a:rPr sz="1200">
                          <a:solidFill>
                            <a:srgbClr val="334155"/>
                          </a:solidFill>
                          <a:latin typeface="Malgun Gothic"/>
                        </a:rPr>
                        <a:t>Always</a:t>
                      </a:r>
                    </a:p>
                  </a:txBody>
                  <a:tcPr>
                    <a:solidFill>
                      <a:srgbClr val="F8FAFC"/>
                    </a:solidFill>
                  </a:tcPr>
                </a:tc>
                <a:tc>
                  <a:txBody>
                    <a:bodyPr/>
                    <a:lstStyle/>
                    <a:p>
                      <a:pPr algn="ctr"/>
                      <a:r>
                        <a:rPr sz="1200">
                          <a:solidFill>
                            <a:srgbClr val="334155"/>
                          </a:solidFill>
                          <a:latin typeface="Malgun Gothic"/>
                        </a:rPr>
                        <a:t>Grow enrollment</a:t>
                      </a:r>
                    </a:p>
                  </a:txBody>
                  <a:tcPr>
                    <a:solidFill>
                      <a:srgbClr val="F8FAFC"/>
                    </a:solidFill>
                  </a:tcPr>
                </a:tc>
              </a:tr>
              <a:tr h="508000">
                <a:tc>
                  <a:txBody>
                    <a:bodyPr/>
                    <a:lstStyle/>
                    <a:p>
                      <a:pPr algn="l"/>
                      <a:r>
                        <a:rPr sz="1200" b="1">
                          <a:solidFill>
                            <a:srgbClr val="334155"/>
                          </a:solidFill>
                          <a:latin typeface="Malgun Gothic"/>
                        </a:rPr>
                        <a:t>Parent comm</a:t>
                      </a:r>
                    </a:p>
                  </a:txBody>
                  <a:tcPr>
                    <a:solidFill>
                      <a:srgbClr val="FFFFFF"/>
                    </a:solidFill>
                  </a:tcPr>
                </a:tc>
                <a:tc>
                  <a:txBody>
                    <a:bodyPr/>
                    <a:lstStyle/>
                    <a:p>
                      <a:pPr algn="ctr"/>
                      <a:r>
                        <a:rPr sz="1200">
                          <a:solidFill>
                            <a:srgbClr val="334155"/>
                          </a:solidFill>
                          <a:latin typeface="Malgun Gothic"/>
                        </a:rPr>
                        <a:t>Guide My Page</a:t>
                      </a:r>
                    </a:p>
                  </a:txBody>
                  <a:tcPr>
                    <a:solidFill>
                      <a:srgbClr val="FFFFFF"/>
                    </a:solidFill>
                  </a:tcPr>
                </a:tc>
                <a:tc>
                  <a:txBody>
                    <a:bodyPr/>
                    <a:lstStyle/>
                    <a:p>
                      <a:pPr algn="ctr"/>
                      <a:r>
                        <a:rPr sz="1200">
                          <a:solidFill>
                            <a:srgbClr val="334155"/>
                          </a:solidFill>
                          <a:latin typeface="Malgun Gothic"/>
                        </a:rPr>
                        <a:t>Enroll·re-enroll</a:t>
                      </a:r>
                    </a:p>
                  </a:txBody>
                  <a:tcPr>
                    <a:solidFill>
                      <a:srgbClr val="FFFFFF"/>
                    </a:solidFill>
                  </a:tcPr>
                </a:tc>
                <a:tc>
                  <a:txBody>
                    <a:bodyPr/>
                    <a:lstStyle/>
                    <a:p>
                      <a:pPr algn="ctr"/>
                      <a:r>
                        <a:rPr sz="1200">
                          <a:solidFill>
                            <a:srgbClr val="334155"/>
                          </a:solidFill>
                          <a:latin typeface="Malgun Gothic"/>
                        </a:rPr>
                        <a:t>Satisfaction ↑</a:t>
                      </a:r>
                    </a:p>
                  </a:txBody>
                  <a:tcPr>
                    <a:solidFill>
                      <a:srgbClr val="FFFFFF"/>
                    </a:solidFill>
                  </a:tcPr>
                </a:tc>
              </a:tr>
              <a:tr h="508000">
                <a:tc>
                  <a:txBody>
                    <a:bodyPr/>
                    <a:lstStyle/>
                    <a:p>
                      <a:pPr algn="l"/>
                      <a:r>
                        <a:rPr sz="1200" b="1">
                          <a:solidFill>
                            <a:srgbClr val="334155"/>
                          </a:solidFill>
                          <a:latin typeface="Malgun Gothic"/>
                        </a:rPr>
                        <a:t>Booking</a:t>
                      </a:r>
                    </a:p>
                  </a:txBody>
                  <a:tcPr>
                    <a:solidFill>
                      <a:srgbClr val="F8FAFC"/>
                    </a:solidFill>
                  </a:tcPr>
                </a:tc>
                <a:tc>
                  <a:txBody>
                    <a:bodyPr/>
                    <a:lstStyle/>
                    <a:p>
                      <a:pPr algn="ctr"/>
                      <a:r>
                        <a:rPr sz="1200">
                          <a:solidFill>
                            <a:srgbClr val="334155"/>
                          </a:solidFill>
                          <a:latin typeface="Malgun Gothic"/>
                        </a:rPr>
                        <a:t>Schedule·teacher</a:t>
                      </a:r>
                    </a:p>
                  </a:txBody>
                  <a:tcPr>
                    <a:solidFill>
                      <a:srgbClr val="F8FAFC"/>
                    </a:solidFill>
                  </a:tcPr>
                </a:tc>
                <a:tc>
                  <a:txBody>
                    <a:bodyPr/>
                    <a:lstStyle/>
                    <a:p>
                      <a:pPr algn="ctr"/>
                      <a:r>
                        <a:rPr sz="1200">
                          <a:solidFill>
                            <a:srgbClr val="334155"/>
                          </a:solidFill>
                          <a:latin typeface="Malgun Gothic"/>
                        </a:rPr>
                        <a:t>Assigning lessons</a:t>
                      </a:r>
                    </a:p>
                  </a:txBody>
                  <a:tcPr>
                    <a:solidFill>
                      <a:srgbClr val="F8FAFC"/>
                    </a:solidFill>
                  </a:tcPr>
                </a:tc>
                <a:tc>
                  <a:txBody>
                    <a:bodyPr/>
                    <a:lstStyle/>
                    <a:p>
                      <a:pPr algn="ctr"/>
                      <a:r>
                        <a:rPr sz="1200">
                          <a:solidFill>
                            <a:srgbClr val="334155"/>
                          </a:solidFill>
                          <a:latin typeface="Malgun Gothic"/>
                        </a:rPr>
                        <a:t>Smooth flow</a:t>
                      </a:r>
                    </a:p>
                  </a:txBody>
                  <a:tcPr>
                    <a:solidFill>
                      <a:srgbClr val="F8FAFC"/>
                    </a:solidFill>
                  </a:tcPr>
                </a:tc>
              </a:tr>
              <a:tr h="508000">
                <a:tc>
                  <a:txBody>
                    <a:bodyPr/>
                    <a:lstStyle/>
                    <a:p>
                      <a:pPr algn="l"/>
                      <a:r>
                        <a:rPr sz="1200" b="1">
                          <a:solidFill>
                            <a:srgbClr val="334155"/>
                          </a:solidFill>
                          <a:latin typeface="Malgun Gothic"/>
                        </a:rPr>
                        <a:t>Payments</a:t>
                      </a:r>
                    </a:p>
                  </a:txBody>
                  <a:tcPr>
                    <a:solidFill>
                      <a:srgbClr val="FFFFFF"/>
                    </a:solidFill>
                  </a:tcPr>
                </a:tc>
                <a:tc>
                  <a:txBody>
                    <a:bodyPr/>
                    <a:lstStyle/>
                    <a:p>
                      <a:pPr algn="ctr"/>
                      <a:r>
                        <a:rPr sz="1200">
                          <a:solidFill>
                            <a:srgbClr val="334155"/>
                          </a:solidFill>
                          <a:latin typeface="Malgun Gothic"/>
                        </a:rPr>
                        <a:t>Payments·overdue·refunds</a:t>
                      </a:r>
                    </a:p>
                  </a:txBody>
                  <a:tcPr>
                    <a:solidFill>
                      <a:srgbClr val="FFFFFF"/>
                    </a:solidFill>
                  </a:tcPr>
                </a:tc>
                <a:tc>
                  <a:txBody>
                    <a:bodyPr/>
                    <a:lstStyle/>
                    <a:p>
                      <a:pPr algn="ctr"/>
                      <a:r>
                        <a:rPr sz="1200">
                          <a:solidFill>
                            <a:srgbClr val="334155"/>
                          </a:solidFill>
                          <a:latin typeface="Malgun Gothic"/>
                        </a:rPr>
                        <a:t>Collection</a:t>
                      </a:r>
                    </a:p>
                  </a:txBody>
                  <a:tcPr>
                    <a:solidFill>
                      <a:srgbClr val="FFFFFF"/>
                    </a:solidFill>
                  </a:tcPr>
                </a:tc>
                <a:tc>
                  <a:txBody>
                    <a:bodyPr/>
                    <a:lstStyle/>
                    <a:p>
                      <a:pPr algn="ctr"/>
                      <a:r>
                        <a:rPr sz="1200">
                          <a:solidFill>
                            <a:srgbClr val="334155"/>
                          </a:solidFill>
                          <a:latin typeface="Malgun Gothic"/>
                        </a:rPr>
                        <a:t>Stable revenue</a:t>
                      </a:r>
                    </a:p>
                  </a:txBody>
                  <a:tcPr>
                    <a:solidFill>
                      <a:srgbClr val="FFFFFF"/>
                    </a:solidFill>
                  </a:tcPr>
                </a:tc>
              </a:tr>
              <a:tr h="508000">
                <a:tc>
                  <a:txBody>
                    <a:bodyPr/>
                    <a:lstStyle/>
                    <a:p>
                      <a:pPr algn="l"/>
                      <a:r>
                        <a:rPr sz="1200" b="1">
                          <a:solidFill>
                            <a:srgbClr val="334155"/>
                          </a:solidFill>
                          <a:latin typeface="Malgun Gothic"/>
                        </a:rPr>
                        <a:t>Reports</a:t>
                      </a:r>
                    </a:p>
                  </a:txBody>
                  <a:tcPr>
                    <a:solidFill>
                      <a:srgbClr val="F8FAFC"/>
                    </a:solidFill>
                  </a:tcPr>
                </a:tc>
                <a:tc>
                  <a:txBody>
                    <a:bodyPr/>
                    <a:lstStyle/>
                    <a:p>
                      <a:pPr algn="ctr"/>
                      <a:r>
                        <a:rPr sz="1200">
                          <a:solidFill>
                            <a:srgbClr val="334155"/>
                          </a:solidFill>
                          <a:latin typeface="Malgun Gothic"/>
                        </a:rPr>
                        <a:t>Learning performance</a:t>
                      </a:r>
                    </a:p>
                  </a:txBody>
                  <a:tcPr>
                    <a:solidFill>
                      <a:srgbClr val="F8FAFC"/>
                    </a:solidFill>
                  </a:tcPr>
                </a:tc>
                <a:tc>
                  <a:txBody>
                    <a:bodyPr/>
                    <a:lstStyle/>
                    <a:p>
                      <a:pPr algn="ctr"/>
                      <a:r>
                        <a:rPr sz="1200">
                          <a:solidFill>
                            <a:srgbClr val="334155"/>
                          </a:solidFill>
                          <a:latin typeface="Malgun Gothic"/>
                        </a:rPr>
                        <a:t>Counsel·re-enroll</a:t>
                      </a:r>
                    </a:p>
                  </a:txBody>
                  <a:tcPr>
                    <a:solidFill>
                      <a:srgbClr val="F8FAFC"/>
                    </a:solidFill>
                  </a:tcPr>
                </a:tc>
                <a:tc>
                  <a:txBody>
                    <a:bodyPr/>
                    <a:lstStyle/>
                    <a:p>
                      <a:pPr algn="ctr"/>
                      <a:r>
                        <a:rPr sz="1200">
                          <a:solidFill>
                            <a:srgbClr val="334155"/>
                          </a:solidFill>
                          <a:latin typeface="Malgun Gothic"/>
                        </a:rPr>
                        <a:t>Persuasion ↑</a:t>
                      </a:r>
                    </a:p>
                  </a:txBody>
                  <a:tcPr>
                    <a:solidFill>
                      <a:srgbClr val="F8FAFC"/>
                    </a:solidFill>
                  </a:tcPr>
                </a:tc>
              </a:tr>
              <a:tr h="508000">
                <a:tc>
                  <a:txBody>
                    <a:bodyPr/>
                    <a:lstStyle/>
                    <a:p>
                      <a:pPr algn="l"/>
                      <a:r>
                        <a:rPr sz="1200" b="1">
                          <a:solidFill>
                            <a:srgbClr val="334155"/>
                          </a:solidFill>
                          <a:latin typeface="Malgun Gothic"/>
                        </a:rPr>
                        <a:t>Settlement</a:t>
                      </a:r>
                    </a:p>
                  </a:txBody>
                  <a:tcPr>
                    <a:solidFill>
                      <a:srgbClr val="FFFFFF"/>
                    </a:solidFill>
                  </a:tcPr>
                </a:tc>
                <a:tc>
                  <a:txBody>
                    <a:bodyPr/>
                    <a:lstStyle/>
                    <a:p>
                      <a:pPr algn="ctr"/>
                      <a:r>
                        <a:rPr sz="1200">
                          <a:solidFill>
                            <a:srgbClr val="334155"/>
                          </a:solidFill>
                          <a:latin typeface="Malgun Gothic"/>
                        </a:rPr>
                        <a:t>Receive branch→agency</a:t>
                      </a:r>
                    </a:p>
                  </a:txBody>
                  <a:tcPr>
                    <a:solidFill>
                      <a:srgbClr val="FFFFFF"/>
                    </a:solidFill>
                  </a:tcPr>
                </a:tc>
                <a:tc>
                  <a:txBody>
                    <a:bodyPr/>
                    <a:lstStyle/>
                    <a:p>
                      <a:pPr algn="ctr"/>
                      <a:r>
                        <a:rPr sz="1200">
                          <a:solidFill>
                            <a:srgbClr val="334155"/>
                          </a:solidFill>
                          <a:latin typeface="Malgun Gothic"/>
                        </a:rPr>
                        <a:t>Monthly</a:t>
                      </a:r>
                    </a:p>
                  </a:txBody>
                  <a:tcPr>
                    <a:solidFill>
                      <a:srgbClr val="FFFFFF"/>
                    </a:solidFill>
                  </a:tcPr>
                </a:tc>
                <a:tc>
                  <a:txBody>
                    <a:bodyPr/>
                    <a:lstStyle/>
                    <a:p>
                      <a:pPr algn="ctr"/>
                      <a:r>
                        <a:rPr sz="1200">
                          <a:solidFill>
                            <a:srgbClr val="334155"/>
                          </a:solidFill>
                          <a:latin typeface="Malgun Gothic"/>
                        </a:rPr>
                        <a:t>Transparent profit</a:t>
                      </a:r>
                    </a:p>
                  </a:txBody>
                  <a:tcPr>
                    <a:solidFill>
                      <a:srgbClr val="FFFFFF"/>
                    </a:solidFill>
                  </a:tcPr>
                </a:tc>
              </a:tr>
              <a:tr h="508000">
                <a:tc>
                  <a:txBody>
                    <a:bodyPr/>
                    <a:lstStyle/>
                    <a:p>
                      <a:pPr algn="l"/>
                      <a:r>
                        <a:rPr sz="1200" b="1">
                          <a:solidFill>
                            <a:srgbClr val="334155"/>
                          </a:solidFill>
                          <a:latin typeface="Malgun Gothic"/>
                        </a:rPr>
                        <a:t>Retention</a:t>
                      </a:r>
                    </a:p>
                  </a:txBody>
                  <a:tcPr>
                    <a:solidFill>
                      <a:srgbClr val="F8FAFC"/>
                    </a:solidFill>
                  </a:tcPr>
                </a:tc>
                <a:tc>
                  <a:txBody>
                    <a:bodyPr/>
                    <a:lstStyle/>
                    <a:p>
                      <a:pPr algn="ctr"/>
                      <a:r>
                        <a:rPr sz="1200">
                          <a:solidFill>
                            <a:srgbClr val="334155"/>
                          </a:solidFill>
                          <a:latin typeface="Malgun Gothic"/>
                        </a:rPr>
                        <a:t>Care for at-risk</a:t>
                      </a:r>
                    </a:p>
                  </a:txBody>
                  <a:tcPr>
                    <a:solidFill>
                      <a:srgbClr val="F8FAFC"/>
                    </a:solidFill>
                  </a:tcPr>
                </a:tc>
                <a:tc>
                  <a:txBody>
                    <a:bodyPr/>
                    <a:lstStyle/>
                    <a:p>
                      <a:pPr algn="ctr"/>
                      <a:r>
                        <a:rPr sz="1200">
                          <a:solidFill>
                            <a:srgbClr val="334155"/>
                          </a:solidFill>
                          <a:latin typeface="Malgun Gothic"/>
                        </a:rPr>
                        <a:t>Always</a:t>
                      </a:r>
                    </a:p>
                  </a:txBody>
                  <a:tcPr>
                    <a:solidFill>
                      <a:srgbClr val="F8FAFC"/>
                    </a:solidFill>
                  </a:tcPr>
                </a:tc>
                <a:tc>
                  <a:txBody>
                    <a:bodyPr/>
                    <a:lstStyle/>
                    <a:p>
                      <a:pPr algn="ctr"/>
                      <a:r>
                        <a:rPr sz="1200">
                          <a:solidFill>
                            <a:srgbClr val="334155"/>
                          </a:solidFill>
                          <a:latin typeface="Malgun Gothic"/>
                        </a:rPr>
                        <a:t>Retention ↑</a:t>
                      </a:r>
                    </a:p>
                  </a:txBody>
                  <a:tcP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Enrollment Trend (example)</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By role (agency), only your agency's data shows automatically.</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Can I see other agencies' data?</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No. By permission scope, only your agency's data is visible.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How do I grow enrollment?</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Fast counseling response, a smooth trial→enroll flow, and persuading parents with learning reports are key.</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How do I check settlement?</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Branch→agency settlement (received) is auto-calculated by the org tree; check it in the monthly report.</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A student seems about to quit.</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Watch churn-risk signals (absences·performance drop) and intervene quickly with counseling/alert-talk.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Agency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revenue/enrollment/attendance?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take and respond to new counseling/inquiries?</a:t>
            </a:r>
          </a:p>
        </p:txBody>
      </p:sp>
      <p:sp>
        <p:nvSpPr>
          <p:cNvPr id="13" name="Rounded Rectangle 12"/>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and notify overdue items?</a:t>
            </a:r>
          </a:p>
        </p:txBody>
      </p:sp>
      <p:sp>
        <p:nvSpPr>
          <p:cNvPr id="15" name="Rounded Rectangle 14"/>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at-risk students?</a:t>
            </a:r>
          </a:p>
        </p:txBody>
      </p:sp>
      <p:sp>
        <p:nvSpPr>
          <p:cNvPr id="17" name="Rounded Rectangle 16"/>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guide parents to the report/My Page?</a:t>
            </a:r>
          </a:p>
        </p:txBody>
      </p:sp>
      <p:sp>
        <p:nvSpPr>
          <p:cNvPr id="19" name="Rounded Rectangle 18"/>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this month's settlement (received)?</a:t>
            </a:r>
          </a:p>
        </p:txBody>
      </p:sp>
      <p:sp>
        <p:nvSpPr>
          <p:cNvPr id="21" name="Rounded Rectangle 20"/>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follow up on trial→enroll?</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Conclusion · A Practical Guide to Agency Growth</a:t>
            </a:r>
          </a:p>
        </p:txBody>
      </p:sp>
      <p:sp>
        <p:nvSpPr>
          <p:cNvPr id="9" name="Rounded Rectangle 8"/>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The core of agency operations is the virtuous cycle of 'recruit → enroll → satisfy → re-enroll.' Respond to counseling fast, show learning results with data, and prevent churn early — and your agency grows steadily. Keep this rhythm and operations feel solid.</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revenue/enrollment/attendance on the dashboard; check live-lesson status</a:t>
            </a:r>
          </a:p>
        </p:txBody>
      </p:sp>
      <p:sp>
        <p:nvSpPr>
          <p:cNvPr id="15" name="Rounded Rectangle 14"/>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Respond to new counseling·convert; notify overdue</a:t>
            </a:r>
          </a:p>
        </p:txBody>
      </p:sp>
      <p:sp>
        <p:nvSpPr>
          <p:cNvPr id="18" name="Rounded Rectangle 17"/>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lesson assignment/progress; guide 'entry' tickets to browser/permission first</a:t>
            </a:r>
          </a:p>
        </p:txBody>
      </p:sp>
      <p:sp>
        <p:nvSpPr>
          <p:cNvPr id="21" name="Rounded Rectangle 20"/>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parent reports·counseling</a:t>
            </a:r>
          </a:p>
        </p:txBody>
      </p:sp>
      <p:sp>
        <p:nvSpPr>
          <p:cNvPr id="24" name="Rounded Rectangle 23"/>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branch→agency settlement; re-enroll·follow-up</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Respond fast — the faster you handle counseling/inquiries, the higher conversion.</a:t>
            </a:r>
          </a:p>
          <a:p>
            <a:pPr>
              <a:lnSpc>
                <a:spcPct val="115000"/>
              </a:lnSpc>
              <a:spcAft>
                <a:spcPts val="500"/>
              </a:spcAft>
            </a:pPr>
            <a:r>
              <a:rPr sz="900" b="1">
                <a:solidFill>
                  <a:srgbClr val="E11D48"/>
                </a:solidFill>
                <a:latin typeface="Malgun Gothic"/>
              </a:rPr>
              <a:t>● </a:t>
            </a:r>
            <a:r>
              <a:rPr sz="1100">
                <a:solidFill>
                  <a:srgbClr val="334155"/>
                </a:solidFill>
                <a:latin typeface="Malgun Gothic"/>
              </a:rPr>
              <a:t>Persuade with data — showing results via learning reports makes re-enrollment easy.</a:t>
            </a:r>
          </a:p>
          <a:p>
            <a:pPr>
              <a:lnSpc>
                <a:spcPct val="115000"/>
              </a:lnSpc>
              <a:spcAft>
                <a:spcPts val="500"/>
              </a:spcAft>
            </a:pPr>
            <a:r>
              <a:rPr sz="900" b="1">
                <a:solidFill>
                  <a:srgbClr val="E11D48"/>
                </a:solidFill>
                <a:latin typeface="Malgun Gothic"/>
              </a:rPr>
              <a:t>● </a:t>
            </a:r>
            <a:r>
              <a:rPr sz="1100">
                <a:solidFill>
                  <a:srgbClr val="334155"/>
                </a:solidFill>
                <a:latin typeface="Malgun Gothic"/>
              </a:rPr>
              <a:t>Intervene on churn early — care first for frequently-absent students.</a:t>
            </a:r>
          </a:p>
          <a:p>
            <a:pPr>
              <a:lnSpc>
                <a:spcPct val="115000"/>
              </a:lnSpc>
              <a:spcAft>
                <a:spcPts val="500"/>
              </a:spcAft>
            </a:pPr>
            <a:r>
              <a:rPr sz="900" b="1">
                <a:solidFill>
                  <a:srgbClr val="E11D48"/>
                </a:solidFill>
                <a:latin typeface="Malgun Gothic"/>
              </a:rPr>
              <a:t>● </a:t>
            </a:r>
            <a:r>
              <a:rPr sz="1100">
                <a:solidFill>
                  <a:srgbClr val="334155"/>
                </a:solidFill>
                <a:latin typeface="Malgun Gothic"/>
              </a:rPr>
              <a:t>Communicate with parents — build trust with My Page and reports.</a:t>
            </a:r>
          </a:p>
          <a:p>
            <a:pPr>
              <a:lnSpc>
                <a:spcPct val="115000"/>
              </a:lnSpc>
              <a:spcAft>
                <a:spcPts val="500"/>
              </a:spcAft>
            </a:pPr>
            <a:r>
              <a:rPr sz="900" b="1">
                <a:solidFill>
                  <a:srgbClr val="E11D48"/>
                </a:solidFill>
                <a:latin typeface="Malgun Gothic"/>
              </a:rPr>
              <a:t>● </a:t>
            </a:r>
            <a:r>
              <a:rPr sz="1100">
                <a:solidFill>
                  <a:srgbClr val="334155"/>
                </a:solidFill>
                <a:latin typeface="Malgun Gothic"/>
              </a:rPr>
              <a:t>Follow up — following up after counseling completes enrollment.</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Log in at admin.mangoi.co.kr; data is auto-limited to your agency scope</a:t>
            </a:r>
          </a:p>
          <a:p>
            <a:pPr>
              <a:lnSpc>
                <a:spcPct val="115000"/>
              </a:lnSpc>
              <a:spcAft>
                <a:spcPts val="400"/>
              </a:spcAft>
            </a:pPr>
            <a:r>
              <a:rPr sz="850" b="1">
                <a:solidFill>
                  <a:srgbClr val="0EA5E9"/>
                </a:solidFill>
                <a:latin typeface="Malgun Gothic"/>
              </a:rPr>
              <a:t>● </a:t>
            </a:r>
            <a:r>
              <a:rPr sz="1050">
                <a:solidFill>
                  <a:srgbClr val="334155"/>
                </a:solidFill>
                <a:latin typeface="Malgun Gothic"/>
              </a:rPr>
              <a:t>Settlement is auto-calculated by the branch→agency tree</a:t>
            </a:r>
          </a:p>
          <a:p>
            <a:pPr>
              <a:lnSpc>
                <a:spcPct val="115000"/>
              </a:lnSpc>
              <a:spcAft>
                <a:spcPts val="400"/>
              </a:spcAft>
            </a:pPr>
            <a:r>
              <a:rPr sz="850" b="1">
                <a:solidFill>
                  <a:srgbClr val="0EA5E9"/>
                </a:solidFill>
                <a:latin typeface="Malgun Gothic"/>
              </a:rPr>
              <a:t>● </a:t>
            </a:r>
            <a:r>
              <a:rPr sz="1050">
                <a:solidFill>
                  <a:srgbClr val="334155"/>
                </a:solidFill>
                <a:latin typeface="Malgun Gothic"/>
              </a:rPr>
              <a:t>Most 'can't enter class' tickets are browser/permission issues</a:t>
            </a:r>
          </a:p>
          <a:p>
            <a:pPr>
              <a:lnSpc>
                <a:spcPct val="115000"/>
              </a:lnSpc>
              <a:spcAft>
                <a:spcPts val="400"/>
              </a:spcAft>
            </a:pPr>
            <a:r>
              <a:rPr sz="850" b="1">
                <a:solidFill>
                  <a:srgbClr val="0EA5E9"/>
                </a:solidFill>
                <a:latin typeface="Malgun Gothic"/>
              </a:rPr>
              <a:t>● </a:t>
            </a:r>
            <a:r>
              <a:rPr sz="1050">
                <a:solidFill>
                  <a:srgbClr val="334155"/>
                </a:solidFill>
                <a:latin typeface="Malgun Gothic"/>
              </a:rPr>
              <a:t>Growth rhythm: 'Recruit → Enroll → Satisfy → Re-enroll'!</a:t>
            </a:r>
          </a:p>
        </p:txBody>
      </p:sp>
      <p:sp>
        <p:nvSpPr>
          <p:cNvPr id="31" name="Rounded Rectangle 30"/>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An agency's strength comes from 'the care you give each student.' Respond quickly, show results, and prevent churn early. Your branch and HQ back you up solidly. Questions? Contact support anytime — cheering on your thriving agency!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