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값</c:v>
                </c:pt>
              </c:strCache>
            </c:strRef>
          </c:tx>
          <c:dPt>
            <c:idx val="0"/>
            <c:spPr>
              <a:solidFill>
                <a:srgbClr val="E11D48"/>
              </a:solidFill>
            </c:spPr>
          </c:dPt>
          <c:dPt>
            <c:idx val="1"/>
            <c:spPr>
              <a:solidFill>
                <a:srgbClr val="F59E0B"/>
              </a:solidFill>
            </c:spPr>
          </c:dPt>
          <c:dPt>
            <c:idx val="2"/>
            <c:spPr>
              <a:solidFill>
                <a:srgbClr val="0EA5E9"/>
              </a:solidFill>
            </c:spPr>
          </c:dPt>
          <c:cat>
            <c:strRef>
              <c:f>Sheet1!$A$2:$A$4</c:f>
              <c:strCache>
                <c:ptCount val="3"/>
                <c:pt idx="0">
                  <c:v>Revenue (10k KRW)</c:v>
                </c:pt>
                <c:pt idx="1">
                  <c:v>Enrolled</c:v>
                </c:pt>
                <c:pt idx="2">
                  <c:v>Attendance (%)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46</c:v>
                </c:pt>
                <c:pt idx="1">
                  <c:v>180</c:v>
                </c:pt>
                <c:pt idx="2">
                  <c:v>93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 b="1">
                  <a:latin typeface="Malgun Gothic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Malgun Gothic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Malgun Gothic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값</c:v>
                </c:pt>
              </c:strCache>
            </c:strRef>
          </c:tx>
          <c:spPr>
            <a:solidFill>
              <a:srgbClr val="E11D48"/>
            </a:solidFill>
          </c:spP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120</c:v>
                </c:pt>
                <c:pt idx="1">
                  <c:v>135</c:v>
                </c:pt>
                <c:pt idx="2">
                  <c:v>150</c:v>
                </c:pt>
                <c:pt idx="3">
                  <c:v>162</c:v>
                </c:pt>
                <c:pt idx="4">
                  <c:v>171</c:v>
                </c:pt>
                <c:pt idx="5">
                  <c:v>180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 b="1">
                  <a:latin typeface="Malgun Gothic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Malgun Gothic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Malgun Gothic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값</c:v>
                </c:pt>
              </c:strCache>
            </c:strRef>
          </c:tx>
          <c:dPt>
            <c:idx val="0"/>
            <c:spPr>
              <a:solidFill>
                <a:srgbClr val="10B981"/>
              </a:solidFill>
            </c:spPr>
          </c:dPt>
          <c:dPt>
            <c:idx val="1"/>
            <c:spPr>
              <a:solidFill>
                <a:srgbClr val="F59E0B"/>
              </a:solidFill>
            </c:spPr>
          </c:dPt>
          <c:dPt>
            <c:idx val="2"/>
            <c:spPr>
              <a:solidFill>
                <a:srgbClr val="EF4444"/>
              </a:solidFill>
            </c:spPr>
          </c:dPt>
          <c:cat>
            <c:strRef>
              <c:f>Sheet1!$A$2:$A$4</c:f>
              <c:strCache>
                <c:ptCount val="3"/>
                <c:pt idx="0">
                  <c:v>Safe</c:v>
                </c:pt>
                <c:pt idx="1">
                  <c:v>Watch</c:v>
                </c:pt>
                <c:pt idx="2">
                  <c:v>At risk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72</c:v>
                </c:pt>
                <c:pt idx="1">
                  <c:v>20</c:v>
                </c:pt>
                <c:pt idx="2">
                  <c:v>8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 b="1">
                  <a:latin typeface="Malgun Gothi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/>
      <c:layout/>
      <c:overlay val="0"/>
      <c:txPr>
        <a:bodyPr/>
        <a:lstStyle/>
        <a:p>
          <a:pPr>
            <a:defRPr sz="1100">
              <a:latin typeface="Malgun Gothic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chart" Target="../charts/chart3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BE123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BE1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607040" y="-1097280"/>
            <a:ext cx="3840480" cy="384048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280160" y="5669280"/>
            <a:ext cx="2926080" cy="292608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14400" y="1097280"/>
            <a:ext cx="1280160" cy="128016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822960"/>
            <a:ext cx="2468880" cy="457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822960"/>
            <a:ext cx="24688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E11D48"/>
                </a:solidFill>
                <a:latin typeface="Malgun Gothic"/>
              </a:rPr>
              <a:t>🤝 AGENCY GUIDE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286000"/>
            <a:ext cx="7315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Malgun Gothic"/>
              </a:rPr>
              <a:t>Mangoi · MANGOI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697480"/>
            <a:ext cx="77724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>
                <a:solidFill>
                  <a:srgbClr val="FFFFFF"/>
                </a:solidFill>
                <a:latin typeface="Malgun Gothic"/>
              </a:rPr>
              <a:t>Agency User Guide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114800"/>
            <a:ext cx="7315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FFFFFF"/>
                </a:solidFill>
                <a:latin typeface="Malgun Gothic"/>
              </a:rPr>
              <a:t>From enrollment to lessons and settlement, in one book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943600"/>
            <a:ext cx="7315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FFFFFF"/>
                </a:solidFill>
                <a:latin typeface="Malgun Gothic"/>
              </a:rPr>
              <a:t>For · Agency (franchise) operators   |   www.mangoi.co.kr</a:t>
            </a:r>
          </a:p>
        </p:txBody>
      </p:sp>
      <p:pic>
        <p:nvPicPr>
          <p:cNvPr id="12" name="Picture 11" descr="mango_ch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77245" y="3108960"/>
            <a:ext cx="4074369" cy="32918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🤝 Mangoi Agency User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Introduction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68680"/>
            <a:ext cx="11460175" cy="1554480"/>
          </a:xfrm>
          <a:prstGeom prst="roundRect">
            <a:avLst/>
          </a:prstGeom>
          <a:solidFill>
            <a:srgbClr val="FF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005840"/>
            <a:ext cx="10881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E11D48"/>
                </a:solidFill>
                <a:latin typeface="Malgun Gothic"/>
              </a:rPr>
              <a:t>What is the Agency Admin Page?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81328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334155"/>
                </a:solidFill>
                <a:latin typeface="Malgun Gothic"/>
              </a:rPr>
              <a:t>The agency page is where you directly manage your agency's students, lessons, payments and settlement. From recruiting and counseling to enrollment, lesson assignment, collection, parent communication and receiving settlement — everything you need to run an agency is here. On login, only 'my agency' data shows, so you can focus on your students.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2697480"/>
            <a:ext cx="5524347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2852928"/>
            <a:ext cx="512064" cy="512064"/>
          </a:xfrm>
          <a:prstGeom prst="roundRect">
            <a:avLst/>
          </a:prstGeom>
          <a:solidFill>
            <a:srgbClr val="FFE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2852928"/>
            <a:ext cx="512064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0">
                <a:solidFill>
                  <a:srgbClr val="E11D48"/>
                </a:solidFill>
                <a:latin typeface="Malgun Gothic"/>
              </a:rPr>
              <a:t>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2816352"/>
            <a:ext cx="46099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2340"/>
                </a:solidFill>
                <a:latin typeface="Malgun Gothic"/>
              </a:rPr>
              <a:t>My-agency scope, automatic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127248"/>
            <a:ext cx="46099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4748B"/>
                </a:solidFill>
                <a:latin typeface="Malgun Gothic"/>
              </a:rPr>
              <a:t>Just log in and see only your students/revenue.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1587" y="2697480"/>
            <a:ext cx="5524347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38747" y="2852928"/>
            <a:ext cx="512064" cy="512064"/>
          </a:xfrm>
          <a:prstGeom prst="roundRect">
            <a:avLst/>
          </a:prstGeom>
          <a:solidFill>
            <a:srgbClr val="FFE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8747" y="2852928"/>
            <a:ext cx="512064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0">
                <a:solidFill>
                  <a:srgbClr val="E11D48"/>
                </a:solidFill>
                <a:latin typeface="Malgun Gothic"/>
              </a:rPr>
              <a:t>🧑‍🎓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78827" y="2816352"/>
            <a:ext cx="46099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2340"/>
                </a:solidFill>
                <a:latin typeface="Malgun Gothic"/>
              </a:rPr>
              <a:t>Recruit·enroll·manage students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78827" y="3127248"/>
            <a:ext cx="46099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4748B"/>
                </a:solidFill>
                <a:latin typeface="Malgun Gothic"/>
              </a:rPr>
              <a:t>From counseling to enrollment and lesson assignment.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5760" y="3657600"/>
            <a:ext cx="5524347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02920" y="3813048"/>
            <a:ext cx="512064" cy="512064"/>
          </a:xfrm>
          <a:prstGeom prst="roundRect">
            <a:avLst/>
          </a:prstGeom>
          <a:solidFill>
            <a:srgbClr val="FFE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3813048"/>
            <a:ext cx="512064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0">
                <a:solidFill>
                  <a:srgbClr val="E11D48"/>
                </a:solidFill>
                <a:latin typeface="Malgun Gothic"/>
              </a:rPr>
              <a:t>💳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3000" y="3776472"/>
            <a:ext cx="46099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2340"/>
                </a:solidFill>
                <a:latin typeface="Malgun Gothic"/>
              </a:rPr>
              <a:t>Collection·settlement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3000" y="4087368"/>
            <a:ext cx="46099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4748B"/>
                </a:solidFill>
                <a:latin typeface="Malgun Gothic"/>
              </a:rPr>
              <a:t>Payments/overdue and receiving branch→agency settlement.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01587" y="3657600"/>
            <a:ext cx="5524347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438747" y="3813048"/>
            <a:ext cx="512064" cy="512064"/>
          </a:xfrm>
          <a:prstGeom prst="roundRect">
            <a:avLst/>
          </a:prstGeom>
          <a:solidFill>
            <a:srgbClr val="FFE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8747" y="3813048"/>
            <a:ext cx="512064" cy="51206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0">
                <a:solidFill>
                  <a:srgbClr val="E11D48"/>
                </a:solidFill>
                <a:latin typeface="Malgun Gothic"/>
              </a:rPr>
              <a:t>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78827" y="3776472"/>
            <a:ext cx="46099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2340"/>
                </a:solidFill>
                <a:latin typeface="Malgun Gothic"/>
              </a:rPr>
              <a:t>Learning status·reports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78827" y="4087368"/>
            <a:ext cx="46099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4748B"/>
                </a:solidFill>
                <a:latin typeface="Malgun Gothic"/>
              </a:rPr>
              <a:t>Your students' learning at a glance.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47548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E11D48"/>
                </a:solidFill>
                <a:latin typeface="Malgun Gothic"/>
              </a:rPr>
              <a:t>Your Agency Metrics (example)</a:t>
            </a:r>
          </a:p>
        </p:txBody>
      </p:sp>
      <p:graphicFrame>
        <p:nvGraphicFramePr>
          <p:cNvPr id="30" name="Chart 29"/>
          <p:cNvGraphicFramePr>
            <a:graphicFrameLocks noGrp="1"/>
          </p:cNvGraphicFramePr>
          <p:nvPr/>
        </p:nvGraphicFramePr>
        <p:xfrm>
          <a:off x="365760" y="5074920"/>
          <a:ext cx="5669280" cy="15544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1" name="Rectangle 30"/>
          <p:cNvSpPr/>
          <p:nvPr/>
        </p:nvSpPr>
        <p:spPr>
          <a:xfrm>
            <a:off x="7470648" y="4654296"/>
            <a:ext cx="3255264" cy="20756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admin_logi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25512" y="4709160"/>
            <a:ext cx="3145536" cy="19659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🤝 Mangoi Agency User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How to Use the Main Features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🔐 Agency Login &amp; Permissions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Only my agency's data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F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Logging in with an agency account shows only 'my agency' menus and data. Other agencies or branch-wide data isn't visible, so you can focus on managing your students.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E11D48"/>
                </a:solidFill>
                <a:latin typeface="Malgun Gothic"/>
              </a:rPr>
              <a:t>How to use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Log in with ID and password (social login also works).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On login, menus/data for your role (agency) are applied automatically.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Forgot your password? Reset via 'Find password'.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E11D48"/>
                </a:solidFill>
                <a:latin typeface="Malgun Gothic"/>
              </a:rPr>
              <a:t>✅ Key Points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Only your agency's student/revenue data shows.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Turn on 'Save ID' only on your own trusted PC.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Tip · On shared PCs, turn off auto-login and log out when done.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admin_logi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🤝 Mangoi Agency User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How to Use the Main Features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👤 My Page &amp; Admin Dashboard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Open the management screen from My Page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F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Agency operations also start from 'My Page.' After logging in, press the 📊 'Admin' button in the My Page menu to enter the agency-scope admin (operations) dashboard, where you manage students, revenue, lessons and settlement.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E11D48"/>
                </a:solidFill>
                <a:latin typeface="Malgun Gothic"/>
              </a:rPr>
              <a:t>How to use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After logging in, open '👤 My Page'.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Press the 📊 'Admin' button in the My Page menu. (goes to the admin dashboard)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On the admin dashboard, check your agency revenue, enrollment and today's lessons.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My Page also has postpone/change, new inquiry, all-menu, pre-check and more.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If text looks English, use the EN button to switch language.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5166360"/>
            <a:ext cx="5669280" cy="1316736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5221224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E11D48"/>
                </a:solidFill>
                <a:latin typeface="Malgun Gothic"/>
              </a:rPr>
              <a:t>✅ Key Points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495544"/>
            <a:ext cx="5394960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One 'Admin' button takes you straight to the operations dashboard.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All dashboard data is auto-totaled to 'your agency scope'.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Menus and data are set automatically by your role (agency).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6592824"/>
            <a:ext cx="5669280" cy="64008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6638544"/>
            <a:ext cx="5394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92670A"/>
                </a:solidFill>
                <a:latin typeface="Malgun Gothic"/>
              </a:rPr>
              <a:t>⚠️ Good to know · My Page and the admin dashboard open only within the logged-in agency account's permission scope.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7324344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7370064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Tip · Each day, go My Page → Admin dashboard to check your agency metrics.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0216" y="2700458"/>
            <a:ext cx="2761488" cy="45124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mypage_menu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755322"/>
            <a:ext cx="2651760" cy="341514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9134856" y="2042541"/>
            <a:ext cx="2761488" cy="1767077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admin_dashboar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89720" y="2097405"/>
            <a:ext cx="2651760" cy="165734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🤝 Mangoi Agency User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How to Use the Main Features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🏠 Agency Dashboard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Your students·revenue·today's lessons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F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On login, your agency's enrollment, revenue and today's lessons are organized as cards. Find features fast with the search box.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E11D48"/>
                </a:solidFill>
                <a:latin typeface="Malgun Gothic"/>
              </a:rPr>
              <a:t>How to use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Check today's revenue, enrollment and attendance (your agency) at the top.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Tap features from the category cards (students, accounting, content, etc.).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Type a word in the feature search box to jump right there.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Check the live (LIVE) lesson status.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E11D48"/>
                </a:solidFill>
                <a:latin typeface="Malgun Gothic"/>
              </a:rPr>
              <a:t>✅ Key Points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Numbers are auto-totaled to 'your agency scope'.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If a feature is hard to find, search is fastest.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897879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943599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Tip · A morning metrics check quickly tells you your academy's status.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admin_dashboar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🤝 Mangoi Agency User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How to Use the Main Features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🤖 Using the AI Assistant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Look up/act by voice or text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F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Speak or type into the search/mic and the AI helps you look up and handle things within your agency scope. Especially handy during busy counseling hours.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E11D48"/>
                </a:solidFill>
                <a:latin typeface="Malgun Gothic"/>
              </a:rPr>
              <a:t>How to use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Speak or type into the center search/mic. e.g. 'How's today's revenue?'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The AI looks up or opens a screen. e.g. 'Open student management.'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Important actions are confirmed with 'Shall I?' first.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E11D48"/>
                </a:solidFill>
                <a:latin typeface="Malgun Gothic"/>
              </a:rPr>
              <a:t>✅ Key Points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Voice is much faster than clicking.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Only permitted actions are handled, safely.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Tip · Can't find a button? Just say 'open ○○'.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admin_dashboar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🤝 Mangoi Agency User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How to Use the Main Features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🧑‍🎓 Recruit·Enroll·Manage Students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From counseling to enrollment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F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Take new counseling, enroll students, and manage enrolled students' attendance, grades and history. This is your agency's core work.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E11D48"/>
                </a:solidFill>
                <a:latin typeface="Malgun Gothic"/>
              </a:rPr>
              <a:t>How to use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Take new counseling and convert to enrollment.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Manage the roster/history in Students/Parents.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Check attendance/reviews/points/chat history by student.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Flag and care for students who need attention.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E11D48"/>
                </a:solidFill>
                <a:latin typeface="Malgun Gothic"/>
              </a:rPr>
              <a:t>✅ Key Points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The student list is linked to real member data.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Raising the counsel→enroll conversion is key to growth.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897879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943599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Tip · Keeping thorough counseling notes greatly helps re-counseling and conversion.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admin_menu_student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🤝 Mangoi Agency User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How to Use the Main Features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👨‍👩‍👧 Parent Communication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Guide My Page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F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Guide parents to My Page so they can check their child's learning themselves. It reduces inquiries and raises satisfaction and re-enrollment.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E11D48"/>
                </a:solidFill>
                <a:latin typeface="Malgun Gothic"/>
              </a:rPr>
              <a:t>How to use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Share the My Page link with parents.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Parents check attendance/reviews/payments/reports with the child's student ID.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Share growth with the monthly report (print/PDF).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E11D48"/>
                </a:solidFill>
                <a:latin typeface="Malgun Gothic"/>
              </a:rPr>
              <a:t>✅ Key Points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Parent satisfaction leads to re-enrollment.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Advise managing the student ID like a password.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Tip · Reading the review together periodically builds parent trust.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admin_paren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🤝 Mangoi Agency User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How to Use the Main Features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📅 Booking·Assignment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Schedule and teacher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F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Assign a student's lesson type, time and teacher, and manage booking status. Handle postpone/change requests too.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E11D48"/>
                </a:solidFill>
                <a:latin typeface="Malgun Gothic"/>
              </a:rPr>
              <a:t>How to use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Assign lesson type, teacher and time in Booking.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Check empty slots/overlaps and adjust.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Handle students' postpone/change requests per policy.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E11D48"/>
                </a:solidFill>
                <a:latin typeface="Malgun Gothic"/>
              </a:rPr>
              <a:t>✅ Key Points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Assign popular slots in advance.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Announcing the postpone cutoff reduces no-shows.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Tip · Pre-registering each teacher's available times speeds up assignment.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ommon_book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🤝 Mangoi Agency User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How to Use the Main Features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💳 Payments·Collection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Payments·overdue·refunds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F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Process your agency's payments, overdue and refunds. Amounts auto-calculate by policy, and overdue is managed with alerts.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E11D48"/>
                </a:solidFill>
                <a:latin typeface="Malgun Gothic"/>
              </a:rPr>
              <a:t>How to use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Process payments/overdue/refunds in Accounting/Points.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Notify overdue via alert-talk/SMS.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Amounts are auto-calculated per the refund table.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E11D48"/>
                </a:solidFill>
                <a:latin typeface="Malgun Gothic"/>
              </a:rPr>
              <a:t>✅ Key Points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Automate overdue alerts to raise collection.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Discounted-payment refunds recalc at list price.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Tip · Reviewing collection status regularly stabilizes revenue.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admin_refun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🤝 Mangoi Agency User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How to Use the Main Features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📈 Student Learning·Reports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Progress·performance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F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Check your students' attendance, reviews and learning progress, and review performance with reports. Use it for parent counseling and re-enrollment persuasion.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E11D48"/>
                </a:solidFill>
                <a:latin typeface="Malgun Gothic"/>
              </a:rPr>
              <a:t>How to use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Check each student's attendance·reviews·progress.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Summarize performance with the monthly report.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Use reports in parent counseling.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E11D48"/>
                </a:solidFill>
                <a:latin typeface="Malgun Gothic"/>
              </a:rPr>
              <a:t>✅ Key Points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Showing data builds parent trust.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Link high-performing students to reviews/referrals.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Tip · Showing performance with a report before re-enrollment makes persuasion easier.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admin_paren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🤝 Mangoi Agency User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How to Use the Main Features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🌳 Agency Settlement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Receive branch→agency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F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Check the settlement coming from the branch to your agency. Revenue and commissions are auto-calculated down the org tree, so you can see your share transparently.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E11D48"/>
                </a:solidFill>
                <a:latin typeface="Malgun Gothic"/>
              </a:rPr>
              <a:t>How to use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Check branch→agency settlement (received) by month.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Review the revenue/commission calculation details.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Save (PDF) the settlement report to keep.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E11D48"/>
                </a:solidFill>
                <a:latin typeface="Malgun Gothic"/>
              </a:rPr>
              <a:t>✅ Key Points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Settlement is auto-calculated by the org tree.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Ask the branch/HQ to confirm any off items.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Tip · Viewing revenue and settlement together clarifies your agency's profit structure.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admin_monthlyrepor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🤝 Mangoi Agency User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How to Use the Main Features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🧲 Prevent Churn (care for students)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Spot at-risk early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F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Find students likely to quit early and care for them. Quickly caring for students with frequent absences or dropping performance raises re-enrollment.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E11D48"/>
                </a:solidFill>
                <a:latin typeface="Malgun Gothic"/>
              </a:rPr>
              <a:t>How to use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Check churn-risk signals (absences·performance drop).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Intervene on at-risk students with counseling/alert-talk.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Manage family/referral relationships too.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E11D48"/>
                </a:solidFill>
                <a:latin typeface="Malgun Gothic"/>
              </a:rPr>
              <a:t>✅ Key Points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Intervening early raises retention.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Care before re-enrollment season is especially important.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Tip · Caring first for frequently-absent students noticeably cuts churn.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admin_dashboar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🤝 Mangoi Agency User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How to Use the Main Features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💬 New Counseling·Recruiting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Intake·conversion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F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Take new counseling/inquiries and convert to enrollment. Recruiting is the starting point of agency growth.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E11D48"/>
                </a:solidFill>
                <a:latin typeface="Malgun Gothic"/>
              </a:rPr>
              <a:t>How to use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Take new counseling/inquiries.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Record the counseling and convert to enrollment.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Drive enrollment with trial lessons·level tests.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E11D48"/>
                </a:solidFill>
                <a:latin typeface="Malgun Gothic"/>
              </a:rPr>
              <a:t>✅ Key Points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Fast response raises conversion.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Make the trial→enroll flow smooth.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Tip · Following up after counseling raises conversion.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ommon_contac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🤝 Mangoi Agency User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How to Use the Main Features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🎧 Support·Help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Get branch·HQ support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F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If a problem comes up in operations, contact branch/HQ support. System/settlement/policy questions get resolved quickly.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E11D48"/>
                </a:solidFill>
                <a:latin typeface="Malgun Gothic"/>
              </a:rPr>
              <a:t>How to use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Use phone, email, Kakao and remote support in Support.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Route settlement/policy questions to the branch/HQ.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Note the fix for repeat issues.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E11D48"/>
                </a:solidFill>
                <a:latin typeface="Malgun Gothic"/>
              </a:rPr>
              <a:t>✅ Key Points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System issues resolve fast with remote support.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For 'can't enter' tickets, check browser/permission first.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Tip · Compiling common inquiries and fixes speeds up counseling.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ommon_contac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🤝 Mangoi Agency User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How to Use the Main Features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🕐 Korea·Philippines Dual Clock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Two countries' time on screen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F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A clock on screen shows 🇰🇷 Korea and 🇵🇭 Philippines time together. It lets you check the time difference instantly when coordinating lessons between Philippine teachers and Korean students.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E11D48"/>
                </a:solidFill>
                <a:latin typeface="Malgun Gothic"/>
              </a:rPr>
              <a:t>How to use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On the on-screen dual clock, see 🇰🇷 Korea and 🇵🇭 Philippines time at once.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Drag the clock to move it anywhere you like.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Tap (click) the clock to go to the home screen.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398264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453127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E11D48"/>
                </a:solidFill>
                <a:latin typeface="Malgun Gothic"/>
              </a:rPr>
              <a:t>✅ Key Points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2744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The Philippines is 1 hour behind Korea (−1 hour).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You can check booking/entry times in both countries' time.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513831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559551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Tip · When a lesson time is confusing due to the time difference, this clock clears it up instantly.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56264"/>
            <a:ext cx="5596128" cy="3517071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world_cloc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11128"/>
            <a:ext cx="5486400" cy="3407343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🤝 Mangoi Agency User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How to Use the Main Features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🇨🇳 Chinese Pronunciation Coach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Darakwon Chinese Master Lv1–20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F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Mangoi offers not only English but also a Chinese course. With a Darakwon Chinese Master (Lv 1–20) pronunciation coach (characters+pinyin, AI voice recognition, native comparison), you can attract and manage students who want Chinese.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E11D48"/>
                </a:solidFill>
                <a:latin typeface="Malgun Gothic"/>
              </a:rPr>
              <a:t>How to use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In the AI voice coach, pick the CN Chinese level (or go to the Chinese pronunciation coach).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Choose a Master series (1–6, HSK 1–6) and a unit.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Read the sentence (characters + pinyin) and compare with 'Play native audio'.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Practice hard sounds/tones with repeat and slow (0.85x).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316736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E11D48"/>
                </a:solidFill>
                <a:latin typeface="Malgun Gothic"/>
              </a:rPr>
              <a:t>✅ Key Points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Characters and pinyin appear together, so it's easy to read.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The AI recognizes your voice and compares it to a native speaker.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The learning games hub supports Chinese too.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6208775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6254495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Tip · Listen slowly and repeat clearly to nail the four tones.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student_speechcoach_c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🤝 Mangoi Agency User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How to Use the Main Features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🌟 In-class Praise Points (understand &amp; use)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Linked to motivation·re-enrollment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F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During class the teacher gives 🌟 praise points (+1P) to students on the spot, and an end-of-class rating (+10P) adds up into the student's total points. Points lead to shop/gift rewards, helping motivation and re-enrollment. Your agency understands and uses this flow for performance.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E11D48"/>
                </a:solidFill>
                <a:latin typeface="Malgun Gothic"/>
              </a:rPr>
              <a:t>How to use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The teacher gives +1P via the 🌟 praise button on a student's video during class.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It accrues live in the student's 🧺 point basket and sums into their total.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A post-class star rating gives the student an extra +10P.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Points connect to shop/roulette/gift rewards.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005840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E11D48"/>
                </a:solidFill>
                <a:latin typeface="Malgun Gothic"/>
              </a:rPr>
              <a:t>✅ Key Points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Instant rewards boost participation and re-enrollment.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Use your agency students' points/reward response as a performance signal.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897879"/>
            <a:ext cx="5669280" cy="64008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5943599"/>
            <a:ext cx="5394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92670A"/>
                </a:solidFill>
                <a:latin typeface="Malgun Gothic"/>
              </a:rPr>
              <a:t>⚠️ Good to know · Teachers give praise points; HQ (admin) configures the shop/reward/gift policy.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6629399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6675119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Tip · Classes (teachers) where praise points flow well tend to have higher re-enrollment.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0216" y="3266070"/>
            <a:ext cx="5596128" cy="169745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class_prais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3320934"/>
            <a:ext cx="5486400" cy="158773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🤝 Mangoi Agency User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How to Use the Main Features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📢 Notice Studio (Poster + Popup)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Design notice/event posters and push them as app popups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F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This merges the old ‘Poster Maker’ and ‘Popup Notice’ tools into one place. In the ①Create tab you design a notice/event poster, then hand it straight to the ②Publish·Popup tab to show it as a popup in your agency's student app.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E11D48"/>
                </a:solidFill>
                <a:latin typeface="Malgun Gothic"/>
              </a:rPr>
              <a:t>How to use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Go to the admin menu Notification Center → 📢 Notice Studio.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In the ①Create tab, design a poster with text, images, and video (resize · save on server · reuse).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Press ‘📢 Publish as popup’ on the finished poster to auto-switch to the ②Publish·Popup tab.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In the publish tab, set the display period / stop and publish it as a student-app popup.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316736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E11D48"/>
                </a:solidFill>
                <a:latin typeface="Malgun Gothic"/>
              </a:rPr>
              <a:t>✅ Key Points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Poster creation and popup publishing flow through one screen, two tabs — no more confusion.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Posters you make can be saved and reused.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Whichever route you enter from — AI assistant or sidebar search — the correct tab opens.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6208775"/>
            <a:ext cx="5669280" cy="64008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6254495"/>
            <a:ext cx="5394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92670A"/>
                </a:solidFill>
                <a:latin typeface="Malgun Gothic"/>
              </a:rPr>
              <a:t>⚠️ Good to know · Existing posters/popups are preserved (it was only merged, nothing was deleted).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6940295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6986015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Tip · Promoting an event takes just one flow: ‘Create → Publish as popup’ right away.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admin_noticestudi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🤝 Mangoi Agency User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How to Use the Main Features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822960"/>
            <a:ext cx="868680" cy="868680"/>
          </a:xfrm>
          <a:prstGeom prst="round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82296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1">
                <a:solidFill>
                  <a:srgbClr val="FFFFFF"/>
                </a:solidFill>
                <a:latin typeface="Malgun Gothic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82296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E2340"/>
                </a:solidFill>
                <a:latin typeface="Malgun Gothic"/>
              </a:rPr>
              <a:t>🤖 Command the AI Operations Assistant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353312"/>
            <a:ext cx="10424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4748B"/>
                </a:solidFill>
                <a:latin typeface="Malgun Gothic"/>
              </a:rPr>
              <a:t>Navigate with one phrase: “Take me to ○○”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11430000" cy="777240"/>
          </a:xfrm>
          <a:prstGeom prst="roundRect">
            <a:avLst/>
          </a:prstGeom>
          <a:solidFill>
            <a:srgbClr val="FF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01952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4155"/>
                </a:solidFill>
                <a:latin typeface="Malgun Gothic"/>
              </a:rPr>
              <a:t>Type what you want to do into the top search bar (or the bottom-right AI assistant) in plain language, and the AI understands and jumps straight to that screen. It now reliably follows navigation commands like ‘Take me to teacher ○○'s schedule’ or ‘Open auto-scheduling’.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E11D48"/>
                </a:solidFill>
                <a:latin typeface="Malgun Gothic"/>
              </a:rPr>
              <a:t>How to use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10896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Type a command in the top search bar or speak with the 🎤 mic.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e.g. “Take me to teacher Kim Minji's schedule” → auto-finds that teacher in the weekly schedule and opens it.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e.g. “Open auto-scheduling,” “Go to settlement” to navigate menus.</a:t>
            </a:r>
          </a:p>
          <a:p>
            <a:pPr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250">
                <a:solidFill>
                  <a:srgbClr val="334155"/>
                </a:solidFill>
                <a:latin typeface="Malgun Gothic"/>
              </a:rPr>
              <a:t>Press ‘Go now →’ on the AI response card to move to that screen.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82312"/>
            <a:ext cx="5669280" cy="1316736"/>
          </a:xfrm>
          <a:prstGeom prst="roundRect">
            <a:avLst/>
          </a:prstGeom>
          <a:solidFill>
            <a:srgbClr val="F4F7FF"/>
          </a:solidFill>
          <a:ln w="1270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37175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E11D48"/>
                </a:solidFill>
                <a:latin typeface="Malgun Gothic"/>
              </a:rPr>
              <a:t>✅ Key Points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111496"/>
            <a:ext cx="5394960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Navigation commands actually navigate — far fewer ‘explain only, do nothing’ replies.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Searching a schedule by teacher name auto-fills the search box + filters + scrolls.</a:t>
            </a:r>
          </a:p>
          <a:p>
            <a:pPr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For data/statistics questions it also helps with card-style answers.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6208775"/>
            <a:ext cx="5669280" cy="64008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6254495"/>
            <a:ext cx="5394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92670A"/>
                </a:solidFill>
                <a:latin typeface="Malgun Gothic"/>
              </a:rPr>
              <a:t>⚠️ Good to know · Commands that actually change things — ‘register · send · modify’ — ask for one more confirmation (a safety guard).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6940295"/>
            <a:ext cx="5669280" cy="658368"/>
          </a:xfrm>
          <a:prstGeom prst="roundRect">
            <a:avLst/>
          </a:prstGeom>
          <a:solidFill>
            <a:srgbClr val="FFF7E6"/>
          </a:solidFill>
          <a:ln w="12700"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6986015"/>
            <a:ext cx="53949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B4A2A"/>
                </a:solidFill>
                <a:latin typeface="Malgun Gothic"/>
              </a:rPr>
              <a:t>💡 Tip · When you can't recall a menu name, just say what you want to do — it finds its way there.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0216" y="2345436"/>
            <a:ext cx="5596128" cy="353872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admin_aicomman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400300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🤝 Mangoi Agency User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Feature Summary ·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868680"/>
            <a:ext cx="9144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E11D48"/>
                </a:solidFill>
                <a:latin typeface="Malgun Gothic"/>
              </a:rPr>
              <a:t>📋 Agency Features at a Glance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65760" y="1463040"/>
          <a:ext cx="11460175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65043"/>
                <a:gridCol w="2865043"/>
                <a:gridCol w="2865043"/>
                <a:gridCol w="2865046"/>
              </a:tblGrid>
              <a:tr h="50800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algun Gothic"/>
                        </a:rPr>
                        <a:t>Feature</a:t>
                      </a:r>
                    </a:p>
                  </a:txBody>
                  <a:tcPr>
                    <a:solidFill>
                      <a:srgbClr val="E11D4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algun Gothic"/>
                        </a:rPr>
                        <a:t>What it does</a:t>
                      </a:r>
                    </a:p>
                  </a:txBody>
                  <a:tcPr>
                    <a:solidFill>
                      <a:srgbClr val="E11D4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algun Gothic"/>
                        </a:rPr>
                        <a:t>When</a:t>
                      </a:r>
                    </a:p>
                  </a:txBody>
                  <a:tcPr>
                    <a:solidFill>
                      <a:srgbClr val="E11D4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algun Gothic"/>
                        </a:rPr>
                        <a:t>Core benefit</a:t>
                      </a:r>
                    </a:p>
                  </a:txBody>
                  <a:tcPr>
                    <a:solidFill>
                      <a:srgbClr val="E11D48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334155"/>
                          </a:solidFill>
                          <a:latin typeface="Malgun Gothic"/>
                        </a:rPr>
                        <a:t>Dashboard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Revenue·enrollment·today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Every morning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Quick read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334155"/>
                          </a:solidFill>
                          <a:latin typeface="Malgun Gothic"/>
                        </a:rPr>
                        <a:t>Student mgmt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Recruit·enroll·history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Always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Grow enrollment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334155"/>
                          </a:solidFill>
                          <a:latin typeface="Malgun Gothic"/>
                        </a:rPr>
                        <a:t>Parent comm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Guide My Page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Enroll·re-enroll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Satisfaction 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334155"/>
                          </a:solidFill>
                          <a:latin typeface="Malgun Gothic"/>
                        </a:rPr>
                        <a:t>Booking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Schedule·teacher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Assigning lessons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Smooth flow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334155"/>
                          </a:solidFill>
                          <a:latin typeface="Malgun Gothic"/>
                        </a:rPr>
                        <a:t>Payments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Payments·overdue·refunds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Collection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Stable revenue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334155"/>
                          </a:solidFill>
                          <a:latin typeface="Malgun Gothic"/>
                        </a:rPr>
                        <a:t>Reports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Learning performance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Counsel·re-enroll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Persuasion ↑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334155"/>
                          </a:solidFill>
                          <a:latin typeface="Malgun Gothic"/>
                        </a:rPr>
                        <a:t>Settlement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Receive branch→agency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Monthly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Transparent profit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334155"/>
                          </a:solidFill>
                          <a:latin typeface="Malgun Gothic"/>
                        </a:rPr>
                        <a:t>Retention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Care for at-risk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Always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334155"/>
                          </a:solidFill>
                          <a:latin typeface="Malgun Gothic"/>
                        </a:rPr>
                        <a:t>Retention ↑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🤝 Mangoi Agency User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Data at a Glance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868680"/>
            <a:ext cx="9144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E11D48"/>
                </a:solidFill>
                <a:latin typeface="Malgun Gothic"/>
              </a:rPr>
              <a:t>📊 Data at a Glance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544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2340"/>
                </a:solidFill>
                <a:latin typeface="Malgun Gothic"/>
              </a:rPr>
              <a:t>Enrollment Trend (example)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57200" y="1920240"/>
          <a:ext cx="5486400" cy="4206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09360" y="15544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E2340"/>
                </a:solidFill>
                <a:latin typeface="Malgun Gothic"/>
              </a:rPr>
              <a:t>Churn-risk Distribution (example)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09360" y="1920240"/>
          <a:ext cx="5486400" cy="42062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🤝 Mangoi Agency User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Frequently Asked Questions (FAQ)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868680"/>
            <a:ext cx="9144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E11D48"/>
                </a:solidFill>
                <a:latin typeface="Malgun Gothic"/>
              </a:rPr>
              <a:t>❓ Frequently Asked Questions (FAQ)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554480"/>
            <a:ext cx="11460175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627632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E11D48"/>
                </a:solidFill>
                <a:latin typeface="Malgun Gothic"/>
              </a:rPr>
              <a:t>Q. Where do I log in?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965960"/>
            <a:ext cx="1109441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475569"/>
                </a:solidFill>
                <a:latin typeface="Malgun Gothic"/>
              </a:rPr>
              <a:t>A. Log in at admin.mangoi.co.kr. By role (agency), only your agency's data shows automatically.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2542032"/>
            <a:ext cx="11460175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615184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E11D48"/>
                </a:solidFill>
                <a:latin typeface="Malgun Gothic"/>
              </a:rPr>
              <a:t>Q. Can I see other agencies' data?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953512"/>
            <a:ext cx="1109441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475569"/>
                </a:solidFill>
                <a:latin typeface="Malgun Gothic"/>
              </a:rPr>
              <a:t>A. No. By permission scope, only your agency's data is visible.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5760" y="3529584"/>
            <a:ext cx="11460175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3602736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E11D48"/>
                </a:solidFill>
                <a:latin typeface="Malgun Gothic"/>
              </a:rPr>
              <a:t>Q. How do I grow enrollment?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941064"/>
            <a:ext cx="1109441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475569"/>
                </a:solidFill>
                <a:latin typeface="Malgun Gothic"/>
              </a:rPr>
              <a:t>A. Fast counseling response, a smooth trial→enroll flow, and persuading parents with learning reports are key.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5760" y="4517136"/>
            <a:ext cx="11460175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4590288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E11D48"/>
                </a:solidFill>
                <a:latin typeface="Malgun Gothic"/>
              </a:rPr>
              <a:t>Q. How do I check settlement?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928616"/>
            <a:ext cx="1109441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475569"/>
                </a:solidFill>
                <a:latin typeface="Malgun Gothic"/>
              </a:rPr>
              <a:t>A. Branch→agency settlement (received) is auto-calculated by the org tree; check it in the monthly report.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5760" y="5504688"/>
            <a:ext cx="11460175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5577840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E11D48"/>
                </a:solidFill>
                <a:latin typeface="Malgun Gothic"/>
              </a:rPr>
              <a:t>Q. A student seems about to quit.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916168"/>
            <a:ext cx="1109441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475569"/>
                </a:solidFill>
                <a:latin typeface="Malgun Gothic"/>
              </a:rPr>
              <a:t>A. Watch churn-risk signals (absences·performance drop) and intervene quickly with counseling/alert-talk.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1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🤝 Mangoi Agency User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Checklist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868680"/>
            <a:ext cx="9144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E11D48"/>
                </a:solidFill>
                <a:latin typeface="Malgun Gothic"/>
              </a:rPr>
              <a:t>✅ Agency Operations Checklist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645920"/>
            <a:ext cx="292608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581912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34155"/>
                </a:solidFill>
                <a:latin typeface="Malgun Gothic"/>
              </a:rPr>
              <a:t>Did you check today's revenue/enrollment/attendance?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212848"/>
            <a:ext cx="292608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148840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34155"/>
                </a:solidFill>
                <a:latin typeface="Malgun Gothic"/>
              </a:rPr>
              <a:t>Did you take and respond to new counseling/inquiries?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779776"/>
            <a:ext cx="292608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715768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34155"/>
                </a:solidFill>
                <a:latin typeface="Malgun Gothic"/>
              </a:rPr>
              <a:t>Did you check and notify overdue items?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346704"/>
            <a:ext cx="292608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282696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34155"/>
                </a:solidFill>
                <a:latin typeface="Malgun Gothic"/>
              </a:rPr>
              <a:t>Did you care for at-risk students?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913632"/>
            <a:ext cx="292608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849624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34155"/>
                </a:solidFill>
                <a:latin typeface="Malgun Gothic"/>
              </a:rPr>
              <a:t>Did you guide parents to the report/My Page?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480560"/>
            <a:ext cx="292608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416552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34155"/>
                </a:solidFill>
                <a:latin typeface="Malgun Gothic"/>
              </a:rPr>
              <a:t>Did you check this month's settlement (received)?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5047488"/>
            <a:ext cx="292608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4983480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34155"/>
                </a:solidFill>
                <a:latin typeface="Malgun Gothic"/>
              </a:rPr>
              <a:t>Did you follow up on trial→enroll?</a:t>
            </a:r>
          </a:p>
        </p:txBody>
      </p:sp>
      <p:pic>
        <p:nvPicPr>
          <p:cNvPr id="21" name="Picture 20" descr="mango_ch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53162" y="4480559"/>
            <a:ext cx="2489892" cy="201168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66928"/>
            <a:ext cx="12191695" cy="54864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"/>
            <a:ext cx="73152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🤝 Mangoi Agency User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68335" y="27432"/>
            <a:ext cx="3657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F1F5F9"/>
                </a:solidFill>
                <a:latin typeface="Malgun Gothic"/>
              </a:rPr>
              <a:t>Conclusion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822960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E11D48"/>
                </a:solidFill>
                <a:latin typeface="Malgun Gothic"/>
              </a:rPr>
              <a:t>🏁 Conclusion · A Practical Guide to Agency Growth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371600"/>
            <a:ext cx="11430000" cy="868680"/>
          </a:xfrm>
          <a:prstGeom prst="roundRect">
            <a:avLst/>
          </a:prstGeom>
          <a:solidFill>
            <a:srgbClr val="FF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426464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334155"/>
                </a:solidFill>
                <a:latin typeface="Malgun Gothic"/>
              </a:rPr>
              <a:t>The core of agency operations is the virtuous cycle of 'recruit → enroll → satisfy → re-enroll.' Respond to counseling fast, show learning results with data, and prevent churn early — and your agency grows steadily. Keep this rhythm and operations feel solid.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423160"/>
            <a:ext cx="5760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E11D48"/>
                </a:solidFill>
                <a:latin typeface="Malgun Gothic"/>
              </a:rPr>
              <a:t>🔄 The Flow at a Glance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788920"/>
            <a:ext cx="1600200" cy="384048"/>
          </a:xfrm>
          <a:prstGeom prst="round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788920"/>
            <a:ext cx="1600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Malgun Gothic"/>
              </a:rPr>
              <a:t>Morning (5 min)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48840" y="2770632"/>
            <a:ext cx="4114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334155"/>
                </a:solidFill>
                <a:latin typeface="Malgun Gothic"/>
              </a:rPr>
              <a:t>Check revenue/enrollment/attendance on the dashboard; check live-lesson status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246120"/>
            <a:ext cx="1600200" cy="384048"/>
          </a:xfrm>
          <a:prstGeom prst="round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3246120"/>
            <a:ext cx="1600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Malgun Gothic"/>
              </a:rPr>
              <a:t>Late morning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48840" y="3227832"/>
            <a:ext cx="4114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334155"/>
                </a:solidFill>
                <a:latin typeface="Malgun Gothic"/>
              </a:rPr>
              <a:t>Respond to new counseling·convert; notify overdue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703320"/>
            <a:ext cx="1600200" cy="384048"/>
          </a:xfrm>
          <a:prstGeom prst="round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3703320"/>
            <a:ext cx="1600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Malgun Gothic"/>
              </a:rPr>
              <a:t>Class hours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48840" y="3685032"/>
            <a:ext cx="4114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334155"/>
                </a:solidFill>
                <a:latin typeface="Malgun Gothic"/>
              </a:rPr>
              <a:t>Check lesson assignment/progress; guide 'entry' tickets to browser/permission first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4160520"/>
            <a:ext cx="1600200" cy="384048"/>
          </a:xfrm>
          <a:prstGeom prst="round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160520"/>
            <a:ext cx="1600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Malgun Gothic"/>
              </a:rPr>
              <a:t>Afternoon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48840" y="4142232"/>
            <a:ext cx="4114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334155"/>
                </a:solidFill>
                <a:latin typeface="Malgun Gothic"/>
              </a:rPr>
              <a:t>Care for at-risk students; parent reports·counseling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617720"/>
            <a:ext cx="1600200" cy="384048"/>
          </a:xfrm>
          <a:prstGeom prst="round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617720"/>
            <a:ext cx="16002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>
                <a:solidFill>
                  <a:srgbClr val="FFFFFF"/>
                </a:solidFill>
                <a:latin typeface="Malgun Gothic"/>
              </a:rPr>
              <a:t>Monthly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48840" y="4599432"/>
            <a:ext cx="4114800" cy="4206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334155"/>
                </a:solidFill>
                <a:latin typeface="Malgun Gothic"/>
              </a:rPr>
              <a:t>Check branch→agency settlement; re-enroll·follow-up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2423160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E11D48"/>
                </a:solidFill>
                <a:latin typeface="Malgun Gothic"/>
              </a:rPr>
              <a:t>⭐ Key Principles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2788920"/>
            <a:ext cx="539496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90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Respond fast — the faster you handle counseling/inquiries, the higher conversion.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90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Persuade with data — showing results via learning reports makes re-enrollment easy.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90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Intervene on churn early — care first for frequently-absent students.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90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Communicate with parents — build trust with My Page and reports.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900" b="1">
                <a:solidFill>
                  <a:srgbClr val="E11D48"/>
                </a:solidFill>
                <a:latin typeface="Malgun Gothic"/>
              </a:rPr>
              <a:t>● </a:t>
            </a:r>
            <a:r>
              <a:rPr sz="1100">
                <a:solidFill>
                  <a:srgbClr val="334155"/>
                </a:solidFill>
                <a:latin typeface="Malgun Gothic"/>
              </a:rPr>
              <a:t>Follow up — following up after counseling completes enrollment.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4892040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E11D48"/>
                </a:solidFill>
                <a:latin typeface="Malgun Gothic"/>
              </a:rPr>
              <a:t>📌 Remember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5257800"/>
            <a:ext cx="53949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850" b="1">
                <a:solidFill>
                  <a:srgbClr val="0EA5E9"/>
                </a:solidFill>
                <a:latin typeface="Malgun Gothic"/>
              </a:rPr>
              <a:t>● </a:t>
            </a:r>
            <a:r>
              <a:rPr sz="1050">
                <a:solidFill>
                  <a:srgbClr val="334155"/>
                </a:solidFill>
                <a:latin typeface="Malgun Gothic"/>
              </a:rPr>
              <a:t>Log in at admin.mangoi.co.kr; data is auto-limited to your agency scope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850" b="1">
                <a:solidFill>
                  <a:srgbClr val="0EA5E9"/>
                </a:solidFill>
                <a:latin typeface="Malgun Gothic"/>
              </a:rPr>
              <a:t>● </a:t>
            </a:r>
            <a:r>
              <a:rPr sz="1050">
                <a:solidFill>
                  <a:srgbClr val="334155"/>
                </a:solidFill>
                <a:latin typeface="Malgun Gothic"/>
              </a:rPr>
              <a:t>Settlement is auto-calculated by the branch→agency tree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850" b="1">
                <a:solidFill>
                  <a:srgbClr val="0EA5E9"/>
                </a:solidFill>
                <a:latin typeface="Malgun Gothic"/>
              </a:rPr>
              <a:t>● </a:t>
            </a:r>
            <a:r>
              <a:rPr sz="1050">
                <a:solidFill>
                  <a:srgbClr val="334155"/>
                </a:solidFill>
                <a:latin typeface="Malgun Gothic"/>
              </a:rPr>
              <a:t>Most 'can't enter class' tickets are browser/permission issues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850" b="1">
                <a:solidFill>
                  <a:srgbClr val="0EA5E9"/>
                </a:solidFill>
                <a:latin typeface="Malgun Gothic"/>
              </a:rPr>
              <a:t>● </a:t>
            </a:r>
            <a:r>
              <a:rPr sz="1050">
                <a:solidFill>
                  <a:srgbClr val="334155"/>
                </a:solidFill>
                <a:latin typeface="Malgun Gothic"/>
              </a:rPr>
              <a:t>Growth rhythm: 'Recruit → Enroll → Satisfy → Re-enroll'!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6172200"/>
            <a:ext cx="11338560" cy="566928"/>
          </a:xfrm>
          <a:prstGeom prst="roundRect">
            <a:avLst/>
          </a:prstGeom>
          <a:solidFill>
            <a:srgbClr val="FFF1F2"/>
          </a:solidFill>
          <a:ln w="12700"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6208776"/>
            <a:ext cx="10972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5B4A2A"/>
                </a:solidFill>
                <a:latin typeface="Malgun Gothic"/>
              </a:rPr>
              <a:t>🍊 An agency's strength comes from 'the care you give each student.' Respond quickly, show results, and prevent churn early. Your branch and HQ back you up solidly. Questions? Contact support anytime — cheering on your thriving agency! 🍊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9E0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371600" y="-1371600"/>
            <a:ext cx="3657600" cy="3657600"/>
          </a:xfrm>
          <a:prstGeom prst="ellipse">
            <a:avLst/>
          </a:prstGeom>
          <a:solidFill>
            <a:srgbClr val="BE1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515600" y="4572000"/>
            <a:ext cx="3657600" cy="3657600"/>
          </a:xfrm>
          <a:prstGeom prst="ellipse">
            <a:avLst/>
          </a:prstGeom>
          <a:solidFill>
            <a:srgbClr val="BE1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2194560"/>
            <a:ext cx="1219169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>
                <a:solidFill>
                  <a:srgbClr val="FFFFFF"/>
                </a:solidFill>
                <a:latin typeface="Malgun Gothic"/>
              </a:rPr>
              <a:t>Let's grow together with Mangoi!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3291840"/>
            <a:ext cx="1219169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0">
                <a:solidFill>
                  <a:srgbClr val="FFFFFF"/>
                </a:solidFill>
                <a:latin typeface="Malgun Gothic"/>
              </a:rPr>
              <a:t>Questions? Ask the on-site A.i assistant or contact customer support.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4114800"/>
            <a:ext cx="1219169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FFFFFF"/>
                </a:solidFill>
                <a:latin typeface="Malgun Gothic"/>
              </a:rPr>
              <a:t>🌐 www.mangoi.co.kr    📞 1644-0561    ✉ support@mangoi.co.kr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