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값</c:v>
                </c:pt>
              </c:strCache>
            </c:strRef>
          </c:tx>
          <c:dPt>
            <c:idx val="0"/>
            <c:spPr>
              <a:solidFill>
                <a:srgbClr val="E11D48"/>
              </a:solidFill>
            </c:spPr>
          </c:dPt>
          <c:dPt>
            <c:idx val="1"/>
            <c:spPr>
              <a:solidFill>
                <a:srgbClr val="F59E0B"/>
              </a:solidFill>
            </c:spPr>
          </c:dPt>
          <c:dPt>
            <c:idx val="2"/>
            <c:spPr>
              <a:solidFill>
                <a:srgbClr val="0EA5E9"/>
              </a:solidFill>
            </c:spPr>
          </c:dPt>
          <c:cat>
            <c:strRef>
              <c:f>Sheet1!$A$2:$A$4</c:f>
              <c:strCache>
                <c:ptCount val="3"/>
                <c:pt idx="0">
                  <c:v>Revenue (10k KRW)</c:v>
                </c:pt>
                <c:pt idx="1">
                  <c:v>Enrolled</c:v>
                </c:pt>
                <c:pt idx="2">
                  <c:v>Attendance (%)</c:v>
                </c:pt>
              </c:strCache>
            </c:strRef>
          </c:cat>
          <c:val>
            <c:numRef>
              <c:f>Sheet1!$B$2:$B$4</c:f>
              <c:numCache>
                <c:formatCode>General</c:formatCode>
                <c:ptCount val="3"/>
                <c:pt idx="0">
                  <c:v>46</c:v>
                </c:pt>
                <c:pt idx="1">
                  <c:v>180</c:v>
                </c:pt>
                <c:pt idx="2">
                  <c:v>93</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값</c:v>
                </c:pt>
              </c:strCache>
            </c:strRef>
          </c:tx>
          <c:spPr>
            <a:solidFill>
              <a:srgbClr val="E11D48"/>
            </a:solidFill>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120</c:v>
                </c:pt>
                <c:pt idx="1">
                  <c:v>135</c:v>
                </c:pt>
                <c:pt idx="2">
                  <c:v>150</c:v>
                </c:pt>
                <c:pt idx="3">
                  <c:v>162</c:v>
                </c:pt>
                <c:pt idx="4">
                  <c:v>171</c:v>
                </c:pt>
                <c:pt idx="5">
                  <c:v>180</c:v>
                </c:pt>
              </c:numCache>
            </c:numRef>
          </c:val>
        </c:ser>
        <c:dLbls>
          <c:txPr>
            <a:bodyPr/>
            <a:lstStyle/>
            <a:p>
              <a:pPr>
                <a:defRPr sz="1100" b="1">
                  <a:latin typeface="Malgun Gothic"/>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000">
                <a:latin typeface="Malgun Gothic"/>
              </a:defRPr>
            </a:pPr>
          </a:p>
        </c:txPr>
        <c:crossAx val="-2113994440"/>
        <c:crosses val="autoZero"/>
        <c:auto val="1"/>
        <c:lblAlgn val="ctr"/>
        <c:lblOffset val="100"/>
        <c:noMultiLvlLbl val="0"/>
      </c:catAx>
      <c:valAx>
        <c:axId val="-2113994440"/>
        <c:scaling/>
        <c:delete val="0"/>
        <c:axPos val="l"/>
        <c:majorGridlines/>
        <c:majorTickMark val="out"/>
        <c:minorTickMark val="none"/>
        <c:tickLblPos val="nextTo"/>
        <c:txPr>
          <a:bodyPr/>
          <a:lstStyle/>
          <a:p>
            <a:pPr>
              <a:defRPr sz="1000">
                <a:latin typeface="Malgun Gothic"/>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값</c:v>
                </c:pt>
              </c:strCache>
            </c:strRef>
          </c:tx>
          <c:dPt>
            <c:idx val="0"/>
            <c:spPr>
              <a:solidFill>
                <a:srgbClr val="10B981"/>
              </a:solidFill>
            </c:spPr>
          </c:dPt>
          <c:dPt>
            <c:idx val="1"/>
            <c:spPr>
              <a:solidFill>
                <a:srgbClr val="F59E0B"/>
              </a:solidFill>
            </c:spPr>
          </c:dPt>
          <c:dPt>
            <c:idx val="2"/>
            <c:spPr>
              <a:solidFill>
                <a:srgbClr val="EF4444"/>
              </a:solidFill>
            </c:spPr>
          </c:dPt>
          <c:cat>
            <c:strRef>
              <c:f>Sheet1!$A$2:$A$4</c:f>
              <c:strCache>
                <c:ptCount val="3"/>
                <c:pt idx="0">
                  <c:v>Safe</c:v>
                </c:pt>
                <c:pt idx="1">
                  <c:v>Watch</c:v>
                </c:pt>
                <c:pt idx="2">
                  <c:v>At risk</c:v>
                </c:pt>
              </c:strCache>
            </c:strRef>
          </c:cat>
          <c:val>
            <c:numRef>
              <c:f>Sheet1!$B$2:$B$4</c:f>
              <c:numCache>
                <c:formatCode>General</c:formatCode>
                <c:ptCount val="3"/>
                <c:pt idx="0">
                  <c:v>72</c:v>
                </c:pt>
                <c:pt idx="1">
                  <c:v>20</c:v>
                </c:pt>
                <c:pt idx="2">
                  <c:v>8</c:v>
                </c:pt>
              </c:numCache>
            </c:numRef>
          </c:val>
        </c:ser>
        <c:dLbls>
          <c:txPr>
            <a:bodyPr/>
            <a:lstStyle/>
            <a:p>
              <a:pPr>
                <a:defRPr sz="1100" b="1">
                  <a:latin typeface="Malgun Gothic"/>
                </a:defRPr>
              </a:pPr>
            </a:p>
          </c:txPr>
          <c:showLegendKey val="0"/>
          <c:showVal val="0"/>
          <c:showCatName val="0"/>
          <c:showSerName val="0"/>
          <c:showPercent val="0"/>
          <c:showBubbleSize val="0"/>
          <c:showLeaderLines val="1"/>
        </c:dLbls>
        <c:firstSliceAng val="0"/>
        <c:holeSize val="50"/>
      </c:doughnutChart>
    </c:plotArea>
    <c:legend>
      <c:legendPos/>
      <c:layout/>
      <c:overlay val="0"/>
      <c:txPr>
        <a:bodyPr/>
        <a:lstStyle/>
        <a:p>
          <a:pPr>
            <a:defRPr sz="1100">
              <a:latin typeface="Malgun Gothic"/>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chart" Target="../charts/char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BE123C"/>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607040" y="-1097280"/>
            <a:ext cx="3840480" cy="38404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80160" y="5669280"/>
            <a:ext cx="2926080" cy="292608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097280"/>
            <a:ext cx="1280160" cy="128016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822960"/>
            <a:ext cx="2468880" cy="4572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822960"/>
            <a:ext cx="2468880" cy="457200"/>
          </a:xfrm>
          <a:prstGeom prst="rect">
            <a:avLst/>
          </a:prstGeom>
          <a:noFill/>
        </p:spPr>
        <p:txBody>
          <a:bodyPr wrap="square" anchor="ctr">
            <a:spAutoFit/>
          </a:bodyPr>
          <a:lstStyle/>
          <a:p>
            <a:pPr algn="ctr">
              <a:lnSpc>
                <a:spcPct val="100000"/>
              </a:lnSpc>
            </a:pPr>
            <a:r>
              <a:rPr sz="1300" b="1">
                <a:solidFill>
                  <a:srgbClr val="E11D48"/>
                </a:solidFill>
                <a:latin typeface="Malgun Gothic"/>
              </a:rPr>
              <a:t>🤝 AGENCY GUIDE</a:t>
            </a:r>
          </a:p>
        </p:txBody>
      </p:sp>
      <p:sp>
        <p:nvSpPr>
          <p:cNvPr id="8" name="TextBox 7"/>
          <p:cNvSpPr txBox="1"/>
          <p:nvPr/>
        </p:nvSpPr>
        <p:spPr>
          <a:xfrm>
            <a:off x="822960" y="2286000"/>
            <a:ext cx="7315200" cy="457200"/>
          </a:xfrm>
          <a:prstGeom prst="rect">
            <a:avLst/>
          </a:prstGeom>
          <a:noFill/>
        </p:spPr>
        <p:txBody>
          <a:bodyPr wrap="square" anchor="t">
            <a:spAutoFit/>
          </a:bodyPr>
          <a:lstStyle/>
          <a:p>
            <a:pPr algn="l">
              <a:lnSpc>
                <a:spcPct val="100000"/>
              </a:lnSpc>
            </a:pPr>
            <a:r>
              <a:rPr sz="1600" b="1">
                <a:solidFill>
                  <a:srgbClr val="FFFFFF"/>
                </a:solidFill>
                <a:latin typeface="Malgun Gothic"/>
              </a:rPr>
              <a:t>Mangoi · MANGOI</a:t>
            </a:r>
          </a:p>
        </p:txBody>
      </p:sp>
      <p:sp>
        <p:nvSpPr>
          <p:cNvPr id="9" name="TextBox 8"/>
          <p:cNvSpPr txBox="1"/>
          <p:nvPr/>
        </p:nvSpPr>
        <p:spPr>
          <a:xfrm>
            <a:off x="777240" y="2697480"/>
            <a:ext cx="7772400" cy="1371600"/>
          </a:xfrm>
          <a:prstGeom prst="rect">
            <a:avLst/>
          </a:prstGeom>
          <a:noFill/>
        </p:spPr>
        <p:txBody>
          <a:bodyPr wrap="square" anchor="t">
            <a:spAutoFit/>
          </a:bodyPr>
          <a:lstStyle/>
          <a:p>
            <a:pPr algn="l">
              <a:lnSpc>
                <a:spcPct val="100000"/>
              </a:lnSpc>
            </a:pPr>
            <a:r>
              <a:rPr sz="4600" b="1">
                <a:solidFill>
                  <a:srgbClr val="FFFFFF"/>
                </a:solidFill>
                <a:latin typeface="Malgun Gothic"/>
              </a:rPr>
              <a:t>Agency User Guide</a:t>
            </a:r>
          </a:p>
        </p:txBody>
      </p:sp>
      <p:sp>
        <p:nvSpPr>
          <p:cNvPr id="10" name="TextBox 9"/>
          <p:cNvSpPr txBox="1"/>
          <p:nvPr/>
        </p:nvSpPr>
        <p:spPr>
          <a:xfrm>
            <a:off x="822960" y="4114800"/>
            <a:ext cx="7315200" cy="548640"/>
          </a:xfrm>
          <a:prstGeom prst="rect">
            <a:avLst/>
          </a:prstGeom>
          <a:noFill/>
        </p:spPr>
        <p:txBody>
          <a:bodyPr wrap="square" anchor="t">
            <a:spAutoFit/>
          </a:bodyPr>
          <a:lstStyle/>
          <a:p>
            <a:pPr algn="l">
              <a:lnSpc>
                <a:spcPct val="100000"/>
              </a:lnSpc>
            </a:pPr>
            <a:r>
              <a:rPr sz="1900" b="1">
                <a:solidFill>
                  <a:srgbClr val="FFFFFF"/>
                </a:solidFill>
                <a:latin typeface="Malgun Gothic"/>
              </a:rPr>
              <a:t>From enrollment to lessons and settlement, in one book</a:t>
            </a:r>
          </a:p>
        </p:txBody>
      </p:sp>
      <p:sp>
        <p:nvSpPr>
          <p:cNvPr id="11" name="TextBox 10"/>
          <p:cNvSpPr txBox="1"/>
          <p:nvPr/>
        </p:nvSpPr>
        <p:spPr>
          <a:xfrm>
            <a:off x="822960" y="5943600"/>
            <a:ext cx="7315200" cy="457200"/>
          </a:xfrm>
          <a:prstGeom prst="rect">
            <a:avLst/>
          </a:prstGeom>
          <a:noFill/>
        </p:spPr>
        <p:txBody>
          <a:bodyPr wrap="square" anchor="t">
            <a:spAutoFit/>
          </a:bodyPr>
          <a:lstStyle/>
          <a:p>
            <a:pPr algn="l">
              <a:lnSpc>
                <a:spcPct val="100000"/>
              </a:lnSpc>
            </a:pPr>
            <a:r>
              <a:rPr sz="1300" b="0">
                <a:solidFill>
                  <a:srgbClr val="FFFFFF"/>
                </a:solidFill>
                <a:latin typeface="Malgun Gothic"/>
              </a:rPr>
              <a:t>For · Agency (franchise) operators   |   www.mangoi.co.kr</a:t>
            </a:r>
          </a:p>
        </p:txBody>
      </p:sp>
      <p:pic>
        <p:nvPicPr>
          <p:cNvPr id="12" name="Picture 11" descr="mango_char.png"/>
          <p:cNvPicPr>
            <a:picLocks noChangeAspect="1"/>
          </p:cNvPicPr>
          <p:nvPr/>
        </p:nvPicPr>
        <p:blipFill>
          <a:blip r:embed="rId2"/>
          <a:stretch>
            <a:fillRect/>
          </a:stretch>
        </p:blipFill>
        <p:spPr>
          <a:xfrm>
            <a:off x="7477245" y="3108960"/>
            <a:ext cx="4074369" cy="3291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Introduction</a:t>
            </a:r>
          </a:p>
        </p:txBody>
      </p:sp>
      <p:sp>
        <p:nvSpPr>
          <p:cNvPr id="6" name="Rounded Rectangle 5"/>
          <p:cNvSpPr/>
          <p:nvPr/>
        </p:nvSpPr>
        <p:spPr>
          <a:xfrm>
            <a:off x="365760" y="868680"/>
            <a:ext cx="11460175" cy="15544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005840"/>
            <a:ext cx="10881360" cy="457200"/>
          </a:xfrm>
          <a:prstGeom prst="rect">
            <a:avLst/>
          </a:prstGeom>
          <a:noFill/>
        </p:spPr>
        <p:txBody>
          <a:bodyPr wrap="square" anchor="t">
            <a:spAutoFit/>
          </a:bodyPr>
          <a:lstStyle/>
          <a:p>
            <a:pPr algn="l">
              <a:lnSpc>
                <a:spcPct val="100000"/>
              </a:lnSpc>
            </a:pPr>
            <a:r>
              <a:rPr sz="2400" b="1">
                <a:solidFill>
                  <a:srgbClr val="E11D48"/>
                </a:solidFill>
                <a:latin typeface="Malgun Gothic"/>
              </a:rPr>
              <a:t>What is the Agency Admin Page?</a:t>
            </a:r>
          </a:p>
        </p:txBody>
      </p:sp>
      <p:sp>
        <p:nvSpPr>
          <p:cNvPr id="8" name="TextBox 7"/>
          <p:cNvSpPr txBox="1"/>
          <p:nvPr/>
        </p:nvSpPr>
        <p:spPr>
          <a:xfrm>
            <a:off x="640080" y="1481328"/>
            <a:ext cx="10972800" cy="914400"/>
          </a:xfrm>
          <a:prstGeom prst="rect">
            <a:avLst/>
          </a:prstGeom>
          <a:noFill/>
        </p:spPr>
        <p:txBody>
          <a:bodyPr wrap="square" anchor="t">
            <a:spAutoFit/>
          </a:bodyPr>
          <a:lstStyle/>
          <a:p>
            <a:pPr algn="l">
              <a:lnSpc>
                <a:spcPct val="125000"/>
              </a:lnSpc>
            </a:pPr>
            <a:r>
              <a:rPr sz="1300" b="0">
                <a:solidFill>
                  <a:srgbClr val="334155"/>
                </a:solidFill>
                <a:latin typeface="Malgun Gothic"/>
              </a:rPr>
              <a:t>The agency page is where you directly manage your agency's students, lessons, payments and settlement. From recruiting and counseling to enrollment, lesson assignment, collection, parent communication and receiving settlement — everything you need to run an agency is here. On login, only 'my agency' data shows, so you can focus on your students.</a:t>
            </a:r>
          </a:p>
        </p:txBody>
      </p:sp>
      <p:sp>
        <p:nvSpPr>
          <p:cNvPr id="9" name="Rounded Rectangle 8"/>
          <p:cNvSpPr/>
          <p:nvPr/>
        </p:nvSpPr>
        <p:spPr>
          <a:xfrm>
            <a:off x="365760"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2" name="TextBox 11"/>
          <p:cNvSpPr txBox="1"/>
          <p:nvPr/>
        </p:nvSpPr>
        <p:spPr>
          <a:xfrm>
            <a:off x="1143000"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My-agency scope, automatic</a:t>
            </a:r>
          </a:p>
        </p:txBody>
      </p:sp>
      <p:sp>
        <p:nvSpPr>
          <p:cNvPr id="13" name="TextBox 12"/>
          <p:cNvSpPr txBox="1"/>
          <p:nvPr/>
        </p:nvSpPr>
        <p:spPr>
          <a:xfrm>
            <a:off x="1143000"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Just log in and see only your students/revenue.</a:t>
            </a:r>
          </a:p>
        </p:txBody>
      </p:sp>
      <p:sp>
        <p:nvSpPr>
          <p:cNvPr id="14" name="Rounded Rectangle 13"/>
          <p:cNvSpPr/>
          <p:nvPr/>
        </p:nvSpPr>
        <p:spPr>
          <a:xfrm>
            <a:off x="6301587" y="269748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38747" y="285292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8747" y="285292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17" name="TextBox 16"/>
          <p:cNvSpPr txBox="1"/>
          <p:nvPr/>
        </p:nvSpPr>
        <p:spPr>
          <a:xfrm>
            <a:off x="7078827" y="281635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Recruit·enroll·manage students</a:t>
            </a:r>
          </a:p>
        </p:txBody>
      </p:sp>
      <p:sp>
        <p:nvSpPr>
          <p:cNvPr id="18" name="TextBox 17"/>
          <p:cNvSpPr txBox="1"/>
          <p:nvPr/>
        </p:nvSpPr>
        <p:spPr>
          <a:xfrm>
            <a:off x="7078827" y="312724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From counseling to enrollment and lesson assignment.</a:t>
            </a:r>
          </a:p>
        </p:txBody>
      </p:sp>
      <p:sp>
        <p:nvSpPr>
          <p:cNvPr id="19" name="Rounded Rectangle 18"/>
          <p:cNvSpPr/>
          <p:nvPr/>
        </p:nvSpPr>
        <p:spPr>
          <a:xfrm>
            <a:off x="365760"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2" name="TextBox 21"/>
          <p:cNvSpPr txBox="1"/>
          <p:nvPr/>
        </p:nvSpPr>
        <p:spPr>
          <a:xfrm>
            <a:off x="1143000"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Collection·settlement</a:t>
            </a:r>
          </a:p>
        </p:txBody>
      </p:sp>
      <p:sp>
        <p:nvSpPr>
          <p:cNvPr id="23" name="TextBox 22"/>
          <p:cNvSpPr txBox="1"/>
          <p:nvPr/>
        </p:nvSpPr>
        <p:spPr>
          <a:xfrm>
            <a:off x="1143000"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Payments/overdue and receiving branch→agency settlement.</a:t>
            </a:r>
          </a:p>
        </p:txBody>
      </p:sp>
      <p:sp>
        <p:nvSpPr>
          <p:cNvPr id="24" name="Rounded Rectangle 23"/>
          <p:cNvSpPr/>
          <p:nvPr/>
        </p:nvSpPr>
        <p:spPr>
          <a:xfrm>
            <a:off x="6301587" y="3657600"/>
            <a:ext cx="5524347" cy="822960"/>
          </a:xfrm>
          <a:prstGeom prst="round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38747" y="3813048"/>
            <a:ext cx="512064" cy="512064"/>
          </a:xfrm>
          <a:prstGeom prst="roundRect">
            <a:avLst/>
          </a:prstGeom>
          <a:solidFill>
            <a:srgbClr val="FF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38747" y="3813048"/>
            <a:ext cx="512064" cy="512064"/>
          </a:xfrm>
          <a:prstGeom prst="rect">
            <a:avLst/>
          </a:prstGeom>
          <a:noFill/>
        </p:spPr>
        <p:txBody>
          <a:bodyPr wrap="square" anchor="ctr">
            <a:spAutoFit/>
          </a:bodyPr>
          <a:lstStyle/>
          <a:p>
            <a:pPr algn="ctr">
              <a:lnSpc>
                <a:spcPct val="100000"/>
              </a:lnSpc>
            </a:pPr>
            <a:r>
              <a:rPr sz="2000" b="0">
                <a:solidFill>
                  <a:srgbClr val="E11D48"/>
                </a:solidFill>
                <a:latin typeface="Malgun Gothic"/>
              </a:rPr>
              <a:t>📈</a:t>
            </a:r>
          </a:p>
        </p:txBody>
      </p:sp>
      <p:sp>
        <p:nvSpPr>
          <p:cNvPr id="27" name="TextBox 26"/>
          <p:cNvSpPr txBox="1"/>
          <p:nvPr/>
        </p:nvSpPr>
        <p:spPr>
          <a:xfrm>
            <a:off x="7078827" y="3776472"/>
            <a:ext cx="4609947" cy="365760"/>
          </a:xfrm>
          <a:prstGeom prst="rect">
            <a:avLst/>
          </a:prstGeom>
          <a:noFill/>
        </p:spPr>
        <p:txBody>
          <a:bodyPr wrap="square" anchor="t">
            <a:spAutoFit/>
          </a:bodyPr>
          <a:lstStyle/>
          <a:p>
            <a:pPr algn="l">
              <a:lnSpc>
                <a:spcPct val="100000"/>
              </a:lnSpc>
            </a:pPr>
            <a:r>
              <a:rPr sz="1400" b="1">
                <a:solidFill>
                  <a:srgbClr val="1E2340"/>
                </a:solidFill>
                <a:latin typeface="Malgun Gothic"/>
              </a:rPr>
              <a:t>Learning status·reports</a:t>
            </a:r>
          </a:p>
        </p:txBody>
      </p:sp>
      <p:sp>
        <p:nvSpPr>
          <p:cNvPr id="28" name="TextBox 27"/>
          <p:cNvSpPr txBox="1"/>
          <p:nvPr/>
        </p:nvSpPr>
        <p:spPr>
          <a:xfrm>
            <a:off x="7078827" y="4087368"/>
            <a:ext cx="4609947" cy="365760"/>
          </a:xfrm>
          <a:prstGeom prst="rect">
            <a:avLst/>
          </a:prstGeom>
          <a:noFill/>
        </p:spPr>
        <p:txBody>
          <a:bodyPr wrap="square" anchor="t">
            <a:spAutoFit/>
          </a:bodyPr>
          <a:lstStyle/>
          <a:p>
            <a:pPr algn="l">
              <a:lnSpc>
                <a:spcPct val="100000"/>
              </a:lnSpc>
            </a:pPr>
            <a:r>
              <a:rPr sz="1050" b="0">
                <a:solidFill>
                  <a:srgbClr val="64748B"/>
                </a:solidFill>
                <a:latin typeface="Malgun Gothic"/>
              </a:rPr>
              <a:t>Your students' learning at a glance.</a:t>
            </a:r>
          </a:p>
        </p:txBody>
      </p:sp>
      <p:sp>
        <p:nvSpPr>
          <p:cNvPr id="29" name="TextBox 28"/>
          <p:cNvSpPr txBox="1"/>
          <p:nvPr/>
        </p:nvSpPr>
        <p:spPr>
          <a:xfrm>
            <a:off x="365760" y="4754880"/>
            <a:ext cx="5486400" cy="365760"/>
          </a:xfrm>
          <a:prstGeom prst="rect">
            <a:avLst/>
          </a:prstGeom>
          <a:noFill/>
        </p:spPr>
        <p:txBody>
          <a:bodyPr wrap="square" anchor="t">
            <a:spAutoFit/>
          </a:bodyPr>
          <a:lstStyle/>
          <a:p>
            <a:pPr algn="l">
              <a:lnSpc>
                <a:spcPct val="100000"/>
              </a:lnSpc>
            </a:pPr>
            <a:r>
              <a:rPr sz="1300" b="1">
                <a:solidFill>
                  <a:srgbClr val="E11D48"/>
                </a:solidFill>
                <a:latin typeface="Malgun Gothic"/>
              </a:rPr>
              <a:t>Your Agency Metrics (example)</a:t>
            </a:r>
          </a:p>
        </p:txBody>
      </p:sp>
      <p:graphicFrame>
        <p:nvGraphicFramePr>
          <p:cNvPr id="30" name="Chart 29"/>
          <p:cNvGraphicFramePr>
            <a:graphicFrameLocks noGrp="1"/>
          </p:cNvGraphicFramePr>
          <p:nvPr/>
        </p:nvGraphicFramePr>
        <p:xfrm>
          <a:off x="365760" y="5074920"/>
          <a:ext cx="5669280" cy="1554480"/>
        </p:xfrm>
        <a:graphic>
          <a:graphicData uri="http://schemas.openxmlformats.org/drawingml/2006/chart">
            <c:chart xmlns:c="http://schemas.openxmlformats.org/drawingml/2006/chart" r:id="rId2"/>
          </a:graphicData>
        </a:graphic>
      </p:graphicFrame>
      <p:sp>
        <p:nvSpPr>
          <p:cNvPr id="31" name="Rectangle 30"/>
          <p:cNvSpPr/>
          <p:nvPr/>
        </p:nvSpPr>
        <p:spPr>
          <a:xfrm>
            <a:off x="7470648" y="4654296"/>
            <a:ext cx="3255264" cy="20756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admin_login.jpg"/>
          <p:cNvPicPr>
            <a:picLocks noChangeAspect="1"/>
          </p:cNvPicPr>
          <p:nvPr/>
        </p:nvPicPr>
        <p:blipFill>
          <a:blip r:embed="rId3"/>
          <a:stretch>
            <a:fillRect/>
          </a:stretch>
        </p:blipFill>
        <p:spPr>
          <a:xfrm>
            <a:off x="7525512" y="4709160"/>
            <a:ext cx="3145536" cy="19659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Contents  (1/2)</a:t>
            </a:r>
          </a:p>
        </p:txBody>
      </p:sp>
      <p:sp>
        <p:nvSpPr>
          <p:cNvPr id="7" name="TextBox 6"/>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Introduction</a:t>
            </a:r>
          </a:p>
        </p:txBody>
      </p:sp>
      <p:sp>
        <p:nvSpPr>
          <p:cNvPr id="8" name="TextBox 7"/>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a:t>
            </a:r>
          </a:p>
        </p:txBody>
      </p:sp>
      <p:sp>
        <p:nvSpPr>
          <p:cNvPr id="9" name="Rounded Rectangle 8"/>
          <p:cNvSpPr/>
          <p:nvPr/>
        </p:nvSpPr>
        <p:spPr>
          <a:xfrm>
            <a:off x="411480"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01</a:t>
            </a:r>
          </a:p>
        </p:txBody>
      </p:sp>
      <p:sp>
        <p:nvSpPr>
          <p:cNvPr id="11" name="TextBox 10"/>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Agency Login &amp; Permissions</a:t>
            </a:r>
          </a:p>
        </p:txBody>
      </p:sp>
      <p:sp>
        <p:nvSpPr>
          <p:cNvPr id="12" name="TextBox 11"/>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5</a:t>
            </a:r>
          </a:p>
        </p:txBody>
      </p:sp>
      <p:sp>
        <p:nvSpPr>
          <p:cNvPr id="13" name="Rounded Rectangle 12"/>
          <p:cNvSpPr/>
          <p:nvPr/>
        </p:nvSpPr>
        <p:spPr>
          <a:xfrm>
            <a:off x="411480"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02</a:t>
            </a:r>
          </a:p>
        </p:txBody>
      </p:sp>
      <p:sp>
        <p:nvSpPr>
          <p:cNvPr id="15" name="TextBox 14"/>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My Page &amp; Admin Dashboard</a:t>
            </a:r>
          </a:p>
        </p:txBody>
      </p:sp>
      <p:sp>
        <p:nvSpPr>
          <p:cNvPr id="16" name="TextBox 15"/>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6</a:t>
            </a:r>
          </a:p>
        </p:txBody>
      </p:sp>
      <p:sp>
        <p:nvSpPr>
          <p:cNvPr id="17" name="Rounded Rectangle 16"/>
          <p:cNvSpPr/>
          <p:nvPr/>
        </p:nvSpPr>
        <p:spPr>
          <a:xfrm>
            <a:off x="411480"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03</a:t>
            </a:r>
          </a:p>
        </p:txBody>
      </p:sp>
      <p:sp>
        <p:nvSpPr>
          <p:cNvPr id="19" name="TextBox 18"/>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Agency Dashboard</a:t>
            </a:r>
          </a:p>
        </p:txBody>
      </p:sp>
      <p:sp>
        <p:nvSpPr>
          <p:cNvPr id="20" name="TextBox 19"/>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7</a:t>
            </a:r>
          </a:p>
        </p:txBody>
      </p:sp>
      <p:sp>
        <p:nvSpPr>
          <p:cNvPr id="21" name="Rounded Rectangle 20"/>
          <p:cNvSpPr/>
          <p:nvPr/>
        </p:nvSpPr>
        <p:spPr>
          <a:xfrm>
            <a:off x="411480"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04</a:t>
            </a:r>
          </a:p>
        </p:txBody>
      </p:sp>
      <p:sp>
        <p:nvSpPr>
          <p:cNvPr id="23" name="TextBox 22"/>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Using the AI Assistant</a:t>
            </a:r>
          </a:p>
        </p:txBody>
      </p:sp>
      <p:sp>
        <p:nvSpPr>
          <p:cNvPr id="24" name="TextBox 23"/>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8</a:t>
            </a:r>
          </a:p>
        </p:txBody>
      </p:sp>
      <p:sp>
        <p:nvSpPr>
          <p:cNvPr id="25" name="Rounded Rectangle 24"/>
          <p:cNvSpPr/>
          <p:nvPr/>
        </p:nvSpPr>
        <p:spPr>
          <a:xfrm>
            <a:off x="411480"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05</a:t>
            </a:r>
          </a:p>
        </p:txBody>
      </p:sp>
      <p:sp>
        <p:nvSpPr>
          <p:cNvPr id="27" name="TextBox 26"/>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Recruit·Enroll·Manage Students</a:t>
            </a:r>
          </a:p>
        </p:txBody>
      </p:sp>
      <p:sp>
        <p:nvSpPr>
          <p:cNvPr id="28" name="TextBox 27"/>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9</a:t>
            </a:r>
          </a:p>
        </p:txBody>
      </p:sp>
      <p:sp>
        <p:nvSpPr>
          <p:cNvPr id="29" name="Rounded Rectangle 28"/>
          <p:cNvSpPr/>
          <p:nvPr/>
        </p:nvSpPr>
        <p:spPr>
          <a:xfrm>
            <a:off x="411480"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06</a:t>
            </a:r>
          </a:p>
        </p:txBody>
      </p:sp>
      <p:sp>
        <p:nvSpPr>
          <p:cNvPr id="31" name="TextBox 30"/>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 Communication</a:t>
            </a:r>
          </a:p>
        </p:txBody>
      </p:sp>
      <p:sp>
        <p:nvSpPr>
          <p:cNvPr id="32" name="TextBox 31"/>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10</a:t>
            </a:r>
          </a:p>
        </p:txBody>
      </p:sp>
      <p:sp>
        <p:nvSpPr>
          <p:cNvPr id="33" name="Rounded Rectangle 32"/>
          <p:cNvSpPr/>
          <p:nvPr/>
        </p:nvSpPr>
        <p:spPr>
          <a:xfrm>
            <a:off x="411480"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07</a:t>
            </a:r>
          </a:p>
        </p:txBody>
      </p:sp>
      <p:sp>
        <p:nvSpPr>
          <p:cNvPr id="35" name="TextBox 34"/>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Booking·Assignment</a:t>
            </a:r>
          </a:p>
        </p:txBody>
      </p:sp>
      <p:sp>
        <p:nvSpPr>
          <p:cNvPr id="36" name="TextBox 35"/>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11</a:t>
            </a:r>
          </a:p>
        </p:txBody>
      </p:sp>
      <p:sp>
        <p:nvSpPr>
          <p:cNvPr id="37" name="Rounded Rectangle 36"/>
          <p:cNvSpPr/>
          <p:nvPr/>
        </p:nvSpPr>
        <p:spPr>
          <a:xfrm>
            <a:off x="411480"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08</a:t>
            </a:r>
          </a:p>
        </p:txBody>
      </p:sp>
      <p:sp>
        <p:nvSpPr>
          <p:cNvPr id="39" name="TextBox 38"/>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Payments·Collection</a:t>
            </a:r>
          </a:p>
        </p:txBody>
      </p:sp>
      <p:sp>
        <p:nvSpPr>
          <p:cNvPr id="40" name="TextBox 39"/>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12</a:t>
            </a:r>
          </a:p>
        </p:txBody>
      </p:sp>
      <p:sp>
        <p:nvSpPr>
          <p:cNvPr id="41" name="Rounded Rectangle 40"/>
          <p:cNvSpPr/>
          <p:nvPr/>
        </p:nvSpPr>
        <p:spPr>
          <a:xfrm>
            <a:off x="411480" y="39502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11480" y="39319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09</a:t>
            </a:r>
          </a:p>
        </p:txBody>
      </p:sp>
      <p:sp>
        <p:nvSpPr>
          <p:cNvPr id="43" name="TextBox 42"/>
          <p:cNvSpPr txBox="1"/>
          <p:nvPr/>
        </p:nvSpPr>
        <p:spPr>
          <a:xfrm>
            <a:off x="886968" y="39227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Student Learning·Reports</a:t>
            </a:r>
          </a:p>
        </p:txBody>
      </p:sp>
      <p:sp>
        <p:nvSpPr>
          <p:cNvPr id="44" name="TextBox 43"/>
          <p:cNvSpPr txBox="1"/>
          <p:nvPr/>
        </p:nvSpPr>
        <p:spPr>
          <a:xfrm>
            <a:off x="5483199" y="39227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13</a:t>
            </a:r>
          </a:p>
        </p:txBody>
      </p:sp>
      <p:sp>
        <p:nvSpPr>
          <p:cNvPr id="45" name="Rounded Rectangle 44"/>
          <p:cNvSpPr/>
          <p:nvPr/>
        </p:nvSpPr>
        <p:spPr>
          <a:xfrm>
            <a:off x="6141567"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10</a:t>
            </a:r>
          </a:p>
        </p:txBody>
      </p:sp>
      <p:sp>
        <p:nvSpPr>
          <p:cNvPr id="47" name="TextBox 46"/>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Agency Settlement</a:t>
            </a:r>
          </a:p>
        </p:txBody>
      </p:sp>
      <p:sp>
        <p:nvSpPr>
          <p:cNvPr id="48" name="TextBox 47"/>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14</a:t>
            </a:r>
          </a:p>
        </p:txBody>
      </p:sp>
      <p:sp>
        <p:nvSpPr>
          <p:cNvPr id="49" name="Rounded Rectangle 48"/>
          <p:cNvSpPr/>
          <p:nvPr/>
        </p:nvSpPr>
        <p:spPr>
          <a:xfrm>
            <a:off x="6141567"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11</a:t>
            </a:r>
          </a:p>
        </p:txBody>
      </p:sp>
      <p:sp>
        <p:nvSpPr>
          <p:cNvPr id="51" name="TextBox 50"/>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Prevent Churn (care for students)</a:t>
            </a:r>
          </a:p>
        </p:txBody>
      </p:sp>
      <p:sp>
        <p:nvSpPr>
          <p:cNvPr id="52" name="TextBox 51"/>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15</a:t>
            </a:r>
          </a:p>
        </p:txBody>
      </p:sp>
      <p:sp>
        <p:nvSpPr>
          <p:cNvPr id="53" name="Rounded Rectangle 52"/>
          <p:cNvSpPr/>
          <p:nvPr/>
        </p:nvSpPr>
        <p:spPr>
          <a:xfrm>
            <a:off x="6141567"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12</a:t>
            </a:r>
          </a:p>
        </p:txBody>
      </p:sp>
      <p:sp>
        <p:nvSpPr>
          <p:cNvPr id="55" name="TextBox 54"/>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New Counseling·Recruiting</a:t>
            </a:r>
          </a:p>
        </p:txBody>
      </p:sp>
      <p:sp>
        <p:nvSpPr>
          <p:cNvPr id="56" name="TextBox 55"/>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16</a:t>
            </a:r>
          </a:p>
        </p:txBody>
      </p:sp>
      <p:sp>
        <p:nvSpPr>
          <p:cNvPr id="57" name="Rounded Rectangle 56"/>
          <p:cNvSpPr/>
          <p:nvPr/>
        </p:nvSpPr>
        <p:spPr>
          <a:xfrm>
            <a:off x="6141567"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13</a:t>
            </a:r>
          </a:p>
        </p:txBody>
      </p:sp>
      <p:sp>
        <p:nvSpPr>
          <p:cNvPr id="59" name="TextBox 58"/>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Support·Help</a:t>
            </a:r>
          </a:p>
        </p:txBody>
      </p:sp>
      <p:sp>
        <p:nvSpPr>
          <p:cNvPr id="60" name="TextBox 59"/>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17</a:t>
            </a:r>
          </a:p>
        </p:txBody>
      </p:sp>
      <p:sp>
        <p:nvSpPr>
          <p:cNvPr id="61" name="Rounded Rectangle 60"/>
          <p:cNvSpPr/>
          <p:nvPr/>
        </p:nvSpPr>
        <p:spPr>
          <a:xfrm>
            <a:off x="6141567"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14</a:t>
            </a:r>
          </a:p>
        </p:txBody>
      </p:sp>
      <p:sp>
        <p:nvSpPr>
          <p:cNvPr id="63" name="TextBox 62"/>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Korea·Philippines Dual Clock</a:t>
            </a:r>
          </a:p>
        </p:txBody>
      </p:sp>
      <p:sp>
        <p:nvSpPr>
          <p:cNvPr id="64" name="TextBox 63"/>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18</a:t>
            </a:r>
          </a:p>
        </p:txBody>
      </p:sp>
      <p:sp>
        <p:nvSpPr>
          <p:cNvPr id="65" name="Rounded Rectangle 64"/>
          <p:cNvSpPr/>
          <p:nvPr/>
        </p:nvSpPr>
        <p:spPr>
          <a:xfrm>
            <a:off x="6141567"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15</a:t>
            </a:r>
          </a:p>
        </p:txBody>
      </p:sp>
      <p:sp>
        <p:nvSpPr>
          <p:cNvPr id="67" name="TextBox 66"/>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Chinese Pronunciation Coach</a:t>
            </a:r>
          </a:p>
        </p:txBody>
      </p:sp>
      <p:sp>
        <p:nvSpPr>
          <p:cNvPr id="68" name="TextBox 67"/>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19</a:t>
            </a:r>
          </a:p>
        </p:txBody>
      </p:sp>
      <p:sp>
        <p:nvSpPr>
          <p:cNvPr id="69" name="Rounded Rectangle 68"/>
          <p:cNvSpPr/>
          <p:nvPr/>
        </p:nvSpPr>
        <p:spPr>
          <a:xfrm>
            <a:off x="6141567"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16</a:t>
            </a:r>
          </a:p>
        </p:txBody>
      </p:sp>
      <p:sp>
        <p:nvSpPr>
          <p:cNvPr id="71" name="TextBox 70"/>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In-class Praise Points (understand &amp; use)</a:t>
            </a:r>
          </a:p>
        </p:txBody>
      </p:sp>
      <p:sp>
        <p:nvSpPr>
          <p:cNvPr id="72" name="TextBox 71"/>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20</a:t>
            </a:r>
          </a:p>
        </p:txBody>
      </p:sp>
      <p:sp>
        <p:nvSpPr>
          <p:cNvPr id="73" name="Rounded Rectangle 72"/>
          <p:cNvSpPr/>
          <p:nvPr/>
        </p:nvSpPr>
        <p:spPr>
          <a:xfrm>
            <a:off x="6141567"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17</a:t>
            </a:r>
          </a:p>
        </p:txBody>
      </p:sp>
      <p:sp>
        <p:nvSpPr>
          <p:cNvPr id="75" name="TextBox 74"/>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Notice Studio (Poster + Popup)</a:t>
            </a:r>
          </a:p>
        </p:txBody>
      </p:sp>
      <p:sp>
        <p:nvSpPr>
          <p:cNvPr id="76" name="TextBox 75"/>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21</a:t>
            </a:r>
          </a:p>
        </p:txBody>
      </p:sp>
      <p:sp>
        <p:nvSpPr>
          <p:cNvPr id="77" name="Rounded Rectangle 76"/>
          <p:cNvSpPr/>
          <p:nvPr/>
        </p:nvSpPr>
        <p:spPr>
          <a:xfrm>
            <a:off x="6141567"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18</a:t>
            </a:r>
          </a:p>
        </p:txBody>
      </p:sp>
      <p:sp>
        <p:nvSpPr>
          <p:cNvPr id="79" name="TextBox 78"/>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Command the AI Operations Assistant</a:t>
            </a:r>
          </a:p>
        </p:txBody>
      </p:sp>
      <p:sp>
        <p:nvSpPr>
          <p:cNvPr id="80" name="TextBox 79"/>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Contents</a:t>
            </a:r>
          </a:p>
        </p:txBody>
      </p:sp>
      <p:sp>
        <p:nvSpPr>
          <p:cNvPr id="6" name="TextBox 5"/>
          <p:cNvSpPr txBox="1"/>
          <p:nvPr/>
        </p:nvSpPr>
        <p:spPr>
          <a:xfrm>
            <a:off x="365760" y="82296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Contents  (2/2)</a:t>
            </a:r>
          </a:p>
        </p:txBody>
      </p:sp>
      <p:sp>
        <p:nvSpPr>
          <p:cNvPr id="7" name="Rounded Rectangle 6"/>
          <p:cNvSpPr/>
          <p:nvPr/>
        </p:nvSpPr>
        <p:spPr>
          <a:xfrm>
            <a:off x="411480"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19</a:t>
            </a:r>
          </a:p>
        </p:txBody>
      </p:sp>
      <p:sp>
        <p:nvSpPr>
          <p:cNvPr id="9" name="TextBox 8"/>
          <p:cNvSpPr txBox="1"/>
          <p:nvPr/>
        </p:nvSpPr>
        <p:spPr>
          <a:xfrm>
            <a:off x="886968"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Share Library Links via KakaoTalk</a:t>
            </a:r>
          </a:p>
        </p:txBody>
      </p:sp>
      <p:sp>
        <p:nvSpPr>
          <p:cNvPr id="10" name="TextBox 9"/>
          <p:cNvSpPr txBox="1"/>
          <p:nvPr/>
        </p:nvSpPr>
        <p:spPr>
          <a:xfrm>
            <a:off x="5483199"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23</a:t>
            </a:r>
          </a:p>
        </p:txBody>
      </p:sp>
      <p:sp>
        <p:nvSpPr>
          <p:cNvPr id="11" name="Rounded Rectangle 10"/>
          <p:cNvSpPr/>
          <p:nvPr/>
        </p:nvSpPr>
        <p:spPr>
          <a:xfrm>
            <a:off x="411480"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1480"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20</a:t>
            </a:r>
          </a:p>
        </p:txBody>
      </p:sp>
      <p:sp>
        <p:nvSpPr>
          <p:cNvPr id="13" name="TextBox 12"/>
          <p:cNvSpPr txBox="1"/>
          <p:nvPr/>
        </p:nvSpPr>
        <p:spPr>
          <a:xfrm>
            <a:off x="886968"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 refreshed admin screen</a:t>
            </a:r>
          </a:p>
        </p:txBody>
      </p:sp>
      <p:sp>
        <p:nvSpPr>
          <p:cNvPr id="14" name="TextBox 13"/>
          <p:cNvSpPr txBox="1"/>
          <p:nvPr/>
        </p:nvSpPr>
        <p:spPr>
          <a:xfrm>
            <a:off x="5483199"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24</a:t>
            </a:r>
          </a:p>
        </p:txBody>
      </p:sp>
      <p:sp>
        <p:nvSpPr>
          <p:cNvPr id="15" name="Rounded Rectangle 14"/>
          <p:cNvSpPr/>
          <p:nvPr/>
        </p:nvSpPr>
        <p:spPr>
          <a:xfrm>
            <a:off x="411480"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1480"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21</a:t>
            </a:r>
          </a:p>
        </p:txBody>
      </p:sp>
      <p:sp>
        <p:nvSpPr>
          <p:cNvPr id="17" name="TextBox 16"/>
          <p:cNvSpPr txBox="1"/>
          <p:nvPr/>
        </p:nvSpPr>
        <p:spPr>
          <a:xfrm>
            <a:off x="886968"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interface language sets itself</a:t>
            </a:r>
          </a:p>
        </p:txBody>
      </p:sp>
      <p:sp>
        <p:nvSpPr>
          <p:cNvPr id="18" name="TextBox 17"/>
          <p:cNvSpPr txBox="1"/>
          <p:nvPr/>
        </p:nvSpPr>
        <p:spPr>
          <a:xfrm>
            <a:off x="5483199"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25</a:t>
            </a:r>
          </a:p>
        </p:txBody>
      </p:sp>
      <p:sp>
        <p:nvSpPr>
          <p:cNvPr id="19" name="Rounded Rectangle 18"/>
          <p:cNvSpPr/>
          <p:nvPr/>
        </p:nvSpPr>
        <p:spPr>
          <a:xfrm>
            <a:off x="411480"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11480"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22</a:t>
            </a:r>
          </a:p>
        </p:txBody>
      </p:sp>
      <p:sp>
        <p:nvSpPr>
          <p:cNvPr id="21" name="TextBox 20"/>
          <p:cNvSpPr txBox="1"/>
          <p:nvPr/>
        </p:nvSpPr>
        <p:spPr>
          <a:xfrm>
            <a:off x="886968"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Enrolment &amp; payment → automatic lesson creation</a:t>
            </a:r>
          </a:p>
        </p:txBody>
      </p:sp>
      <p:sp>
        <p:nvSpPr>
          <p:cNvPr id="22" name="TextBox 21"/>
          <p:cNvSpPr txBox="1"/>
          <p:nvPr/>
        </p:nvSpPr>
        <p:spPr>
          <a:xfrm>
            <a:off x="5483199"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26</a:t>
            </a:r>
          </a:p>
        </p:txBody>
      </p:sp>
      <p:sp>
        <p:nvSpPr>
          <p:cNvPr id="23" name="Rounded Rectangle 22"/>
          <p:cNvSpPr/>
          <p:nvPr/>
        </p:nvSpPr>
        <p:spPr>
          <a:xfrm>
            <a:off x="411480"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1480"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23</a:t>
            </a:r>
          </a:p>
        </p:txBody>
      </p:sp>
      <p:sp>
        <p:nvSpPr>
          <p:cNvPr id="25" name="TextBox 24"/>
          <p:cNvSpPr txBox="1"/>
          <p:nvPr/>
        </p:nvSpPr>
        <p:spPr>
          <a:xfrm>
            <a:off x="886968"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Teacher Management, redesigned (roster filters · groups · detail tabs)</a:t>
            </a:r>
          </a:p>
        </p:txBody>
      </p:sp>
      <p:sp>
        <p:nvSpPr>
          <p:cNvPr id="26" name="TextBox 25"/>
          <p:cNvSpPr txBox="1"/>
          <p:nvPr/>
        </p:nvSpPr>
        <p:spPr>
          <a:xfrm>
            <a:off x="5483199"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27</a:t>
            </a:r>
          </a:p>
        </p:txBody>
      </p:sp>
      <p:sp>
        <p:nvSpPr>
          <p:cNvPr id="27" name="Rounded Rectangle 26"/>
          <p:cNvSpPr/>
          <p:nvPr/>
        </p:nvSpPr>
        <p:spPr>
          <a:xfrm>
            <a:off x="411480"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11480"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24</a:t>
            </a:r>
          </a:p>
        </p:txBody>
      </p:sp>
      <p:sp>
        <p:nvSpPr>
          <p:cNvPr id="29" name="TextBox 28"/>
          <p:cNvSpPr txBox="1"/>
          <p:nvPr/>
        </p:nvSpPr>
        <p:spPr>
          <a:xfrm>
            <a:off x="886968"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Sending the Parent Monthly Report (pentagon)</a:t>
            </a:r>
          </a:p>
        </p:txBody>
      </p:sp>
      <p:sp>
        <p:nvSpPr>
          <p:cNvPr id="30" name="TextBox 29"/>
          <p:cNvSpPr txBox="1"/>
          <p:nvPr/>
        </p:nvSpPr>
        <p:spPr>
          <a:xfrm>
            <a:off x="5483199"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28</a:t>
            </a:r>
          </a:p>
        </p:txBody>
      </p:sp>
      <p:sp>
        <p:nvSpPr>
          <p:cNvPr id="31" name="Rounded Rectangle 30"/>
          <p:cNvSpPr/>
          <p:nvPr/>
        </p:nvSpPr>
        <p:spPr>
          <a:xfrm>
            <a:off x="411480"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25</a:t>
            </a:r>
          </a:p>
        </p:txBody>
      </p:sp>
      <p:sp>
        <p:nvSpPr>
          <p:cNvPr id="33" name="TextBox 32"/>
          <p:cNvSpPr txBox="1"/>
          <p:nvPr/>
        </p:nvSpPr>
        <p:spPr>
          <a:xfrm>
            <a:off x="886968"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Parent Weekly Report (the re-enrolment lever)</a:t>
            </a:r>
          </a:p>
        </p:txBody>
      </p:sp>
      <p:sp>
        <p:nvSpPr>
          <p:cNvPr id="34" name="TextBox 33"/>
          <p:cNvSpPr txBox="1"/>
          <p:nvPr/>
        </p:nvSpPr>
        <p:spPr>
          <a:xfrm>
            <a:off x="5483199"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29</a:t>
            </a:r>
          </a:p>
        </p:txBody>
      </p:sp>
      <p:sp>
        <p:nvSpPr>
          <p:cNvPr id="35" name="Rounded Rectangle 34"/>
          <p:cNvSpPr/>
          <p:nvPr/>
        </p:nvSpPr>
        <p:spPr>
          <a:xfrm>
            <a:off x="411480"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11480"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26</a:t>
            </a:r>
          </a:p>
        </p:txBody>
      </p:sp>
      <p:sp>
        <p:nvSpPr>
          <p:cNvPr id="37" name="TextBox 36"/>
          <p:cNvSpPr txBox="1"/>
          <p:nvPr/>
        </p:nvSpPr>
        <p:spPr>
          <a:xfrm>
            <a:off x="886968"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Home Screen Split (first-time parent vs. existing member)</a:t>
            </a:r>
          </a:p>
        </p:txBody>
      </p:sp>
      <p:sp>
        <p:nvSpPr>
          <p:cNvPr id="38" name="TextBox 37"/>
          <p:cNvSpPr txBox="1"/>
          <p:nvPr/>
        </p:nvSpPr>
        <p:spPr>
          <a:xfrm>
            <a:off x="5483199"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30</a:t>
            </a:r>
          </a:p>
        </p:txBody>
      </p:sp>
      <p:sp>
        <p:nvSpPr>
          <p:cNvPr id="39" name="Rounded Rectangle 38"/>
          <p:cNvSpPr/>
          <p:nvPr/>
        </p:nvSpPr>
        <p:spPr>
          <a:xfrm>
            <a:off x="411480"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11480"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27</a:t>
            </a:r>
          </a:p>
        </p:txBody>
      </p:sp>
      <p:sp>
        <p:nvSpPr>
          <p:cNvPr id="41" name="TextBox 40"/>
          <p:cNvSpPr txBox="1"/>
          <p:nvPr/>
        </p:nvSpPr>
        <p:spPr>
          <a:xfrm>
            <a:off x="886968"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The Admin Screen Is Much Faster Now</a:t>
            </a:r>
          </a:p>
        </p:txBody>
      </p:sp>
      <p:sp>
        <p:nvSpPr>
          <p:cNvPr id="42" name="TextBox 41"/>
          <p:cNvSpPr txBox="1"/>
          <p:nvPr/>
        </p:nvSpPr>
        <p:spPr>
          <a:xfrm>
            <a:off x="5483199"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31</a:t>
            </a:r>
          </a:p>
        </p:txBody>
      </p:sp>
      <p:sp>
        <p:nvSpPr>
          <p:cNvPr id="43" name="Rounded Rectangle 42"/>
          <p:cNvSpPr/>
          <p:nvPr/>
        </p:nvSpPr>
        <p:spPr>
          <a:xfrm>
            <a:off x="6141567" y="14813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1567" y="14630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28</a:t>
            </a:r>
          </a:p>
        </p:txBody>
      </p:sp>
      <p:sp>
        <p:nvSpPr>
          <p:cNvPr id="45" name="TextBox 44"/>
          <p:cNvSpPr txBox="1"/>
          <p:nvPr/>
        </p:nvSpPr>
        <p:spPr>
          <a:xfrm>
            <a:off x="6617055" y="14538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Academy Search Box (find it by name)</a:t>
            </a:r>
          </a:p>
        </p:txBody>
      </p:sp>
      <p:sp>
        <p:nvSpPr>
          <p:cNvPr id="46" name="TextBox 45"/>
          <p:cNvSpPr txBox="1"/>
          <p:nvPr/>
        </p:nvSpPr>
        <p:spPr>
          <a:xfrm>
            <a:off x="11213287" y="14538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32</a:t>
            </a:r>
          </a:p>
        </p:txBody>
      </p:sp>
      <p:sp>
        <p:nvSpPr>
          <p:cNvPr id="47" name="Rounded Rectangle 46"/>
          <p:cNvSpPr/>
          <p:nvPr/>
        </p:nvSpPr>
        <p:spPr>
          <a:xfrm>
            <a:off x="6141567" y="17556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141567" y="17373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29</a:t>
            </a:r>
          </a:p>
        </p:txBody>
      </p:sp>
      <p:sp>
        <p:nvSpPr>
          <p:cNvPr id="49" name="TextBox 48"/>
          <p:cNvSpPr txBox="1"/>
          <p:nvPr/>
        </p:nvSpPr>
        <p:spPr>
          <a:xfrm>
            <a:off x="6617055" y="17282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New-Payment Screen, Now Step-by-Step</a:t>
            </a:r>
          </a:p>
        </p:txBody>
      </p:sp>
      <p:sp>
        <p:nvSpPr>
          <p:cNvPr id="50" name="TextBox 49"/>
          <p:cNvSpPr txBox="1"/>
          <p:nvPr/>
        </p:nvSpPr>
        <p:spPr>
          <a:xfrm>
            <a:off x="11213287" y="17282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33</a:t>
            </a:r>
          </a:p>
        </p:txBody>
      </p:sp>
      <p:sp>
        <p:nvSpPr>
          <p:cNvPr id="51" name="Rounded Rectangle 50"/>
          <p:cNvSpPr/>
          <p:nvPr/>
        </p:nvSpPr>
        <p:spPr>
          <a:xfrm>
            <a:off x="6141567" y="20299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141567" y="20116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30</a:t>
            </a:r>
          </a:p>
        </p:txBody>
      </p:sp>
      <p:sp>
        <p:nvSpPr>
          <p:cNvPr id="53" name="TextBox 52"/>
          <p:cNvSpPr txBox="1"/>
          <p:nvPr/>
        </p:nvSpPr>
        <p:spPr>
          <a:xfrm>
            <a:off x="6617055" y="20025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Sample Report Card for Parents Without an Account</a:t>
            </a:r>
          </a:p>
        </p:txBody>
      </p:sp>
      <p:sp>
        <p:nvSpPr>
          <p:cNvPr id="54" name="TextBox 53"/>
          <p:cNvSpPr txBox="1"/>
          <p:nvPr/>
        </p:nvSpPr>
        <p:spPr>
          <a:xfrm>
            <a:off x="11213287" y="20025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34</a:t>
            </a:r>
          </a:p>
        </p:txBody>
      </p:sp>
      <p:sp>
        <p:nvSpPr>
          <p:cNvPr id="55" name="Rounded Rectangle 54"/>
          <p:cNvSpPr/>
          <p:nvPr/>
        </p:nvSpPr>
        <p:spPr>
          <a:xfrm>
            <a:off x="6141567" y="230428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41567" y="228600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31</a:t>
            </a:r>
          </a:p>
        </p:txBody>
      </p:sp>
      <p:sp>
        <p:nvSpPr>
          <p:cNvPr id="57" name="TextBox 56"/>
          <p:cNvSpPr txBox="1"/>
          <p:nvPr/>
        </p:nvSpPr>
        <p:spPr>
          <a:xfrm>
            <a:off x="6617055" y="22768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Unified Support Hours &amp; Channel Order (KakaoTalk first)</a:t>
            </a:r>
          </a:p>
        </p:txBody>
      </p:sp>
      <p:sp>
        <p:nvSpPr>
          <p:cNvPr id="58" name="TextBox 57"/>
          <p:cNvSpPr txBox="1"/>
          <p:nvPr/>
        </p:nvSpPr>
        <p:spPr>
          <a:xfrm>
            <a:off x="11213287" y="22768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35</a:t>
            </a:r>
          </a:p>
        </p:txBody>
      </p:sp>
      <p:sp>
        <p:nvSpPr>
          <p:cNvPr id="59" name="Rounded Rectangle 58"/>
          <p:cNvSpPr/>
          <p:nvPr/>
        </p:nvSpPr>
        <p:spPr>
          <a:xfrm>
            <a:off x="6141567" y="257860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141567" y="256032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32</a:t>
            </a:r>
          </a:p>
        </p:txBody>
      </p:sp>
      <p:sp>
        <p:nvSpPr>
          <p:cNvPr id="61" name="TextBox 60"/>
          <p:cNvSpPr txBox="1"/>
          <p:nvPr/>
        </p:nvSpPr>
        <p:spPr>
          <a:xfrm>
            <a:off x="6617055" y="255117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Feature Summary · Data</a:t>
            </a:r>
          </a:p>
        </p:txBody>
      </p:sp>
      <p:sp>
        <p:nvSpPr>
          <p:cNvPr id="62" name="TextBox 61"/>
          <p:cNvSpPr txBox="1"/>
          <p:nvPr/>
        </p:nvSpPr>
        <p:spPr>
          <a:xfrm>
            <a:off x="11213287" y="255117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36</a:t>
            </a:r>
          </a:p>
        </p:txBody>
      </p:sp>
      <p:sp>
        <p:nvSpPr>
          <p:cNvPr id="63" name="Rounded Rectangle 62"/>
          <p:cNvSpPr/>
          <p:nvPr/>
        </p:nvSpPr>
        <p:spPr>
          <a:xfrm>
            <a:off x="6141567" y="285292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41567" y="283464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33</a:t>
            </a:r>
          </a:p>
        </p:txBody>
      </p:sp>
      <p:sp>
        <p:nvSpPr>
          <p:cNvPr id="65" name="TextBox 64"/>
          <p:cNvSpPr txBox="1"/>
          <p:nvPr/>
        </p:nvSpPr>
        <p:spPr>
          <a:xfrm>
            <a:off x="6617055" y="282549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Data at a Glance</a:t>
            </a:r>
          </a:p>
        </p:txBody>
      </p:sp>
      <p:sp>
        <p:nvSpPr>
          <p:cNvPr id="66" name="TextBox 65"/>
          <p:cNvSpPr txBox="1"/>
          <p:nvPr/>
        </p:nvSpPr>
        <p:spPr>
          <a:xfrm>
            <a:off x="11213287" y="282549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37</a:t>
            </a:r>
          </a:p>
        </p:txBody>
      </p:sp>
      <p:sp>
        <p:nvSpPr>
          <p:cNvPr id="67" name="Rounded Rectangle 66"/>
          <p:cNvSpPr/>
          <p:nvPr/>
        </p:nvSpPr>
        <p:spPr>
          <a:xfrm>
            <a:off x="6141567" y="312724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141567" y="310896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34</a:t>
            </a:r>
          </a:p>
        </p:txBody>
      </p:sp>
      <p:sp>
        <p:nvSpPr>
          <p:cNvPr id="69" name="TextBox 68"/>
          <p:cNvSpPr txBox="1"/>
          <p:nvPr/>
        </p:nvSpPr>
        <p:spPr>
          <a:xfrm>
            <a:off x="6617055" y="309981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Frequently Asked Questions (FAQ)</a:t>
            </a:r>
          </a:p>
        </p:txBody>
      </p:sp>
      <p:sp>
        <p:nvSpPr>
          <p:cNvPr id="70" name="TextBox 69"/>
          <p:cNvSpPr txBox="1"/>
          <p:nvPr/>
        </p:nvSpPr>
        <p:spPr>
          <a:xfrm>
            <a:off x="11213287" y="309981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38</a:t>
            </a:r>
          </a:p>
        </p:txBody>
      </p:sp>
      <p:sp>
        <p:nvSpPr>
          <p:cNvPr id="71" name="Rounded Rectangle 70"/>
          <p:cNvSpPr/>
          <p:nvPr/>
        </p:nvSpPr>
        <p:spPr>
          <a:xfrm>
            <a:off x="6141567" y="3401568"/>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141567" y="3383280"/>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35</a:t>
            </a:r>
          </a:p>
        </p:txBody>
      </p:sp>
      <p:sp>
        <p:nvSpPr>
          <p:cNvPr id="73" name="TextBox 72"/>
          <p:cNvSpPr txBox="1"/>
          <p:nvPr/>
        </p:nvSpPr>
        <p:spPr>
          <a:xfrm>
            <a:off x="6617055" y="337413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Checklist</a:t>
            </a:r>
          </a:p>
        </p:txBody>
      </p:sp>
      <p:sp>
        <p:nvSpPr>
          <p:cNvPr id="74" name="TextBox 73"/>
          <p:cNvSpPr txBox="1"/>
          <p:nvPr/>
        </p:nvSpPr>
        <p:spPr>
          <a:xfrm>
            <a:off x="11213287" y="337413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39</a:t>
            </a:r>
          </a:p>
        </p:txBody>
      </p:sp>
      <p:sp>
        <p:nvSpPr>
          <p:cNvPr id="75" name="Rounded Rectangle 74"/>
          <p:cNvSpPr/>
          <p:nvPr/>
        </p:nvSpPr>
        <p:spPr>
          <a:xfrm>
            <a:off x="6141567" y="3675887"/>
            <a:ext cx="384048" cy="22860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141567" y="3657599"/>
            <a:ext cx="384048" cy="265176"/>
          </a:xfrm>
          <a:prstGeom prst="rect">
            <a:avLst/>
          </a:prstGeom>
          <a:noFill/>
        </p:spPr>
        <p:txBody>
          <a:bodyPr wrap="square" anchor="ctr">
            <a:spAutoFit/>
          </a:bodyPr>
          <a:lstStyle/>
          <a:p>
            <a:pPr algn="ctr">
              <a:lnSpc>
                <a:spcPct val="100000"/>
              </a:lnSpc>
            </a:pPr>
            <a:r>
              <a:rPr sz="900" b="1">
                <a:solidFill>
                  <a:srgbClr val="FFFFFF"/>
                </a:solidFill>
                <a:latin typeface="Malgun Gothic"/>
              </a:rPr>
              <a:t>36</a:t>
            </a:r>
          </a:p>
        </p:txBody>
      </p:sp>
      <p:sp>
        <p:nvSpPr>
          <p:cNvPr id="77" name="TextBox 76"/>
          <p:cNvSpPr txBox="1"/>
          <p:nvPr/>
        </p:nvSpPr>
        <p:spPr>
          <a:xfrm>
            <a:off x="6617055" y="3648456"/>
            <a:ext cx="4587087" cy="274320"/>
          </a:xfrm>
          <a:prstGeom prst="rect">
            <a:avLst/>
          </a:prstGeom>
          <a:noFill/>
        </p:spPr>
        <p:txBody>
          <a:bodyPr wrap="square" anchor="ctr">
            <a:spAutoFit/>
          </a:bodyPr>
          <a:lstStyle/>
          <a:p>
            <a:pPr algn="l">
              <a:lnSpc>
                <a:spcPct val="100000"/>
              </a:lnSpc>
            </a:pPr>
            <a:r>
              <a:rPr sz="1050" b="1">
                <a:solidFill>
                  <a:srgbClr val="334155"/>
                </a:solidFill>
                <a:latin typeface="Malgun Gothic"/>
              </a:rPr>
              <a:t>Conclusion</a:t>
            </a:r>
          </a:p>
        </p:txBody>
      </p:sp>
      <p:sp>
        <p:nvSpPr>
          <p:cNvPr id="78" name="TextBox 77"/>
          <p:cNvSpPr txBox="1"/>
          <p:nvPr/>
        </p:nvSpPr>
        <p:spPr>
          <a:xfrm>
            <a:off x="11213287" y="3648456"/>
            <a:ext cx="457200" cy="274320"/>
          </a:xfrm>
          <a:prstGeom prst="rect">
            <a:avLst/>
          </a:prstGeom>
          <a:noFill/>
        </p:spPr>
        <p:txBody>
          <a:bodyPr wrap="square" anchor="ctr">
            <a:spAutoFit/>
          </a:bodyPr>
          <a:lstStyle/>
          <a:p>
            <a:pPr algn="r">
              <a:lnSpc>
                <a:spcPct val="100000"/>
              </a:lnSpc>
            </a:pPr>
            <a:r>
              <a:rPr sz="1050" b="1">
                <a:solidFill>
                  <a:srgbClr val="E11D48"/>
                </a:solidFill>
                <a:latin typeface="Malgun Gothic"/>
              </a:rPr>
              <a:t>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Agency Login &amp; Permissions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Only my agency's data</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Logging in with an agency account shows only 'my agency' menus and data. Other agencies or branch-wide data isn't visible, so you can focus on managing your students.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34691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Log in with ID and password (social login also works).</a:t>
            </a:r>
          </a:p>
          <a:p>
            <a:pPr>
              <a:lnSpc>
                <a:spcPct val="115000"/>
              </a:lnSpc>
              <a:spcAft>
                <a:spcPts val="300"/>
              </a:spcAft>
            </a:pPr>
            <a:r>
              <a:rPr sz="700" b="1">
                <a:solidFill>
                  <a:srgbClr val="E11D48"/>
                </a:solidFill>
                <a:latin typeface="Malgun Gothic"/>
              </a:rPr>
              <a:t>● </a:t>
            </a:r>
            <a:r>
              <a:rPr sz="900">
                <a:solidFill>
                  <a:srgbClr val="334155"/>
                </a:solidFill>
                <a:latin typeface="Malgun Gothic"/>
              </a:rPr>
              <a:t>On login, menus/data for your role (agency) are applied automatically.</a:t>
            </a:r>
          </a:p>
          <a:p>
            <a:pPr>
              <a:lnSpc>
                <a:spcPct val="115000"/>
              </a:lnSpc>
              <a:spcAft>
                <a:spcPts val="300"/>
              </a:spcAft>
            </a:pPr>
            <a:r>
              <a:rPr sz="700" b="1">
                <a:solidFill>
                  <a:srgbClr val="E11D48"/>
                </a:solidFill>
                <a:latin typeface="Malgun Gothic"/>
              </a:rPr>
              <a:t>● </a:t>
            </a:r>
            <a:r>
              <a:rPr sz="900">
                <a:solidFill>
                  <a:srgbClr val="334155"/>
                </a:solidFill>
                <a:latin typeface="Malgun Gothic"/>
              </a:rPr>
              <a:t>Forgot your password? Reset via 'Find password'.</a:t>
            </a:r>
          </a:p>
        </p:txBody>
      </p:sp>
      <p:sp>
        <p:nvSpPr>
          <p:cNvPr id="14" name="Rounded Rectangle 13"/>
          <p:cNvSpPr/>
          <p:nvPr/>
        </p:nvSpPr>
        <p:spPr>
          <a:xfrm>
            <a:off x="457200" y="5187391"/>
            <a:ext cx="5669280" cy="833475"/>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3311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479999"/>
            <a:ext cx="5394960" cy="504291"/>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Only your agency's student/revenue data shows.</a:t>
            </a:r>
          </a:p>
          <a:p>
            <a:pPr>
              <a:lnSpc>
                <a:spcPct val="115000"/>
              </a:lnSpc>
              <a:spcAft>
                <a:spcPts val="100"/>
              </a:spcAft>
            </a:pPr>
            <a:r>
              <a:rPr sz="650" b="1">
                <a:solidFill>
                  <a:srgbClr val="E11D48"/>
                </a:solidFill>
                <a:latin typeface="Malgun Gothic"/>
              </a:rPr>
              <a:t>● </a:t>
            </a:r>
            <a:r>
              <a:rPr sz="850">
                <a:solidFill>
                  <a:srgbClr val="334155"/>
                </a:solidFill>
                <a:latin typeface="Malgun Gothic"/>
              </a:rPr>
              <a:t>Turn on 'Save ID' only on your own trusted PC.</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On shared PCs, turn off auto-login and log out when done.</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logi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ID and pas…</a:t>
            </a:r>
          </a:p>
        </p:txBody>
      </p:sp>
      <p:sp>
        <p:nvSpPr>
          <p:cNvPr id="26" name="TextBox 25"/>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role (agen…</a:t>
            </a:r>
          </a:p>
        </p:txBody>
      </p:sp>
      <p:sp>
        <p:nvSpPr>
          <p:cNvPr id="31" name="TextBox 30"/>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'Find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My Page &amp; Admin Dashboard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Open the management screen from My Page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Agency operations also start from 'My Page.' After logging in, press the 📊 'Admin' button in the My Page menu to enter the agency-scope admin (operations) dashboard, where you manage students, revenue, lessons and settlement.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After logging in, open '👤 My Page'.</a:t>
            </a:r>
          </a:p>
          <a:p>
            <a:pPr>
              <a:lnSpc>
                <a:spcPct val="115000"/>
              </a:lnSpc>
              <a:spcAft>
                <a:spcPts val="300"/>
              </a:spcAft>
            </a:pPr>
            <a:r>
              <a:rPr sz="700" b="1">
                <a:solidFill>
                  <a:srgbClr val="E11D48"/>
                </a:solidFill>
                <a:latin typeface="Malgun Gothic"/>
              </a:rPr>
              <a:t>● </a:t>
            </a:r>
            <a:r>
              <a:rPr sz="900">
                <a:solidFill>
                  <a:srgbClr val="334155"/>
                </a:solidFill>
                <a:latin typeface="Malgun Gothic"/>
              </a:rPr>
              <a:t>Press the 📊 'Admin' button in the My Page menu. (goes to the admin dashboard)</a:t>
            </a:r>
          </a:p>
          <a:p>
            <a:pPr>
              <a:lnSpc>
                <a:spcPct val="115000"/>
              </a:lnSpc>
              <a:spcAft>
                <a:spcPts val="300"/>
              </a:spcAft>
            </a:pPr>
            <a:r>
              <a:rPr sz="700" b="1">
                <a:solidFill>
                  <a:srgbClr val="E11D48"/>
                </a:solidFill>
                <a:latin typeface="Malgun Gothic"/>
              </a:rPr>
              <a:t>● </a:t>
            </a:r>
            <a:r>
              <a:rPr sz="900">
                <a:solidFill>
                  <a:srgbClr val="334155"/>
                </a:solidFill>
                <a:latin typeface="Malgun Gothic"/>
              </a:rPr>
              <a:t>On the admin dashboard, check your agency revenue, enrollment and today's lessons.</a:t>
            </a:r>
          </a:p>
          <a:p>
            <a:pPr>
              <a:lnSpc>
                <a:spcPct val="115000"/>
              </a:lnSpc>
              <a:spcAft>
                <a:spcPts val="300"/>
              </a:spcAft>
            </a:pPr>
            <a:r>
              <a:rPr sz="700" b="1">
                <a:solidFill>
                  <a:srgbClr val="E11D48"/>
                </a:solidFill>
                <a:latin typeface="Malgun Gothic"/>
              </a:rPr>
              <a:t>● </a:t>
            </a:r>
            <a:r>
              <a:rPr sz="900">
                <a:solidFill>
                  <a:srgbClr val="334155"/>
                </a:solidFill>
                <a:latin typeface="Malgun Gothic"/>
              </a:rPr>
              <a:t>My Page also has postpone/change, new inquiry, all-menu, pre-check and more.</a:t>
            </a:r>
          </a:p>
          <a:p>
            <a:pPr>
              <a:lnSpc>
                <a:spcPct val="115000"/>
              </a:lnSpc>
              <a:spcAft>
                <a:spcPts val="300"/>
              </a:spcAft>
            </a:pPr>
            <a:r>
              <a:rPr sz="700" b="1">
                <a:solidFill>
                  <a:srgbClr val="E11D48"/>
                </a:solidFill>
                <a:latin typeface="Malgun Gothic"/>
              </a:rPr>
              <a:t>● </a:t>
            </a:r>
            <a:r>
              <a:rPr sz="900">
                <a:solidFill>
                  <a:srgbClr val="334155"/>
                </a:solidFill>
                <a:latin typeface="Malgun Gothic"/>
              </a:rPr>
              <a:t>If text looks English, use the EN button to switch language.</a:t>
            </a:r>
          </a:p>
        </p:txBody>
      </p:sp>
      <p:sp>
        <p:nvSpPr>
          <p:cNvPr id="14" name="Rounded Rectangle 13"/>
          <p:cNvSpPr/>
          <p:nvPr/>
        </p:nvSpPr>
        <p:spPr>
          <a:xfrm>
            <a:off x="457200" y="5924854"/>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One 'Admin' button takes you straight to the operations dashboard.</a:t>
            </a:r>
          </a:p>
          <a:p>
            <a:pPr>
              <a:lnSpc>
                <a:spcPct val="115000"/>
              </a:lnSpc>
              <a:spcAft>
                <a:spcPts val="100"/>
              </a:spcAft>
            </a:pPr>
            <a:r>
              <a:rPr sz="650" b="1">
                <a:solidFill>
                  <a:srgbClr val="E11D48"/>
                </a:solidFill>
                <a:latin typeface="Malgun Gothic"/>
              </a:rPr>
              <a:t>● </a:t>
            </a:r>
            <a:r>
              <a:rPr sz="850">
                <a:solidFill>
                  <a:srgbClr val="334155"/>
                </a:solidFill>
                <a:latin typeface="Malgun Gothic"/>
              </a:rPr>
              <a:t>All dashboard data is auto-totaled to 'your agency scope'.</a:t>
            </a:r>
          </a:p>
          <a:p>
            <a:pPr>
              <a:lnSpc>
                <a:spcPct val="115000"/>
              </a:lnSpc>
              <a:spcAft>
                <a:spcPts val="100"/>
              </a:spcAft>
            </a:pPr>
            <a:r>
              <a:rPr sz="650" b="1">
                <a:solidFill>
                  <a:srgbClr val="E11D48"/>
                </a:solidFill>
                <a:latin typeface="Malgun Gothic"/>
              </a:rPr>
              <a:t>● </a:t>
            </a:r>
            <a:r>
              <a:rPr sz="850">
                <a:solidFill>
                  <a:srgbClr val="334155"/>
                </a:solidFill>
                <a:latin typeface="Malgun Gothic"/>
              </a:rPr>
              <a:t>Menus and data are set automatically by your role (agency).</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My Page and the admin dashboard open only within the logged-in agency account's permission scope.</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Each day, go My Page → Admin dashboard to check your agency metrics.</a:t>
            </a:r>
          </a:p>
        </p:txBody>
      </p:sp>
      <p:sp>
        <p:nvSpPr>
          <p:cNvPr id="21" name="Rectangle 20"/>
          <p:cNvSpPr/>
          <p:nvPr/>
        </p:nvSpPr>
        <p:spPr>
          <a:xfrm>
            <a:off x="6300216" y="3684581"/>
            <a:ext cx="2761488" cy="45124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ypage_menu.jpg"/>
          <p:cNvPicPr>
            <a:picLocks noChangeAspect="1"/>
          </p:cNvPicPr>
          <p:nvPr/>
        </p:nvPicPr>
        <p:blipFill>
          <a:blip r:embed="rId2"/>
          <a:stretch>
            <a:fillRect/>
          </a:stretch>
        </p:blipFill>
        <p:spPr>
          <a:xfrm>
            <a:off x="6355080" y="3739445"/>
            <a:ext cx="2651760" cy="341514"/>
          </a:xfrm>
          <a:prstGeom prst="rect">
            <a:avLst/>
          </a:prstGeom>
        </p:spPr>
      </p:pic>
      <p:sp>
        <p:nvSpPr>
          <p:cNvPr id="23" name="Rectangle 22"/>
          <p:cNvSpPr/>
          <p:nvPr/>
        </p:nvSpPr>
        <p:spPr>
          <a:xfrm>
            <a:off x="9500616" y="3255264"/>
            <a:ext cx="2029968" cy="130987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admin_dashboard.jpg"/>
          <p:cNvPicPr>
            <a:picLocks noChangeAspect="1"/>
          </p:cNvPicPr>
          <p:nvPr/>
        </p:nvPicPr>
        <p:blipFill>
          <a:blip r:embed="rId3"/>
          <a:stretch>
            <a:fillRect/>
          </a:stretch>
        </p:blipFill>
        <p:spPr>
          <a:xfrm>
            <a:off x="9555480" y="3310128"/>
            <a:ext cx="1920240" cy="1200150"/>
          </a:xfrm>
          <a:prstGeom prst="rect">
            <a:avLst/>
          </a:prstGeom>
        </p:spPr>
      </p:pic>
      <p:sp>
        <p:nvSpPr>
          <p:cNvPr id="25" name="Rounded Rectangle 24"/>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059228" y="2670048"/>
            <a:ext cx="17282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14152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14152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9" name="TextBox 28"/>
          <p:cNvSpPr txBox="1"/>
          <p:nvPr/>
        </p:nvSpPr>
        <p:spPr>
          <a:xfrm>
            <a:off x="2443276"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My Page…</a:t>
            </a:r>
          </a:p>
        </p:txBody>
      </p:sp>
      <p:sp>
        <p:nvSpPr>
          <p:cNvPr id="30" name="TextBox 29"/>
          <p:cNvSpPr txBox="1"/>
          <p:nvPr/>
        </p:nvSpPr>
        <p:spPr>
          <a:xfrm>
            <a:off x="378744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1" name="Rounded Rectangle 30"/>
          <p:cNvSpPr/>
          <p:nvPr/>
        </p:nvSpPr>
        <p:spPr>
          <a:xfrm>
            <a:off x="3970324" y="2670048"/>
            <a:ext cx="14849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05262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05262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4" name="TextBox 33"/>
          <p:cNvSpPr txBox="1"/>
          <p:nvPr/>
        </p:nvSpPr>
        <p:spPr>
          <a:xfrm>
            <a:off x="4354372" y="2670048"/>
            <a:ext cx="10643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'Admin'</a:t>
            </a:r>
          </a:p>
        </p:txBody>
      </p:sp>
      <p:sp>
        <p:nvSpPr>
          <p:cNvPr id="35" name="TextBox 34"/>
          <p:cNvSpPr txBox="1"/>
          <p:nvPr/>
        </p:nvSpPr>
        <p:spPr>
          <a:xfrm>
            <a:off x="545531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6" name="Rounded Rectangle 35"/>
          <p:cNvSpPr/>
          <p:nvPr/>
        </p:nvSpPr>
        <p:spPr>
          <a:xfrm>
            <a:off x="563819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572048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7204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9" name="TextBox 38"/>
          <p:cNvSpPr txBox="1"/>
          <p:nvPr/>
        </p:nvSpPr>
        <p:spPr>
          <a:xfrm>
            <a:off x="602223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admin dash…</a:t>
            </a:r>
          </a:p>
        </p:txBody>
      </p:sp>
      <p:sp>
        <p:nvSpPr>
          <p:cNvPr id="40" name="TextBox 39"/>
          <p:cNvSpPr txBox="1"/>
          <p:nvPr/>
        </p:nvSpPr>
        <p:spPr>
          <a:xfrm>
            <a:off x="729508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1" name="Rounded Rectangle 40"/>
          <p:cNvSpPr/>
          <p:nvPr/>
        </p:nvSpPr>
        <p:spPr>
          <a:xfrm>
            <a:off x="747796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56025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602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4" name="TextBox 43"/>
          <p:cNvSpPr txBox="1"/>
          <p:nvPr/>
        </p:nvSpPr>
        <p:spPr>
          <a:xfrm>
            <a:off x="786201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My Page al…</a:t>
            </a:r>
          </a:p>
        </p:txBody>
      </p:sp>
      <p:sp>
        <p:nvSpPr>
          <p:cNvPr id="45" name="TextBox 44"/>
          <p:cNvSpPr txBox="1"/>
          <p:nvPr/>
        </p:nvSpPr>
        <p:spPr>
          <a:xfrm>
            <a:off x="913485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6" name="Rounded Rectangle 45"/>
          <p:cNvSpPr/>
          <p:nvPr/>
        </p:nvSpPr>
        <p:spPr>
          <a:xfrm>
            <a:off x="9317735" y="2670048"/>
            <a:ext cx="811987"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40003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000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9" name="TextBox 48"/>
          <p:cNvSpPr txBox="1"/>
          <p:nvPr/>
        </p:nvSpPr>
        <p:spPr>
          <a:xfrm>
            <a:off x="9701783" y="2670048"/>
            <a:ext cx="391363"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Agency Dashboard</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Your students·revenue·today's lessons</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On login, your agency's enrollment, revenue and today's lessons are organized as cards. Find features fast with the search box.</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63540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Check today's revenue, enrollment and attendance (your agency) at the top.</a:t>
            </a:r>
          </a:p>
          <a:p>
            <a:pPr>
              <a:lnSpc>
                <a:spcPct val="115000"/>
              </a:lnSpc>
              <a:spcAft>
                <a:spcPts val="300"/>
              </a:spcAft>
            </a:pPr>
            <a:r>
              <a:rPr sz="700" b="1">
                <a:solidFill>
                  <a:srgbClr val="E11D48"/>
                </a:solidFill>
                <a:latin typeface="Malgun Gothic"/>
              </a:rPr>
              <a:t>● </a:t>
            </a:r>
            <a:r>
              <a:rPr sz="900">
                <a:solidFill>
                  <a:srgbClr val="334155"/>
                </a:solidFill>
                <a:latin typeface="Malgun Gothic"/>
              </a:rPr>
              <a:t>Tap features from the category cards (students, accounting, content, etc.).</a:t>
            </a:r>
          </a:p>
          <a:p>
            <a:pPr>
              <a:lnSpc>
                <a:spcPct val="115000"/>
              </a:lnSpc>
              <a:spcAft>
                <a:spcPts val="300"/>
              </a:spcAft>
            </a:pPr>
            <a:r>
              <a:rPr sz="700" b="1">
                <a:solidFill>
                  <a:srgbClr val="E11D48"/>
                </a:solidFill>
                <a:latin typeface="Malgun Gothic"/>
              </a:rPr>
              <a:t>● </a:t>
            </a:r>
            <a:r>
              <a:rPr sz="900">
                <a:solidFill>
                  <a:srgbClr val="334155"/>
                </a:solidFill>
                <a:latin typeface="Malgun Gothic"/>
              </a:rPr>
              <a:t>Type a word in the feature search box to jump right there.</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the live (LIVE) lesson status.</a:t>
            </a:r>
          </a:p>
        </p:txBody>
      </p:sp>
      <p:sp>
        <p:nvSpPr>
          <p:cNvPr id="14" name="Rounded Rectangle 13"/>
          <p:cNvSpPr/>
          <p:nvPr/>
        </p:nvSpPr>
        <p:spPr>
          <a:xfrm>
            <a:off x="457200" y="5475884"/>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52160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768492"/>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Numbers are auto-totaled to 'your agency scope'.</a:t>
            </a:r>
          </a:p>
          <a:p>
            <a:pPr>
              <a:lnSpc>
                <a:spcPct val="115000"/>
              </a:lnSpc>
              <a:spcAft>
                <a:spcPts val="100"/>
              </a:spcAft>
            </a:pPr>
            <a:r>
              <a:rPr sz="650" b="1">
                <a:solidFill>
                  <a:srgbClr val="E11D48"/>
                </a:solidFill>
                <a:latin typeface="Malgun Gothic"/>
              </a:rPr>
              <a:t>● </a:t>
            </a:r>
            <a:r>
              <a:rPr sz="850">
                <a:solidFill>
                  <a:srgbClr val="334155"/>
                </a:solidFill>
                <a:latin typeface="Malgun Gothic"/>
              </a:rPr>
              <a:t>If a feature is hard to find, search is fastest.</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A morning metrics check quickly tells you your academy's status.</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0637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8866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886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89041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today's re…</a:t>
            </a:r>
          </a:p>
        </p:txBody>
      </p:sp>
      <p:sp>
        <p:nvSpPr>
          <p:cNvPr id="26" name="TextBox 25"/>
          <p:cNvSpPr txBox="1"/>
          <p:nvPr/>
        </p:nvSpPr>
        <p:spPr>
          <a:xfrm>
            <a:off x="416326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34614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2843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84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73019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category c…</a:t>
            </a:r>
          </a:p>
        </p:txBody>
      </p:sp>
      <p:sp>
        <p:nvSpPr>
          <p:cNvPr id="31" name="TextBox 30"/>
          <p:cNvSpPr txBox="1"/>
          <p:nvPr/>
        </p:nvSpPr>
        <p:spPr>
          <a:xfrm>
            <a:off x="600303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18591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6821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82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6996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feature se…</a:t>
            </a:r>
          </a:p>
        </p:txBody>
      </p:sp>
      <p:sp>
        <p:nvSpPr>
          <p:cNvPr id="36" name="TextBox 35"/>
          <p:cNvSpPr txBox="1"/>
          <p:nvPr/>
        </p:nvSpPr>
        <p:spPr>
          <a:xfrm>
            <a:off x="78428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8025688"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079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79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40973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live (LIVE…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Using the AI Assistant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Look up/act by voice or text</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Speak or type into the search/mic and the AI helps you look up and handle things within your agency scope. Especially handy during busy counseling hours.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34691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Speak or type into the center search/mic. e.g. 'How's today's revenue?'</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 AI looks up or opens a screen. e.g. 'Open student management.'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Important actions are confirmed with 'Shall I?' first.</a:t>
            </a:r>
          </a:p>
        </p:txBody>
      </p:sp>
      <p:sp>
        <p:nvSpPr>
          <p:cNvPr id="14" name="Rounded Rectangle 13"/>
          <p:cNvSpPr/>
          <p:nvPr/>
        </p:nvSpPr>
        <p:spPr>
          <a:xfrm>
            <a:off x="457200" y="5187391"/>
            <a:ext cx="5669280" cy="833475"/>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3311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479999"/>
            <a:ext cx="5394960" cy="504291"/>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Voice is much faster than clicking.</a:t>
            </a:r>
          </a:p>
          <a:p>
            <a:pPr>
              <a:lnSpc>
                <a:spcPct val="115000"/>
              </a:lnSpc>
              <a:spcAft>
                <a:spcPts val="100"/>
              </a:spcAft>
            </a:pPr>
            <a:r>
              <a:rPr sz="650" b="1">
                <a:solidFill>
                  <a:srgbClr val="E11D48"/>
                </a:solidFill>
                <a:latin typeface="Malgun Gothic"/>
              </a:rPr>
              <a:t>● </a:t>
            </a:r>
            <a:r>
              <a:rPr sz="850">
                <a:solidFill>
                  <a:srgbClr val="334155"/>
                </a:solidFill>
                <a:latin typeface="Malgun Gothic"/>
              </a:rPr>
              <a:t>Only permitted actions are handled, safely.</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Can't find a button? Just say 'open ○○'.</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12463"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9475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947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96511"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search/mic</a:t>
            </a:r>
          </a:p>
        </p:txBody>
      </p:sp>
      <p:sp>
        <p:nvSpPr>
          <p:cNvPr id="26" name="TextBox 25"/>
          <p:cNvSpPr txBox="1"/>
          <p:nvPr/>
        </p:nvSpPr>
        <p:spPr>
          <a:xfrm>
            <a:off x="521207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394959" y="2670048"/>
            <a:ext cx="13277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7725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7725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79007" y="2670048"/>
            <a:ext cx="9070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looks up</a:t>
            </a:r>
          </a:p>
        </p:txBody>
      </p:sp>
      <p:sp>
        <p:nvSpPr>
          <p:cNvPr id="31" name="TextBox 30"/>
          <p:cNvSpPr txBox="1"/>
          <p:nvPr/>
        </p:nvSpPr>
        <p:spPr>
          <a:xfrm>
            <a:off x="672266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905548"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8784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784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89596"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confirmed…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Recruit·Enroll·Manage Students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From counseling to enrollment</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Take new counseling, enroll students, and manage enrolled students' attendance, grades and history. This is your agency's core work.</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79588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Take new counseling and convert to enrollment.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Manage the roster/history in Students/Parents.</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attendance/reviews/points/chat history by student.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Flag and care for students who need attention.</a:t>
            </a:r>
          </a:p>
        </p:txBody>
      </p:sp>
      <p:sp>
        <p:nvSpPr>
          <p:cNvPr id="14" name="Rounded Rectangle 13"/>
          <p:cNvSpPr/>
          <p:nvPr/>
        </p:nvSpPr>
        <p:spPr>
          <a:xfrm>
            <a:off x="457200" y="5636361"/>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8208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928969"/>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The student list is linked to real member data.</a:t>
            </a:r>
          </a:p>
          <a:p>
            <a:pPr>
              <a:lnSpc>
                <a:spcPct val="115000"/>
              </a:lnSpc>
              <a:spcAft>
                <a:spcPts val="100"/>
              </a:spcAft>
            </a:pPr>
            <a:r>
              <a:rPr sz="650" b="1">
                <a:solidFill>
                  <a:srgbClr val="E11D48"/>
                </a:solidFill>
                <a:latin typeface="Malgun Gothic"/>
              </a:rPr>
              <a:t>● </a:t>
            </a:r>
            <a:r>
              <a:rPr sz="850">
                <a:solidFill>
                  <a:srgbClr val="334155"/>
                </a:solidFill>
                <a:latin typeface="Malgun Gothic"/>
              </a:rPr>
              <a:t>Raising the counsel→enroll conversion is key to growth.</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Keeping thorough counseling notes greatly helps re-counseling and conversion.</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enu_students.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0637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58866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5886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89041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new counse…</a:t>
            </a:r>
          </a:p>
        </p:txBody>
      </p:sp>
      <p:sp>
        <p:nvSpPr>
          <p:cNvPr id="26" name="TextBox 25"/>
          <p:cNvSpPr txBox="1"/>
          <p:nvPr/>
        </p:nvSpPr>
        <p:spPr>
          <a:xfrm>
            <a:off x="416326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34614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42843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284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73019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Students/P…</a:t>
            </a:r>
          </a:p>
        </p:txBody>
      </p:sp>
      <p:sp>
        <p:nvSpPr>
          <p:cNvPr id="31" name="TextBox 30"/>
          <p:cNvSpPr txBox="1"/>
          <p:nvPr/>
        </p:nvSpPr>
        <p:spPr>
          <a:xfrm>
            <a:off x="600303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18591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26821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682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56996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Check atte…</a:t>
            </a:r>
          </a:p>
        </p:txBody>
      </p:sp>
      <p:sp>
        <p:nvSpPr>
          <p:cNvPr id="36" name="TextBox 35"/>
          <p:cNvSpPr txBox="1"/>
          <p:nvPr/>
        </p:nvSpPr>
        <p:spPr>
          <a:xfrm>
            <a:off x="78428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8025688"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079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079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40973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Flag and 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 Communication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Guide My Page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Guide parents to My Page so they can check their child's learning themselves. It reduces inquiries and raises satisfaction and re-enrollment.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Share the My Page link with parents.</a:t>
            </a:r>
          </a:p>
          <a:p>
            <a:pPr>
              <a:lnSpc>
                <a:spcPct val="115000"/>
              </a:lnSpc>
              <a:spcAft>
                <a:spcPts val="300"/>
              </a:spcAft>
            </a:pPr>
            <a:r>
              <a:rPr sz="700" b="1">
                <a:solidFill>
                  <a:srgbClr val="E11D48"/>
                </a:solidFill>
                <a:latin typeface="Malgun Gothic"/>
              </a:rPr>
              <a:t>● </a:t>
            </a:r>
            <a:r>
              <a:rPr sz="900">
                <a:solidFill>
                  <a:srgbClr val="334155"/>
                </a:solidFill>
                <a:latin typeface="Malgun Gothic"/>
              </a:rPr>
              <a:t>Parents check attendance/reviews/payments/reports with the child's student ID.</a:t>
            </a:r>
          </a:p>
          <a:p>
            <a:pPr>
              <a:lnSpc>
                <a:spcPct val="115000"/>
              </a:lnSpc>
              <a:spcAft>
                <a:spcPts val="300"/>
              </a:spcAft>
            </a:pPr>
            <a:r>
              <a:rPr sz="700" b="1">
                <a:solidFill>
                  <a:srgbClr val="E11D48"/>
                </a:solidFill>
                <a:latin typeface="Malgun Gothic"/>
              </a:rPr>
              <a:t>● </a:t>
            </a:r>
            <a:r>
              <a:rPr sz="900">
                <a:solidFill>
                  <a:srgbClr val="334155"/>
                </a:solidFill>
                <a:latin typeface="Malgun Gothic"/>
              </a:rPr>
              <a:t>Share growth with the monthly report (print/PDF).</a:t>
            </a:r>
          </a:p>
        </p:txBody>
      </p:sp>
      <p:sp>
        <p:nvSpPr>
          <p:cNvPr id="14" name="Rounded Rectangle 13"/>
          <p:cNvSpPr/>
          <p:nvPr/>
        </p:nvSpPr>
        <p:spPr>
          <a:xfrm>
            <a:off x="457200" y="502691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Parent satisfaction leads to re-enrollment.</a:t>
            </a:r>
          </a:p>
          <a:p>
            <a:pPr>
              <a:lnSpc>
                <a:spcPct val="115000"/>
              </a:lnSpc>
              <a:spcAft>
                <a:spcPts val="100"/>
              </a:spcAft>
            </a:pPr>
            <a:r>
              <a:rPr sz="650" b="1">
                <a:solidFill>
                  <a:srgbClr val="E11D48"/>
                </a:solidFill>
                <a:latin typeface="Malgun Gothic"/>
              </a:rPr>
              <a:t>● </a:t>
            </a:r>
            <a:r>
              <a:rPr sz="850">
                <a:solidFill>
                  <a:srgbClr val="334155"/>
                </a:solidFill>
                <a:latin typeface="Malgun Gothic"/>
              </a:rPr>
              <a:t>Advise managing the student ID like a password.</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Reading the review together periodically builds parent trust.</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My Page li…</a:t>
            </a:r>
          </a:p>
        </p:txBody>
      </p:sp>
      <p:sp>
        <p:nvSpPr>
          <p:cNvPr id="26" name="TextBox 25"/>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child's st…</a:t>
            </a:r>
          </a:p>
        </p:txBody>
      </p:sp>
      <p:sp>
        <p:nvSpPr>
          <p:cNvPr id="31" name="TextBox 30"/>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monthly 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Booking·Assignment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Schedule and teacher</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Assign a student's lesson type, time and teacher, and manage booking status. Handle postpone/change requests too.</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Assign lesson type, teacher and time in Booking.</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empty slots/overlaps and adjust.</a:t>
            </a:r>
          </a:p>
          <a:p>
            <a:pPr>
              <a:lnSpc>
                <a:spcPct val="115000"/>
              </a:lnSpc>
              <a:spcAft>
                <a:spcPts val="300"/>
              </a:spcAft>
            </a:pPr>
            <a:r>
              <a:rPr sz="700" b="1">
                <a:solidFill>
                  <a:srgbClr val="E11D48"/>
                </a:solidFill>
                <a:latin typeface="Malgun Gothic"/>
              </a:rPr>
              <a:t>● </a:t>
            </a:r>
            <a:r>
              <a:rPr sz="900">
                <a:solidFill>
                  <a:srgbClr val="334155"/>
                </a:solidFill>
                <a:latin typeface="Malgun Gothic"/>
              </a:rPr>
              <a:t>Handle students' postpone/change requests per policy.</a:t>
            </a:r>
          </a:p>
        </p:txBody>
      </p:sp>
      <p:sp>
        <p:nvSpPr>
          <p:cNvPr id="14" name="Rounded Rectangle 13"/>
          <p:cNvSpPr/>
          <p:nvPr/>
        </p:nvSpPr>
        <p:spPr>
          <a:xfrm>
            <a:off x="457200" y="502691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Assign popular slots in advance.</a:t>
            </a:r>
          </a:p>
          <a:p>
            <a:pPr>
              <a:lnSpc>
                <a:spcPct val="115000"/>
              </a:lnSpc>
              <a:spcAft>
                <a:spcPts val="100"/>
              </a:spcAft>
            </a:pPr>
            <a:r>
              <a:rPr sz="650" b="1">
                <a:solidFill>
                  <a:srgbClr val="E11D48"/>
                </a:solidFill>
                <a:latin typeface="Malgun Gothic"/>
              </a:rPr>
              <a:t>● </a:t>
            </a:r>
            <a:r>
              <a:rPr sz="850">
                <a:solidFill>
                  <a:srgbClr val="334155"/>
                </a:solidFill>
                <a:latin typeface="Malgun Gothic"/>
              </a:rPr>
              <a:t>Announcing the postpone cutoff reduces no-shows.</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Pre-registering each teacher's available times speeds up assignment.</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booking.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633825"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71612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1612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017873"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Booking</a:t>
            </a:r>
          </a:p>
        </p:txBody>
      </p:sp>
      <p:sp>
        <p:nvSpPr>
          <p:cNvPr id="26" name="TextBox 25"/>
          <p:cNvSpPr txBox="1"/>
          <p:nvPr/>
        </p:nvSpPr>
        <p:spPr>
          <a:xfrm>
            <a:off x="487558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05846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14075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075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44250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Check empt…</a:t>
            </a:r>
          </a:p>
        </p:txBody>
      </p:sp>
      <p:sp>
        <p:nvSpPr>
          <p:cNvPr id="31" name="TextBox 30"/>
          <p:cNvSpPr txBox="1"/>
          <p:nvPr/>
        </p:nvSpPr>
        <p:spPr>
          <a:xfrm>
            <a:off x="671535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89823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98052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80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28228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postpone/c…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Payments·Collection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Payments·overdue·refunds</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Process your agency's payments, overdue and refunds. Amounts auto-calculate by policy, and overdue is managed with alerts.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Process payments/overdue/refunds in Accounting/Points.</a:t>
            </a:r>
          </a:p>
          <a:p>
            <a:pPr>
              <a:lnSpc>
                <a:spcPct val="115000"/>
              </a:lnSpc>
              <a:spcAft>
                <a:spcPts val="300"/>
              </a:spcAft>
            </a:pPr>
            <a:r>
              <a:rPr sz="700" b="1">
                <a:solidFill>
                  <a:srgbClr val="E11D48"/>
                </a:solidFill>
                <a:latin typeface="Malgun Gothic"/>
              </a:rPr>
              <a:t>● </a:t>
            </a:r>
            <a:r>
              <a:rPr sz="900">
                <a:solidFill>
                  <a:srgbClr val="334155"/>
                </a:solidFill>
                <a:latin typeface="Malgun Gothic"/>
              </a:rPr>
              <a:t>Notify overdue via alert-talk/SMS.</a:t>
            </a:r>
          </a:p>
          <a:p>
            <a:pPr>
              <a:lnSpc>
                <a:spcPct val="115000"/>
              </a:lnSpc>
              <a:spcAft>
                <a:spcPts val="300"/>
              </a:spcAft>
            </a:pPr>
            <a:r>
              <a:rPr sz="700" b="1">
                <a:solidFill>
                  <a:srgbClr val="E11D48"/>
                </a:solidFill>
                <a:latin typeface="Malgun Gothic"/>
              </a:rPr>
              <a:t>● </a:t>
            </a:r>
            <a:r>
              <a:rPr sz="900">
                <a:solidFill>
                  <a:srgbClr val="334155"/>
                </a:solidFill>
                <a:latin typeface="Malgun Gothic"/>
              </a:rPr>
              <a:t>Amounts are auto-calculated per the refund table.</a:t>
            </a:r>
          </a:p>
        </p:txBody>
      </p:sp>
      <p:sp>
        <p:nvSpPr>
          <p:cNvPr id="14" name="Rounded Rectangle 13"/>
          <p:cNvSpPr/>
          <p:nvPr/>
        </p:nvSpPr>
        <p:spPr>
          <a:xfrm>
            <a:off x="457200" y="502691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Automate overdue alerts to raise collection.</a:t>
            </a:r>
          </a:p>
          <a:p>
            <a:pPr>
              <a:lnSpc>
                <a:spcPct val="115000"/>
              </a:lnSpc>
              <a:spcAft>
                <a:spcPts val="100"/>
              </a:spcAft>
            </a:pPr>
            <a:r>
              <a:rPr sz="650" b="1">
                <a:solidFill>
                  <a:srgbClr val="E11D48"/>
                </a:solidFill>
                <a:latin typeface="Malgun Gothic"/>
              </a:rPr>
              <a:t>● </a:t>
            </a:r>
            <a:r>
              <a:rPr sz="850">
                <a:solidFill>
                  <a:srgbClr val="334155"/>
                </a:solidFill>
                <a:latin typeface="Malgun Gothic"/>
              </a:rPr>
              <a:t>Discounted-payment refunds recalc at list price.</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Reviewing collection status regularly stabilizes revenue.</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Accounting…</a:t>
            </a:r>
          </a:p>
        </p:txBody>
      </p:sp>
      <p:sp>
        <p:nvSpPr>
          <p:cNvPr id="26" name="TextBox 25"/>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alert-talk…</a:t>
            </a:r>
          </a:p>
        </p:txBody>
      </p:sp>
      <p:sp>
        <p:nvSpPr>
          <p:cNvPr id="31" name="TextBox 30"/>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refund tab…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09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Student Learning·Reports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Progress·performance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Check your students' attendance, reviews and learning progress, and review performance with reports. Use it for parent counseling and re-enrollment persuasion.</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Check each student's attendance·reviews·progress.</a:t>
            </a:r>
          </a:p>
          <a:p>
            <a:pPr>
              <a:lnSpc>
                <a:spcPct val="115000"/>
              </a:lnSpc>
              <a:spcAft>
                <a:spcPts val="300"/>
              </a:spcAft>
            </a:pPr>
            <a:r>
              <a:rPr sz="700" b="1">
                <a:solidFill>
                  <a:srgbClr val="E11D48"/>
                </a:solidFill>
                <a:latin typeface="Malgun Gothic"/>
              </a:rPr>
              <a:t>● </a:t>
            </a:r>
            <a:r>
              <a:rPr sz="900">
                <a:solidFill>
                  <a:srgbClr val="334155"/>
                </a:solidFill>
                <a:latin typeface="Malgun Gothic"/>
              </a:rPr>
              <a:t>Summarize performance with the monthly report.</a:t>
            </a:r>
          </a:p>
          <a:p>
            <a:pPr>
              <a:lnSpc>
                <a:spcPct val="115000"/>
              </a:lnSpc>
              <a:spcAft>
                <a:spcPts val="300"/>
              </a:spcAft>
            </a:pPr>
            <a:r>
              <a:rPr sz="700" b="1">
                <a:solidFill>
                  <a:srgbClr val="E11D48"/>
                </a:solidFill>
                <a:latin typeface="Malgun Gothic"/>
              </a:rPr>
              <a:t>● </a:t>
            </a:r>
            <a:r>
              <a:rPr sz="900">
                <a:solidFill>
                  <a:srgbClr val="334155"/>
                </a:solidFill>
                <a:latin typeface="Malgun Gothic"/>
              </a:rPr>
              <a:t>Use reports in parent counseling.</a:t>
            </a:r>
          </a:p>
        </p:txBody>
      </p:sp>
      <p:sp>
        <p:nvSpPr>
          <p:cNvPr id="14" name="Rounded Rectangle 13"/>
          <p:cNvSpPr/>
          <p:nvPr/>
        </p:nvSpPr>
        <p:spPr>
          <a:xfrm>
            <a:off x="457200" y="502691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Showing data builds parent trust.</a:t>
            </a:r>
          </a:p>
          <a:p>
            <a:pPr>
              <a:lnSpc>
                <a:spcPct val="115000"/>
              </a:lnSpc>
              <a:spcAft>
                <a:spcPts val="100"/>
              </a:spcAft>
            </a:pPr>
            <a:r>
              <a:rPr sz="650" b="1">
                <a:solidFill>
                  <a:srgbClr val="E11D48"/>
                </a:solidFill>
                <a:latin typeface="Malgun Gothic"/>
              </a:rPr>
              <a:t>● </a:t>
            </a:r>
            <a:r>
              <a:rPr sz="850">
                <a:solidFill>
                  <a:srgbClr val="334155"/>
                </a:solidFill>
                <a:latin typeface="Malgun Gothic"/>
              </a:rPr>
              <a:t>Link high-performing students to reviews/referrals.</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Showing performance with a report before re-enrollment makes persuasion easier.</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paren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attendance…</a:t>
            </a:r>
          </a:p>
        </p:txBody>
      </p:sp>
      <p:sp>
        <p:nvSpPr>
          <p:cNvPr id="26" name="TextBox 25"/>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monthly re…</a:t>
            </a:r>
          </a:p>
        </p:txBody>
      </p:sp>
      <p:sp>
        <p:nvSpPr>
          <p:cNvPr id="31" name="TextBox 30"/>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parent cou…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Agency Settlement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Receive branch→agency</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Check the settlement coming from the branch to your agency. Revenue and commissions are auto-calculated down the org tree, so you can see your share transparently.</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Check branch→agency settlement (received) by month.</a:t>
            </a:r>
          </a:p>
          <a:p>
            <a:pPr>
              <a:lnSpc>
                <a:spcPct val="115000"/>
              </a:lnSpc>
              <a:spcAft>
                <a:spcPts val="300"/>
              </a:spcAft>
            </a:pPr>
            <a:r>
              <a:rPr sz="700" b="1">
                <a:solidFill>
                  <a:srgbClr val="E11D48"/>
                </a:solidFill>
                <a:latin typeface="Malgun Gothic"/>
              </a:rPr>
              <a:t>● </a:t>
            </a:r>
            <a:r>
              <a:rPr sz="900">
                <a:solidFill>
                  <a:srgbClr val="334155"/>
                </a:solidFill>
                <a:latin typeface="Malgun Gothic"/>
              </a:rPr>
              <a:t>Review the revenue/commission calculation details.</a:t>
            </a:r>
          </a:p>
          <a:p>
            <a:pPr>
              <a:lnSpc>
                <a:spcPct val="115000"/>
              </a:lnSpc>
              <a:spcAft>
                <a:spcPts val="300"/>
              </a:spcAft>
            </a:pPr>
            <a:r>
              <a:rPr sz="700" b="1">
                <a:solidFill>
                  <a:srgbClr val="E11D48"/>
                </a:solidFill>
                <a:latin typeface="Malgun Gothic"/>
              </a:rPr>
              <a:t>● </a:t>
            </a:r>
            <a:r>
              <a:rPr sz="900">
                <a:solidFill>
                  <a:srgbClr val="334155"/>
                </a:solidFill>
                <a:latin typeface="Malgun Gothic"/>
              </a:rPr>
              <a:t>Save (PDF) the settlement report to keep.</a:t>
            </a:r>
          </a:p>
        </p:txBody>
      </p:sp>
      <p:sp>
        <p:nvSpPr>
          <p:cNvPr id="14" name="Rounded Rectangle 13"/>
          <p:cNvSpPr/>
          <p:nvPr/>
        </p:nvSpPr>
        <p:spPr>
          <a:xfrm>
            <a:off x="457200" y="5026914"/>
            <a:ext cx="5669280" cy="833475"/>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504291"/>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Settlement is auto-calculated by the org tree.</a:t>
            </a:r>
          </a:p>
          <a:p>
            <a:pPr>
              <a:lnSpc>
                <a:spcPct val="115000"/>
              </a:lnSpc>
              <a:spcAft>
                <a:spcPts val="100"/>
              </a:spcAft>
            </a:pPr>
            <a:r>
              <a:rPr sz="650" b="1">
                <a:solidFill>
                  <a:srgbClr val="E11D48"/>
                </a:solidFill>
                <a:latin typeface="Malgun Gothic"/>
              </a:rPr>
              <a:t>● </a:t>
            </a:r>
            <a:r>
              <a:rPr sz="850">
                <a:solidFill>
                  <a:srgbClr val="334155"/>
                </a:solidFill>
                <a:latin typeface="Malgun Gothic"/>
              </a:rPr>
              <a:t>Ask the branch/HQ to confirm any off items.</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Viewing revenue and settlement together clarifies your agency's profit structure.</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monthlyrepor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69233" y="2670048"/>
            <a:ext cx="1728216"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5152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5152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53281" y="2670048"/>
            <a:ext cx="130759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branch→age…</a:t>
            </a:r>
          </a:p>
        </p:txBody>
      </p:sp>
      <p:sp>
        <p:nvSpPr>
          <p:cNvPr id="26" name="TextBox 25"/>
          <p:cNvSpPr txBox="1"/>
          <p:nvPr/>
        </p:nvSpPr>
        <p:spPr>
          <a:xfrm>
            <a:off x="51974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3803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4626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626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7643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Review the…</a:t>
            </a:r>
          </a:p>
        </p:txBody>
      </p:sp>
      <p:sp>
        <p:nvSpPr>
          <p:cNvPr id="31" name="TextBox 30"/>
          <p:cNvSpPr txBox="1"/>
          <p:nvPr/>
        </p:nvSpPr>
        <p:spPr>
          <a:xfrm>
            <a:off x="70372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220102"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3023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023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604150"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Save (PDF)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Prevent Churn (care for students)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Spot at-risk early</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Find students likely to quit early and care for them. Quickly caring for students with frequent absences or dropping performance raises re-enrollment.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Check churn-risk signals (absences·performance drop).</a:t>
            </a:r>
          </a:p>
          <a:p>
            <a:pPr>
              <a:lnSpc>
                <a:spcPct val="115000"/>
              </a:lnSpc>
              <a:spcAft>
                <a:spcPts val="300"/>
              </a:spcAft>
            </a:pPr>
            <a:r>
              <a:rPr sz="700" b="1">
                <a:solidFill>
                  <a:srgbClr val="E11D48"/>
                </a:solidFill>
                <a:latin typeface="Malgun Gothic"/>
              </a:rPr>
              <a:t>● </a:t>
            </a:r>
            <a:r>
              <a:rPr sz="900">
                <a:solidFill>
                  <a:srgbClr val="334155"/>
                </a:solidFill>
                <a:latin typeface="Malgun Gothic"/>
              </a:rPr>
              <a:t>Intervene on at-risk students with counseling/alert-talk.</a:t>
            </a:r>
          </a:p>
          <a:p>
            <a:pPr>
              <a:lnSpc>
                <a:spcPct val="115000"/>
              </a:lnSpc>
              <a:spcAft>
                <a:spcPts val="300"/>
              </a:spcAft>
            </a:pPr>
            <a:r>
              <a:rPr sz="700" b="1">
                <a:solidFill>
                  <a:srgbClr val="E11D48"/>
                </a:solidFill>
                <a:latin typeface="Malgun Gothic"/>
              </a:rPr>
              <a:t>● </a:t>
            </a:r>
            <a:r>
              <a:rPr sz="900">
                <a:solidFill>
                  <a:srgbClr val="334155"/>
                </a:solidFill>
                <a:latin typeface="Malgun Gothic"/>
              </a:rPr>
              <a:t>Manage family/referral relationships too.</a:t>
            </a:r>
          </a:p>
        </p:txBody>
      </p:sp>
      <p:sp>
        <p:nvSpPr>
          <p:cNvPr id="14" name="Rounded Rectangle 13"/>
          <p:cNvSpPr/>
          <p:nvPr/>
        </p:nvSpPr>
        <p:spPr>
          <a:xfrm>
            <a:off x="457200" y="502691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Intervening early raises retention.</a:t>
            </a:r>
          </a:p>
          <a:p>
            <a:pPr>
              <a:lnSpc>
                <a:spcPct val="115000"/>
              </a:lnSpc>
              <a:spcAft>
                <a:spcPts val="100"/>
              </a:spcAft>
            </a:pPr>
            <a:r>
              <a:rPr sz="650" b="1">
                <a:solidFill>
                  <a:srgbClr val="E11D48"/>
                </a:solidFill>
                <a:latin typeface="Malgun Gothic"/>
              </a:rPr>
              <a:t>● </a:t>
            </a:r>
            <a:r>
              <a:rPr sz="850">
                <a:solidFill>
                  <a:srgbClr val="334155"/>
                </a:solidFill>
                <a:latin typeface="Malgun Gothic"/>
              </a:rPr>
              <a:t>Care before re-enrollment season is especially important.</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Caring first for frequently-absent students noticeably cuts churn.</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504895"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8719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871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88943"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churn-risk</a:t>
            </a:r>
          </a:p>
        </p:txBody>
      </p:sp>
      <p:sp>
        <p:nvSpPr>
          <p:cNvPr id="26" name="TextBox 25"/>
          <p:cNvSpPr txBox="1"/>
          <p:nvPr/>
        </p:nvSpPr>
        <p:spPr>
          <a:xfrm>
            <a:off x="500451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187391"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968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96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571439"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counseling…</a:t>
            </a:r>
          </a:p>
        </p:txBody>
      </p:sp>
      <p:sp>
        <p:nvSpPr>
          <p:cNvPr id="31" name="TextBox 30"/>
          <p:cNvSpPr txBox="1"/>
          <p:nvPr/>
        </p:nvSpPr>
        <p:spPr>
          <a:xfrm>
            <a:off x="684428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02716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0945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094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1121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Manage fam…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New Counseling·Recruiting</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Intake·conversion</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Take new counseling/inquiries and convert to enrollment. Recruiting is the starting point of agency growth.</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231011"/>
          </a:xfrm>
          <a:prstGeom prst="rect">
            <a:avLst/>
          </a:prstGeom>
          <a:noFill/>
        </p:spPr>
        <p:txBody>
          <a:bodyPr wrap="square">
            <a:spAutoFit/>
          </a:bodyPr>
          <a:lstStyle/>
          <a:p>
            <a:pPr>
              <a:lnSpc>
                <a:spcPct val="115000"/>
              </a:lnSpc>
              <a:spcAft>
                <a:spcPts val="300"/>
              </a:spcAft>
            </a:pPr>
            <a:r>
              <a:rPr sz="750" b="1">
                <a:solidFill>
                  <a:srgbClr val="E11D48"/>
                </a:solidFill>
                <a:latin typeface="Malgun Gothic"/>
              </a:rPr>
              <a:t>● </a:t>
            </a:r>
            <a:r>
              <a:rPr sz="950">
                <a:solidFill>
                  <a:srgbClr val="334155"/>
                </a:solidFill>
                <a:latin typeface="Malgun Gothic"/>
              </a:rPr>
              <a:t>Take new counseling/inquiries.</a:t>
            </a:r>
          </a:p>
          <a:p>
            <a:pPr>
              <a:lnSpc>
                <a:spcPct val="115000"/>
              </a:lnSpc>
              <a:spcAft>
                <a:spcPts val="300"/>
              </a:spcAft>
            </a:pPr>
            <a:r>
              <a:rPr sz="750" b="1">
                <a:solidFill>
                  <a:srgbClr val="E11D48"/>
                </a:solidFill>
                <a:latin typeface="Malgun Gothic"/>
              </a:rPr>
              <a:t>● </a:t>
            </a:r>
            <a:r>
              <a:rPr sz="950">
                <a:solidFill>
                  <a:srgbClr val="334155"/>
                </a:solidFill>
                <a:latin typeface="Malgun Gothic"/>
              </a:rPr>
              <a:t>Record the counseling and convert to enrollment.</a:t>
            </a:r>
          </a:p>
          <a:p>
            <a:pPr>
              <a:lnSpc>
                <a:spcPct val="115000"/>
              </a:lnSpc>
              <a:spcAft>
                <a:spcPts val="300"/>
              </a:spcAft>
            </a:pPr>
            <a:r>
              <a:rPr sz="750" b="1">
                <a:solidFill>
                  <a:srgbClr val="E11D48"/>
                </a:solidFill>
                <a:latin typeface="Malgun Gothic"/>
              </a:rPr>
              <a:t>● </a:t>
            </a:r>
            <a:r>
              <a:rPr sz="950">
                <a:solidFill>
                  <a:srgbClr val="334155"/>
                </a:solidFill>
                <a:latin typeface="Malgun Gothic"/>
              </a:rPr>
              <a:t>Drive enrollment with trial lessons·level tests.</a:t>
            </a:r>
          </a:p>
        </p:txBody>
      </p:sp>
      <p:sp>
        <p:nvSpPr>
          <p:cNvPr id="14" name="Rounded Rectangle 13"/>
          <p:cNvSpPr/>
          <p:nvPr/>
        </p:nvSpPr>
        <p:spPr>
          <a:xfrm>
            <a:off x="457200" y="5071491"/>
            <a:ext cx="5669280" cy="851306"/>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11721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64099"/>
            <a:ext cx="5394960" cy="522122"/>
          </a:xfrm>
          <a:prstGeom prst="rect">
            <a:avLst/>
          </a:prstGeom>
          <a:noFill/>
        </p:spPr>
        <p:txBody>
          <a:bodyPr wrap="square">
            <a:spAutoFit/>
          </a:bodyPr>
          <a:lstStyle/>
          <a:p>
            <a:pPr>
              <a:lnSpc>
                <a:spcPct val="115000"/>
              </a:lnSpc>
              <a:spcAft>
                <a:spcPts val="100"/>
              </a:spcAft>
            </a:pPr>
            <a:r>
              <a:rPr sz="700" b="1">
                <a:solidFill>
                  <a:srgbClr val="E11D48"/>
                </a:solidFill>
                <a:latin typeface="Malgun Gothic"/>
              </a:rPr>
              <a:t>● </a:t>
            </a:r>
            <a:r>
              <a:rPr sz="900">
                <a:solidFill>
                  <a:srgbClr val="334155"/>
                </a:solidFill>
                <a:latin typeface="Malgun Gothic"/>
              </a:rPr>
              <a:t>Fast response raises conversion.</a:t>
            </a:r>
          </a:p>
          <a:p>
            <a:pPr>
              <a:lnSpc>
                <a:spcPct val="115000"/>
              </a:lnSpc>
              <a:spcAft>
                <a:spcPts val="100"/>
              </a:spcAft>
            </a:pPr>
            <a:r>
              <a:rPr sz="700" b="1">
                <a:solidFill>
                  <a:srgbClr val="E11D48"/>
                </a:solidFill>
                <a:latin typeface="Malgun Gothic"/>
              </a:rPr>
              <a:t>● </a:t>
            </a:r>
            <a:r>
              <a:rPr sz="900">
                <a:solidFill>
                  <a:srgbClr val="334155"/>
                </a:solidFill>
                <a:latin typeface="Malgun Gothic"/>
              </a:rPr>
              <a:t>Make the trial→enroll flow smooth.</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Following up after counseling raises conversion.</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new counse…</a:t>
            </a:r>
          </a:p>
        </p:txBody>
      </p:sp>
      <p:sp>
        <p:nvSpPr>
          <p:cNvPr id="26" name="TextBox 25"/>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convert to…</a:t>
            </a:r>
          </a:p>
        </p:txBody>
      </p:sp>
      <p:sp>
        <p:nvSpPr>
          <p:cNvPr id="31" name="TextBox 30"/>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Drive enro…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Support·Help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Get branch·HQ support</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If a problem comes up in operations, contact branch/HQ support. System/settlement/policy questions get resolved quickly.</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Use phone, email, Kakao and remote support in Support.</a:t>
            </a:r>
          </a:p>
          <a:p>
            <a:pPr>
              <a:lnSpc>
                <a:spcPct val="115000"/>
              </a:lnSpc>
              <a:spcAft>
                <a:spcPts val="300"/>
              </a:spcAft>
            </a:pPr>
            <a:r>
              <a:rPr sz="700" b="1">
                <a:solidFill>
                  <a:srgbClr val="E11D48"/>
                </a:solidFill>
                <a:latin typeface="Malgun Gothic"/>
              </a:rPr>
              <a:t>● </a:t>
            </a:r>
            <a:r>
              <a:rPr sz="900">
                <a:solidFill>
                  <a:srgbClr val="334155"/>
                </a:solidFill>
                <a:latin typeface="Malgun Gothic"/>
              </a:rPr>
              <a:t>Route settlement/policy questions to the branch/HQ.</a:t>
            </a:r>
          </a:p>
          <a:p>
            <a:pPr>
              <a:lnSpc>
                <a:spcPct val="115000"/>
              </a:lnSpc>
              <a:spcAft>
                <a:spcPts val="300"/>
              </a:spcAft>
            </a:pPr>
            <a:r>
              <a:rPr sz="700" b="1">
                <a:solidFill>
                  <a:srgbClr val="E11D48"/>
                </a:solidFill>
                <a:latin typeface="Malgun Gothic"/>
              </a:rPr>
              <a:t>● </a:t>
            </a:r>
            <a:r>
              <a:rPr sz="900">
                <a:solidFill>
                  <a:srgbClr val="334155"/>
                </a:solidFill>
                <a:latin typeface="Malgun Gothic"/>
              </a:rPr>
              <a:t>Note the fix for repeat issues.</a:t>
            </a:r>
          </a:p>
        </p:txBody>
      </p:sp>
      <p:sp>
        <p:nvSpPr>
          <p:cNvPr id="14" name="Rounded Rectangle 13"/>
          <p:cNvSpPr/>
          <p:nvPr/>
        </p:nvSpPr>
        <p:spPr>
          <a:xfrm>
            <a:off x="457200" y="5026914"/>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System issues resolve fast with remote support.</a:t>
            </a:r>
          </a:p>
          <a:p>
            <a:pPr>
              <a:lnSpc>
                <a:spcPct val="115000"/>
              </a:lnSpc>
              <a:spcAft>
                <a:spcPts val="100"/>
              </a:spcAft>
            </a:pPr>
            <a:r>
              <a:rPr sz="650" b="1">
                <a:solidFill>
                  <a:srgbClr val="E11D48"/>
                </a:solidFill>
                <a:latin typeface="Malgun Gothic"/>
              </a:rPr>
              <a:t>● </a:t>
            </a:r>
            <a:r>
              <a:rPr sz="850">
                <a:solidFill>
                  <a:srgbClr val="334155"/>
                </a:solidFill>
                <a:latin typeface="Malgun Gothic"/>
              </a:rPr>
              <a:t>For 'can't enter' tickets, check browser/permission first.</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Compiling common inquiries and fixes speeds up counseling.</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common_contact.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755440"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83773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83773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139488"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Support</a:t>
            </a:r>
          </a:p>
        </p:txBody>
      </p:sp>
      <p:sp>
        <p:nvSpPr>
          <p:cNvPr id="26" name="TextBox 25"/>
          <p:cNvSpPr txBox="1"/>
          <p:nvPr/>
        </p:nvSpPr>
        <p:spPr>
          <a:xfrm>
            <a:off x="499719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180076" y="2670048"/>
            <a:ext cx="141366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26237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623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564124" y="2670048"/>
            <a:ext cx="99303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branch/HQ</a:t>
            </a:r>
          </a:p>
        </p:txBody>
      </p:sp>
      <p:sp>
        <p:nvSpPr>
          <p:cNvPr id="31" name="TextBox 30"/>
          <p:cNvSpPr txBox="1"/>
          <p:nvPr/>
        </p:nvSpPr>
        <p:spPr>
          <a:xfrm>
            <a:off x="659373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776618"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5891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91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16066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Note the 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Korea·Philippines Dual Clock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Two countries' time on screen</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 clock on screen shows 🇰🇷 Korea and 🇵🇭 Philippines time together. It lets you check the time difference instantly when coordinating lessons between Philippine teachers and Korean students.</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On the on-screen dual clock, see 🇰🇷 Korea and 🇵🇭 Philippines time at once.</a:t>
            </a:r>
          </a:p>
          <a:p>
            <a:pPr>
              <a:lnSpc>
                <a:spcPct val="115000"/>
              </a:lnSpc>
              <a:spcAft>
                <a:spcPts val="300"/>
              </a:spcAft>
            </a:pPr>
            <a:r>
              <a:rPr sz="700" b="1">
                <a:solidFill>
                  <a:srgbClr val="E11D48"/>
                </a:solidFill>
                <a:latin typeface="Malgun Gothic"/>
              </a:rPr>
              <a:t>● </a:t>
            </a:r>
            <a:r>
              <a:rPr sz="900">
                <a:solidFill>
                  <a:srgbClr val="334155"/>
                </a:solidFill>
                <a:latin typeface="Malgun Gothic"/>
              </a:rPr>
              <a:t>Drag the clock to move it anywhere you like.</a:t>
            </a:r>
          </a:p>
          <a:p>
            <a:pPr>
              <a:lnSpc>
                <a:spcPct val="115000"/>
              </a:lnSpc>
              <a:spcAft>
                <a:spcPts val="300"/>
              </a:spcAft>
            </a:pPr>
            <a:r>
              <a:rPr sz="700" b="1">
                <a:solidFill>
                  <a:srgbClr val="E11D48"/>
                </a:solidFill>
                <a:latin typeface="Malgun Gothic"/>
              </a:rPr>
              <a:t>● </a:t>
            </a:r>
            <a:r>
              <a:rPr sz="900">
                <a:solidFill>
                  <a:srgbClr val="334155"/>
                </a:solidFill>
                <a:latin typeface="Malgun Gothic"/>
              </a:rPr>
              <a:t>Tap (click) the clock to go to the home screen.</a:t>
            </a:r>
          </a:p>
        </p:txBody>
      </p:sp>
      <p:sp>
        <p:nvSpPr>
          <p:cNvPr id="14" name="Rounded Rectangle 13"/>
          <p:cNvSpPr/>
          <p:nvPr/>
        </p:nvSpPr>
        <p:spPr>
          <a:xfrm>
            <a:off x="457200" y="5026914"/>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The Philippines is 1 hour behind Korea (−1 hour).</a:t>
            </a:r>
          </a:p>
          <a:p>
            <a:pPr>
              <a:lnSpc>
                <a:spcPct val="115000"/>
              </a:lnSpc>
              <a:spcAft>
                <a:spcPts val="100"/>
              </a:spcAft>
            </a:pPr>
            <a:r>
              <a:rPr sz="650" b="1">
                <a:solidFill>
                  <a:srgbClr val="E11D48"/>
                </a:solidFill>
                <a:latin typeface="Malgun Gothic"/>
              </a:rPr>
              <a:t>● </a:t>
            </a:r>
            <a:r>
              <a:rPr sz="850">
                <a:solidFill>
                  <a:srgbClr val="334155"/>
                </a:solidFill>
                <a:latin typeface="Malgun Gothic"/>
              </a:rPr>
              <a:t>You can check booking/entry times in both countries' time.</a:t>
            </a:r>
          </a:p>
        </p:txBody>
      </p:sp>
      <p:sp>
        <p:nvSpPr>
          <p:cNvPr id="17" name="Rounded Rectangle 16"/>
          <p:cNvSpPr/>
          <p:nvPr/>
        </p:nvSpPr>
        <p:spPr>
          <a:xfrm>
            <a:off x="365760" y="6172200"/>
            <a:ext cx="11457432"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Tip · When a lesson time is confusing due to the time difference, this clock clears it up instantly.</a:t>
            </a:r>
          </a:p>
        </p:txBody>
      </p:sp>
      <p:sp>
        <p:nvSpPr>
          <p:cNvPr id="19" name="Rectangle 18"/>
          <p:cNvSpPr/>
          <p:nvPr/>
        </p:nvSpPr>
        <p:spPr>
          <a:xfrm>
            <a:off x="6842269" y="3255264"/>
            <a:ext cx="4512021"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world_clock.jpg"/>
          <p:cNvPicPr>
            <a:picLocks noChangeAspect="1"/>
          </p:cNvPicPr>
          <p:nvPr/>
        </p:nvPicPr>
        <p:blipFill>
          <a:blip r:embed="rId2"/>
          <a:stretch>
            <a:fillRect/>
          </a:stretch>
        </p:blipFill>
        <p:spPr>
          <a:xfrm>
            <a:off x="6897133" y="3310128"/>
            <a:ext cx="4402293"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841394"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92369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2369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4225442"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dual clock</a:t>
            </a:r>
          </a:p>
        </p:txBody>
      </p:sp>
      <p:sp>
        <p:nvSpPr>
          <p:cNvPr id="26" name="TextBox 25"/>
          <p:cNvSpPr txBox="1"/>
          <p:nvPr/>
        </p:nvSpPr>
        <p:spPr>
          <a:xfrm>
            <a:off x="534101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5523890" y="2670048"/>
            <a:ext cx="983894"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560618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0618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907938" y="2670048"/>
            <a:ext cx="563270"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Drag</a:t>
            </a:r>
          </a:p>
        </p:txBody>
      </p:sp>
      <p:sp>
        <p:nvSpPr>
          <p:cNvPr id="31" name="TextBox 30"/>
          <p:cNvSpPr txBox="1"/>
          <p:nvPr/>
        </p:nvSpPr>
        <p:spPr>
          <a:xfrm>
            <a:off x="650778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69066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7296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729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707471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Tap (click…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Chinese Pronunciation Coach</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Darakwon Chinese Master Lv1–20</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Mangoi offers not only English but also a Chinese course. With a Darakwon Chinese Master (Lv 1–20) pronunciation coach (characters+pinyin, AI voice recognition, native comparison), you can attract and manage students who want Chinese.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956358"/>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In the AI voice coach, pick the CN Chinese level (or go to the Chinese pronunciation coach).</a:t>
            </a:r>
          </a:p>
          <a:p>
            <a:pPr>
              <a:lnSpc>
                <a:spcPct val="115000"/>
              </a:lnSpc>
              <a:spcAft>
                <a:spcPts val="300"/>
              </a:spcAft>
            </a:pPr>
            <a:r>
              <a:rPr sz="700" b="1">
                <a:solidFill>
                  <a:srgbClr val="E11D48"/>
                </a:solidFill>
                <a:latin typeface="Malgun Gothic"/>
              </a:rPr>
              <a:t>● </a:t>
            </a:r>
            <a:r>
              <a:rPr sz="900">
                <a:solidFill>
                  <a:srgbClr val="334155"/>
                </a:solidFill>
                <a:latin typeface="Malgun Gothic"/>
              </a:rPr>
              <a:t>Choose a Master series (1–6, HSK 1–6) and a unit.</a:t>
            </a:r>
          </a:p>
          <a:p>
            <a:pPr>
              <a:lnSpc>
                <a:spcPct val="115000"/>
              </a:lnSpc>
              <a:spcAft>
                <a:spcPts val="300"/>
              </a:spcAft>
            </a:pPr>
            <a:r>
              <a:rPr sz="700" b="1">
                <a:solidFill>
                  <a:srgbClr val="E11D48"/>
                </a:solidFill>
                <a:latin typeface="Malgun Gothic"/>
              </a:rPr>
              <a:t>● </a:t>
            </a:r>
            <a:r>
              <a:rPr sz="900">
                <a:solidFill>
                  <a:srgbClr val="334155"/>
                </a:solidFill>
                <a:latin typeface="Malgun Gothic"/>
              </a:rPr>
              <a:t>Read the sentence (characters + pinyin) and compare with 'Play native audio'.</a:t>
            </a:r>
          </a:p>
          <a:p>
            <a:pPr>
              <a:lnSpc>
                <a:spcPct val="115000"/>
              </a:lnSpc>
              <a:spcAft>
                <a:spcPts val="300"/>
              </a:spcAft>
            </a:pPr>
            <a:r>
              <a:rPr sz="700" b="1">
                <a:solidFill>
                  <a:srgbClr val="E11D48"/>
                </a:solidFill>
                <a:latin typeface="Malgun Gothic"/>
              </a:rPr>
              <a:t>● </a:t>
            </a:r>
            <a:r>
              <a:rPr sz="900">
                <a:solidFill>
                  <a:srgbClr val="334155"/>
                </a:solidFill>
                <a:latin typeface="Malgun Gothic"/>
              </a:rPr>
              <a:t>Practice hard sounds/tones with repeat and slow (0.85x).</a:t>
            </a:r>
          </a:p>
        </p:txBody>
      </p:sp>
      <p:sp>
        <p:nvSpPr>
          <p:cNvPr id="14" name="Rounded Rectangle 13"/>
          <p:cNvSpPr/>
          <p:nvPr/>
        </p:nvSpPr>
        <p:spPr>
          <a:xfrm>
            <a:off x="457200" y="5796838"/>
            <a:ext cx="5669280" cy="137045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842558"/>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089446"/>
            <a:ext cx="5394960" cy="104127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Characters and pinyin appear together, so it's easy to read.</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AI recognizes your voice and compares it to a native speaker.</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learning games hub supports Chinese too.</a:t>
            </a:r>
          </a:p>
        </p:txBody>
      </p:sp>
      <p:sp>
        <p:nvSpPr>
          <p:cNvPr id="17" name="Rounded Rectangle 16"/>
          <p:cNvSpPr/>
          <p:nvPr/>
        </p:nvSpPr>
        <p:spPr>
          <a:xfrm>
            <a:off x="365760" y="6217920"/>
            <a:ext cx="11457432" cy="47548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63640"/>
            <a:ext cx="11183111" cy="384048"/>
          </a:xfrm>
          <a:prstGeom prst="rect">
            <a:avLst/>
          </a:prstGeom>
          <a:noFill/>
        </p:spPr>
        <p:txBody>
          <a:bodyPr wrap="square" anchor="t">
            <a:spAutoFit/>
          </a:bodyPr>
          <a:lstStyle/>
          <a:p>
            <a:pPr algn="l">
              <a:lnSpc>
                <a:spcPct val="100000"/>
              </a:lnSpc>
            </a:pPr>
            <a:r>
              <a:rPr sz="950" b="0">
                <a:solidFill>
                  <a:srgbClr val="5B4A2A"/>
                </a:solidFill>
                <a:latin typeface="Malgun Gothic"/>
              </a:rPr>
              <a:t>💡 Tip · Listen slowly and repeat clearly to nail the four tones.</a:t>
            </a:r>
          </a:p>
        </p:txBody>
      </p:sp>
      <p:sp>
        <p:nvSpPr>
          <p:cNvPr id="19" name="Rectangle 18"/>
          <p:cNvSpPr/>
          <p:nvPr/>
        </p:nvSpPr>
        <p:spPr>
          <a:xfrm>
            <a:off x="6819595" y="3255264"/>
            <a:ext cx="4557369" cy="28895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tudent_speechcoach_cn.jpg"/>
          <p:cNvPicPr>
            <a:picLocks noChangeAspect="1"/>
          </p:cNvPicPr>
          <p:nvPr/>
        </p:nvPicPr>
        <p:blipFill>
          <a:blip r:embed="rId2"/>
          <a:stretch>
            <a:fillRect/>
          </a:stretch>
        </p:blipFill>
        <p:spPr>
          <a:xfrm>
            <a:off x="6874459" y="3310128"/>
            <a:ext cx="4447641" cy="277977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585008"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66730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6730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2969056"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CN Chinese</a:t>
            </a:r>
          </a:p>
        </p:txBody>
      </p:sp>
      <p:sp>
        <p:nvSpPr>
          <p:cNvPr id="26" name="TextBox 25"/>
          <p:cNvSpPr txBox="1"/>
          <p:nvPr/>
        </p:nvSpPr>
        <p:spPr>
          <a:xfrm>
            <a:off x="408462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26750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34980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980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65155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Master ser…</a:t>
            </a:r>
          </a:p>
        </p:txBody>
      </p:sp>
      <p:sp>
        <p:nvSpPr>
          <p:cNvPr id="31" name="TextBox 30"/>
          <p:cNvSpPr txBox="1"/>
          <p:nvPr/>
        </p:nvSpPr>
        <p:spPr>
          <a:xfrm>
            <a:off x="592439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107277"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8957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8957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49132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characters…</a:t>
            </a:r>
          </a:p>
        </p:txBody>
      </p:sp>
      <p:sp>
        <p:nvSpPr>
          <p:cNvPr id="36" name="TextBox 35"/>
          <p:cNvSpPr txBox="1"/>
          <p:nvPr/>
        </p:nvSpPr>
        <p:spPr>
          <a:xfrm>
            <a:off x="776417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94705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02934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2934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33109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repeat and…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In-class Praise Points (understand &amp; use)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Linked to motivation·re-enrollment</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During class the teacher gives 🌟 praise points (+1P) to students on the spot, and an end-of-class rating (+10P) adds up into the student's total points. Points lead to shop/gift rewards, helping motivation and re-enrollment. Your agency understands and uses this flow for performance.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63540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The teacher gives +1P via the 🌟 praise button on a student's video during class.</a:t>
            </a:r>
          </a:p>
          <a:p>
            <a:pPr>
              <a:lnSpc>
                <a:spcPct val="115000"/>
              </a:lnSpc>
              <a:spcAft>
                <a:spcPts val="300"/>
              </a:spcAft>
            </a:pPr>
            <a:r>
              <a:rPr sz="700" b="1">
                <a:solidFill>
                  <a:srgbClr val="E11D48"/>
                </a:solidFill>
                <a:latin typeface="Malgun Gothic"/>
              </a:rPr>
              <a:t>● </a:t>
            </a:r>
            <a:r>
              <a:rPr sz="900">
                <a:solidFill>
                  <a:srgbClr val="334155"/>
                </a:solidFill>
                <a:latin typeface="Malgun Gothic"/>
              </a:rPr>
              <a:t>It accrues live in the student's 🧺 point basket and sums into their total.</a:t>
            </a:r>
          </a:p>
          <a:p>
            <a:pPr>
              <a:lnSpc>
                <a:spcPct val="115000"/>
              </a:lnSpc>
              <a:spcAft>
                <a:spcPts val="300"/>
              </a:spcAft>
            </a:pPr>
            <a:r>
              <a:rPr sz="700" b="1">
                <a:solidFill>
                  <a:srgbClr val="E11D48"/>
                </a:solidFill>
                <a:latin typeface="Malgun Gothic"/>
              </a:rPr>
              <a:t>● </a:t>
            </a:r>
            <a:r>
              <a:rPr sz="900">
                <a:solidFill>
                  <a:srgbClr val="334155"/>
                </a:solidFill>
                <a:latin typeface="Malgun Gothic"/>
              </a:rPr>
              <a:t>A post-class star rating gives the student an extra +10P.</a:t>
            </a:r>
          </a:p>
          <a:p>
            <a:pPr>
              <a:lnSpc>
                <a:spcPct val="115000"/>
              </a:lnSpc>
              <a:spcAft>
                <a:spcPts val="300"/>
              </a:spcAft>
            </a:pPr>
            <a:r>
              <a:rPr sz="700" b="1">
                <a:solidFill>
                  <a:srgbClr val="E11D48"/>
                </a:solidFill>
                <a:latin typeface="Malgun Gothic"/>
              </a:rPr>
              <a:t>● </a:t>
            </a:r>
            <a:r>
              <a:rPr sz="900">
                <a:solidFill>
                  <a:srgbClr val="334155"/>
                </a:solidFill>
                <a:latin typeface="Malgun Gothic"/>
              </a:rPr>
              <a:t>Points connect to shop/roulette/gift rewards.</a:t>
            </a:r>
          </a:p>
        </p:txBody>
      </p:sp>
      <p:sp>
        <p:nvSpPr>
          <p:cNvPr id="14" name="Rounded Rectangle 13"/>
          <p:cNvSpPr/>
          <p:nvPr/>
        </p:nvSpPr>
        <p:spPr>
          <a:xfrm>
            <a:off x="457200" y="5475884"/>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52160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768492"/>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Instant rewards boost participation and re-enrollment.</a:t>
            </a:r>
          </a:p>
          <a:p>
            <a:pPr>
              <a:lnSpc>
                <a:spcPct val="115000"/>
              </a:lnSpc>
              <a:spcAft>
                <a:spcPts val="100"/>
              </a:spcAft>
            </a:pPr>
            <a:r>
              <a:rPr sz="650" b="1">
                <a:solidFill>
                  <a:srgbClr val="E11D48"/>
                </a:solidFill>
                <a:latin typeface="Malgun Gothic"/>
              </a:rPr>
              <a:t>● </a:t>
            </a:r>
            <a:r>
              <a:rPr sz="850">
                <a:solidFill>
                  <a:srgbClr val="334155"/>
                </a:solidFill>
                <a:latin typeface="Malgun Gothic"/>
              </a:rPr>
              <a:t>Use your agency students' points/reward response as a performance signal.</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Teachers give praise points; HQ (admin) configures the shop/reward/gift policy.</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Classes (teachers) where praise points flow well tend to have higher re-enrollment.</a:t>
            </a:r>
          </a:p>
        </p:txBody>
      </p:sp>
      <p:sp>
        <p:nvSpPr>
          <p:cNvPr id="21" name="Rectangle 20"/>
          <p:cNvSpPr/>
          <p:nvPr/>
        </p:nvSpPr>
        <p:spPr>
          <a:xfrm>
            <a:off x="6300216" y="3752988"/>
            <a:ext cx="5596128" cy="169745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lass_praise.jpg"/>
          <p:cNvPicPr>
            <a:picLocks noChangeAspect="1"/>
          </p:cNvPicPr>
          <p:nvPr/>
        </p:nvPicPr>
        <p:blipFill>
          <a:blip r:embed="rId2"/>
          <a:stretch>
            <a:fillRect/>
          </a:stretch>
        </p:blipFill>
        <p:spPr>
          <a:xfrm>
            <a:off x="6355080" y="3807852"/>
            <a:ext cx="5486400" cy="158773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13939"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9623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962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097987"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teacher</a:t>
            </a:r>
          </a:p>
        </p:txBody>
      </p:sp>
      <p:sp>
        <p:nvSpPr>
          <p:cNvPr id="28" name="TextBox 27"/>
          <p:cNvSpPr txBox="1"/>
          <p:nvPr/>
        </p:nvSpPr>
        <p:spPr>
          <a:xfrm>
            <a:off x="395569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13857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2087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2087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52262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It accrues…</a:t>
            </a:r>
          </a:p>
        </p:txBody>
      </p:sp>
      <p:sp>
        <p:nvSpPr>
          <p:cNvPr id="33" name="TextBox 32"/>
          <p:cNvSpPr txBox="1"/>
          <p:nvPr/>
        </p:nvSpPr>
        <p:spPr>
          <a:xfrm>
            <a:off x="579546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978347"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6064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6064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36239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post-class…</a:t>
            </a:r>
          </a:p>
        </p:txBody>
      </p:sp>
      <p:sp>
        <p:nvSpPr>
          <p:cNvPr id="38" name="TextBox 37"/>
          <p:cNvSpPr txBox="1"/>
          <p:nvPr/>
        </p:nvSpPr>
        <p:spPr>
          <a:xfrm>
            <a:off x="763524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81812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0041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0041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20216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shop/roule…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Notice Studio (Poster + Popup)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Design notice/event posters and push them as app popups</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This merges the old ‘Poster Maker’ and ‘Popup Notice’ tools into one place. In the ①Create tab you design a notice/event poster, then hand it straight to the ②Publish·Popup tab to show it as a popup in your agency's student app.</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116836"/>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Go to the admin menu Notification Center → 📢 Notice Studio.</a:t>
            </a:r>
          </a:p>
          <a:p>
            <a:pPr>
              <a:lnSpc>
                <a:spcPct val="115000"/>
              </a:lnSpc>
              <a:spcAft>
                <a:spcPts val="300"/>
              </a:spcAft>
            </a:pPr>
            <a:r>
              <a:rPr sz="700" b="1">
                <a:solidFill>
                  <a:srgbClr val="E11D48"/>
                </a:solidFill>
                <a:latin typeface="Malgun Gothic"/>
              </a:rPr>
              <a:t>● </a:t>
            </a:r>
            <a:r>
              <a:rPr sz="900">
                <a:solidFill>
                  <a:srgbClr val="334155"/>
                </a:solidFill>
                <a:latin typeface="Malgun Gothic"/>
              </a:rPr>
              <a:t>In the ①Create tab, design a poster with text, images, and video (resize · save on server · reuse).</a:t>
            </a:r>
          </a:p>
          <a:p>
            <a:pPr>
              <a:lnSpc>
                <a:spcPct val="115000"/>
              </a:lnSpc>
              <a:spcAft>
                <a:spcPts val="300"/>
              </a:spcAft>
            </a:pPr>
            <a:r>
              <a:rPr sz="700" b="1">
                <a:solidFill>
                  <a:srgbClr val="E11D48"/>
                </a:solidFill>
                <a:latin typeface="Malgun Gothic"/>
              </a:rPr>
              <a:t>● </a:t>
            </a:r>
            <a:r>
              <a:rPr sz="900">
                <a:solidFill>
                  <a:srgbClr val="334155"/>
                </a:solidFill>
                <a:latin typeface="Malgun Gothic"/>
              </a:rPr>
              <a:t>Press ‘📢 Publish as popup’ on the finished poster to auto-switch to the ②Publish·Popup tab.</a:t>
            </a:r>
          </a:p>
          <a:p>
            <a:pPr>
              <a:lnSpc>
                <a:spcPct val="115000"/>
              </a:lnSpc>
              <a:spcAft>
                <a:spcPts val="300"/>
              </a:spcAft>
            </a:pPr>
            <a:r>
              <a:rPr sz="700" b="1">
                <a:solidFill>
                  <a:srgbClr val="E11D48"/>
                </a:solidFill>
                <a:latin typeface="Malgun Gothic"/>
              </a:rPr>
              <a:t>● </a:t>
            </a:r>
            <a:r>
              <a:rPr sz="900">
                <a:solidFill>
                  <a:srgbClr val="334155"/>
                </a:solidFill>
                <a:latin typeface="Malgun Gothic"/>
              </a:rPr>
              <a:t>In the publish tab, set the display period / stop and publish it as a student-app popup.</a:t>
            </a:r>
          </a:p>
        </p:txBody>
      </p:sp>
      <p:sp>
        <p:nvSpPr>
          <p:cNvPr id="14" name="Rounded Rectangle 13"/>
          <p:cNvSpPr/>
          <p:nvPr/>
        </p:nvSpPr>
        <p:spPr>
          <a:xfrm>
            <a:off x="457200" y="5957316"/>
            <a:ext cx="5669280" cy="137045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003036"/>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249924"/>
            <a:ext cx="5394960" cy="104127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Poster creation and popup publishing flow through one screen, two tabs — no more confusion.</a:t>
            </a:r>
          </a:p>
          <a:p>
            <a:pPr>
              <a:lnSpc>
                <a:spcPct val="115000"/>
              </a:lnSpc>
              <a:spcAft>
                <a:spcPts val="100"/>
              </a:spcAft>
            </a:pPr>
            <a:r>
              <a:rPr sz="650" b="1">
                <a:solidFill>
                  <a:srgbClr val="E11D48"/>
                </a:solidFill>
                <a:latin typeface="Malgun Gothic"/>
              </a:rPr>
              <a:t>● </a:t>
            </a:r>
            <a:r>
              <a:rPr sz="850">
                <a:solidFill>
                  <a:srgbClr val="334155"/>
                </a:solidFill>
                <a:latin typeface="Malgun Gothic"/>
              </a:rPr>
              <a:t>Posters you make can be saved and reused.</a:t>
            </a:r>
          </a:p>
          <a:p>
            <a:pPr>
              <a:lnSpc>
                <a:spcPct val="115000"/>
              </a:lnSpc>
              <a:spcAft>
                <a:spcPts val="100"/>
              </a:spcAft>
            </a:pPr>
            <a:r>
              <a:rPr sz="650" b="1">
                <a:solidFill>
                  <a:srgbClr val="E11D48"/>
                </a:solidFill>
                <a:latin typeface="Malgun Gothic"/>
              </a:rPr>
              <a:t>● </a:t>
            </a:r>
            <a:r>
              <a:rPr sz="850">
                <a:solidFill>
                  <a:srgbClr val="334155"/>
                </a:solidFill>
                <a:latin typeface="Malgun Gothic"/>
              </a:rPr>
              <a:t>Whichever route you enter from — AI assistant or sidebar search — the correct tab opens.</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Existing posters/popups are preserved (it was only merged, nothing was deleted).</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Promoting an event takes just one flow: ‘Create → Publish as popup’ right away.</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60695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68925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8925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99100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Notificati…</a:t>
            </a:r>
          </a:p>
        </p:txBody>
      </p:sp>
      <p:sp>
        <p:nvSpPr>
          <p:cNvPr id="28" name="TextBox 27"/>
          <p:cNvSpPr txBox="1"/>
          <p:nvPr/>
        </p:nvSpPr>
        <p:spPr>
          <a:xfrm>
            <a:off x="426384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446727" y="2670048"/>
            <a:ext cx="131307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2902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290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830775" y="2670048"/>
            <a:ext cx="89245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①Create</a:t>
            </a:r>
          </a:p>
        </p:txBody>
      </p:sp>
      <p:sp>
        <p:nvSpPr>
          <p:cNvPr id="33" name="TextBox 32"/>
          <p:cNvSpPr txBox="1"/>
          <p:nvPr/>
        </p:nvSpPr>
        <p:spPr>
          <a:xfrm>
            <a:off x="575980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942685" y="2670048"/>
            <a:ext cx="17995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2498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249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326733" y="2670048"/>
            <a:ext cx="13789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Publish…</a:t>
            </a:r>
          </a:p>
        </p:txBody>
      </p:sp>
      <p:sp>
        <p:nvSpPr>
          <p:cNvPr id="38" name="TextBox 37"/>
          <p:cNvSpPr txBox="1"/>
          <p:nvPr/>
        </p:nvSpPr>
        <p:spPr>
          <a:xfrm>
            <a:off x="774222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92510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0740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0740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0915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display pe…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Command the AI Operations Assistant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Navigate with one phrase: “Take me to ○○”</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Type what you want to do into the top search bar (or the bottom-right AI assistant) in plain language, and the AI understands and jumps straight to that screen. It now reliably follows navigation commands like ‘Take me to teacher ○○'s schedule’ or ‘Open auto-scheduling’.</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956358"/>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Type a command in the top search bar or speak with the 🎤 mic.</a:t>
            </a:r>
          </a:p>
          <a:p>
            <a:pPr>
              <a:lnSpc>
                <a:spcPct val="115000"/>
              </a:lnSpc>
              <a:spcAft>
                <a:spcPts val="300"/>
              </a:spcAft>
            </a:pPr>
            <a:r>
              <a:rPr sz="700" b="1">
                <a:solidFill>
                  <a:srgbClr val="E11D48"/>
                </a:solidFill>
                <a:latin typeface="Malgun Gothic"/>
              </a:rPr>
              <a:t>● </a:t>
            </a:r>
            <a:r>
              <a:rPr sz="900">
                <a:solidFill>
                  <a:srgbClr val="334155"/>
                </a:solidFill>
                <a:latin typeface="Malgun Gothic"/>
              </a:rPr>
              <a:t>e.g. “Take me to teacher Kim Minji's schedule” → auto-finds that teacher in the weekly schedule and opens it.</a:t>
            </a:r>
          </a:p>
          <a:p>
            <a:pPr>
              <a:lnSpc>
                <a:spcPct val="115000"/>
              </a:lnSpc>
              <a:spcAft>
                <a:spcPts val="300"/>
              </a:spcAft>
            </a:pPr>
            <a:r>
              <a:rPr sz="700" b="1">
                <a:solidFill>
                  <a:srgbClr val="E11D48"/>
                </a:solidFill>
                <a:latin typeface="Malgun Gothic"/>
              </a:rPr>
              <a:t>● </a:t>
            </a:r>
            <a:r>
              <a:rPr sz="900">
                <a:solidFill>
                  <a:srgbClr val="334155"/>
                </a:solidFill>
                <a:latin typeface="Malgun Gothic"/>
              </a:rPr>
              <a:t>e.g. “Open auto-scheduling,” “Go to settlement” to navigate menus.</a:t>
            </a:r>
          </a:p>
          <a:p>
            <a:pPr>
              <a:lnSpc>
                <a:spcPct val="115000"/>
              </a:lnSpc>
              <a:spcAft>
                <a:spcPts val="300"/>
              </a:spcAft>
            </a:pPr>
            <a:r>
              <a:rPr sz="700" b="1">
                <a:solidFill>
                  <a:srgbClr val="E11D48"/>
                </a:solidFill>
                <a:latin typeface="Malgun Gothic"/>
              </a:rPr>
              <a:t>● </a:t>
            </a:r>
            <a:r>
              <a:rPr sz="900">
                <a:solidFill>
                  <a:srgbClr val="334155"/>
                </a:solidFill>
                <a:latin typeface="Malgun Gothic"/>
              </a:rPr>
              <a:t>Press ‘Go now →’ on the AI response card to move to that screen.</a:t>
            </a:r>
          </a:p>
        </p:txBody>
      </p:sp>
      <p:sp>
        <p:nvSpPr>
          <p:cNvPr id="14" name="Rounded Rectangle 13"/>
          <p:cNvSpPr/>
          <p:nvPr/>
        </p:nvSpPr>
        <p:spPr>
          <a:xfrm>
            <a:off x="457200" y="5796838"/>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842558"/>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089446"/>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Navigation commands actually navigate — far fewer ‘explain only, do nothing’ replies.</a:t>
            </a:r>
          </a:p>
          <a:p>
            <a:pPr>
              <a:lnSpc>
                <a:spcPct val="115000"/>
              </a:lnSpc>
              <a:spcAft>
                <a:spcPts val="100"/>
              </a:spcAft>
            </a:pPr>
            <a:r>
              <a:rPr sz="650" b="1">
                <a:solidFill>
                  <a:srgbClr val="E11D48"/>
                </a:solidFill>
                <a:latin typeface="Malgun Gothic"/>
              </a:rPr>
              <a:t>● </a:t>
            </a:r>
            <a:r>
              <a:rPr sz="850">
                <a:solidFill>
                  <a:srgbClr val="334155"/>
                </a:solidFill>
                <a:latin typeface="Malgun Gothic"/>
              </a:rPr>
              <a:t>Searching a schedule by teacher name auto-fills the search box + filters + scrolls.</a:t>
            </a:r>
          </a:p>
          <a:p>
            <a:pPr>
              <a:lnSpc>
                <a:spcPct val="115000"/>
              </a:lnSpc>
              <a:spcAft>
                <a:spcPts val="100"/>
              </a:spcAft>
            </a:pPr>
            <a:r>
              <a:rPr sz="650" b="1">
                <a:solidFill>
                  <a:srgbClr val="E11D48"/>
                </a:solidFill>
                <a:latin typeface="Malgun Gothic"/>
              </a:rPr>
              <a:t>● </a:t>
            </a:r>
            <a:r>
              <a:rPr sz="850">
                <a:solidFill>
                  <a:srgbClr val="334155"/>
                </a:solidFill>
                <a:latin typeface="Malgun Gothic"/>
              </a:rPr>
              <a:t>For data/statistics questions it also helps with card-style answers.</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Commands that actually change things — ‘register · send · modify’ — ask for one more confirmation (a safety guard).</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When you can't recall a menu name, just say what you want to do — it finds its way there.</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aicommand.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85339"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6763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676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869387"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search bar</a:t>
            </a:r>
          </a:p>
        </p:txBody>
      </p:sp>
      <p:sp>
        <p:nvSpPr>
          <p:cNvPr id="28" name="TextBox 27"/>
          <p:cNvSpPr txBox="1"/>
          <p:nvPr/>
        </p:nvSpPr>
        <p:spPr>
          <a:xfrm>
            <a:off x="398495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167835" y="2670048"/>
            <a:ext cx="17282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25013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501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551883"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“Take me t…</a:t>
            </a:r>
          </a:p>
        </p:txBody>
      </p:sp>
      <p:sp>
        <p:nvSpPr>
          <p:cNvPr id="33" name="TextBox 32"/>
          <p:cNvSpPr txBox="1"/>
          <p:nvPr/>
        </p:nvSpPr>
        <p:spPr>
          <a:xfrm>
            <a:off x="589605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078931" y="2670048"/>
            <a:ext cx="17282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16122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6122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462979"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“Open auto…</a:t>
            </a:r>
          </a:p>
        </p:txBody>
      </p:sp>
      <p:sp>
        <p:nvSpPr>
          <p:cNvPr id="38" name="TextBox 37"/>
          <p:cNvSpPr txBox="1"/>
          <p:nvPr/>
        </p:nvSpPr>
        <p:spPr>
          <a:xfrm>
            <a:off x="780714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990027" y="2670048"/>
            <a:ext cx="17135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7232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7232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74075" y="2670048"/>
            <a:ext cx="12929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‘Go now →’</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19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Share Library Links via KakaoTalk</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Send videos &amp; docs in original quality</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Every guide and video in the library now has a '💬 Copy KakaoTalk link' button. Attaching a file to KakaoTalk crushes the quality, but sending a link plays the original as-is. One tap copies the link — guiding parents and teachers gets much easier.</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In the admin Library, press 💬 Copy KakaoTalk link next to the file.</a:t>
            </a:r>
          </a:p>
          <a:p>
            <a:pPr>
              <a:lnSpc>
                <a:spcPct val="115000"/>
              </a:lnSpc>
              <a:spcAft>
                <a:spcPts val="300"/>
              </a:spcAft>
            </a:pPr>
            <a:r>
              <a:rPr sz="700" b="1">
                <a:solidFill>
                  <a:srgbClr val="E11D48"/>
                </a:solidFill>
                <a:latin typeface="Malgun Gothic"/>
              </a:rPr>
              <a:t>● </a:t>
            </a:r>
            <a:r>
              <a:rPr sz="900">
                <a:solidFill>
                  <a:srgbClr val="334155"/>
                </a:solidFill>
                <a:latin typeface="Malgun Gothic"/>
              </a:rPr>
              <a:t>Paste it into the KakaoTalk chat room.</a:t>
            </a:r>
          </a:p>
          <a:p>
            <a:pPr>
              <a:lnSpc>
                <a:spcPct val="115000"/>
              </a:lnSpc>
              <a:spcAft>
                <a:spcPts val="300"/>
              </a:spcAft>
            </a:pPr>
            <a:r>
              <a:rPr sz="700" b="1">
                <a:solidFill>
                  <a:srgbClr val="E11D48"/>
                </a:solidFill>
                <a:latin typeface="Malgun Gothic"/>
              </a:rPr>
              <a:t>● </a:t>
            </a:r>
            <a:r>
              <a:rPr sz="900">
                <a:solidFill>
                  <a:srgbClr val="334155"/>
                </a:solidFill>
                <a:latin typeface="Malgun Gothic"/>
              </a:rPr>
              <a:t>Recipients tap the link to watch or download in original quality.</a:t>
            </a:r>
          </a:p>
        </p:txBody>
      </p:sp>
      <p:sp>
        <p:nvSpPr>
          <p:cNvPr id="14" name="Rounded Rectangle 13"/>
          <p:cNvSpPr/>
          <p:nvPr/>
        </p:nvSpPr>
        <p:spPr>
          <a:xfrm>
            <a:off x="457200" y="5026914"/>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For videos, link sharing = original quality; file attachments degrade it.</a:t>
            </a:r>
          </a:p>
          <a:p>
            <a:pPr>
              <a:lnSpc>
                <a:spcPct val="115000"/>
              </a:lnSpc>
              <a:spcAft>
                <a:spcPts val="100"/>
              </a:spcAft>
            </a:pPr>
            <a:r>
              <a:rPr sz="650" b="1">
                <a:solidFill>
                  <a:srgbClr val="E11D48"/>
                </a:solidFill>
                <a:latin typeface="Malgun Gothic"/>
              </a:rPr>
              <a:t>● </a:t>
            </a:r>
            <a:r>
              <a:rPr sz="850">
                <a:solidFill>
                  <a:srgbClr val="334155"/>
                </a:solidFill>
                <a:latin typeface="Malgun Gothic"/>
              </a:rPr>
              <a:t>Works the same for PDFs, PPTs, and videos anywhere in the library.</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Anyone with the link can open it. For internal-only material, check who you share with.</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In a parents' group chat, one video-guide link does all the explaining.</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noticestudio.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927348"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00964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00964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4311396"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Library</a:t>
            </a:r>
          </a:p>
        </p:txBody>
      </p:sp>
      <p:sp>
        <p:nvSpPr>
          <p:cNvPr id="28" name="TextBox 27"/>
          <p:cNvSpPr txBox="1"/>
          <p:nvPr/>
        </p:nvSpPr>
        <p:spPr>
          <a:xfrm>
            <a:off x="516910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5351983" y="2670048"/>
            <a:ext cx="106984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43427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3427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736031" y="2670048"/>
            <a:ext cx="6492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Paste</a:t>
            </a:r>
          </a:p>
        </p:txBody>
      </p:sp>
      <p:sp>
        <p:nvSpPr>
          <p:cNvPr id="33" name="TextBox 32"/>
          <p:cNvSpPr txBox="1"/>
          <p:nvPr/>
        </p:nvSpPr>
        <p:spPr>
          <a:xfrm>
            <a:off x="642183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604711"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8700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8700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988759"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original q…</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 refreshed admin screen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Collapsible sidebar · lighter background · line icons</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admin screen is now easier on the eyes and wider. The left menu collapses to a narrow icon rail via the ‹ Collapse button, and the background is now a consistent light tone. Menu icons were redrawn as line icons so labels read clearly.</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956358"/>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Press ‹ Collapse at the top of the left menu — it shrinks to an icon rail and the content gets wider.</a:t>
            </a:r>
          </a:p>
          <a:p>
            <a:pPr>
              <a:lnSpc>
                <a:spcPct val="115000"/>
              </a:lnSpc>
              <a:spcAft>
                <a:spcPts val="300"/>
              </a:spcAft>
            </a:pPr>
            <a:r>
              <a:rPr sz="700" b="1">
                <a:solidFill>
                  <a:srgbClr val="E11D48"/>
                </a:solidFill>
                <a:latin typeface="Malgun Gothic"/>
              </a:rPr>
              <a:t>● </a:t>
            </a:r>
            <a:r>
              <a:rPr sz="900">
                <a:solidFill>
                  <a:srgbClr val="334155"/>
                </a:solidFill>
                <a:latin typeface="Malgun Gothic"/>
              </a:rPr>
              <a:t>Press the › button in the same place to expand it again.</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 collapsed state is remembered for your next visit.</a:t>
            </a:r>
          </a:p>
          <a:p>
            <a:pPr>
              <a:lnSpc>
                <a:spcPct val="115000"/>
              </a:lnSpc>
              <a:spcAft>
                <a:spcPts val="300"/>
              </a:spcAft>
            </a:pPr>
            <a:r>
              <a:rPr sz="700" b="1">
                <a:solidFill>
                  <a:srgbClr val="E11D48"/>
                </a:solidFill>
                <a:latin typeface="Malgun Gothic"/>
              </a:rPr>
              <a:t>● </a:t>
            </a:r>
            <a:r>
              <a:rPr sz="900">
                <a:solidFill>
                  <a:srgbClr val="334155"/>
                </a:solidFill>
                <a:latin typeface="Malgun Gothic"/>
              </a:rPr>
              <a:t>Too many menus to find one? Type its name into menu search at the top.</a:t>
            </a:r>
          </a:p>
        </p:txBody>
      </p:sp>
      <p:sp>
        <p:nvSpPr>
          <p:cNvPr id="14" name="Rounded Rectangle 13"/>
          <p:cNvSpPr/>
          <p:nvPr/>
        </p:nvSpPr>
        <p:spPr>
          <a:xfrm>
            <a:off x="457200" y="5796838"/>
            <a:ext cx="5669280" cy="167358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842558"/>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089446"/>
            <a:ext cx="5394960" cy="1344396"/>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Screens full of tables and lists gain a lot of horizontal space.</a:t>
            </a:r>
          </a:p>
          <a:p>
            <a:pPr>
              <a:lnSpc>
                <a:spcPct val="115000"/>
              </a:lnSpc>
              <a:spcAft>
                <a:spcPts val="100"/>
              </a:spcAft>
            </a:pPr>
            <a:r>
              <a:rPr sz="650" b="1">
                <a:solidFill>
                  <a:srgbClr val="E11D48"/>
                </a:solidFill>
                <a:latin typeface="Malgun Gothic"/>
              </a:rPr>
              <a:t>● </a:t>
            </a:r>
            <a:r>
              <a:rPr sz="850">
                <a:solidFill>
                  <a:srgbClr val="334155"/>
                </a:solidFill>
                <a:latin typeface="Malgun Gothic"/>
              </a:rPr>
              <a:t>15 sub-pages were moved onto the same light theme, so the colour jump between screens is gone.</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collapse animation was removed so low-spec PCs don't stutter.</a:t>
            </a:r>
          </a:p>
        </p:txBody>
      </p:sp>
      <p:sp>
        <p:nvSpPr>
          <p:cNvPr id="17" name="Rounded Rectangle 16"/>
          <p:cNvSpPr/>
          <p:nvPr/>
        </p:nvSpPr>
        <p:spPr>
          <a:xfrm>
            <a:off x="365760" y="6172200"/>
            <a:ext cx="11457432"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Tip · Wide-table screens like settlement and payroll are far easier to read with the menu collapsed.</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sidebar_rail.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979115"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306141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6141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363163"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Collapse</a:t>
            </a:r>
          </a:p>
        </p:txBody>
      </p:sp>
      <p:sp>
        <p:nvSpPr>
          <p:cNvPr id="26" name="TextBox 25"/>
          <p:cNvSpPr txBox="1"/>
          <p:nvPr/>
        </p:nvSpPr>
        <p:spPr>
          <a:xfrm>
            <a:off x="455005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732934" y="2670048"/>
            <a:ext cx="797356"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81523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1523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5116982" y="2670048"/>
            <a:ext cx="376732"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t>
            </a:r>
          </a:p>
        </p:txBody>
      </p:sp>
      <p:sp>
        <p:nvSpPr>
          <p:cNvPr id="31" name="TextBox 30"/>
          <p:cNvSpPr txBox="1"/>
          <p:nvPr/>
        </p:nvSpPr>
        <p:spPr>
          <a:xfrm>
            <a:off x="553029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5713171"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79546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79546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097219"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remembered…</a:t>
            </a:r>
          </a:p>
        </p:txBody>
      </p:sp>
      <p:sp>
        <p:nvSpPr>
          <p:cNvPr id="36" name="TextBox 35"/>
          <p:cNvSpPr txBox="1"/>
          <p:nvPr/>
        </p:nvSpPr>
        <p:spPr>
          <a:xfrm>
            <a:off x="737006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55294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63524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63524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793699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menu searc…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interface language sets itself</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Overseas staff and teachers start in English</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Filipino teachers and overseas staff now start in English from the first screen. The interface language is decided from the account's nationality, and teacher accounts are always English regardless of name or previous choice. You can still switch any time with the 🌐 EN / KR button at the top.</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116836"/>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If the account has a nationality on file, the right language appears automatically at login.</a:t>
            </a:r>
          </a:p>
          <a:p>
            <a:pPr>
              <a:lnSpc>
                <a:spcPct val="115000"/>
              </a:lnSpc>
              <a:spcAft>
                <a:spcPts val="300"/>
              </a:spcAft>
            </a:pPr>
            <a:r>
              <a:rPr sz="700" b="1">
                <a:solidFill>
                  <a:srgbClr val="E11D48"/>
                </a:solidFill>
                <a:latin typeface="Malgun Gothic"/>
              </a:rPr>
              <a:t>● </a:t>
            </a:r>
            <a:r>
              <a:rPr sz="900">
                <a:solidFill>
                  <a:srgbClr val="334155"/>
                </a:solidFill>
                <a:latin typeface="Malgun Gothic"/>
              </a:rPr>
              <a:t>To change it manually, press the 🌐 EN / KR button at the top.</a:t>
            </a:r>
          </a:p>
          <a:p>
            <a:pPr>
              <a:lnSpc>
                <a:spcPct val="115000"/>
              </a:lnSpc>
              <a:spcAft>
                <a:spcPts val="300"/>
              </a:spcAft>
            </a:pPr>
            <a:r>
              <a:rPr sz="700" b="1">
                <a:solidFill>
                  <a:srgbClr val="E11D48"/>
                </a:solidFill>
                <a:latin typeface="Malgun Gothic"/>
              </a:rPr>
              <a:t>● </a:t>
            </a:r>
            <a:r>
              <a:rPr sz="900">
                <a:solidFill>
                  <a:srgbClr val="334155"/>
                </a:solidFill>
                <a:latin typeface="Malgun Gothic"/>
              </a:rPr>
              <a:t>A manual choice is stored per account — several people can share one PC without interference.</a:t>
            </a:r>
          </a:p>
          <a:p>
            <a:pPr>
              <a:lnSpc>
                <a:spcPct val="115000"/>
              </a:lnSpc>
              <a:spcAft>
                <a:spcPts val="300"/>
              </a:spcAft>
            </a:pPr>
            <a:r>
              <a:rPr sz="700" b="1">
                <a:solidFill>
                  <a:srgbClr val="E11D48"/>
                </a:solidFill>
                <a:latin typeface="Malgun Gothic"/>
              </a:rPr>
              <a:t>● </a:t>
            </a:r>
            <a:r>
              <a:rPr sz="900">
                <a:solidFill>
                  <a:srgbClr val="334155"/>
                </a:solidFill>
                <a:latin typeface="Malgun Gothic"/>
              </a:rPr>
              <a:t>Teacher guide slides and manuals switch to the English editions with it.</a:t>
            </a:r>
          </a:p>
        </p:txBody>
      </p:sp>
      <p:sp>
        <p:nvSpPr>
          <p:cNvPr id="14" name="Rounded Rectangle 13"/>
          <p:cNvSpPr/>
          <p:nvPr/>
        </p:nvSpPr>
        <p:spPr>
          <a:xfrm>
            <a:off x="457200" y="5957316"/>
            <a:ext cx="5669280" cy="167358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003036"/>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249924"/>
            <a:ext cx="5394960" cy="1344396"/>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Teacher accounts are always English — no more getting lost in a Korean screen.</a:t>
            </a:r>
          </a:p>
          <a:p>
            <a:pPr>
              <a:lnSpc>
                <a:spcPct val="115000"/>
              </a:lnSpc>
              <a:spcAft>
                <a:spcPts val="100"/>
              </a:spcAft>
            </a:pPr>
            <a:r>
              <a:rPr sz="650" b="1">
                <a:solidFill>
                  <a:srgbClr val="E11D48"/>
                </a:solidFill>
                <a:latin typeface="Malgun Gothic"/>
              </a:rPr>
              <a:t>● </a:t>
            </a:r>
            <a:r>
              <a:rPr sz="850">
                <a:solidFill>
                  <a:srgbClr val="334155"/>
                </a:solidFill>
                <a:latin typeface="Malgun Gothic"/>
              </a:rPr>
              <a:t>Accounts with an English name no longer flip to Korean because of a Korean job title.</a:t>
            </a:r>
          </a:p>
          <a:p>
            <a:pPr>
              <a:lnSpc>
                <a:spcPct val="115000"/>
              </a:lnSpc>
              <a:spcAft>
                <a:spcPts val="100"/>
              </a:spcAft>
            </a:pPr>
            <a:r>
              <a:rPr sz="650" b="1">
                <a:solidFill>
                  <a:srgbClr val="E11D48"/>
                </a:solidFill>
                <a:latin typeface="Malgun Gothic"/>
              </a:rPr>
              <a:t>● </a:t>
            </a:r>
            <a:r>
              <a:rPr sz="850">
                <a:solidFill>
                  <a:srgbClr val="334155"/>
                </a:solidFill>
                <a:latin typeface="Malgun Gothic"/>
              </a:rPr>
              <a:t>Language choice is isolated per account, so an overseas account isn't overwritten by someone else's pick.</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Accounts with no nationality fall back to the old name/ID heuristic. Please fill in nationality when registering teachers.</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Enter nationality when registering a new teacher and their very first login is in English — fewer support requests.</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63530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1759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759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01934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nationalit…</a:t>
            </a:r>
          </a:p>
        </p:txBody>
      </p:sp>
      <p:sp>
        <p:nvSpPr>
          <p:cNvPr id="28" name="TextBox 27"/>
          <p:cNvSpPr txBox="1"/>
          <p:nvPr/>
        </p:nvSpPr>
        <p:spPr>
          <a:xfrm>
            <a:off x="429219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475073" y="2670048"/>
            <a:ext cx="148498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5736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5736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859121" y="2670048"/>
            <a:ext cx="106436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EN / KR</a:t>
            </a:r>
          </a:p>
        </p:txBody>
      </p:sp>
      <p:sp>
        <p:nvSpPr>
          <p:cNvPr id="33" name="TextBox 32"/>
          <p:cNvSpPr txBox="1"/>
          <p:nvPr/>
        </p:nvSpPr>
        <p:spPr>
          <a:xfrm>
            <a:off x="596005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14293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22523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2523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52698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per accoun…</a:t>
            </a:r>
          </a:p>
        </p:txBody>
      </p:sp>
      <p:sp>
        <p:nvSpPr>
          <p:cNvPr id="38" name="TextBox 37"/>
          <p:cNvSpPr txBox="1"/>
          <p:nvPr/>
        </p:nvSpPr>
        <p:spPr>
          <a:xfrm>
            <a:off x="7799831"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982711"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06500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6500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366759"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switch 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22</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Enrolment &amp; payment → automatic lesson creation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Once payment is confirmed, every session is scheduled</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On the Enrolment screen a student picks teacher, days and time and pays — and all lesson sessions are created automatically the moment payment is confirmed. The old manual timetable entry after payment is gone. If the slot clashes with an existing lesson, the conflict is detected before payment.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08437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Send students and parents the enrolment link.</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They choose teacher → lesson options (weekly count, term, length) → days &amp; time.</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 slot check must pass before the pay button unlocks (payment is blocked on a clash).</a:t>
            </a:r>
          </a:p>
          <a:p>
            <a:pPr>
              <a:lnSpc>
                <a:spcPct val="115000"/>
              </a:lnSpc>
              <a:spcAft>
                <a:spcPts val="300"/>
              </a:spcAft>
            </a:pPr>
            <a:r>
              <a:rPr sz="700" b="1">
                <a:solidFill>
                  <a:srgbClr val="E11D48"/>
                </a:solidFill>
                <a:latin typeface="Malgun Gothic"/>
              </a:rPr>
              <a:t>● </a:t>
            </a:r>
            <a:r>
              <a:rPr sz="900">
                <a:solidFill>
                  <a:srgbClr val="334155"/>
                </a:solidFill>
                <a:latin typeface="Malgun Gothic"/>
              </a:rPr>
              <a:t>On confirmed payment, all sessions are created at once — verify in the admin lesson list.</a:t>
            </a:r>
          </a:p>
          <a:p>
            <a:pPr>
              <a:lnSpc>
                <a:spcPct val="115000"/>
              </a:lnSpc>
              <a:spcAft>
                <a:spcPts val="300"/>
              </a:spcAft>
            </a:pPr>
            <a:r>
              <a:rPr sz="700" b="1">
                <a:solidFill>
                  <a:srgbClr val="E11D48"/>
                </a:solidFill>
                <a:latin typeface="Malgun Gothic"/>
              </a:rPr>
              <a:t>● </a:t>
            </a:r>
            <a:r>
              <a:rPr sz="900">
                <a:solidFill>
                  <a:srgbClr val="334155"/>
                </a:solidFill>
                <a:latin typeface="Malgun Gothic"/>
              </a:rPr>
              <a:t>Head-office prices and discount rates are managed on the pricing screen.</a:t>
            </a:r>
          </a:p>
        </p:txBody>
      </p:sp>
      <p:sp>
        <p:nvSpPr>
          <p:cNvPr id="14" name="Rounded Rectangle 13"/>
          <p:cNvSpPr/>
          <p:nvPr/>
        </p:nvSpPr>
        <p:spPr>
          <a:xfrm>
            <a:off x="457200" y="5924854"/>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97057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217462"/>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Idempotent — a duplicated payment callback will not create the sessions twice.</a:t>
            </a:r>
          </a:p>
          <a:p>
            <a:pPr>
              <a:lnSpc>
                <a:spcPct val="115000"/>
              </a:lnSpc>
              <a:spcAft>
                <a:spcPts val="100"/>
              </a:spcAft>
            </a:pPr>
            <a:r>
              <a:rPr sz="650" b="1">
                <a:solidFill>
                  <a:srgbClr val="E11D48"/>
                </a:solidFill>
                <a:latin typeface="Malgun Gothic"/>
              </a:rPr>
              <a:t>● </a:t>
            </a:r>
            <a:r>
              <a:rPr sz="850">
                <a:solidFill>
                  <a:srgbClr val="334155"/>
                </a:solidFill>
                <a:latin typeface="Malgun Gothic"/>
              </a:rPr>
              <a:t>Clashes with holidays or existing lessons are pushed back so the session count is still met.</a:t>
            </a:r>
          </a:p>
          <a:p>
            <a:pPr>
              <a:lnSpc>
                <a:spcPct val="115000"/>
              </a:lnSpc>
              <a:spcAft>
                <a:spcPts val="100"/>
              </a:spcAft>
            </a:pPr>
            <a:r>
              <a:rPr sz="650" b="1">
                <a:solidFill>
                  <a:srgbClr val="E11D48"/>
                </a:solidFill>
                <a:latin typeface="Malgun Gothic"/>
              </a:rPr>
              <a:t>● </a:t>
            </a:r>
            <a:r>
              <a:rPr sz="850">
                <a:solidFill>
                  <a:srgbClr val="334155"/>
                </a:solidFill>
                <a:latin typeface="Malgun Gothic"/>
              </a:rPr>
              <a:t>Term discounts (6 months −5%, 12 months −10%) are applied to the amount automatically.</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Stage 1 (enrol → pay → auto-create sessions) is live today. Later stages will follow.</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Consultation → level test → send the enrolment link is the smoothest conversion path.</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enroll.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36776"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71907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71907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020824"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enrolment…</a:t>
            </a:r>
          </a:p>
        </p:txBody>
      </p:sp>
      <p:sp>
        <p:nvSpPr>
          <p:cNvPr id="28" name="TextBox 27"/>
          <p:cNvSpPr txBox="1"/>
          <p:nvPr/>
        </p:nvSpPr>
        <p:spPr>
          <a:xfrm>
            <a:off x="320771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390595" y="2670048"/>
            <a:ext cx="164226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47289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728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774643" y="2670048"/>
            <a:ext cx="122163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teacher →…</a:t>
            </a:r>
          </a:p>
        </p:txBody>
      </p:sp>
      <p:sp>
        <p:nvSpPr>
          <p:cNvPr id="33" name="TextBox 32"/>
          <p:cNvSpPr txBox="1"/>
          <p:nvPr/>
        </p:nvSpPr>
        <p:spPr>
          <a:xfrm>
            <a:off x="503285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215737"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29803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9803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59978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slot check…</a:t>
            </a:r>
          </a:p>
        </p:txBody>
      </p:sp>
      <p:sp>
        <p:nvSpPr>
          <p:cNvPr id="38" name="TextBox 37"/>
          <p:cNvSpPr txBox="1"/>
          <p:nvPr/>
        </p:nvSpPr>
        <p:spPr>
          <a:xfrm>
            <a:off x="6872630"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05551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13780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780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43955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all sessio…</a:t>
            </a:r>
          </a:p>
        </p:txBody>
      </p:sp>
      <p:sp>
        <p:nvSpPr>
          <p:cNvPr id="43" name="TextBox 42"/>
          <p:cNvSpPr txBox="1"/>
          <p:nvPr/>
        </p:nvSpPr>
        <p:spPr>
          <a:xfrm>
            <a:off x="871240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889528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97757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7757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27933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pricing sc…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23</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Teacher Management, redesigned (roster filters · groups · detail tabs)</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Easy-to-search roster · detail at a glance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teacher-management screen is now easier to search and read. Scattered menus are grouped into four bundles in the sidebar, and above the roster there are status/group dropdown filters with applied-filter chips. Tapping a teacher opens a detail view split into Profile / Payroll / Evaluation tabs, with a manager badge and employment status (active / on-leave / left) shown at a glance.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244852"/>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Open Teachers in the admin menu (menus are tidied into four bundles).</a:t>
            </a:r>
          </a:p>
          <a:p>
            <a:pPr>
              <a:lnSpc>
                <a:spcPct val="115000"/>
              </a:lnSpc>
              <a:spcAft>
                <a:spcPts val="300"/>
              </a:spcAft>
            </a:pPr>
            <a:r>
              <a:rPr sz="700" b="1">
                <a:solidFill>
                  <a:srgbClr val="E11D48"/>
                </a:solidFill>
                <a:latin typeface="Malgun Gothic"/>
              </a:rPr>
              <a:t>● </a:t>
            </a:r>
            <a:r>
              <a:rPr sz="900">
                <a:solidFill>
                  <a:srgbClr val="334155"/>
                </a:solidFill>
                <a:latin typeface="Malgun Gothic"/>
              </a:rPr>
              <a:t>Filter to just the teachers you want with the status/group dropdowns above the roster.</a:t>
            </a:r>
          </a:p>
          <a:p>
            <a:pPr>
              <a:lnSpc>
                <a:spcPct val="115000"/>
              </a:lnSpc>
              <a:spcAft>
                <a:spcPts val="300"/>
              </a:spcAft>
            </a:pPr>
            <a:r>
              <a:rPr sz="700" b="1">
                <a:solidFill>
                  <a:srgbClr val="E11D48"/>
                </a:solidFill>
                <a:latin typeface="Malgun Gothic"/>
              </a:rPr>
              <a:t>● </a:t>
            </a:r>
            <a:r>
              <a:rPr sz="900">
                <a:solidFill>
                  <a:srgbClr val="334155"/>
                </a:solidFill>
                <a:latin typeface="Malgun Gothic"/>
              </a:rPr>
              <a:t>Applied filters show as chips; remove a chip to clear it.</a:t>
            </a:r>
          </a:p>
          <a:p>
            <a:pPr>
              <a:lnSpc>
                <a:spcPct val="115000"/>
              </a:lnSpc>
              <a:spcAft>
                <a:spcPts val="300"/>
              </a:spcAft>
            </a:pPr>
            <a:r>
              <a:rPr sz="700" b="1">
                <a:solidFill>
                  <a:srgbClr val="E11D48"/>
                </a:solidFill>
                <a:latin typeface="Malgun Gothic"/>
              </a:rPr>
              <a:t>● </a:t>
            </a:r>
            <a:r>
              <a:rPr sz="900">
                <a:solidFill>
                  <a:srgbClr val="334155"/>
                </a:solidFill>
                <a:latin typeface="Malgun Gothic"/>
              </a:rPr>
              <a:t>Tap a teacher to open the Profile / Payroll / Evaluation detail tabs.</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 summary numbers on the payroll/evaluation tabs load only as needed when opened.</a:t>
            </a:r>
          </a:p>
        </p:txBody>
      </p:sp>
      <p:sp>
        <p:nvSpPr>
          <p:cNvPr id="14" name="Rounded Rectangle 13"/>
          <p:cNvSpPr/>
          <p:nvPr/>
        </p:nvSpPr>
        <p:spPr>
          <a:xfrm>
            <a:off x="457200" y="6085332"/>
            <a:ext cx="5669280" cy="190743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131052"/>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377940"/>
            <a:ext cx="5394960" cy="157825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Managers are marked with a badge, and status shows as active / on-leave / left (3 states).</a:t>
            </a:r>
          </a:p>
          <a:p>
            <a:pPr>
              <a:lnSpc>
                <a:spcPct val="115000"/>
              </a:lnSpc>
              <a:spcAft>
                <a:spcPts val="100"/>
              </a:spcAft>
            </a:pPr>
            <a:r>
              <a:rPr sz="650" b="1">
                <a:solidFill>
                  <a:srgbClr val="E11D48"/>
                </a:solidFill>
                <a:latin typeface="Malgun Gothic"/>
              </a:rPr>
              <a:t>● </a:t>
            </a:r>
            <a:r>
              <a:rPr sz="850">
                <a:solidFill>
                  <a:srgbClr val="334155"/>
                </a:solidFill>
                <a:latin typeface="Malgun Gothic"/>
              </a:rPr>
              <a:t>A blank name falls back to the ID, so there are no empty cells.</a:t>
            </a:r>
          </a:p>
          <a:p>
            <a:pPr>
              <a:lnSpc>
                <a:spcPct val="115000"/>
              </a:lnSpc>
              <a:spcAft>
                <a:spcPts val="100"/>
              </a:spcAft>
            </a:pPr>
            <a:r>
              <a:rPr sz="650" b="1">
                <a:solidFill>
                  <a:srgbClr val="E11D48"/>
                </a:solidFill>
                <a:latin typeface="Malgun Gothic"/>
              </a:rPr>
              <a:t>● </a:t>
            </a:r>
            <a:r>
              <a:rPr sz="850">
                <a:solidFill>
                  <a:srgbClr val="334155"/>
                </a:solidFill>
                <a:latin typeface="Malgun Gothic"/>
              </a:rPr>
              <a:t>Detail tabs reuse existing APIs for speed, and the screen is bilingual (KO/EN).</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duplicate payroll entry was tidied and bug reports moved to a separate system.</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This is a filtering/detail cleanup. Registering, editing and deleting teachers works exactly as before.</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The more teachers you have, the more the status/group filters help. Keep your usual conditions filtered.</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teachers.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087575" y="2670048"/>
            <a:ext cx="13277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16987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16987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471623" y="2670048"/>
            <a:ext cx="9070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Teachers</a:t>
            </a:r>
          </a:p>
        </p:txBody>
      </p:sp>
      <p:sp>
        <p:nvSpPr>
          <p:cNvPr id="28" name="TextBox 27"/>
          <p:cNvSpPr txBox="1"/>
          <p:nvPr/>
        </p:nvSpPr>
        <p:spPr>
          <a:xfrm>
            <a:off x="341528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59816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68046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804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398221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status/gro…</a:t>
            </a:r>
          </a:p>
        </p:txBody>
      </p:sp>
      <p:sp>
        <p:nvSpPr>
          <p:cNvPr id="33" name="TextBox 32"/>
          <p:cNvSpPr txBox="1"/>
          <p:nvPr/>
        </p:nvSpPr>
        <p:spPr>
          <a:xfrm>
            <a:off x="525505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437936" y="2670048"/>
            <a:ext cx="106984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52023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52023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821984" y="2670048"/>
            <a:ext cx="64922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chips</a:t>
            </a:r>
          </a:p>
        </p:txBody>
      </p:sp>
      <p:sp>
        <p:nvSpPr>
          <p:cNvPr id="38" name="TextBox 37"/>
          <p:cNvSpPr txBox="1"/>
          <p:nvPr/>
        </p:nvSpPr>
        <p:spPr>
          <a:xfrm>
            <a:off x="650778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6690664"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77296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7296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074712"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Profile /…</a:t>
            </a:r>
          </a:p>
        </p:txBody>
      </p:sp>
      <p:sp>
        <p:nvSpPr>
          <p:cNvPr id="43" name="TextBox 42"/>
          <p:cNvSpPr txBox="1"/>
          <p:nvPr/>
        </p:nvSpPr>
        <p:spPr>
          <a:xfrm>
            <a:off x="826160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844448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52678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52678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882853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summary 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24</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Sending the Parent Monthly Report (pentagon)</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Preview the 5-axis report, then share the link</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monthly report sent to parents is renewed as a pentagon 5-axis graph — Pronunciation &amp; Fluency / Vocabulary / Sentence Building / Class Attitude / Participation — at a glance, with attendance, judgment and a teacher's note. Admins and teachers enter a student ID and month to preview, then send the KakaoTalk link.</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63540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Open the Monthly Report screen.</a:t>
            </a:r>
          </a:p>
          <a:p>
            <a:pPr>
              <a:lnSpc>
                <a:spcPct val="115000"/>
              </a:lnSpc>
              <a:spcAft>
                <a:spcPts val="300"/>
              </a:spcAft>
            </a:pPr>
            <a:r>
              <a:rPr sz="700" b="1">
                <a:solidFill>
                  <a:srgbClr val="E11D48"/>
                </a:solidFill>
                <a:latin typeface="Malgun Gothic"/>
              </a:rPr>
              <a:t>● </a:t>
            </a:r>
            <a:r>
              <a:rPr sz="900">
                <a:solidFill>
                  <a:srgbClr val="334155"/>
                </a:solidFill>
                <a:latin typeface="Malgun Gothic"/>
              </a:rPr>
              <a:t>Enter a student ID and month, press View Report to preview.</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the pentagon and teacher's note; top up evaluations if needed.</a:t>
            </a:r>
          </a:p>
          <a:p>
            <a:pPr>
              <a:lnSpc>
                <a:spcPct val="115000"/>
              </a:lnSpc>
              <a:spcAft>
                <a:spcPts val="300"/>
              </a:spcAft>
            </a:pPr>
            <a:r>
              <a:rPr sz="700" b="1">
                <a:solidFill>
                  <a:srgbClr val="E11D48"/>
                </a:solidFill>
                <a:latin typeface="Malgun Gothic"/>
              </a:rPr>
              <a:t>● </a:t>
            </a:r>
            <a:r>
              <a:rPr sz="900">
                <a:solidFill>
                  <a:srgbClr val="334155"/>
                </a:solidFill>
                <a:latin typeface="Malgun Gothic"/>
              </a:rPr>
              <a:t>Append ?uid=ID&amp;period=YYYY-MM to the URL and send the KakaoTalk link.</a:t>
            </a:r>
          </a:p>
        </p:txBody>
      </p:sp>
      <p:sp>
        <p:nvSpPr>
          <p:cNvPr id="14" name="Rounded Rectangle 13"/>
          <p:cNvSpPr/>
          <p:nvPr/>
        </p:nvSpPr>
        <p:spPr>
          <a:xfrm>
            <a:off x="457200" y="5475884"/>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52160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768492"/>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Only axes with real records are filled, so it's trustworthy.</a:t>
            </a:r>
          </a:p>
          <a:p>
            <a:pPr>
              <a:lnSpc>
                <a:spcPct val="115000"/>
              </a:lnSpc>
              <a:spcAft>
                <a:spcPts val="100"/>
              </a:spcAft>
            </a:pPr>
            <a:r>
              <a:rPr sz="650" b="1">
                <a:solidFill>
                  <a:srgbClr val="E11D48"/>
                </a:solidFill>
                <a:latin typeface="Malgun Gothic"/>
              </a:rPr>
              <a:t>● </a:t>
            </a:r>
            <a:r>
              <a:rPr sz="850">
                <a:solidFill>
                  <a:srgbClr val="334155"/>
                </a:solidFill>
                <a:latin typeface="Malgun Gothic"/>
              </a:rPr>
              <a:t>Compiled on a two-month cycle — conveys change without tiring parents.</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Print/PDF button makes a paper report for consultations instantly.</a:t>
            </a:r>
          </a:p>
        </p:txBody>
      </p:sp>
      <p:sp>
        <p:nvSpPr>
          <p:cNvPr id="17" name="Rounded Rectangle 16"/>
          <p:cNvSpPr/>
          <p:nvPr/>
        </p:nvSpPr>
        <p:spPr>
          <a:xfrm>
            <a:off x="365760" y="6021324"/>
            <a:ext cx="5646420" cy="672084"/>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067044"/>
            <a:ext cx="5372100" cy="580644"/>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Report access passes an approval gate — admins via their login session, parents only via the issued link (token).</a:t>
            </a:r>
          </a:p>
        </p:txBody>
      </p:sp>
      <p:sp>
        <p:nvSpPr>
          <p:cNvPr id="19" name="Rounded Rectangle 18"/>
          <p:cNvSpPr/>
          <p:nvPr/>
        </p:nvSpPr>
        <p:spPr>
          <a:xfrm>
            <a:off x="6176772" y="6021324"/>
            <a:ext cx="5646420" cy="672084"/>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6067044"/>
            <a:ext cx="5372100" cy="580644"/>
          </a:xfrm>
          <a:prstGeom prst="rect">
            <a:avLst/>
          </a:prstGeom>
          <a:noFill/>
        </p:spPr>
        <p:txBody>
          <a:bodyPr wrap="square" anchor="t">
            <a:spAutoFit/>
          </a:bodyPr>
          <a:lstStyle/>
          <a:p>
            <a:pPr algn="l">
              <a:lnSpc>
                <a:spcPct val="100000"/>
              </a:lnSpc>
            </a:pPr>
            <a:r>
              <a:rPr sz="950" b="0">
                <a:solidFill>
                  <a:srgbClr val="5B4A2A"/>
                </a:solidFill>
                <a:latin typeface="Malgun Gothic"/>
              </a:rPr>
              <a:t>💡 Tip · Sending the report link ahead of a booked consultation makes the meeting much smoother.</a:t>
            </a:r>
          </a:p>
        </p:txBody>
      </p:sp>
      <p:sp>
        <p:nvSpPr>
          <p:cNvPr id="21" name="Rectangle 20"/>
          <p:cNvSpPr/>
          <p:nvPr/>
        </p:nvSpPr>
        <p:spPr>
          <a:xfrm>
            <a:off x="6976872" y="3255264"/>
            <a:ext cx="4242816" cy="26929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7031736" y="3310128"/>
            <a:ext cx="4133088" cy="258318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627985"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71028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028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01203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Monthly Re…</a:t>
            </a:r>
          </a:p>
        </p:txBody>
      </p:sp>
      <p:sp>
        <p:nvSpPr>
          <p:cNvPr id="28" name="TextBox 27"/>
          <p:cNvSpPr txBox="1"/>
          <p:nvPr/>
        </p:nvSpPr>
        <p:spPr>
          <a:xfrm>
            <a:off x="428487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467758"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5005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5005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851806"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student ID</a:t>
            </a:r>
          </a:p>
        </p:txBody>
      </p:sp>
      <p:sp>
        <p:nvSpPr>
          <p:cNvPr id="33" name="TextBox 32"/>
          <p:cNvSpPr txBox="1"/>
          <p:nvPr/>
        </p:nvSpPr>
        <p:spPr>
          <a:xfrm>
            <a:off x="596737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150254" y="2670048"/>
            <a:ext cx="1570939"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23255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3255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534302" y="2670048"/>
            <a:ext cx="1150315"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Check the…</a:t>
            </a:r>
          </a:p>
        </p:txBody>
      </p:sp>
      <p:sp>
        <p:nvSpPr>
          <p:cNvPr id="38" name="TextBox 37"/>
          <p:cNvSpPr txBox="1"/>
          <p:nvPr/>
        </p:nvSpPr>
        <p:spPr>
          <a:xfrm>
            <a:off x="772119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790407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98636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8636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28812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?uid=ID&amp;pe…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25</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Parent Weekly Report (the re-enrolment lever)</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Deliver the proof of growth competitors cannot show</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A report sent to parents containing the child's week of activity (attendance, AI friend chats, judgment training, words conquered, pronunciation). The purpose is explicit — deliver the proof of growth competitors cannot show, every week, and convert it into re-enrolment. The admin screen covers preview → test send → recipient count → send log.</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2405329"/>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Open 📅 Parent Weekly Report in the admin menu.</a:t>
            </a:r>
          </a:p>
          <a:p>
            <a:pPr>
              <a:lnSpc>
                <a:spcPct val="115000"/>
              </a:lnSpc>
              <a:spcAft>
                <a:spcPts val="300"/>
              </a:spcAft>
            </a:pPr>
            <a:r>
              <a:rPr sz="700" b="1">
                <a:solidFill>
                  <a:srgbClr val="E11D48"/>
                </a:solidFill>
                <a:latin typeface="Malgun Gothic"/>
              </a:rPr>
              <a:t>● </a:t>
            </a:r>
            <a:r>
              <a:rPr sz="900">
                <a:solidFill>
                  <a:srgbClr val="334155"/>
                </a:solidFill>
                <a:latin typeface="Malgun Gothic"/>
              </a:rPr>
              <a:t>Enter a student ID and press Preview to check the content.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If needed, use Send to this parent to test with a single recipient.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Use Count recipients to see how many students can receive it (those with a registered phone number).</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Recent send log for what actually went out.</a:t>
            </a:r>
          </a:p>
        </p:txBody>
      </p:sp>
      <p:sp>
        <p:nvSpPr>
          <p:cNvPr id="14" name="Rounded Rectangle 13"/>
          <p:cNvSpPr/>
          <p:nvPr/>
        </p:nvSpPr>
        <p:spPr>
          <a:xfrm>
            <a:off x="457200" y="6245809"/>
            <a:ext cx="5669280" cy="1825142"/>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6291529"/>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6538417"/>
            <a:ext cx="5394960" cy="1495958"/>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What the report contains: 📅 attendance days · 🔥 streak · 🤖 AI chats · 📚 words conquered · 🧠 judgment · 🎤 pronunciation.</a:t>
            </a:r>
          </a:p>
          <a:p>
            <a:pPr>
              <a:lnSpc>
                <a:spcPct val="115000"/>
              </a:lnSpc>
              <a:spcAft>
                <a:spcPts val="100"/>
              </a:spcAft>
            </a:pPr>
            <a:r>
              <a:rPr sz="650" b="1">
                <a:solidFill>
                  <a:srgbClr val="E11D48"/>
                </a:solidFill>
                <a:latin typeface="Malgun Gothic"/>
              </a:rPr>
              <a:t>● </a:t>
            </a:r>
            <a:r>
              <a:rPr sz="850">
                <a:solidFill>
                  <a:srgbClr val="334155"/>
                </a:solidFill>
                <a:latin typeface="Malgun Gothic"/>
              </a:rPr>
              <a:t>Only students with a registered phone number can receive it — the count screen also reports how many are missing one.</a:t>
            </a:r>
          </a:p>
          <a:p>
            <a:pPr>
              <a:lnSpc>
                <a:spcPct val="115000"/>
              </a:lnSpc>
              <a:spcAft>
                <a:spcPts val="100"/>
              </a:spcAft>
            </a:pPr>
            <a:r>
              <a:rPr sz="650" b="1">
                <a:solidFill>
                  <a:srgbClr val="E11D48"/>
                </a:solidFill>
                <a:latin typeface="Malgun Gothic"/>
              </a:rPr>
              <a:t>● </a:t>
            </a:r>
            <a:r>
              <a:rPr sz="850">
                <a:solidFill>
                  <a:srgbClr val="334155"/>
                </a:solidFill>
                <a:latin typeface="Malgun Gothic"/>
              </a:rPr>
              <a:t>A Friday-evening automatic send (cron) is prepared and ready.</a:t>
            </a:r>
          </a:p>
        </p:txBody>
      </p:sp>
      <p:sp>
        <p:nvSpPr>
          <p:cNvPr id="17" name="Rounded Rectangle 16"/>
          <p:cNvSpPr/>
          <p:nvPr/>
        </p:nvSpPr>
        <p:spPr>
          <a:xfrm>
            <a:off x="365760" y="5504688"/>
            <a:ext cx="5646420" cy="118872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550408"/>
            <a:ext cx="5372100" cy="109728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 The full automatic send is OFF by default. Real messages only go out after an admin turns on the KV switch — a safeguard against accidentally messaging 29,000 people. Turn it on only after the alert-talk template is approved and management has decided.</a:t>
            </a:r>
          </a:p>
        </p:txBody>
      </p:sp>
      <p:sp>
        <p:nvSpPr>
          <p:cNvPr id="19" name="Rounded Rectangle 18"/>
          <p:cNvSpPr/>
          <p:nvPr/>
        </p:nvSpPr>
        <p:spPr>
          <a:xfrm>
            <a:off x="6176772" y="5504688"/>
            <a:ext cx="5646420" cy="118872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550408"/>
            <a:ext cx="5372100" cy="1097280"/>
          </a:xfrm>
          <a:prstGeom prst="rect">
            <a:avLst/>
          </a:prstGeom>
          <a:noFill/>
        </p:spPr>
        <p:txBody>
          <a:bodyPr wrap="square" anchor="t">
            <a:spAutoFit/>
          </a:bodyPr>
          <a:lstStyle/>
          <a:p>
            <a:pPr algn="l">
              <a:lnSpc>
                <a:spcPct val="100000"/>
              </a:lnSpc>
            </a:pPr>
            <a:r>
              <a:rPr sz="950" b="0">
                <a:solidFill>
                  <a:srgbClr val="5B4A2A"/>
                </a:solidFill>
                <a:latin typeface="Malgun Gothic"/>
              </a:rPr>
              <a:t>💡 Tip · Start with preview → a single test send only. Once the wording is settled, then turn on the full switch.</a:t>
            </a:r>
          </a:p>
        </p:txBody>
      </p:sp>
      <p:sp>
        <p:nvSpPr>
          <p:cNvPr id="21" name="Rectangle 20"/>
          <p:cNvSpPr/>
          <p:nvPr/>
        </p:nvSpPr>
        <p:spPr>
          <a:xfrm>
            <a:off x="7360919" y="3255264"/>
            <a:ext cx="3474720" cy="221284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parent_weekly.jpg"/>
          <p:cNvPicPr>
            <a:picLocks noChangeAspect="1"/>
          </p:cNvPicPr>
          <p:nvPr/>
        </p:nvPicPr>
        <p:blipFill>
          <a:blip r:embed="rId2"/>
          <a:stretch>
            <a:fillRect/>
          </a:stretch>
        </p:blipFill>
        <p:spPr>
          <a:xfrm>
            <a:off x="7415783" y="3310128"/>
            <a:ext cx="3364991" cy="2103120"/>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758391" y="2670048"/>
            <a:ext cx="17282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40687"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840687"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142439"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 Parent W…</a:t>
            </a:r>
          </a:p>
        </p:txBody>
      </p:sp>
      <p:sp>
        <p:nvSpPr>
          <p:cNvPr id="28" name="TextBox 27"/>
          <p:cNvSpPr txBox="1"/>
          <p:nvPr/>
        </p:nvSpPr>
        <p:spPr>
          <a:xfrm>
            <a:off x="3486607"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3669487"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75178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5178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053535"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Preview</a:t>
            </a:r>
          </a:p>
        </p:txBody>
      </p:sp>
      <p:sp>
        <p:nvSpPr>
          <p:cNvPr id="33" name="TextBox 32"/>
          <p:cNvSpPr txBox="1"/>
          <p:nvPr/>
        </p:nvSpPr>
        <p:spPr>
          <a:xfrm>
            <a:off x="491124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509412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17641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7641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547817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Send to th…</a:t>
            </a:r>
          </a:p>
        </p:txBody>
      </p:sp>
      <p:sp>
        <p:nvSpPr>
          <p:cNvPr id="38" name="TextBox 37"/>
          <p:cNvSpPr txBox="1"/>
          <p:nvPr/>
        </p:nvSpPr>
        <p:spPr>
          <a:xfrm>
            <a:off x="675101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6933895"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01619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1619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7317943"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Count reci…</a:t>
            </a:r>
          </a:p>
        </p:txBody>
      </p:sp>
      <p:sp>
        <p:nvSpPr>
          <p:cNvPr id="43" name="TextBox 42"/>
          <p:cNvSpPr txBox="1"/>
          <p:nvPr/>
        </p:nvSpPr>
        <p:spPr>
          <a:xfrm>
            <a:off x="859078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44" name="Rounded Rectangle 43"/>
          <p:cNvSpPr/>
          <p:nvPr/>
        </p:nvSpPr>
        <p:spPr>
          <a:xfrm>
            <a:off x="8773667"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855963"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855963"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5</a:t>
            </a:r>
          </a:p>
        </p:txBody>
      </p:sp>
      <p:sp>
        <p:nvSpPr>
          <p:cNvPr id="47" name="TextBox 46"/>
          <p:cNvSpPr txBox="1"/>
          <p:nvPr/>
        </p:nvSpPr>
        <p:spPr>
          <a:xfrm>
            <a:off x="9157715"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Recent sen…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26</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Home Screen Split (first-time parent vs. existing member)</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Fewer 'how do I start?' calls, more trial sign-ups</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first screen of the site (the hero) now shows one of two versions depending on who is looking. A first-time parent sees &lt;b&gt;Book a Free Trial&lt;/b&gt; as the biggest button; a logged-in member sees &lt;b&gt;Enter Class&lt;/b&gt;. We checked four competitors directly (Cambly Kids, Min Byung-chul UPhone, Engoo, Ringle) and all four lead with a new-customer call to action — this change follows that evidence.</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79588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Open the home URL in a private/incognito window to see the guest screen.</a:t>
            </a:r>
          </a:p>
          <a:p>
            <a:pPr>
              <a:lnSpc>
                <a:spcPct val="115000"/>
              </a:lnSpc>
              <a:spcAft>
                <a:spcPts val="300"/>
              </a:spcAft>
            </a:pPr>
            <a:r>
              <a:rPr sz="700" b="1">
                <a:solidFill>
                  <a:srgbClr val="E11D48"/>
                </a:solidFill>
                <a:latin typeface="Malgun Gothic"/>
              </a:rPr>
              <a:t>● </a:t>
            </a:r>
            <a:r>
              <a:rPr sz="900">
                <a:solidFill>
                  <a:srgbClr val="334155"/>
                </a:solidFill>
                <a:latin typeface="Malgun Gothic"/>
              </a:rPr>
              <a:t>Confirm the two large buttons: Book a Free Trial · Browse Teachers.</a:t>
            </a:r>
          </a:p>
          <a:p>
            <a:pPr>
              <a:lnSpc>
                <a:spcPct val="115000"/>
              </a:lnSpc>
              <a:spcAft>
                <a:spcPts val="300"/>
              </a:spcAft>
            </a:pPr>
            <a:r>
              <a:rPr sz="700" b="1">
                <a:solidFill>
                  <a:srgbClr val="E11D48"/>
                </a:solidFill>
                <a:latin typeface="Malgun Gothic"/>
              </a:rPr>
              <a:t>● </a:t>
            </a:r>
            <a:r>
              <a:rPr sz="900">
                <a:solidFill>
                  <a:srgbClr val="334155"/>
                </a:solidFill>
                <a:latin typeface="Malgun Gothic"/>
              </a:rPr>
              <a:t>Log in and open the same page — it becomes Enter Class · Chat with AI.</a:t>
            </a:r>
          </a:p>
          <a:p>
            <a:pPr>
              <a:lnSpc>
                <a:spcPct val="115000"/>
              </a:lnSpc>
              <a:spcAft>
                <a:spcPts val="300"/>
              </a:spcAft>
            </a:pPr>
            <a:r>
              <a:rPr sz="700" b="1">
                <a:solidFill>
                  <a:srgbClr val="E11D48"/>
                </a:solidFill>
                <a:latin typeface="Malgun Gothic"/>
              </a:rPr>
              <a:t>● </a:t>
            </a:r>
            <a:r>
              <a:rPr sz="900">
                <a:solidFill>
                  <a:srgbClr val="334155"/>
                </a:solidFill>
                <a:latin typeface="Malgun Gothic"/>
              </a:rPr>
              <a:t>Use the plain home URL in flyers and text messages — no separate landing page is needed.</a:t>
            </a:r>
          </a:p>
        </p:txBody>
      </p:sp>
      <p:sp>
        <p:nvSpPr>
          <p:cNvPr id="14" name="Rounded Rectangle 13"/>
          <p:cNvSpPr/>
          <p:nvPr/>
        </p:nvSpPr>
        <p:spPr>
          <a:xfrm>
            <a:off x="457200" y="5636361"/>
            <a:ext cx="5669280" cy="2362123"/>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8208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928969"/>
            <a:ext cx="5394960" cy="2032939"/>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No new page was created. The same URL decides for itself based on login state.</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guest screen still keeps a small 'Enter Class' link — this prevents an existing student who changed devices or was logged out from being locked out of class.</a:t>
            </a:r>
          </a:p>
          <a:p>
            <a:pPr>
              <a:lnSpc>
                <a:spcPct val="115000"/>
              </a:lnSpc>
              <a:spcAft>
                <a:spcPts val="100"/>
              </a:spcAft>
            </a:pPr>
            <a:r>
              <a:rPr sz="650" b="1">
                <a:solidFill>
                  <a:srgbClr val="E11D48"/>
                </a:solidFill>
                <a:latin typeface="Malgun Gothic"/>
              </a:rPr>
              <a:t>● </a:t>
            </a:r>
            <a:r>
              <a:rPr sz="850">
                <a:solidFill>
                  <a:srgbClr val="334155"/>
                </a:solidFill>
                <a:latin typeface="Malgun Gothic"/>
              </a:rPr>
              <a:t>If the check fails for any reason, it always falls back to the guest screen — the page is never blank.</a:t>
            </a:r>
          </a:p>
          <a:p>
            <a:pPr>
              <a:lnSpc>
                <a:spcPct val="115000"/>
              </a:lnSpc>
              <a:spcAft>
                <a:spcPts val="100"/>
              </a:spcAft>
            </a:pPr>
            <a:r>
              <a:rPr sz="650" b="1">
                <a:solidFill>
                  <a:srgbClr val="E11D48"/>
                </a:solidFill>
                <a:latin typeface="Malgun Gothic"/>
              </a:rPr>
              <a:t>● </a:t>
            </a:r>
            <a:r>
              <a:rPr sz="850">
                <a:solidFill>
                  <a:srgbClr val="334155"/>
                </a:solidFill>
                <a:latin typeface="Malgun Gothic"/>
              </a:rPr>
              <a:t>No flicker. The decision is made before the page paints.</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Never remove the small 'Enter Class' link on the guest screen. Existing members also land there when their login expires (30 days) or they switch devices.</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To see what a parent sees, open the home page in an incognito window — that is the exact first impression.</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home.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50637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8866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886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89041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home URL i…</a:t>
            </a:r>
          </a:p>
        </p:txBody>
      </p:sp>
      <p:sp>
        <p:nvSpPr>
          <p:cNvPr id="28" name="TextBox 27"/>
          <p:cNvSpPr txBox="1"/>
          <p:nvPr/>
        </p:nvSpPr>
        <p:spPr>
          <a:xfrm>
            <a:off x="416326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34614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2843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84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73019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Book a Fre…</a:t>
            </a:r>
          </a:p>
        </p:txBody>
      </p:sp>
      <p:sp>
        <p:nvSpPr>
          <p:cNvPr id="33" name="TextBox 32"/>
          <p:cNvSpPr txBox="1"/>
          <p:nvPr/>
        </p:nvSpPr>
        <p:spPr>
          <a:xfrm>
            <a:off x="600303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18591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26821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82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56996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Enter Clas…</a:t>
            </a:r>
          </a:p>
        </p:txBody>
      </p:sp>
      <p:sp>
        <p:nvSpPr>
          <p:cNvPr id="38" name="TextBox 37"/>
          <p:cNvSpPr txBox="1"/>
          <p:nvPr/>
        </p:nvSpPr>
        <p:spPr>
          <a:xfrm>
            <a:off x="78428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025688"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1079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79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40973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plain home…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27</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The Admin Screen Is Much Faster Now</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The freeze after clicking is gone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We removed the brief freeze that happened whenever you clicked something in the admin screen. The cause was not the feature you clicked — a readability-enhancement routine was recalculating every collapsed card each time. It now skips collapsed cards and never re-touches what it has already processed.</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18643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Use the admin screen as usual.</a:t>
            </a:r>
          </a:p>
          <a:p>
            <a:pPr>
              <a:lnSpc>
                <a:spcPct val="115000"/>
              </a:lnSpc>
              <a:spcAft>
                <a:spcPts val="300"/>
              </a:spcAft>
            </a:pPr>
            <a:r>
              <a:rPr sz="700" b="1">
                <a:solidFill>
                  <a:srgbClr val="E11D48"/>
                </a:solidFill>
                <a:latin typeface="Malgun Gothic"/>
              </a:rPr>
              <a:t>● </a:t>
            </a:r>
            <a:r>
              <a:rPr sz="900">
                <a:solidFill>
                  <a:srgbClr val="334155"/>
                </a:solidFill>
                <a:latin typeface="Malgun Gothic"/>
              </a:rPr>
              <a:t>Check that menus and cards open immediately, with no freeze.</a:t>
            </a:r>
          </a:p>
          <a:p>
            <a:pPr>
              <a:lnSpc>
                <a:spcPct val="115000"/>
              </a:lnSpc>
              <a:spcAft>
                <a:spcPts val="300"/>
              </a:spcAft>
            </a:pPr>
            <a:r>
              <a:rPr sz="700" b="1">
                <a:solidFill>
                  <a:srgbClr val="E11D48"/>
                </a:solidFill>
                <a:latin typeface="Malgun Gothic"/>
              </a:rPr>
              <a:t>● </a:t>
            </a:r>
            <a:r>
              <a:rPr sz="900">
                <a:solidFill>
                  <a:srgbClr val="334155"/>
                </a:solidFill>
                <a:latin typeface="Malgun Gothic"/>
              </a:rPr>
              <a:t>If it still feels slow, do a hard refresh (Ctrl+F5) in the browser.</a:t>
            </a:r>
          </a:p>
        </p:txBody>
      </p:sp>
      <p:sp>
        <p:nvSpPr>
          <p:cNvPr id="14" name="Rounded Rectangle 13"/>
          <p:cNvSpPr/>
          <p:nvPr/>
        </p:nvSpPr>
        <p:spPr>
          <a:xfrm>
            <a:off x="457200" y="5026914"/>
            <a:ext cx="5669280" cy="1522018"/>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07263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319522"/>
            <a:ext cx="5394960" cy="1192834"/>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Freeze on click dropped 396ms → 57ms; idle load dropped 366ms → 0ms.</a:t>
            </a:r>
          </a:p>
          <a:p>
            <a:pPr>
              <a:lnSpc>
                <a:spcPct val="115000"/>
              </a:lnSpc>
              <a:spcAft>
                <a:spcPts val="100"/>
              </a:spcAft>
            </a:pPr>
            <a:r>
              <a:rPr sz="650" b="1">
                <a:solidFill>
                  <a:srgbClr val="E11D48"/>
                </a:solidFill>
                <a:latin typeface="Malgun Gothic"/>
              </a:rPr>
              <a:t>● </a:t>
            </a:r>
            <a:r>
              <a:rPr sz="850">
                <a:solidFill>
                  <a:srgbClr val="334155"/>
                </a:solidFill>
                <a:latin typeface="Malgun Gothic"/>
              </a:rPr>
              <a:t>Nothing about the look or colours changed — only the speed.</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difference is largest on card-heavy screens (teacher and student lists).</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If your browser still holds an old copy of the page you may not feel the improvement. Do one hard refresh (Ctrl+F5).</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If it is still slow, check whether too many browser tabs are open.</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admin_dashboard.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42625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50855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0855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81030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Use the ad…</a:t>
            </a:r>
          </a:p>
        </p:txBody>
      </p:sp>
      <p:sp>
        <p:nvSpPr>
          <p:cNvPr id="28" name="TextBox 27"/>
          <p:cNvSpPr txBox="1"/>
          <p:nvPr/>
        </p:nvSpPr>
        <p:spPr>
          <a:xfrm>
            <a:off x="508314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526602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34832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4832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65007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open immed…</a:t>
            </a:r>
          </a:p>
        </p:txBody>
      </p:sp>
      <p:sp>
        <p:nvSpPr>
          <p:cNvPr id="33" name="TextBox 32"/>
          <p:cNvSpPr txBox="1"/>
          <p:nvPr/>
        </p:nvSpPr>
        <p:spPr>
          <a:xfrm>
            <a:off x="692292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710580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18809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18809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48985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hard refre…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28</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Academy Search Box (find it by name)</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No more scrolling the whole list</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academy (branch/agency) list now has a search box so you can find one by typing its name. No more scrolling up and down a long list.</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63540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Open the academy list screen in the admin menu.</a:t>
            </a:r>
          </a:p>
          <a:p>
            <a:pPr>
              <a:lnSpc>
                <a:spcPct val="115000"/>
              </a:lnSpc>
              <a:spcAft>
                <a:spcPts val="300"/>
              </a:spcAft>
            </a:pPr>
            <a:r>
              <a:rPr sz="700" b="1">
                <a:solidFill>
                  <a:srgbClr val="E11D48"/>
                </a:solidFill>
                <a:latin typeface="Malgun Gothic"/>
              </a:rPr>
              <a:t>● </a:t>
            </a:r>
            <a:r>
              <a:rPr sz="900">
                <a:solidFill>
                  <a:srgbClr val="334155"/>
                </a:solidFill>
                <a:latin typeface="Malgun Gothic"/>
              </a:rPr>
              <a:t>Type part of an academy name into the search box above the list.</a:t>
            </a:r>
          </a:p>
          <a:p>
            <a:pPr>
              <a:lnSpc>
                <a:spcPct val="115000"/>
              </a:lnSpc>
              <a:spcAft>
                <a:spcPts val="300"/>
              </a:spcAft>
            </a:pPr>
            <a:r>
              <a:rPr sz="700" b="1">
                <a:solidFill>
                  <a:srgbClr val="E11D48"/>
                </a:solidFill>
                <a:latin typeface="Malgun Gothic"/>
              </a:rPr>
              <a:t>● </a:t>
            </a:r>
            <a:r>
              <a:rPr sz="900">
                <a:solidFill>
                  <a:srgbClr val="334155"/>
                </a:solidFill>
                <a:latin typeface="Malgun Gothic"/>
              </a:rPr>
              <a:t>The list filters to matching academies as you type.</a:t>
            </a:r>
          </a:p>
          <a:p>
            <a:pPr>
              <a:lnSpc>
                <a:spcPct val="115000"/>
              </a:lnSpc>
              <a:spcAft>
                <a:spcPts val="300"/>
              </a:spcAft>
            </a:pPr>
            <a:r>
              <a:rPr sz="700" b="1">
                <a:solidFill>
                  <a:srgbClr val="E11D48"/>
                </a:solidFill>
                <a:latin typeface="Malgun Gothic"/>
              </a:rPr>
              <a:t>● </a:t>
            </a:r>
            <a:r>
              <a:rPr sz="900">
                <a:solidFill>
                  <a:srgbClr val="334155"/>
                </a:solidFill>
                <a:latin typeface="Malgun Gothic"/>
              </a:rPr>
              <a:t>Clear the box to return to the full list.</a:t>
            </a:r>
          </a:p>
        </p:txBody>
      </p:sp>
      <p:sp>
        <p:nvSpPr>
          <p:cNvPr id="14" name="Rounded Rectangle 13"/>
          <p:cNvSpPr/>
          <p:nvPr/>
        </p:nvSpPr>
        <p:spPr>
          <a:xfrm>
            <a:off x="457200" y="5475884"/>
            <a:ext cx="5669280" cy="985037"/>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52160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768492"/>
            <a:ext cx="5394960" cy="655853"/>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A partial name is enough to find it.</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existing list and its features are unchanged — only the way you find things was added.</a:t>
            </a:r>
          </a:p>
        </p:txBody>
      </p:sp>
      <p:sp>
        <p:nvSpPr>
          <p:cNvPr id="17" name="Rounded Rectangle 16"/>
          <p:cNvSpPr/>
          <p:nvPr/>
        </p:nvSpPr>
        <p:spPr>
          <a:xfrm>
            <a:off x="365760" y="6172200"/>
            <a:ext cx="11457432"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Tip · For academies you check often, remember two or three letters of the name — that is enough to filter instantly.</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dashboard.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70662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8892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8892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09067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academy li…</a:t>
            </a:r>
          </a:p>
        </p:txBody>
      </p:sp>
      <p:sp>
        <p:nvSpPr>
          <p:cNvPr id="26" name="TextBox 25"/>
          <p:cNvSpPr txBox="1"/>
          <p:nvPr/>
        </p:nvSpPr>
        <p:spPr>
          <a:xfrm>
            <a:off x="436351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546396" y="2670048"/>
            <a:ext cx="14996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62869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2869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930444" y="2670048"/>
            <a:ext cx="10789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search box</a:t>
            </a:r>
          </a:p>
        </p:txBody>
      </p:sp>
      <p:sp>
        <p:nvSpPr>
          <p:cNvPr id="31" name="TextBox 30"/>
          <p:cNvSpPr txBox="1"/>
          <p:nvPr/>
        </p:nvSpPr>
        <p:spPr>
          <a:xfrm>
            <a:off x="604601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22889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1118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1118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61294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matching a…</a:t>
            </a:r>
          </a:p>
        </p:txBody>
      </p:sp>
      <p:sp>
        <p:nvSpPr>
          <p:cNvPr id="36" name="TextBox 35"/>
          <p:cNvSpPr txBox="1"/>
          <p:nvPr/>
        </p:nvSpPr>
        <p:spPr>
          <a:xfrm>
            <a:off x="788578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8068665" y="2670048"/>
            <a:ext cx="141366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15096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5096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452713" y="2670048"/>
            <a:ext cx="99303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full 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29</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New-Payment Screen, Now Step-by-Step</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It no longer shows 12 products at once</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The new-payment screen now starts with 'who is this for?'. Previously all 12 products appeared at once and parents had no idea where to start. Now they pick from Kids · 1:1 · Group · Business · Test Prep · Corporate and only the matching products remain.</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635404"/>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Point the parent to the New Payment screen.</a:t>
            </a:r>
          </a:p>
          <a:p>
            <a:pPr>
              <a:lnSpc>
                <a:spcPct val="115000"/>
              </a:lnSpc>
              <a:spcAft>
                <a:spcPts val="300"/>
              </a:spcAft>
            </a:pPr>
            <a:r>
              <a:rPr sz="700" b="1">
                <a:solidFill>
                  <a:srgbClr val="E11D48"/>
                </a:solidFill>
                <a:latin typeface="Malgun Gothic"/>
              </a:rPr>
              <a:t>● </a:t>
            </a:r>
            <a:r>
              <a:rPr sz="900">
                <a:solidFill>
                  <a:srgbClr val="334155"/>
                </a:solidFill>
                <a:latin typeface="Malgun Gothic"/>
              </a:rPr>
              <a:t>Have them pick the audience first (Kids, 1:1, Group, Business, Test Prep, Corporate).</a:t>
            </a:r>
          </a:p>
          <a:p>
            <a:pPr>
              <a:lnSpc>
                <a:spcPct val="115000"/>
              </a:lnSpc>
              <a:spcAft>
                <a:spcPts val="300"/>
              </a:spcAft>
            </a:pPr>
            <a:r>
              <a:rPr sz="700" b="1">
                <a:solidFill>
                  <a:srgbClr val="E11D48"/>
                </a:solidFill>
                <a:latin typeface="Malgun Gothic"/>
              </a:rPr>
              <a:t>● </a:t>
            </a:r>
            <a:r>
              <a:rPr sz="900">
                <a:solidFill>
                  <a:srgbClr val="334155"/>
                </a:solidFill>
                <a:latin typeface="Malgun Gothic"/>
              </a:rPr>
              <a:t>Only the products for that audience stay on screen.</a:t>
            </a:r>
          </a:p>
          <a:p>
            <a:pPr>
              <a:lnSpc>
                <a:spcPct val="115000"/>
              </a:lnSpc>
              <a:spcAft>
                <a:spcPts val="300"/>
              </a:spcAft>
            </a:pPr>
            <a:r>
              <a:rPr sz="700" b="1">
                <a:solidFill>
                  <a:srgbClr val="E11D48"/>
                </a:solidFill>
                <a:latin typeface="Malgun Gothic"/>
              </a:rPr>
              <a:t>● </a:t>
            </a:r>
            <a:r>
              <a:rPr sz="900">
                <a:solidFill>
                  <a:srgbClr val="334155"/>
                </a:solidFill>
                <a:latin typeface="Malgun Gothic"/>
              </a:rPr>
              <a:t>If they want to compare everything, press See Full Price List.</a:t>
            </a:r>
          </a:p>
        </p:txBody>
      </p:sp>
      <p:sp>
        <p:nvSpPr>
          <p:cNvPr id="14" name="Rounded Rectangle 13"/>
          <p:cNvSpPr/>
          <p:nvPr/>
        </p:nvSpPr>
        <p:spPr>
          <a:xfrm>
            <a:off x="457200" y="5475884"/>
            <a:ext cx="5669280" cy="167358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521604"/>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768492"/>
            <a:ext cx="5394960" cy="1344396"/>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No product card or payment logic was changed — only what is displayed, so it is safe.</a:t>
            </a:r>
          </a:p>
          <a:p>
            <a:pPr>
              <a:lnSpc>
                <a:spcPct val="115000"/>
              </a:lnSpc>
              <a:spcAft>
                <a:spcPts val="100"/>
              </a:spcAft>
            </a:pPr>
            <a:r>
              <a:rPr sz="650" b="1">
                <a:solidFill>
                  <a:srgbClr val="E11D48"/>
                </a:solidFill>
                <a:latin typeface="Malgun Gothic"/>
              </a:rPr>
              <a:t>● </a:t>
            </a:r>
            <a:r>
              <a:rPr sz="850">
                <a:solidFill>
                  <a:srgbClr val="334155"/>
                </a:solidFill>
                <a:latin typeface="Malgun Gothic"/>
              </a:rPr>
              <a:t>Verified counts: 3 initially (free trial, other, policy) → 4 when Kids is selected → 12 in full view.</a:t>
            </a:r>
          </a:p>
          <a:p>
            <a:pPr>
              <a:lnSpc>
                <a:spcPct val="115000"/>
              </a:lnSpc>
              <a:spcAft>
                <a:spcPts val="100"/>
              </a:spcAft>
            </a:pPr>
            <a:r>
              <a:rPr sz="650" b="1">
                <a:solidFill>
                  <a:srgbClr val="E11D48"/>
                </a:solidFill>
                <a:latin typeface="Malgun Gothic"/>
              </a:rPr>
              <a:t>● </a:t>
            </a:r>
            <a:r>
              <a:rPr sz="850">
                <a:solidFill>
                  <a:srgbClr val="334155"/>
                </a:solidFill>
                <a:latin typeface="Malgun Gothic"/>
              </a:rPr>
              <a:t>See Full Price List was deliberately kept — hiding prices backfires.</a:t>
            </a:r>
          </a:p>
        </p:txBody>
      </p:sp>
      <p:sp>
        <p:nvSpPr>
          <p:cNvPr id="17" name="Rounded Rectangle 16"/>
          <p:cNvSpPr/>
          <p:nvPr/>
        </p:nvSpPr>
        <p:spPr>
          <a:xfrm>
            <a:off x="365760" y="6172200"/>
            <a:ext cx="11457432" cy="521208"/>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6217920"/>
            <a:ext cx="11183111" cy="429768"/>
          </a:xfrm>
          <a:prstGeom prst="rect">
            <a:avLst/>
          </a:prstGeom>
          <a:noFill/>
        </p:spPr>
        <p:txBody>
          <a:bodyPr wrap="square" anchor="t">
            <a:spAutoFit/>
          </a:bodyPr>
          <a:lstStyle/>
          <a:p>
            <a:pPr algn="l">
              <a:lnSpc>
                <a:spcPct val="100000"/>
              </a:lnSpc>
            </a:pPr>
            <a:r>
              <a:rPr sz="950" b="0">
                <a:solidFill>
                  <a:srgbClr val="5B4A2A"/>
                </a:solidFill>
                <a:latin typeface="Malgun Gothic"/>
              </a:rPr>
              <a:t>💡 Tip · When a caller says 'I don't know which one to pick', just have them choose the audience first.</a:t>
            </a:r>
          </a:p>
        </p:txBody>
      </p:sp>
      <p:sp>
        <p:nvSpPr>
          <p:cNvPr id="19" name="Rectangle 18"/>
          <p:cNvSpPr/>
          <p:nvPr/>
        </p:nvSpPr>
        <p:spPr>
          <a:xfrm>
            <a:off x="6856171" y="3255264"/>
            <a:ext cx="4484217" cy="284378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admin_refund.jpg"/>
          <p:cNvPicPr>
            <a:picLocks noChangeAspect="1"/>
          </p:cNvPicPr>
          <p:nvPr/>
        </p:nvPicPr>
        <p:blipFill>
          <a:blip r:embed="rId2"/>
          <a:stretch>
            <a:fillRect/>
          </a:stretch>
        </p:blipFill>
        <p:spPr>
          <a:xfrm>
            <a:off x="6911035" y="3310128"/>
            <a:ext cx="4374489" cy="2734056"/>
          </a:xfrm>
          <a:prstGeom prst="rect">
            <a:avLst/>
          </a:prstGeom>
        </p:spPr>
      </p:pic>
      <p:sp>
        <p:nvSpPr>
          <p:cNvPr id="21" name="Rounded Rectangle 20"/>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670962"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75325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5325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5" name="TextBox 24"/>
          <p:cNvSpPr txBox="1"/>
          <p:nvPr/>
        </p:nvSpPr>
        <p:spPr>
          <a:xfrm>
            <a:off x="3055010"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New Paymen…</a:t>
            </a:r>
          </a:p>
        </p:txBody>
      </p:sp>
      <p:sp>
        <p:nvSpPr>
          <p:cNvPr id="26" name="TextBox 25"/>
          <p:cNvSpPr txBox="1"/>
          <p:nvPr/>
        </p:nvSpPr>
        <p:spPr>
          <a:xfrm>
            <a:off x="4327855"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7" name="Rounded Rectangle 26"/>
          <p:cNvSpPr/>
          <p:nvPr/>
        </p:nvSpPr>
        <p:spPr>
          <a:xfrm>
            <a:off x="4510735" y="2670048"/>
            <a:ext cx="1327708"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593031"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93031"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0" name="TextBox 29"/>
          <p:cNvSpPr txBox="1"/>
          <p:nvPr/>
        </p:nvSpPr>
        <p:spPr>
          <a:xfrm>
            <a:off x="4894783" y="2670048"/>
            <a:ext cx="907084"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audience</a:t>
            </a:r>
          </a:p>
        </p:txBody>
      </p:sp>
      <p:sp>
        <p:nvSpPr>
          <p:cNvPr id="31" name="TextBox 30"/>
          <p:cNvSpPr txBox="1"/>
          <p:nvPr/>
        </p:nvSpPr>
        <p:spPr>
          <a:xfrm>
            <a:off x="5838444"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2" name="Rounded Rectangle 31"/>
          <p:cNvSpPr/>
          <p:nvPr/>
        </p:nvSpPr>
        <p:spPr>
          <a:xfrm>
            <a:off x="6021324"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103620"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03620"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5" name="TextBox 34"/>
          <p:cNvSpPr txBox="1"/>
          <p:nvPr/>
        </p:nvSpPr>
        <p:spPr>
          <a:xfrm>
            <a:off x="6405372"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Only the p…</a:t>
            </a:r>
          </a:p>
        </p:txBody>
      </p:sp>
      <p:sp>
        <p:nvSpPr>
          <p:cNvPr id="36" name="TextBox 35"/>
          <p:cNvSpPr txBox="1"/>
          <p:nvPr/>
        </p:nvSpPr>
        <p:spPr>
          <a:xfrm>
            <a:off x="767821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7" name="Rounded Rectangle 36"/>
          <p:cNvSpPr/>
          <p:nvPr/>
        </p:nvSpPr>
        <p:spPr>
          <a:xfrm>
            <a:off x="786109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794339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4339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0" name="TextBox 39"/>
          <p:cNvSpPr txBox="1"/>
          <p:nvPr/>
        </p:nvSpPr>
        <p:spPr>
          <a:xfrm>
            <a:off x="824514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See Full P…</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30</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Sample Report Card for Parents Without an Account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Something to show in front of the login wall</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Until now there was nothing to show a prospective parent who had no account. The report-card screen now offers 'No account — view a sample report first', so you can show what the 5-axis scores + teacher comment + AI analysis look like without logging in.</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79588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During a consultation, open the report-card screen for the parent.</a:t>
            </a:r>
          </a:p>
          <a:p>
            <a:pPr>
              <a:lnSpc>
                <a:spcPct val="115000"/>
              </a:lnSpc>
              <a:spcAft>
                <a:spcPts val="300"/>
              </a:spcAft>
            </a:pPr>
            <a:r>
              <a:rPr sz="700" b="1">
                <a:solidFill>
                  <a:srgbClr val="E11D48"/>
                </a:solidFill>
                <a:latin typeface="Malgun Gothic"/>
              </a:rPr>
              <a:t>● </a:t>
            </a:r>
            <a:r>
              <a:rPr sz="900">
                <a:solidFill>
                  <a:srgbClr val="334155"/>
                </a:solidFill>
                <a:latin typeface="Malgun Gothic"/>
              </a:rPr>
              <a:t>Press No account — view a sample report first.</a:t>
            </a:r>
          </a:p>
          <a:p>
            <a:pPr>
              <a:lnSpc>
                <a:spcPct val="115000"/>
              </a:lnSpc>
              <a:spcAft>
                <a:spcPts val="300"/>
              </a:spcAft>
            </a:pPr>
            <a:r>
              <a:rPr sz="700" b="1">
                <a:solidFill>
                  <a:srgbClr val="E11D48"/>
                </a:solidFill>
                <a:latin typeface="Malgun Gothic"/>
              </a:rPr>
              <a:t>● </a:t>
            </a:r>
            <a:r>
              <a:rPr sz="900">
                <a:solidFill>
                  <a:srgbClr val="334155"/>
                </a:solidFill>
                <a:latin typeface="Malgun Gothic"/>
              </a:rPr>
              <a:t>Walk through the 5-axis scores, teacher comment and AI analysis together.</a:t>
            </a:r>
          </a:p>
          <a:p>
            <a:pPr>
              <a:lnSpc>
                <a:spcPct val="115000"/>
              </a:lnSpc>
              <a:spcAft>
                <a:spcPts val="300"/>
              </a:spcAft>
            </a:pPr>
            <a:r>
              <a:rPr sz="700" b="1">
                <a:solidFill>
                  <a:srgbClr val="E11D48"/>
                </a:solidFill>
                <a:latin typeface="Malgun Gothic"/>
              </a:rPr>
              <a:t>● </a:t>
            </a:r>
            <a:r>
              <a:rPr sz="900">
                <a:solidFill>
                  <a:srgbClr val="334155"/>
                </a:solidFill>
                <a:latin typeface="Malgun Gothic"/>
              </a:rPr>
              <a:t>Close with 'this is what you'll receive for your child' and offer the trial.</a:t>
            </a:r>
          </a:p>
        </p:txBody>
      </p:sp>
      <p:sp>
        <p:nvSpPr>
          <p:cNvPr id="14" name="Rounded Rectangle 13"/>
          <p:cNvSpPr/>
          <p:nvPr/>
        </p:nvSpPr>
        <p:spPr>
          <a:xfrm>
            <a:off x="457200" y="5636361"/>
            <a:ext cx="5669280" cy="1136599"/>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68208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928969"/>
            <a:ext cx="5394960" cy="807415"/>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 All values are examples. The title and top banner are marked 'Sample'.</a:t>
            </a:r>
          </a:p>
          <a:p>
            <a:pPr>
              <a:lnSpc>
                <a:spcPct val="115000"/>
              </a:lnSpc>
              <a:spcAft>
                <a:spcPts val="100"/>
              </a:spcAft>
            </a:pPr>
            <a:r>
              <a:rPr sz="650" b="1">
                <a:solidFill>
                  <a:srgbClr val="E11D48"/>
                </a:solidFill>
                <a:latin typeface="Malgun Gothic"/>
              </a:rPr>
              <a:t>● </a:t>
            </a:r>
            <a:r>
              <a:rPr sz="850">
                <a:solidFill>
                  <a:srgbClr val="334155"/>
                </a:solidFill>
                <a:latin typeface="Malgun Gothic"/>
              </a:rPr>
              <a:t>Never remove that marking — if it is mistaken for a real record it becomes a trust problem.</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The sample uses no real student data. Use it for consultations only.</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Showing the sample report in the first three minutes of a consultation makes 'what do I actually get?' concrete and lifts trial conversion.</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udent_report_pentagon.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506370"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2588666"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588666"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2890418"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report-car…</a:t>
            </a:r>
          </a:p>
        </p:txBody>
      </p:sp>
      <p:sp>
        <p:nvSpPr>
          <p:cNvPr id="28" name="TextBox 27"/>
          <p:cNvSpPr txBox="1"/>
          <p:nvPr/>
        </p:nvSpPr>
        <p:spPr>
          <a:xfrm>
            <a:off x="4163263"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4346143"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42843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2843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4730191"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No account…</a:t>
            </a:r>
          </a:p>
        </p:txBody>
      </p:sp>
      <p:sp>
        <p:nvSpPr>
          <p:cNvPr id="33" name="TextBox 32"/>
          <p:cNvSpPr txBox="1"/>
          <p:nvPr/>
        </p:nvSpPr>
        <p:spPr>
          <a:xfrm>
            <a:off x="6003036"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185916"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268212"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8212"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6569964"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Walk throu…</a:t>
            </a:r>
          </a:p>
        </p:txBody>
      </p:sp>
      <p:sp>
        <p:nvSpPr>
          <p:cNvPr id="38" name="TextBox 37"/>
          <p:cNvSpPr txBox="1"/>
          <p:nvPr/>
        </p:nvSpPr>
        <p:spPr>
          <a:xfrm>
            <a:off x="7842808"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9" name="Rounded Rectangle 38"/>
          <p:cNvSpPr/>
          <p:nvPr/>
        </p:nvSpPr>
        <p:spPr>
          <a:xfrm>
            <a:off x="8025688"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107984"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07984"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4</a:t>
            </a:r>
          </a:p>
        </p:txBody>
      </p:sp>
      <p:sp>
        <p:nvSpPr>
          <p:cNvPr id="42" name="TextBox 41"/>
          <p:cNvSpPr txBox="1"/>
          <p:nvPr/>
        </p:nvSpPr>
        <p:spPr>
          <a:xfrm>
            <a:off x="8409736"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Close with…</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How to Use the Main Features</a:t>
            </a:r>
          </a:p>
        </p:txBody>
      </p:sp>
      <p:sp>
        <p:nvSpPr>
          <p:cNvPr id="6" name="Rounded Rectangle 5"/>
          <p:cNvSpPr/>
          <p:nvPr/>
        </p:nvSpPr>
        <p:spPr>
          <a:xfrm>
            <a:off x="365760" y="822960"/>
            <a:ext cx="868680" cy="868680"/>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22960"/>
            <a:ext cx="868680" cy="868680"/>
          </a:xfrm>
          <a:prstGeom prst="rect">
            <a:avLst/>
          </a:prstGeom>
          <a:noFill/>
        </p:spPr>
        <p:txBody>
          <a:bodyPr wrap="square" anchor="ctr">
            <a:spAutoFit/>
          </a:bodyPr>
          <a:lstStyle/>
          <a:p>
            <a:pPr algn="ctr">
              <a:lnSpc>
                <a:spcPct val="100000"/>
              </a:lnSpc>
            </a:pPr>
            <a:r>
              <a:rPr sz="2600" b="1">
                <a:solidFill>
                  <a:srgbClr val="FFFFFF"/>
                </a:solidFill>
                <a:latin typeface="Malgun Gothic"/>
              </a:rPr>
              <a:t>31</a:t>
            </a:r>
          </a:p>
        </p:txBody>
      </p:sp>
      <p:sp>
        <p:nvSpPr>
          <p:cNvPr id="8" name="TextBox 7"/>
          <p:cNvSpPr txBox="1"/>
          <p:nvPr/>
        </p:nvSpPr>
        <p:spPr>
          <a:xfrm>
            <a:off x="1371600" y="822960"/>
            <a:ext cx="10424160" cy="502920"/>
          </a:xfrm>
          <a:prstGeom prst="rect">
            <a:avLst/>
          </a:prstGeom>
          <a:noFill/>
        </p:spPr>
        <p:txBody>
          <a:bodyPr wrap="square" anchor="t">
            <a:spAutoFit/>
          </a:bodyPr>
          <a:lstStyle/>
          <a:p>
            <a:pPr algn="l">
              <a:lnSpc>
                <a:spcPct val="100000"/>
              </a:lnSpc>
            </a:pPr>
            <a:r>
              <a:rPr sz="2300" b="1">
                <a:solidFill>
                  <a:srgbClr val="1E2340"/>
                </a:solidFill>
                <a:latin typeface="Malgun Gothic"/>
              </a:rPr>
              <a:t>📞 Unified Support Hours &amp; Channel Order (KakaoTalk first)</a:t>
            </a:r>
          </a:p>
        </p:txBody>
      </p:sp>
      <p:sp>
        <p:nvSpPr>
          <p:cNvPr id="9" name="TextBox 8"/>
          <p:cNvSpPr txBox="1"/>
          <p:nvPr/>
        </p:nvSpPr>
        <p:spPr>
          <a:xfrm>
            <a:off x="1417320" y="1353312"/>
            <a:ext cx="10424160" cy="320040"/>
          </a:xfrm>
          <a:prstGeom prst="rect">
            <a:avLst/>
          </a:prstGeom>
          <a:noFill/>
        </p:spPr>
        <p:txBody>
          <a:bodyPr wrap="square" anchor="t">
            <a:spAutoFit/>
          </a:bodyPr>
          <a:lstStyle/>
          <a:p>
            <a:pPr algn="l">
              <a:lnSpc>
                <a:spcPct val="100000"/>
              </a:lnSpc>
            </a:pPr>
            <a:r>
              <a:rPr sz="1300" b="0">
                <a:solidFill>
                  <a:srgbClr val="64748B"/>
                </a:solidFill>
                <a:latin typeface="Malgun Gothic"/>
              </a:rPr>
              <a:t>One value across every screen</a:t>
            </a:r>
          </a:p>
        </p:txBody>
      </p:sp>
      <p:sp>
        <p:nvSpPr>
          <p:cNvPr id="10" name="Rounded Rectangle 9"/>
          <p:cNvSpPr/>
          <p:nvPr/>
        </p:nvSpPr>
        <p:spPr>
          <a:xfrm>
            <a:off x="365760" y="1828800"/>
            <a:ext cx="11430000" cy="73152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874519"/>
            <a:ext cx="11064240" cy="640080"/>
          </a:xfrm>
          <a:prstGeom prst="rect">
            <a:avLst/>
          </a:prstGeom>
          <a:noFill/>
        </p:spPr>
        <p:txBody>
          <a:bodyPr wrap="square" anchor="t">
            <a:spAutoFit/>
          </a:bodyPr>
          <a:lstStyle/>
          <a:p>
            <a:pPr algn="l">
              <a:lnSpc>
                <a:spcPct val="112000"/>
              </a:lnSpc>
            </a:pPr>
            <a:r>
              <a:rPr sz="1150" b="0">
                <a:solidFill>
                  <a:srgbClr val="334155"/>
                </a:solidFill>
                <a:latin typeface="Malgun Gothic"/>
              </a:rPr>
              <a:t>Support hours previously appeared as 09-22 / 10-20 / 7 p.m. on different screens. They are now unified to 10:00–23:00 (closed weekends and public holidays). The KakaoTalk channel was also moved to first place, and the phone card now notes that KakaoTalk is faster.</a:t>
            </a:r>
          </a:p>
        </p:txBody>
      </p:sp>
      <p:sp>
        <p:nvSpPr>
          <p:cNvPr id="12" name="TextBox 11"/>
          <p:cNvSpPr txBox="1"/>
          <p:nvPr/>
        </p:nvSpPr>
        <p:spPr>
          <a:xfrm>
            <a:off x="457200" y="3383280"/>
            <a:ext cx="5669280" cy="320040"/>
          </a:xfrm>
          <a:prstGeom prst="rect">
            <a:avLst/>
          </a:prstGeom>
          <a:noFill/>
        </p:spPr>
        <p:txBody>
          <a:bodyPr wrap="square" anchor="t">
            <a:spAutoFit/>
          </a:bodyPr>
          <a:lstStyle/>
          <a:p>
            <a:pPr algn="l">
              <a:lnSpc>
                <a:spcPct val="100000"/>
              </a:lnSpc>
            </a:pPr>
            <a:r>
              <a:rPr sz="1350" b="1">
                <a:solidFill>
                  <a:srgbClr val="E11D48"/>
                </a:solidFill>
                <a:latin typeface="Malgun Gothic"/>
              </a:rPr>
              <a:t>How to use</a:t>
            </a:r>
          </a:p>
        </p:txBody>
      </p:sp>
      <p:sp>
        <p:nvSpPr>
          <p:cNvPr id="13" name="TextBox 12"/>
          <p:cNvSpPr txBox="1"/>
          <p:nvPr/>
        </p:nvSpPr>
        <p:spPr>
          <a:xfrm>
            <a:off x="457200" y="3749040"/>
            <a:ext cx="5669280" cy="1346911"/>
          </a:xfrm>
          <a:prstGeom prst="rect">
            <a:avLst/>
          </a:prstGeom>
          <a:noFill/>
        </p:spPr>
        <p:txBody>
          <a:bodyPr wrap="square">
            <a:spAutoFit/>
          </a:bodyPr>
          <a:lstStyle/>
          <a:p>
            <a:pPr>
              <a:lnSpc>
                <a:spcPct val="115000"/>
              </a:lnSpc>
              <a:spcAft>
                <a:spcPts val="300"/>
              </a:spcAft>
            </a:pPr>
            <a:r>
              <a:rPr sz="700" b="1">
                <a:solidFill>
                  <a:srgbClr val="E11D48"/>
                </a:solidFill>
                <a:latin typeface="Malgun Gothic"/>
              </a:rPr>
              <a:t>● </a:t>
            </a:r>
            <a:r>
              <a:rPr sz="900">
                <a:solidFill>
                  <a:srgbClr val="334155"/>
                </a:solidFill>
                <a:latin typeface="Malgun Gothic"/>
              </a:rPr>
              <a:t>On the Contact screen, confirm the card order is KakaoTalk → phone.</a:t>
            </a:r>
          </a:p>
          <a:p>
            <a:pPr>
              <a:lnSpc>
                <a:spcPct val="115000"/>
              </a:lnSpc>
              <a:spcAft>
                <a:spcPts val="300"/>
              </a:spcAft>
            </a:pPr>
            <a:r>
              <a:rPr sz="700" b="1">
                <a:solidFill>
                  <a:srgbClr val="E11D48"/>
                </a:solidFill>
                <a:latin typeface="Malgun Gothic"/>
              </a:rPr>
              <a:t>● </a:t>
            </a:r>
            <a:r>
              <a:rPr sz="900">
                <a:solidFill>
                  <a:srgbClr val="334155"/>
                </a:solidFill>
                <a:latin typeface="Malgun Gothic"/>
              </a:rPr>
              <a:t>When advising parents, point them to the KakaoTalk channel first.</a:t>
            </a:r>
          </a:p>
          <a:p>
            <a:pPr>
              <a:lnSpc>
                <a:spcPct val="115000"/>
              </a:lnSpc>
              <a:spcAft>
                <a:spcPts val="300"/>
              </a:spcAft>
            </a:pPr>
            <a:r>
              <a:rPr sz="700" b="1">
                <a:solidFill>
                  <a:srgbClr val="E11D48"/>
                </a:solidFill>
                <a:latin typeface="Malgun Gothic"/>
              </a:rPr>
              <a:t>● </a:t>
            </a:r>
            <a:r>
              <a:rPr sz="900">
                <a:solidFill>
                  <a:srgbClr val="334155"/>
                </a:solidFill>
                <a:latin typeface="Malgun Gothic"/>
              </a:rPr>
              <a:t>Quote support hours as 10:00–23:00 (closed weekends and holidays).</a:t>
            </a:r>
          </a:p>
        </p:txBody>
      </p:sp>
      <p:sp>
        <p:nvSpPr>
          <p:cNvPr id="14" name="Rounded Rectangle 13"/>
          <p:cNvSpPr/>
          <p:nvPr/>
        </p:nvSpPr>
        <p:spPr>
          <a:xfrm>
            <a:off x="457200" y="5187391"/>
            <a:ext cx="5669280" cy="1673580"/>
          </a:xfrm>
          <a:prstGeom prst="roundRect">
            <a:avLst/>
          </a:prstGeom>
          <a:solidFill>
            <a:srgbClr val="F4F7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5233111"/>
            <a:ext cx="5394960" cy="274320"/>
          </a:xfrm>
          <a:prstGeom prst="rect">
            <a:avLst/>
          </a:prstGeom>
          <a:noFill/>
        </p:spPr>
        <p:txBody>
          <a:bodyPr wrap="square" anchor="t">
            <a:spAutoFit/>
          </a:bodyPr>
          <a:lstStyle/>
          <a:p>
            <a:pPr algn="l">
              <a:lnSpc>
                <a:spcPct val="100000"/>
              </a:lnSpc>
            </a:pPr>
            <a:r>
              <a:rPr sz="1100" b="1">
                <a:solidFill>
                  <a:srgbClr val="E11D48"/>
                </a:solidFill>
                <a:latin typeface="Malgun Gothic"/>
              </a:rPr>
              <a:t>✅ Key Points</a:t>
            </a:r>
          </a:p>
        </p:txBody>
      </p:sp>
      <p:sp>
        <p:nvSpPr>
          <p:cNvPr id="16" name="TextBox 15"/>
          <p:cNvSpPr txBox="1"/>
          <p:nvPr/>
        </p:nvSpPr>
        <p:spPr>
          <a:xfrm>
            <a:off x="594360" y="5479999"/>
            <a:ext cx="5394960" cy="1344396"/>
          </a:xfrm>
          <a:prstGeom prst="rect">
            <a:avLst/>
          </a:prstGeom>
          <a:noFill/>
        </p:spPr>
        <p:txBody>
          <a:bodyPr wrap="square">
            <a:spAutoFit/>
          </a:bodyPr>
          <a:lstStyle/>
          <a:p>
            <a:pPr>
              <a:lnSpc>
                <a:spcPct val="115000"/>
              </a:lnSpc>
              <a:spcAft>
                <a:spcPts val="100"/>
              </a:spcAft>
            </a:pPr>
            <a:r>
              <a:rPr sz="650" b="1">
                <a:solidFill>
                  <a:srgbClr val="E11D48"/>
                </a:solidFill>
                <a:latin typeface="Malgun Gothic"/>
              </a:rPr>
              <a:t>● </a:t>
            </a:r>
            <a:r>
              <a:rPr sz="850">
                <a:solidFill>
                  <a:srgbClr val="334155"/>
                </a:solidFill>
                <a:latin typeface="Malgun Gothic"/>
              </a:rPr>
              <a:t>Places corrected: contact screen, home menu, FAQ (both languages), AI consultant fact block, student FAQ — all the same value now.</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unused fax number and placeholder phone numbers were deleted.</a:t>
            </a:r>
          </a:p>
          <a:p>
            <a:pPr>
              <a:lnSpc>
                <a:spcPct val="115000"/>
              </a:lnSpc>
              <a:spcAft>
                <a:spcPts val="100"/>
              </a:spcAft>
            </a:pPr>
            <a:r>
              <a:rPr sz="650" b="1">
                <a:solidFill>
                  <a:srgbClr val="E11D48"/>
                </a:solidFill>
                <a:latin typeface="Malgun Gothic"/>
              </a:rPr>
              <a:t>● </a:t>
            </a:r>
            <a:r>
              <a:rPr sz="850">
                <a:solidFill>
                  <a:srgbClr val="334155"/>
                </a:solidFill>
                <a:latin typeface="Malgun Gothic"/>
              </a:rPr>
              <a:t>The AI consultant quotes the same hours and the same channel order.</a:t>
            </a:r>
          </a:p>
        </p:txBody>
      </p:sp>
      <p:sp>
        <p:nvSpPr>
          <p:cNvPr id="17" name="Rounded Rectangle 16"/>
          <p:cNvSpPr/>
          <p:nvPr/>
        </p:nvSpPr>
        <p:spPr>
          <a:xfrm>
            <a:off x="365760" y="5870448"/>
            <a:ext cx="5646420" cy="822960"/>
          </a:xfrm>
          <a:prstGeom prst="roundRect">
            <a:avLst/>
          </a:prstGeom>
          <a:solidFill>
            <a:srgbClr val="FFFBEB"/>
          </a:solidFill>
          <a:ln w="127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5916168"/>
            <a:ext cx="5372100" cy="731520"/>
          </a:xfrm>
          <a:prstGeom prst="rect">
            <a:avLst/>
          </a:prstGeom>
          <a:noFill/>
        </p:spPr>
        <p:txBody>
          <a:bodyPr wrap="square" anchor="t">
            <a:spAutoFit/>
          </a:bodyPr>
          <a:lstStyle/>
          <a:p>
            <a:pPr algn="l">
              <a:lnSpc>
                <a:spcPct val="100000"/>
              </a:lnSpc>
            </a:pPr>
            <a:r>
              <a:rPr sz="950" b="0">
                <a:solidFill>
                  <a:srgbClr val="92670A"/>
                </a:solidFill>
                <a:latin typeface="Malgun Gothic"/>
              </a:rPr>
              <a:t>Good to know · If real operating hours change, all of these must be updated together. Changing only one brings the inconsistency straight back.</a:t>
            </a:r>
          </a:p>
        </p:txBody>
      </p:sp>
      <p:sp>
        <p:nvSpPr>
          <p:cNvPr id="19" name="Rounded Rectangle 18"/>
          <p:cNvSpPr/>
          <p:nvPr/>
        </p:nvSpPr>
        <p:spPr>
          <a:xfrm>
            <a:off x="6176772" y="5870448"/>
            <a:ext cx="5646420" cy="822960"/>
          </a:xfrm>
          <a:prstGeom prst="roundRect">
            <a:avLst/>
          </a:prstGeom>
          <a:solidFill>
            <a:srgbClr val="FFF7E6"/>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13932" y="5916168"/>
            <a:ext cx="5372100" cy="731520"/>
          </a:xfrm>
          <a:prstGeom prst="rect">
            <a:avLst/>
          </a:prstGeom>
          <a:noFill/>
        </p:spPr>
        <p:txBody>
          <a:bodyPr wrap="square" anchor="t">
            <a:spAutoFit/>
          </a:bodyPr>
          <a:lstStyle/>
          <a:p>
            <a:pPr algn="l">
              <a:lnSpc>
                <a:spcPct val="100000"/>
              </a:lnSpc>
            </a:pPr>
            <a:r>
              <a:rPr sz="950" b="0">
                <a:solidFill>
                  <a:srgbClr val="5B4A2A"/>
                </a:solidFill>
                <a:latin typeface="Malgun Gothic"/>
              </a:rPr>
              <a:t>💡 Tip · If you need the Philippines call-centre numbers listed, provide the real ones — the previous placeholders were removed.</a:t>
            </a:r>
          </a:p>
        </p:txBody>
      </p:sp>
      <p:sp>
        <p:nvSpPr>
          <p:cNvPr id="21" name="Rectangle 20"/>
          <p:cNvSpPr/>
          <p:nvPr/>
        </p:nvSpPr>
        <p:spPr>
          <a:xfrm>
            <a:off x="7097572" y="3255264"/>
            <a:ext cx="4001414" cy="25420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mmon_contact.jpg"/>
          <p:cNvPicPr>
            <a:picLocks noChangeAspect="1"/>
          </p:cNvPicPr>
          <p:nvPr/>
        </p:nvPicPr>
        <p:blipFill>
          <a:blip r:embed="rId2"/>
          <a:stretch>
            <a:fillRect/>
          </a:stretch>
        </p:blipFill>
        <p:spPr>
          <a:xfrm>
            <a:off x="7152436" y="3310128"/>
            <a:ext cx="3891686" cy="2432304"/>
          </a:xfrm>
          <a:prstGeom prst="rect">
            <a:avLst/>
          </a:prstGeom>
        </p:spPr>
      </p:pic>
      <p:sp>
        <p:nvSpPr>
          <p:cNvPr id="23" name="Rounded Rectangle 22"/>
          <p:cNvSpPr/>
          <p:nvPr/>
        </p:nvSpPr>
        <p:spPr>
          <a:xfrm>
            <a:off x="365760" y="2578608"/>
            <a:ext cx="11457432" cy="658368"/>
          </a:xfrm>
          <a:prstGeom prst="roundRect">
            <a:avLst/>
          </a:prstGeom>
          <a:solidFill>
            <a:srgbClr val="F8FAFC"/>
          </a:solidFill>
          <a:ln w="12700">
            <a:solidFill>
              <a:srgbClr val="E7EC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98163" y="2670048"/>
            <a:ext cx="124175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3680459"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80459"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1</a:t>
            </a:r>
          </a:p>
        </p:txBody>
      </p:sp>
      <p:sp>
        <p:nvSpPr>
          <p:cNvPr id="27" name="TextBox 26"/>
          <p:cNvSpPr txBox="1"/>
          <p:nvPr/>
        </p:nvSpPr>
        <p:spPr>
          <a:xfrm>
            <a:off x="3982211" y="2670048"/>
            <a:ext cx="82113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Contact</a:t>
            </a:r>
          </a:p>
        </p:txBody>
      </p:sp>
      <p:sp>
        <p:nvSpPr>
          <p:cNvPr id="28" name="TextBox 27"/>
          <p:cNvSpPr txBox="1"/>
          <p:nvPr/>
        </p:nvSpPr>
        <p:spPr>
          <a:xfrm>
            <a:off x="4839919"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29" name="Rounded Rectangle 28"/>
          <p:cNvSpPr/>
          <p:nvPr/>
        </p:nvSpPr>
        <p:spPr>
          <a:xfrm>
            <a:off x="5022799" y="2670048"/>
            <a:ext cx="1656892"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5105095"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05095"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2</a:t>
            </a:r>
          </a:p>
        </p:txBody>
      </p:sp>
      <p:sp>
        <p:nvSpPr>
          <p:cNvPr id="32" name="TextBox 31"/>
          <p:cNvSpPr txBox="1"/>
          <p:nvPr/>
        </p:nvSpPr>
        <p:spPr>
          <a:xfrm>
            <a:off x="5406847" y="2670048"/>
            <a:ext cx="1236268"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point them…</a:t>
            </a:r>
          </a:p>
        </p:txBody>
      </p:sp>
      <p:sp>
        <p:nvSpPr>
          <p:cNvPr id="33" name="TextBox 32"/>
          <p:cNvSpPr txBox="1"/>
          <p:nvPr/>
        </p:nvSpPr>
        <p:spPr>
          <a:xfrm>
            <a:off x="6679692" y="2670048"/>
            <a:ext cx="182880" cy="457200"/>
          </a:xfrm>
          <a:prstGeom prst="rect">
            <a:avLst/>
          </a:prstGeom>
          <a:noFill/>
        </p:spPr>
        <p:txBody>
          <a:bodyPr wrap="square" anchor="ctr">
            <a:spAutoFit/>
          </a:bodyPr>
          <a:lstStyle/>
          <a:p>
            <a:pPr algn="ctr">
              <a:lnSpc>
                <a:spcPct val="100000"/>
              </a:lnSpc>
            </a:pPr>
            <a:r>
              <a:rPr sz="1500" b="1">
                <a:solidFill>
                  <a:srgbClr val="E11D48"/>
                </a:solidFill>
                <a:latin typeface="Malgun Gothic"/>
              </a:rPr>
              <a:t>›</a:t>
            </a:r>
          </a:p>
        </p:txBody>
      </p:sp>
      <p:sp>
        <p:nvSpPr>
          <p:cNvPr id="34" name="Rounded Rectangle 33"/>
          <p:cNvSpPr/>
          <p:nvPr/>
        </p:nvSpPr>
        <p:spPr>
          <a:xfrm>
            <a:off x="6862572" y="2670048"/>
            <a:ext cx="1728215" cy="457200"/>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944868" y="2761488"/>
            <a:ext cx="274320" cy="274320"/>
          </a:xfrm>
          <a:prstGeom prst="ellipse">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44868" y="2761488"/>
            <a:ext cx="274320" cy="274320"/>
          </a:xfrm>
          <a:prstGeom prst="rect">
            <a:avLst/>
          </a:prstGeom>
          <a:noFill/>
        </p:spPr>
        <p:txBody>
          <a:bodyPr wrap="square" anchor="ctr">
            <a:spAutoFit/>
          </a:bodyPr>
          <a:lstStyle/>
          <a:p>
            <a:pPr algn="ctr">
              <a:lnSpc>
                <a:spcPct val="100000"/>
              </a:lnSpc>
            </a:pPr>
            <a:r>
              <a:rPr sz="900" b="1">
                <a:solidFill>
                  <a:srgbClr val="FFFFFF"/>
                </a:solidFill>
                <a:latin typeface="Malgun Gothic"/>
              </a:rPr>
              <a:t>3</a:t>
            </a:r>
          </a:p>
        </p:txBody>
      </p:sp>
      <p:sp>
        <p:nvSpPr>
          <p:cNvPr id="37" name="TextBox 36"/>
          <p:cNvSpPr txBox="1"/>
          <p:nvPr/>
        </p:nvSpPr>
        <p:spPr>
          <a:xfrm>
            <a:off x="7246620" y="2670048"/>
            <a:ext cx="1307591" cy="457200"/>
          </a:xfrm>
          <a:prstGeom prst="rect">
            <a:avLst/>
          </a:prstGeom>
          <a:noFill/>
        </p:spPr>
        <p:txBody>
          <a:bodyPr wrap="none" anchor="ctr" lIns="0" rIns="0">
            <a:spAutoFit/>
          </a:bodyPr>
          <a:lstStyle/>
          <a:p>
            <a:pPr algn="l">
              <a:lnSpc>
                <a:spcPct val="100000"/>
              </a:lnSpc>
            </a:pPr>
            <a:r>
              <a:rPr sz="1050" b="1">
                <a:solidFill>
                  <a:srgbClr val="334155"/>
                </a:solidFill>
                <a:latin typeface="Malgun Gothic"/>
              </a:rPr>
              <a:t>10:00–23:0…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Feature Summary · Data</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32</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Agency Features at a Glance</a:t>
            </a:r>
          </a:p>
        </p:txBody>
      </p:sp>
      <p:graphicFrame>
        <p:nvGraphicFramePr>
          <p:cNvPr id="9" name="Table 8"/>
          <p:cNvGraphicFramePr>
            <a:graphicFrameLocks noGrp="1"/>
          </p:cNvGraphicFramePr>
          <p:nvPr/>
        </p:nvGraphicFramePr>
        <p:xfrm>
          <a:off x="365760" y="1463040"/>
          <a:ext cx="11460175" cy="4572000"/>
        </p:xfrm>
        <a:graphic>
          <a:graphicData uri="http://schemas.openxmlformats.org/drawingml/2006/table">
            <a:tbl>
              <a:tblPr firstRow="1" bandRow="1">
                <a:tableStyleId>{5C22544A-7EE6-4342-B048-85BDC9FD1C3A}</a:tableStyleId>
              </a:tblPr>
              <a:tblGrid>
                <a:gridCol w="2865043"/>
                <a:gridCol w="2865043"/>
                <a:gridCol w="2865043"/>
                <a:gridCol w="2865046"/>
              </a:tblGrid>
              <a:tr h="508000">
                <a:tc>
                  <a:txBody>
                    <a:bodyPr/>
                    <a:lstStyle/>
                    <a:p>
                      <a:pPr algn="ctr"/>
                      <a:r>
                        <a:rPr sz="1300" b="1">
                          <a:solidFill>
                            <a:srgbClr val="FFFFFF"/>
                          </a:solidFill>
                          <a:latin typeface="Malgun Gothic"/>
                        </a:rPr>
                        <a:t>Feature</a:t>
                      </a:r>
                    </a:p>
                  </a:txBody>
                  <a:tcPr>
                    <a:solidFill>
                      <a:srgbClr val="E11D48"/>
                    </a:solidFill>
                  </a:tcPr>
                </a:tc>
                <a:tc>
                  <a:txBody>
                    <a:bodyPr/>
                    <a:lstStyle/>
                    <a:p>
                      <a:pPr algn="ctr"/>
                      <a:r>
                        <a:rPr sz="1300" b="1">
                          <a:solidFill>
                            <a:srgbClr val="FFFFFF"/>
                          </a:solidFill>
                          <a:latin typeface="Malgun Gothic"/>
                        </a:rPr>
                        <a:t>What it does</a:t>
                      </a:r>
                    </a:p>
                  </a:txBody>
                  <a:tcPr>
                    <a:solidFill>
                      <a:srgbClr val="E11D48"/>
                    </a:solidFill>
                  </a:tcPr>
                </a:tc>
                <a:tc>
                  <a:txBody>
                    <a:bodyPr/>
                    <a:lstStyle/>
                    <a:p>
                      <a:pPr algn="ctr"/>
                      <a:r>
                        <a:rPr sz="1300" b="1">
                          <a:solidFill>
                            <a:srgbClr val="FFFFFF"/>
                          </a:solidFill>
                          <a:latin typeface="Malgun Gothic"/>
                        </a:rPr>
                        <a:t>When</a:t>
                      </a:r>
                    </a:p>
                  </a:txBody>
                  <a:tcPr>
                    <a:solidFill>
                      <a:srgbClr val="E11D48"/>
                    </a:solidFill>
                  </a:tcPr>
                </a:tc>
                <a:tc>
                  <a:txBody>
                    <a:bodyPr/>
                    <a:lstStyle/>
                    <a:p>
                      <a:pPr algn="ctr"/>
                      <a:r>
                        <a:rPr sz="1300" b="1">
                          <a:solidFill>
                            <a:srgbClr val="FFFFFF"/>
                          </a:solidFill>
                          <a:latin typeface="Malgun Gothic"/>
                        </a:rPr>
                        <a:t>Core benefit</a:t>
                      </a:r>
                    </a:p>
                  </a:txBody>
                  <a:tcPr>
                    <a:solidFill>
                      <a:srgbClr val="E11D48"/>
                    </a:solidFill>
                  </a:tcPr>
                </a:tc>
              </a:tr>
              <a:tr h="508000">
                <a:tc>
                  <a:txBody>
                    <a:bodyPr/>
                    <a:lstStyle/>
                    <a:p>
                      <a:pPr algn="l"/>
                      <a:r>
                        <a:rPr sz="1200" b="1">
                          <a:solidFill>
                            <a:srgbClr val="334155"/>
                          </a:solidFill>
                          <a:latin typeface="Malgun Gothic"/>
                        </a:rPr>
                        <a:t>Dashboard</a:t>
                      </a:r>
                    </a:p>
                  </a:txBody>
                  <a:tcPr>
                    <a:solidFill>
                      <a:srgbClr val="FFFFFF"/>
                    </a:solidFill>
                  </a:tcPr>
                </a:tc>
                <a:tc>
                  <a:txBody>
                    <a:bodyPr/>
                    <a:lstStyle/>
                    <a:p>
                      <a:pPr algn="ctr"/>
                      <a:r>
                        <a:rPr sz="1200">
                          <a:solidFill>
                            <a:srgbClr val="334155"/>
                          </a:solidFill>
                          <a:latin typeface="Malgun Gothic"/>
                        </a:rPr>
                        <a:t>Revenue·enrollment·today</a:t>
                      </a:r>
                    </a:p>
                  </a:txBody>
                  <a:tcPr>
                    <a:solidFill>
                      <a:srgbClr val="FFFFFF"/>
                    </a:solidFill>
                  </a:tcPr>
                </a:tc>
                <a:tc>
                  <a:txBody>
                    <a:bodyPr/>
                    <a:lstStyle/>
                    <a:p>
                      <a:pPr algn="ctr"/>
                      <a:r>
                        <a:rPr sz="1200">
                          <a:solidFill>
                            <a:srgbClr val="334155"/>
                          </a:solidFill>
                          <a:latin typeface="Malgun Gothic"/>
                        </a:rPr>
                        <a:t>Every morning</a:t>
                      </a:r>
                    </a:p>
                  </a:txBody>
                  <a:tcPr>
                    <a:solidFill>
                      <a:srgbClr val="FFFFFF"/>
                    </a:solidFill>
                  </a:tcPr>
                </a:tc>
                <a:tc>
                  <a:txBody>
                    <a:bodyPr/>
                    <a:lstStyle/>
                    <a:p>
                      <a:pPr algn="ctr"/>
                      <a:r>
                        <a:rPr sz="1200">
                          <a:solidFill>
                            <a:srgbClr val="334155"/>
                          </a:solidFill>
                          <a:latin typeface="Malgun Gothic"/>
                        </a:rPr>
                        <a:t>Quick read</a:t>
                      </a:r>
                    </a:p>
                  </a:txBody>
                  <a:tcPr>
                    <a:solidFill>
                      <a:srgbClr val="FFFFFF"/>
                    </a:solidFill>
                  </a:tcPr>
                </a:tc>
              </a:tr>
              <a:tr h="508000">
                <a:tc>
                  <a:txBody>
                    <a:bodyPr/>
                    <a:lstStyle/>
                    <a:p>
                      <a:pPr algn="l"/>
                      <a:r>
                        <a:rPr sz="1200" b="1">
                          <a:solidFill>
                            <a:srgbClr val="334155"/>
                          </a:solidFill>
                          <a:latin typeface="Malgun Gothic"/>
                        </a:rPr>
                        <a:t>Student mgmt</a:t>
                      </a:r>
                    </a:p>
                  </a:txBody>
                  <a:tcPr>
                    <a:solidFill>
                      <a:srgbClr val="F8FAFC"/>
                    </a:solidFill>
                  </a:tcPr>
                </a:tc>
                <a:tc>
                  <a:txBody>
                    <a:bodyPr/>
                    <a:lstStyle/>
                    <a:p>
                      <a:pPr algn="ctr"/>
                      <a:r>
                        <a:rPr sz="1200">
                          <a:solidFill>
                            <a:srgbClr val="334155"/>
                          </a:solidFill>
                          <a:latin typeface="Malgun Gothic"/>
                        </a:rPr>
                        <a:t>Recruit·enroll·history</a:t>
                      </a:r>
                    </a:p>
                  </a:txBody>
                  <a:tcPr>
                    <a:solidFill>
                      <a:srgbClr val="F8FAFC"/>
                    </a:solidFill>
                  </a:tcPr>
                </a:tc>
                <a:tc>
                  <a:txBody>
                    <a:bodyPr/>
                    <a:lstStyle/>
                    <a:p>
                      <a:pPr algn="ctr"/>
                      <a:r>
                        <a:rPr sz="1200">
                          <a:solidFill>
                            <a:srgbClr val="334155"/>
                          </a:solidFill>
                          <a:latin typeface="Malgun Gothic"/>
                        </a:rPr>
                        <a:t>Always</a:t>
                      </a:r>
                    </a:p>
                  </a:txBody>
                  <a:tcPr>
                    <a:solidFill>
                      <a:srgbClr val="F8FAFC"/>
                    </a:solidFill>
                  </a:tcPr>
                </a:tc>
                <a:tc>
                  <a:txBody>
                    <a:bodyPr/>
                    <a:lstStyle/>
                    <a:p>
                      <a:pPr algn="ctr"/>
                      <a:r>
                        <a:rPr sz="1200">
                          <a:solidFill>
                            <a:srgbClr val="334155"/>
                          </a:solidFill>
                          <a:latin typeface="Malgun Gothic"/>
                        </a:rPr>
                        <a:t>Grow enrollment</a:t>
                      </a:r>
                    </a:p>
                  </a:txBody>
                  <a:tcPr>
                    <a:solidFill>
                      <a:srgbClr val="F8FAFC"/>
                    </a:solidFill>
                  </a:tcPr>
                </a:tc>
              </a:tr>
              <a:tr h="508000">
                <a:tc>
                  <a:txBody>
                    <a:bodyPr/>
                    <a:lstStyle/>
                    <a:p>
                      <a:pPr algn="l"/>
                      <a:r>
                        <a:rPr sz="1200" b="1">
                          <a:solidFill>
                            <a:srgbClr val="334155"/>
                          </a:solidFill>
                          <a:latin typeface="Malgun Gothic"/>
                        </a:rPr>
                        <a:t>Parent comm</a:t>
                      </a:r>
                    </a:p>
                  </a:txBody>
                  <a:tcPr>
                    <a:solidFill>
                      <a:srgbClr val="FFFFFF"/>
                    </a:solidFill>
                  </a:tcPr>
                </a:tc>
                <a:tc>
                  <a:txBody>
                    <a:bodyPr/>
                    <a:lstStyle/>
                    <a:p>
                      <a:pPr algn="ctr"/>
                      <a:r>
                        <a:rPr sz="1200">
                          <a:solidFill>
                            <a:srgbClr val="334155"/>
                          </a:solidFill>
                          <a:latin typeface="Malgun Gothic"/>
                        </a:rPr>
                        <a:t>Guide My Page</a:t>
                      </a:r>
                    </a:p>
                  </a:txBody>
                  <a:tcPr>
                    <a:solidFill>
                      <a:srgbClr val="FFFFFF"/>
                    </a:solidFill>
                  </a:tcPr>
                </a:tc>
                <a:tc>
                  <a:txBody>
                    <a:bodyPr/>
                    <a:lstStyle/>
                    <a:p>
                      <a:pPr algn="ctr"/>
                      <a:r>
                        <a:rPr sz="1200">
                          <a:solidFill>
                            <a:srgbClr val="334155"/>
                          </a:solidFill>
                          <a:latin typeface="Malgun Gothic"/>
                        </a:rPr>
                        <a:t>Enroll·re-enroll</a:t>
                      </a:r>
                    </a:p>
                  </a:txBody>
                  <a:tcPr>
                    <a:solidFill>
                      <a:srgbClr val="FFFFFF"/>
                    </a:solidFill>
                  </a:tcPr>
                </a:tc>
                <a:tc>
                  <a:txBody>
                    <a:bodyPr/>
                    <a:lstStyle/>
                    <a:p>
                      <a:pPr algn="ctr"/>
                      <a:r>
                        <a:rPr sz="1200">
                          <a:solidFill>
                            <a:srgbClr val="334155"/>
                          </a:solidFill>
                          <a:latin typeface="Malgun Gothic"/>
                        </a:rPr>
                        <a:t>Satisfaction ↑</a:t>
                      </a:r>
                    </a:p>
                  </a:txBody>
                  <a:tcPr>
                    <a:solidFill>
                      <a:srgbClr val="FFFFFF"/>
                    </a:solidFill>
                  </a:tcPr>
                </a:tc>
              </a:tr>
              <a:tr h="508000">
                <a:tc>
                  <a:txBody>
                    <a:bodyPr/>
                    <a:lstStyle/>
                    <a:p>
                      <a:pPr algn="l"/>
                      <a:r>
                        <a:rPr sz="1200" b="1">
                          <a:solidFill>
                            <a:srgbClr val="334155"/>
                          </a:solidFill>
                          <a:latin typeface="Malgun Gothic"/>
                        </a:rPr>
                        <a:t>Booking</a:t>
                      </a:r>
                    </a:p>
                  </a:txBody>
                  <a:tcPr>
                    <a:solidFill>
                      <a:srgbClr val="F8FAFC"/>
                    </a:solidFill>
                  </a:tcPr>
                </a:tc>
                <a:tc>
                  <a:txBody>
                    <a:bodyPr/>
                    <a:lstStyle/>
                    <a:p>
                      <a:pPr algn="ctr"/>
                      <a:r>
                        <a:rPr sz="1200">
                          <a:solidFill>
                            <a:srgbClr val="334155"/>
                          </a:solidFill>
                          <a:latin typeface="Malgun Gothic"/>
                        </a:rPr>
                        <a:t>Schedule·teacher</a:t>
                      </a:r>
                    </a:p>
                  </a:txBody>
                  <a:tcPr>
                    <a:solidFill>
                      <a:srgbClr val="F8FAFC"/>
                    </a:solidFill>
                  </a:tcPr>
                </a:tc>
                <a:tc>
                  <a:txBody>
                    <a:bodyPr/>
                    <a:lstStyle/>
                    <a:p>
                      <a:pPr algn="ctr"/>
                      <a:r>
                        <a:rPr sz="1200">
                          <a:solidFill>
                            <a:srgbClr val="334155"/>
                          </a:solidFill>
                          <a:latin typeface="Malgun Gothic"/>
                        </a:rPr>
                        <a:t>Assigning lessons</a:t>
                      </a:r>
                    </a:p>
                  </a:txBody>
                  <a:tcPr>
                    <a:solidFill>
                      <a:srgbClr val="F8FAFC"/>
                    </a:solidFill>
                  </a:tcPr>
                </a:tc>
                <a:tc>
                  <a:txBody>
                    <a:bodyPr/>
                    <a:lstStyle/>
                    <a:p>
                      <a:pPr algn="ctr"/>
                      <a:r>
                        <a:rPr sz="1200">
                          <a:solidFill>
                            <a:srgbClr val="334155"/>
                          </a:solidFill>
                          <a:latin typeface="Malgun Gothic"/>
                        </a:rPr>
                        <a:t>Smooth flow</a:t>
                      </a:r>
                    </a:p>
                  </a:txBody>
                  <a:tcPr>
                    <a:solidFill>
                      <a:srgbClr val="F8FAFC"/>
                    </a:solidFill>
                  </a:tcPr>
                </a:tc>
              </a:tr>
              <a:tr h="508000">
                <a:tc>
                  <a:txBody>
                    <a:bodyPr/>
                    <a:lstStyle/>
                    <a:p>
                      <a:pPr algn="l"/>
                      <a:r>
                        <a:rPr sz="1200" b="1">
                          <a:solidFill>
                            <a:srgbClr val="334155"/>
                          </a:solidFill>
                          <a:latin typeface="Malgun Gothic"/>
                        </a:rPr>
                        <a:t>Payments</a:t>
                      </a:r>
                    </a:p>
                  </a:txBody>
                  <a:tcPr>
                    <a:solidFill>
                      <a:srgbClr val="FFFFFF"/>
                    </a:solidFill>
                  </a:tcPr>
                </a:tc>
                <a:tc>
                  <a:txBody>
                    <a:bodyPr/>
                    <a:lstStyle/>
                    <a:p>
                      <a:pPr algn="ctr"/>
                      <a:r>
                        <a:rPr sz="1200">
                          <a:solidFill>
                            <a:srgbClr val="334155"/>
                          </a:solidFill>
                          <a:latin typeface="Malgun Gothic"/>
                        </a:rPr>
                        <a:t>Payments·overdue·refunds</a:t>
                      </a:r>
                    </a:p>
                  </a:txBody>
                  <a:tcPr>
                    <a:solidFill>
                      <a:srgbClr val="FFFFFF"/>
                    </a:solidFill>
                  </a:tcPr>
                </a:tc>
                <a:tc>
                  <a:txBody>
                    <a:bodyPr/>
                    <a:lstStyle/>
                    <a:p>
                      <a:pPr algn="ctr"/>
                      <a:r>
                        <a:rPr sz="1200">
                          <a:solidFill>
                            <a:srgbClr val="334155"/>
                          </a:solidFill>
                          <a:latin typeface="Malgun Gothic"/>
                        </a:rPr>
                        <a:t>Collection</a:t>
                      </a:r>
                    </a:p>
                  </a:txBody>
                  <a:tcPr>
                    <a:solidFill>
                      <a:srgbClr val="FFFFFF"/>
                    </a:solidFill>
                  </a:tcPr>
                </a:tc>
                <a:tc>
                  <a:txBody>
                    <a:bodyPr/>
                    <a:lstStyle/>
                    <a:p>
                      <a:pPr algn="ctr"/>
                      <a:r>
                        <a:rPr sz="1200">
                          <a:solidFill>
                            <a:srgbClr val="334155"/>
                          </a:solidFill>
                          <a:latin typeface="Malgun Gothic"/>
                        </a:rPr>
                        <a:t>Stable revenue</a:t>
                      </a:r>
                    </a:p>
                  </a:txBody>
                  <a:tcPr>
                    <a:solidFill>
                      <a:srgbClr val="FFFFFF"/>
                    </a:solidFill>
                  </a:tcPr>
                </a:tc>
              </a:tr>
              <a:tr h="508000">
                <a:tc>
                  <a:txBody>
                    <a:bodyPr/>
                    <a:lstStyle/>
                    <a:p>
                      <a:pPr algn="l"/>
                      <a:r>
                        <a:rPr sz="1200" b="1">
                          <a:solidFill>
                            <a:srgbClr val="334155"/>
                          </a:solidFill>
                          <a:latin typeface="Malgun Gothic"/>
                        </a:rPr>
                        <a:t>Reports</a:t>
                      </a:r>
                    </a:p>
                  </a:txBody>
                  <a:tcPr>
                    <a:solidFill>
                      <a:srgbClr val="F8FAFC"/>
                    </a:solidFill>
                  </a:tcPr>
                </a:tc>
                <a:tc>
                  <a:txBody>
                    <a:bodyPr/>
                    <a:lstStyle/>
                    <a:p>
                      <a:pPr algn="ctr"/>
                      <a:r>
                        <a:rPr sz="1200">
                          <a:solidFill>
                            <a:srgbClr val="334155"/>
                          </a:solidFill>
                          <a:latin typeface="Malgun Gothic"/>
                        </a:rPr>
                        <a:t>Learning performance</a:t>
                      </a:r>
                    </a:p>
                  </a:txBody>
                  <a:tcPr>
                    <a:solidFill>
                      <a:srgbClr val="F8FAFC"/>
                    </a:solidFill>
                  </a:tcPr>
                </a:tc>
                <a:tc>
                  <a:txBody>
                    <a:bodyPr/>
                    <a:lstStyle/>
                    <a:p>
                      <a:pPr algn="ctr"/>
                      <a:r>
                        <a:rPr sz="1200">
                          <a:solidFill>
                            <a:srgbClr val="334155"/>
                          </a:solidFill>
                          <a:latin typeface="Malgun Gothic"/>
                        </a:rPr>
                        <a:t>Counsel·re-enroll</a:t>
                      </a:r>
                    </a:p>
                  </a:txBody>
                  <a:tcPr>
                    <a:solidFill>
                      <a:srgbClr val="F8FAFC"/>
                    </a:solidFill>
                  </a:tcPr>
                </a:tc>
                <a:tc>
                  <a:txBody>
                    <a:bodyPr/>
                    <a:lstStyle/>
                    <a:p>
                      <a:pPr algn="ctr"/>
                      <a:r>
                        <a:rPr sz="1200">
                          <a:solidFill>
                            <a:srgbClr val="334155"/>
                          </a:solidFill>
                          <a:latin typeface="Malgun Gothic"/>
                        </a:rPr>
                        <a:t>Persuasion ↑</a:t>
                      </a:r>
                    </a:p>
                  </a:txBody>
                  <a:tcPr>
                    <a:solidFill>
                      <a:srgbClr val="F8FAFC"/>
                    </a:solidFill>
                  </a:tcPr>
                </a:tc>
              </a:tr>
              <a:tr h="508000">
                <a:tc>
                  <a:txBody>
                    <a:bodyPr/>
                    <a:lstStyle/>
                    <a:p>
                      <a:pPr algn="l"/>
                      <a:r>
                        <a:rPr sz="1200" b="1">
                          <a:solidFill>
                            <a:srgbClr val="334155"/>
                          </a:solidFill>
                          <a:latin typeface="Malgun Gothic"/>
                        </a:rPr>
                        <a:t>Settlement</a:t>
                      </a:r>
                    </a:p>
                  </a:txBody>
                  <a:tcPr>
                    <a:solidFill>
                      <a:srgbClr val="FFFFFF"/>
                    </a:solidFill>
                  </a:tcPr>
                </a:tc>
                <a:tc>
                  <a:txBody>
                    <a:bodyPr/>
                    <a:lstStyle/>
                    <a:p>
                      <a:pPr algn="ctr"/>
                      <a:r>
                        <a:rPr sz="1200">
                          <a:solidFill>
                            <a:srgbClr val="334155"/>
                          </a:solidFill>
                          <a:latin typeface="Malgun Gothic"/>
                        </a:rPr>
                        <a:t>Receive branch→agency</a:t>
                      </a:r>
                    </a:p>
                  </a:txBody>
                  <a:tcPr>
                    <a:solidFill>
                      <a:srgbClr val="FFFFFF"/>
                    </a:solidFill>
                  </a:tcPr>
                </a:tc>
                <a:tc>
                  <a:txBody>
                    <a:bodyPr/>
                    <a:lstStyle/>
                    <a:p>
                      <a:pPr algn="ctr"/>
                      <a:r>
                        <a:rPr sz="1200">
                          <a:solidFill>
                            <a:srgbClr val="334155"/>
                          </a:solidFill>
                          <a:latin typeface="Malgun Gothic"/>
                        </a:rPr>
                        <a:t>Monthly</a:t>
                      </a:r>
                    </a:p>
                  </a:txBody>
                  <a:tcPr>
                    <a:solidFill>
                      <a:srgbClr val="FFFFFF"/>
                    </a:solidFill>
                  </a:tcPr>
                </a:tc>
                <a:tc>
                  <a:txBody>
                    <a:bodyPr/>
                    <a:lstStyle/>
                    <a:p>
                      <a:pPr algn="ctr"/>
                      <a:r>
                        <a:rPr sz="1200">
                          <a:solidFill>
                            <a:srgbClr val="334155"/>
                          </a:solidFill>
                          <a:latin typeface="Malgun Gothic"/>
                        </a:rPr>
                        <a:t>Transparent profit</a:t>
                      </a:r>
                    </a:p>
                  </a:txBody>
                  <a:tcPr>
                    <a:solidFill>
                      <a:srgbClr val="FFFFFF"/>
                    </a:solidFill>
                  </a:tcPr>
                </a:tc>
              </a:tr>
              <a:tr h="508000">
                <a:tc>
                  <a:txBody>
                    <a:bodyPr/>
                    <a:lstStyle/>
                    <a:p>
                      <a:pPr algn="l"/>
                      <a:r>
                        <a:rPr sz="1200" b="1">
                          <a:solidFill>
                            <a:srgbClr val="334155"/>
                          </a:solidFill>
                          <a:latin typeface="Malgun Gothic"/>
                        </a:rPr>
                        <a:t>Retention</a:t>
                      </a:r>
                    </a:p>
                  </a:txBody>
                  <a:tcPr>
                    <a:solidFill>
                      <a:srgbClr val="F8FAFC"/>
                    </a:solidFill>
                  </a:tcPr>
                </a:tc>
                <a:tc>
                  <a:txBody>
                    <a:bodyPr/>
                    <a:lstStyle/>
                    <a:p>
                      <a:pPr algn="ctr"/>
                      <a:r>
                        <a:rPr sz="1200">
                          <a:solidFill>
                            <a:srgbClr val="334155"/>
                          </a:solidFill>
                          <a:latin typeface="Malgun Gothic"/>
                        </a:rPr>
                        <a:t>Care for at-risk</a:t>
                      </a:r>
                    </a:p>
                  </a:txBody>
                  <a:tcPr>
                    <a:solidFill>
                      <a:srgbClr val="F8FAFC"/>
                    </a:solidFill>
                  </a:tcPr>
                </a:tc>
                <a:tc>
                  <a:txBody>
                    <a:bodyPr/>
                    <a:lstStyle/>
                    <a:p>
                      <a:pPr algn="ctr"/>
                      <a:r>
                        <a:rPr sz="1200">
                          <a:solidFill>
                            <a:srgbClr val="334155"/>
                          </a:solidFill>
                          <a:latin typeface="Malgun Gothic"/>
                        </a:rPr>
                        <a:t>Always</a:t>
                      </a:r>
                    </a:p>
                  </a:txBody>
                  <a:tcPr>
                    <a:solidFill>
                      <a:srgbClr val="F8FAFC"/>
                    </a:solidFill>
                  </a:tcPr>
                </a:tc>
                <a:tc>
                  <a:txBody>
                    <a:bodyPr/>
                    <a:lstStyle/>
                    <a:p>
                      <a:pPr algn="ctr"/>
                      <a:r>
                        <a:rPr sz="1200">
                          <a:solidFill>
                            <a:srgbClr val="334155"/>
                          </a:solidFill>
                          <a:latin typeface="Malgun Gothic"/>
                        </a:rPr>
                        <a:t>Retention ↑</a:t>
                      </a:r>
                    </a:p>
                  </a:txBody>
                  <a:tcPr>
                    <a:solidFill>
                      <a:srgbClr val="F8FAFC"/>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Data at a Glance</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33</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Data at a Glance</a:t>
            </a:r>
          </a:p>
        </p:txBody>
      </p:sp>
      <p:sp>
        <p:nvSpPr>
          <p:cNvPr id="9" name="TextBox 8"/>
          <p:cNvSpPr txBox="1"/>
          <p:nvPr/>
        </p:nvSpPr>
        <p:spPr>
          <a:xfrm>
            <a:off x="45720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Enrollment Trend (example)</a:t>
            </a:r>
          </a:p>
        </p:txBody>
      </p:sp>
      <p:graphicFrame>
        <p:nvGraphicFramePr>
          <p:cNvPr id="10" name="Chart 9"/>
          <p:cNvGraphicFramePr>
            <a:graphicFrameLocks noGrp="1"/>
          </p:cNvGraphicFramePr>
          <p:nvPr/>
        </p:nvGraphicFramePr>
        <p:xfrm>
          <a:off x="457200" y="1920240"/>
          <a:ext cx="5486400" cy="4206240"/>
        </p:xfrm>
        <a:graphic>
          <a:graphicData uri="http://schemas.openxmlformats.org/drawingml/2006/chart">
            <c:chart xmlns:c="http://schemas.openxmlformats.org/drawingml/2006/chart" r:id="rId2"/>
          </a:graphicData>
        </a:graphic>
      </p:graphicFrame>
      <p:sp>
        <p:nvSpPr>
          <p:cNvPr id="11" name="TextBox 10"/>
          <p:cNvSpPr txBox="1"/>
          <p:nvPr/>
        </p:nvSpPr>
        <p:spPr>
          <a:xfrm>
            <a:off x="6309360" y="1554480"/>
            <a:ext cx="5486400" cy="365760"/>
          </a:xfrm>
          <a:prstGeom prst="rect">
            <a:avLst/>
          </a:prstGeom>
          <a:noFill/>
        </p:spPr>
        <p:txBody>
          <a:bodyPr wrap="square" anchor="t">
            <a:spAutoFit/>
          </a:bodyPr>
          <a:lstStyle/>
          <a:p>
            <a:pPr algn="l">
              <a:lnSpc>
                <a:spcPct val="100000"/>
              </a:lnSpc>
            </a:pPr>
            <a:r>
              <a:rPr sz="1400" b="1">
                <a:solidFill>
                  <a:srgbClr val="1E2340"/>
                </a:solidFill>
                <a:latin typeface="Malgun Gothic"/>
              </a:rPr>
              <a:t>Churn-risk Distribution (example)</a:t>
            </a:r>
          </a:p>
        </p:txBody>
      </p:sp>
      <p:graphicFrame>
        <p:nvGraphicFramePr>
          <p:cNvPr id="12" name="Chart 11"/>
          <p:cNvGraphicFramePr>
            <a:graphicFrameLocks noGrp="1"/>
          </p:cNvGraphicFramePr>
          <p:nvPr/>
        </p:nvGraphicFramePr>
        <p:xfrm>
          <a:off x="6309360" y="1920240"/>
          <a:ext cx="5486400" cy="4206240"/>
        </p:xfrm>
        <a:graphic>
          <a:graphicData uri="http://schemas.openxmlformats.org/drawingml/2006/chart">
            <c:chart xmlns:c="http://schemas.openxmlformats.org/drawingml/2006/chart" r:id="rId3"/>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Frequently Asked Questions (FAQ)</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34</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Frequently Asked Questions (FAQ)</a:t>
            </a:r>
          </a:p>
        </p:txBody>
      </p:sp>
      <p:sp>
        <p:nvSpPr>
          <p:cNvPr id="9" name="Rounded Rectangle 8"/>
          <p:cNvSpPr/>
          <p:nvPr/>
        </p:nvSpPr>
        <p:spPr>
          <a:xfrm>
            <a:off x="365760" y="1554480"/>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27632"/>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Where do I log in?</a:t>
            </a:r>
          </a:p>
        </p:txBody>
      </p:sp>
      <p:sp>
        <p:nvSpPr>
          <p:cNvPr id="11" name="TextBox 10"/>
          <p:cNvSpPr txBox="1"/>
          <p:nvPr/>
        </p:nvSpPr>
        <p:spPr>
          <a:xfrm>
            <a:off x="548640" y="1965960"/>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Log in at admin.mangoi.co.kr. By role (agency), only your agency's data shows automatically.</a:t>
            </a:r>
          </a:p>
        </p:txBody>
      </p:sp>
      <p:sp>
        <p:nvSpPr>
          <p:cNvPr id="12" name="Rounded Rectangle 11"/>
          <p:cNvSpPr/>
          <p:nvPr/>
        </p:nvSpPr>
        <p:spPr>
          <a:xfrm>
            <a:off x="365760" y="2542032"/>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615184"/>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Can I see other agencies' data?</a:t>
            </a:r>
          </a:p>
        </p:txBody>
      </p:sp>
      <p:sp>
        <p:nvSpPr>
          <p:cNvPr id="14" name="TextBox 13"/>
          <p:cNvSpPr txBox="1"/>
          <p:nvPr/>
        </p:nvSpPr>
        <p:spPr>
          <a:xfrm>
            <a:off x="548640" y="2953512"/>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No. By permission scope, only your agency's data is visible.</a:t>
            </a:r>
          </a:p>
        </p:txBody>
      </p:sp>
      <p:sp>
        <p:nvSpPr>
          <p:cNvPr id="15" name="Rounded Rectangle 14"/>
          <p:cNvSpPr/>
          <p:nvPr/>
        </p:nvSpPr>
        <p:spPr>
          <a:xfrm>
            <a:off x="365760" y="3529584"/>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602736"/>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How do I grow enrollment?</a:t>
            </a:r>
          </a:p>
        </p:txBody>
      </p:sp>
      <p:sp>
        <p:nvSpPr>
          <p:cNvPr id="17" name="TextBox 16"/>
          <p:cNvSpPr txBox="1"/>
          <p:nvPr/>
        </p:nvSpPr>
        <p:spPr>
          <a:xfrm>
            <a:off x="548640" y="3941064"/>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Fast counseling response, a smooth trial→enroll flow, and persuading parents with learning reports are key.</a:t>
            </a:r>
          </a:p>
        </p:txBody>
      </p:sp>
      <p:sp>
        <p:nvSpPr>
          <p:cNvPr id="18" name="Rounded Rectangle 17"/>
          <p:cNvSpPr/>
          <p:nvPr/>
        </p:nvSpPr>
        <p:spPr>
          <a:xfrm>
            <a:off x="365760" y="4517136"/>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590288"/>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How do I check settlement?</a:t>
            </a:r>
          </a:p>
        </p:txBody>
      </p:sp>
      <p:sp>
        <p:nvSpPr>
          <p:cNvPr id="20" name="TextBox 19"/>
          <p:cNvSpPr txBox="1"/>
          <p:nvPr/>
        </p:nvSpPr>
        <p:spPr>
          <a:xfrm>
            <a:off x="548640" y="4928616"/>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Branch→agency settlement (received) is auto-calculated by the org tree; check it in the monthly report.</a:t>
            </a:r>
          </a:p>
        </p:txBody>
      </p:sp>
      <p:sp>
        <p:nvSpPr>
          <p:cNvPr id="21" name="Rounded Rectangle 20"/>
          <p:cNvSpPr/>
          <p:nvPr/>
        </p:nvSpPr>
        <p:spPr>
          <a:xfrm>
            <a:off x="365760" y="5504688"/>
            <a:ext cx="11460175" cy="868680"/>
          </a:xfrm>
          <a:prstGeom prst="roundRect">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77840"/>
            <a:ext cx="11094415" cy="365760"/>
          </a:xfrm>
          <a:prstGeom prst="rect">
            <a:avLst/>
          </a:prstGeom>
          <a:noFill/>
        </p:spPr>
        <p:txBody>
          <a:bodyPr wrap="square" anchor="t">
            <a:spAutoFit/>
          </a:bodyPr>
          <a:lstStyle/>
          <a:p>
            <a:pPr algn="l">
              <a:lnSpc>
                <a:spcPct val="100000"/>
              </a:lnSpc>
            </a:pPr>
            <a:r>
              <a:rPr sz="1350" b="1">
                <a:solidFill>
                  <a:srgbClr val="E11D48"/>
                </a:solidFill>
                <a:latin typeface="Malgun Gothic"/>
              </a:rPr>
              <a:t>Q. A student seems about to quit.</a:t>
            </a:r>
          </a:p>
        </p:txBody>
      </p:sp>
      <p:sp>
        <p:nvSpPr>
          <p:cNvPr id="23" name="TextBox 22"/>
          <p:cNvSpPr txBox="1"/>
          <p:nvPr/>
        </p:nvSpPr>
        <p:spPr>
          <a:xfrm>
            <a:off x="548640" y="5916168"/>
            <a:ext cx="11094415" cy="411480"/>
          </a:xfrm>
          <a:prstGeom prst="rect">
            <a:avLst/>
          </a:prstGeom>
          <a:noFill/>
        </p:spPr>
        <p:txBody>
          <a:bodyPr wrap="square" anchor="t">
            <a:spAutoFit/>
          </a:bodyPr>
          <a:lstStyle/>
          <a:p>
            <a:pPr algn="l">
              <a:lnSpc>
                <a:spcPct val="105000"/>
              </a:lnSpc>
            </a:pPr>
            <a:r>
              <a:rPr sz="1150" b="0">
                <a:solidFill>
                  <a:srgbClr val="475569"/>
                </a:solidFill>
                <a:latin typeface="Malgun Gothic"/>
              </a:rPr>
              <a:t>A. Watch churn-risk signals (absences·performance drop) and intervene quickly with counseling/alert-talk.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1F2"/>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Checklist</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35</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200" b="1">
                <a:solidFill>
                  <a:srgbClr val="E11D48"/>
                </a:solidFill>
                <a:latin typeface="Malgun Gothic"/>
              </a:rPr>
              <a:t>✅ Agency Operations Checklist</a:t>
            </a:r>
          </a:p>
        </p:txBody>
      </p:sp>
      <p:sp>
        <p:nvSpPr>
          <p:cNvPr id="9" name="Rounded Rectangle 8"/>
          <p:cNvSpPr/>
          <p:nvPr/>
        </p:nvSpPr>
        <p:spPr>
          <a:xfrm>
            <a:off x="457200" y="164592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8191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today's revenue/enrollment/attendance?</a:t>
            </a:r>
          </a:p>
        </p:txBody>
      </p:sp>
      <p:sp>
        <p:nvSpPr>
          <p:cNvPr id="11" name="Rounded Rectangle 10"/>
          <p:cNvSpPr/>
          <p:nvPr/>
        </p:nvSpPr>
        <p:spPr>
          <a:xfrm>
            <a:off x="457200" y="221284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4884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take and respond to new counseling/inquiries?</a:t>
            </a:r>
          </a:p>
        </p:txBody>
      </p:sp>
      <p:sp>
        <p:nvSpPr>
          <p:cNvPr id="13" name="Rounded Rectangle 12"/>
          <p:cNvSpPr/>
          <p:nvPr/>
        </p:nvSpPr>
        <p:spPr>
          <a:xfrm>
            <a:off x="457200" y="2779776"/>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715768"/>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and notify overdue items?</a:t>
            </a:r>
          </a:p>
        </p:txBody>
      </p:sp>
      <p:sp>
        <p:nvSpPr>
          <p:cNvPr id="15" name="Rounded Rectangle 14"/>
          <p:cNvSpPr/>
          <p:nvPr/>
        </p:nvSpPr>
        <p:spPr>
          <a:xfrm>
            <a:off x="457200" y="3346704"/>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282696"/>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care for at-risk students?</a:t>
            </a:r>
          </a:p>
        </p:txBody>
      </p:sp>
      <p:sp>
        <p:nvSpPr>
          <p:cNvPr id="17" name="Rounded Rectangle 16"/>
          <p:cNvSpPr/>
          <p:nvPr/>
        </p:nvSpPr>
        <p:spPr>
          <a:xfrm>
            <a:off x="457200" y="3913632"/>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849624"/>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guide parents to the report/My Page?</a:t>
            </a:r>
          </a:p>
        </p:txBody>
      </p:sp>
      <p:sp>
        <p:nvSpPr>
          <p:cNvPr id="19" name="Rounded Rectangle 18"/>
          <p:cNvSpPr/>
          <p:nvPr/>
        </p:nvSpPr>
        <p:spPr>
          <a:xfrm>
            <a:off x="457200" y="4480560"/>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416552"/>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check this month's settlement (received)?</a:t>
            </a:r>
          </a:p>
        </p:txBody>
      </p:sp>
      <p:sp>
        <p:nvSpPr>
          <p:cNvPr id="21" name="Rounded Rectangle 20"/>
          <p:cNvSpPr/>
          <p:nvPr/>
        </p:nvSpPr>
        <p:spPr>
          <a:xfrm>
            <a:off x="457200" y="5047488"/>
            <a:ext cx="292608" cy="292608"/>
          </a:xfrm>
          <a:prstGeom prst="roundRect">
            <a:avLst/>
          </a:prstGeom>
          <a:solidFill>
            <a:srgbClr val="FFFFFF"/>
          </a:solidFill>
          <a:ln w="12700">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4983480"/>
            <a:ext cx="10058400" cy="411480"/>
          </a:xfrm>
          <a:prstGeom prst="rect">
            <a:avLst/>
          </a:prstGeom>
          <a:noFill/>
        </p:spPr>
        <p:txBody>
          <a:bodyPr wrap="square" anchor="t">
            <a:spAutoFit/>
          </a:bodyPr>
          <a:lstStyle/>
          <a:p>
            <a:pPr algn="l">
              <a:lnSpc>
                <a:spcPct val="100000"/>
              </a:lnSpc>
            </a:pPr>
            <a:r>
              <a:rPr sz="1500" b="1">
                <a:solidFill>
                  <a:srgbClr val="334155"/>
                </a:solidFill>
                <a:latin typeface="Malgun Gothic"/>
              </a:rPr>
              <a:t>Did you follow up on trial→enroll?</a:t>
            </a:r>
          </a:p>
        </p:txBody>
      </p:sp>
      <p:pic>
        <p:nvPicPr>
          <p:cNvPr id="23" name="Picture 22" descr="mango_char.png"/>
          <p:cNvPicPr>
            <a:picLocks noChangeAspect="1"/>
          </p:cNvPicPr>
          <p:nvPr/>
        </p:nvPicPr>
        <p:blipFill>
          <a:blip r:embed="rId2"/>
          <a:stretch>
            <a:fillRect/>
          </a:stretch>
        </p:blipFill>
        <p:spPr>
          <a:xfrm>
            <a:off x="9153162" y="4480559"/>
            <a:ext cx="2489892" cy="201168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566928"/>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6928"/>
            <a:ext cx="12191695" cy="54864"/>
          </a:xfrm>
          <a:prstGeom prst="rect">
            <a:avLst/>
          </a:prstGeom>
          <a:solidFill>
            <a:srgbClr val="0EA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7432"/>
            <a:ext cx="7315200" cy="502920"/>
          </a:xfrm>
          <a:prstGeom prst="rect">
            <a:avLst/>
          </a:prstGeom>
          <a:noFill/>
        </p:spPr>
        <p:txBody>
          <a:bodyPr wrap="square" anchor="ctr">
            <a:spAutoFit/>
          </a:bodyPr>
          <a:lstStyle/>
          <a:p>
            <a:pPr algn="l">
              <a:lnSpc>
                <a:spcPct val="100000"/>
              </a:lnSpc>
            </a:pPr>
            <a:r>
              <a:rPr sz="1500" b="1">
                <a:solidFill>
                  <a:srgbClr val="FFFFFF"/>
                </a:solidFill>
                <a:latin typeface="Malgun Gothic"/>
              </a:rPr>
              <a:t>🤝 Mangoi Agency User Guide</a:t>
            </a:r>
          </a:p>
        </p:txBody>
      </p:sp>
      <p:sp>
        <p:nvSpPr>
          <p:cNvPr id="5" name="TextBox 4"/>
          <p:cNvSpPr txBox="1"/>
          <p:nvPr/>
        </p:nvSpPr>
        <p:spPr>
          <a:xfrm>
            <a:off x="8168335" y="27432"/>
            <a:ext cx="3657600" cy="502920"/>
          </a:xfrm>
          <a:prstGeom prst="rect">
            <a:avLst/>
          </a:prstGeom>
          <a:noFill/>
        </p:spPr>
        <p:txBody>
          <a:bodyPr wrap="square" anchor="ctr">
            <a:spAutoFit/>
          </a:bodyPr>
          <a:lstStyle/>
          <a:p>
            <a:pPr algn="r">
              <a:lnSpc>
                <a:spcPct val="100000"/>
              </a:lnSpc>
            </a:pPr>
            <a:r>
              <a:rPr sz="1300" b="1">
                <a:solidFill>
                  <a:srgbClr val="F1F5F9"/>
                </a:solidFill>
                <a:latin typeface="Malgun Gothic"/>
              </a:rPr>
              <a:t>Conclusion</a:t>
            </a:r>
          </a:p>
        </p:txBody>
      </p:sp>
      <p:sp>
        <p:nvSpPr>
          <p:cNvPr id="6" name="Rounded Rectangle 5"/>
          <p:cNvSpPr/>
          <p:nvPr/>
        </p:nvSpPr>
        <p:spPr>
          <a:xfrm>
            <a:off x="365760" y="841248"/>
            <a:ext cx="658368" cy="512064"/>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841248"/>
            <a:ext cx="658368" cy="512064"/>
          </a:xfrm>
          <a:prstGeom prst="rect">
            <a:avLst/>
          </a:prstGeom>
          <a:noFill/>
        </p:spPr>
        <p:txBody>
          <a:bodyPr wrap="square" anchor="ctr">
            <a:spAutoFit/>
          </a:bodyPr>
          <a:lstStyle/>
          <a:p>
            <a:pPr algn="ctr">
              <a:lnSpc>
                <a:spcPct val="100000"/>
              </a:lnSpc>
            </a:pPr>
            <a:r>
              <a:rPr sz="1700" b="1">
                <a:solidFill>
                  <a:srgbClr val="FFFFFF"/>
                </a:solidFill>
                <a:latin typeface="Malgun Gothic"/>
              </a:rPr>
              <a:t>36</a:t>
            </a:r>
          </a:p>
        </p:txBody>
      </p:sp>
      <p:sp>
        <p:nvSpPr>
          <p:cNvPr id="8" name="TextBox 7"/>
          <p:cNvSpPr txBox="1"/>
          <p:nvPr/>
        </p:nvSpPr>
        <p:spPr>
          <a:xfrm>
            <a:off x="1143000" y="868680"/>
            <a:ext cx="9144000" cy="457200"/>
          </a:xfrm>
          <a:prstGeom prst="rect">
            <a:avLst/>
          </a:prstGeom>
          <a:noFill/>
        </p:spPr>
        <p:txBody>
          <a:bodyPr wrap="square" anchor="t">
            <a:spAutoFit/>
          </a:bodyPr>
          <a:lstStyle/>
          <a:p>
            <a:pPr algn="l">
              <a:lnSpc>
                <a:spcPct val="100000"/>
              </a:lnSpc>
            </a:pPr>
            <a:r>
              <a:rPr sz="2100" b="1">
                <a:solidFill>
                  <a:srgbClr val="E11D48"/>
                </a:solidFill>
                <a:latin typeface="Malgun Gothic"/>
              </a:rPr>
              <a:t>🏁 Conclusion · A Practical Guide to Agency Growth</a:t>
            </a:r>
          </a:p>
        </p:txBody>
      </p:sp>
      <p:sp>
        <p:nvSpPr>
          <p:cNvPr id="9" name="Rounded Rectangle 8"/>
          <p:cNvSpPr/>
          <p:nvPr/>
        </p:nvSpPr>
        <p:spPr>
          <a:xfrm>
            <a:off x="365760" y="1371600"/>
            <a:ext cx="11430000" cy="868680"/>
          </a:xfrm>
          <a:prstGeom prst="roundRect">
            <a:avLst/>
          </a:prstGeom>
          <a:solidFill>
            <a:srgbClr val="FFF1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26464"/>
            <a:ext cx="11064240" cy="777240"/>
          </a:xfrm>
          <a:prstGeom prst="rect">
            <a:avLst/>
          </a:prstGeom>
          <a:noFill/>
        </p:spPr>
        <p:txBody>
          <a:bodyPr wrap="square" anchor="t">
            <a:spAutoFit/>
          </a:bodyPr>
          <a:lstStyle/>
          <a:p>
            <a:pPr algn="l">
              <a:lnSpc>
                <a:spcPct val="115000"/>
              </a:lnSpc>
            </a:pPr>
            <a:r>
              <a:rPr sz="1150" b="0">
                <a:solidFill>
                  <a:srgbClr val="334155"/>
                </a:solidFill>
                <a:latin typeface="Malgun Gothic"/>
              </a:rPr>
              <a:t>The core of agency operations is the virtuous cycle of 'recruit → enroll → satisfy → re-enroll.' Respond to counseling fast, show learning results with data, and prevent churn early — and your agency grows steadily. Keep this rhythm and operations feel solid.</a:t>
            </a:r>
          </a:p>
        </p:txBody>
      </p:sp>
      <p:sp>
        <p:nvSpPr>
          <p:cNvPr id="11" name="TextBox 10"/>
          <p:cNvSpPr txBox="1"/>
          <p:nvPr/>
        </p:nvSpPr>
        <p:spPr>
          <a:xfrm>
            <a:off x="457200" y="2423160"/>
            <a:ext cx="5760720" cy="320040"/>
          </a:xfrm>
          <a:prstGeom prst="rect">
            <a:avLst/>
          </a:prstGeom>
          <a:noFill/>
        </p:spPr>
        <p:txBody>
          <a:bodyPr wrap="square" anchor="t">
            <a:spAutoFit/>
          </a:bodyPr>
          <a:lstStyle/>
          <a:p>
            <a:pPr algn="l">
              <a:lnSpc>
                <a:spcPct val="100000"/>
              </a:lnSpc>
            </a:pPr>
            <a:r>
              <a:rPr sz="1350" b="1">
                <a:solidFill>
                  <a:srgbClr val="E11D48"/>
                </a:solidFill>
                <a:latin typeface="Malgun Gothic"/>
              </a:rPr>
              <a:t>🔄 The Flow at a Glance</a:t>
            </a:r>
          </a:p>
        </p:txBody>
      </p:sp>
      <p:sp>
        <p:nvSpPr>
          <p:cNvPr id="12" name="Rounded Rectangle 11"/>
          <p:cNvSpPr/>
          <p:nvPr/>
        </p:nvSpPr>
        <p:spPr>
          <a:xfrm>
            <a:off x="457200" y="27889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7889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Morning (5 min)</a:t>
            </a:r>
          </a:p>
        </p:txBody>
      </p:sp>
      <p:sp>
        <p:nvSpPr>
          <p:cNvPr id="14" name="TextBox 13"/>
          <p:cNvSpPr txBox="1"/>
          <p:nvPr/>
        </p:nvSpPr>
        <p:spPr>
          <a:xfrm>
            <a:off x="2148840" y="27706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 revenue/enrollment/attendance on the dashboard; check live-lesson status</a:t>
            </a:r>
          </a:p>
        </p:txBody>
      </p:sp>
      <p:sp>
        <p:nvSpPr>
          <p:cNvPr id="15" name="Rounded Rectangle 14"/>
          <p:cNvSpPr/>
          <p:nvPr/>
        </p:nvSpPr>
        <p:spPr>
          <a:xfrm>
            <a:off x="457200" y="32461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32461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Late morning</a:t>
            </a:r>
          </a:p>
        </p:txBody>
      </p:sp>
      <p:sp>
        <p:nvSpPr>
          <p:cNvPr id="17" name="TextBox 16"/>
          <p:cNvSpPr txBox="1"/>
          <p:nvPr/>
        </p:nvSpPr>
        <p:spPr>
          <a:xfrm>
            <a:off x="2148840" y="32278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Respond to new counseling·convert; notify overdue</a:t>
            </a:r>
          </a:p>
        </p:txBody>
      </p:sp>
      <p:sp>
        <p:nvSpPr>
          <p:cNvPr id="18" name="Rounded Rectangle 17"/>
          <p:cNvSpPr/>
          <p:nvPr/>
        </p:nvSpPr>
        <p:spPr>
          <a:xfrm>
            <a:off x="457200" y="37033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7033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Class hours</a:t>
            </a:r>
          </a:p>
        </p:txBody>
      </p:sp>
      <p:sp>
        <p:nvSpPr>
          <p:cNvPr id="20" name="TextBox 19"/>
          <p:cNvSpPr txBox="1"/>
          <p:nvPr/>
        </p:nvSpPr>
        <p:spPr>
          <a:xfrm>
            <a:off x="2148840" y="36850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 lesson assignment/progress; guide 'entry' tickets to browser/permission first</a:t>
            </a:r>
          </a:p>
        </p:txBody>
      </p:sp>
      <p:sp>
        <p:nvSpPr>
          <p:cNvPr id="21" name="Rounded Rectangle 20"/>
          <p:cNvSpPr/>
          <p:nvPr/>
        </p:nvSpPr>
        <p:spPr>
          <a:xfrm>
            <a:off x="457200" y="41605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41605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Afternoon</a:t>
            </a:r>
          </a:p>
        </p:txBody>
      </p:sp>
      <p:sp>
        <p:nvSpPr>
          <p:cNvPr id="23" name="TextBox 22"/>
          <p:cNvSpPr txBox="1"/>
          <p:nvPr/>
        </p:nvSpPr>
        <p:spPr>
          <a:xfrm>
            <a:off x="2148840" y="41422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Care for at-risk students; parent reports·counseling</a:t>
            </a:r>
          </a:p>
        </p:txBody>
      </p:sp>
      <p:sp>
        <p:nvSpPr>
          <p:cNvPr id="24" name="Rounded Rectangle 23"/>
          <p:cNvSpPr/>
          <p:nvPr/>
        </p:nvSpPr>
        <p:spPr>
          <a:xfrm>
            <a:off x="457200" y="4617720"/>
            <a:ext cx="1600200" cy="384048"/>
          </a:xfrm>
          <a:prstGeom prst="round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4617720"/>
            <a:ext cx="1600200" cy="384048"/>
          </a:xfrm>
          <a:prstGeom prst="rect">
            <a:avLst/>
          </a:prstGeom>
          <a:noFill/>
        </p:spPr>
        <p:txBody>
          <a:bodyPr wrap="square" anchor="ctr">
            <a:spAutoFit/>
          </a:bodyPr>
          <a:lstStyle/>
          <a:p>
            <a:pPr algn="ctr">
              <a:lnSpc>
                <a:spcPct val="100000"/>
              </a:lnSpc>
            </a:pPr>
            <a:r>
              <a:rPr sz="850" b="1">
                <a:solidFill>
                  <a:srgbClr val="FFFFFF"/>
                </a:solidFill>
                <a:latin typeface="Malgun Gothic"/>
              </a:rPr>
              <a:t>Monthly</a:t>
            </a:r>
          </a:p>
        </p:txBody>
      </p:sp>
      <p:sp>
        <p:nvSpPr>
          <p:cNvPr id="26" name="TextBox 25"/>
          <p:cNvSpPr txBox="1"/>
          <p:nvPr/>
        </p:nvSpPr>
        <p:spPr>
          <a:xfrm>
            <a:off x="2148840" y="4599432"/>
            <a:ext cx="4114800" cy="420624"/>
          </a:xfrm>
          <a:prstGeom prst="rect">
            <a:avLst/>
          </a:prstGeom>
          <a:noFill/>
        </p:spPr>
        <p:txBody>
          <a:bodyPr wrap="square" anchor="ctr">
            <a:spAutoFit/>
          </a:bodyPr>
          <a:lstStyle/>
          <a:p>
            <a:pPr algn="l">
              <a:lnSpc>
                <a:spcPct val="100000"/>
              </a:lnSpc>
            </a:pPr>
            <a:r>
              <a:rPr sz="850" b="0">
                <a:solidFill>
                  <a:srgbClr val="334155"/>
                </a:solidFill>
                <a:latin typeface="Malgun Gothic"/>
              </a:rPr>
              <a:t>Check branch→agency settlement; re-enroll·follow-up</a:t>
            </a:r>
          </a:p>
        </p:txBody>
      </p:sp>
      <p:sp>
        <p:nvSpPr>
          <p:cNvPr id="27" name="TextBox 26"/>
          <p:cNvSpPr txBox="1"/>
          <p:nvPr/>
        </p:nvSpPr>
        <p:spPr>
          <a:xfrm>
            <a:off x="6400800" y="242316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Key Principles</a:t>
            </a:r>
          </a:p>
        </p:txBody>
      </p:sp>
      <p:sp>
        <p:nvSpPr>
          <p:cNvPr id="28" name="TextBox 27"/>
          <p:cNvSpPr txBox="1"/>
          <p:nvPr/>
        </p:nvSpPr>
        <p:spPr>
          <a:xfrm>
            <a:off x="6400800" y="2788920"/>
            <a:ext cx="5394960" cy="2103120"/>
          </a:xfrm>
          <a:prstGeom prst="rect">
            <a:avLst/>
          </a:prstGeom>
          <a:noFill/>
        </p:spPr>
        <p:txBody>
          <a:bodyPr wrap="square">
            <a:spAutoFit/>
          </a:bodyPr>
          <a:lstStyle/>
          <a:p>
            <a:pPr>
              <a:lnSpc>
                <a:spcPct val="115000"/>
              </a:lnSpc>
              <a:spcAft>
                <a:spcPts val="500"/>
              </a:spcAft>
            </a:pPr>
            <a:r>
              <a:rPr sz="900" b="1">
                <a:solidFill>
                  <a:srgbClr val="E11D48"/>
                </a:solidFill>
                <a:latin typeface="Malgun Gothic"/>
              </a:rPr>
              <a:t>● </a:t>
            </a:r>
            <a:r>
              <a:rPr sz="1100">
                <a:solidFill>
                  <a:srgbClr val="334155"/>
                </a:solidFill>
                <a:latin typeface="Malgun Gothic"/>
              </a:rPr>
              <a:t>Respond fast — the faster you handle counseling/inquiries, the higher conversion.</a:t>
            </a:r>
          </a:p>
          <a:p>
            <a:pPr>
              <a:lnSpc>
                <a:spcPct val="115000"/>
              </a:lnSpc>
              <a:spcAft>
                <a:spcPts val="500"/>
              </a:spcAft>
            </a:pPr>
            <a:r>
              <a:rPr sz="900" b="1">
                <a:solidFill>
                  <a:srgbClr val="E11D48"/>
                </a:solidFill>
                <a:latin typeface="Malgun Gothic"/>
              </a:rPr>
              <a:t>● </a:t>
            </a:r>
            <a:r>
              <a:rPr sz="1100">
                <a:solidFill>
                  <a:srgbClr val="334155"/>
                </a:solidFill>
                <a:latin typeface="Malgun Gothic"/>
              </a:rPr>
              <a:t>Persuade with data — showing results via learning reports makes re-enrollment easy.</a:t>
            </a:r>
          </a:p>
          <a:p>
            <a:pPr>
              <a:lnSpc>
                <a:spcPct val="115000"/>
              </a:lnSpc>
              <a:spcAft>
                <a:spcPts val="500"/>
              </a:spcAft>
            </a:pPr>
            <a:r>
              <a:rPr sz="900" b="1">
                <a:solidFill>
                  <a:srgbClr val="E11D48"/>
                </a:solidFill>
                <a:latin typeface="Malgun Gothic"/>
              </a:rPr>
              <a:t>● </a:t>
            </a:r>
            <a:r>
              <a:rPr sz="1100">
                <a:solidFill>
                  <a:srgbClr val="334155"/>
                </a:solidFill>
                <a:latin typeface="Malgun Gothic"/>
              </a:rPr>
              <a:t>Intervene on churn early — care first for frequently-absent students.</a:t>
            </a:r>
          </a:p>
          <a:p>
            <a:pPr>
              <a:lnSpc>
                <a:spcPct val="115000"/>
              </a:lnSpc>
              <a:spcAft>
                <a:spcPts val="500"/>
              </a:spcAft>
            </a:pPr>
            <a:r>
              <a:rPr sz="900" b="1">
                <a:solidFill>
                  <a:srgbClr val="E11D48"/>
                </a:solidFill>
                <a:latin typeface="Malgun Gothic"/>
              </a:rPr>
              <a:t>● </a:t>
            </a:r>
            <a:r>
              <a:rPr sz="1100">
                <a:solidFill>
                  <a:srgbClr val="334155"/>
                </a:solidFill>
                <a:latin typeface="Malgun Gothic"/>
              </a:rPr>
              <a:t>Communicate with parents — build trust with My Page and reports.</a:t>
            </a:r>
          </a:p>
          <a:p>
            <a:pPr>
              <a:lnSpc>
                <a:spcPct val="115000"/>
              </a:lnSpc>
              <a:spcAft>
                <a:spcPts val="500"/>
              </a:spcAft>
            </a:pPr>
            <a:r>
              <a:rPr sz="900" b="1">
                <a:solidFill>
                  <a:srgbClr val="E11D48"/>
                </a:solidFill>
                <a:latin typeface="Malgun Gothic"/>
              </a:rPr>
              <a:t>● </a:t>
            </a:r>
            <a:r>
              <a:rPr sz="1100">
                <a:solidFill>
                  <a:srgbClr val="334155"/>
                </a:solidFill>
                <a:latin typeface="Malgun Gothic"/>
              </a:rPr>
              <a:t>Follow up — following up after counseling completes enrollment.</a:t>
            </a:r>
          </a:p>
        </p:txBody>
      </p:sp>
      <p:sp>
        <p:nvSpPr>
          <p:cNvPr id="29" name="TextBox 28"/>
          <p:cNvSpPr txBox="1"/>
          <p:nvPr/>
        </p:nvSpPr>
        <p:spPr>
          <a:xfrm>
            <a:off x="6400800" y="4892040"/>
            <a:ext cx="5486400" cy="320040"/>
          </a:xfrm>
          <a:prstGeom prst="rect">
            <a:avLst/>
          </a:prstGeom>
          <a:noFill/>
        </p:spPr>
        <p:txBody>
          <a:bodyPr wrap="square" anchor="t">
            <a:spAutoFit/>
          </a:bodyPr>
          <a:lstStyle/>
          <a:p>
            <a:pPr algn="l">
              <a:lnSpc>
                <a:spcPct val="100000"/>
              </a:lnSpc>
            </a:pPr>
            <a:r>
              <a:rPr sz="1350" b="1">
                <a:solidFill>
                  <a:srgbClr val="E11D48"/>
                </a:solidFill>
                <a:latin typeface="Malgun Gothic"/>
              </a:rPr>
              <a:t>📌 Remember</a:t>
            </a:r>
          </a:p>
        </p:txBody>
      </p:sp>
      <p:sp>
        <p:nvSpPr>
          <p:cNvPr id="30" name="TextBox 29"/>
          <p:cNvSpPr txBox="1"/>
          <p:nvPr/>
        </p:nvSpPr>
        <p:spPr>
          <a:xfrm>
            <a:off x="6400800" y="5257800"/>
            <a:ext cx="5394960" cy="1645920"/>
          </a:xfrm>
          <a:prstGeom prst="rect">
            <a:avLst/>
          </a:prstGeom>
          <a:noFill/>
        </p:spPr>
        <p:txBody>
          <a:bodyPr wrap="square">
            <a:spAutoFit/>
          </a:bodyPr>
          <a:lstStyle/>
          <a:p>
            <a:pPr>
              <a:lnSpc>
                <a:spcPct val="115000"/>
              </a:lnSpc>
              <a:spcAft>
                <a:spcPts val="400"/>
              </a:spcAft>
            </a:pPr>
            <a:r>
              <a:rPr sz="850" b="1">
                <a:solidFill>
                  <a:srgbClr val="0EA5E9"/>
                </a:solidFill>
                <a:latin typeface="Malgun Gothic"/>
              </a:rPr>
              <a:t>● </a:t>
            </a:r>
            <a:r>
              <a:rPr sz="1050">
                <a:solidFill>
                  <a:srgbClr val="334155"/>
                </a:solidFill>
                <a:latin typeface="Malgun Gothic"/>
              </a:rPr>
              <a:t>Log in at admin.mangoi.co.kr; data is auto-limited to your agency scope</a:t>
            </a:r>
          </a:p>
          <a:p>
            <a:pPr>
              <a:lnSpc>
                <a:spcPct val="115000"/>
              </a:lnSpc>
              <a:spcAft>
                <a:spcPts val="400"/>
              </a:spcAft>
            </a:pPr>
            <a:r>
              <a:rPr sz="850" b="1">
                <a:solidFill>
                  <a:srgbClr val="0EA5E9"/>
                </a:solidFill>
                <a:latin typeface="Malgun Gothic"/>
              </a:rPr>
              <a:t>● </a:t>
            </a:r>
            <a:r>
              <a:rPr sz="1050">
                <a:solidFill>
                  <a:srgbClr val="334155"/>
                </a:solidFill>
                <a:latin typeface="Malgun Gothic"/>
              </a:rPr>
              <a:t>Settlement is auto-calculated by the branch→agency tree</a:t>
            </a:r>
          </a:p>
          <a:p>
            <a:pPr>
              <a:lnSpc>
                <a:spcPct val="115000"/>
              </a:lnSpc>
              <a:spcAft>
                <a:spcPts val="400"/>
              </a:spcAft>
            </a:pPr>
            <a:r>
              <a:rPr sz="850" b="1">
                <a:solidFill>
                  <a:srgbClr val="0EA5E9"/>
                </a:solidFill>
                <a:latin typeface="Malgun Gothic"/>
              </a:rPr>
              <a:t>● </a:t>
            </a:r>
            <a:r>
              <a:rPr sz="1050">
                <a:solidFill>
                  <a:srgbClr val="334155"/>
                </a:solidFill>
                <a:latin typeface="Malgun Gothic"/>
              </a:rPr>
              <a:t>Most 'can't enter class' tickets are browser/permission issues</a:t>
            </a:r>
          </a:p>
          <a:p>
            <a:pPr>
              <a:lnSpc>
                <a:spcPct val="115000"/>
              </a:lnSpc>
              <a:spcAft>
                <a:spcPts val="400"/>
              </a:spcAft>
            </a:pPr>
            <a:r>
              <a:rPr sz="850" b="1">
                <a:solidFill>
                  <a:srgbClr val="0EA5E9"/>
                </a:solidFill>
                <a:latin typeface="Malgun Gothic"/>
              </a:rPr>
              <a:t>● </a:t>
            </a:r>
            <a:r>
              <a:rPr sz="1050">
                <a:solidFill>
                  <a:srgbClr val="334155"/>
                </a:solidFill>
                <a:latin typeface="Malgun Gothic"/>
              </a:rPr>
              <a:t>Growth rhythm: 'Recruit → Enroll → Satisfy → Re-enroll'!</a:t>
            </a:r>
          </a:p>
        </p:txBody>
      </p:sp>
      <p:sp>
        <p:nvSpPr>
          <p:cNvPr id="31" name="Rounded Rectangle 30"/>
          <p:cNvSpPr/>
          <p:nvPr/>
        </p:nvSpPr>
        <p:spPr>
          <a:xfrm>
            <a:off x="457200" y="6172200"/>
            <a:ext cx="11338560" cy="566928"/>
          </a:xfrm>
          <a:prstGeom prst="roundRect">
            <a:avLst/>
          </a:prstGeom>
          <a:solidFill>
            <a:srgbClr val="FFF1F2"/>
          </a:solidFill>
          <a:ln w="12700">
            <a:solidFill>
              <a:srgbClr val="0EA5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6208776"/>
            <a:ext cx="10972800" cy="502920"/>
          </a:xfrm>
          <a:prstGeom prst="rect">
            <a:avLst/>
          </a:prstGeom>
          <a:noFill/>
        </p:spPr>
        <p:txBody>
          <a:bodyPr wrap="square" anchor="t">
            <a:spAutoFit/>
          </a:bodyPr>
          <a:lstStyle/>
          <a:p>
            <a:pPr algn="l">
              <a:lnSpc>
                <a:spcPct val="102000"/>
              </a:lnSpc>
            </a:pPr>
            <a:r>
              <a:rPr sz="1000" b="0">
                <a:solidFill>
                  <a:srgbClr val="5B4A2A"/>
                </a:solidFill>
                <a:latin typeface="Malgun Gothic"/>
              </a:rPr>
              <a:t>🍊 An agency's strength comes from 'the care you give each student.' Respond quickly, show results, and prevent churn early. Your branch and HQ back you up solidly. Questions? Contact support anytime — cheering on your thriving agency! 🍊</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9E0B"/>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371600" y="-13716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15600" y="4572000"/>
            <a:ext cx="3657600" cy="3657600"/>
          </a:xfrm>
          <a:prstGeom prst="ellipse">
            <a:avLst/>
          </a:prstGeom>
          <a:solidFill>
            <a:srgbClr val="BE12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194560"/>
            <a:ext cx="12191695" cy="914400"/>
          </a:xfrm>
          <a:prstGeom prst="rect">
            <a:avLst/>
          </a:prstGeom>
          <a:noFill/>
        </p:spPr>
        <p:txBody>
          <a:bodyPr wrap="square" anchor="t">
            <a:spAutoFit/>
          </a:bodyPr>
          <a:lstStyle/>
          <a:p>
            <a:pPr algn="ctr">
              <a:lnSpc>
                <a:spcPct val="100000"/>
              </a:lnSpc>
            </a:pPr>
            <a:r>
              <a:rPr sz="3400" b="1">
                <a:solidFill>
                  <a:srgbClr val="FFFFFF"/>
                </a:solidFill>
                <a:latin typeface="Malgun Gothic"/>
              </a:rPr>
              <a:t>Let's grow together with Mangoi!</a:t>
            </a:r>
          </a:p>
        </p:txBody>
      </p:sp>
      <p:sp>
        <p:nvSpPr>
          <p:cNvPr id="6" name="TextBox 5"/>
          <p:cNvSpPr txBox="1"/>
          <p:nvPr/>
        </p:nvSpPr>
        <p:spPr>
          <a:xfrm>
            <a:off x="0" y="3291840"/>
            <a:ext cx="12191695" cy="548640"/>
          </a:xfrm>
          <a:prstGeom prst="rect">
            <a:avLst/>
          </a:prstGeom>
          <a:noFill/>
        </p:spPr>
        <p:txBody>
          <a:bodyPr wrap="square" anchor="t">
            <a:spAutoFit/>
          </a:bodyPr>
          <a:lstStyle/>
          <a:p>
            <a:pPr algn="ctr">
              <a:lnSpc>
                <a:spcPct val="100000"/>
              </a:lnSpc>
            </a:pPr>
            <a:r>
              <a:rPr sz="1600" b="0">
                <a:solidFill>
                  <a:srgbClr val="FFFFFF"/>
                </a:solidFill>
                <a:latin typeface="Malgun Gothic"/>
              </a:rPr>
              <a:t>Questions? Ask the on-site A.i assistant or contact customer support.</a:t>
            </a:r>
          </a:p>
        </p:txBody>
      </p:sp>
      <p:sp>
        <p:nvSpPr>
          <p:cNvPr id="7" name="TextBox 6"/>
          <p:cNvSpPr txBox="1"/>
          <p:nvPr/>
        </p:nvSpPr>
        <p:spPr>
          <a:xfrm>
            <a:off x="0" y="4114800"/>
            <a:ext cx="12191695" cy="457200"/>
          </a:xfrm>
          <a:prstGeom prst="rect">
            <a:avLst/>
          </a:prstGeom>
          <a:noFill/>
        </p:spPr>
        <p:txBody>
          <a:bodyPr wrap="square" anchor="t">
            <a:spAutoFit/>
          </a:bodyPr>
          <a:lstStyle/>
          <a:p>
            <a:pPr algn="ctr">
              <a:lnSpc>
                <a:spcPct val="100000"/>
              </a:lnSpc>
            </a:pPr>
            <a:r>
              <a:rPr sz="1400" b="0">
                <a:solidFill>
                  <a:srgbClr val="FFFFFF"/>
                </a:solidFill>
                <a:latin typeface="Malgun Gothic"/>
              </a:rPr>
              <a:t>🌐 www.mangoi.co.kr    📞 1644-0561    ✉ support@mangoi.co.kr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