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값</c:v>
                </c:pt>
              </c:strCache>
            </c:strRef>
          </c:tx>
          <c:dPt>
            <c:idx val="0"/>
            <c:spPr>
              <a:solidFill>
                <a:srgbClr val="E11D48"/>
              </a:solidFill>
            </c:spPr>
          </c:dPt>
          <c:dPt>
            <c:idx val="1"/>
            <c:spPr>
              <a:solidFill>
                <a:srgbClr val="F59E0B"/>
              </a:solidFill>
            </c:spPr>
          </c:dPt>
          <c:dPt>
            <c:idx val="2"/>
            <c:spPr>
              <a:solidFill>
                <a:srgbClr val="0EA5E9"/>
              </a:solidFill>
            </c:spPr>
          </c:dPt>
          <c:cat>
            <c:strRef>
              <c:f>Sheet1!$A$2:$A$4</c:f>
              <c:strCache>
                <c:ptCount val="3"/>
                <c:pt idx="0">
                  <c:v>오늘 매출(만원)</c:v>
                </c:pt>
                <c:pt idx="1">
                  <c:v>재원생(명)</c:v>
                </c:pt>
                <c:pt idx="2">
                  <c:v>출석률(%)</c:v>
                </c:pt>
              </c:strCache>
            </c:strRef>
          </c:cat>
          <c:val>
            <c:numRef>
              <c:f>Sheet1!$B$2:$B$4</c:f>
              <c:numCache>
                <c:formatCode>General</c:formatCode>
                <c:ptCount val="3"/>
                <c:pt idx="0">
                  <c:v>46</c:v>
                </c:pt>
                <c:pt idx="1">
                  <c:v>180</c:v>
                </c:pt>
                <c:pt idx="2">
                  <c:v>93</c:v>
                </c:pt>
              </c:numCache>
            </c:numRef>
          </c:val>
        </c:ser>
        <c:dLbls>
          <c:txPr>
            <a:bodyPr/>
            <a:lstStyle/>
            <a:p>
              <a:pPr>
                <a:defRPr sz="1100" b="1">
                  <a:latin typeface="Malgun Gothi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000">
                <a:latin typeface="Malgun Gothic"/>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000">
                <a:latin typeface="Malgun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값</c:v>
                </c:pt>
              </c:strCache>
            </c:strRef>
          </c:tx>
          <c:spPr>
            <a:solidFill>
              <a:srgbClr val="E11D48"/>
            </a:solidFill>
          </c:spPr>
          <c:cat>
            <c:strRef>
              <c:f>Sheet1!$A$2:$A$7</c:f>
              <c:strCache>
                <c:ptCount val="6"/>
                <c:pt idx="0">
                  <c:v>1월</c:v>
                </c:pt>
                <c:pt idx="1">
                  <c:v>2월</c:v>
                </c:pt>
                <c:pt idx="2">
                  <c:v>3월</c:v>
                </c:pt>
                <c:pt idx="3">
                  <c:v>4월</c:v>
                </c:pt>
                <c:pt idx="4">
                  <c:v>5월</c:v>
                </c:pt>
                <c:pt idx="5">
                  <c:v>6월</c:v>
                </c:pt>
              </c:strCache>
            </c:strRef>
          </c:cat>
          <c:val>
            <c:numRef>
              <c:f>Sheet1!$B$2:$B$7</c:f>
              <c:numCache>
                <c:formatCode>General</c:formatCode>
                <c:ptCount val="6"/>
                <c:pt idx="0">
                  <c:v>120</c:v>
                </c:pt>
                <c:pt idx="1">
                  <c:v>135</c:v>
                </c:pt>
                <c:pt idx="2">
                  <c:v>150</c:v>
                </c:pt>
                <c:pt idx="3">
                  <c:v>162</c:v>
                </c:pt>
                <c:pt idx="4">
                  <c:v>171</c:v>
                </c:pt>
                <c:pt idx="5">
                  <c:v>180</c:v>
                </c:pt>
              </c:numCache>
            </c:numRef>
          </c:val>
        </c:ser>
        <c:dLbls>
          <c:txPr>
            <a:bodyPr/>
            <a:lstStyle/>
            <a:p>
              <a:pPr>
                <a:defRPr sz="1100" b="1">
                  <a:latin typeface="Malgun Gothi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Malgun Gothic"/>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latin typeface="Malgun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값</c:v>
                </c:pt>
              </c:strCache>
            </c:strRef>
          </c:tx>
          <c:dPt>
            <c:idx val="0"/>
            <c:spPr>
              <a:solidFill>
                <a:srgbClr val="10B981"/>
              </a:solidFill>
            </c:spPr>
          </c:dPt>
          <c:dPt>
            <c:idx val="1"/>
            <c:spPr>
              <a:solidFill>
                <a:srgbClr val="F59E0B"/>
              </a:solidFill>
            </c:spPr>
          </c:dPt>
          <c:dPt>
            <c:idx val="2"/>
            <c:spPr>
              <a:solidFill>
                <a:srgbClr val="EF4444"/>
              </a:solidFill>
            </c:spPr>
          </c:dPt>
          <c:cat>
            <c:strRef>
              <c:f>Sheet1!$A$2:$A$4</c:f>
              <c:strCache>
                <c:ptCount val="3"/>
                <c:pt idx="0">
                  <c:v>안전</c:v>
                </c:pt>
                <c:pt idx="1">
                  <c:v>주의</c:v>
                </c:pt>
                <c:pt idx="2">
                  <c:v>위험</c:v>
                </c:pt>
              </c:strCache>
            </c:strRef>
          </c:cat>
          <c:val>
            <c:numRef>
              <c:f>Sheet1!$B$2:$B$4</c:f>
              <c:numCache>
                <c:formatCode>General</c:formatCode>
                <c:ptCount val="3"/>
                <c:pt idx="0">
                  <c:v>72</c:v>
                </c:pt>
                <c:pt idx="1">
                  <c:v>20</c:v>
                </c:pt>
                <c:pt idx="2">
                  <c:v>8</c:v>
                </c:pt>
              </c:numCache>
            </c:numRef>
          </c:val>
        </c:ser>
        <c:dLbls>
          <c:txPr>
            <a:bodyPr/>
            <a:lstStyle/>
            <a:p>
              <a:pPr>
                <a:defRPr sz="1100" b="1">
                  <a:latin typeface="Malgun Gothic"/>
                </a:defRPr>
              </a:pPr>
            </a:p>
          </c:txPr>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latin typeface="Malgun Gothic"/>
            </a:defRPr>
          </a:pPr>
        </a:p>
      </c:txPr>
    </c:legend>
    <c:plotVisOnly val="1"/>
    <c:dispBlanksAs val="gap"/>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BE123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1097280"/>
            <a:ext cx="3840480" cy="38404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80160" y="5669280"/>
            <a:ext cx="2926080" cy="29260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1097280"/>
            <a:ext cx="1280160" cy="1280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822960"/>
            <a:ext cx="2468880" cy="457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822960"/>
            <a:ext cx="2468880" cy="457200"/>
          </a:xfrm>
          <a:prstGeom prst="rect">
            <a:avLst/>
          </a:prstGeom>
          <a:noFill/>
        </p:spPr>
        <p:txBody>
          <a:bodyPr wrap="square" anchor="ctr">
            <a:spAutoFit/>
          </a:bodyPr>
          <a:lstStyle/>
          <a:p>
            <a:pPr algn="ctr">
              <a:lnSpc>
                <a:spcPct val="100000"/>
              </a:lnSpc>
            </a:pPr>
            <a:r>
              <a:rPr sz="1300" b="1">
                <a:solidFill>
                  <a:srgbClr val="E11D48"/>
                </a:solidFill>
                <a:latin typeface="Malgun Gothic"/>
              </a:rPr>
              <a:t>🤝 AGENCY GUIDE</a:t>
            </a:r>
          </a:p>
        </p:txBody>
      </p:sp>
      <p:sp>
        <p:nvSpPr>
          <p:cNvPr id="8" name="TextBox 7"/>
          <p:cNvSpPr txBox="1"/>
          <p:nvPr/>
        </p:nvSpPr>
        <p:spPr>
          <a:xfrm>
            <a:off x="822960" y="2286000"/>
            <a:ext cx="7315200" cy="457200"/>
          </a:xfrm>
          <a:prstGeom prst="rect">
            <a:avLst/>
          </a:prstGeom>
          <a:noFill/>
        </p:spPr>
        <p:txBody>
          <a:bodyPr wrap="square" anchor="t">
            <a:spAutoFit/>
          </a:bodyPr>
          <a:lstStyle/>
          <a:p>
            <a:pPr algn="l">
              <a:lnSpc>
                <a:spcPct val="100000"/>
              </a:lnSpc>
            </a:pPr>
            <a:r>
              <a:rPr sz="1600" b="1">
                <a:solidFill>
                  <a:srgbClr val="FFFFFF"/>
                </a:solidFill>
                <a:latin typeface="Malgun Gothic"/>
              </a:rPr>
              <a:t>망고아이 · MANGOI</a:t>
            </a:r>
          </a:p>
        </p:txBody>
      </p:sp>
      <p:sp>
        <p:nvSpPr>
          <p:cNvPr id="9" name="TextBox 8"/>
          <p:cNvSpPr txBox="1"/>
          <p:nvPr/>
        </p:nvSpPr>
        <p:spPr>
          <a:xfrm>
            <a:off x="777240" y="2697480"/>
            <a:ext cx="7772400" cy="1371600"/>
          </a:xfrm>
          <a:prstGeom prst="rect">
            <a:avLst/>
          </a:prstGeom>
          <a:noFill/>
        </p:spPr>
        <p:txBody>
          <a:bodyPr wrap="square" anchor="t">
            <a:spAutoFit/>
          </a:bodyPr>
          <a:lstStyle/>
          <a:p>
            <a:pPr algn="l">
              <a:lnSpc>
                <a:spcPct val="100000"/>
              </a:lnSpc>
            </a:pPr>
            <a:r>
              <a:rPr sz="4600" b="1">
                <a:solidFill>
                  <a:srgbClr val="FFFFFF"/>
                </a:solidFill>
                <a:latin typeface="Malgun Gothic"/>
              </a:rPr>
              <a:t>대리점용 사용설명서</a:t>
            </a:r>
          </a:p>
        </p:txBody>
      </p:sp>
      <p:sp>
        <p:nvSpPr>
          <p:cNvPr id="10" name="TextBox 9"/>
          <p:cNvSpPr txBox="1"/>
          <p:nvPr/>
        </p:nvSpPr>
        <p:spPr>
          <a:xfrm>
            <a:off x="822960" y="4114800"/>
            <a:ext cx="7315200" cy="548640"/>
          </a:xfrm>
          <a:prstGeom prst="rect">
            <a:avLst/>
          </a:prstGeom>
          <a:noFill/>
        </p:spPr>
        <p:txBody>
          <a:bodyPr wrap="square" anchor="t">
            <a:spAutoFit/>
          </a:bodyPr>
          <a:lstStyle/>
          <a:p>
            <a:pPr algn="l">
              <a:lnSpc>
                <a:spcPct val="100000"/>
              </a:lnSpc>
            </a:pPr>
            <a:r>
              <a:rPr sz="1900" b="1">
                <a:solidFill>
                  <a:srgbClr val="FFFFFF"/>
                </a:solidFill>
                <a:latin typeface="Malgun Gothic"/>
              </a:rPr>
              <a:t>학생 모집부터 수업·정산까지 한 권으로</a:t>
            </a:r>
          </a:p>
        </p:txBody>
      </p:sp>
      <p:sp>
        <p:nvSpPr>
          <p:cNvPr id="11" name="TextBox 10"/>
          <p:cNvSpPr txBox="1"/>
          <p:nvPr/>
        </p:nvSpPr>
        <p:spPr>
          <a:xfrm>
            <a:off x="822960" y="5943600"/>
            <a:ext cx="7315200" cy="457200"/>
          </a:xfrm>
          <a:prstGeom prst="rect">
            <a:avLst/>
          </a:prstGeom>
          <a:noFill/>
        </p:spPr>
        <p:txBody>
          <a:bodyPr wrap="square" anchor="t">
            <a:spAutoFit/>
          </a:bodyPr>
          <a:lstStyle/>
          <a:p>
            <a:pPr algn="l">
              <a:lnSpc>
                <a:spcPct val="100000"/>
              </a:lnSpc>
            </a:pPr>
            <a:r>
              <a:rPr sz="1300" b="0">
                <a:solidFill>
                  <a:srgbClr val="FFFFFF"/>
                </a:solidFill>
                <a:latin typeface="Malgun Gothic"/>
              </a:rPr>
              <a:t>대상 · 대리점(가맹) 운영자   |   test.mangoi.co.kr</a:t>
            </a:r>
          </a:p>
        </p:txBody>
      </p:sp>
      <p:pic>
        <p:nvPicPr>
          <p:cNvPr id="12" name="Picture 11" descr="mango_char.png"/>
          <p:cNvPicPr>
            <a:picLocks noChangeAspect="1"/>
          </p:cNvPicPr>
          <p:nvPr/>
        </p:nvPicPr>
        <p:blipFill>
          <a:blip r:embed="rId2"/>
          <a:stretch>
            <a:fillRect/>
          </a:stretch>
        </p:blipFill>
        <p:spPr>
          <a:xfrm>
            <a:off x="7477245" y="3108960"/>
            <a:ext cx="4074369" cy="32918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소개</a:t>
            </a:r>
          </a:p>
        </p:txBody>
      </p:sp>
      <p:sp>
        <p:nvSpPr>
          <p:cNvPr id="6" name="Rounded Rectangle 5"/>
          <p:cNvSpPr/>
          <p:nvPr/>
        </p:nvSpPr>
        <p:spPr>
          <a:xfrm>
            <a:off x="365760" y="868680"/>
            <a:ext cx="11460175" cy="155448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05840"/>
            <a:ext cx="10881360" cy="457200"/>
          </a:xfrm>
          <a:prstGeom prst="rect">
            <a:avLst/>
          </a:prstGeom>
          <a:noFill/>
        </p:spPr>
        <p:txBody>
          <a:bodyPr wrap="square" anchor="t">
            <a:spAutoFit/>
          </a:bodyPr>
          <a:lstStyle/>
          <a:p>
            <a:pPr algn="l">
              <a:lnSpc>
                <a:spcPct val="100000"/>
              </a:lnSpc>
            </a:pPr>
            <a:r>
              <a:rPr sz="2400" b="1">
                <a:solidFill>
                  <a:srgbClr val="E11D48"/>
                </a:solidFill>
                <a:latin typeface="Malgun Gothic"/>
              </a:rPr>
              <a:t>대리점 관리 페이지란?</a:t>
            </a:r>
          </a:p>
        </p:txBody>
      </p:sp>
      <p:sp>
        <p:nvSpPr>
          <p:cNvPr id="8" name="TextBox 7"/>
          <p:cNvSpPr txBox="1"/>
          <p:nvPr/>
        </p:nvSpPr>
        <p:spPr>
          <a:xfrm>
            <a:off x="640080" y="1481328"/>
            <a:ext cx="10972800" cy="914400"/>
          </a:xfrm>
          <a:prstGeom prst="rect">
            <a:avLst/>
          </a:prstGeom>
          <a:noFill/>
        </p:spPr>
        <p:txBody>
          <a:bodyPr wrap="square" anchor="t">
            <a:spAutoFit/>
          </a:bodyPr>
          <a:lstStyle/>
          <a:p>
            <a:pPr algn="l">
              <a:lnSpc>
                <a:spcPct val="125000"/>
              </a:lnSpc>
            </a:pPr>
            <a:r>
              <a:rPr sz="1300" b="0">
                <a:solidFill>
                  <a:srgbClr val="334155"/>
                </a:solidFill>
                <a:latin typeface="Malgun Gothic"/>
              </a:rPr>
              <a:t>대리점 페이지는 우리 대리점의 학생·수업·결제·정산을 직접 관리하는 곳이에요. 학생 모집·상담부터 등록, 수업 배정, 수납, 학부모 소통, 정산 수령까지 대리점 운영에 필요한 기능이 모여 있어요. 로그인하면 ‘우리 대리점’ 범위의 데이터만 자동으로 보여, 내 학생에게 집중할 수 있어요.</a:t>
            </a:r>
          </a:p>
        </p:txBody>
      </p:sp>
      <p:sp>
        <p:nvSpPr>
          <p:cNvPr id="9" name="Rounded Rectangle 8"/>
          <p:cNvSpPr/>
          <p:nvPr/>
        </p:nvSpPr>
        <p:spPr>
          <a:xfrm>
            <a:off x="365760" y="269748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 y="2852928"/>
            <a:ext cx="512064" cy="512064"/>
          </a:xfrm>
          <a:prstGeom prst="roundRect">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852928"/>
            <a:ext cx="512064" cy="512064"/>
          </a:xfrm>
          <a:prstGeom prst="rect">
            <a:avLst/>
          </a:prstGeom>
          <a:noFill/>
        </p:spPr>
        <p:txBody>
          <a:bodyPr wrap="square" anchor="ctr">
            <a:spAutoFit/>
          </a:bodyPr>
          <a:lstStyle/>
          <a:p>
            <a:pPr algn="ctr">
              <a:lnSpc>
                <a:spcPct val="100000"/>
              </a:lnSpc>
            </a:pPr>
            <a:r>
              <a:rPr sz="2000" b="0">
                <a:solidFill>
                  <a:srgbClr val="E11D48"/>
                </a:solidFill>
                <a:latin typeface="Malgun Gothic"/>
              </a:rPr>
              <a:t>🤝</a:t>
            </a:r>
          </a:p>
        </p:txBody>
      </p:sp>
      <p:sp>
        <p:nvSpPr>
          <p:cNvPr id="12" name="TextBox 11"/>
          <p:cNvSpPr txBox="1"/>
          <p:nvPr/>
        </p:nvSpPr>
        <p:spPr>
          <a:xfrm>
            <a:off x="1143000" y="281635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우리 대리점 범위 자동</a:t>
            </a:r>
          </a:p>
        </p:txBody>
      </p:sp>
      <p:sp>
        <p:nvSpPr>
          <p:cNvPr id="13" name="TextBox 12"/>
          <p:cNvSpPr txBox="1"/>
          <p:nvPr/>
        </p:nvSpPr>
        <p:spPr>
          <a:xfrm>
            <a:off x="1143000" y="312724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로그인만 하면 내 학생·매출만 보여요.</a:t>
            </a:r>
          </a:p>
        </p:txBody>
      </p:sp>
      <p:sp>
        <p:nvSpPr>
          <p:cNvPr id="14" name="Rounded Rectangle 13"/>
          <p:cNvSpPr/>
          <p:nvPr/>
        </p:nvSpPr>
        <p:spPr>
          <a:xfrm>
            <a:off x="6301587" y="269748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38747" y="2852928"/>
            <a:ext cx="512064" cy="512064"/>
          </a:xfrm>
          <a:prstGeom prst="roundRect">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8747" y="2852928"/>
            <a:ext cx="512064" cy="512064"/>
          </a:xfrm>
          <a:prstGeom prst="rect">
            <a:avLst/>
          </a:prstGeom>
          <a:noFill/>
        </p:spPr>
        <p:txBody>
          <a:bodyPr wrap="square" anchor="ctr">
            <a:spAutoFit/>
          </a:bodyPr>
          <a:lstStyle/>
          <a:p>
            <a:pPr algn="ctr">
              <a:lnSpc>
                <a:spcPct val="100000"/>
              </a:lnSpc>
            </a:pPr>
            <a:r>
              <a:rPr sz="2000" b="0">
                <a:solidFill>
                  <a:srgbClr val="E11D48"/>
                </a:solidFill>
                <a:latin typeface="Malgun Gothic"/>
              </a:rPr>
              <a:t>🧑‍🎓</a:t>
            </a:r>
          </a:p>
        </p:txBody>
      </p:sp>
      <p:sp>
        <p:nvSpPr>
          <p:cNvPr id="17" name="TextBox 16"/>
          <p:cNvSpPr txBox="1"/>
          <p:nvPr/>
        </p:nvSpPr>
        <p:spPr>
          <a:xfrm>
            <a:off x="7078827" y="281635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학생 모집·등록·관리</a:t>
            </a:r>
          </a:p>
        </p:txBody>
      </p:sp>
      <p:sp>
        <p:nvSpPr>
          <p:cNvPr id="18" name="TextBox 17"/>
          <p:cNvSpPr txBox="1"/>
          <p:nvPr/>
        </p:nvSpPr>
        <p:spPr>
          <a:xfrm>
            <a:off x="7078827" y="312724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상담부터 등록·수업 배정까지.</a:t>
            </a:r>
          </a:p>
        </p:txBody>
      </p:sp>
      <p:sp>
        <p:nvSpPr>
          <p:cNvPr id="19" name="Rounded Rectangle 18"/>
          <p:cNvSpPr/>
          <p:nvPr/>
        </p:nvSpPr>
        <p:spPr>
          <a:xfrm>
            <a:off x="365760" y="365760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 y="3813048"/>
            <a:ext cx="512064" cy="512064"/>
          </a:xfrm>
          <a:prstGeom prst="roundRect">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813048"/>
            <a:ext cx="512064" cy="512064"/>
          </a:xfrm>
          <a:prstGeom prst="rect">
            <a:avLst/>
          </a:prstGeom>
          <a:noFill/>
        </p:spPr>
        <p:txBody>
          <a:bodyPr wrap="square" anchor="ctr">
            <a:spAutoFit/>
          </a:bodyPr>
          <a:lstStyle/>
          <a:p>
            <a:pPr algn="ctr">
              <a:lnSpc>
                <a:spcPct val="100000"/>
              </a:lnSpc>
            </a:pPr>
            <a:r>
              <a:rPr sz="2000" b="0">
                <a:solidFill>
                  <a:srgbClr val="E11D48"/>
                </a:solidFill>
                <a:latin typeface="Malgun Gothic"/>
              </a:rPr>
              <a:t>💳</a:t>
            </a:r>
          </a:p>
        </p:txBody>
      </p:sp>
      <p:sp>
        <p:nvSpPr>
          <p:cNvPr id="22" name="TextBox 21"/>
          <p:cNvSpPr txBox="1"/>
          <p:nvPr/>
        </p:nvSpPr>
        <p:spPr>
          <a:xfrm>
            <a:off x="1143000" y="377647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수납·정산</a:t>
            </a:r>
          </a:p>
        </p:txBody>
      </p:sp>
      <p:sp>
        <p:nvSpPr>
          <p:cNvPr id="23" name="TextBox 22"/>
          <p:cNvSpPr txBox="1"/>
          <p:nvPr/>
        </p:nvSpPr>
        <p:spPr>
          <a:xfrm>
            <a:off x="1143000" y="408736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결제·미납 관리와 지사→대리점 정산 수령.</a:t>
            </a:r>
          </a:p>
        </p:txBody>
      </p:sp>
      <p:sp>
        <p:nvSpPr>
          <p:cNvPr id="24" name="Rounded Rectangle 23"/>
          <p:cNvSpPr/>
          <p:nvPr/>
        </p:nvSpPr>
        <p:spPr>
          <a:xfrm>
            <a:off x="6301587" y="365760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38747" y="3813048"/>
            <a:ext cx="512064" cy="512064"/>
          </a:xfrm>
          <a:prstGeom prst="roundRect">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8747" y="3813048"/>
            <a:ext cx="512064" cy="512064"/>
          </a:xfrm>
          <a:prstGeom prst="rect">
            <a:avLst/>
          </a:prstGeom>
          <a:noFill/>
        </p:spPr>
        <p:txBody>
          <a:bodyPr wrap="square" anchor="ctr">
            <a:spAutoFit/>
          </a:bodyPr>
          <a:lstStyle/>
          <a:p>
            <a:pPr algn="ctr">
              <a:lnSpc>
                <a:spcPct val="100000"/>
              </a:lnSpc>
            </a:pPr>
            <a:r>
              <a:rPr sz="2000" b="0">
                <a:solidFill>
                  <a:srgbClr val="E11D48"/>
                </a:solidFill>
                <a:latin typeface="Malgun Gothic"/>
              </a:rPr>
              <a:t>📈</a:t>
            </a:r>
          </a:p>
        </p:txBody>
      </p:sp>
      <p:sp>
        <p:nvSpPr>
          <p:cNvPr id="27" name="TextBox 26"/>
          <p:cNvSpPr txBox="1"/>
          <p:nvPr/>
        </p:nvSpPr>
        <p:spPr>
          <a:xfrm>
            <a:off x="7078827" y="377647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학습 현황·리포트</a:t>
            </a:r>
          </a:p>
        </p:txBody>
      </p:sp>
      <p:sp>
        <p:nvSpPr>
          <p:cNvPr id="28" name="TextBox 27"/>
          <p:cNvSpPr txBox="1"/>
          <p:nvPr/>
        </p:nvSpPr>
        <p:spPr>
          <a:xfrm>
            <a:off x="7078827" y="408736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우리 학생 학습을 한눈에.</a:t>
            </a:r>
          </a:p>
        </p:txBody>
      </p:sp>
      <p:sp>
        <p:nvSpPr>
          <p:cNvPr id="29" name="TextBox 28"/>
          <p:cNvSpPr txBox="1"/>
          <p:nvPr/>
        </p:nvSpPr>
        <p:spPr>
          <a:xfrm>
            <a:off x="365760" y="4754880"/>
            <a:ext cx="5486400" cy="365760"/>
          </a:xfrm>
          <a:prstGeom prst="rect">
            <a:avLst/>
          </a:prstGeom>
          <a:noFill/>
        </p:spPr>
        <p:txBody>
          <a:bodyPr wrap="square" anchor="t">
            <a:spAutoFit/>
          </a:bodyPr>
          <a:lstStyle/>
          <a:p>
            <a:pPr algn="l">
              <a:lnSpc>
                <a:spcPct val="100000"/>
              </a:lnSpc>
            </a:pPr>
            <a:r>
              <a:rPr sz="1300" b="1">
                <a:solidFill>
                  <a:srgbClr val="E11D48"/>
                </a:solidFill>
                <a:latin typeface="Malgun Gothic"/>
              </a:rPr>
              <a:t>우리 대리점 지표(예시)</a:t>
            </a:r>
          </a:p>
        </p:txBody>
      </p:sp>
      <p:graphicFrame>
        <p:nvGraphicFramePr>
          <p:cNvPr id="30" name="Chart 29"/>
          <p:cNvGraphicFramePr>
            <a:graphicFrameLocks noGrp="1"/>
          </p:cNvGraphicFramePr>
          <p:nvPr/>
        </p:nvGraphicFramePr>
        <p:xfrm>
          <a:off x="365760" y="5074920"/>
          <a:ext cx="5669280" cy="1554480"/>
        </p:xfrm>
        <a:graphic>
          <a:graphicData uri="http://schemas.openxmlformats.org/drawingml/2006/chart">
            <c:chart xmlns:c="http://schemas.openxmlformats.org/drawingml/2006/chart" r:id="rId2"/>
          </a:graphicData>
        </a:graphic>
      </p:graphicFrame>
      <p:sp>
        <p:nvSpPr>
          <p:cNvPr id="31" name="Rectangle 30"/>
          <p:cNvSpPr/>
          <p:nvPr/>
        </p:nvSpPr>
        <p:spPr>
          <a:xfrm>
            <a:off x="7470648" y="4654296"/>
            <a:ext cx="3255264" cy="20756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admin_login.jpg"/>
          <p:cNvPicPr>
            <a:picLocks noChangeAspect="1"/>
          </p:cNvPicPr>
          <p:nvPr/>
        </p:nvPicPr>
        <p:blipFill>
          <a:blip r:embed="rId3"/>
          <a:stretch>
            <a:fillRect/>
          </a:stretch>
        </p:blipFill>
        <p:spPr>
          <a:xfrm>
            <a:off x="7525512" y="4709160"/>
            <a:ext cx="3145536" cy="19659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대리점 로그인 &amp; 권한</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우리 대리점 데이터만</a:t>
            </a:r>
          </a:p>
        </p:txBody>
      </p:sp>
      <p:sp>
        <p:nvSpPr>
          <p:cNvPr id="10" name="Rounded Rectangle 9"/>
          <p:cNvSpPr/>
          <p:nvPr/>
        </p:nvSpPr>
        <p:spPr>
          <a:xfrm>
            <a:off x="365760" y="1828800"/>
            <a:ext cx="11430000" cy="77724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대리점 계정으로 로그인하면 ‘우리 대리점’ 범위의 메뉴·데이터만 보여요. 다른 대리점이나 지사 전체 데이터는 보이지 않아, 내 학생 관리에 집중할 수 있어요.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11D48"/>
                </a:solidFill>
                <a:latin typeface="Malgun Gothic"/>
              </a:rPr>
              <a:t>● </a:t>
            </a:r>
            <a:r>
              <a:rPr sz="1250">
                <a:solidFill>
                  <a:srgbClr val="334155"/>
                </a:solidFill>
                <a:latin typeface="Malgun Gothic"/>
              </a:rPr>
              <a:t>아이디·비밀번호로 로그인해요. (소셜 로그인도 가능)</a:t>
            </a:r>
          </a:p>
          <a:p>
            <a:pPr>
              <a:lnSpc>
                <a:spcPct val="115000"/>
              </a:lnSpc>
              <a:spcAft>
                <a:spcPts val="600"/>
              </a:spcAft>
            </a:pPr>
            <a:r>
              <a:rPr sz="1050" b="1">
                <a:solidFill>
                  <a:srgbClr val="E11D48"/>
                </a:solidFill>
                <a:latin typeface="Malgun Gothic"/>
              </a:rPr>
              <a:t>● </a:t>
            </a:r>
            <a:r>
              <a:rPr sz="1250">
                <a:solidFill>
                  <a:srgbClr val="334155"/>
                </a:solidFill>
                <a:latin typeface="Malgun Gothic"/>
              </a:rPr>
              <a:t>로그인하면 권한(대리점) 에 맞는 메뉴·데이터가 자동 적용돼요.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비밀번호를 잊었으면 ‘비밀번호 찾기’로 재설정해요.</a:t>
            </a:r>
          </a:p>
        </p:txBody>
      </p:sp>
      <p:sp>
        <p:nvSpPr>
          <p:cNvPr id="14" name="Rounded Rectangle 13"/>
          <p:cNvSpPr/>
          <p:nvPr/>
        </p:nvSpPr>
        <p:spPr>
          <a:xfrm>
            <a:off x="457200" y="4398264"/>
            <a:ext cx="5669280" cy="1005840"/>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11D48"/>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11D48"/>
                </a:solidFill>
                <a:latin typeface="Malgun Gothic"/>
              </a:rPr>
              <a:t>● </a:t>
            </a:r>
            <a:r>
              <a:rPr sz="1100">
                <a:solidFill>
                  <a:srgbClr val="334155"/>
                </a:solidFill>
                <a:latin typeface="Malgun Gothic"/>
              </a:rPr>
              <a:t>우리 대리점 학생·매출 데이터만 보여요.</a:t>
            </a:r>
          </a:p>
          <a:p>
            <a:pPr>
              <a:lnSpc>
                <a:spcPct val="115000"/>
              </a:lnSpc>
              <a:spcAft>
                <a:spcPts val="200"/>
              </a:spcAft>
            </a:pPr>
            <a:r>
              <a:rPr sz="900" b="1">
                <a:solidFill>
                  <a:srgbClr val="E11D48"/>
                </a:solidFill>
                <a:latin typeface="Malgun Gothic"/>
              </a:rPr>
              <a:t>● </a:t>
            </a:r>
            <a:r>
              <a:rPr sz="1100">
                <a:solidFill>
                  <a:srgbClr val="334155"/>
                </a:solidFill>
                <a:latin typeface="Malgun Gothic"/>
              </a:rPr>
              <a:t>안전한 내 PC에서만 ‘아이디 저장’을 켜세요.</a:t>
            </a:r>
          </a:p>
        </p:txBody>
      </p:sp>
      <p:sp>
        <p:nvSpPr>
          <p:cNvPr id="17" name="Rounded Rectangle 16"/>
          <p:cNvSpPr/>
          <p:nvPr/>
        </p:nvSpPr>
        <p:spPr>
          <a:xfrm>
            <a:off x="457200" y="5513831"/>
            <a:ext cx="5669280" cy="65836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공용 PC에서는 자동 로그인을 끄고 사용 후 로그아웃하세요.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login.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마이페이지 &amp; 관리자 대시보드</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마이페이지에서 관리 화면 열기</a:t>
            </a:r>
          </a:p>
        </p:txBody>
      </p:sp>
      <p:sp>
        <p:nvSpPr>
          <p:cNvPr id="10" name="Rounded Rectangle 9"/>
          <p:cNvSpPr/>
          <p:nvPr/>
        </p:nvSpPr>
        <p:spPr>
          <a:xfrm>
            <a:off x="365760" y="1828800"/>
            <a:ext cx="11430000" cy="77724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대리점 운영도 ‘마이페이지’에서 시작해요. 로그인 후 마이페이지의 메뉴 중 📊 ‘관리자’ 버튼을 누르면 우리 대리점 범위의 관리자(운영) 대시보드로 들어가, 학생·매출·수업·정산을 관리할 수 있어요.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11D48"/>
                </a:solidFill>
                <a:latin typeface="Malgun Gothic"/>
              </a:rPr>
              <a:t>● </a:t>
            </a:r>
            <a:r>
              <a:rPr sz="1250">
                <a:solidFill>
                  <a:srgbClr val="334155"/>
                </a:solidFill>
                <a:latin typeface="Malgun Gothic"/>
              </a:rPr>
              <a:t>로그인 후 화면에서 ‘👤 마이페이지’를 열어요.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마이페이지 메뉴에서 📊 ‘관리자’ 버튼을 눌러요. (관리자 대시보드로 이동)</a:t>
            </a:r>
          </a:p>
          <a:p>
            <a:pPr>
              <a:lnSpc>
                <a:spcPct val="115000"/>
              </a:lnSpc>
              <a:spcAft>
                <a:spcPts val="600"/>
              </a:spcAft>
            </a:pPr>
            <a:r>
              <a:rPr sz="1050" b="1">
                <a:solidFill>
                  <a:srgbClr val="E11D48"/>
                </a:solidFill>
                <a:latin typeface="Malgun Gothic"/>
              </a:rPr>
              <a:t>● </a:t>
            </a:r>
            <a:r>
              <a:rPr sz="1250">
                <a:solidFill>
                  <a:srgbClr val="334155"/>
                </a:solidFill>
                <a:latin typeface="Malgun Gothic"/>
              </a:rPr>
              <a:t>관리자 대시보드에서 우리 대리점 매출·재원·오늘 수업을 확인해요.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마이페이지에는 연기/변경·신규상담·전체메뉴·수업 진단 등도 함께 있어요.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글자가 영어로 보이면 EN 버튼으로 한국어로 바꿔요.</a:t>
            </a:r>
          </a:p>
        </p:txBody>
      </p:sp>
      <p:sp>
        <p:nvSpPr>
          <p:cNvPr id="14" name="Rounded Rectangle 13"/>
          <p:cNvSpPr/>
          <p:nvPr/>
        </p:nvSpPr>
        <p:spPr>
          <a:xfrm>
            <a:off x="457200" y="5166360"/>
            <a:ext cx="5669280" cy="1316736"/>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21224"/>
            <a:ext cx="5394960" cy="274320"/>
          </a:xfrm>
          <a:prstGeom prst="rect">
            <a:avLst/>
          </a:prstGeom>
          <a:noFill/>
        </p:spPr>
        <p:txBody>
          <a:bodyPr wrap="square" anchor="t">
            <a:spAutoFit/>
          </a:bodyPr>
          <a:lstStyle/>
          <a:p>
            <a:pPr algn="l">
              <a:lnSpc>
                <a:spcPct val="100000"/>
              </a:lnSpc>
            </a:pPr>
            <a:r>
              <a:rPr sz="1150" b="1">
                <a:solidFill>
                  <a:srgbClr val="E11D48"/>
                </a:solidFill>
                <a:latin typeface="Malgun Gothic"/>
              </a:rPr>
              <a:t>✅ 핵심 포인트</a:t>
            </a:r>
          </a:p>
        </p:txBody>
      </p:sp>
      <p:sp>
        <p:nvSpPr>
          <p:cNvPr id="16" name="TextBox 15"/>
          <p:cNvSpPr txBox="1"/>
          <p:nvPr/>
        </p:nvSpPr>
        <p:spPr>
          <a:xfrm>
            <a:off x="594360" y="5495544"/>
            <a:ext cx="5394960" cy="950976"/>
          </a:xfrm>
          <a:prstGeom prst="rect">
            <a:avLst/>
          </a:prstGeom>
          <a:noFill/>
        </p:spPr>
        <p:txBody>
          <a:bodyPr wrap="square">
            <a:spAutoFit/>
          </a:bodyPr>
          <a:lstStyle/>
          <a:p>
            <a:pPr>
              <a:lnSpc>
                <a:spcPct val="115000"/>
              </a:lnSpc>
              <a:spcAft>
                <a:spcPts val="200"/>
              </a:spcAft>
            </a:pPr>
            <a:r>
              <a:rPr sz="900" b="1">
                <a:solidFill>
                  <a:srgbClr val="E11D48"/>
                </a:solidFill>
                <a:latin typeface="Malgun Gothic"/>
              </a:rPr>
              <a:t>● </a:t>
            </a:r>
            <a:r>
              <a:rPr sz="1100">
                <a:solidFill>
                  <a:srgbClr val="334155"/>
                </a:solidFill>
                <a:latin typeface="Malgun Gothic"/>
              </a:rPr>
              <a:t>‘관리자’ 버튼 하나로 바로 운영 대시보드에 들어가요.</a:t>
            </a:r>
          </a:p>
          <a:p>
            <a:pPr>
              <a:lnSpc>
                <a:spcPct val="115000"/>
              </a:lnSpc>
              <a:spcAft>
                <a:spcPts val="200"/>
              </a:spcAft>
            </a:pPr>
            <a:r>
              <a:rPr sz="900" b="1">
                <a:solidFill>
                  <a:srgbClr val="E11D48"/>
                </a:solidFill>
                <a:latin typeface="Malgun Gothic"/>
              </a:rPr>
              <a:t>● </a:t>
            </a:r>
            <a:r>
              <a:rPr sz="1100">
                <a:solidFill>
                  <a:srgbClr val="334155"/>
                </a:solidFill>
                <a:latin typeface="Malgun Gothic"/>
              </a:rPr>
              <a:t>대시보드 데이터는 모두 ‘우리 대리점 범위’로 자동 집계돼요.</a:t>
            </a:r>
          </a:p>
          <a:p>
            <a:pPr>
              <a:lnSpc>
                <a:spcPct val="115000"/>
              </a:lnSpc>
              <a:spcAft>
                <a:spcPts val="200"/>
              </a:spcAft>
            </a:pPr>
            <a:r>
              <a:rPr sz="900" b="1">
                <a:solidFill>
                  <a:srgbClr val="E11D48"/>
                </a:solidFill>
                <a:latin typeface="Malgun Gothic"/>
              </a:rPr>
              <a:t>● </a:t>
            </a:r>
            <a:r>
              <a:rPr sz="1100">
                <a:solidFill>
                  <a:srgbClr val="334155"/>
                </a:solidFill>
                <a:latin typeface="Malgun Gothic"/>
              </a:rPr>
              <a:t>권한(대리점)에 따라 보이는 메뉴·데이터가 자동으로 정해져요.</a:t>
            </a:r>
          </a:p>
        </p:txBody>
      </p:sp>
      <p:sp>
        <p:nvSpPr>
          <p:cNvPr id="17" name="Rounded Rectangle 16"/>
          <p:cNvSpPr/>
          <p:nvPr/>
        </p:nvSpPr>
        <p:spPr>
          <a:xfrm>
            <a:off x="457200" y="6592824"/>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638544"/>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알아두기 · 마이페이지·관리자 대시보드 모두 로그인한 대리점 계정의 권한 범위 안에서만 열려요.</a:t>
            </a:r>
          </a:p>
        </p:txBody>
      </p:sp>
      <p:sp>
        <p:nvSpPr>
          <p:cNvPr id="19" name="Rounded Rectangle 18"/>
          <p:cNvSpPr/>
          <p:nvPr/>
        </p:nvSpPr>
        <p:spPr>
          <a:xfrm>
            <a:off x="457200" y="7324344"/>
            <a:ext cx="5669280" cy="65836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7370064"/>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매일 마이페이지 → 관리자 대시보드 순서로 우리 대리점 지표를 확인하세요.</a:t>
            </a:r>
          </a:p>
        </p:txBody>
      </p:sp>
      <p:sp>
        <p:nvSpPr>
          <p:cNvPr id="21" name="Rectangle 20"/>
          <p:cNvSpPr/>
          <p:nvPr/>
        </p:nvSpPr>
        <p:spPr>
          <a:xfrm>
            <a:off x="6300216" y="2700458"/>
            <a:ext cx="2761488" cy="45124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ypage_menu.jpg"/>
          <p:cNvPicPr>
            <a:picLocks noChangeAspect="1"/>
          </p:cNvPicPr>
          <p:nvPr/>
        </p:nvPicPr>
        <p:blipFill>
          <a:blip r:embed="rId2"/>
          <a:stretch>
            <a:fillRect/>
          </a:stretch>
        </p:blipFill>
        <p:spPr>
          <a:xfrm>
            <a:off x="6355080" y="2755322"/>
            <a:ext cx="2651760" cy="341514"/>
          </a:xfrm>
          <a:prstGeom prst="rect">
            <a:avLst/>
          </a:prstGeom>
        </p:spPr>
      </p:pic>
      <p:sp>
        <p:nvSpPr>
          <p:cNvPr id="23" name="Rectangle 22"/>
          <p:cNvSpPr/>
          <p:nvPr/>
        </p:nvSpPr>
        <p:spPr>
          <a:xfrm>
            <a:off x="9134856" y="2042541"/>
            <a:ext cx="2761488" cy="1767077"/>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dmin_dashboard.jpg"/>
          <p:cNvPicPr>
            <a:picLocks noChangeAspect="1"/>
          </p:cNvPicPr>
          <p:nvPr/>
        </p:nvPicPr>
        <p:blipFill>
          <a:blip r:embed="rId3"/>
          <a:stretch>
            <a:fillRect/>
          </a:stretch>
        </p:blipFill>
        <p:spPr>
          <a:xfrm>
            <a:off x="9189720" y="2097405"/>
            <a:ext cx="2651760" cy="165734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대리점 대시보드</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내 학생·매출·오늘 수업</a:t>
            </a:r>
          </a:p>
        </p:txBody>
      </p:sp>
      <p:sp>
        <p:nvSpPr>
          <p:cNvPr id="10" name="Rounded Rectangle 9"/>
          <p:cNvSpPr/>
          <p:nvPr/>
        </p:nvSpPr>
        <p:spPr>
          <a:xfrm>
            <a:off x="365760" y="1828800"/>
            <a:ext cx="11430000" cy="77724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로그인하면 우리 대리점의 재원생·매출·오늘 수업이 카드로 정리돼 있어요. 검색창으로 원하는 기능을 바로 찾을 수 있어요.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11D48"/>
                </a:solidFill>
                <a:latin typeface="Malgun Gothic"/>
              </a:rPr>
              <a:t>● </a:t>
            </a:r>
            <a:r>
              <a:rPr sz="1250">
                <a:solidFill>
                  <a:srgbClr val="334155"/>
                </a:solidFill>
                <a:latin typeface="Malgun Gothic"/>
              </a:rPr>
              <a:t>상단에서 오늘 매출·재원생·출석률(우리 대리점)을 확인해요.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카테고리 카드(학생·회계·콘텐츠 등)에서 기능을 눌러요.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기능 검색창에 단어를 넣으면 바로 이동해요.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실시간 수업(LIVE) 상태를 확인해요.</a:t>
            </a:r>
          </a:p>
        </p:txBody>
      </p:sp>
      <p:sp>
        <p:nvSpPr>
          <p:cNvPr id="14" name="Rounded Rectangle 13"/>
          <p:cNvSpPr/>
          <p:nvPr/>
        </p:nvSpPr>
        <p:spPr>
          <a:xfrm>
            <a:off x="457200" y="4782312"/>
            <a:ext cx="5669280" cy="1005840"/>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11D48"/>
                </a:solidFill>
                <a:latin typeface="Malgun Gothic"/>
              </a:rPr>
              <a:t>✅ 핵심 포인트</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E11D48"/>
                </a:solidFill>
                <a:latin typeface="Malgun Gothic"/>
              </a:rPr>
              <a:t>● </a:t>
            </a:r>
            <a:r>
              <a:rPr sz="1100">
                <a:solidFill>
                  <a:srgbClr val="334155"/>
                </a:solidFill>
                <a:latin typeface="Malgun Gothic"/>
              </a:rPr>
              <a:t>숫자는 ‘우리 대리점 범위’로 자동 집계돼요.</a:t>
            </a:r>
          </a:p>
          <a:p>
            <a:pPr>
              <a:lnSpc>
                <a:spcPct val="115000"/>
              </a:lnSpc>
              <a:spcAft>
                <a:spcPts val="200"/>
              </a:spcAft>
            </a:pPr>
            <a:r>
              <a:rPr sz="900" b="1">
                <a:solidFill>
                  <a:srgbClr val="E11D48"/>
                </a:solidFill>
                <a:latin typeface="Malgun Gothic"/>
              </a:rPr>
              <a:t>● </a:t>
            </a:r>
            <a:r>
              <a:rPr sz="1100">
                <a:solidFill>
                  <a:srgbClr val="334155"/>
                </a:solidFill>
                <a:latin typeface="Malgun Gothic"/>
              </a:rPr>
              <a:t>찾는 기능이 안 보이면 검색이 가장 빨라요.</a:t>
            </a:r>
          </a:p>
        </p:txBody>
      </p:sp>
      <p:sp>
        <p:nvSpPr>
          <p:cNvPr id="17" name="Rounded Rectangle 16"/>
          <p:cNvSpPr/>
          <p:nvPr/>
        </p:nvSpPr>
        <p:spPr>
          <a:xfrm>
            <a:off x="457200" y="5897879"/>
            <a:ext cx="5669280" cy="65836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매일 아침 지표를 확인하면 우리 학원 상태를 빨리 파악할 수 있어요.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dashboard.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AI 운영비서 활용</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말·글로 조회·처리</a:t>
            </a:r>
          </a:p>
        </p:txBody>
      </p:sp>
      <p:sp>
        <p:nvSpPr>
          <p:cNvPr id="10" name="Rounded Rectangle 9"/>
          <p:cNvSpPr/>
          <p:nvPr/>
        </p:nvSpPr>
        <p:spPr>
          <a:xfrm>
            <a:off x="365760" y="1828800"/>
            <a:ext cx="11430000" cy="77724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검색/마이크에 말하거나 글로 시키면 AI가 우리 대리점 범위에서 조회·처리를 도와줘요. 바쁜 상담 시간에 특히 편해요.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11D48"/>
                </a:solidFill>
                <a:latin typeface="Malgun Gothic"/>
              </a:rPr>
              <a:t>● </a:t>
            </a:r>
            <a:r>
              <a:rPr sz="1250">
                <a:solidFill>
                  <a:srgbClr val="334155"/>
                </a:solidFill>
                <a:latin typeface="Malgun Gothic"/>
              </a:rPr>
              <a:t>가운데 검색/마이크에 말하거나 입력해요. 예) “오늘 매출 어때?”</a:t>
            </a:r>
          </a:p>
          <a:p>
            <a:pPr>
              <a:lnSpc>
                <a:spcPct val="115000"/>
              </a:lnSpc>
              <a:spcAft>
                <a:spcPts val="600"/>
              </a:spcAft>
            </a:pPr>
            <a:r>
              <a:rPr sz="1050" b="1">
                <a:solidFill>
                  <a:srgbClr val="E11D48"/>
                </a:solidFill>
                <a:latin typeface="Malgun Gothic"/>
              </a:rPr>
              <a:t>● </a:t>
            </a:r>
            <a:r>
              <a:rPr sz="1250">
                <a:solidFill>
                  <a:srgbClr val="334155"/>
                </a:solidFill>
                <a:latin typeface="Malgun Gothic"/>
              </a:rPr>
              <a:t>AI가 조회하거나 화면을 열어줘요. 예) “학생관리 열어줘”</a:t>
            </a:r>
          </a:p>
          <a:p>
            <a:pPr>
              <a:lnSpc>
                <a:spcPct val="115000"/>
              </a:lnSpc>
              <a:spcAft>
                <a:spcPts val="600"/>
              </a:spcAft>
            </a:pPr>
            <a:r>
              <a:rPr sz="1050" b="1">
                <a:solidFill>
                  <a:srgbClr val="E11D48"/>
                </a:solidFill>
                <a:latin typeface="Malgun Gothic"/>
              </a:rPr>
              <a:t>● </a:t>
            </a:r>
            <a:r>
              <a:rPr sz="1250">
                <a:solidFill>
                  <a:srgbClr val="334155"/>
                </a:solidFill>
                <a:latin typeface="Malgun Gothic"/>
              </a:rPr>
              <a:t>중요한 처리는 ‘할까요?’로 먼저 확인해요.</a:t>
            </a:r>
          </a:p>
        </p:txBody>
      </p:sp>
      <p:sp>
        <p:nvSpPr>
          <p:cNvPr id="14" name="Rounded Rectangle 13"/>
          <p:cNvSpPr/>
          <p:nvPr/>
        </p:nvSpPr>
        <p:spPr>
          <a:xfrm>
            <a:off x="457200" y="4398264"/>
            <a:ext cx="5669280" cy="1005840"/>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11D48"/>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11D48"/>
                </a:solidFill>
                <a:latin typeface="Malgun Gothic"/>
              </a:rPr>
              <a:t>● </a:t>
            </a:r>
            <a:r>
              <a:rPr sz="1100">
                <a:solidFill>
                  <a:srgbClr val="334155"/>
                </a:solidFill>
                <a:latin typeface="Malgun Gothic"/>
              </a:rPr>
              <a:t>말로 시키면 클릭보다 훨씬 빨라요.</a:t>
            </a:r>
          </a:p>
          <a:p>
            <a:pPr>
              <a:lnSpc>
                <a:spcPct val="115000"/>
              </a:lnSpc>
              <a:spcAft>
                <a:spcPts val="200"/>
              </a:spcAft>
            </a:pPr>
            <a:r>
              <a:rPr sz="900" b="1">
                <a:solidFill>
                  <a:srgbClr val="E11D48"/>
                </a:solidFill>
                <a:latin typeface="Malgun Gothic"/>
              </a:rPr>
              <a:t>● </a:t>
            </a:r>
            <a:r>
              <a:rPr sz="1100">
                <a:solidFill>
                  <a:srgbClr val="334155"/>
                </a:solidFill>
                <a:latin typeface="Malgun Gothic"/>
              </a:rPr>
              <a:t>권한이 있는 일만 안전하게 처리해요.</a:t>
            </a:r>
          </a:p>
        </p:txBody>
      </p:sp>
      <p:sp>
        <p:nvSpPr>
          <p:cNvPr id="17" name="Rounded Rectangle 16"/>
          <p:cNvSpPr/>
          <p:nvPr/>
        </p:nvSpPr>
        <p:spPr>
          <a:xfrm>
            <a:off x="457200" y="5513831"/>
            <a:ext cx="5669280" cy="65836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버튼을 못 찾을 땐 ‘○○ 열어줘’라고 말해보세요.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dashboard.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학생 모집·등록·관리</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상담부터 등록까지</a:t>
            </a:r>
          </a:p>
        </p:txBody>
      </p:sp>
      <p:sp>
        <p:nvSpPr>
          <p:cNvPr id="10" name="Rounded Rectangle 9"/>
          <p:cNvSpPr/>
          <p:nvPr/>
        </p:nvSpPr>
        <p:spPr>
          <a:xfrm>
            <a:off x="365760" y="1828800"/>
            <a:ext cx="11430000" cy="77724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신규 상담을 접수하고 학생을 등록하며, 재원생의 출결·성적·이력을 관리해요. 우리 대리점의 핵심 업무예요.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11D48"/>
                </a:solidFill>
                <a:latin typeface="Malgun Gothic"/>
              </a:rPr>
              <a:t>● </a:t>
            </a:r>
            <a:r>
              <a:rPr sz="1250">
                <a:solidFill>
                  <a:srgbClr val="334155"/>
                </a:solidFill>
                <a:latin typeface="Malgun Gothic"/>
              </a:rPr>
              <a:t>신규 상담을 접수하고 등록으로 전환해요.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학생/학부모에서 재원생 목록·이력을 관리해요.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출결·평가·포인트·채팅 이력을 학생별로 확인해요.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관리가 필요한 학생을 표시해 챙겨요.</a:t>
            </a:r>
          </a:p>
        </p:txBody>
      </p:sp>
      <p:sp>
        <p:nvSpPr>
          <p:cNvPr id="14" name="Rounded Rectangle 13"/>
          <p:cNvSpPr/>
          <p:nvPr/>
        </p:nvSpPr>
        <p:spPr>
          <a:xfrm>
            <a:off x="457200" y="4782312"/>
            <a:ext cx="5669280" cy="1005840"/>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11D48"/>
                </a:solidFill>
                <a:latin typeface="Malgun Gothic"/>
              </a:rPr>
              <a:t>✅ 핵심 포인트</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E11D48"/>
                </a:solidFill>
                <a:latin typeface="Malgun Gothic"/>
              </a:rPr>
              <a:t>● </a:t>
            </a:r>
            <a:r>
              <a:rPr sz="1100">
                <a:solidFill>
                  <a:srgbClr val="334155"/>
                </a:solidFill>
                <a:latin typeface="Malgun Gothic"/>
              </a:rPr>
              <a:t>학생 목록은 실제 회원 데이터와 연동돼 있어요.</a:t>
            </a:r>
          </a:p>
          <a:p>
            <a:pPr>
              <a:lnSpc>
                <a:spcPct val="115000"/>
              </a:lnSpc>
              <a:spcAft>
                <a:spcPts val="200"/>
              </a:spcAft>
            </a:pPr>
            <a:r>
              <a:rPr sz="900" b="1">
                <a:solidFill>
                  <a:srgbClr val="E11D48"/>
                </a:solidFill>
                <a:latin typeface="Malgun Gothic"/>
              </a:rPr>
              <a:t>● </a:t>
            </a:r>
            <a:r>
              <a:rPr sz="1100">
                <a:solidFill>
                  <a:srgbClr val="334155"/>
                </a:solidFill>
                <a:latin typeface="Malgun Gothic"/>
              </a:rPr>
              <a:t>상담→등록 전환율을 높이는 게 성장의 핵심이에요.</a:t>
            </a:r>
          </a:p>
        </p:txBody>
      </p:sp>
      <p:sp>
        <p:nvSpPr>
          <p:cNvPr id="17" name="Rounded Rectangle 16"/>
          <p:cNvSpPr/>
          <p:nvPr/>
        </p:nvSpPr>
        <p:spPr>
          <a:xfrm>
            <a:off x="457200" y="5897879"/>
            <a:ext cx="5669280" cy="65836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상담 기록을 꼼꼼히 남기면 재상담·등록 전환에 큰 도움이 돼요.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menu_students.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학부모 소통</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마이페이지 안내</a:t>
            </a:r>
          </a:p>
        </p:txBody>
      </p:sp>
      <p:sp>
        <p:nvSpPr>
          <p:cNvPr id="10" name="Rounded Rectangle 9"/>
          <p:cNvSpPr/>
          <p:nvPr/>
        </p:nvSpPr>
        <p:spPr>
          <a:xfrm>
            <a:off x="365760" y="1828800"/>
            <a:ext cx="11430000" cy="77724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학부모가 자녀의 학습을 스스로 확인하도록 마이페이지를 안내해요. 상담 문의를 줄이고 만족도·재등록을 높여요.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11D48"/>
                </a:solidFill>
                <a:latin typeface="Malgun Gothic"/>
              </a:rPr>
              <a:t>● </a:t>
            </a:r>
            <a:r>
              <a:rPr sz="1250">
                <a:solidFill>
                  <a:srgbClr val="334155"/>
                </a:solidFill>
                <a:latin typeface="Malgun Gothic"/>
              </a:rPr>
              <a:t>학부모에게 마이페이지 링크를 안내해요.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학부모가 자녀 학생 ID로 출석·평가·결제·리포트를 확인해요.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월별 보고서(인쇄·PDF)로 성장 흐름을 공유해요.</a:t>
            </a:r>
          </a:p>
        </p:txBody>
      </p:sp>
      <p:sp>
        <p:nvSpPr>
          <p:cNvPr id="14" name="Rounded Rectangle 13"/>
          <p:cNvSpPr/>
          <p:nvPr/>
        </p:nvSpPr>
        <p:spPr>
          <a:xfrm>
            <a:off x="457200" y="4398264"/>
            <a:ext cx="5669280" cy="1005840"/>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11D48"/>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11D48"/>
                </a:solidFill>
                <a:latin typeface="Malgun Gothic"/>
              </a:rPr>
              <a:t>● </a:t>
            </a:r>
            <a:r>
              <a:rPr sz="1100">
                <a:solidFill>
                  <a:srgbClr val="334155"/>
                </a:solidFill>
                <a:latin typeface="Malgun Gothic"/>
              </a:rPr>
              <a:t>학부모 만족도가 재등록률로 이어져요.</a:t>
            </a:r>
          </a:p>
          <a:p>
            <a:pPr>
              <a:lnSpc>
                <a:spcPct val="115000"/>
              </a:lnSpc>
              <a:spcAft>
                <a:spcPts val="200"/>
              </a:spcAft>
            </a:pPr>
            <a:r>
              <a:rPr sz="900" b="1">
                <a:solidFill>
                  <a:srgbClr val="E11D48"/>
                </a:solidFill>
                <a:latin typeface="Malgun Gothic"/>
              </a:rPr>
              <a:t>● </a:t>
            </a:r>
            <a:r>
              <a:rPr sz="1100">
                <a:solidFill>
                  <a:srgbClr val="334155"/>
                </a:solidFill>
                <a:latin typeface="Malgun Gothic"/>
              </a:rPr>
              <a:t>학생 ID는 비밀번호처럼 관리하도록 안내하세요.</a:t>
            </a:r>
          </a:p>
        </p:txBody>
      </p:sp>
      <p:sp>
        <p:nvSpPr>
          <p:cNvPr id="17" name="Rounded Rectangle 16"/>
          <p:cNvSpPr/>
          <p:nvPr/>
        </p:nvSpPr>
        <p:spPr>
          <a:xfrm>
            <a:off x="457200" y="5513831"/>
            <a:ext cx="5669280" cy="65836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정기적으로 평가서를 함께 읽어주면 학부모 신뢰가 커져요.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paren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수업 예약·배정</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일정과 강사 배정</a:t>
            </a:r>
          </a:p>
        </p:txBody>
      </p:sp>
      <p:sp>
        <p:nvSpPr>
          <p:cNvPr id="10" name="Rounded Rectangle 9"/>
          <p:cNvSpPr/>
          <p:nvPr/>
        </p:nvSpPr>
        <p:spPr>
          <a:xfrm>
            <a:off x="365760" y="1828800"/>
            <a:ext cx="11430000" cy="77724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학생의 수업 형태·시간·강사를 배정하고, 예약 현황을 관리해요. 연기·변경 요청도 처리해요.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11D48"/>
                </a:solidFill>
                <a:latin typeface="Malgun Gothic"/>
              </a:rPr>
              <a:t>● </a:t>
            </a:r>
            <a:r>
              <a:rPr sz="1250">
                <a:solidFill>
                  <a:srgbClr val="334155"/>
                </a:solidFill>
                <a:latin typeface="Malgun Gothic"/>
              </a:rPr>
              <a:t>예약 화면에서 수업 형태·강사·시간을 배정해요.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빈 시간·중복을 확인해 조정해요.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학생의 연기/변경 요청을 규정에 맞게 처리해요.</a:t>
            </a:r>
          </a:p>
        </p:txBody>
      </p:sp>
      <p:sp>
        <p:nvSpPr>
          <p:cNvPr id="14" name="Rounded Rectangle 13"/>
          <p:cNvSpPr/>
          <p:nvPr/>
        </p:nvSpPr>
        <p:spPr>
          <a:xfrm>
            <a:off x="457200" y="4398264"/>
            <a:ext cx="5669280" cy="1005840"/>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11D48"/>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11D48"/>
                </a:solidFill>
                <a:latin typeface="Malgun Gothic"/>
              </a:rPr>
              <a:t>● </a:t>
            </a:r>
            <a:r>
              <a:rPr sz="1100">
                <a:solidFill>
                  <a:srgbClr val="334155"/>
                </a:solidFill>
                <a:latin typeface="Malgun Gothic"/>
              </a:rPr>
              <a:t>인기 시간대는 미리 배정해 두면 좋아요.</a:t>
            </a:r>
          </a:p>
          <a:p>
            <a:pPr>
              <a:lnSpc>
                <a:spcPct val="115000"/>
              </a:lnSpc>
              <a:spcAft>
                <a:spcPts val="200"/>
              </a:spcAft>
            </a:pPr>
            <a:r>
              <a:rPr sz="900" b="1">
                <a:solidFill>
                  <a:srgbClr val="E11D48"/>
                </a:solidFill>
                <a:latin typeface="Malgun Gothic"/>
              </a:rPr>
              <a:t>● </a:t>
            </a:r>
            <a:r>
              <a:rPr sz="1100">
                <a:solidFill>
                  <a:srgbClr val="334155"/>
                </a:solidFill>
                <a:latin typeface="Malgun Gothic"/>
              </a:rPr>
              <a:t>연기 마감 규정을 안내하면 노쇼가 줄어요.</a:t>
            </a:r>
          </a:p>
        </p:txBody>
      </p:sp>
      <p:sp>
        <p:nvSpPr>
          <p:cNvPr id="17" name="Rounded Rectangle 16"/>
          <p:cNvSpPr/>
          <p:nvPr/>
        </p:nvSpPr>
        <p:spPr>
          <a:xfrm>
            <a:off x="457200" y="5513831"/>
            <a:ext cx="5669280" cy="65836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강사별 가능 시간을 등록해두면 배정이 빨라져요.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mon_booking.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결제·수납 관리</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결제·미납·환불</a:t>
            </a:r>
          </a:p>
        </p:txBody>
      </p:sp>
      <p:sp>
        <p:nvSpPr>
          <p:cNvPr id="10" name="Rounded Rectangle 9"/>
          <p:cNvSpPr/>
          <p:nvPr/>
        </p:nvSpPr>
        <p:spPr>
          <a:xfrm>
            <a:off x="365760" y="1828800"/>
            <a:ext cx="11430000" cy="77724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우리 대리점의 결제·미납·환불을 처리해요. 규정에 따라 금액이 자동 계산되고, 미납은 알림으로 관리해요.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11D48"/>
                </a:solidFill>
                <a:latin typeface="Malgun Gothic"/>
              </a:rPr>
              <a:t>● </a:t>
            </a:r>
            <a:r>
              <a:rPr sz="1250">
                <a:solidFill>
                  <a:srgbClr val="334155"/>
                </a:solidFill>
                <a:latin typeface="Malgun Gothic"/>
              </a:rPr>
              <a:t>회계/포인트에서 결제·미납·환불을 처리해요.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미납 건은 알림톡·문자로 안내해요.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환불 규정표에 따라 금액이 자동 계산돼요.</a:t>
            </a:r>
          </a:p>
        </p:txBody>
      </p:sp>
      <p:sp>
        <p:nvSpPr>
          <p:cNvPr id="14" name="Rounded Rectangle 13"/>
          <p:cNvSpPr/>
          <p:nvPr/>
        </p:nvSpPr>
        <p:spPr>
          <a:xfrm>
            <a:off x="457200" y="4398264"/>
            <a:ext cx="5669280" cy="1005840"/>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11D48"/>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11D48"/>
                </a:solidFill>
                <a:latin typeface="Malgun Gothic"/>
              </a:rPr>
              <a:t>● </a:t>
            </a:r>
            <a:r>
              <a:rPr sz="1100">
                <a:solidFill>
                  <a:srgbClr val="334155"/>
                </a:solidFill>
                <a:latin typeface="Malgun Gothic"/>
              </a:rPr>
              <a:t>미납 알림 자동화로 수납률을 높이세요.</a:t>
            </a:r>
          </a:p>
          <a:p>
            <a:pPr>
              <a:lnSpc>
                <a:spcPct val="115000"/>
              </a:lnSpc>
              <a:spcAft>
                <a:spcPts val="200"/>
              </a:spcAft>
            </a:pPr>
            <a:r>
              <a:rPr sz="900" b="1">
                <a:solidFill>
                  <a:srgbClr val="E11D48"/>
                </a:solidFill>
                <a:latin typeface="Malgun Gothic"/>
              </a:rPr>
              <a:t>● </a:t>
            </a:r>
            <a:r>
              <a:rPr sz="1100">
                <a:solidFill>
                  <a:srgbClr val="334155"/>
                </a:solidFill>
                <a:latin typeface="Malgun Gothic"/>
              </a:rPr>
              <a:t>할인 결제 환불은 정가 기준으로 재정산돼요.</a:t>
            </a:r>
          </a:p>
        </p:txBody>
      </p:sp>
      <p:sp>
        <p:nvSpPr>
          <p:cNvPr id="17" name="Rounded Rectangle 16"/>
          <p:cNvSpPr/>
          <p:nvPr/>
        </p:nvSpPr>
        <p:spPr>
          <a:xfrm>
            <a:off x="457200" y="5513831"/>
            <a:ext cx="5669280" cy="65836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수납 현황을 주기적으로 점검하면 매출이 안정돼요.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refund.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학생 학습 현황·리포트</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진도·성과 확인</a:t>
            </a:r>
          </a:p>
        </p:txBody>
      </p:sp>
      <p:sp>
        <p:nvSpPr>
          <p:cNvPr id="10" name="Rounded Rectangle 9"/>
          <p:cNvSpPr/>
          <p:nvPr/>
        </p:nvSpPr>
        <p:spPr>
          <a:xfrm>
            <a:off x="365760" y="1828800"/>
            <a:ext cx="11430000" cy="77724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우리 학생들의 출석·평가·학습 진도를 확인하고, 리포트로 성과를 점검해요. 학부모 상담·재등록 설득에 활용해요.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11D48"/>
                </a:solidFill>
                <a:latin typeface="Malgun Gothic"/>
              </a:rPr>
              <a:t>● </a:t>
            </a:r>
            <a:r>
              <a:rPr sz="1250">
                <a:solidFill>
                  <a:srgbClr val="334155"/>
                </a:solidFill>
                <a:latin typeface="Malgun Gothic"/>
              </a:rPr>
              <a:t>학생별 출석·평가·학습 진도를 확인해요.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월별 보고서로 성과를 정리해요.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리포트를 학부모 상담에 활용해요.</a:t>
            </a:r>
          </a:p>
        </p:txBody>
      </p:sp>
      <p:sp>
        <p:nvSpPr>
          <p:cNvPr id="14" name="Rounded Rectangle 13"/>
          <p:cNvSpPr/>
          <p:nvPr/>
        </p:nvSpPr>
        <p:spPr>
          <a:xfrm>
            <a:off x="457200" y="4398264"/>
            <a:ext cx="5669280" cy="1005840"/>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11D48"/>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11D48"/>
                </a:solidFill>
                <a:latin typeface="Malgun Gothic"/>
              </a:rPr>
              <a:t>● </a:t>
            </a:r>
            <a:r>
              <a:rPr sz="1100">
                <a:solidFill>
                  <a:srgbClr val="334155"/>
                </a:solidFill>
                <a:latin typeface="Malgun Gothic"/>
              </a:rPr>
              <a:t>데이터로 보여주면 학부모 신뢰가 커져요.</a:t>
            </a:r>
          </a:p>
          <a:p>
            <a:pPr>
              <a:lnSpc>
                <a:spcPct val="115000"/>
              </a:lnSpc>
              <a:spcAft>
                <a:spcPts val="200"/>
              </a:spcAft>
            </a:pPr>
            <a:r>
              <a:rPr sz="900" b="1">
                <a:solidFill>
                  <a:srgbClr val="E11D48"/>
                </a:solidFill>
                <a:latin typeface="Malgun Gothic"/>
              </a:rPr>
              <a:t>● </a:t>
            </a:r>
            <a:r>
              <a:rPr sz="1100">
                <a:solidFill>
                  <a:srgbClr val="334155"/>
                </a:solidFill>
                <a:latin typeface="Malgun Gothic"/>
              </a:rPr>
              <a:t>성과가 좋은 학생은 후기·추천으로 연결하세요.</a:t>
            </a:r>
          </a:p>
        </p:txBody>
      </p:sp>
      <p:sp>
        <p:nvSpPr>
          <p:cNvPr id="17" name="Rounded Rectangle 16"/>
          <p:cNvSpPr/>
          <p:nvPr/>
        </p:nvSpPr>
        <p:spPr>
          <a:xfrm>
            <a:off x="457200" y="5513831"/>
            <a:ext cx="5669280" cy="65836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재등록 시점 전에 리포트로 성과를 보여주면 설득이 쉬워요.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paren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대리점 정산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지사→대리점 수령</a:t>
            </a:r>
          </a:p>
        </p:txBody>
      </p:sp>
      <p:sp>
        <p:nvSpPr>
          <p:cNvPr id="10" name="Rounded Rectangle 9"/>
          <p:cNvSpPr/>
          <p:nvPr/>
        </p:nvSpPr>
        <p:spPr>
          <a:xfrm>
            <a:off x="365760" y="1828800"/>
            <a:ext cx="11430000" cy="77724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지사에서 우리 대리점으로 내려오는 정산을 확인해요. 매출·수수료가 조직 트리 구조로 자동 계산돼, 내 몫을 투명하게 알 수 있어요.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11D48"/>
                </a:solidFill>
                <a:latin typeface="Malgun Gothic"/>
              </a:rPr>
              <a:t>● </a:t>
            </a:r>
            <a:r>
              <a:rPr sz="1250">
                <a:solidFill>
                  <a:srgbClr val="334155"/>
                </a:solidFill>
                <a:latin typeface="Malgun Gothic"/>
              </a:rPr>
              <a:t>지사→대리점 정산(수령액)을 월별로 확인해요.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매출·수수료 계산 내역을 점검해요.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정산 리포트를 저장(PDF) 해 보관해요.</a:t>
            </a:r>
          </a:p>
        </p:txBody>
      </p:sp>
      <p:sp>
        <p:nvSpPr>
          <p:cNvPr id="14" name="Rounded Rectangle 13"/>
          <p:cNvSpPr/>
          <p:nvPr/>
        </p:nvSpPr>
        <p:spPr>
          <a:xfrm>
            <a:off x="457200" y="4398264"/>
            <a:ext cx="5669280" cy="1005840"/>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11D48"/>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11D48"/>
                </a:solidFill>
                <a:latin typeface="Malgun Gothic"/>
              </a:rPr>
              <a:t>● </a:t>
            </a:r>
            <a:r>
              <a:rPr sz="1100">
                <a:solidFill>
                  <a:srgbClr val="334155"/>
                </a:solidFill>
                <a:latin typeface="Malgun Gothic"/>
              </a:rPr>
              <a:t>정산은 조직 트리 구조로 자동 계산돼요.</a:t>
            </a:r>
          </a:p>
          <a:p>
            <a:pPr>
              <a:lnSpc>
                <a:spcPct val="115000"/>
              </a:lnSpc>
              <a:spcAft>
                <a:spcPts val="200"/>
              </a:spcAft>
            </a:pPr>
            <a:r>
              <a:rPr sz="900" b="1">
                <a:solidFill>
                  <a:srgbClr val="E11D48"/>
                </a:solidFill>
                <a:latin typeface="Malgun Gothic"/>
              </a:rPr>
              <a:t>● </a:t>
            </a:r>
            <a:r>
              <a:rPr sz="1100">
                <a:solidFill>
                  <a:srgbClr val="334155"/>
                </a:solidFill>
                <a:latin typeface="Malgun Gothic"/>
              </a:rPr>
              <a:t>이상 항목은 지사·본사에 문의해 확인하세요.</a:t>
            </a:r>
          </a:p>
        </p:txBody>
      </p:sp>
      <p:sp>
        <p:nvSpPr>
          <p:cNvPr id="17" name="Rounded Rectangle 16"/>
          <p:cNvSpPr/>
          <p:nvPr/>
        </p:nvSpPr>
        <p:spPr>
          <a:xfrm>
            <a:off x="457200" y="5513831"/>
            <a:ext cx="5669280" cy="65836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매출과 정산을 함께 보면 우리 대리점 수익 구조가 명확해져요.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monthlyrepor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이탈 방지 (내 학생 케어)</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이탈위험 조기 발견</a:t>
            </a:r>
          </a:p>
        </p:txBody>
      </p:sp>
      <p:sp>
        <p:nvSpPr>
          <p:cNvPr id="10" name="Rounded Rectangle 9"/>
          <p:cNvSpPr/>
          <p:nvPr/>
        </p:nvSpPr>
        <p:spPr>
          <a:xfrm>
            <a:off x="365760" y="1828800"/>
            <a:ext cx="11430000" cy="77724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그만둘 것 같은 학생을 미리 찾아 케어해요. 결석이 잦거나 성과가 떨어지는 학생을 빠르게 챙기면 재등록률이 올라가요.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11D48"/>
                </a:solidFill>
                <a:latin typeface="Malgun Gothic"/>
              </a:rPr>
              <a:t>● </a:t>
            </a:r>
            <a:r>
              <a:rPr sz="1250">
                <a:solidFill>
                  <a:srgbClr val="334155"/>
                </a:solidFill>
                <a:latin typeface="Malgun Gothic"/>
              </a:rPr>
              <a:t>이탈위험 신호(결석·성과 하락)를 확인해요.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위험 학생에 상담·알림톡으로 개입해요.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가족·추천 관계도 함께 관리해요.</a:t>
            </a:r>
          </a:p>
        </p:txBody>
      </p:sp>
      <p:sp>
        <p:nvSpPr>
          <p:cNvPr id="14" name="Rounded Rectangle 13"/>
          <p:cNvSpPr/>
          <p:nvPr/>
        </p:nvSpPr>
        <p:spPr>
          <a:xfrm>
            <a:off x="457200" y="4398264"/>
            <a:ext cx="5669280" cy="1005840"/>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11D48"/>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11D48"/>
                </a:solidFill>
                <a:latin typeface="Malgun Gothic"/>
              </a:rPr>
              <a:t>● </a:t>
            </a:r>
            <a:r>
              <a:rPr sz="1100">
                <a:solidFill>
                  <a:srgbClr val="334155"/>
                </a:solidFill>
                <a:latin typeface="Malgun Gothic"/>
              </a:rPr>
              <a:t>빨리 개입할수록 잔존율이 올라가요.</a:t>
            </a:r>
          </a:p>
          <a:p>
            <a:pPr>
              <a:lnSpc>
                <a:spcPct val="115000"/>
              </a:lnSpc>
              <a:spcAft>
                <a:spcPts val="200"/>
              </a:spcAft>
            </a:pPr>
            <a:r>
              <a:rPr sz="900" b="1">
                <a:solidFill>
                  <a:srgbClr val="E11D48"/>
                </a:solidFill>
                <a:latin typeface="Malgun Gothic"/>
              </a:rPr>
              <a:t>● </a:t>
            </a:r>
            <a:r>
              <a:rPr sz="1100">
                <a:solidFill>
                  <a:srgbClr val="334155"/>
                </a:solidFill>
                <a:latin typeface="Malgun Gothic"/>
              </a:rPr>
              <a:t>재등록 시즌 전 케어가 특히 중요해요.</a:t>
            </a:r>
          </a:p>
        </p:txBody>
      </p:sp>
      <p:sp>
        <p:nvSpPr>
          <p:cNvPr id="17" name="Rounded Rectangle 16"/>
          <p:cNvSpPr/>
          <p:nvPr/>
        </p:nvSpPr>
        <p:spPr>
          <a:xfrm>
            <a:off x="457200" y="5513831"/>
            <a:ext cx="5669280" cy="65836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매주 결석 잦은 학생부터 챙기면 이탈이 눈에 띄게 줄어요.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dashboard.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신규 상담·모객</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문의 접수·전환</a:t>
            </a:r>
          </a:p>
        </p:txBody>
      </p:sp>
      <p:sp>
        <p:nvSpPr>
          <p:cNvPr id="10" name="Rounded Rectangle 9"/>
          <p:cNvSpPr/>
          <p:nvPr/>
        </p:nvSpPr>
        <p:spPr>
          <a:xfrm>
            <a:off x="365760" y="1828800"/>
            <a:ext cx="11430000" cy="77724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신규 상담·문의를 접수하고 등록으로 전환해요. 모객이 대리점 성장의 출발점이에요.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11D48"/>
                </a:solidFill>
                <a:latin typeface="Malgun Gothic"/>
              </a:rPr>
              <a:t>● </a:t>
            </a:r>
            <a:r>
              <a:rPr sz="1250">
                <a:solidFill>
                  <a:srgbClr val="334155"/>
                </a:solidFill>
                <a:latin typeface="Malgun Gothic"/>
              </a:rPr>
              <a:t>신규 상담/문의를 접수해요.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상담 내용을 기록하고 등록으로 전환해요.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체험 수업·레벨테스트로 등록을 유도해요.</a:t>
            </a:r>
          </a:p>
        </p:txBody>
      </p:sp>
      <p:sp>
        <p:nvSpPr>
          <p:cNvPr id="14" name="Rounded Rectangle 13"/>
          <p:cNvSpPr/>
          <p:nvPr/>
        </p:nvSpPr>
        <p:spPr>
          <a:xfrm>
            <a:off x="457200" y="4398264"/>
            <a:ext cx="5669280" cy="1005840"/>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11D48"/>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11D48"/>
                </a:solidFill>
                <a:latin typeface="Malgun Gothic"/>
              </a:rPr>
              <a:t>● </a:t>
            </a:r>
            <a:r>
              <a:rPr sz="1100">
                <a:solidFill>
                  <a:srgbClr val="334155"/>
                </a:solidFill>
                <a:latin typeface="Malgun Gothic"/>
              </a:rPr>
              <a:t>빠른 응대가 등록 전환율을 높여요.</a:t>
            </a:r>
          </a:p>
          <a:p>
            <a:pPr>
              <a:lnSpc>
                <a:spcPct val="115000"/>
              </a:lnSpc>
              <a:spcAft>
                <a:spcPts val="200"/>
              </a:spcAft>
            </a:pPr>
            <a:r>
              <a:rPr sz="900" b="1">
                <a:solidFill>
                  <a:srgbClr val="E11D48"/>
                </a:solidFill>
                <a:latin typeface="Malgun Gothic"/>
              </a:rPr>
              <a:t>● </a:t>
            </a:r>
            <a:r>
              <a:rPr sz="1100">
                <a:solidFill>
                  <a:srgbClr val="334155"/>
                </a:solidFill>
                <a:latin typeface="Malgun Gothic"/>
              </a:rPr>
              <a:t>체험→등록 흐름을 매끄럽게 만드세요.</a:t>
            </a:r>
          </a:p>
        </p:txBody>
      </p:sp>
      <p:sp>
        <p:nvSpPr>
          <p:cNvPr id="17" name="Rounded Rectangle 16"/>
          <p:cNvSpPr/>
          <p:nvPr/>
        </p:nvSpPr>
        <p:spPr>
          <a:xfrm>
            <a:off x="457200" y="5513831"/>
            <a:ext cx="5669280" cy="65836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상담 후 후속 연락(팔로업)을 챙기면 전환율이 올라가요.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mon_contac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고객센터·지원</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지사·본사 지원 받기</a:t>
            </a:r>
          </a:p>
        </p:txBody>
      </p:sp>
      <p:sp>
        <p:nvSpPr>
          <p:cNvPr id="10" name="Rounded Rectangle 9"/>
          <p:cNvSpPr/>
          <p:nvPr/>
        </p:nvSpPr>
        <p:spPr>
          <a:xfrm>
            <a:off x="365760" y="1828800"/>
            <a:ext cx="11430000" cy="77724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운영 중 문제가 생기면 지사·본사 고객센터로 문의해요. 시스템·정산·정책 문의를 빠르게 해결할 수 있어요.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11D48"/>
                </a:solidFill>
                <a:latin typeface="Malgun Gothic"/>
              </a:rPr>
              <a:t>● </a:t>
            </a:r>
            <a:r>
              <a:rPr sz="1250">
                <a:solidFill>
                  <a:srgbClr val="334155"/>
                </a:solidFill>
                <a:latin typeface="Malgun Gothic"/>
              </a:rPr>
              <a:t>고객센터에서 전화·이메일·카카오·원격지원을 이용해요.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정산·정책 문의는 지사/본사와 연결해요.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반복 문제는 대응 방법을 메모해 둬요.</a:t>
            </a:r>
          </a:p>
        </p:txBody>
      </p:sp>
      <p:sp>
        <p:nvSpPr>
          <p:cNvPr id="14" name="Rounded Rectangle 13"/>
          <p:cNvSpPr/>
          <p:nvPr/>
        </p:nvSpPr>
        <p:spPr>
          <a:xfrm>
            <a:off x="457200" y="4398264"/>
            <a:ext cx="5669280" cy="1005840"/>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11D48"/>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11D48"/>
                </a:solidFill>
                <a:latin typeface="Malgun Gothic"/>
              </a:rPr>
              <a:t>● </a:t>
            </a:r>
            <a:r>
              <a:rPr sz="1100">
                <a:solidFill>
                  <a:srgbClr val="334155"/>
                </a:solidFill>
                <a:latin typeface="Malgun Gothic"/>
              </a:rPr>
              <a:t>시스템 문제는 원격지원으로 빠르게 해결돼요.</a:t>
            </a:r>
          </a:p>
          <a:p>
            <a:pPr>
              <a:lnSpc>
                <a:spcPct val="115000"/>
              </a:lnSpc>
              <a:spcAft>
                <a:spcPts val="200"/>
              </a:spcAft>
            </a:pPr>
            <a:r>
              <a:rPr sz="900" b="1">
                <a:solidFill>
                  <a:srgbClr val="E11D48"/>
                </a:solidFill>
                <a:latin typeface="Malgun Gothic"/>
              </a:rPr>
              <a:t>● </a:t>
            </a:r>
            <a:r>
              <a:rPr sz="1100">
                <a:solidFill>
                  <a:srgbClr val="334155"/>
                </a:solidFill>
                <a:latin typeface="Malgun Gothic"/>
              </a:rPr>
              <a:t>‘입장 안 됨’ 문의는 브라우저·권한부터 확인하세요.</a:t>
            </a:r>
          </a:p>
        </p:txBody>
      </p:sp>
      <p:sp>
        <p:nvSpPr>
          <p:cNvPr id="17" name="Rounded Rectangle 16"/>
          <p:cNvSpPr/>
          <p:nvPr/>
        </p:nvSpPr>
        <p:spPr>
          <a:xfrm>
            <a:off x="457200" y="5513831"/>
            <a:ext cx="5669280" cy="65836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자주 겪는 문의와 해결법을 정리해두면 상담이 빨라져요.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mon_contact.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한국·필리핀 듀얼 시계</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화면에 뜨는 두 나라 시간</a:t>
            </a:r>
          </a:p>
        </p:txBody>
      </p:sp>
      <p:sp>
        <p:nvSpPr>
          <p:cNvPr id="10" name="Rounded Rectangle 9"/>
          <p:cNvSpPr/>
          <p:nvPr/>
        </p:nvSpPr>
        <p:spPr>
          <a:xfrm>
            <a:off x="365760" y="1828800"/>
            <a:ext cx="11430000" cy="77724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화면에 🇰🇷 한국·🇵🇭 필리핀 시간이 함께 뜨는 시계예요. 필리핀 현지 강사와 한국 학생의 수업 시간을 조율할 때 시차를 바로 확인할 수 있어요.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11D48"/>
                </a:solidFill>
                <a:latin typeface="Malgun Gothic"/>
              </a:rPr>
              <a:t>● </a:t>
            </a:r>
            <a:r>
              <a:rPr sz="1250">
                <a:solidFill>
                  <a:srgbClr val="334155"/>
                </a:solidFill>
                <a:latin typeface="Malgun Gothic"/>
              </a:rPr>
              <a:t>화면에 떠 있는 듀얼 시계에서 🇰🇷 한국·🇵🇭 필리핀 시간을 동시에 봐요.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시계를 드래그하면 원하는 위치로 옮길 수 있어요.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시계를 탭(클릭)하면 홈으로 이동해요.</a:t>
            </a:r>
          </a:p>
        </p:txBody>
      </p:sp>
      <p:sp>
        <p:nvSpPr>
          <p:cNvPr id="14" name="Rounded Rectangle 13"/>
          <p:cNvSpPr/>
          <p:nvPr/>
        </p:nvSpPr>
        <p:spPr>
          <a:xfrm>
            <a:off x="457200" y="4398264"/>
            <a:ext cx="5669280" cy="1005840"/>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453127"/>
            <a:ext cx="5394960" cy="274320"/>
          </a:xfrm>
          <a:prstGeom prst="rect">
            <a:avLst/>
          </a:prstGeom>
          <a:noFill/>
        </p:spPr>
        <p:txBody>
          <a:bodyPr wrap="square" anchor="t">
            <a:spAutoFit/>
          </a:bodyPr>
          <a:lstStyle/>
          <a:p>
            <a:pPr algn="l">
              <a:lnSpc>
                <a:spcPct val="100000"/>
              </a:lnSpc>
            </a:pPr>
            <a:r>
              <a:rPr sz="1150" b="1">
                <a:solidFill>
                  <a:srgbClr val="E11D48"/>
                </a:solidFill>
                <a:latin typeface="Malgun Gothic"/>
              </a:rPr>
              <a:t>✅ 핵심 포인트</a:t>
            </a:r>
          </a:p>
        </p:txBody>
      </p:sp>
      <p:sp>
        <p:nvSpPr>
          <p:cNvPr id="16" name="TextBox 15"/>
          <p:cNvSpPr txBox="1"/>
          <p:nvPr/>
        </p:nvSpPr>
        <p:spPr>
          <a:xfrm>
            <a:off x="594360" y="4727448"/>
            <a:ext cx="5394960" cy="640080"/>
          </a:xfrm>
          <a:prstGeom prst="rect">
            <a:avLst/>
          </a:prstGeom>
          <a:noFill/>
        </p:spPr>
        <p:txBody>
          <a:bodyPr wrap="square">
            <a:spAutoFit/>
          </a:bodyPr>
          <a:lstStyle/>
          <a:p>
            <a:pPr>
              <a:lnSpc>
                <a:spcPct val="115000"/>
              </a:lnSpc>
              <a:spcAft>
                <a:spcPts val="200"/>
              </a:spcAft>
            </a:pPr>
            <a:r>
              <a:rPr sz="900" b="1">
                <a:solidFill>
                  <a:srgbClr val="E11D48"/>
                </a:solidFill>
                <a:latin typeface="Malgun Gothic"/>
              </a:rPr>
              <a:t>● </a:t>
            </a:r>
            <a:r>
              <a:rPr sz="1100">
                <a:solidFill>
                  <a:srgbClr val="334155"/>
                </a:solidFill>
                <a:latin typeface="Malgun Gothic"/>
              </a:rPr>
              <a:t>필리핀은 한국보다 1시간 느려요(시차 −1시간).</a:t>
            </a:r>
          </a:p>
          <a:p>
            <a:pPr>
              <a:lnSpc>
                <a:spcPct val="115000"/>
              </a:lnSpc>
              <a:spcAft>
                <a:spcPts val="200"/>
              </a:spcAft>
            </a:pPr>
            <a:r>
              <a:rPr sz="900" b="1">
                <a:solidFill>
                  <a:srgbClr val="E11D48"/>
                </a:solidFill>
                <a:latin typeface="Malgun Gothic"/>
              </a:rPr>
              <a:t>● </a:t>
            </a:r>
            <a:r>
              <a:rPr sz="1100">
                <a:solidFill>
                  <a:srgbClr val="334155"/>
                </a:solidFill>
                <a:latin typeface="Malgun Gothic"/>
              </a:rPr>
              <a:t>수업 예약·입장 시간을 두 나라 시간으로 확인할 수 있어요.</a:t>
            </a:r>
          </a:p>
        </p:txBody>
      </p:sp>
      <p:sp>
        <p:nvSpPr>
          <p:cNvPr id="17" name="Rounded Rectangle 16"/>
          <p:cNvSpPr/>
          <p:nvPr/>
        </p:nvSpPr>
        <p:spPr>
          <a:xfrm>
            <a:off x="457200" y="5513831"/>
            <a:ext cx="5669280" cy="65836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559551"/>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시차 때문에 수업 시간이 헷갈릴 때 이 시계를 보면 바로 확인돼요.</a:t>
            </a:r>
          </a:p>
        </p:txBody>
      </p:sp>
      <p:sp>
        <p:nvSpPr>
          <p:cNvPr id="19" name="Rectangle 18"/>
          <p:cNvSpPr/>
          <p:nvPr/>
        </p:nvSpPr>
        <p:spPr>
          <a:xfrm>
            <a:off x="6300216" y="2356264"/>
            <a:ext cx="5596128" cy="351707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world_clock.jpg"/>
          <p:cNvPicPr>
            <a:picLocks noChangeAspect="1"/>
          </p:cNvPicPr>
          <p:nvPr/>
        </p:nvPicPr>
        <p:blipFill>
          <a:blip r:embed="rId2"/>
          <a:stretch>
            <a:fillRect/>
          </a:stretch>
        </p:blipFill>
        <p:spPr>
          <a:xfrm>
            <a:off x="6355080" y="2411128"/>
            <a:ext cx="5486400" cy="3407343"/>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중국어 발음 코치</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다락원 중국어 마스터 Lv1~20</a:t>
            </a:r>
          </a:p>
        </p:txBody>
      </p:sp>
      <p:sp>
        <p:nvSpPr>
          <p:cNvPr id="10" name="Rounded Rectangle 9"/>
          <p:cNvSpPr/>
          <p:nvPr/>
        </p:nvSpPr>
        <p:spPr>
          <a:xfrm>
            <a:off x="365760" y="1828800"/>
            <a:ext cx="11430000" cy="77724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망고아이는 영어뿐 아니라 중국어 과정도 제공해요. 다락원 중국어 마스터(Lv 1~20) 기반 발음 코치(한자+병음·AI 음성인식·원어민 비교)로, 중국어 수요가 있는 학생을 유치·관리할 수 있어요.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11D48"/>
                </a:solidFill>
                <a:latin typeface="Malgun Gothic"/>
              </a:rPr>
              <a:t>● </a:t>
            </a:r>
            <a:r>
              <a:rPr sz="1250">
                <a:solidFill>
                  <a:srgbClr val="334155"/>
                </a:solidFill>
                <a:latin typeface="Malgun Gothic"/>
              </a:rPr>
              <a:t>AI 음성코치에서 CN 중국어 레벨을 골라요. (또는 중국어 발음 코치로 이동)</a:t>
            </a:r>
          </a:p>
          <a:p>
            <a:pPr>
              <a:lnSpc>
                <a:spcPct val="115000"/>
              </a:lnSpc>
              <a:spcAft>
                <a:spcPts val="600"/>
              </a:spcAft>
            </a:pPr>
            <a:r>
              <a:rPr sz="1050" b="1">
                <a:solidFill>
                  <a:srgbClr val="E11D48"/>
                </a:solidFill>
                <a:latin typeface="Malgun Gothic"/>
              </a:rPr>
              <a:t>● </a:t>
            </a:r>
            <a:r>
              <a:rPr sz="1250">
                <a:solidFill>
                  <a:srgbClr val="334155"/>
                </a:solidFill>
                <a:latin typeface="Malgun Gothic"/>
              </a:rPr>
              <a:t>다락원 마스터 시리즈(1~6, HSK 1~6)와 단원을 선택해요.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화면의 문장(한자 + 병음)을 따라 읽고, ‘원어민 발음 듣기’로 비교해요.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반복·느리게(0.85x) 기능으로 어려운 발음·성조를 연습해요.</a:t>
            </a:r>
          </a:p>
        </p:txBody>
      </p:sp>
      <p:sp>
        <p:nvSpPr>
          <p:cNvPr id="14" name="Rounded Rectangle 13"/>
          <p:cNvSpPr/>
          <p:nvPr/>
        </p:nvSpPr>
        <p:spPr>
          <a:xfrm>
            <a:off x="457200" y="4782312"/>
            <a:ext cx="5669280" cy="1316736"/>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11D48"/>
                </a:solidFill>
                <a:latin typeface="Malgun Gothic"/>
              </a:rPr>
              <a:t>✅ 핵심 포인트</a:t>
            </a:r>
          </a:p>
        </p:txBody>
      </p:sp>
      <p:sp>
        <p:nvSpPr>
          <p:cNvPr id="16" name="TextBox 15"/>
          <p:cNvSpPr txBox="1"/>
          <p:nvPr/>
        </p:nvSpPr>
        <p:spPr>
          <a:xfrm>
            <a:off x="594360" y="5111496"/>
            <a:ext cx="5394960" cy="950976"/>
          </a:xfrm>
          <a:prstGeom prst="rect">
            <a:avLst/>
          </a:prstGeom>
          <a:noFill/>
        </p:spPr>
        <p:txBody>
          <a:bodyPr wrap="square">
            <a:spAutoFit/>
          </a:bodyPr>
          <a:lstStyle/>
          <a:p>
            <a:pPr>
              <a:lnSpc>
                <a:spcPct val="115000"/>
              </a:lnSpc>
              <a:spcAft>
                <a:spcPts val="200"/>
              </a:spcAft>
            </a:pPr>
            <a:r>
              <a:rPr sz="900" b="1">
                <a:solidFill>
                  <a:srgbClr val="E11D48"/>
                </a:solidFill>
                <a:latin typeface="Malgun Gothic"/>
              </a:rPr>
              <a:t>● </a:t>
            </a:r>
            <a:r>
              <a:rPr sz="1100">
                <a:solidFill>
                  <a:srgbClr val="334155"/>
                </a:solidFill>
                <a:latin typeface="Malgun Gothic"/>
              </a:rPr>
              <a:t>한자와 병음(발음 표기)이 함께 나와 읽기 쉬워요.</a:t>
            </a:r>
          </a:p>
          <a:p>
            <a:pPr>
              <a:lnSpc>
                <a:spcPct val="115000"/>
              </a:lnSpc>
              <a:spcAft>
                <a:spcPts val="200"/>
              </a:spcAft>
            </a:pPr>
            <a:r>
              <a:rPr sz="900" b="1">
                <a:solidFill>
                  <a:srgbClr val="E11D48"/>
                </a:solidFill>
                <a:latin typeface="Malgun Gothic"/>
              </a:rPr>
              <a:t>● </a:t>
            </a:r>
            <a:r>
              <a:rPr sz="1100">
                <a:solidFill>
                  <a:srgbClr val="334155"/>
                </a:solidFill>
                <a:latin typeface="Malgun Gothic"/>
              </a:rPr>
              <a:t>AI가 음성을 인식해 원어민과 비교해줘요.</a:t>
            </a:r>
          </a:p>
          <a:p>
            <a:pPr>
              <a:lnSpc>
                <a:spcPct val="115000"/>
              </a:lnSpc>
              <a:spcAft>
                <a:spcPts val="200"/>
              </a:spcAft>
            </a:pPr>
            <a:r>
              <a:rPr sz="900" b="1">
                <a:solidFill>
                  <a:srgbClr val="E11D48"/>
                </a:solidFill>
                <a:latin typeface="Malgun Gothic"/>
              </a:rPr>
              <a:t>● </a:t>
            </a:r>
            <a:r>
              <a:rPr sz="1100">
                <a:solidFill>
                  <a:srgbClr val="334155"/>
                </a:solidFill>
                <a:latin typeface="Malgun Gothic"/>
              </a:rPr>
              <a:t>학습 게임 허브에서도 중국어를 지원해요.</a:t>
            </a:r>
          </a:p>
        </p:txBody>
      </p:sp>
      <p:sp>
        <p:nvSpPr>
          <p:cNvPr id="17" name="Rounded Rectangle 16"/>
          <p:cNvSpPr/>
          <p:nvPr/>
        </p:nvSpPr>
        <p:spPr>
          <a:xfrm>
            <a:off x="457200" y="6208775"/>
            <a:ext cx="5669280" cy="65836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254495"/>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느리게로 듣고 또박또박 따라 하면 성조(4성)가 잘 잡혀요.</a:t>
            </a:r>
          </a:p>
        </p:txBody>
      </p:sp>
      <p:sp>
        <p:nvSpPr>
          <p:cNvPr id="19" name="Rectangle 18"/>
          <p:cNvSpPr/>
          <p:nvPr/>
        </p:nvSpPr>
        <p:spPr>
          <a:xfrm>
            <a:off x="6300216" y="2345436"/>
            <a:ext cx="5596128" cy="353872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speechcoach_cn.jpg"/>
          <p:cNvPicPr>
            <a:picLocks noChangeAspect="1"/>
          </p:cNvPicPr>
          <p:nvPr/>
        </p:nvPicPr>
        <p:blipFill>
          <a:blip r:embed="rId2"/>
          <a:stretch>
            <a:fillRect/>
          </a:stretch>
        </p:blipFill>
        <p:spPr>
          <a:xfrm>
            <a:off x="6355080" y="2400300"/>
            <a:ext cx="5486400" cy="3429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수업 중 칭찬 포인트 (이해·활용)</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학생 동기부여·재등록에 연결</a:t>
            </a:r>
          </a:p>
        </p:txBody>
      </p:sp>
      <p:sp>
        <p:nvSpPr>
          <p:cNvPr id="10" name="Rounded Rectangle 9"/>
          <p:cNvSpPr/>
          <p:nvPr/>
        </p:nvSpPr>
        <p:spPr>
          <a:xfrm>
            <a:off x="365760" y="1828800"/>
            <a:ext cx="11430000" cy="77724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01952"/>
            <a:ext cx="11064240" cy="640080"/>
          </a:xfrm>
          <a:prstGeom prst="rect">
            <a:avLst/>
          </a:prstGeom>
          <a:noFill/>
        </p:spPr>
        <p:txBody>
          <a:bodyPr wrap="square" anchor="t">
            <a:spAutoFit/>
          </a:bodyPr>
          <a:lstStyle/>
          <a:p>
            <a:pPr algn="l">
              <a:lnSpc>
                <a:spcPct val="115000"/>
              </a:lnSpc>
            </a:pPr>
            <a:r>
              <a:rPr sz="1200" b="0">
                <a:solidFill>
                  <a:srgbClr val="334155"/>
                </a:solidFill>
                <a:latin typeface="Malgun Gothic"/>
              </a:rPr>
              <a:t>수업 중 교사가 학생에게 🌟 칭찬 포인트(+1P)를 즉석 지급하고, 수업 종료 별점(+10P)이 더해져 학생 총포인트로 쌓여요. 포인트는 상점·기프티콘 보상으로 이어져 학생 동기부여와 재등록에 도움이 돼요. 대리점는 이 흐름을 이해하고 성과에 활용해요.</a:t>
            </a:r>
          </a:p>
        </p:txBody>
      </p:sp>
      <p:sp>
        <p:nvSpPr>
          <p:cNvPr id="12" name="TextBox 11"/>
          <p:cNvSpPr txBox="1"/>
          <p:nvPr/>
        </p:nvSpPr>
        <p:spPr>
          <a:xfrm>
            <a:off x="457200" y="274320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108960"/>
            <a:ext cx="5669280" cy="2377440"/>
          </a:xfrm>
          <a:prstGeom prst="rect">
            <a:avLst/>
          </a:prstGeom>
          <a:noFill/>
        </p:spPr>
        <p:txBody>
          <a:bodyPr wrap="square">
            <a:spAutoFit/>
          </a:bodyPr>
          <a:lstStyle/>
          <a:p>
            <a:pPr>
              <a:lnSpc>
                <a:spcPct val="115000"/>
              </a:lnSpc>
              <a:spcAft>
                <a:spcPts val="600"/>
              </a:spcAft>
            </a:pPr>
            <a:r>
              <a:rPr sz="1050" b="1">
                <a:solidFill>
                  <a:srgbClr val="E11D48"/>
                </a:solidFill>
                <a:latin typeface="Malgun Gothic"/>
              </a:rPr>
              <a:t>● </a:t>
            </a:r>
            <a:r>
              <a:rPr sz="1250">
                <a:solidFill>
                  <a:srgbClr val="334155"/>
                </a:solidFill>
                <a:latin typeface="Malgun Gothic"/>
              </a:rPr>
              <a:t>교사가 수업 중 학생 화면의 🌟 칭찬 버튼으로 +1P를 지급해요.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학생 🧺 포인트 바구니에 실시간 누적, 총 포인트에 합산돼요.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수업 종료 별점 평가로 학생은 +10P를 더 받아요.</a:t>
            </a:r>
          </a:p>
          <a:p>
            <a:pPr>
              <a:lnSpc>
                <a:spcPct val="115000"/>
              </a:lnSpc>
              <a:spcAft>
                <a:spcPts val="600"/>
              </a:spcAft>
            </a:pPr>
            <a:r>
              <a:rPr sz="1050" b="1">
                <a:solidFill>
                  <a:srgbClr val="E11D48"/>
                </a:solidFill>
                <a:latin typeface="Malgun Gothic"/>
              </a:rPr>
              <a:t>● </a:t>
            </a:r>
            <a:r>
              <a:rPr sz="1250">
                <a:solidFill>
                  <a:srgbClr val="334155"/>
                </a:solidFill>
                <a:latin typeface="Malgun Gothic"/>
              </a:rPr>
              <a:t>포인트는 상점·룰렛·기프티콘 보상과 연결돼요.</a:t>
            </a:r>
          </a:p>
        </p:txBody>
      </p:sp>
      <p:sp>
        <p:nvSpPr>
          <p:cNvPr id="14" name="Rounded Rectangle 13"/>
          <p:cNvSpPr/>
          <p:nvPr/>
        </p:nvSpPr>
        <p:spPr>
          <a:xfrm>
            <a:off x="457200" y="4782312"/>
            <a:ext cx="5669280" cy="1005840"/>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37175"/>
            <a:ext cx="5394960" cy="274320"/>
          </a:xfrm>
          <a:prstGeom prst="rect">
            <a:avLst/>
          </a:prstGeom>
          <a:noFill/>
        </p:spPr>
        <p:txBody>
          <a:bodyPr wrap="square" anchor="t">
            <a:spAutoFit/>
          </a:bodyPr>
          <a:lstStyle/>
          <a:p>
            <a:pPr algn="l">
              <a:lnSpc>
                <a:spcPct val="100000"/>
              </a:lnSpc>
            </a:pPr>
            <a:r>
              <a:rPr sz="1150" b="1">
                <a:solidFill>
                  <a:srgbClr val="E11D48"/>
                </a:solidFill>
                <a:latin typeface="Malgun Gothic"/>
              </a:rPr>
              <a:t>✅ 핵심 포인트</a:t>
            </a:r>
          </a:p>
        </p:txBody>
      </p:sp>
      <p:sp>
        <p:nvSpPr>
          <p:cNvPr id="16" name="TextBox 15"/>
          <p:cNvSpPr txBox="1"/>
          <p:nvPr/>
        </p:nvSpPr>
        <p:spPr>
          <a:xfrm>
            <a:off x="594360" y="5111496"/>
            <a:ext cx="5394960" cy="640080"/>
          </a:xfrm>
          <a:prstGeom prst="rect">
            <a:avLst/>
          </a:prstGeom>
          <a:noFill/>
        </p:spPr>
        <p:txBody>
          <a:bodyPr wrap="square">
            <a:spAutoFit/>
          </a:bodyPr>
          <a:lstStyle/>
          <a:p>
            <a:pPr>
              <a:lnSpc>
                <a:spcPct val="115000"/>
              </a:lnSpc>
              <a:spcAft>
                <a:spcPts val="200"/>
              </a:spcAft>
            </a:pPr>
            <a:r>
              <a:rPr sz="900" b="1">
                <a:solidFill>
                  <a:srgbClr val="E11D48"/>
                </a:solidFill>
                <a:latin typeface="Malgun Gothic"/>
              </a:rPr>
              <a:t>● </a:t>
            </a:r>
            <a:r>
              <a:rPr sz="1100">
                <a:solidFill>
                  <a:srgbClr val="334155"/>
                </a:solidFill>
                <a:latin typeface="Malgun Gothic"/>
              </a:rPr>
              <a:t>즉각 보상은 학생 참여·재등록에 긍정적이에요.</a:t>
            </a:r>
          </a:p>
          <a:p>
            <a:pPr>
              <a:lnSpc>
                <a:spcPct val="115000"/>
              </a:lnSpc>
              <a:spcAft>
                <a:spcPts val="200"/>
              </a:spcAft>
            </a:pPr>
            <a:r>
              <a:rPr sz="900" b="1">
                <a:solidFill>
                  <a:srgbClr val="E11D48"/>
                </a:solidFill>
                <a:latin typeface="Malgun Gothic"/>
              </a:rPr>
              <a:t>● </a:t>
            </a:r>
            <a:r>
              <a:rPr sz="1100">
                <a:solidFill>
                  <a:srgbClr val="334155"/>
                </a:solidFill>
                <a:latin typeface="Malgun Gothic"/>
              </a:rPr>
              <a:t>우리 대리점 학생의 포인트·리워드 반응을 성과로 활용하세요.</a:t>
            </a:r>
          </a:p>
        </p:txBody>
      </p:sp>
      <p:sp>
        <p:nvSpPr>
          <p:cNvPr id="17" name="Rounded Rectangle 16"/>
          <p:cNvSpPr/>
          <p:nvPr/>
        </p:nvSpPr>
        <p:spPr>
          <a:xfrm>
            <a:off x="457200" y="5897879"/>
            <a:ext cx="5669280" cy="64008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943599"/>
            <a:ext cx="5394960" cy="548640"/>
          </a:xfrm>
          <a:prstGeom prst="rect">
            <a:avLst/>
          </a:prstGeom>
          <a:noFill/>
        </p:spPr>
        <p:txBody>
          <a:bodyPr wrap="square" anchor="t">
            <a:spAutoFit/>
          </a:bodyPr>
          <a:lstStyle/>
          <a:p>
            <a:pPr algn="l">
              <a:lnSpc>
                <a:spcPct val="105000"/>
              </a:lnSpc>
            </a:pPr>
            <a:r>
              <a:rPr sz="1050" b="0">
                <a:solidFill>
                  <a:srgbClr val="92670A"/>
                </a:solidFill>
                <a:latin typeface="Malgun Gothic"/>
              </a:rPr>
              <a:t>⚠️ 알아두기 · 칭찬 포인트 지급은 교사가, 상점·리워드·기프티콘 정책은 본사(관리자)가 구성해요.</a:t>
            </a:r>
          </a:p>
        </p:txBody>
      </p:sp>
      <p:sp>
        <p:nvSpPr>
          <p:cNvPr id="19" name="Rounded Rectangle 18"/>
          <p:cNvSpPr/>
          <p:nvPr/>
        </p:nvSpPr>
        <p:spPr>
          <a:xfrm>
            <a:off x="457200" y="6629399"/>
            <a:ext cx="5669280" cy="65836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675119"/>
            <a:ext cx="5394960" cy="566928"/>
          </a:xfrm>
          <a:prstGeom prst="rect">
            <a:avLst/>
          </a:prstGeom>
          <a:noFill/>
        </p:spPr>
        <p:txBody>
          <a:bodyPr wrap="square" anchor="t">
            <a:spAutoFit/>
          </a:bodyPr>
          <a:lstStyle/>
          <a:p>
            <a:pPr algn="l">
              <a:lnSpc>
                <a:spcPct val="105000"/>
              </a:lnSpc>
            </a:pPr>
            <a:r>
              <a:rPr sz="1050" b="0">
                <a:solidFill>
                  <a:srgbClr val="5B4A2A"/>
                </a:solidFill>
                <a:latin typeface="Malgun Gothic"/>
              </a:rPr>
              <a:t>💡 꿀팁 · 칭찬 포인트가 잘 도는 반(교사)일수록 재등록률이 높은 경향이 있어요.</a:t>
            </a:r>
          </a:p>
        </p:txBody>
      </p:sp>
      <p:sp>
        <p:nvSpPr>
          <p:cNvPr id="21" name="Rectangle 20"/>
          <p:cNvSpPr/>
          <p:nvPr/>
        </p:nvSpPr>
        <p:spPr>
          <a:xfrm>
            <a:off x="6300216" y="3266070"/>
            <a:ext cx="5596128" cy="169745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praise.jpg"/>
          <p:cNvPicPr>
            <a:picLocks noChangeAspect="1"/>
          </p:cNvPicPr>
          <p:nvPr/>
        </p:nvPicPr>
        <p:blipFill>
          <a:blip r:embed="rId2"/>
          <a:stretch>
            <a:fillRect/>
          </a:stretch>
        </p:blipFill>
        <p:spPr>
          <a:xfrm>
            <a:off x="6355080" y="3320934"/>
            <a:ext cx="5486400" cy="158773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기능 요약 · 데이터</a:t>
            </a:r>
          </a:p>
        </p:txBody>
      </p:sp>
      <p:sp>
        <p:nvSpPr>
          <p:cNvPr id="6" name="TextBox 5"/>
          <p:cNvSpPr txBox="1"/>
          <p:nvPr/>
        </p:nvSpPr>
        <p:spPr>
          <a:xfrm>
            <a:off x="365760" y="868680"/>
            <a:ext cx="9144000" cy="457200"/>
          </a:xfrm>
          <a:prstGeom prst="rect">
            <a:avLst/>
          </a:prstGeom>
          <a:noFill/>
        </p:spPr>
        <p:txBody>
          <a:bodyPr wrap="square" anchor="t">
            <a:spAutoFit/>
          </a:bodyPr>
          <a:lstStyle/>
          <a:p>
            <a:pPr algn="l">
              <a:lnSpc>
                <a:spcPct val="100000"/>
              </a:lnSpc>
            </a:pPr>
            <a:r>
              <a:rPr sz="2200" b="1">
                <a:solidFill>
                  <a:srgbClr val="E11D48"/>
                </a:solidFill>
                <a:latin typeface="Malgun Gothic"/>
              </a:rPr>
              <a:t>📋 대리점 기능 한눈에</a:t>
            </a:r>
          </a:p>
        </p:txBody>
      </p:sp>
      <p:graphicFrame>
        <p:nvGraphicFramePr>
          <p:cNvPr id="7" name="Table 6"/>
          <p:cNvGraphicFramePr>
            <a:graphicFrameLocks noGrp="1"/>
          </p:cNvGraphicFramePr>
          <p:nvPr/>
        </p:nvGraphicFramePr>
        <p:xfrm>
          <a:off x="365760" y="1463040"/>
          <a:ext cx="11460175" cy="4572000"/>
        </p:xfrm>
        <a:graphic>
          <a:graphicData uri="http://schemas.openxmlformats.org/drawingml/2006/table">
            <a:tbl>
              <a:tblPr firstRow="1" bandRow="1">
                <a:tableStyleId>{5C22544A-7EE6-4342-B048-85BDC9FD1C3A}</a:tableStyleId>
              </a:tblPr>
              <a:tblGrid>
                <a:gridCol w="2865043"/>
                <a:gridCol w="2865043"/>
                <a:gridCol w="2865043"/>
                <a:gridCol w="2865046"/>
              </a:tblGrid>
              <a:tr h="508000">
                <a:tc>
                  <a:txBody>
                    <a:bodyPr/>
                    <a:lstStyle/>
                    <a:p>
                      <a:pPr algn="ctr"/>
                      <a:r>
                        <a:rPr sz="1300" b="1">
                          <a:solidFill>
                            <a:srgbClr val="FFFFFF"/>
                          </a:solidFill>
                          <a:latin typeface="Malgun Gothic"/>
                        </a:rPr>
                        <a:t>기능</a:t>
                      </a:r>
                    </a:p>
                  </a:txBody>
                  <a:tcPr>
                    <a:solidFill>
                      <a:srgbClr val="E11D48"/>
                    </a:solidFill>
                  </a:tcPr>
                </a:tc>
                <a:tc>
                  <a:txBody>
                    <a:bodyPr/>
                    <a:lstStyle/>
                    <a:p>
                      <a:pPr algn="ctr"/>
                      <a:r>
                        <a:rPr sz="1300" b="1">
                          <a:solidFill>
                            <a:srgbClr val="FFFFFF"/>
                          </a:solidFill>
                          <a:latin typeface="Malgun Gothic"/>
                        </a:rPr>
                        <a:t>무엇을 하나요?</a:t>
                      </a:r>
                    </a:p>
                  </a:txBody>
                  <a:tcPr>
                    <a:solidFill>
                      <a:srgbClr val="E11D48"/>
                    </a:solidFill>
                  </a:tcPr>
                </a:tc>
                <a:tc>
                  <a:txBody>
                    <a:bodyPr/>
                    <a:lstStyle/>
                    <a:p>
                      <a:pPr algn="ctr"/>
                      <a:r>
                        <a:rPr sz="1300" b="1">
                          <a:solidFill>
                            <a:srgbClr val="FFFFFF"/>
                          </a:solidFill>
                          <a:latin typeface="Malgun Gothic"/>
                        </a:rPr>
                        <a:t>이럴 때</a:t>
                      </a:r>
                    </a:p>
                  </a:txBody>
                  <a:tcPr>
                    <a:solidFill>
                      <a:srgbClr val="E11D48"/>
                    </a:solidFill>
                  </a:tcPr>
                </a:tc>
                <a:tc>
                  <a:txBody>
                    <a:bodyPr/>
                    <a:lstStyle/>
                    <a:p>
                      <a:pPr algn="ctr"/>
                      <a:r>
                        <a:rPr sz="1300" b="1">
                          <a:solidFill>
                            <a:srgbClr val="FFFFFF"/>
                          </a:solidFill>
                          <a:latin typeface="Malgun Gothic"/>
                        </a:rPr>
                        <a:t>핵심 효과</a:t>
                      </a:r>
                    </a:p>
                  </a:txBody>
                  <a:tcPr>
                    <a:solidFill>
                      <a:srgbClr val="E11D48"/>
                    </a:solidFill>
                  </a:tcPr>
                </a:tc>
              </a:tr>
              <a:tr h="508000">
                <a:tc>
                  <a:txBody>
                    <a:bodyPr/>
                    <a:lstStyle/>
                    <a:p>
                      <a:pPr algn="l"/>
                      <a:r>
                        <a:rPr sz="1200" b="1">
                          <a:solidFill>
                            <a:srgbClr val="334155"/>
                          </a:solidFill>
                          <a:latin typeface="Malgun Gothic"/>
                        </a:rPr>
                        <a:t>대시보드</a:t>
                      </a:r>
                    </a:p>
                  </a:txBody>
                  <a:tcPr>
                    <a:solidFill>
                      <a:srgbClr val="FFFFFF"/>
                    </a:solidFill>
                  </a:tcPr>
                </a:tc>
                <a:tc>
                  <a:txBody>
                    <a:bodyPr/>
                    <a:lstStyle/>
                    <a:p>
                      <a:pPr algn="ctr"/>
                      <a:r>
                        <a:rPr sz="1200">
                          <a:solidFill>
                            <a:srgbClr val="334155"/>
                          </a:solidFill>
                          <a:latin typeface="Malgun Gothic"/>
                        </a:rPr>
                        <a:t>매출·재원·오늘 수업</a:t>
                      </a:r>
                    </a:p>
                  </a:txBody>
                  <a:tcPr>
                    <a:solidFill>
                      <a:srgbClr val="FFFFFF"/>
                    </a:solidFill>
                  </a:tcPr>
                </a:tc>
                <a:tc>
                  <a:txBody>
                    <a:bodyPr/>
                    <a:lstStyle/>
                    <a:p>
                      <a:pPr algn="ctr"/>
                      <a:r>
                        <a:rPr sz="1200">
                          <a:solidFill>
                            <a:srgbClr val="334155"/>
                          </a:solidFill>
                          <a:latin typeface="Malgun Gothic"/>
                        </a:rPr>
                        <a:t>매일 아침</a:t>
                      </a:r>
                    </a:p>
                  </a:txBody>
                  <a:tcPr>
                    <a:solidFill>
                      <a:srgbClr val="FFFFFF"/>
                    </a:solidFill>
                  </a:tcPr>
                </a:tc>
                <a:tc>
                  <a:txBody>
                    <a:bodyPr/>
                    <a:lstStyle/>
                    <a:p>
                      <a:pPr algn="ctr"/>
                      <a:r>
                        <a:rPr sz="1200">
                          <a:solidFill>
                            <a:srgbClr val="334155"/>
                          </a:solidFill>
                          <a:latin typeface="Malgun Gothic"/>
                        </a:rPr>
                        <a:t>빠른 상황 파악</a:t>
                      </a:r>
                    </a:p>
                  </a:txBody>
                  <a:tcPr>
                    <a:solidFill>
                      <a:srgbClr val="FFFFFF"/>
                    </a:solidFill>
                  </a:tcPr>
                </a:tc>
              </a:tr>
              <a:tr h="508000">
                <a:tc>
                  <a:txBody>
                    <a:bodyPr/>
                    <a:lstStyle/>
                    <a:p>
                      <a:pPr algn="l"/>
                      <a:r>
                        <a:rPr sz="1200" b="1">
                          <a:solidFill>
                            <a:srgbClr val="334155"/>
                          </a:solidFill>
                          <a:latin typeface="Malgun Gothic"/>
                        </a:rPr>
                        <a:t>학생 관리</a:t>
                      </a:r>
                    </a:p>
                  </a:txBody>
                  <a:tcPr>
                    <a:solidFill>
                      <a:srgbClr val="F8FAFC"/>
                    </a:solidFill>
                  </a:tcPr>
                </a:tc>
                <a:tc>
                  <a:txBody>
                    <a:bodyPr/>
                    <a:lstStyle/>
                    <a:p>
                      <a:pPr algn="ctr"/>
                      <a:r>
                        <a:rPr sz="1200">
                          <a:solidFill>
                            <a:srgbClr val="334155"/>
                          </a:solidFill>
                          <a:latin typeface="Malgun Gothic"/>
                        </a:rPr>
                        <a:t>모집·등록·이력</a:t>
                      </a:r>
                    </a:p>
                  </a:txBody>
                  <a:tcPr>
                    <a:solidFill>
                      <a:srgbClr val="F8FAFC"/>
                    </a:solidFill>
                  </a:tcPr>
                </a:tc>
                <a:tc>
                  <a:txBody>
                    <a:bodyPr/>
                    <a:lstStyle/>
                    <a:p>
                      <a:pPr algn="ctr"/>
                      <a:r>
                        <a:rPr sz="1200">
                          <a:solidFill>
                            <a:srgbClr val="334155"/>
                          </a:solidFill>
                          <a:latin typeface="Malgun Gothic"/>
                        </a:rPr>
                        <a:t>상시</a:t>
                      </a:r>
                    </a:p>
                  </a:txBody>
                  <a:tcPr>
                    <a:solidFill>
                      <a:srgbClr val="F8FAFC"/>
                    </a:solidFill>
                  </a:tcPr>
                </a:tc>
                <a:tc>
                  <a:txBody>
                    <a:bodyPr/>
                    <a:lstStyle/>
                    <a:p>
                      <a:pPr algn="ctr"/>
                      <a:r>
                        <a:rPr sz="1200">
                          <a:solidFill>
                            <a:srgbClr val="334155"/>
                          </a:solidFill>
                          <a:latin typeface="Malgun Gothic"/>
                        </a:rPr>
                        <a:t>재원 확대</a:t>
                      </a:r>
                    </a:p>
                  </a:txBody>
                  <a:tcPr>
                    <a:solidFill>
                      <a:srgbClr val="F8FAFC"/>
                    </a:solidFill>
                  </a:tcPr>
                </a:tc>
              </a:tr>
              <a:tr h="508000">
                <a:tc>
                  <a:txBody>
                    <a:bodyPr/>
                    <a:lstStyle/>
                    <a:p>
                      <a:pPr algn="l"/>
                      <a:r>
                        <a:rPr sz="1200" b="1">
                          <a:solidFill>
                            <a:srgbClr val="334155"/>
                          </a:solidFill>
                          <a:latin typeface="Malgun Gothic"/>
                        </a:rPr>
                        <a:t>학부모 소통</a:t>
                      </a:r>
                    </a:p>
                  </a:txBody>
                  <a:tcPr>
                    <a:solidFill>
                      <a:srgbClr val="FFFFFF"/>
                    </a:solidFill>
                  </a:tcPr>
                </a:tc>
                <a:tc>
                  <a:txBody>
                    <a:bodyPr/>
                    <a:lstStyle/>
                    <a:p>
                      <a:pPr algn="ctr"/>
                      <a:r>
                        <a:rPr sz="1200">
                          <a:solidFill>
                            <a:srgbClr val="334155"/>
                          </a:solidFill>
                          <a:latin typeface="Malgun Gothic"/>
                        </a:rPr>
                        <a:t>마이페이지 안내</a:t>
                      </a:r>
                    </a:p>
                  </a:txBody>
                  <a:tcPr>
                    <a:solidFill>
                      <a:srgbClr val="FFFFFF"/>
                    </a:solidFill>
                  </a:tcPr>
                </a:tc>
                <a:tc>
                  <a:txBody>
                    <a:bodyPr/>
                    <a:lstStyle/>
                    <a:p>
                      <a:pPr algn="ctr"/>
                      <a:r>
                        <a:rPr sz="1200">
                          <a:solidFill>
                            <a:srgbClr val="334155"/>
                          </a:solidFill>
                          <a:latin typeface="Malgun Gothic"/>
                        </a:rPr>
                        <a:t>등록·재등록</a:t>
                      </a:r>
                    </a:p>
                  </a:txBody>
                  <a:tcPr>
                    <a:solidFill>
                      <a:srgbClr val="FFFFFF"/>
                    </a:solidFill>
                  </a:tcPr>
                </a:tc>
                <a:tc>
                  <a:txBody>
                    <a:bodyPr/>
                    <a:lstStyle/>
                    <a:p>
                      <a:pPr algn="ctr"/>
                      <a:r>
                        <a:rPr sz="1200">
                          <a:solidFill>
                            <a:srgbClr val="334155"/>
                          </a:solidFill>
                          <a:latin typeface="Malgun Gothic"/>
                        </a:rPr>
                        <a:t>만족도 ↑</a:t>
                      </a:r>
                    </a:p>
                  </a:txBody>
                  <a:tcPr>
                    <a:solidFill>
                      <a:srgbClr val="FFFFFF"/>
                    </a:solidFill>
                  </a:tcPr>
                </a:tc>
              </a:tr>
              <a:tr h="508000">
                <a:tc>
                  <a:txBody>
                    <a:bodyPr/>
                    <a:lstStyle/>
                    <a:p>
                      <a:pPr algn="l"/>
                      <a:r>
                        <a:rPr sz="1200" b="1">
                          <a:solidFill>
                            <a:srgbClr val="334155"/>
                          </a:solidFill>
                          <a:latin typeface="Malgun Gothic"/>
                        </a:rPr>
                        <a:t>수업 예약</a:t>
                      </a:r>
                    </a:p>
                  </a:txBody>
                  <a:tcPr>
                    <a:solidFill>
                      <a:srgbClr val="F8FAFC"/>
                    </a:solidFill>
                  </a:tcPr>
                </a:tc>
                <a:tc>
                  <a:txBody>
                    <a:bodyPr/>
                    <a:lstStyle/>
                    <a:p>
                      <a:pPr algn="ctr"/>
                      <a:r>
                        <a:rPr sz="1200">
                          <a:solidFill>
                            <a:srgbClr val="334155"/>
                          </a:solidFill>
                          <a:latin typeface="Malgun Gothic"/>
                        </a:rPr>
                        <a:t>일정·강사 배정</a:t>
                      </a:r>
                    </a:p>
                  </a:txBody>
                  <a:tcPr>
                    <a:solidFill>
                      <a:srgbClr val="F8FAFC"/>
                    </a:solidFill>
                  </a:tcPr>
                </a:tc>
                <a:tc>
                  <a:txBody>
                    <a:bodyPr/>
                    <a:lstStyle/>
                    <a:p>
                      <a:pPr algn="ctr"/>
                      <a:r>
                        <a:rPr sz="1200">
                          <a:solidFill>
                            <a:srgbClr val="334155"/>
                          </a:solidFill>
                          <a:latin typeface="Malgun Gothic"/>
                        </a:rPr>
                        <a:t>수업 배정</a:t>
                      </a:r>
                    </a:p>
                  </a:txBody>
                  <a:tcPr>
                    <a:solidFill>
                      <a:srgbClr val="F8FAFC"/>
                    </a:solidFill>
                  </a:tcPr>
                </a:tc>
                <a:tc>
                  <a:txBody>
                    <a:bodyPr/>
                    <a:lstStyle/>
                    <a:p>
                      <a:pPr algn="ctr"/>
                      <a:r>
                        <a:rPr sz="1200">
                          <a:solidFill>
                            <a:srgbClr val="334155"/>
                          </a:solidFill>
                          <a:latin typeface="Malgun Gothic"/>
                        </a:rPr>
                        <a:t>원활한 진행</a:t>
                      </a:r>
                    </a:p>
                  </a:txBody>
                  <a:tcPr>
                    <a:solidFill>
                      <a:srgbClr val="F8FAFC"/>
                    </a:solidFill>
                  </a:tcPr>
                </a:tc>
              </a:tr>
              <a:tr h="508000">
                <a:tc>
                  <a:txBody>
                    <a:bodyPr/>
                    <a:lstStyle/>
                    <a:p>
                      <a:pPr algn="l"/>
                      <a:r>
                        <a:rPr sz="1200" b="1">
                          <a:solidFill>
                            <a:srgbClr val="334155"/>
                          </a:solidFill>
                          <a:latin typeface="Malgun Gothic"/>
                        </a:rPr>
                        <a:t>결제·수납</a:t>
                      </a:r>
                    </a:p>
                  </a:txBody>
                  <a:tcPr>
                    <a:solidFill>
                      <a:srgbClr val="FFFFFF"/>
                    </a:solidFill>
                  </a:tcPr>
                </a:tc>
                <a:tc>
                  <a:txBody>
                    <a:bodyPr/>
                    <a:lstStyle/>
                    <a:p>
                      <a:pPr algn="ctr"/>
                      <a:r>
                        <a:rPr sz="1200">
                          <a:solidFill>
                            <a:srgbClr val="334155"/>
                          </a:solidFill>
                          <a:latin typeface="Malgun Gothic"/>
                        </a:rPr>
                        <a:t>결제·미납·환불</a:t>
                      </a:r>
                    </a:p>
                  </a:txBody>
                  <a:tcPr>
                    <a:solidFill>
                      <a:srgbClr val="FFFFFF"/>
                    </a:solidFill>
                  </a:tcPr>
                </a:tc>
                <a:tc>
                  <a:txBody>
                    <a:bodyPr/>
                    <a:lstStyle/>
                    <a:p>
                      <a:pPr algn="ctr"/>
                      <a:r>
                        <a:rPr sz="1200">
                          <a:solidFill>
                            <a:srgbClr val="334155"/>
                          </a:solidFill>
                          <a:latin typeface="Malgun Gothic"/>
                        </a:rPr>
                        <a:t>수납 관리</a:t>
                      </a:r>
                    </a:p>
                  </a:txBody>
                  <a:tcPr>
                    <a:solidFill>
                      <a:srgbClr val="FFFFFF"/>
                    </a:solidFill>
                  </a:tcPr>
                </a:tc>
                <a:tc>
                  <a:txBody>
                    <a:bodyPr/>
                    <a:lstStyle/>
                    <a:p>
                      <a:pPr algn="ctr"/>
                      <a:r>
                        <a:rPr sz="1200">
                          <a:solidFill>
                            <a:srgbClr val="334155"/>
                          </a:solidFill>
                          <a:latin typeface="Malgun Gothic"/>
                        </a:rPr>
                        <a:t>안정 매출</a:t>
                      </a:r>
                    </a:p>
                  </a:txBody>
                  <a:tcPr>
                    <a:solidFill>
                      <a:srgbClr val="FFFFFF"/>
                    </a:solidFill>
                  </a:tcPr>
                </a:tc>
              </a:tr>
              <a:tr h="508000">
                <a:tc>
                  <a:txBody>
                    <a:bodyPr/>
                    <a:lstStyle/>
                    <a:p>
                      <a:pPr algn="l"/>
                      <a:r>
                        <a:rPr sz="1200" b="1">
                          <a:solidFill>
                            <a:srgbClr val="334155"/>
                          </a:solidFill>
                          <a:latin typeface="Malgun Gothic"/>
                        </a:rPr>
                        <a:t>리포트</a:t>
                      </a:r>
                    </a:p>
                  </a:txBody>
                  <a:tcPr>
                    <a:solidFill>
                      <a:srgbClr val="F8FAFC"/>
                    </a:solidFill>
                  </a:tcPr>
                </a:tc>
                <a:tc>
                  <a:txBody>
                    <a:bodyPr/>
                    <a:lstStyle/>
                    <a:p>
                      <a:pPr algn="ctr"/>
                      <a:r>
                        <a:rPr sz="1200">
                          <a:solidFill>
                            <a:srgbClr val="334155"/>
                          </a:solidFill>
                          <a:latin typeface="Malgun Gothic"/>
                        </a:rPr>
                        <a:t>학습 성과</a:t>
                      </a:r>
                    </a:p>
                  </a:txBody>
                  <a:tcPr>
                    <a:solidFill>
                      <a:srgbClr val="F8FAFC"/>
                    </a:solidFill>
                  </a:tcPr>
                </a:tc>
                <a:tc>
                  <a:txBody>
                    <a:bodyPr/>
                    <a:lstStyle/>
                    <a:p>
                      <a:pPr algn="ctr"/>
                      <a:r>
                        <a:rPr sz="1200">
                          <a:solidFill>
                            <a:srgbClr val="334155"/>
                          </a:solidFill>
                          <a:latin typeface="Malgun Gothic"/>
                        </a:rPr>
                        <a:t>상담·재등록</a:t>
                      </a:r>
                    </a:p>
                  </a:txBody>
                  <a:tcPr>
                    <a:solidFill>
                      <a:srgbClr val="F8FAFC"/>
                    </a:solidFill>
                  </a:tcPr>
                </a:tc>
                <a:tc>
                  <a:txBody>
                    <a:bodyPr/>
                    <a:lstStyle/>
                    <a:p>
                      <a:pPr algn="ctr"/>
                      <a:r>
                        <a:rPr sz="1200">
                          <a:solidFill>
                            <a:srgbClr val="334155"/>
                          </a:solidFill>
                          <a:latin typeface="Malgun Gothic"/>
                        </a:rPr>
                        <a:t>설득력 ↑</a:t>
                      </a:r>
                    </a:p>
                  </a:txBody>
                  <a:tcPr>
                    <a:solidFill>
                      <a:srgbClr val="F8FAFC"/>
                    </a:solidFill>
                  </a:tcPr>
                </a:tc>
              </a:tr>
              <a:tr h="508000">
                <a:tc>
                  <a:txBody>
                    <a:bodyPr/>
                    <a:lstStyle/>
                    <a:p>
                      <a:pPr algn="l"/>
                      <a:r>
                        <a:rPr sz="1200" b="1">
                          <a:solidFill>
                            <a:srgbClr val="334155"/>
                          </a:solidFill>
                          <a:latin typeface="Malgun Gothic"/>
                        </a:rPr>
                        <a:t>정산</a:t>
                      </a:r>
                    </a:p>
                  </a:txBody>
                  <a:tcPr>
                    <a:solidFill>
                      <a:srgbClr val="FFFFFF"/>
                    </a:solidFill>
                  </a:tcPr>
                </a:tc>
                <a:tc>
                  <a:txBody>
                    <a:bodyPr/>
                    <a:lstStyle/>
                    <a:p>
                      <a:pPr algn="ctr"/>
                      <a:r>
                        <a:rPr sz="1200">
                          <a:solidFill>
                            <a:srgbClr val="334155"/>
                          </a:solidFill>
                          <a:latin typeface="Malgun Gothic"/>
                        </a:rPr>
                        <a:t>지사→대리점 수령</a:t>
                      </a:r>
                    </a:p>
                  </a:txBody>
                  <a:tcPr>
                    <a:solidFill>
                      <a:srgbClr val="FFFFFF"/>
                    </a:solidFill>
                  </a:tcPr>
                </a:tc>
                <a:tc>
                  <a:txBody>
                    <a:bodyPr/>
                    <a:lstStyle/>
                    <a:p>
                      <a:pPr algn="ctr"/>
                      <a:r>
                        <a:rPr sz="1200">
                          <a:solidFill>
                            <a:srgbClr val="334155"/>
                          </a:solidFill>
                          <a:latin typeface="Malgun Gothic"/>
                        </a:rPr>
                        <a:t>월 정산</a:t>
                      </a:r>
                    </a:p>
                  </a:txBody>
                  <a:tcPr>
                    <a:solidFill>
                      <a:srgbClr val="FFFFFF"/>
                    </a:solidFill>
                  </a:tcPr>
                </a:tc>
                <a:tc>
                  <a:txBody>
                    <a:bodyPr/>
                    <a:lstStyle/>
                    <a:p>
                      <a:pPr algn="ctr"/>
                      <a:r>
                        <a:rPr sz="1200">
                          <a:solidFill>
                            <a:srgbClr val="334155"/>
                          </a:solidFill>
                          <a:latin typeface="Malgun Gothic"/>
                        </a:rPr>
                        <a:t>투명한 수익</a:t>
                      </a:r>
                    </a:p>
                  </a:txBody>
                  <a:tcPr>
                    <a:solidFill>
                      <a:srgbClr val="FFFFFF"/>
                    </a:solidFill>
                  </a:tcPr>
                </a:tc>
              </a:tr>
              <a:tr h="508000">
                <a:tc>
                  <a:txBody>
                    <a:bodyPr/>
                    <a:lstStyle/>
                    <a:p>
                      <a:pPr algn="l"/>
                      <a:r>
                        <a:rPr sz="1200" b="1">
                          <a:solidFill>
                            <a:srgbClr val="334155"/>
                          </a:solidFill>
                          <a:latin typeface="Malgun Gothic"/>
                        </a:rPr>
                        <a:t>이탈 방지</a:t>
                      </a:r>
                    </a:p>
                  </a:txBody>
                  <a:tcPr>
                    <a:solidFill>
                      <a:srgbClr val="F8FAFC"/>
                    </a:solidFill>
                  </a:tcPr>
                </a:tc>
                <a:tc>
                  <a:txBody>
                    <a:bodyPr/>
                    <a:lstStyle/>
                    <a:p>
                      <a:pPr algn="ctr"/>
                      <a:r>
                        <a:rPr sz="1200">
                          <a:solidFill>
                            <a:srgbClr val="334155"/>
                          </a:solidFill>
                          <a:latin typeface="Malgun Gothic"/>
                        </a:rPr>
                        <a:t>위험 학생 케어</a:t>
                      </a:r>
                    </a:p>
                  </a:txBody>
                  <a:tcPr>
                    <a:solidFill>
                      <a:srgbClr val="F8FAFC"/>
                    </a:solidFill>
                  </a:tcPr>
                </a:tc>
                <a:tc>
                  <a:txBody>
                    <a:bodyPr/>
                    <a:lstStyle/>
                    <a:p>
                      <a:pPr algn="ctr"/>
                      <a:r>
                        <a:rPr sz="1200">
                          <a:solidFill>
                            <a:srgbClr val="334155"/>
                          </a:solidFill>
                          <a:latin typeface="Malgun Gothic"/>
                        </a:rPr>
                        <a:t>상시</a:t>
                      </a:r>
                    </a:p>
                  </a:txBody>
                  <a:tcPr>
                    <a:solidFill>
                      <a:srgbClr val="F8FAFC"/>
                    </a:solidFill>
                  </a:tcPr>
                </a:tc>
                <a:tc>
                  <a:txBody>
                    <a:bodyPr/>
                    <a:lstStyle/>
                    <a:p>
                      <a:pPr algn="ctr"/>
                      <a:r>
                        <a:rPr sz="1200">
                          <a:solidFill>
                            <a:srgbClr val="334155"/>
                          </a:solidFill>
                          <a:latin typeface="Malgun Gothic"/>
                        </a:rPr>
                        <a:t>잔존율 ↑</a:t>
                      </a:r>
                    </a:p>
                  </a:txBody>
                  <a:tcPr>
                    <a:solidFill>
                      <a:srgbClr val="F8FAFC"/>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한눈에 보는 데이터</a:t>
            </a:r>
          </a:p>
        </p:txBody>
      </p:sp>
      <p:sp>
        <p:nvSpPr>
          <p:cNvPr id="6" name="TextBox 5"/>
          <p:cNvSpPr txBox="1"/>
          <p:nvPr/>
        </p:nvSpPr>
        <p:spPr>
          <a:xfrm>
            <a:off x="365760" y="868680"/>
            <a:ext cx="9144000" cy="457200"/>
          </a:xfrm>
          <a:prstGeom prst="rect">
            <a:avLst/>
          </a:prstGeom>
          <a:noFill/>
        </p:spPr>
        <p:txBody>
          <a:bodyPr wrap="square" anchor="t">
            <a:spAutoFit/>
          </a:bodyPr>
          <a:lstStyle/>
          <a:p>
            <a:pPr algn="l">
              <a:lnSpc>
                <a:spcPct val="100000"/>
              </a:lnSpc>
            </a:pPr>
            <a:r>
              <a:rPr sz="2200" b="1">
                <a:solidFill>
                  <a:srgbClr val="E11D48"/>
                </a:solidFill>
                <a:latin typeface="Malgun Gothic"/>
              </a:rPr>
              <a:t>📊 한눈에 보는 데이터</a:t>
            </a:r>
          </a:p>
        </p:txBody>
      </p:sp>
      <p:sp>
        <p:nvSpPr>
          <p:cNvPr id="7" name="TextBox 6"/>
          <p:cNvSpPr txBox="1"/>
          <p:nvPr/>
        </p:nvSpPr>
        <p:spPr>
          <a:xfrm>
            <a:off x="457200" y="1554480"/>
            <a:ext cx="5486400" cy="365760"/>
          </a:xfrm>
          <a:prstGeom prst="rect">
            <a:avLst/>
          </a:prstGeom>
          <a:noFill/>
        </p:spPr>
        <p:txBody>
          <a:bodyPr wrap="square" anchor="t">
            <a:spAutoFit/>
          </a:bodyPr>
          <a:lstStyle/>
          <a:p>
            <a:pPr algn="l">
              <a:lnSpc>
                <a:spcPct val="100000"/>
              </a:lnSpc>
            </a:pPr>
            <a:r>
              <a:rPr sz="1400" b="1">
                <a:solidFill>
                  <a:srgbClr val="1E2340"/>
                </a:solidFill>
                <a:latin typeface="Malgun Gothic"/>
              </a:rPr>
              <a:t>재원생 추이(예시)</a:t>
            </a:r>
          </a:p>
        </p:txBody>
      </p:sp>
      <p:graphicFrame>
        <p:nvGraphicFramePr>
          <p:cNvPr id="8" name="Chart 7"/>
          <p:cNvGraphicFramePr>
            <a:graphicFrameLocks noGrp="1"/>
          </p:cNvGraphicFramePr>
          <p:nvPr/>
        </p:nvGraphicFramePr>
        <p:xfrm>
          <a:off x="457200" y="1920240"/>
          <a:ext cx="5486400" cy="4206240"/>
        </p:xfrm>
        <a:graphic>
          <a:graphicData uri="http://schemas.openxmlformats.org/drawingml/2006/chart">
            <c:chart xmlns:c="http://schemas.openxmlformats.org/drawingml/2006/chart" r:id="rId2"/>
          </a:graphicData>
        </a:graphic>
      </p:graphicFrame>
      <p:sp>
        <p:nvSpPr>
          <p:cNvPr id="9" name="TextBox 8"/>
          <p:cNvSpPr txBox="1"/>
          <p:nvPr/>
        </p:nvSpPr>
        <p:spPr>
          <a:xfrm>
            <a:off x="6309360" y="1554480"/>
            <a:ext cx="5486400" cy="365760"/>
          </a:xfrm>
          <a:prstGeom prst="rect">
            <a:avLst/>
          </a:prstGeom>
          <a:noFill/>
        </p:spPr>
        <p:txBody>
          <a:bodyPr wrap="square" anchor="t">
            <a:spAutoFit/>
          </a:bodyPr>
          <a:lstStyle/>
          <a:p>
            <a:pPr algn="l">
              <a:lnSpc>
                <a:spcPct val="100000"/>
              </a:lnSpc>
            </a:pPr>
            <a:r>
              <a:rPr sz="1400" b="1">
                <a:solidFill>
                  <a:srgbClr val="1E2340"/>
                </a:solidFill>
                <a:latin typeface="Malgun Gothic"/>
              </a:rPr>
              <a:t>이탈위험 분포(예시)</a:t>
            </a:r>
          </a:p>
        </p:txBody>
      </p:sp>
      <p:graphicFrame>
        <p:nvGraphicFramePr>
          <p:cNvPr id="10" name="Chart 9"/>
          <p:cNvGraphicFramePr>
            <a:graphicFrameLocks noGrp="1"/>
          </p:cNvGraphicFramePr>
          <p:nvPr/>
        </p:nvGraphicFramePr>
        <p:xfrm>
          <a:off x="6309360" y="1920240"/>
          <a:ext cx="5486400" cy="4206240"/>
        </p:xfrm>
        <a:graphic>
          <a:graphicData uri="http://schemas.openxmlformats.org/drawingml/2006/chart">
            <c:chart xmlns:c="http://schemas.openxmlformats.org/drawingml/2006/chart" r:id="rId3"/>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자주 묻는 질문 (FAQ)</a:t>
            </a:r>
          </a:p>
        </p:txBody>
      </p:sp>
      <p:sp>
        <p:nvSpPr>
          <p:cNvPr id="6" name="TextBox 5"/>
          <p:cNvSpPr txBox="1"/>
          <p:nvPr/>
        </p:nvSpPr>
        <p:spPr>
          <a:xfrm>
            <a:off x="365760" y="868680"/>
            <a:ext cx="9144000" cy="457200"/>
          </a:xfrm>
          <a:prstGeom prst="rect">
            <a:avLst/>
          </a:prstGeom>
          <a:noFill/>
        </p:spPr>
        <p:txBody>
          <a:bodyPr wrap="square" anchor="t">
            <a:spAutoFit/>
          </a:bodyPr>
          <a:lstStyle/>
          <a:p>
            <a:pPr algn="l">
              <a:lnSpc>
                <a:spcPct val="100000"/>
              </a:lnSpc>
            </a:pPr>
            <a:r>
              <a:rPr sz="2200" b="1">
                <a:solidFill>
                  <a:srgbClr val="E11D48"/>
                </a:solidFill>
                <a:latin typeface="Malgun Gothic"/>
              </a:rPr>
              <a:t>❓ 자주 묻는 질문 (FAQ)</a:t>
            </a:r>
          </a:p>
        </p:txBody>
      </p:sp>
      <p:sp>
        <p:nvSpPr>
          <p:cNvPr id="7" name="Rounded Rectangle 6"/>
          <p:cNvSpPr/>
          <p:nvPr/>
        </p:nvSpPr>
        <p:spPr>
          <a:xfrm>
            <a:off x="365760" y="1554480"/>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27632"/>
            <a:ext cx="11094415" cy="365760"/>
          </a:xfrm>
          <a:prstGeom prst="rect">
            <a:avLst/>
          </a:prstGeom>
          <a:noFill/>
        </p:spPr>
        <p:txBody>
          <a:bodyPr wrap="square" anchor="t">
            <a:spAutoFit/>
          </a:bodyPr>
          <a:lstStyle/>
          <a:p>
            <a:pPr algn="l">
              <a:lnSpc>
                <a:spcPct val="100000"/>
              </a:lnSpc>
            </a:pPr>
            <a:r>
              <a:rPr sz="1350" b="1">
                <a:solidFill>
                  <a:srgbClr val="E11D48"/>
                </a:solidFill>
                <a:latin typeface="Malgun Gothic"/>
              </a:rPr>
              <a:t>Q. 어디서 접속하나요?</a:t>
            </a:r>
          </a:p>
        </p:txBody>
      </p:sp>
      <p:sp>
        <p:nvSpPr>
          <p:cNvPr id="9" name="TextBox 8"/>
          <p:cNvSpPr txBox="1"/>
          <p:nvPr/>
        </p:nvSpPr>
        <p:spPr>
          <a:xfrm>
            <a:off x="548640" y="1965960"/>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admin.mangoi.co.kr 에서 로그인해요. 권한(대리점)에 따라 우리 대리점 데이터만 자동으로 보여요.</a:t>
            </a:r>
          </a:p>
        </p:txBody>
      </p:sp>
      <p:sp>
        <p:nvSpPr>
          <p:cNvPr id="10" name="Rounded Rectangle 9"/>
          <p:cNvSpPr/>
          <p:nvPr/>
        </p:nvSpPr>
        <p:spPr>
          <a:xfrm>
            <a:off x="365760" y="2542032"/>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615184"/>
            <a:ext cx="11094415" cy="365760"/>
          </a:xfrm>
          <a:prstGeom prst="rect">
            <a:avLst/>
          </a:prstGeom>
          <a:noFill/>
        </p:spPr>
        <p:txBody>
          <a:bodyPr wrap="square" anchor="t">
            <a:spAutoFit/>
          </a:bodyPr>
          <a:lstStyle/>
          <a:p>
            <a:pPr algn="l">
              <a:lnSpc>
                <a:spcPct val="100000"/>
              </a:lnSpc>
            </a:pPr>
            <a:r>
              <a:rPr sz="1350" b="1">
                <a:solidFill>
                  <a:srgbClr val="E11D48"/>
                </a:solidFill>
                <a:latin typeface="Malgun Gothic"/>
              </a:rPr>
              <a:t>Q. 다른 대리점 데이터도 보이나요?</a:t>
            </a:r>
          </a:p>
        </p:txBody>
      </p:sp>
      <p:sp>
        <p:nvSpPr>
          <p:cNvPr id="12" name="TextBox 11"/>
          <p:cNvSpPr txBox="1"/>
          <p:nvPr/>
        </p:nvSpPr>
        <p:spPr>
          <a:xfrm>
            <a:off x="548640" y="2953512"/>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아니요. 권한 범위상 우리 대리점 데이터만 보입니다.</a:t>
            </a:r>
          </a:p>
        </p:txBody>
      </p:sp>
      <p:sp>
        <p:nvSpPr>
          <p:cNvPr id="13" name="Rounded Rectangle 12"/>
          <p:cNvSpPr/>
          <p:nvPr/>
        </p:nvSpPr>
        <p:spPr>
          <a:xfrm>
            <a:off x="365760" y="3529584"/>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02736"/>
            <a:ext cx="11094415" cy="365760"/>
          </a:xfrm>
          <a:prstGeom prst="rect">
            <a:avLst/>
          </a:prstGeom>
          <a:noFill/>
        </p:spPr>
        <p:txBody>
          <a:bodyPr wrap="square" anchor="t">
            <a:spAutoFit/>
          </a:bodyPr>
          <a:lstStyle/>
          <a:p>
            <a:pPr algn="l">
              <a:lnSpc>
                <a:spcPct val="100000"/>
              </a:lnSpc>
            </a:pPr>
            <a:r>
              <a:rPr sz="1350" b="1">
                <a:solidFill>
                  <a:srgbClr val="E11D48"/>
                </a:solidFill>
                <a:latin typeface="Malgun Gothic"/>
              </a:rPr>
              <a:t>Q. 등록을 늘리려면?</a:t>
            </a:r>
          </a:p>
        </p:txBody>
      </p:sp>
      <p:sp>
        <p:nvSpPr>
          <p:cNvPr id="15" name="TextBox 14"/>
          <p:cNvSpPr txBox="1"/>
          <p:nvPr/>
        </p:nvSpPr>
        <p:spPr>
          <a:xfrm>
            <a:off x="548640" y="3941064"/>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빠른 상담 응대와 체험→등록 흐름, 학습 리포트를 활용한 학부모 설득이 핵심입니다.</a:t>
            </a:r>
          </a:p>
        </p:txBody>
      </p:sp>
      <p:sp>
        <p:nvSpPr>
          <p:cNvPr id="16" name="Rounded Rectangle 15"/>
          <p:cNvSpPr/>
          <p:nvPr/>
        </p:nvSpPr>
        <p:spPr>
          <a:xfrm>
            <a:off x="365760" y="4517136"/>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590288"/>
            <a:ext cx="11094415" cy="365760"/>
          </a:xfrm>
          <a:prstGeom prst="rect">
            <a:avLst/>
          </a:prstGeom>
          <a:noFill/>
        </p:spPr>
        <p:txBody>
          <a:bodyPr wrap="square" anchor="t">
            <a:spAutoFit/>
          </a:bodyPr>
          <a:lstStyle/>
          <a:p>
            <a:pPr algn="l">
              <a:lnSpc>
                <a:spcPct val="100000"/>
              </a:lnSpc>
            </a:pPr>
            <a:r>
              <a:rPr sz="1350" b="1">
                <a:solidFill>
                  <a:srgbClr val="E11D48"/>
                </a:solidFill>
                <a:latin typeface="Malgun Gothic"/>
              </a:rPr>
              <a:t>Q. 정산은 어떻게 확인하나요?</a:t>
            </a:r>
          </a:p>
        </p:txBody>
      </p:sp>
      <p:sp>
        <p:nvSpPr>
          <p:cNvPr id="18" name="TextBox 17"/>
          <p:cNvSpPr txBox="1"/>
          <p:nvPr/>
        </p:nvSpPr>
        <p:spPr>
          <a:xfrm>
            <a:off x="548640" y="4928616"/>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지사→대리점 정산(수령액)이 조직 트리 구조로 자동 계산되며, 월간 리포트에서 확인합니다.</a:t>
            </a:r>
          </a:p>
        </p:txBody>
      </p:sp>
      <p:sp>
        <p:nvSpPr>
          <p:cNvPr id="19" name="Rounded Rectangle 18"/>
          <p:cNvSpPr/>
          <p:nvPr/>
        </p:nvSpPr>
        <p:spPr>
          <a:xfrm>
            <a:off x="365760" y="5504688"/>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577840"/>
            <a:ext cx="11094415" cy="365760"/>
          </a:xfrm>
          <a:prstGeom prst="rect">
            <a:avLst/>
          </a:prstGeom>
          <a:noFill/>
        </p:spPr>
        <p:txBody>
          <a:bodyPr wrap="square" anchor="t">
            <a:spAutoFit/>
          </a:bodyPr>
          <a:lstStyle/>
          <a:p>
            <a:pPr algn="l">
              <a:lnSpc>
                <a:spcPct val="100000"/>
              </a:lnSpc>
            </a:pPr>
            <a:r>
              <a:rPr sz="1350" b="1">
                <a:solidFill>
                  <a:srgbClr val="E11D48"/>
                </a:solidFill>
                <a:latin typeface="Malgun Gothic"/>
              </a:rPr>
              <a:t>Q. 학생이 그만둘 것 같아요.</a:t>
            </a:r>
          </a:p>
        </p:txBody>
      </p:sp>
      <p:sp>
        <p:nvSpPr>
          <p:cNvPr id="21" name="TextBox 20"/>
          <p:cNvSpPr txBox="1"/>
          <p:nvPr/>
        </p:nvSpPr>
        <p:spPr>
          <a:xfrm>
            <a:off x="548640" y="5916168"/>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이탈위험 신호(결석·성과 하락)를 보고 상담·알림톡으로 빠르게 개입하세요.</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1F2"/>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체크리스트</a:t>
            </a:r>
          </a:p>
        </p:txBody>
      </p:sp>
      <p:sp>
        <p:nvSpPr>
          <p:cNvPr id="6" name="TextBox 5"/>
          <p:cNvSpPr txBox="1"/>
          <p:nvPr/>
        </p:nvSpPr>
        <p:spPr>
          <a:xfrm>
            <a:off x="365760" y="868680"/>
            <a:ext cx="9144000" cy="457200"/>
          </a:xfrm>
          <a:prstGeom prst="rect">
            <a:avLst/>
          </a:prstGeom>
          <a:noFill/>
        </p:spPr>
        <p:txBody>
          <a:bodyPr wrap="square" anchor="t">
            <a:spAutoFit/>
          </a:bodyPr>
          <a:lstStyle/>
          <a:p>
            <a:pPr algn="l">
              <a:lnSpc>
                <a:spcPct val="100000"/>
              </a:lnSpc>
            </a:pPr>
            <a:r>
              <a:rPr sz="2200" b="1">
                <a:solidFill>
                  <a:srgbClr val="E11D48"/>
                </a:solidFill>
                <a:latin typeface="Malgun Gothic"/>
              </a:rPr>
              <a:t>✅ 대리점 운영 체크리스트</a:t>
            </a:r>
          </a:p>
        </p:txBody>
      </p:sp>
      <p:sp>
        <p:nvSpPr>
          <p:cNvPr id="7" name="Rounded Rectangle 6"/>
          <p:cNvSpPr/>
          <p:nvPr/>
        </p:nvSpPr>
        <p:spPr>
          <a:xfrm>
            <a:off x="457200" y="1645920"/>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81912"/>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오늘 매출·재원·출석 지표를 확인했나요?</a:t>
            </a:r>
          </a:p>
        </p:txBody>
      </p:sp>
      <p:sp>
        <p:nvSpPr>
          <p:cNvPr id="9" name="Rounded Rectangle 8"/>
          <p:cNvSpPr/>
          <p:nvPr/>
        </p:nvSpPr>
        <p:spPr>
          <a:xfrm>
            <a:off x="457200" y="2212848"/>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148840"/>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신규 상담/문의를 접수·응대했나요?</a:t>
            </a:r>
          </a:p>
        </p:txBody>
      </p:sp>
      <p:sp>
        <p:nvSpPr>
          <p:cNvPr id="11" name="Rounded Rectangle 10"/>
          <p:cNvSpPr/>
          <p:nvPr/>
        </p:nvSpPr>
        <p:spPr>
          <a:xfrm>
            <a:off x="457200" y="2779776"/>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715768"/>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미납 건을 확인하고 안내했나요?</a:t>
            </a:r>
          </a:p>
        </p:txBody>
      </p:sp>
      <p:sp>
        <p:nvSpPr>
          <p:cNvPr id="13" name="Rounded Rectangle 12"/>
          <p:cNvSpPr/>
          <p:nvPr/>
        </p:nvSpPr>
        <p:spPr>
          <a:xfrm>
            <a:off x="457200" y="3346704"/>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282696"/>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이탈위험 학생을 챙겼나요?</a:t>
            </a:r>
          </a:p>
        </p:txBody>
      </p:sp>
      <p:sp>
        <p:nvSpPr>
          <p:cNvPr id="15" name="Rounded Rectangle 14"/>
          <p:cNvSpPr/>
          <p:nvPr/>
        </p:nvSpPr>
        <p:spPr>
          <a:xfrm>
            <a:off x="457200" y="3913632"/>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849624"/>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학부모에게 리포트·마이페이지를 안내했나요?</a:t>
            </a:r>
          </a:p>
        </p:txBody>
      </p:sp>
      <p:sp>
        <p:nvSpPr>
          <p:cNvPr id="17" name="Rounded Rectangle 16"/>
          <p:cNvSpPr/>
          <p:nvPr/>
        </p:nvSpPr>
        <p:spPr>
          <a:xfrm>
            <a:off x="457200" y="4480560"/>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416552"/>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이번 달 정산(수령)을 확인했나요?</a:t>
            </a:r>
          </a:p>
        </p:txBody>
      </p:sp>
      <p:sp>
        <p:nvSpPr>
          <p:cNvPr id="19" name="Rounded Rectangle 18"/>
          <p:cNvSpPr/>
          <p:nvPr/>
        </p:nvSpPr>
        <p:spPr>
          <a:xfrm>
            <a:off x="457200" y="5047488"/>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983480"/>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체험→등록 후속 연락을 했나요?</a:t>
            </a:r>
          </a:p>
        </p:txBody>
      </p:sp>
      <p:pic>
        <p:nvPicPr>
          <p:cNvPr id="21" name="Picture 20" descr="mango_char.png"/>
          <p:cNvPicPr>
            <a:picLocks noChangeAspect="1"/>
          </p:cNvPicPr>
          <p:nvPr/>
        </p:nvPicPr>
        <p:blipFill>
          <a:blip r:embed="rId2"/>
          <a:stretch>
            <a:fillRect/>
          </a:stretch>
        </p:blipFill>
        <p:spPr>
          <a:xfrm>
            <a:off x="9153162" y="4480559"/>
            <a:ext cx="2489892" cy="201168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마무리</a:t>
            </a:r>
          </a:p>
        </p:txBody>
      </p:sp>
      <p:sp>
        <p:nvSpPr>
          <p:cNvPr id="6" name="TextBox 5"/>
          <p:cNvSpPr txBox="1"/>
          <p:nvPr/>
        </p:nvSpPr>
        <p:spPr>
          <a:xfrm>
            <a:off x="365760" y="822960"/>
            <a:ext cx="11430000" cy="457200"/>
          </a:xfrm>
          <a:prstGeom prst="rect">
            <a:avLst/>
          </a:prstGeom>
          <a:noFill/>
        </p:spPr>
        <p:txBody>
          <a:bodyPr wrap="square" anchor="t">
            <a:spAutoFit/>
          </a:bodyPr>
          <a:lstStyle/>
          <a:p>
            <a:pPr algn="l">
              <a:lnSpc>
                <a:spcPct val="100000"/>
              </a:lnSpc>
            </a:pPr>
            <a:r>
              <a:rPr sz="2100" b="1">
                <a:solidFill>
                  <a:srgbClr val="E11D48"/>
                </a:solidFill>
                <a:latin typeface="Malgun Gothic"/>
              </a:rPr>
              <a:t>🏁 마무리 · 대리점 성장을 위한 실천 가이드</a:t>
            </a:r>
          </a:p>
        </p:txBody>
      </p:sp>
      <p:sp>
        <p:nvSpPr>
          <p:cNvPr id="7" name="Rounded Rectangle 6"/>
          <p:cNvSpPr/>
          <p:nvPr/>
        </p:nvSpPr>
        <p:spPr>
          <a:xfrm>
            <a:off x="365760" y="1371600"/>
            <a:ext cx="11430000" cy="86868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26464"/>
            <a:ext cx="11064240" cy="777240"/>
          </a:xfrm>
          <a:prstGeom prst="rect">
            <a:avLst/>
          </a:prstGeom>
          <a:noFill/>
        </p:spPr>
        <p:txBody>
          <a:bodyPr wrap="square" anchor="t">
            <a:spAutoFit/>
          </a:bodyPr>
          <a:lstStyle/>
          <a:p>
            <a:pPr algn="l">
              <a:lnSpc>
                <a:spcPct val="115000"/>
              </a:lnSpc>
            </a:pPr>
            <a:r>
              <a:rPr sz="1150" b="0">
                <a:solidFill>
                  <a:srgbClr val="334155"/>
                </a:solidFill>
                <a:latin typeface="Malgun Gothic"/>
              </a:rPr>
              <a:t>대리점 운영의 핵심은 ‘모객 → 등록 → 만족 → 재등록’의 선순환이에요. 상담을 빠르게 응대하고, 학습 성과를 데이터로 보여주고, 이탈을 미리 막으면 우리 대리점이 꾸준히 성장합니다. 이 리듬만 지켜도 운영이 든든해져요.</a:t>
            </a:r>
          </a:p>
        </p:txBody>
      </p:sp>
      <p:sp>
        <p:nvSpPr>
          <p:cNvPr id="9" name="TextBox 8"/>
          <p:cNvSpPr txBox="1"/>
          <p:nvPr/>
        </p:nvSpPr>
        <p:spPr>
          <a:xfrm>
            <a:off x="457200" y="2423160"/>
            <a:ext cx="5760720" cy="320040"/>
          </a:xfrm>
          <a:prstGeom prst="rect">
            <a:avLst/>
          </a:prstGeom>
          <a:noFill/>
        </p:spPr>
        <p:txBody>
          <a:bodyPr wrap="square" anchor="t">
            <a:spAutoFit/>
          </a:bodyPr>
          <a:lstStyle/>
          <a:p>
            <a:pPr algn="l">
              <a:lnSpc>
                <a:spcPct val="100000"/>
              </a:lnSpc>
            </a:pPr>
            <a:r>
              <a:rPr sz="1350" b="1">
                <a:solidFill>
                  <a:srgbClr val="E11D48"/>
                </a:solidFill>
                <a:latin typeface="Malgun Gothic"/>
              </a:rPr>
              <a:t>🔄 하루 흐름 한눈에</a:t>
            </a:r>
          </a:p>
        </p:txBody>
      </p:sp>
      <p:sp>
        <p:nvSpPr>
          <p:cNvPr id="10" name="Rounded Rectangle 9"/>
          <p:cNvSpPr/>
          <p:nvPr/>
        </p:nvSpPr>
        <p:spPr>
          <a:xfrm>
            <a:off x="457200" y="2788920"/>
            <a:ext cx="1600200" cy="384048"/>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7889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아침 (5분)</a:t>
            </a:r>
          </a:p>
        </p:txBody>
      </p:sp>
      <p:sp>
        <p:nvSpPr>
          <p:cNvPr id="12" name="TextBox 11"/>
          <p:cNvSpPr txBox="1"/>
          <p:nvPr/>
        </p:nvSpPr>
        <p:spPr>
          <a:xfrm>
            <a:off x="2148840" y="27706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대시보드에서 매출·재원·출석 확인, 실시간 수업 상태 점검</a:t>
            </a:r>
          </a:p>
        </p:txBody>
      </p:sp>
      <p:sp>
        <p:nvSpPr>
          <p:cNvPr id="13" name="Rounded Rectangle 12"/>
          <p:cNvSpPr/>
          <p:nvPr/>
        </p:nvSpPr>
        <p:spPr>
          <a:xfrm>
            <a:off x="457200" y="3246120"/>
            <a:ext cx="1600200" cy="384048"/>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2461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오전</a:t>
            </a:r>
          </a:p>
        </p:txBody>
      </p:sp>
      <p:sp>
        <p:nvSpPr>
          <p:cNvPr id="15" name="TextBox 14"/>
          <p:cNvSpPr txBox="1"/>
          <p:nvPr/>
        </p:nvSpPr>
        <p:spPr>
          <a:xfrm>
            <a:off x="2148840" y="32278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신규 상담 응대·등록 전환, 미납 안내</a:t>
            </a:r>
          </a:p>
        </p:txBody>
      </p:sp>
      <p:sp>
        <p:nvSpPr>
          <p:cNvPr id="16" name="Rounded Rectangle 15"/>
          <p:cNvSpPr/>
          <p:nvPr/>
        </p:nvSpPr>
        <p:spPr>
          <a:xfrm>
            <a:off x="457200" y="3703320"/>
            <a:ext cx="1600200" cy="384048"/>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7033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수업 시간</a:t>
            </a:r>
          </a:p>
        </p:txBody>
      </p:sp>
      <p:sp>
        <p:nvSpPr>
          <p:cNvPr id="18" name="TextBox 17"/>
          <p:cNvSpPr txBox="1"/>
          <p:nvPr/>
        </p:nvSpPr>
        <p:spPr>
          <a:xfrm>
            <a:off x="2148840" y="36850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수업 배정·진행 확인, ‘입장 문의’는 브라우저·권한부터 안내</a:t>
            </a:r>
          </a:p>
        </p:txBody>
      </p:sp>
      <p:sp>
        <p:nvSpPr>
          <p:cNvPr id="19" name="Rounded Rectangle 18"/>
          <p:cNvSpPr/>
          <p:nvPr/>
        </p:nvSpPr>
        <p:spPr>
          <a:xfrm>
            <a:off x="457200" y="4160520"/>
            <a:ext cx="1600200" cy="384048"/>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1605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오후</a:t>
            </a:r>
          </a:p>
        </p:txBody>
      </p:sp>
      <p:sp>
        <p:nvSpPr>
          <p:cNvPr id="21" name="TextBox 20"/>
          <p:cNvSpPr txBox="1"/>
          <p:nvPr/>
        </p:nvSpPr>
        <p:spPr>
          <a:xfrm>
            <a:off x="2148840" y="41422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이탈위험 학생 케어, 학부모 리포트·상담</a:t>
            </a:r>
          </a:p>
        </p:txBody>
      </p:sp>
      <p:sp>
        <p:nvSpPr>
          <p:cNvPr id="22" name="Rounded Rectangle 21"/>
          <p:cNvSpPr/>
          <p:nvPr/>
        </p:nvSpPr>
        <p:spPr>
          <a:xfrm>
            <a:off x="457200" y="4617720"/>
            <a:ext cx="1600200" cy="384048"/>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6177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월간</a:t>
            </a:r>
          </a:p>
        </p:txBody>
      </p:sp>
      <p:sp>
        <p:nvSpPr>
          <p:cNvPr id="24" name="TextBox 23"/>
          <p:cNvSpPr txBox="1"/>
          <p:nvPr/>
        </p:nvSpPr>
        <p:spPr>
          <a:xfrm>
            <a:off x="2148840" y="45994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지사→대리점 정산 확인, 재등록·후속 연락</a:t>
            </a:r>
          </a:p>
        </p:txBody>
      </p:sp>
      <p:sp>
        <p:nvSpPr>
          <p:cNvPr id="25" name="TextBox 24"/>
          <p:cNvSpPr txBox="1"/>
          <p:nvPr/>
        </p:nvSpPr>
        <p:spPr>
          <a:xfrm>
            <a:off x="6400800" y="2423160"/>
            <a:ext cx="5486400" cy="320040"/>
          </a:xfrm>
          <a:prstGeom prst="rect">
            <a:avLst/>
          </a:prstGeom>
          <a:noFill/>
        </p:spPr>
        <p:txBody>
          <a:bodyPr wrap="square" anchor="t">
            <a:spAutoFit/>
          </a:bodyPr>
          <a:lstStyle/>
          <a:p>
            <a:pPr algn="l">
              <a:lnSpc>
                <a:spcPct val="100000"/>
              </a:lnSpc>
            </a:pPr>
            <a:r>
              <a:rPr sz="1350" b="1">
                <a:solidFill>
                  <a:srgbClr val="E11D48"/>
                </a:solidFill>
                <a:latin typeface="Malgun Gothic"/>
              </a:rPr>
              <a:t>⭐ 핵심 원칙</a:t>
            </a:r>
          </a:p>
        </p:txBody>
      </p:sp>
      <p:sp>
        <p:nvSpPr>
          <p:cNvPr id="26" name="TextBox 25"/>
          <p:cNvSpPr txBox="1"/>
          <p:nvPr/>
        </p:nvSpPr>
        <p:spPr>
          <a:xfrm>
            <a:off x="6400800" y="2788920"/>
            <a:ext cx="5394960" cy="2103120"/>
          </a:xfrm>
          <a:prstGeom prst="rect">
            <a:avLst/>
          </a:prstGeom>
          <a:noFill/>
        </p:spPr>
        <p:txBody>
          <a:bodyPr wrap="square">
            <a:spAutoFit/>
          </a:bodyPr>
          <a:lstStyle/>
          <a:p>
            <a:pPr>
              <a:lnSpc>
                <a:spcPct val="115000"/>
              </a:lnSpc>
              <a:spcAft>
                <a:spcPts val="500"/>
              </a:spcAft>
            </a:pPr>
            <a:r>
              <a:rPr sz="900" b="1">
                <a:solidFill>
                  <a:srgbClr val="E11D48"/>
                </a:solidFill>
                <a:latin typeface="Malgun Gothic"/>
              </a:rPr>
              <a:t>● </a:t>
            </a:r>
            <a:r>
              <a:rPr sz="1100">
                <a:solidFill>
                  <a:srgbClr val="334155"/>
                </a:solidFill>
                <a:latin typeface="Malgun Gothic"/>
              </a:rPr>
              <a:t>빠른 응대 — 상담·문의는 빠를수록 등록 전환율이 올라가요.</a:t>
            </a:r>
          </a:p>
          <a:p>
            <a:pPr>
              <a:lnSpc>
                <a:spcPct val="115000"/>
              </a:lnSpc>
              <a:spcAft>
                <a:spcPts val="500"/>
              </a:spcAft>
            </a:pPr>
            <a:r>
              <a:rPr sz="900" b="1">
                <a:solidFill>
                  <a:srgbClr val="E11D48"/>
                </a:solidFill>
                <a:latin typeface="Malgun Gothic"/>
              </a:rPr>
              <a:t>● </a:t>
            </a:r>
            <a:r>
              <a:rPr sz="1100">
                <a:solidFill>
                  <a:srgbClr val="334155"/>
                </a:solidFill>
                <a:latin typeface="Malgun Gothic"/>
              </a:rPr>
              <a:t>데이터로 설득 — 학습 리포트로 성과를 보여주면 재등록이 쉬워요.</a:t>
            </a:r>
          </a:p>
          <a:p>
            <a:pPr>
              <a:lnSpc>
                <a:spcPct val="115000"/>
              </a:lnSpc>
              <a:spcAft>
                <a:spcPts val="500"/>
              </a:spcAft>
            </a:pPr>
            <a:r>
              <a:rPr sz="900" b="1">
                <a:solidFill>
                  <a:srgbClr val="E11D48"/>
                </a:solidFill>
                <a:latin typeface="Malgun Gothic"/>
              </a:rPr>
              <a:t>● </a:t>
            </a:r>
            <a:r>
              <a:rPr sz="1100">
                <a:solidFill>
                  <a:srgbClr val="334155"/>
                </a:solidFill>
                <a:latin typeface="Malgun Gothic"/>
              </a:rPr>
              <a:t>이탈은 조기 개입 — 결석 잦은 학생부터 먼저 챙겨요.</a:t>
            </a:r>
          </a:p>
          <a:p>
            <a:pPr>
              <a:lnSpc>
                <a:spcPct val="115000"/>
              </a:lnSpc>
              <a:spcAft>
                <a:spcPts val="500"/>
              </a:spcAft>
            </a:pPr>
            <a:r>
              <a:rPr sz="900" b="1">
                <a:solidFill>
                  <a:srgbClr val="E11D48"/>
                </a:solidFill>
                <a:latin typeface="Malgun Gothic"/>
              </a:rPr>
              <a:t>● </a:t>
            </a:r>
            <a:r>
              <a:rPr sz="1100">
                <a:solidFill>
                  <a:srgbClr val="334155"/>
                </a:solidFill>
                <a:latin typeface="Malgun Gothic"/>
              </a:rPr>
              <a:t>학부모와 소통 — 마이페이지·리포트로 신뢰를 쌓아요.</a:t>
            </a:r>
          </a:p>
          <a:p>
            <a:pPr>
              <a:lnSpc>
                <a:spcPct val="115000"/>
              </a:lnSpc>
              <a:spcAft>
                <a:spcPts val="500"/>
              </a:spcAft>
            </a:pPr>
            <a:r>
              <a:rPr sz="900" b="1">
                <a:solidFill>
                  <a:srgbClr val="E11D48"/>
                </a:solidFill>
                <a:latin typeface="Malgun Gothic"/>
              </a:rPr>
              <a:t>● </a:t>
            </a:r>
            <a:r>
              <a:rPr sz="1100">
                <a:solidFill>
                  <a:srgbClr val="334155"/>
                </a:solidFill>
                <a:latin typeface="Malgun Gothic"/>
              </a:rPr>
              <a:t>후속 연락 — 상담 후 팔로업이 등록을 완성해요.</a:t>
            </a:r>
          </a:p>
        </p:txBody>
      </p:sp>
      <p:sp>
        <p:nvSpPr>
          <p:cNvPr id="27" name="TextBox 26"/>
          <p:cNvSpPr txBox="1"/>
          <p:nvPr/>
        </p:nvSpPr>
        <p:spPr>
          <a:xfrm>
            <a:off x="6400800" y="4892040"/>
            <a:ext cx="5486400" cy="320040"/>
          </a:xfrm>
          <a:prstGeom prst="rect">
            <a:avLst/>
          </a:prstGeom>
          <a:noFill/>
        </p:spPr>
        <p:txBody>
          <a:bodyPr wrap="square" anchor="t">
            <a:spAutoFit/>
          </a:bodyPr>
          <a:lstStyle/>
          <a:p>
            <a:pPr algn="l">
              <a:lnSpc>
                <a:spcPct val="100000"/>
              </a:lnSpc>
            </a:pPr>
            <a:r>
              <a:rPr sz="1350" b="1">
                <a:solidFill>
                  <a:srgbClr val="E11D48"/>
                </a:solidFill>
                <a:latin typeface="Malgun Gothic"/>
              </a:rPr>
              <a:t>📌 꼭 기억하세요</a:t>
            </a:r>
          </a:p>
        </p:txBody>
      </p:sp>
      <p:sp>
        <p:nvSpPr>
          <p:cNvPr id="28" name="TextBox 27"/>
          <p:cNvSpPr txBox="1"/>
          <p:nvPr/>
        </p:nvSpPr>
        <p:spPr>
          <a:xfrm>
            <a:off x="6400800" y="5257800"/>
            <a:ext cx="5394960" cy="1645920"/>
          </a:xfrm>
          <a:prstGeom prst="rect">
            <a:avLst/>
          </a:prstGeom>
          <a:noFill/>
        </p:spPr>
        <p:txBody>
          <a:bodyPr wrap="square">
            <a:spAutoFit/>
          </a:bodyPr>
          <a:lstStyle/>
          <a:p>
            <a:pPr>
              <a:lnSpc>
                <a:spcPct val="115000"/>
              </a:lnSpc>
              <a:spcAft>
                <a:spcPts val="400"/>
              </a:spcAft>
            </a:pPr>
            <a:r>
              <a:rPr sz="850" b="1">
                <a:solidFill>
                  <a:srgbClr val="0EA5E9"/>
                </a:solidFill>
                <a:latin typeface="Malgun Gothic"/>
              </a:rPr>
              <a:t>● </a:t>
            </a:r>
            <a:r>
              <a:rPr sz="1050">
                <a:solidFill>
                  <a:srgbClr val="334155"/>
                </a:solidFill>
                <a:latin typeface="Malgun Gothic"/>
              </a:rPr>
              <a:t>접속은 admin.mangoi.co.kr, 데이터는 우리 대리점 범위로 자동 한정돼요</a:t>
            </a:r>
          </a:p>
          <a:p>
            <a:pPr>
              <a:lnSpc>
                <a:spcPct val="115000"/>
              </a:lnSpc>
              <a:spcAft>
                <a:spcPts val="400"/>
              </a:spcAft>
            </a:pPr>
            <a:r>
              <a:rPr sz="850" b="1">
                <a:solidFill>
                  <a:srgbClr val="0EA5E9"/>
                </a:solidFill>
                <a:latin typeface="Malgun Gothic"/>
              </a:rPr>
              <a:t>● </a:t>
            </a:r>
            <a:r>
              <a:rPr sz="1050">
                <a:solidFill>
                  <a:srgbClr val="334155"/>
                </a:solidFill>
                <a:latin typeface="Malgun Gothic"/>
              </a:rPr>
              <a:t>정산은 지사→대리점 트리 구조로 자동 계산돼요</a:t>
            </a:r>
          </a:p>
          <a:p>
            <a:pPr>
              <a:lnSpc>
                <a:spcPct val="115000"/>
              </a:lnSpc>
              <a:spcAft>
                <a:spcPts val="400"/>
              </a:spcAft>
            </a:pPr>
            <a:r>
              <a:rPr sz="850" b="1">
                <a:solidFill>
                  <a:srgbClr val="0EA5E9"/>
                </a:solidFill>
                <a:latin typeface="Malgun Gothic"/>
              </a:rPr>
              <a:t>● </a:t>
            </a:r>
            <a:r>
              <a:rPr sz="1050">
                <a:solidFill>
                  <a:srgbClr val="334155"/>
                </a:solidFill>
                <a:latin typeface="Malgun Gothic"/>
              </a:rPr>
              <a:t>학생 ‘입장 안 됨’ 문의의 대부분은 브라우저·권한 문제예요</a:t>
            </a:r>
          </a:p>
          <a:p>
            <a:pPr>
              <a:lnSpc>
                <a:spcPct val="115000"/>
              </a:lnSpc>
              <a:spcAft>
                <a:spcPts val="400"/>
              </a:spcAft>
            </a:pPr>
            <a:r>
              <a:rPr sz="850" b="1">
                <a:solidFill>
                  <a:srgbClr val="0EA5E9"/>
                </a:solidFill>
                <a:latin typeface="Malgun Gothic"/>
              </a:rPr>
              <a:t>● </a:t>
            </a:r>
            <a:r>
              <a:rPr sz="1050">
                <a:solidFill>
                  <a:srgbClr val="334155"/>
                </a:solidFill>
                <a:latin typeface="Malgun Gothic"/>
              </a:rPr>
              <a:t>성장 리듬은 ‘모객 → 등록 → 만족 → 재등록’!</a:t>
            </a:r>
          </a:p>
        </p:txBody>
      </p:sp>
      <p:sp>
        <p:nvSpPr>
          <p:cNvPr id="29" name="Rounded Rectangle 28"/>
          <p:cNvSpPr/>
          <p:nvPr/>
        </p:nvSpPr>
        <p:spPr>
          <a:xfrm>
            <a:off x="457200" y="6172200"/>
            <a:ext cx="11338560" cy="566928"/>
          </a:xfrm>
          <a:prstGeom prst="roundRect">
            <a:avLst/>
          </a:prstGeom>
          <a:solidFill>
            <a:srgbClr val="FFF1F2"/>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6208776"/>
            <a:ext cx="10972800" cy="502920"/>
          </a:xfrm>
          <a:prstGeom prst="rect">
            <a:avLst/>
          </a:prstGeom>
          <a:noFill/>
        </p:spPr>
        <p:txBody>
          <a:bodyPr wrap="square" anchor="t">
            <a:spAutoFit/>
          </a:bodyPr>
          <a:lstStyle/>
          <a:p>
            <a:pPr algn="l">
              <a:lnSpc>
                <a:spcPct val="102000"/>
              </a:lnSpc>
            </a:pPr>
            <a:r>
              <a:rPr sz="1000" b="0">
                <a:solidFill>
                  <a:srgbClr val="5B4A2A"/>
                </a:solidFill>
                <a:latin typeface="Malgun Gothic"/>
              </a:rPr>
              <a:t>🍊 대리점의 힘은 ‘내 학생 한 명 한 명을 챙기는 정성’에서 나와요. 빠르게 응대하고, 성과를 보여주고, 이탈을 미리 막으세요. 지사와 본사가 든든하게 지원합니다. 궁금한 점은 언제든 고객센터로 — 무럭무럭 성장하는 대리점을 응원합니다!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9E0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1371600"/>
            <a:ext cx="3657600" cy="3657600"/>
          </a:xfrm>
          <a:prstGeom prst="ellipse">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15600" y="4572000"/>
            <a:ext cx="3657600" cy="3657600"/>
          </a:xfrm>
          <a:prstGeom prst="ellipse">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194560"/>
            <a:ext cx="12191695" cy="914400"/>
          </a:xfrm>
          <a:prstGeom prst="rect">
            <a:avLst/>
          </a:prstGeom>
          <a:noFill/>
        </p:spPr>
        <p:txBody>
          <a:bodyPr wrap="square" anchor="t">
            <a:spAutoFit/>
          </a:bodyPr>
          <a:lstStyle/>
          <a:p>
            <a:pPr algn="ctr">
              <a:lnSpc>
                <a:spcPct val="100000"/>
              </a:lnSpc>
            </a:pPr>
            <a:r>
              <a:rPr sz="3400" b="1">
                <a:solidFill>
                  <a:srgbClr val="FFFFFF"/>
                </a:solidFill>
                <a:latin typeface="Malgun Gothic"/>
              </a:rPr>
              <a:t>망고아이와 함께 성장해요!</a:t>
            </a:r>
          </a:p>
        </p:txBody>
      </p:sp>
      <p:sp>
        <p:nvSpPr>
          <p:cNvPr id="6" name="TextBox 5"/>
          <p:cNvSpPr txBox="1"/>
          <p:nvPr/>
        </p:nvSpPr>
        <p:spPr>
          <a:xfrm>
            <a:off x="0" y="3291840"/>
            <a:ext cx="12191695" cy="548640"/>
          </a:xfrm>
          <a:prstGeom prst="rect">
            <a:avLst/>
          </a:prstGeom>
          <a:noFill/>
        </p:spPr>
        <p:txBody>
          <a:bodyPr wrap="square" anchor="t">
            <a:spAutoFit/>
          </a:bodyPr>
          <a:lstStyle/>
          <a:p>
            <a:pPr algn="ctr">
              <a:lnSpc>
                <a:spcPct val="100000"/>
              </a:lnSpc>
            </a:pPr>
            <a:r>
              <a:rPr sz="1600" b="0">
                <a:solidFill>
                  <a:srgbClr val="FFFFFF"/>
                </a:solidFill>
                <a:latin typeface="Malgun Gothic"/>
              </a:rPr>
              <a:t>궁금한 점은 사이트 A.i 상담사 또는 고객센터로 문의하세요.</a:t>
            </a:r>
          </a:p>
        </p:txBody>
      </p:sp>
      <p:sp>
        <p:nvSpPr>
          <p:cNvPr id="7" name="TextBox 6"/>
          <p:cNvSpPr txBox="1"/>
          <p:nvPr/>
        </p:nvSpPr>
        <p:spPr>
          <a:xfrm>
            <a:off x="0" y="4114800"/>
            <a:ext cx="12191695" cy="457200"/>
          </a:xfrm>
          <a:prstGeom prst="rect">
            <a:avLst/>
          </a:prstGeom>
          <a:noFill/>
        </p:spPr>
        <p:txBody>
          <a:bodyPr wrap="square" anchor="t">
            <a:spAutoFit/>
          </a:bodyPr>
          <a:lstStyle/>
          <a:p>
            <a:pPr algn="ctr">
              <a:lnSpc>
                <a:spcPct val="100000"/>
              </a:lnSpc>
            </a:pPr>
            <a:r>
              <a:rPr sz="1400" b="0">
                <a:solidFill>
                  <a:srgbClr val="FFFFFF"/>
                </a:solidFill>
                <a:latin typeface="Malgun Gothic"/>
              </a:rPr>
              <a:t>🌐 test.mangoi.co.kr    📞 1588-0000    ✉ support@mangoi.co.kr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