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0D9488"/>
              </a:solidFill>
            </c:spPr>
          </c:dPt>
          <c:dPt>
            <c:idx val="1"/>
            <c:spPr>
              <a:solidFill>
                <a:srgbClr val="0EA5E9"/>
              </a:solidFill>
            </c:spPr>
          </c:dPt>
          <c:dPt>
            <c:idx val="2"/>
            <c:spPr>
              <a:solidFill>
                <a:srgbClr val="F59E0B"/>
              </a:solidFill>
            </c:spPr>
          </c:dPt>
          <c:cat>
            <c:strRef>
              <c:f>Sheet1!$A$2:$A$4</c:f>
              <c:strCache>
                <c:ptCount val="3"/>
                <c:pt idx="0">
                  <c:v>Revenue (M KRW)</c:v>
                </c:pt>
                <c:pt idx="1">
                  <c:v>Enrolled</c:v>
                </c:pt>
                <c:pt idx="2">
                  <c:v>Sub-agencies</c:v>
                </c:pt>
              </c:strCache>
            </c:strRef>
          </c:cat>
          <c:val>
            <c:numRef>
              <c:f>Sheet1!$B$2:$B$4</c:f>
              <c:numCache>
                <c:formatCode>General</c:formatCode>
                <c:ptCount val="3"/>
                <c:pt idx="0">
                  <c:v>64</c:v>
                </c:pt>
                <c:pt idx="1">
                  <c:v>980</c:v>
                </c:pt>
                <c:pt idx="2">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0D9488"/>
              </a:solidFill>
            </c:spPr>
          </c:dPt>
          <c:dPt>
            <c:idx val="1"/>
            <c:spPr>
              <a:solidFill>
                <a:srgbClr val="0EA5E9"/>
              </a:solidFill>
            </c:spPr>
          </c:dPt>
          <c:dPt>
            <c:idx val="2"/>
            <c:spPr>
              <a:solidFill>
                <a:srgbClr val="14B8A6"/>
              </a:solidFill>
            </c:spPr>
          </c:dPt>
          <c:dPt>
            <c:idx val="3"/>
            <c:spPr>
              <a:solidFill>
                <a:srgbClr val="F59E0B"/>
              </a:solidFill>
            </c:spPr>
          </c:dPt>
          <c:dPt>
            <c:idx val="4"/>
            <c:spPr>
              <a:solidFill>
                <a:srgbClr val="64748B"/>
              </a:solidFill>
            </c:spPr>
          </c:dPt>
          <c:cat>
            <c:strRef>
              <c:f>Sheet1!$A$2:$A$6</c:f>
              <c:strCache>
                <c:ptCount val="5"/>
                <c:pt idx="0">
                  <c:v>Gangnam</c:v>
                </c:pt>
                <c:pt idx="1">
                  <c:v>Bundang</c:v>
                </c:pt>
                <c:pt idx="2">
                  <c:v>Ilsan</c:v>
                </c:pt>
                <c:pt idx="3">
                  <c:v>Suwon</c:v>
                </c:pt>
                <c:pt idx="4">
                  <c:v>Incheon</c:v>
                </c:pt>
              </c:strCache>
            </c:strRef>
          </c:cat>
          <c:val>
            <c:numRef>
              <c:f>Sheet1!$B$2:$B$6</c:f>
              <c:numCache>
                <c:formatCode>General</c:formatCode>
                <c:ptCount val="5"/>
                <c:pt idx="0">
                  <c:v>210</c:v>
                </c:pt>
                <c:pt idx="1">
                  <c:v>180</c:v>
                </c:pt>
                <c:pt idx="2">
                  <c:v>150</c:v>
                </c:pt>
                <c:pt idx="3">
                  <c:v>120</c:v>
                </c:pt>
                <c:pt idx="4">
                  <c:v>90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64748B"/>
              </a:solidFill>
            </c:spPr>
          </c:dPt>
          <c:dPt>
            <c:idx val="1"/>
            <c:spPr>
              <a:solidFill>
                <a:srgbClr val="0D9488"/>
              </a:solidFill>
            </c:spPr>
          </c:dPt>
          <c:dPt>
            <c:idx val="2"/>
            <c:spPr>
              <a:solidFill>
                <a:srgbClr val="F59E0B"/>
              </a:solidFill>
            </c:spPr>
          </c:dPt>
          <c:cat>
            <c:strRef>
              <c:f>Sheet1!$A$2:$A$4</c:f>
              <c:strCache>
                <c:ptCount val="3"/>
                <c:pt idx="0">
                  <c:v>HQ fee</c:v>
                </c:pt>
                <c:pt idx="1">
                  <c:v>Branch share</c:v>
                </c:pt>
                <c:pt idx="2">
                  <c:v>Agency distribution</c:v>
                </c:pt>
              </c:strCache>
            </c:strRef>
          </c:cat>
          <c:val>
            <c:numRef>
              <c:f>Sheet1!$B$2:$B$4</c:f>
              <c:numCache>
                <c:formatCode>General</c:formatCode>
                <c:ptCount val="3"/>
                <c:pt idx="0">
                  <c:v>20</c:v>
                </c:pt>
                <c:pt idx="1">
                  <c:v>30</c:v>
                </c:pt>
                <c:pt idx="2">
                  <c:v>50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0D9488"/>
                </a:solidFill>
                <a:latin typeface="Malgun Gothic"/>
              </a:rPr>
              <a:t>🏢 BRANCH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Branch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Sub-agencies, settlement &amp; performance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Regional branch operators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0D9488"/>
                </a:solidFill>
                <a:latin typeface="Malgun Gothic"/>
              </a:rPr>
              <a:t>What is the Branch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branch page is where you manage your branch and its sub-agencies with authority delegated by HQ. When you log in, only 'my branch' data (revenue, enrollment, attendance, settlement) is shown automatically. You see your sub-agencies' performance at a glance and process the settlement that flows HQ ↔ branch ↔ agency. The layout is the same as the admin page — only the scope differs.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My-branch scope, automatic</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Just log in and see only your branch's data.</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Manage sub-agencies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Agency list, performance and recruiting in one place.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HQ→branch→agency settlement</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Receipt/distribution auto-calculated by the tree.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0D948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Performance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Branch/agency performance in a monthly report.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0D9488"/>
                </a:solidFill>
                <a:latin typeface="Malgun Gothic"/>
              </a:rPr>
              <a:t>Your Branch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Contents</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a:t>
            </a:r>
          </a:p>
        </p:txBody>
      </p:sp>
      <p:sp>
        <p:nvSpPr>
          <p:cNvPr id="9" name="Rounded Rectangle 8"/>
          <p:cNvSpPr/>
          <p:nvPr/>
        </p:nvSpPr>
        <p:spPr>
          <a:xfrm>
            <a:off x="411480"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4</a:t>
            </a:r>
          </a:p>
        </p:txBody>
      </p:sp>
      <p:sp>
        <p:nvSpPr>
          <p:cNvPr id="13" name="Rounded Rectangle 12"/>
          <p:cNvSpPr/>
          <p:nvPr/>
        </p:nvSpPr>
        <p:spPr>
          <a:xfrm>
            <a:off x="411480"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Page &amp; Admin Dashboard</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5</a:t>
            </a:r>
          </a:p>
        </p:txBody>
      </p:sp>
      <p:sp>
        <p:nvSpPr>
          <p:cNvPr id="17" name="Rounded Rectangle 16"/>
          <p:cNvSpPr/>
          <p:nvPr/>
        </p:nvSpPr>
        <p:spPr>
          <a:xfrm>
            <a:off x="411480"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Dashboard</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6</a:t>
            </a:r>
          </a:p>
        </p:txBody>
      </p:sp>
      <p:sp>
        <p:nvSpPr>
          <p:cNvPr id="21" name="Rounded Rectangle 20"/>
          <p:cNvSpPr/>
          <p:nvPr/>
        </p:nvSpPr>
        <p:spPr>
          <a:xfrm>
            <a:off x="411480"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the AI Assistant</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7</a:t>
            </a:r>
          </a:p>
        </p:txBody>
      </p:sp>
      <p:sp>
        <p:nvSpPr>
          <p:cNvPr id="25" name="Rounded Rectangle 24"/>
          <p:cNvSpPr/>
          <p:nvPr/>
        </p:nvSpPr>
        <p:spPr>
          <a:xfrm>
            <a:off x="411480"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Manage Sub-agencies</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8</a:t>
            </a:r>
          </a:p>
        </p:txBody>
      </p:sp>
      <p:sp>
        <p:nvSpPr>
          <p:cNvPr id="29" name="Rounded Rectangle 28"/>
          <p:cNvSpPr/>
          <p:nvPr/>
        </p:nvSpPr>
        <p:spPr>
          <a:xfrm>
            <a:off x="411480"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Settlement (receive &amp; distribute)</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9</a:t>
            </a:r>
          </a:p>
        </p:txBody>
      </p:sp>
      <p:sp>
        <p:nvSpPr>
          <p:cNvPr id="33" name="Rounded Rectangle 32"/>
          <p:cNvSpPr/>
          <p:nvPr/>
        </p:nvSpPr>
        <p:spPr>
          <a:xfrm>
            <a:off x="411480"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 Parent Status</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10</a:t>
            </a:r>
          </a:p>
        </p:txBody>
      </p:sp>
      <p:sp>
        <p:nvSpPr>
          <p:cNvPr id="37" name="Rounded Rectangle 36"/>
          <p:cNvSpPr/>
          <p:nvPr/>
        </p:nvSpPr>
        <p:spPr>
          <a:xfrm>
            <a:off x="411480"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Payments·Overdue·Refunds (branch)</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11</a:t>
            </a:r>
          </a:p>
        </p:txBody>
      </p:sp>
      <p:sp>
        <p:nvSpPr>
          <p:cNvPr id="41" name="Rounded Rectangle 40"/>
          <p:cNvSpPr/>
          <p:nvPr/>
        </p:nvSpPr>
        <p:spPr>
          <a:xfrm>
            <a:off x="411480" y="39502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Branch Retention</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12</a:t>
            </a:r>
          </a:p>
        </p:txBody>
      </p:sp>
      <p:sp>
        <p:nvSpPr>
          <p:cNvPr id="45" name="Rounded Rectangle 44"/>
          <p:cNvSpPr/>
          <p:nvPr/>
        </p:nvSpPr>
        <p:spPr>
          <a:xfrm>
            <a:off x="411480" y="42245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Monthly Report·Performance</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13</a:t>
            </a:r>
          </a:p>
        </p:txBody>
      </p:sp>
      <p:sp>
        <p:nvSpPr>
          <p:cNvPr id="49" name="Rounded Rectangle 48"/>
          <p:cNvSpPr/>
          <p:nvPr/>
        </p:nvSpPr>
        <p:spPr>
          <a:xfrm>
            <a:off x="411480" y="44988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Support·Training</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14</a:t>
            </a:r>
          </a:p>
        </p:txBody>
      </p:sp>
      <p:sp>
        <p:nvSpPr>
          <p:cNvPr id="53" name="Rounded Rectangle 52"/>
          <p:cNvSpPr/>
          <p:nvPr/>
        </p:nvSpPr>
        <p:spPr>
          <a:xfrm>
            <a:off x="411480" y="47731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Support·Inquiries</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15</a:t>
            </a:r>
          </a:p>
        </p:txBody>
      </p:sp>
      <p:sp>
        <p:nvSpPr>
          <p:cNvPr id="57" name="Rounded Rectangle 56"/>
          <p:cNvSpPr/>
          <p:nvPr/>
        </p:nvSpPr>
        <p:spPr>
          <a:xfrm>
            <a:off x="411480" y="50474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16</a:t>
            </a:r>
          </a:p>
        </p:txBody>
      </p:sp>
      <p:sp>
        <p:nvSpPr>
          <p:cNvPr id="61" name="Rounded Rectangle 60"/>
          <p:cNvSpPr/>
          <p:nvPr/>
        </p:nvSpPr>
        <p:spPr>
          <a:xfrm>
            <a:off x="6141567" y="14813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17</a:t>
            </a:r>
          </a:p>
        </p:txBody>
      </p:sp>
      <p:sp>
        <p:nvSpPr>
          <p:cNvPr id="65" name="Rounded Rectangle 64"/>
          <p:cNvSpPr/>
          <p:nvPr/>
        </p:nvSpPr>
        <p:spPr>
          <a:xfrm>
            <a:off x="6141567" y="17556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(understand &amp; use)</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18</a:t>
            </a:r>
          </a:p>
        </p:txBody>
      </p:sp>
      <p:sp>
        <p:nvSpPr>
          <p:cNvPr id="69" name="Rounded Rectangle 68"/>
          <p:cNvSpPr/>
          <p:nvPr/>
        </p:nvSpPr>
        <p:spPr>
          <a:xfrm>
            <a:off x="6141567" y="20299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19</a:t>
            </a:r>
          </a:p>
        </p:txBody>
      </p:sp>
      <p:sp>
        <p:nvSpPr>
          <p:cNvPr id="73" name="Rounded Rectangle 72"/>
          <p:cNvSpPr/>
          <p:nvPr/>
        </p:nvSpPr>
        <p:spPr>
          <a:xfrm>
            <a:off x="6141567" y="230428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20</a:t>
            </a:r>
          </a:p>
        </p:txBody>
      </p:sp>
      <p:sp>
        <p:nvSpPr>
          <p:cNvPr id="77" name="Rounded Rectangle 76"/>
          <p:cNvSpPr/>
          <p:nvPr/>
        </p:nvSpPr>
        <p:spPr>
          <a:xfrm>
            <a:off x="6141567" y="25786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21</a:t>
            </a:r>
          </a:p>
        </p:txBody>
      </p:sp>
      <p:sp>
        <p:nvSpPr>
          <p:cNvPr id="81" name="Rounded Rectangle 80"/>
          <p:cNvSpPr/>
          <p:nvPr/>
        </p:nvSpPr>
        <p:spPr>
          <a:xfrm>
            <a:off x="6141567" y="28529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22</a:t>
            </a:r>
          </a:p>
        </p:txBody>
      </p:sp>
      <p:sp>
        <p:nvSpPr>
          <p:cNvPr id="85" name="Rounded Rectangle 84"/>
          <p:cNvSpPr/>
          <p:nvPr/>
        </p:nvSpPr>
        <p:spPr>
          <a:xfrm>
            <a:off x="6141567" y="31272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23</a:t>
            </a:r>
          </a:p>
        </p:txBody>
      </p:sp>
      <p:sp>
        <p:nvSpPr>
          <p:cNvPr id="89" name="Rounded Rectangle 88"/>
          <p:cNvSpPr/>
          <p:nvPr/>
        </p:nvSpPr>
        <p:spPr>
          <a:xfrm>
            <a:off x="6141567" y="34015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24</a:t>
            </a:r>
          </a:p>
        </p:txBody>
      </p:sp>
      <p:sp>
        <p:nvSpPr>
          <p:cNvPr id="93" name="Rounded Rectangle 92"/>
          <p:cNvSpPr/>
          <p:nvPr/>
        </p:nvSpPr>
        <p:spPr>
          <a:xfrm>
            <a:off x="6141567" y="3675887"/>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25</a:t>
            </a:r>
          </a:p>
        </p:txBody>
      </p:sp>
      <p:sp>
        <p:nvSpPr>
          <p:cNvPr id="97" name="Rounded Rectangle 96"/>
          <p:cNvSpPr/>
          <p:nvPr/>
        </p:nvSpPr>
        <p:spPr>
          <a:xfrm>
            <a:off x="6141567" y="395020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26</a:t>
            </a:r>
          </a:p>
        </p:txBody>
      </p:sp>
      <p:sp>
        <p:nvSpPr>
          <p:cNvPr id="101" name="Rounded Rectangle 100"/>
          <p:cNvSpPr/>
          <p:nvPr/>
        </p:nvSpPr>
        <p:spPr>
          <a:xfrm>
            <a:off x="6141567" y="422452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27</a:t>
            </a:r>
          </a:p>
        </p:txBody>
      </p:sp>
      <p:sp>
        <p:nvSpPr>
          <p:cNvPr id="105" name="Rounded Rectangle 104"/>
          <p:cNvSpPr/>
          <p:nvPr/>
        </p:nvSpPr>
        <p:spPr>
          <a:xfrm>
            <a:off x="6141567" y="449884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28</a:t>
            </a:r>
          </a:p>
        </p:txBody>
      </p:sp>
      <p:sp>
        <p:nvSpPr>
          <p:cNvPr id="109" name="Rounded Rectangle 108"/>
          <p:cNvSpPr/>
          <p:nvPr/>
        </p:nvSpPr>
        <p:spPr>
          <a:xfrm>
            <a:off x="6141567" y="4773168"/>
            <a:ext cx="384048" cy="2286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0D9488"/>
                </a:solidFill>
                <a:latin typeface="Malgun Gothic"/>
              </a:rPr>
              <a:t>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Only my branch's data shows</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 branch account shows only 'my branch' menus and data. HQ-wide or other branches' data isn't visible, so you can focus on your branch with peace of mind.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0D9488"/>
                </a:solidFill>
                <a:latin typeface="Malgun Gothic"/>
              </a:rPr>
              <a:t>● </a:t>
            </a:r>
            <a:r>
              <a:rPr sz="1250">
                <a:solidFill>
                  <a:srgbClr val="334155"/>
                </a:solidFill>
                <a:latin typeface="Malgun Gothic"/>
              </a:rPr>
              <a:t>On login, menus/data for your role (branch) are applied automatically.</a:t>
            </a:r>
          </a:p>
          <a:p>
            <a:pPr>
              <a:lnSpc>
                <a:spcPct val="115000"/>
              </a:lnSpc>
              <a:spcAft>
                <a:spcPts val="600"/>
              </a:spcAft>
            </a:pPr>
            <a:r>
              <a:rPr sz="1050" b="1">
                <a:solidFill>
                  <a:srgbClr val="0D9488"/>
                </a:solidFill>
                <a:latin typeface="Malgun Gothic"/>
              </a:rPr>
              <a:t>● </a:t>
            </a:r>
            <a:r>
              <a:rPr sz="1250">
                <a:solidFill>
                  <a:srgbClr val="334155"/>
                </a:solidFill>
                <a:latin typeface="Malgun Gothic"/>
              </a:rPr>
              <a:t>Forgot your password? Reset via 'Find password'.</a:t>
            </a:r>
          </a:p>
          <a:p>
            <a:pPr>
              <a:lnSpc>
                <a:spcPct val="115000"/>
              </a:lnSpc>
              <a:spcAft>
                <a:spcPts val="600"/>
              </a:spcAft>
            </a:pPr>
            <a:r>
              <a:rPr sz="1050" b="1">
                <a:solidFill>
                  <a:srgbClr val="0D9488"/>
                </a:solidFill>
                <a:latin typeface="Malgun Gothic"/>
              </a:rPr>
              <a:t>● </a:t>
            </a:r>
            <a:r>
              <a:rPr sz="1250">
                <a:solidFill>
                  <a:srgbClr val="334155"/>
                </a:solidFill>
                <a:latin typeface="Malgun Gothic"/>
              </a:rPr>
              <a:t>You can split permission scope among staff.</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Only your branch and sub-agency data shows.</a:t>
            </a:r>
          </a:p>
          <a:p>
            <a:pPr>
              <a:lnSpc>
                <a:spcPct val="115000"/>
              </a:lnSpc>
              <a:spcAft>
                <a:spcPts val="200"/>
              </a:spcAft>
            </a:pPr>
            <a:r>
              <a:rPr sz="900" b="1">
                <a:solidFill>
                  <a:srgbClr val="0D9488"/>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Page &amp; Admin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Open the management screen from My Page</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Branch operations start from 'My Page.' After logging in, press the 📊 'Admin' button in the My Page menu to enter the branch-scope admin (operations) dashboard, where you manage revenue, enrollment, agencies and settlement.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After logging in, open '👤 My Page'.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Press the 📊 'Admin' button in the My Page menu. (goes to the admin dashboard)</a:t>
            </a:r>
          </a:p>
          <a:p>
            <a:pPr>
              <a:lnSpc>
                <a:spcPct val="115000"/>
              </a:lnSpc>
              <a:spcAft>
                <a:spcPts val="600"/>
              </a:spcAft>
            </a:pPr>
            <a:r>
              <a:rPr sz="1050" b="1">
                <a:solidFill>
                  <a:srgbClr val="0D9488"/>
                </a:solidFill>
                <a:latin typeface="Malgun Gothic"/>
              </a:rPr>
              <a:t>● </a:t>
            </a:r>
            <a:r>
              <a:rPr sz="1250">
                <a:solidFill>
                  <a:srgbClr val="334155"/>
                </a:solidFill>
                <a:latin typeface="Malgun Gothic"/>
              </a:rPr>
              <a:t>On the admin dashboard, check your branch revenue, enrollment, attendance and sub-agencies.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My Page also has postpone/change, new inquiry, all-menu, pre-check and more.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If text looks English, use the EN button to switch language.</a:t>
            </a:r>
          </a:p>
        </p:txBody>
      </p:sp>
      <p:sp>
        <p:nvSpPr>
          <p:cNvPr id="14" name="Rounded Rectangle 13"/>
          <p:cNvSpPr/>
          <p:nvPr/>
        </p:nvSpPr>
        <p:spPr>
          <a:xfrm>
            <a:off x="457200" y="5166360"/>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One 'Admin' button takes you straight to the operations dashboard.</a:t>
            </a:r>
          </a:p>
          <a:p>
            <a:pPr>
              <a:lnSpc>
                <a:spcPct val="115000"/>
              </a:lnSpc>
              <a:spcAft>
                <a:spcPts val="200"/>
              </a:spcAft>
            </a:pPr>
            <a:r>
              <a:rPr sz="900" b="1">
                <a:solidFill>
                  <a:srgbClr val="0D9488"/>
                </a:solidFill>
                <a:latin typeface="Malgun Gothic"/>
              </a:rPr>
              <a:t>● </a:t>
            </a:r>
            <a:r>
              <a:rPr sz="1100">
                <a:solidFill>
                  <a:srgbClr val="334155"/>
                </a:solidFill>
                <a:latin typeface="Malgun Gothic"/>
              </a:rPr>
              <a:t>All dashboard data is auto-totaled to 'your branch scope'.</a:t>
            </a:r>
          </a:p>
          <a:p>
            <a:pPr>
              <a:lnSpc>
                <a:spcPct val="115000"/>
              </a:lnSpc>
              <a:spcAft>
                <a:spcPts val="200"/>
              </a:spcAft>
            </a:pPr>
            <a:r>
              <a:rPr sz="900" b="1">
                <a:solidFill>
                  <a:srgbClr val="0D9488"/>
                </a:solidFill>
                <a:latin typeface="Malgun Gothic"/>
              </a:rPr>
              <a:t>● </a:t>
            </a:r>
            <a:r>
              <a:rPr sz="1100">
                <a:solidFill>
                  <a:srgbClr val="334155"/>
                </a:solidFill>
                <a:latin typeface="Malgun Gothic"/>
              </a:rPr>
              <a:t>Menus and data are set automatically by your role (branch).</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My Page and the admin dashboard open only within the logged-in branch account's permission scope.</a:t>
            </a:r>
          </a:p>
        </p:txBody>
      </p:sp>
      <p:sp>
        <p:nvSpPr>
          <p:cNvPr id="19" name="Rounded Rectangle 18"/>
          <p:cNvSpPr/>
          <p:nvPr/>
        </p:nvSpPr>
        <p:spPr>
          <a:xfrm>
            <a:off x="457200" y="7324344"/>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Each day, spend 5 minutes: My Page → Admin dashboard → check branch metrics.</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Your branch status at a glance</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login, your branch's revenue, enrollment and attendance plus sub-agency status are organized as cards. Type a word in the top search box to jump right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today's revenue, enrollment and attendance (your branch total) at the top.</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Tap features from the category cards (agencies, teachers, accounting, students, content).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 AI insight summarizes your branch status.</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All numbers are auto-totaled to 'your branch scope'.</a:t>
            </a:r>
          </a:p>
          <a:p>
            <a:pPr>
              <a:lnSpc>
                <a:spcPct val="115000"/>
              </a:lnSpc>
              <a:spcAft>
                <a:spcPts val="200"/>
              </a:spcAft>
            </a:pPr>
            <a:r>
              <a:rPr sz="900" b="1">
                <a:solidFill>
                  <a:srgbClr val="0D9488"/>
                </a:solidFill>
                <a:latin typeface="Malgun Gothic"/>
              </a:rPr>
              <a:t>● </a:t>
            </a:r>
            <a:r>
              <a:rPr sz="1100">
                <a:solidFill>
                  <a:srgbClr val="334155"/>
                </a:solidFill>
                <a:latin typeface="Malgun Gothic"/>
              </a:rPr>
              <a:t>If a feature is hard to find, search is fastest.</a:t>
            </a:r>
          </a:p>
        </p:txBody>
      </p:sp>
      <p:sp>
        <p:nvSpPr>
          <p:cNvPr id="17" name="Rounded Rectangle 16"/>
          <p:cNvSpPr/>
          <p:nvPr/>
        </p:nvSpPr>
        <p:spPr>
          <a:xfrm>
            <a:off x="457200" y="589787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5-minute morning check of branch metrics catches warning signs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Look up/act by voice or text</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within your branch scope. Important actions are confirmed first, and it only does what you're permitted.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Speak or type into the center search/mic. e.g. 'How's the branch revenue this month?'</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 AI looks up numbers or opens a screen. e.g. 'Open the agency list.'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Important actions are confirmed with 'Shall I?' first.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 assistant only executes what you're permitted.</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When busy, voice is much faster.</a:t>
            </a:r>
          </a:p>
          <a:p>
            <a:pPr>
              <a:lnSpc>
                <a:spcPct val="115000"/>
              </a:lnSpc>
              <a:spcAft>
                <a:spcPts val="200"/>
              </a:spcAft>
            </a:pPr>
            <a:r>
              <a:rPr sz="900" b="1">
                <a:solidFill>
                  <a:srgbClr val="0D9488"/>
                </a:solidFill>
                <a:latin typeface="Malgun Gothic"/>
              </a:rPr>
              <a:t>● </a:t>
            </a:r>
            <a:r>
              <a:rPr sz="1100">
                <a:solidFill>
                  <a:srgbClr val="334155"/>
                </a:solidFill>
                <a:latin typeface="Malgun Gothic"/>
              </a:rPr>
              <a:t>Results are limited to your branch scope.</a:t>
            </a:r>
          </a:p>
        </p:txBody>
      </p:sp>
      <p:sp>
        <p:nvSpPr>
          <p:cNvPr id="17" name="Rounded Rectangle 16"/>
          <p:cNvSpPr/>
          <p:nvPr/>
        </p:nvSpPr>
        <p:spPr>
          <a:xfrm>
            <a:off x="457200" y="589787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say 'show me/open ○○' to jump to the screen you want.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Manage Sub-agencies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 performance, recruiting</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agencies under your branch as a list and compare each agency's enrollment, revenue and performance. Recruiting and onboarding new agencies is handled here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each agency's enrollment, revenue and activity in the agency list.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Compare strong/weak agencies to set support priorities.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Manage new-agency recruiting/onboarding progress.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Set goals/incentives per agency if needed.</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Link agencies with big performance gaps to coaching/support.</a:t>
            </a:r>
          </a:p>
          <a:p>
            <a:pPr>
              <a:lnSpc>
                <a:spcPct val="115000"/>
              </a:lnSpc>
              <a:spcAft>
                <a:spcPts val="200"/>
              </a:spcAft>
            </a:pPr>
            <a:r>
              <a:rPr sz="900" b="1">
                <a:solidFill>
                  <a:srgbClr val="0D9488"/>
                </a:solidFill>
                <a:latin typeface="Malgun Gothic"/>
              </a:rPr>
              <a:t>● </a:t>
            </a:r>
            <a:r>
              <a:rPr sz="1100">
                <a:solidFill>
                  <a:srgbClr val="334155"/>
                </a:solidFill>
                <a:latin typeface="Malgun Gothic"/>
              </a:rPr>
              <a:t>Share top agencies' methods with the others.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Agency data is also managed by each agency's own login; the branch sees the whole picture.</a:t>
            </a:r>
          </a:p>
        </p:txBody>
      </p:sp>
      <p:sp>
        <p:nvSpPr>
          <p:cNvPr id="19" name="Rounded Rectangle 18"/>
          <p:cNvSpPr/>
          <p:nvPr/>
        </p:nvSpPr>
        <p:spPr>
          <a:xfrm>
            <a:off x="457200" y="662939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Sharing a monthly performance report at month-start boosts partner motivation.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Settlement (receive &amp; distribute)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HQ→branch→agency</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Receive the settlement coming from HQ to your branch and check the amount distributed from the branch to sub-agencies. Revenue and commissions are auto-calculated down the org tree.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HQ→branch settlement (received) by month.</a:t>
            </a:r>
          </a:p>
          <a:p>
            <a:pPr>
              <a:lnSpc>
                <a:spcPct val="115000"/>
              </a:lnSpc>
              <a:spcAft>
                <a:spcPts val="600"/>
              </a:spcAft>
            </a:pPr>
            <a:r>
              <a:rPr sz="1050" b="1">
                <a:solidFill>
                  <a:srgbClr val="0D9488"/>
                </a:solidFill>
                <a:latin typeface="Malgun Gothic"/>
              </a:rPr>
              <a:t>● </a:t>
            </a:r>
            <a:r>
              <a:rPr sz="1250">
                <a:solidFill>
                  <a:srgbClr val="334155"/>
                </a:solidFill>
                <a:latin typeface="Malgun Gothic"/>
              </a:rPr>
              <a:t>Branch→agency distribution is auto-calculated by the tree.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Review/save the settlement in a monthly report (PDF).</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If an item looks off, look up the details to confirm.</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Settlement is auto-calculated down the org tree (HQ·branch·agency).</a:t>
            </a:r>
          </a:p>
          <a:p>
            <a:pPr>
              <a:lnSpc>
                <a:spcPct val="115000"/>
              </a:lnSpc>
              <a:spcAft>
                <a:spcPts val="200"/>
              </a:spcAft>
            </a:pPr>
            <a:r>
              <a:rPr sz="900" b="1">
                <a:solidFill>
                  <a:srgbClr val="0D9488"/>
                </a:solidFill>
                <a:latin typeface="Malgun Gothic"/>
              </a:rPr>
              <a:t>● </a:t>
            </a:r>
            <a:r>
              <a:rPr sz="1100">
                <a:solidFill>
                  <a:srgbClr val="334155"/>
                </a:solidFill>
                <a:latin typeface="Malgun Gothic"/>
              </a:rPr>
              <a:t>Distributing the settlement report early builds agency trust.</a:t>
            </a:r>
          </a:p>
        </p:txBody>
      </p:sp>
      <p:sp>
        <p:nvSpPr>
          <p:cNvPr id="17" name="Rounded Rectangle 16"/>
          <p:cNvSpPr/>
          <p:nvPr/>
        </p:nvSpPr>
        <p:spPr>
          <a:xfrm>
            <a:off x="457200" y="589787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Announcing settlement terms (rate·timing) to agencies in advance reduces disputes.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Status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Branch-scope enrollment·attendance·grades</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the status of students in your branch (enrollment, attendance, grades). View by agency or as a branch total.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branch-scope enrolled students in Students/Parents.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Compare attendance/grades by agency and overall.</a:t>
            </a:r>
          </a:p>
          <a:p>
            <a:pPr>
              <a:lnSpc>
                <a:spcPct val="115000"/>
              </a:lnSpc>
              <a:spcAft>
                <a:spcPts val="600"/>
              </a:spcAft>
            </a:pPr>
            <a:r>
              <a:rPr sz="1050" b="1">
                <a:solidFill>
                  <a:srgbClr val="0D9488"/>
                </a:solidFill>
                <a:latin typeface="Malgun Gothic"/>
              </a:rPr>
              <a:t>● </a:t>
            </a:r>
            <a:r>
              <a:rPr sz="1250">
                <a:solidFill>
                  <a:srgbClr val="334155"/>
                </a:solidFill>
                <a:latin typeface="Malgun Gothic"/>
              </a:rPr>
              <a:t>Flag students/agencies that need attention.</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The student list is linked to real member data.</a:t>
            </a:r>
          </a:p>
          <a:p>
            <a:pPr>
              <a:lnSpc>
                <a:spcPct val="115000"/>
              </a:lnSpc>
              <a:spcAft>
                <a:spcPts val="200"/>
              </a:spcAft>
            </a:pPr>
            <a:r>
              <a:rPr sz="900" b="1">
                <a:solidFill>
                  <a:srgbClr val="0D9488"/>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Find agencies whose attendance/enrollment is dipping and support them quickly.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Payments·Overdue·Refunds (branch)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Branch-scope accounting</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payments, overdue and refunds in your branch scope and review amounts auto-calculated by policy. Also see collection status by agency.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branch-scope payments/overdue/refunds in Accounting/Points.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Compare collection rate by agency.</a:t>
            </a:r>
          </a:p>
          <a:p>
            <a:pPr>
              <a:lnSpc>
                <a:spcPct val="115000"/>
              </a:lnSpc>
              <a:spcAft>
                <a:spcPts val="600"/>
              </a:spcAft>
            </a:pPr>
            <a:r>
              <a:rPr sz="1050" b="1">
                <a:solidFill>
                  <a:srgbClr val="0D9488"/>
                </a:solidFill>
                <a:latin typeface="Malgun Gothic"/>
              </a:rPr>
              <a:t>● </a:t>
            </a:r>
            <a:r>
              <a:rPr sz="1250">
                <a:solidFill>
                  <a:srgbClr val="334155"/>
                </a:solidFill>
                <a:latin typeface="Malgun Gothic"/>
              </a:rPr>
              <a:t>Amounts are auto-calculated per the refund table.</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Strengthen alerts/support for agencies with high overdue.</a:t>
            </a:r>
          </a:p>
          <a:p>
            <a:pPr>
              <a:lnSpc>
                <a:spcPct val="115000"/>
              </a:lnSpc>
              <a:spcAft>
                <a:spcPts val="200"/>
              </a:spcAft>
            </a:pPr>
            <a:r>
              <a:rPr sz="900" b="1">
                <a:solidFill>
                  <a:srgbClr val="0D9488"/>
                </a:solidFill>
                <a:latin typeface="Malgun Gothic"/>
              </a:rPr>
              <a:t>● </a:t>
            </a:r>
            <a:r>
              <a:rPr sz="1100">
                <a:solidFill>
                  <a:srgbClr val="334155"/>
                </a:solidFill>
                <a:latin typeface="Malgun Gothic"/>
              </a:rPr>
              <a:t>Discounted-payment refunds recalc at list price.</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Advise agencies with low collection to automate reminders.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Branch Retention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risk·contagion·coaching</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Find at-risk students across your branch/agencies early and prevent chain churn through family/referral. It ties into agency and teacher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Find at-risk students/agencies with the churn-risk graph.</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Prevent chain churn with the contagion network.</a:t>
            </a:r>
          </a:p>
          <a:p>
            <a:pPr>
              <a:lnSpc>
                <a:spcPct val="115000"/>
              </a:lnSpc>
              <a:spcAft>
                <a:spcPts val="600"/>
              </a:spcAft>
            </a:pPr>
            <a:r>
              <a:rPr sz="1050" b="1">
                <a:solidFill>
                  <a:srgbClr val="0D9488"/>
                </a:solidFill>
                <a:latin typeface="Malgun Gothic"/>
              </a:rPr>
              <a:t>● </a:t>
            </a:r>
            <a:r>
              <a:rPr sz="1250">
                <a:solidFill>
                  <a:srgbClr val="334155"/>
                </a:solidFill>
                <a:latin typeface="Malgun Gothic"/>
              </a:rPr>
              <a:t>Link high-risk spots to alert-talk/counseling/coaching.</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0D9488"/>
                </a:solidFill>
                <a:latin typeface="Malgun Gothic"/>
              </a:rPr>
              <a:t>● </a:t>
            </a:r>
            <a:r>
              <a:rPr sz="1100">
                <a:solidFill>
                  <a:srgbClr val="334155"/>
                </a:solidFill>
                <a:latin typeface="Malgun Gothic"/>
              </a:rPr>
              <a:t>Compare churn patterns by agency to support them.</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weekly for the top at-risk agencies/students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Monthly Report·Performance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Branch·agency performance</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Summarize your branch and sub-agencies' performance in a monthly report. See revenue, enrollment, attendance and settlement at a glance and save/print to share.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Compare metrics (revenue·enrollment·attendance·settlement) vs prior month/year.</a:t>
            </a:r>
          </a:p>
          <a:p>
            <a:pPr>
              <a:lnSpc>
                <a:spcPct val="115000"/>
              </a:lnSpc>
              <a:spcAft>
                <a:spcPts val="600"/>
              </a:spcAft>
            </a:pPr>
            <a:r>
              <a:rPr sz="1050" b="1">
                <a:solidFill>
                  <a:srgbClr val="0D9488"/>
                </a:solidFill>
                <a:latin typeface="Malgun Gothic"/>
              </a:rPr>
              <a:t>● </a:t>
            </a:r>
            <a:r>
              <a:rPr sz="1250">
                <a:solidFill>
                  <a:srgbClr val="334155"/>
                </a:solidFill>
                <a:latin typeface="Malgun Gothic"/>
              </a:rPr>
              <a:t>Save the report as print/PDF to share.</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The AI insight helps summarize performance.</a:t>
            </a:r>
          </a:p>
          <a:p>
            <a:pPr>
              <a:lnSpc>
                <a:spcPct val="115000"/>
              </a:lnSpc>
              <a:spcAft>
                <a:spcPts val="200"/>
              </a:spcAft>
            </a:pPr>
            <a:r>
              <a:rPr sz="900" b="1">
                <a:solidFill>
                  <a:srgbClr val="0D9488"/>
                </a:solidFill>
                <a:latin typeface="Malgun Gothic"/>
              </a:rPr>
              <a:t>● </a:t>
            </a:r>
            <a:r>
              <a:rPr sz="1100">
                <a:solidFill>
                  <a:srgbClr val="334155"/>
                </a:solidFill>
                <a:latin typeface="Malgun Gothic"/>
              </a:rPr>
              <a:t>The report also works as agency motivation material.</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Making monthly report sharing routine keeps branch operations transparent.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Support·Training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Onboarding·ops coaching</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Support sub-agencies to operate well with onboarding and ops coaching. Guide the user guide/FAQ/support channels and share best practices.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Guide new agencies to the user guide·ops guide.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Organize frequent questions into an FAQ and distribute.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Share top-agency cases to level everyone up.</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Early onboarding largely decides an agency's success.</a:t>
            </a:r>
          </a:p>
          <a:p>
            <a:pPr>
              <a:lnSpc>
                <a:spcPct val="115000"/>
              </a:lnSpc>
              <a:spcAft>
                <a:spcPts val="200"/>
              </a:spcAft>
            </a:pPr>
            <a:r>
              <a:rPr sz="900" b="1">
                <a:solidFill>
                  <a:srgbClr val="0D9488"/>
                </a:solidFill>
                <a:latin typeface="Malgun Gothic"/>
              </a:rPr>
              <a:t>● </a:t>
            </a:r>
            <a:r>
              <a:rPr sz="1100">
                <a:solidFill>
                  <a:srgbClr val="334155"/>
                </a:solidFill>
                <a:latin typeface="Malgun Gothic"/>
              </a:rPr>
              <a:t>Turn repeat questions into FAQ to cut support load.</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Quarterly agency meetings help review performance and pain points together.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 HQ support</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problem comes up in operations, contact HQ support channels. System/settlement/policy questions get resolved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Route settlement/policy questions to the HQ contact.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System issues resolve fast with remote support.</a:t>
            </a:r>
          </a:p>
          <a:p>
            <a:pPr>
              <a:lnSpc>
                <a:spcPct val="115000"/>
              </a:lnSpc>
              <a:spcAft>
                <a:spcPts val="200"/>
              </a:spcAft>
            </a:pPr>
            <a:r>
              <a:rPr sz="900" b="1">
                <a:solidFill>
                  <a:srgbClr val="0D9488"/>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Compile common inquiries and fixes and share them with agencies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0D9488"/>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0D9488"/>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0D9488"/>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0D9488"/>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(understand &amp; use)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Linked to motivation·re-enrollment</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gives 🌟 praise points (+1P) to students on the spot, and an end-of-class rating (+10P) adds up into the student's total points. Points lead to shop/gift rewards, helping motivation and re-enrollment. Your branch understands and uses this flow for performance.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The teacher gives +1P via the 🌟 praise button on a student's video during class.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It accrues live in the student's 🧺 point basket and sums into their total.</a:t>
            </a:r>
          </a:p>
          <a:p>
            <a:pPr>
              <a:lnSpc>
                <a:spcPct val="115000"/>
              </a:lnSpc>
              <a:spcAft>
                <a:spcPts val="600"/>
              </a:spcAft>
            </a:pPr>
            <a:r>
              <a:rPr sz="1050" b="1">
                <a:solidFill>
                  <a:srgbClr val="0D9488"/>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Points connect to shop/roulette/gift rewards.</a:t>
            </a:r>
          </a:p>
        </p:txBody>
      </p:sp>
      <p:sp>
        <p:nvSpPr>
          <p:cNvPr id="14" name="Rounded Rectangle 13"/>
          <p:cNvSpPr/>
          <p:nvPr/>
        </p:nvSpPr>
        <p:spPr>
          <a:xfrm>
            <a:off x="457200" y="4782312"/>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Instant rewards boost participation and re-enrollment.</a:t>
            </a:r>
          </a:p>
          <a:p>
            <a:pPr>
              <a:lnSpc>
                <a:spcPct val="115000"/>
              </a:lnSpc>
              <a:spcAft>
                <a:spcPts val="200"/>
              </a:spcAft>
            </a:pPr>
            <a:r>
              <a:rPr sz="900" b="1">
                <a:solidFill>
                  <a:srgbClr val="0D9488"/>
                </a:solidFill>
                <a:latin typeface="Malgun Gothic"/>
              </a:rPr>
              <a:t>● </a:t>
            </a:r>
            <a:r>
              <a:rPr sz="1100">
                <a:solidFill>
                  <a:srgbClr val="334155"/>
                </a:solidFill>
                <a:latin typeface="Malgun Gothic"/>
              </a:rPr>
              <a:t>Use your branch students' points/reward response as a performance signal.</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HQ (admin) configures the shop/reward/gift policy.</a:t>
            </a:r>
          </a:p>
        </p:txBody>
      </p:sp>
      <p:sp>
        <p:nvSpPr>
          <p:cNvPr id="19" name="Rounded Rectangle 18"/>
          <p:cNvSpPr/>
          <p:nvPr/>
        </p:nvSpPr>
        <p:spPr>
          <a:xfrm>
            <a:off x="457200" y="6629399"/>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Classes (teachers) where praise points flow well tend to have higher re-enrollment.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branch's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0D9488"/>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0D9488"/>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0D9488"/>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0D9488"/>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0D9488"/>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0D9488"/>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0D9488"/>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0D9488"/>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Press ‹ Collapse at the top of the left menu — it shrinks to an icon rail and the content gets wider.</a:t>
            </a:r>
          </a:p>
          <a:p>
            <a:pPr>
              <a:lnSpc>
                <a:spcPct val="115000"/>
              </a:lnSpc>
              <a:spcAft>
                <a:spcPts val="600"/>
              </a:spcAft>
            </a:pPr>
            <a:r>
              <a:rPr sz="1050" b="1">
                <a:solidFill>
                  <a:srgbClr val="0D9488"/>
                </a:solidFill>
                <a:latin typeface="Malgun Gothic"/>
              </a:rPr>
              <a:t>● </a:t>
            </a:r>
            <a:r>
              <a:rPr sz="1250">
                <a:solidFill>
                  <a:srgbClr val="334155"/>
                </a:solidFill>
                <a:latin typeface="Malgun Gothic"/>
              </a:rPr>
              <a:t>Press the › button in the same place to expand it again.</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 collapsed state is remembered for your next visit.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Too many menus to find one? Type its name into menu search at the top.</a:t>
            </a:r>
          </a:p>
        </p:txBody>
      </p:sp>
      <p:sp>
        <p:nvSpPr>
          <p:cNvPr id="14" name="Rounded Rectangle 13"/>
          <p:cNvSpPr/>
          <p:nvPr/>
        </p:nvSpPr>
        <p:spPr>
          <a:xfrm>
            <a:off x="457200" y="4782312"/>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Screens full of tables and lists gain a lot of horizontal space.</a:t>
            </a:r>
          </a:p>
          <a:p>
            <a:pPr>
              <a:lnSpc>
                <a:spcPct val="115000"/>
              </a:lnSpc>
              <a:spcAft>
                <a:spcPts val="200"/>
              </a:spcAft>
            </a:pPr>
            <a:r>
              <a:rPr sz="900" b="1">
                <a:solidFill>
                  <a:srgbClr val="0D9488"/>
                </a:solidFill>
                <a:latin typeface="Malgun Gothic"/>
              </a:rPr>
              <a:t>● </a:t>
            </a:r>
            <a:r>
              <a:rPr sz="1100">
                <a:solidFill>
                  <a:srgbClr val="334155"/>
                </a:solidFill>
                <a:latin typeface="Malgun Gothic"/>
              </a:rPr>
              <a:t>15 sub-pages were moved onto the same light theme, so the colour jump between screens is gone.</a:t>
            </a:r>
          </a:p>
          <a:p>
            <a:pPr>
              <a:lnSpc>
                <a:spcPct val="115000"/>
              </a:lnSpc>
              <a:spcAft>
                <a:spcPts val="200"/>
              </a:spcAft>
            </a:pPr>
            <a:r>
              <a:rPr sz="900" b="1">
                <a:solidFill>
                  <a:srgbClr val="0D9488"/>
                </a:solidFill>
                <a:latin typeface="Malgun Gothic"/>
              </a:rPr>
              <a:t>● </a:t>
            </a:r>
            <a:r>
              <a:rPr sz="1100">
                <a:solidFill>
                  <a:srgbClr val="334155"/>
                </a:solidFill>
                <a:latin typeface="Malgun Gothic"/>
              </a:rPr>
              <a:t>The collapse animation was removed so low-spec PCs don't stutter.</a:t>
            </a:r>
          </a:p>
        </p:txBody>
      </p:sp>
      <p:sp>
        <p:nvSpPr>
          <p:cNvPr id="17" name="Rounded Rectangle 16"/>
          <p:cNvSpPr/>
          <p:nvPr/>
        </p:nvSpPr>
        <p:spPr>
          <a:xfrm>
            <a:off x="457200" y="6208775"/>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If the account has a nationality on file, the right language appears automatically at login.</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To change it manually, press the 🌐 EN / KR button at the top.</a:t>
            </a:r>
          </a:p>
          <a:p>
            <a:pPr>
              <a:lnSpc>
                <a:spcPct val="115000"/>
              </a:lnSpc>
              <a:spcAft>
                <a:spcPts val="600"/>
              </a:spcAft>
            </a:pPr>
            <a:r>
              <a:rPr sz="1050" b="1">
                <a:solidFill>
                  <a:srgbClr val="0D9488"/>
                </a:solidFill>
                <a:latin typeface="Malgun Gothic"/>
              </a:rPr>
              <a:t>● </a:t>
            </a:r>
            <a:r>
              <a:rPr sz="1250">
                <a:solidFill>
                  <a:srgbClr val="334155"/>
                </a:solidFill>
                <a:latin typeface="Malgun Gothic"/>
              </a:rPr>
              <a:t>A manual choice is stored per account — several people can share one PC without interference.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Teacher guide slides and manuals switch to the English editions with it.</a:t>
            </a:r>
          </a:p>
        </p:txBody>
      </p:sp>
      <p:sp>
        <p:nvSpPr>
          <p:cNvPr id="14" name="Rounded Rectangle 13"/>
          <p:cNvSpPr/>
          <p:nvPr/>
        </p:nvSpPr>
        <p:spPr>
          <a:xfrm>
            <a:off x="457200" y="4782312"/>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Teacher accounts are always English — no more getting lost in a Korean screen.</a:t>
            </a:r>
          </a:p>
          <a:p>
            <a:pPr>
              <a:lnSpc>
                <a:spcPct val="115000"/>
              </a:lnSpc>
              <a:spcAft>
                <a:spcPts val="200"/>
              </a:spcAft>
            </a:pPr>
            <a:r>
              <a:rPr sz="900" b="1">
                <a:solidFill>
                  <a:srgbClr val="0D9488"/>
                </a:solidFill>
                <a:latin typeface="Malgun Gothic"/>
              </a:rPr>
              <a:t>● </a:t>
            </a:r>
            <a:r>
              <a:rPr sz="1100">
                <a:solidFill>
                  <a:srgbClr val="334155"/>
                </a:solidFill>
                <a:latin typeface="Malgun Gothic"/>
              </a:rPr>
              <a:t>Accounts with an English name no longer flip to Korean because of a Korean job title.</a:t>
            </a:r>
          </a:p>
          <a:p>
            <a:pPr>
              <a:lnSpc>
                <a:spcPct val="115000"/>
              </a:lnSpc>
              <a:spcAft>
                <a:spcPts val="200"/>
              </a:spcAft>
            </a:pPr>
            <a:r>
              <a:rPr sz="900" b="1">
                <a:solidFill>
                  <a:srgbClr val="0D9488"/>
                </a:solidFill>
                <a:latin typeface="Malgun Gothic"/>
              </a:rPr>
              <a:t>● </a:t>
            </a:r>
            <a:r>
              <a:rPr sz="110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Accounts with no nationality fall back to the old name/ID heuristic. Please fill in nationality when registering teachers.</a:t>
            </a:r>
          </a:p>
        </p:txBody>
      </p:sp>
      <p:sp>
        <p:nvSpPr>
          <p:cNvPr id="19" name="Rounded Rectangle 18"/>
          <p:cNvSpPr/>
          <p:nvPr/>
        </p:nvSpPr>
        <p:spPr>
          <a:xfrm>
            <a:off x="457200" y="6940295"/>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7724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0D948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0D9488"/>
                </a:solidFill>
                <a:latin typeface="Malgun Gothic"/>
              </a:rPr>
              <a:t>● </a:t>
            </a:r>
            <a:r>
              <a:rPr sz="1250">
                <a:solidFill>
                  <a:srgbClr val="334155"/>
                </a:solidFill>
                <a:latin typeface="Malgun Gothic"/>
              </a:rPr>
              <a:t>Send students and parents the enrolment link.</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They choose teacher → lesson options (weekly count, term, length) → days &amp; time.</a:t>
            </a:r>
          </a:p>
          <a:p>
            <a:pPr>
              <a:lnSpc>
                <a:spcPct val="115000"/>
              </a:lnSpc>
              <a:spcAft>
                <a:spcPts val="600"/>
              </a:spcAft>
            </a:pPr>
            <a:r>
              <a:rPr sz="1050" b="1">
                <a:solidFill>
                  <a:srgbClr val="0D9488"/>
                </a:solidFill>
                <a:latin typeface="Malgun Gothic"/>
              </a:rPr>
              <a:t>● </a:t>
            </a:r>
            <a:r>
              <a:rPr sz="1250">
                <a:solidFill>
                  <a:srgbClr val="334155"/>
                </a:solidFill>
                <a:latin typeface="Malgun Gothic"/>
              </a:rPr>
              <a:t>The slot check must pass before the pay button unlocks (payment is blocked on a clash).</a:t>
            </a:r>
          </a:p>
          <a:p>
            <a:pPr>
              <a:lnSpc>
                <a:spcPct val="115000"/>
              </a:lnSpc>
              <a:spcAft>
                <a:spcPts val="600"/>
              </a:spcAft>
            </a:pPr>
            <a:r>
              <a:rPr sz="1050" b="1">
                <a:solidFill>
                  <a:srgbClr val="0D9488"/>
                </a:solidFill>
                <a:latin typeface="Malgun Gothic"/>
              </a:rPr>
              <a:t>● </a:t>
            </a:r>
            <a:r>
              <a:rPr sz="1250">
                <a:solidFill>
                  <a:srgbClr val="334155"/>
                </a:solidFill>
                <a:latin typeface="Malgun Gothic"/>
              </a:rPr>
              <a:t>On confirmed payment, all sessions are created at once — verify in the admin lesson list.</a:t>
            </a:r>
          </a:p>
          <a:p>
            <a:pPr>
              <a:lnSpc>
                <a:spcPct val="115000"/>
              </a:lnSpc>
              <a:spcAft>
                <a:spcPts val="600"/>
              </a:spcAft>
            </a:pPr>
            <a:r>
              <a:rPr sz="1050" b="1">
                <a:solidFill>
                  <a:srgbClr val="0D9488"/>
                </a:solidFill>
                <a:latin typeface="Malgun Gothic"/>
              </a:rPr>
              <a:t>● </a:t>
            </a:r>
            <a:r>
              <a:rPr sz="1250">
                <a:solidFill>
                  <a:srgbClr val="334155"/>
                </a:solidFill>
                <a:latin typeface="Malgun Gothic"/>
              </a:rPr>
              <a:t>Head-office prices and discount rates are managed on the pricing screen.</a:t>
            </a:r>
          </a:p>
        </p:txBody>
      </p:sp>
      <p:sp>
        <p:nvSpPr>
          <p:cNvPr id="14" name="Rounded Rectangle 13"/>
          <p:cNvSpPr/>
          <p:nvPr/>
        </p:nvSpPr>
        <p:spPr>
          <a:xfrm>
            <a:off x="457200" y="5166360"/>
            <a:ext cx="5669280" cy="1316736"/>
          </a:xfrm>
          <a:prstGeom prst="roundRect">
            <a:avLst/>
          </a:prstGeom>
          <a:solidFill>
            <a:srgbClr val="F4F7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0D948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0D9488"/>
                </a:solidFill>
                <a:latin typeface="Malgun Gothic"/>
              </a:rPr>
              <a:t>● </a:t>
            </a:r>
            <a:r>
              <a:rPr sz="1100">
                <a:solidFill>
                  <a:srgbClr val="334155"/>
                </a:solidFill>
                <a:latin typeface="Malgun Gothic"/>
              </a:rPr>
              <a:t>Idempotent — a duplicated payment callback will not create the sessions twice.</a:t>
            </a:r>
          </a:p>
          <a:p>
            <a:pPr>
              <a:lnSpc>
                <a:spcPct val="115000"/>
              </a:lnSpc>
              <a:spcAft>
                <a:spcPts val="200"/>
              </a:spcAft>
            </a:pPr>
            <a:r>
              <a:rPr sz="900" b="1">
                <a:solidFill>
                  <a:srgbClr val="0D9488"/>
                </a:solidFill>
                <a:latin typeface="Malgun Gothic"/>
              </a:rPr>
              <a:t>● </a:t>
            </a:r>
            <a:r>
              <a:rPr sz="1100">
                <a:solidFill>
                  <a:srgbClr val="334155"/>
                </a:solidFill>
                <a:latin typeface="Malgun Gothic"/>
              </a:rPr>
              <a:t>Clashes with holidays or existing lessons are pushed back so the session count is still met.</a:t>
            </a:r>
          </a:p>
          <a:p>
            <a:pPr>
              <a:lnSpc>
                <a:spcPct val="115000"/>
              </a:lnSpc>
              <a:spcAft>
                <a:spcPts val="200"/>
              </a:spcAft>
            </a:pPr>
            <a:r>
              <a:rPr sz="900" b="1">
                <a:solidFill>
                  <a:srgbClr val="0D9488"/>
                </a:solidFill>
                <a:latin typeface="Malgun Gothic"/>
              </a:rPr>
              <a:t>● </a:t>
            </a:r>
            <a:r>
              <a:rPr sz="1100">
                <a:solidFill>
                  <a:srgbClr val="334155"/>
                </a:solidFill>
                <a:latin typeface="Malgun Gothic"/>
              </a:rPr>
              <a:t>Term discounts (6 months −5%, 12 months −10%) are applied to the amount automatically.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Stage 1 (enrol → pay → auto-create sessions) is live today. Later stages will follow.</a:t>
            </a:r>
          </a:p>
        </p:txBody>
      </p:sp>
      <p:sp>
        <p:nvSpPr>
          <p:cNvPr id="19" name="Rounded Rectangle 18"/>
          <p:cNvSpPr/>
          <p:nvPr/>
        </p:nvSpPr>
        <p:spPr>
          <a:xfrm>
            <a:off x="457200" y="7324344"/>
            <a:ext cx="5669280" cy="658368"/>
          </a:xfrm>
          <a:prstGeom prst="roundRect">
            <a:avLst/>
          </a:prstGeom>
          <a:solidFill>
            <a:srgbClr val="FFF7E6"/>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Consultation → level test → send the enrolment link is the smoothest conversion path.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Branch Features at a Glance</a:t>
            </a:r>
          </a:p>
        </p:txBody>
      </p:sp>
      <p:graphicFrame>
        <p:nvGraphicFramePr>
          <p:cNvPr id="9" name="Table 8"/>
          <p:cNvGraphicFramePr>
            <a:graphicFrameLocks noGrp="1"/>
          </p:cNvGraphicFramePr>
          <p:nvPr/>
        </p:nvGraphicFramePr>
        <p:xfrm>
          <a:off x="365760" y="1463040"/>
          <a:ext cx="11460175" cy="4114800"/>
        </p:xfrm>
        <a:graphic>
          <a:graphicData uri="http://schemas.openxmlformats.org/drawingml/2006/table">
            <a:tbl>
              <a:tblPr firstRow="1" bandRow="1">
                <a:tableStyleId>{5C22544A-7EE6-4342-B048-85BDC9FD1C3A}</a:tableStyleId>
              </a:tblPr>
              <a:tblGrid>
                <a:gridCol w="2865043"/>
                <a:gridCol w="2865043"/>
                <a:gridCol w="2865043"/>
                <a:gridCol w="2865046"/>
              </a:tblGrid>
              <a:tr h="514350">
                <a:tc>
                  <a:txBody>
                    <a:bodyPr/>
                    <a:lstStyle/>
                    <a:p>
                      <a:pPr algn="ctr"/>
                      <a:r>
                        <a:rPr sz="1300" b="1">
                          <a:solidFill>
                            <a:srgbClr val="FFFFFF"/>
                          </a:solidFill>
                          <a:latin typeface="Malgun Gothic"/>
                        </a:rPr>
                        <a:t>Feature</a:t>
                      </a:r>
                    </a:p>
                  </a:txBody>
                  <a:tcPr>
                    <a:solidFill>
                      <a:srgbClr val="0D9488"/>
                    </a:solidFill>
                  </a:tcPr>
                </a:tc>
                <a:tc>
                  <a:txBody>
                    <a:bodyPr/>
                    <a:lstStyle/>
                    <a:p>
                      <a:pPr algn="ctr"/>
                      <a:r>
                        <a:rPr sz="1300" b="1">
                          <a:solidFill>
                            <a:srgbClr val="FFFFFF"/>
                          </a:solidFill>
                          <a:latin typeface="Malgun Gothic"/>
                        </a:rPr>
                        <a:t>What it does</a:t>
                      </a:r>
                    </a:p>
                  </a:txBody>
                  <a:tcPr>
                    <a:solidFill>
                      <a:srgbClr val="0D9488"/>
                    </a:solidFill>
                  </a:tcPr>
                </a:tc>
                <a:tc>
                  <a:txBody>
                    <a:bodyPr/>
                    <a:lstStyle/>
                    <a:p>
                      <a:pPr algn="ctr"/>
                      <a:r>
                        <a:rPr sz="1300" b="1">
                          <a:solidFill>
                            <a:srgbClr val="FFFFFF"/>
                          </a:solidFill>
                          <a:latin typeface="Malgun Gothic"/>
                        </a:rPr>
                        <a:t>Scope</a:t>
                      </a:r>
                    </a:p>
                  </a:txBody>
                  <a:tcPr>
                    <a:solidFill>
                      <a:srgbClr val="0D9488"/>
                    </a:solidFill>
                  </a:tcPr>
                </a:tc>
                <a:tc>
                  <a:txBody>
                    <a:bodyPr/>
                    <a:lstStyle/>
                    <a:p>
                      <a:pPr algn="ctr"/>
                      <a:r>
                        <a:rPr sz="1300" b="1">
                          <a:solidFill>
                            <a:srgbClr val="FFFFFF"/>
                          </a:solidFill>
                          <a:latin typeface="Malgun Gothic"/>
                        </a:rPr>
                        <a:t>Core benefit</a:t>
                      </a:r>
                    </a:p>
                  </a:txBody>
                  <a:tcPr>
                    <a:solidFill>
                      <a:srgbClr val="0D9488"/>
                    </a:solidFill>
                  </a:tcPr>
                </a:tc>
              </a:tr>
              <a:tr h="514350">
                <a:tc>
                  <a:txBody>
                    <a:bodyPr/>
                    <a:lstStyle/>
                    <a:p>
                      <a:pPr algn="l"/>
                      <a:r>
                        <a:rPr sz="1200" b="1">
                          <a:solidFill>
                            <a:srgbClr val="334155"/>
                          </a:solidFill>
                          <a:latin typeface="Malgun Gothic"/>
                        </a:rPr>
                        <a:t>Branch dashboard</a:t>
                      </a:r>
                    </a:p>
                  </a:txBody>
                  <a:tcPr>
                    <a:solidFill>
                      <a:srgbClr val="FFFFFF"/>
                    </a:solidFill>
                  </a:tcPr>
                </a:tc>
                <a:tc>
                  <a:txBody>
                    <a:bodyPr/>
                    <a:lstStyle/>
                    <a:p>
                      <a:pPr algn="ctr"/>
                      <a:r>
                        <a:rPr sz="1200">
                          <a:solidFill>
                            <a:srgbClr val="334155"/>
                          </a:solidFill>
                          <a:latin typeface="Malgun Gothic"/>
                        </a:rPr>
                        <a:t>Revenue·enrollment·attendance</a:t>
                      </a:r>
                    </a:p>
                  </a:txBody>
                  <a:tcPr>
                    <a:solidFill>
                      <a:srgbClr val="FFFFFF"/>
                    </a:solidFill>
                  </a:tcPr>
                </a:tc>
                <a:tc>
                  <a:txBody>
                    <a:bodyPr/>
                    <a:lstStyle/>
                    <a:p>
                      <a:pPr algn="ctr"/>
                      <a:r>
                        <a:rPr sz="1200">
                          <a:solidFill>
                            <a:srgbClr val="334155"/>
                          </a:solidFill>
                          <a:latin typeface="Malgun Gothic"/>
                        </a:rPr>
                        <a:t>My branch</a:t>
                      </a:r>
                    </a:p>
                  </a:txBody>
                  <a:tcPr>
                    <a:solidFill>
                      <a:srgbClr val="FFFFFF"/>
                    </a:solidFill>
                  </a:tcPr>
                </a:tc>
                <a:tc>
                  <a:txBody>
                    <a:bodyPr/>
                    <a:lstStyle/>
                    <a:p>
                      <a:pPr algn="ctr"/>
                      <a:r>
                        <a:rPr sz="1200">
                          <a:solidFill>
                            <a:srgbClr val="334155"/>
                          </a:solidFill>
                          <a:latin typeface="Malgun Gothic"/>
                        </a:rPr>
                        <a:t>Quick read</a:t>
                      </a:r>
                    </a:p>
                  </a:txBody>
                  <a:tcPr>
                    <a:solidFill>
                      <a:srgbClr val="FFFFFF"/>
                    </a:solidFill>
                  </a:tcPr>
                </a:tc>
              </a:tr>
              <a:tr h="514350">
                <a:tc>
                  <a:txBody>
                    <a:bodyPr/>
                    <a:lstStyle/>
                    <a:p>
                      <a:pPr algn="l"/>
                      <a:r>
                        <a:rPr sz="1200" b="1">
                          <a:solidFill>
                            <a:srgbClr val="334155"/>
                          </a:solidFill>
                          <a:latin typeface="Malgun Gothic"/>
                        </a:rPr>
                        <a:t>Agency mgmt</a:t>
                      </a:r>
                    </a:p>
                  </a:txBody>
                  <a:tcPr>
                    <a:solidFill>
                      <a:srgbClr val="F8FAFC"/>
                    </a:solidFill>
                  </a:tcPr>
                </a:tc>
                <a:tc>
                  <a:txBody>
                    <a:bodyPr/>
                    <a:lstStyle/>
                    <a:p>
                      <a:pPr algn="ctr"/>
                      <a:r>
                        <a:rPr sz="1200">
                          <a:solidFill>
                            <a:srgbClr val="334155"/>
                          </a:solidFill>
                          <a:latin typeface="Malgun Gothic"/>
                        </a:rPr>
                        <a:t>List·performance·recruiting</a:t>
                      </a:r>
                    </a:p>
                  </a:txBody>
                  <a:tcPr>
                    <a:solidFill>
                      <a:srgbClr val="F8FAFC"/>
                    </a:solidFill>
                  </a:tcPr>
                </a:tc>
                <a:tc>
                  <a:txBody>
                    <a:bodyPr/>
                    <a:lstStyle/>
                    <a:p>
                      <a:pPr algn="ctr"/>
                      <a:r>
                        <a:rPr sz="1200">
                          <a:solidFill>
                            <a:srgbClr val="334155"/>
                          </a:solidFill>
                          <a:latin typeface="Malgun Gothic"/>
                        </a:rPr>
                        <a:t>Sub-agencies</a:t>
                      </a:r>
                    </a:p>
                  </a:txBody>
                  <a:tcPr>
                    <a:solidFill>
                      <a:srgbClr val="F8FAFC"/>
                    </a:solidFill>
                  </a:tcPr>
                </a:tc>
                <a:tc>
                  <a:txBody>
                    <a:bodyPr/>
                    <a:lstStyle/>
                    <a:p>
                      <a:pPr algn="ctr"/>
                      <a:r>
                        <a:rPr sz="1200">
                          <a:solidFill>
                            <a:srgbClr val="334155"/>
                          </a:solidFill>
                          <a:latin typeface="Malgun Gothic"/>
                        </a:rPr>
                        <a:t>Level up</a:t>
                      </a:r>
                    </a:p>
                  </a:txBody>
                  <a:tcPr>
                    <a:solidFill>
                      <a:srgbClr val="F8FAFC"/>
                    </a:solidFill>
                  </a:tcPr>
                </a:tc>
              </a:tr>
              <a:tr h="514350">
                <a:tc>
                  <a:txBody>
                    <a:bodyPr/>
                    <a:lstStyle/>
                    <a:p>
                      <a:pPr algn="l"/>
                      <a:r>
                        <a:rPr sz="1200" b="1">
                          <a:solidFill>
                            <a:srgbClr val="334155"/>
                          </a:solidFill>
                          <a:latin typeface="Malgun Gothic"/>
                        </a:rPr>
                        <a:t>Branch settlement</a:t>
                      </a:r>
                    </a:p>
                  </a:txBody>
                  <a:tcPr>
                    <a:solidFill>
                      <a:srgbClr val="FFFFFF"/>
                    </a:solidFill>
                  </a:tcPr>
                </a:tc>
                <a:tc>
                  <a:txBody>
                    <a:bodyPr/>
                    <a:lstStyle/>
                    <a:p>
                      <a:pPr algn="ctr"/>
                      <a:r>
                        <a:rPr sz="1200">
                          <a:solidFill>
                            <a:srgbClr val="334155"/>
                          </a:solidFill>
                          <a:latin typeface="Malgun Gothic"/>
                        </a:rPr>
                        <a:t>Receive·distribute auto-calc</a:t>
                      </a:r>
                    </a:p>
                  </a:txBody>
                  <a:tcPr>
                    <a:solidFill>
                      <a:srgbClr val="FFFFFF"/>
                    </a:solidFill>
                  </a:tcPr>
                </a:tc>
                <a:tc>
                  <a:txBody>
                    <a:bodyPr/>
                    <a:lstStyle/>
                    <a:p>
                      <a:pPr algn="ctr"/>
                      <a:r>
                        <a:rPr sz="1200">
                          <a:solidFill>
                            <a:srgbClr val="334155"/>
                          </a:solidFill>
                          <a:latin typeface="Malgun Gothic"/>
                        </a:rPr>
                        <a:t>HQ↔branch↔agency</a:t>
                      </a:r>
                    </a:p>
                  </a:txBody>
                  <a:tcPr>
                    <a:solidFill>
                      <a:srgbClr val="FFFFFF"/>
                    </a:solidFill>
                  </a:tcPr>
                </a:tc>
                <a:tc>
                  <a:txBody>
                    <a:bodyPr/>
                    <a:lstStyle/>
                    <a:p>
                      <a:pPr algn="ctr"/>
                      <a:r>
                        <a:rPr sz="1200">
                          <a:solidFill>
                            <a:srgbClr val="334155"/>
                          </a:solidFill>
                          <a:latin typeface="Malgun Gothic"/>
                        </a:rPr>
                        <a:t>Accurate settlement</a:t>
                      </a:r>
                    </a:p>
                  </a:txBody>
                  <a:tcPr>
                    <a:solidFill>
                      <a:srgbClr val="FFFFFF"/>
                    </a:solidFill>
                  </a:tcPr>
                </a:tc>
              </a:tr>
              <a:tr h="514350">
                <a:tc>
                  <a:txBody>
                    <a:bodyPr/>
                    <a:lstStyle/>
                    <a:p>
                      <a:pPr algn="l"/>
                      <a:r>
                        <a:rPr sz="1200" b="1">
                          <a:solidFill>
                            <a:srgbClr val="334155"/>
                          </a:solidFill>
                          <a:latin typeface="Malgun Gothic"/>
                        </a:rPr>
                        <a:t>Students·parents</a:t>
                      </a:r>
                    </a:p>
                  </a:txBody>
                  <a:tcPr>
                    <a:solidFill>
                      <a:srgbClr val="F8FAFC"/>
                    </a:solidFill>
                  </a:tcPr>
                </a:tc>
                <a:tc>
                  <a:txBody>
                    <a:bodyPr/>
                    <a:lstStyle/>
                    <a:p>
                      <a:pPr algn="ctr"/>
                      <a:r>
                        <a:rPr sz="1200">
                          <a:solidFill>
                            <a:srgbClr val="334155"/>
                          </a:solidFill>
                          <a:latin typeface="Malgun Gothic"/>
                        </a:rPr>
                        <a:t>Enrollment·attendance·grades</a:t>
                      </a:r>
                    </a:p>
                  </a:txBody>
                  <a:tcPr>
                    <a:solidFill>
                      <a:srgbClr val="F8FAFC"/>
                    </a:solidFill>
                  </a:tcPr>
                </a:tc>
                <a:tc>
                  <a:txBody>
                    <a:bodyPr/>
                    <a:lstStyle/>
                    <a:p>
                      <a:pPr algn="ctr"/>
                      <a:r>
                        <a:rPr sz="1200">
                          <a:solidFill>
                            <a:srgbClr val="334155"/>
                          </a:solidFill>
                          <a:latin typeface="Malgun Gothic"/>
                        </a:rPr>
                        <a:t>Branch scope</a:t>
                      </a:r>
                    </a:p>
                  </a:txBody>
                  <a:tcPr>
                    <a:solidFill>
                      <a:srgbClr val="F8FAFC"/>
                    </a:solidFill>
                  </a:tcPr>
                </a:tc>
                <a:tc>
                  <a:txBody>
                    <a:bodyPr/>
                    <a:lstStyle/>
                    <a:p>
                      <a:pPr algn="ctr"/>
                      <a:r>
                        <a:rPr sz="1200">
                          <a:solidFill>
                            <a:srgbClr val="334155"/>
                          </a:solidFill>
                          <a:latin typeface="Malgun Gothic"/>
                        </a:rPr>
                        <a:t>Churn prevention</a:t>
                      </a:r>
                    </a:p>
                  </a:txBody>
                  <a:tcPr>
                    <a:solidFill>
                      <a:srgbClr val="F8FAFC"/>
                    </a:solidFill>
                  </a:tcPr>
                </a:tc>
              </a:tr>
              <a:tr h="514350">
                <a:tc>
                  <a:txBody>
                    <a:bodyPr/>
                    <a:lstStyle/>
                    <a:p>
                      <a:pPr algn="l"/>
                      <a:r>
                        <a:rPr sz="1200" b="1">
                          <a:solidFill>
                            <a:srgbClr val="334155"/>
                          </a:solidFill>
                          <a:latin typeface="Malgun Gothic"/>
                        </a:rPr>
                        <a:t>Accounting</a:t>
                      </a:r>
                    </a:p>
                  </a:txBody>
                  <a:tcPr>
                    <a:solidFill>
                      <a:srgbClr val="FFFFFF"/>
                    </a:solidFill>
                  </a:tcPr>
                </a:tc>
                <a:tc>
                  <a:txBody>
                    <a:bodyPr/>
                    <a:lstStyle/>
                    <a:p>
                      <a:pPr algn="ctr"/>
                      <a:r>
                        <a:rPr sz="1200">
                          <a:solidFill>
                            <a:srgbClr val="334155"/>
                          </a:solidFill>
                          <a:latin typeface="Malgun Gothic"/>
                        </a:rPr>
                        <a:t>Payments·overdue·refunds</a:t>
                      </a:r>
                    </a:p>
                  </a:txBody>
                  <a:tcPr>
                    <a:solidFill>
                      <a:srgbClr val="FFFFFF"/>
                    </a:solidFill>
                  </a:tcPr>
                </a:tc>
                <a:tc>
                  <a:txBody>
                    <a:bodyPr/>
                    <a:lstStyle/>
                    <a:p>
                      <a:pPr algn="ctr"/>
                      <a:r>
                        <a:rPr sz="1200">
                          <a:solidFill>
                            <a:srgbClr val="334155"/>
                          </a:solidFill>
                          <a:latin typeface="Malgun Gothic"/>
                        </a:rPr>
                        <a:t>Branch scope</a:t>
                      </a:r>
                    </a:p>
                  </a:txBody>
                  <a:tcPr>
                    <a:solidFill>
                      <a:srgbClr val="FFFFFF"/>
                    </a:solidFill>
                  </a:tcPr>
                </a:tc>
                <a:tc>
                  <a:txBody>
                    <a:bodyPr/>
                    <a:lstStyle/>
                    <a:p>
                      <a:pPr algn="ctr"/>
                      <a:r>
                        <a:rPr sz="1200">
                          <a:solidFill>
                            <a:srgbClr val="334155"/>
                          </a:solidFill>
                          <a:latin typeface="Malgun Gothic"/>
                        </a:rPr>
                        <a:t>Healthy collection</a:t>
                      </a:r>
                    </a:p>
                  </a:txBody>
                  <a:tcPr>
                    <a:solidFill>
                      <a:srgbClr val="FFFFFF"/>
                    </a:solidFill>
                  </a:tcPr>
                </a:tc>
              </a:tr>
              <a:tr h="514350">
                <a:tc>
                  <a:txBody>
                    <a:bodyPr/>
                    <a:lstStyle/>
                    <a:p>
                      <a:pPr algn="l"/>
                      <a:r>
                        <a:rPr sz="1200" b="1">
                          <a:solidFill>
                            <a:srgbClr val="334155"/>
                          </a:solidFill>
                          <a:latin typeface="Malgun Gothic"/>
                        </a:rPr>
                        <a:t>Retention</a:t>
                      </a:r>
                    </a:p>
                  </a:txBody>
                  <a:tcPr>
                    <a:solidFill>
                      <a:srgbClr val="F8FAFC"/>
                    </a:solidFill>
                  </a:tcPr>
                </a:tc>
                <a:tc>
                  <a:txBody>
                    <a:bodyPr/>
                    <a:lstStyle/>
                    <a:p>
                      <a:pPr algn="ctr"/>
                      <a:r>
                        <a:rPr sz="1200">
                          <a:solidFill>
                            <a:srgbClr val="334155"/>
                          </a:solidFill>
                          <a:latin typeface="Malgun Gothic"/>
                        </a:rPr>
                        <a:t>Churn risk·contagion</a:t>
                      </a:r>
                    </a:p>
                  </a:txBody>
                  <a:tcPr>
                    <a:solidFill>
                      <a:srgbClr val="F8FAFC"/>
                    </a:solidFill>
                  </a:tcPr>
                </a:tc>
                <a:tc>
                  <a:txBody>
                    <a:bodyPr/>
                    <a:lstStyle/>
                    <a:p>
                      <a:pPr algn="ctr"/>
                      <a:r>
                        <a:rPr sz="1200">
                          <a:solidFill>
                            <a:srgbClr val="334155"/>
                          </a:solidFill>
                          <a:latin typeface="Malgun Gothic"/>
                        </a:rPr>
                        <a:t>Branch·agency</a:t>
                      </a:r>
                    </a:p>
                  </a:txBody>
                  <a:tcPr>
                    <a:solidFill>
                      <a:srgbClr val="F8FAFC"/>
                    </a:solidFill>
                  </a:tcPr>
                </a:tc>
                <a:tc>
                  <a:txBody>
                    <a:bodyPr/>
                    <a:lstStyle/>
                    <a:p>
                      <a:pPr algn="ctr"/>
                      <a:r>
                        <a:rPr sz="1200">
                          <a:solidFill>
                            <a:srgbClr val="334155"/>
                          </a:solidFill>
                          <a:latin typeface="Malgun Gothic"/>
                        </a:rPr>
                        <a:t>Retention ↑</a:t>
                      </a:r>
                    </a:p>
                  </a:txBody>
                  <a:tcPr>
                    <a:solidFill>
                      <a:srgbClr val="F8FAFC"/>
                    </a:solidFill>
                  </a:tcPr>
                </a:tc>
              </a:tr>
              <a:tr h="514350">
                <a:tc>
                  <a:txBody>
                    <a:bodyPr/>
                    <a:lstStyle/>
                    <a:p>
                      <a:pPr algn="l"/>
                      <a:r>
                        <a:rPr sz="1200" b="1">
                          <a:solidFill>
                            <a:srgbClr val="334155"/>
                          </a:solidFill>
                          <a:latin typeface="Malgun Gothic"/>
                        </a:rPr>
                        <a:t>Monthly report</a:t>
                      </a:r>
                    </a:p>
                  </a:txBody>
                  <a:tcPr>
                    <a:solidFill>
                      <a:srgbClr val="FFFFFF"/>
                    </a:solidFill>
                  </a:tcPr>
                </a:tc>
                <a:tc>
                  <a:txBody>
                    <a:bodyPr/>
                    <a:lstStyle/>
                    <a:p>
                      <a:pPr algn="ctr"/>
                      <a:r>
                        <a:rPr sz="1200">
                          <a:solidFill>
                            <a:srgbClr val="334155"/>
                          </a:solidFill>
                          <a:latin typeface="Malgun Gothic"/>
                        </a:rPr>
                        <a:t>Performance analysis</a:t>
                      </a:r>
                    </a:p>
                  </a:txBody>
                  <a:tcPr>
                    <a:solidFill>
                      <a:srgbClr val="FFFFFF"/>
                    </a:solidFill>
                  </a:tcPr>
                </a:tc>
                <a:tc>
                  <a:txBody>
                    <a:bodyPr/>
                    <a:lstStyle/>
                    <a:p>
                      <a:pPr algn="ctr"/>
                      <a:r>
                        <a:rPr sz="1200">
                          <a:solidFill>
                            <a:srgbClr val="334155"/>
                          </a:solidFill>
                          <a:latin typeface="Malgun Gothic"/>
                        </a:rPr>
                        <a:t>Branch·agency</a:t>
                      </a:r>
                    </a:p>
                  </a:txBody>
                  <a:tcPr>
                    <a:solidFill>
                      <a:srgbClr val="FFFFFF"/>
                    </a:solidFill>
                  </a:tcPr>
                </a:tc>
                <a:tc>
                  <a:txBody>
                    <a:bodyPr/>
                    <a:lstStyle/>
                    <a:p>
                      <a:pPr algn="ctr"/>
                      <a:r>
                        <a:rPr sz="1200">
                          <a:solidFill>
                            <a:srgbClr val="334155"/>
                          </a:solidFill>
                          <a:latin typeface="Malgun Gothic"/>
                        </a:rPr>
                        <a:t>Transparent ops</a:t>
                      </a:r>
                    </a:p>
                  </a:txBody>
                  <a:tcP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Enrollment by Agency (example)</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Settlement Split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By role (branch), only your branch's data shows automatically.</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Can I see other branches' data?</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No. By permission scope, only your branch and sub-agency data is visible.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How is settlement calculated?</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Revenue/commissions are auto-calculated down the org tree (HQ→branch→agency). Check the monthly report.</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An agency is underperforming.</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causes via retention/accounting/reports and support with onboarding/coaching/incentives; sharing best cases helps.</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0D9488"/>
                </a:solidFill>
                <a:latin typeface="Malgun Gothic"/>
              </a:rPr>
              <a:t>Q. A system problem occurred.</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Contact HQ support (phone·email·Kakao·remote) for a quick fix.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CFDF5"/>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0D9488"/>
                </a:solidFill>
                <a:latin typeface="Malgun Gothic"/>
              </a:rPr>
              <a:t>✅ Branch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branch revenue/enrollment/attendance?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spot and support underperforming agencies?</a:t>
            </a:r>
          </a:p>
        </p:txBody>
      </p:sp>
      <p:sp>
        <p:nvSpPr>
          <p:cNvPr id="13" name="Rounded Rectangle 12"/>
          <p:cNvSpPr/>
          <p:nvPr/>
        </p:nvSpPr>
        <p:spPr>
          <a:xfrm>
            <a:off x="457200" y="2779776"/>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review this month's settlement (receive·distribute)?</a:t>
            </a:r>
          </a:p>
        </p:txBody>
      </p:sp>
      <p:sp>
        <p:nvSpPr>
          <p:cNvPr id="15" name="Rounded Rectangle 14"/>
          <p:cNvSpPr/>
          <p:nvPr/>
        </p:nvSpPr>
        <p:spPr>
          <a:xfrm>
            <a:off x="457200" y="3346704"/>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overdue/refund items?</a:t>
            </a:r>
          </a:p>
        </p:txBody>
      </p:sp>
      <p:sp>
        <p:nvSpPr>
          <p:cNvPr id="17" name="Rounded Rectangle 16"/>
          <p:cNvSpPr/>
          <p:nvPr/>
        </p:nvSpPr>
        <p:spPr>
          <a:xfrm>
            <a:off x="457200" y="3913632"/>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at-risk students/agencies?</a:t>
            </a:r>
          </a:p>
        </p:txBody>
      </p:sp>
      <p:sp>
        <p:nvSpPr>
          <p:cNvPr id="19" name="Rounded Rectangle 18"/>
          <p:cNvSpPr/>
          <p:nvPr/>
        </p:nvSpPr>
        <p:spPr>
          <a:xfrm>
            <a:off x="457200" y="4480560"/>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onboard new agencies?</a:t>
            </a:r>
          </a:p>
        </p:txBody>
      </p:sp>
      <p:sp>
        <p:nvSpPr>
          <p:cNvPr id="21" name="Rounded Rectangle 20"/>
          <p:cNvSpPr/>
          <p:nvPr/>
        </p:nvSpPr>
        <p:spPr>
          <a:xfrm>
            <a:off x="457200" y="5047488"/>
            <a:ext cx="292608" cy="292608"/>
          </a:xfrm>
          <a:prstGeom prst="roundRect">
            <a:avLst/>
          </a:prstGeom>
          <a:solidFill>
            <a:srgbClr val="FFFFFF"/>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share the monthly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Branch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0D9488"/>
                </a:solidFill>
                <a:latin typeface="Malgun Gothic"/>
              </a:rPr>
              <a:t>🏁 Conclusion · A Practical Guide to Branch Growth</a:t>
            </a:r>
          </a:p>
        </p:txBody>
      </p:sp>
      <p:sp>
        <p:nvSpPr>
          <p:cNvPr id="9" name="Rounded Rectangle 8"/>
          <p:cNvSpPr/>
          <p:nvPr/>
        </p:nvSpPr>
        <p:spPr>
          <a:xfrm>
            <a:off x="365760" y="1371600"/>
            <a:ext cx="11430000" cy="868680"/>
          </a:xfrm>
          <a:prstGeom prst="round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A branch is the bridge between HQ and agencies. Watch your branch metrics, support your agencies to grow, and process settlement transparently — and the whole branch grows together. Keep this rhythm and operations get far more stable.</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0D9488"/>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revenue/enrollment/attendance on the branch dashboard; read the AI insight</a:t>
            </a:r>
          </a:p>
        </p:txBody>
      </p:sp>
      <p:sp>
        <p:nvSpPr>
          <p:cNvPr id="15" name="Rounded Rectangle 14"/>
          <p:cNvSpPr/>
          <p:nvPr/>
        </p:nvSpPr>
        <p:spPr>
          <a:xfrm>
            <a:off x="457200" y="32461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Review performance/collection by agency; check overdue/refunds</a:t>
            </a:r>
          </a:p>
        </p:txBody>
      </p:sp>
      <p:sp>
        <p:nvSpPr>
          <p:cNvPr id="18" name="Rounded Rectangle 17"/>
          <p:cNvSpPr/>
          <p:nvPr/>
        </p:nvSpPr>
        <p:spPr>
          <a:xfrm>
            <a:off x="457200" y="37033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Support/coach underperforming agencies; care for at-risk students (retention)</a:t>
            </a:r>
          </a:p>
        </p:txBody>
      </p:sp>
      <p:sp>
        <p:nvSpPr>
          <p:cNvPr id="21" name="Rounded Rectangle 20"/>
          <p:cNvSpPr/>
          <p:nvPr/>
        </p:nvSpPr>
        <p:spPr>
          <a:xfrm>
            <a:off x="457200" y="41605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Onboard new agencies; share best practices</a:t>
            </a:r>
          </a:p>
        </p:txBody>
      </p:sp>
      <p:sp>
        <p:nvSpPr>
          <p:cNvPr id="24" name="Rounded Rectangle 23"/>
          <p:cNvSpPr/>
          <p:nvPr/>
        </p:nvSpPr>
        <p:spPr>
          <a:xfrm>
            <a:off x="457200" y="4617720"/>
            <a:ext cx="1600200" cy="38404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Check/distribute HQ→branch→agency settlement; share the monthly report</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0D9488"/>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0D9488"/>
                </a:solidFill>
                <a:latin typeface="Malgun Gothic"/>
              </a:rPr>
              <a:t>● </a:t>
            </a:r>
            <a:r>
              <a:rPr sz="1100">
                <a:solidFill>
                  <a:srgbClr val="334155"/>
                </a:solidFill>
                <a:latin typeface="Malgun Gothic"/>
              </a:rPr>
              <a:t>Metrics, 5 minutes each morning — catch branch/agency signals early.</a:t>
            </a:r>
          </a:p>
          <a:p>
            <a:pPr>
              <a:lnSpc>
                <a:spcPct val="115000"/>
              </a:lnSpc>
              <a:spcAft>
                <a:spcPts val="500"/>
              </a:spcAft>
            </a:pPr>
            <a:r>
              <a:rPr sz="900" b="1">
                <a:solidFill>
                  <a:srgbClr val="0D9488"/>
                </a:solidFill>
                <a:latin typeface="Malgun Gothic"/>
              </a:rPr>
              <a:t>● </a:t>
            </a:r>
            <a:r>
              <a:rPr sz="1100">
                <a:solidFill>
                  <a:srgbClr val="334155"/>
                </a:solidFill>
                <a:latin typeface="Malgun Gothic"/>
              </a:rPr>
              <a:t>Agencies as partners — close performance gaps with coaching/support.</a:t>
            </a:r>
          </a:p>
          <a:p>
            <a:pPr>
              <a:lnSpc>
                <a:spcPct val="115000"/>
              </a:lnSpc>
              <a:spcAft>
                <a:spcPts val="500"/>
              </a:spcAft>
            </a:pPr>
            <a:r>
              <a:rPr sz="900" b="1">
                <a:solidFill>
                  <a:srgbClr val="0D9488"/>
                </a:solidFill>
                <a:latin typeface="Malgun Gothic"/>
              </a:rPr>
              <a:t>● </a:t>
            </a:r>
            <a:r>
              <a:rPr sz="1100">
                <a:solidFill>
                  <a:srgbClr val="334155"/>
                </a:solidFill>
                <a:latin typeface="Malgun Gothic"/>
              </a:rPr>
              <a:t>Transparent settlement — announcing terms upfront builds trust.</a:t>
            </a:r>
          </a:p>
          <a:p>
            <a:pPr>
              <a:lnSpc>
                <a:spcPct val="115000"/>
              </a:lnSpc>
              <a:spcAft>
                <a:spcPts val="500"/>
              </a:spcAft>
            </a:pPr>
            <a:r>
              <a:rPr sz="900" b="1">
                <a:solidFill>
                  <a:srgbClr val="0D9488"/>
                </a:solidFill>
                <a:latin typeface="Malgun Gothic"/>
              </a:rPr>
              <a:t>● </a:t>
            </a:r>
            <a:r>
              <a:rPr sz="1100">
                <a:solidFill>
                  <a:srgbClr val="334155"/>
                </a:solidFill>
                <a:latin typeface="Malgun Gothic"/>
              </a:rPr>
              <a:t>Intervene on churn early — care for at-risk agencies/students first.</a:t>
            </a:r>
          </a:p>
          <a:p>
            <a:pPr>
              <a:lnSpc>
                <a:spcPct val="115000"/>
              </a:lnSpc>
              <a:spcAft>
                <a:spcPts val="500"/>
              </a:spcAft>
            </a:pPr>
            <a:r>
              <a:rPr sz="900" b="1">
                <a:solidFill>
                  <a:srgbClr val="0D9488"/>
                </a:solidFill>
                <a:latin typeface="Malgun Gothic"/>
              </a:rPr>
              <a:t>● </a:t>
            </a:r>
            <a:r>
              <a:rPr sz="1100">
                <a:solidFill>
                  <a:srgbClr val="334155"/>
                </a:solidFill>
                <a:latin typeface="Malgun Gothic"/>
              </a:rPr>
              <a:t>Spread best practices — share top agencies' methods branch-wide.</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0D9488"/>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59E0B"/>
                </a:solidFill>
                <a:latin typeface="Malgun Gothic"/>
              </a:rPr>
              <a:t>● </a:t>
            </a:r>
            <a:r>
              <a:rPr sz="1050">
                <a:solidFill>
                  <a:srgbClr val="334155"/>
                </a:solidFill>
                <a:latin typeface="Malgun Gothic"/>
              </a:rPr>
              <a:t>Log in at admin.mangoi.co.kr; data is auto-limited to your branch scope</a:t>
            </a:r>
          </a:p>
          <a:p>
            <a:pPr>
              <a:lnSpc>
                <a:spcPct val="115000"/>
              </a:lnSpc>
              <a:spcAft>
                <a:spcPts val="400"/>
              </a:spcAft>
            </a:pPr>
            <a:r>
              <a:rPr sz="850" b="1">
                <a:solidFill>
                  <a:srgbClr val="F59E0B"/>
                </a:solidFill>
                <a:latin typeface="Malgun Gothic"/>
              </a:rPr>
              <a:t>● </a:t>
            </a:r>
            <a:r>
              <a:rPr sz="1050">
                <a:solidFill>
                  <a:srgbClr val="334155"/>
                </a:solidFill>
                <a:latin typeface="Malgun Gothic"/>
              </a:rPr>
              <a:t>Settlement is auto-calculated by the HQ→branch→agency tree</a:t>
            </a:r>
          </a:p>
          <a:p>
            <a:pPr>
              <a:lnSpc>
                <a:spcPct val="115000"/>
              </a:lnSpc>
              <a:spcAft>
                <a:spcPts val="400"/>
              </a:spcAft>
            </a:pPr>
            <a:r>
              <a:rPr sz="850" b="1">
                <a:solidFill>
                  <a:srgbClr val="F59E0B"/>
                </a:solidFill>
                <a:latin typeface="Malgun Gothic"/>
              </a:rPr>
              <a:t>● </a:t>
            </a:r>
            <a:r>
              <a:rPr sz="1050">
                <a:solidFill>
                  <a:srgbClr val="334155"/>
                </a:solidFill>
                <a:latin typeface="Malgun Gothic"/>
              </a:rPr>
              <a:t>Most field inquiries like 'can't enter' are browser/permission issues</a:t>
            </a:r>
          </a:p>
          <a:p>
            <a:pPr>
              <a:lnSpc>
                <a:spcPct val="115000"/>
              </a:lnSpc>
              <a:spcAft>
                <a:spcPts val="400"/>
              </a:spcAft>
            </a:pPr>
            <a:r>
              <a:rPr sz="850" b="1">
                <a:solidFill>
                  <a:srgbClr val="F59E0B"/>
                </a:solidFill>
                <a:latin typeface="Malgun Gothic"/>
              </a:rPr>
              <a:t>● </a:t>
            </a:r>
            <a:r>
              <a:rPr sz="1050">
                <a:solidFill>
                  <a:srgbClr val="334155"/>
                </a:solidFill>
                <a:latin typeface="Malgun Gothic"/>
              </a:rPr>
              <a:t>Ops rhythm: 'Check → Support → Settle → Report'!</a:t>
            </a:r>
          </a:p>
        </p:txBody>
      </p:sp>
      <p:sp>
        <p:nvSpPr>
          <p:cNvPr id="31" name="Rounded Rectangle 30"/>
          <p:cNvSpPr/>
          <p:nvPr/>
        </p:nvSpPr>
        <p:spPr>
          <a:xfrm>
            <a:off x="457200" y="6172200"/>
            <a:ext cx="11338560" cy="566928"/>
          </a:xfrm>
          <a:prstGeom prst="roundRect">
            <a:avLst/>
          </a:prstGeom>
          <a:solidFill>
            <a:srgbClr val="ECFDF5"/>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good branch is one that helps its agencies thrive. Read the situation with metrics, support your partners, and keep settlement transparent — and branch and agencies grow together. Questions? Contact HQ support anytime — cheering on your solid branch operations!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