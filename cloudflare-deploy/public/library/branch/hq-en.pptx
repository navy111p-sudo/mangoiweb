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0D9488"/>
              </a:solidFill>
            </c:spPr>
          </c:dPt>
          <c:dPt>
            <c:idx val="1"/>
            <c:spPr>
              <a:solidFill>
                <a:srgbClr val="0EA5E9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cat>
            <c:strRef>
              <c:f>Sheet1!$A$2:$A$4</c:f>
              <c:strCache>
                <c:ptCount val="3"/>
                <c:pt idx="0">
                  <c:v>Revenue (M KRW)</c:v>
                </c:pt>
                <c:pt idx="1">
                  <c:v>Enrolled</c:v>
                </c:pt>
                <c:pt idx="2">
                  <c:v>Sub-agencies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</c:v>
                </c:pt>
                <c:pt idx="1">
                  <c:v>980</c:v>
                </c:pt>
                <c:pt idx="2">
                  <c:v>12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0D9488"/>
              </a:solidFill>
            </c:spPr>
          </c:dPt>
          <c:dPt>
            <c:idx val="1"/>
            <c:spPr>
              <a:solidFill>
                <a:srgbClr val="0EA5E9"/>
              </a:solidFill>
            </c:spPr>
          </c:dPt>
          <c:dPt>
            <c:idx val="2"/>
            <c:spPr>
              <a:solidFill>
                <a:srgbClr val="14B8A6"/>
              </a:solidFill>
            </c:spPr>
          </c:dPt>
          <c:dPt>
            <c:idx val="3"/>
            <c:spPr>
              <a:solidFill>
                <a:srgbClr val="F59E0B"/>
              </a:solidFill>
            </c:spPr>
          </c:dPt>
          <c:dPt>
            <c:idx val="4"/>
            <c:spPr>
              <a:solidFill>
                <a:srgbClr val="64748B"/>
              </a:solidFill>
            </c:spPr>
          </c:dPt>
          <c:cat>
            <c:strRef>
              <c:f>Sheet1!$A$2:$A$6</c:f>
              <c:strCache>
                <c:ptCount val="5"/>
                <c:pt idx="0">
                  <c:v>Gangnam</c:v>
                </c:pt>
                <c:pt idx="1">
                  <c:v>Bundang</c:v>
                </c:pt>
                <c:pt idx="2">
                  <c:v>Ilsan</c:v>
                </c:pt>
                <c:pt idx="3">
                  <c:v>Suwon</c:v>
                </c:pt>
                <c:pt idx="4">
                  <c:v>Incheon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210</c:v>
                </c:pt>
                <c:pt idx="1">
                  <c:v>180</c:v>
                </c:pt>
                <c:pt idx="2">
                  <c:v>150</c:v>
                </c:pt>
                <c:pt idx="3">
                  <c:v>120</c:v>
                </c:pt>
                <c:pt idx="4">
                  <c:v>90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64748B"/>
              </a:solidFill>
            </c:spPr>
          </c:dPt>
          <c:dPt>
            <c:idx val="1"/>
            <c:spPr>
              <a:solidFill>
                <a:srgbClr val="0D9488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cat>
            <c:strRef>
              <c:f>Sheet1!$A$2:$A$4</c:f>
              <c:strCache>
                <c:ptCount val="3"/>
                <c:pt idx="0">
                  <c:v>HQ fee</c:v>
                </c:pt>
                <c:pt idx="1">
                  <c:v>Branch share</c:v>
                </c:pt>
                <c:pt idx="2">
                  <c:v>Agency distribution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</c:v>
                </c:pt>
                <c:pt idx="1">
                  <c:v>30</c:v>
                </c:pt>
                <c:pt idx="2">
                  <c:v>50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100">
              <a:latin typeface="Malgun Gothic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1097280"/>
            <a:ext cx="3840480" cy="3840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280160" y="5669280"/>
            <a:ext cx="2926080" cy="29260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097280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822960"/>
            <a:ext cx="246888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822960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D9488"/>
                </a:solidFill>
                <a:latin typeface="Malgun Gothic"/>
              </a:rPr>
              <a:t>🏢 BRANCH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Mangoi · MANGOI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7772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Malgun Gothic"/>
              </a:rPr>
              <a:t>Branch User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algun Gothic"/>
              </a:rPr>
              <a:t>Sub-agencies, settlement &amp; performance in one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Malgun Gothic"/>
              </a:rPr>
              <a:t>For · Regional branch operators   |   test.mangoi.co.kr</a:t>
            </a:r>
          </a:p>
        </p:txBody>
      </p:sp>
      <p:pic>
        <p:nvPicPr>
          <p:cNvPr id="12" name="Picture 11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245" y="3108960"/>
            <a:ext cx="4074369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Introduction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68680"/>
            <a:ext cx="11460175" cy="155448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058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9488"/>
                </a:solidFill>
                <a:latin typeface="Malgun Gothic"/>
              </a:rPr>
              <a:t>What is the Branch Admin Page?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334155"/>
                </a:solidFill>
                <a:latin typeface="Malgun Gothic"/>
              </a:rPr>
              <a:t>The branch page is where you manage your branch and its sub-agencies with authority delegated by HQ. When you log in, only 'my branch' data (revenue, enrollment, attendance, settlement) is shown automatically. You see your sub-agencies' performance at a glance and process the settlement that flows HQ ↔ branch ↔ agency. The layout is the same as the admin page — only the scope differs.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2852928"/>
            <a:ext cx="512064" cy="512064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0D9488"/>
                </a:solidFill>
                <a:latin typeface="Malgun Gothic"/>
              </a:rPr>
              <a:t>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My-branch scope, automatic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Just log in and see only your branch's data.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1587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8747" y="2852928"/>
            <a:ext cx="512064" cy="512064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8747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0D9488"/>
                </a:solidFill>
                <a:latin typeface="Malgun Gothic"/>
              </a:rPr>
              <a:t>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78827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Manage sub-agencies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78827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Agency list, performance and recruiting in one place.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3813048"/>
            <a:ext cx="512064" cy="512064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0D9488"/>
                </a:solidFill>
                <a:latin typeface="Malgun Gothic"/>
              </a:rPr>
              <a:t>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HQ→branch→agency settlement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Receipt/distribution auto-calculated by the tree.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1587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8747" y="3813048"/>
            <a:ext cx="512064" cy="512064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8747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0D9488"/>
                </a:solidFill>
                <a:latin typeface="Malgun Gothic"/>
              </a:rPr>
              <a:t>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78827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Performance reports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78827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Branch/agency performance in a monthly report.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7548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D9488"/>
                </a:solidFill>
                <a:latin typeface="Malgun Gothic"/>
              </a:rPr>
              <a:t>Your Branch Metrics (example)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365760" y="5074920"/>
          <a:ext cx="5669280" cy="1554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Rectangle 30"/>
          <p:cNvSpPr/>
          <p:nvPr/>
        </p:nvSpPr>
        <p:spPr>
          <a:xfrm>
            <a:off x="7470648" y="4654296"/>
            <a:ext cx="3255264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dmin_log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512" y="4709160"/>
            <a:ext cx="3145536" cy="1965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🔐 Branch Login &amp; Permissions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Only my branch's data shows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Logging in with a branch account shows only 'my branch' menus and data. HQ-wide or other branches' data isn't visible, so you can focus on your branch with peace of mind.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Log in with ID and password (Kakao, Naver, Google also work).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On login, menus/data for your role (branch) are applied automatically.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Forgot your password? Reset via 'Find password'.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You can split permission scope among staff.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Only your branch and sub-agency data shows.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Turn on 'Save ID' only on your own trusted PC.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On shared PCs, turn off auto-login and always log out when done.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log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👤 My Page &amp; Admin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Open the management screen from My Page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Branch operations start from 'My Page.' After logging in, press the 📊 'Admin' button in the My Page menu to enter the branch-scope admin (operations) dashboard, where you manage revenue, enrollment, agencies and settlement.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After logging in, open '👤 My Page'.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Press the 📊 'Admin' button in the My Page menu. (goes to the admin dashboard)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On the admin dashboard, check your branch revenue, enrollment, attendance and sub-agencies.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My Page also has postpone/change, new inquiry, all-menu, pre-check and more.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If text looks English, use the EN button to switch language.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One 'Admin' button takes you straight to the operations dashboard.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All dashboard data is auto-totaled to 'your branch scope'.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Menus and data are set automatically by your role (branch).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Good to know · My Page and the admin dashboard open only within the logged-in branch account's permission scope.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3243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3700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Each day, spend 5 minutes: My Page → Admin dashboard → check branch metrics.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700458"/>
            <a:ext cx="2761488" cy="45124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ypage_men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755322"/>
            <a:ext cx="2651760" cy="341514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9134856" y="2042541"/>
            <a:ext cx="2761488" cy="176707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dmin_dashboar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2097405"/>
            <a:ext cx="2651760" cy="165734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🏠 Branch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Your branch status at a glance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On login, your branch's revenue, enrollment and attendance plus sub-agency status are organized as cards. Type a word in the top search box to jump right to a feature.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today's revenue, enrollment and attendance (your branch total) at the top.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Tap features from the category cards (agencies, teachers, accounting, students, content).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Type a word in the feature search box to jump right there.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The AI insight summarizes your branch status.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All numbers are auto-totaled to 'your branch scope'.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If a feature is hard to find, search is fastest.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A 5-minute morning check of branch metrics catches warning signs early.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Using the AI Assistant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Look up/act by voice or 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Speak or type into the search/mic and the AI looks up numbers or opens screens within your branch scope. Important actions are confirmed first, and it only does what you're permitted.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Speak or type into the center search/mic. e.g. 'How's the branch revenue this month?'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The AI looks up numbers or opens a screen. e.g. 'Open the agency list.'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Important actions are confirmed with 'Shall I?' first.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The assistant only executes what you're permitted.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When busy, voice is much faster.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Results are limited to your branch scope.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Just say 'show me/open ○○' to jump to the screen you want.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🏬 Manage Sub-agencies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List, performance, recruiting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Manage the agencies under your branch as a list and compare each agency's enrollment, revenue and performance. Recruiting and onboarding new agencies is handled here too.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each agency's enrollment, revenue and activity in the agency list.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Compare strong/weak agencies to set support priorities.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Manage new-agency recruiting/onboarding progress.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Set goals/incentives per agency if needed.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Link agencies with big performance gaps to coaching/support.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Share top agencies' methods with the others.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Good to know · Agency data is also managed by each agency's own login; the branch sees the whole picture.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Sharing a monthly performance report at month-start boosts partner motivation.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menu_stu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🌳 Branch Settlement (receive &amp; distribute)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HQ→branch→agency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Receive the settlement coming from HQ to your branch and check the amount distributed from the branch to sub-agencies. Revenue and commissions are auto-calculated down the org tree.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HQ→branch settlement (received) by month.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Branch→agency distribution is auto-calculated by the tree.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Review/save the settlement in a monthly report (PDF).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If an item looks off, look up the details to confirm.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Settlement is auto-calculated down the org tree (HQ·branch·agency).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Distributing the settlement report early builds agency trust.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Announcing settlement terms (rate·timing) to agencies in advance reduces disputes.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onthly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🧑‍🎓 Student · Parent Status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Branch-scope enrollment·attendance·grades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Check the status of students in your branch (enrollment, attendance, grades). View by agency or as a branch total.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branch-scope enrolled students in Students/Parents.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Compare attendance/grades by agency and overall.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Flag students/agencies that need attention.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student list is linked to real member data.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At-risk students link to the Retention Center.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Find agencies whose attendance/enrollment is dipping and support them quickly.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enu_stu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💳 Payments·Overdue·Refunds (branch)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Branch-scope accounting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Check payments, overdue and refunds in your branch scope and review amounts auto-calculated by policy. Also see collection status by agency.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branch-scope payments/overdue/refunds in Accounting/Points.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Compare collection rate by agency.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Amounts are auto-calculated per the refund table.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Strengthen alerts/support for agencies with high overdue.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Discounted-payment refunds recalc at list price.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Advise agencies with low collection to automate reminders.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ref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🧲 Branch Retention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Churn risk·contagion·coaching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Find at-risk students across your branch/agencies early and prevent chain churn through family/referral. It ties into agency and teacher coaching.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Find at-risk students/agencies with the churn-risk graph.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Prevent chain churn with the contagion network.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Link high-risk spots to alert-talk/counseling/coaching.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Intervening early raises retention.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Compare churn patterns by agency to support them.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Just caring weekly for the top at-risk agencies/students noticeably cuts churn.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📊 Monthly Report·Performance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Branch·agency performance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Summarize your branch and sub-agencies' performance in a monthly report. See revenue, enrollment, attendance and settlement at a glance and save/print to share.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branch/agency performance with the monthly report.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Compare metrics (revenue·enrollment·attendance·settlement) vs prior month/year.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Save the report as print/PDF to share.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AI insight helps summarize performance.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report also works as agency motivation material.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Making monthly report sharing routine keeps branch operations transparent.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onthly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🎓 Agency Support·Training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Onboarding·ops coaching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Support sub-agencies to operate well with onboarding and ops coaching. Guide the user guide/FAQ/support channels and share best practices.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Guide new agencies to the user guide·ops guide.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Organize frequent questions into an FAQ and distribute.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Share top-agency cases to level everyone up.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Early onboarding largely decides an agency's success.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Turn repeat questions into FAQ to cut support load.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Quarterly agency meetings help review performance and pain points together.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cont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🎧 Support·Inquiries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Get HQ support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If a problem comes up in operations, contact HQ support channels. System/settlement/policy questions get resolved quickly.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Use phone, email, Kakao and remote support in Support.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Route settlement/policy questions to the HQ contact.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Note the fix for repeat issues.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System issues resolve fast with remote support.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Inquiries within business hours are faster.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Compile common inquiries and fixes and share them with agencies too.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cont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🕐 Korea·Philippines Dual Clock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Two countries' time on screen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A clock on screen shows 🇰🇷 Korea and 🇵🇭 Philippines time together. It lets you check the time difference instantly when coordinating lessons between Philippine teachers and Korean students.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On the on-screen dual clock, see 🇰🇷 Korea and 🇵🇭 Philippines time at once.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Drag the clock to move it anywhere you like.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Tap (click) the clock to go to the home 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Philippines is 1 hour behind Korea (−1 hour).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You can check booking/entry times in both countries' time.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When a lesson time is confusing due to the time difference, this clock clears it up instantly.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56264"/>
            <a:ext cx="5596128" cy="351707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world_clo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11128"/>
            <a:ext cx="5486400" cy="340734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🇨🇳 Chinese Pronunciation Coach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Darakwon Chinese Master Lv1–20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Mangoi offers not only English but also a Chinese course. With a Darakwon Chinese Master (Lv 1–20) pronunciation coach (characters+pinyin, AI voice recognition, native comparison), you can attract and manage students who want Chinese.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In the AI voice coach, pick the CN Chinese level (or go to the Chinese pronunciation coach).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Choose a Master series (1–6, HSK 1–6) and a unit.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Read the sentence (characters + pinyin) and compare with 'Play native audio'.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Practice hard sounds/tones with repeat and slow (0.85x).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Characters and pinyin appear together, so it's easy to read.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AI recognizes your voice and compares it to a native speaker.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learning games hub supports Chinese too.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Listen slowly and repeat clearly to nail the four tones.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peechcoach_c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🌟 In-class Praise Points (understand &amp; use)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Linked to motivation·re-enrollment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During class the teacher gives 🌟 praise points (+1P) to students on the spot, and an end-of-class rating (+10P) adds up into the student's total points. Points lead to shop/gift rewards, helping motivation and re-enrollment. Your branch understands and uses this flow for performance.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The teacher gives +1P via the 🌟 praise button on a student's video during class.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It accrues live in the student's 🧺 point basket and sums into their total.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 post-class star rating gives the student an extra +10P.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Points connect to shop/roulette/gift rewards.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Instant rewards boost participation and re-enrollment.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Use your branch students' points/reward response as a performance signal.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Good to know · Teachers give praise points; HQ (admin) configures the shop/reward/gift policy.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Classes (teachers) where praise points flow well tend to have higher re-enrollment.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3266070"/>
            <a:ext cx="5596128" cy="169745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ass_prai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320934"/>
            <a:ext cx="5486400" cy="15877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📢 Notice Studio (Poster + Popup)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Design notice/event posters and push them as app popups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This merges the old ‘Poster Maker’ and ‘Popup Notice’ tools into one place. In the ①Create tab you design a notice/event poster, then hand it straight to the ②Publish·Popup tab to show it as a popup in your branch's student app.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Go to the admin menu Notification Center → 📢 Notice Studio.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In the ①Create tab, design a poster with text, images, and video (resize · save on server · reuse).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Press ‘📢 Publish as popup’ on the finished poster to auto-switch to the ②Publish·Popup tab.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In the publish tab, set the display period / stop and publish it as a student-app popup.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Poster creation and popup publishing flow through one screen, two tabs — no more confusion.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Posters you make can be saved and reused.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Whichever route you enter from — AI assistant or sidebar search — the correct tab opens.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Good to know · Existing posters/popups are preserved (it was only merged, nothing was deleted).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Promoting an event takes just one flow: ‘Create → Publish as popup’ right away.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noticestud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Command the AI Operations Assistant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Navigate with one phrase: “Take me to ○○”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Type what you want to do into the top search bar (or the bottom-right AI assistant) in plain language, and the AI understands and jumps straight to that screen. It now reliably follows navigation commands like ‘Take me to teacher ○○'s schedule’ or ‘Open auto-scheduling’.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Type a command in the top search bar or speak with the 🎤 mic.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e.g. “Take me to teacher Kim Minji's schedule” → auto-finds that teacher in the weekly schedule and opens it.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e.g. “Open auto-scheduling,” “Go to settlement” to navigate menus.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Press ‘Go now →’ on the AI response card to move to that 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Navigation commands actually navigate — far fewer ‘explain only, do nothing’ replies.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Searching a schedule by teacher name auto-fills the search box + filters + scrolls.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For data/statistics questions it also helps with card-style answers.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Good to know · Commands that actually change things — ‘register · send · modify’ — ask for one more confirmation (a safety guard).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When you can't recall a menu name, just say what you want to do — it finds its way there.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aicomma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Feature Summary ·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📋 Branch Features at a Glance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63040"/>
          <a:ext cx="1146017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043"/>
                <a:gridCol w="2865043"/>
                <a:gridCol w="2865043"/>
                <a:gridCol w="2865046"/>
              </a:tblGrid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Feature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What it does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Scope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Core benefit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Branch dashboard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Revenue·enrollment·attendance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My branch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Quick read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Agency mgmt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List·performance·recruiting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Sub-agencies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Level up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Branch settlement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Receive·distribute auto-calc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HQ↔branch↔agency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Accurate settlement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Students·parents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Enrollment·attendance·grades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Branch scope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Churn prevention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Accounting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Payments·overdue·refunds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Branch scope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Healthy collection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Retention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Churn risk·contagion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Branch·agency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Retention 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Monthly report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Performance 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Branch·agency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Transparent 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Data at a Glance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📊 Data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Enrollment by Agency (example)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Settlement Split (example)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0936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Frequently Asked Questions (FAQ)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❓ Frequently Asked Questions (FAQ)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54480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Where do I log 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Log in at admin.mangoi.co.kr. By role (branch), only your branch's data shows automatically.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542032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615184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Can I see other branches' data?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53512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No. By permission scope, only your branch and sub-agency data is visible.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529584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602736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How is settlement calculated?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41064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Revenue/commissions are auto-calculated down the org tree (HQ→branch→agency). Check the monthly report.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517136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590288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An agency is underperforming.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28616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Find causes via retention/accounting/reports and support with onboarding/coaching/incentives; sharing best cases helps.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5504688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57784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A system problem occurred.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916168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Contact HQ support (phone·email·Kakao·remote) for a quick fix.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Checklist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✅ Branch Operations Checklist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4592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8191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check today's branch revenue/enrollment/attendance?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1284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spot and support underperforming agencies?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779776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715768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review this month's settlement (receive·distribute)?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46704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282696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check overdue/refund items?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913632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849624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care for at-risk students/agencies?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48056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41655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onboard new agencies?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04748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98348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share the monthly report?</a:t>
            </a:r>
          </a:p>
        </p:txBody>
      </p:sp>
      <p:pic>
        <p:nvPicPr>
          <p:cNvPr id="21" name="Picture 20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162" y="4480559"/>
            <a:ext cx="2489892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229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9488"/>
                </a:solidFill>
                <a:latin typeface="Malgun Gothic"/>
              </a:rPr>
              <a:t>🏁 Conclusion · A Practical Guide to Branch Growth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11430000" cy="86868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2646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4155"/>
                </a:solidFill>
                <a:latin typeface="Malgun Gothic"/>
              </a:rPr>
              <a:t>A branch is the bridge between HQ and agencies. Watch your branch metrics, support your agencies to grow, and process settlement transparently — and the whole branch grows together. Keep this rhythm and operations get far more stable.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🔄 The Flow at a Glance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889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7889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Morning (5 min)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7706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Check revenue/enrollment/attendance on the branch dashboard; read the AI insight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461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2461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Late morning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2278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Review performance/collection by agency; check overdue/refunds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033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7033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Afternoon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36850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Support/coach underperforming agencies; care for at-risk students (retention)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1605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1605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Weekly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1422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Onboard new agencies; share best practices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177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6177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Monthly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45994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Check/distribute HQ→branch→agency settlement; share the monthly report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42316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⭐ Key Principles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788920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Metrics, 5 minutes each morning — catch branch/agency signals early.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Agencies as partners — close performance gaps with coaching/support.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Transparent settlement — announcing terms upfront builds trust.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Intervene on churn early — care for at-risk agencies/students first.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Spread best practices — share top agencies' methods branch-wide.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89204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📌 Remember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257800"/>
            <a:ext cx="5394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59E0B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Log in at admin.mangoi.co.kr; data is auto-limited to your branch scope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59E0B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Settlement is auto-calculated by the HQ→branch→agency tree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59E0B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Most field inquiries like 'can't enter' are browser/permission issues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59E0B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Ops rhythm: 'Check → Support → Settle → Report'!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172200"/>
            <a:ext cx="11338560" cy="56692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208776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5B4A2A"/>
                </a:solidFill>
                <a:latin typeface="Malgun Gothic"/>
              </a:rPr>
              <a:t>🍊 A good branch is one that helps its agencies thrive. Read the situation with metrics, support your partners, and keep settlement transparent — and branch and agencies grow together. Questions? Contact HQ support anytime — cheering on your solid branch operations! 🍊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A5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4572000"/>
            <a:ext cx="3657600" cy="365760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194560"/>
            <a:ext cx="12191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algun Gothic"/>
              </a:rPr>
              <a:t>Let's grow together with Mangoi!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2918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Malgun Gothic"/>
              </a:rPr>
              <a:t>Questions? Ask the on-site A.i assistant or contact customer support.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Malgun Gothic"/>
              </a:rPr>
              <a:t>🌐 test.mangoi.co.kr    📞 1588-0000    ✉ support@mangoi.co.kr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