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0D9488"/>
              </a:solidFill>
            </c:spPr>
          </c:dPt>
          <c:dPt>
            <c:idx val="1"/>
            <c:spPr>
              <a:solidFill>
                <a:srgbClr val="0EA5E9"/>
              </a:solidFill>
            </c:spPr>
          </c:dPt>
          <c:dPt>
            <c:idx val="2"/>
            <c:spPr>
              <a:solidFill>
                <a:srgbClr val="F59E0B"/>
              </a:solidFill>
            </c:spPr>
          </c:dPt>
          <c:cat>
            <c:strRef>
              <c:f>Sheet1!$A$2:$A$4</c:f>
              <c:strCache>
                <c:ptCount val="3"/>
                <c:pt idx="0">
                  <c:v>Revenue (M KRW)</c:v>
                </c:pt>
                <c:pt idx="1">
                  <c:v>Enrolled</c:v>
                </c:pt>
                <c:pt idx="2">
                  <c:v>Sub-agencies</c:v>
                </c:pt>
              </c:strCache>
            </c:strRef>
          </c:cat>
          <c:val>
            <c:numRef>
              <c:f>Sheet1!$B$2:$B$4</c:f>
              <c:numCache>
                <c:formatCode>General</c:formatCode>
                <c:ptCount val="3"/>
                <c:pt idx="0">
                  <c:v>64</c:v>
                </c:pt>
                <c:pt idx="1">
                  <c:v>980</c:v>
                </c:pt>
                <c:pt idx="2">
                  <c:v>12</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0D9488"/>
              </a:solidFill>
            </c:spPr>
          </c:dPt>
          <c:dPt>
            <c:idx val="1"/>
            <c:spPr>
              <a:solidFill>
                <a:srgbClr val="0EA5E9"/>
              </a:solidFill>
            </c:spPr>
          </c:dPt>
          <c:dPt>
            <c:idx val="2"/>
            <c:spPr>
              <a:solidFill>
                <a:srgbClr val="14B8A6"/>
              </a:solidFill>
            </c:spPr>
          </c:dPt>
          <c:dPt>
            <c:idx val="3"/>
            <c:spPr>
              <a:solidFill>
                <a:srgbClr val="F59E0B"/>
              </a:solidFill>
            </c:spPr>
          </c:dPt>
          <c:dPt>
            <c:idx val="4"/>
            <c:spPr>
              <a:solidFill>
                <a:srgbClr val="64748B"/>
              </a:solidFill>
            </c:spPr>
          </c:dPt>
          <c:cat>
            <c:strRef>
              <c:f>Sheet1!$A$2:$A$6</c:f>
              <c:strCache>
                <c:ptCount val="5"/>
                <c:pt idx="0">
                  <c:v>Gangnam</c:v>
                </c:pt>
                <c:pt idx="1">
                  <c:v>Bundang</c:v>
                </c:pt>
                <c:pt idx="2">
                  <c:v>Ilsan</c:v>
                </c:pt>
                <c:pt idx="3">
                  <c:v>Suwon</c:v>
                </c:pt>
                <c:pt idx="4">
                  <c:v>Incheon</c:v>
                </c:pt>
              </c:strCache>
            </c:strRef>
          </c:cat>
          <c:val>
            <c:numRef>
              <c:f>Sheet1!$B$2:$B$6</c:f>
              <c:numCache>
                <c:formatCode>General</c:formatCode>
                <c:ptCount val="5"/>
                <c:pt idx="0">
                  <c:v>210</c:v>
                </c:pt>
                <c:pt idx="1">
                  <c:v>180</c:v>
                </c:pt>
                <c:pt idx="2">
                  <c:v>150</c:v>
                </c:pt>
                <c:pt idx="3">
                  <c:v>120</c:v>
                </c:pt>
                <c:pt idx="4">
                  <c:v>90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64748B"/>
              </a:solidFill>
            </c:spPr>
          </c:dPt>
          <c:dPt>
            <c:idx val="1"/>
            <c:spPr>
              <a:solidFill>
                <a:srgbClr val="0D9488"/>
              </a:solidFill>
            </c:spPr>
          </c:dPt>
          <c:dPt>
            <c:idx val="2"/>
            <c:spPr>
              <a:solidFill>
                <a:srgbClr val="F59E0B"/>
              </a:solidFill>
            </c:spPr>
          </c:dPt>
          <c:cat>
            <c:strRef>
              <c:f>Sheet1!$A$2:$A$4</c:f>
              <c:strCache>
                <c:ptCount val="3"/>
                <c:pt idx="0">
                  <c:v>HQ fee</c:v>
                </c:pt>
                <c:pt idx="1">
                  <c:v>Branch share</c:v>
                </c:pt>
                <c:pt idx="2">
                  <c:v>Agency distribution</c:v>
                </c:pt>
              </c:strCache>
            </c:strRef>
          </c:cat>
          <c:val>
            <c:numRef>
              <c:f>Sheet1!$B$2:$B$4</c:f>
              <c:numCache>
                <c:formatCode>General</c:formatCode>
                <c:ptCount val="3"/>
                <c:pt idx="0">
                  <c:v>20</c:v>
                </c:pt>
                <c:pt idx="1">
                  <c:v>30</c:v>
                </c:pt>
                <c:pt idx="2">
                  <c:v>50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766E"/>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0D9488"/>
                </a:solidFill>
                <a:latin typeface="Malgun Gothic"/>
              </a:rPr>
              <a:t>🏢 BRANCH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Branch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Sub-agencies, settlement &amp; performance in one book</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Regional branch operators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0D9488"/>
                </a:solidFill>
                <a:latin typeface="Malgun Gothic"/>
              </a:rPr>
              <a:t>What is the Branch Admin Page?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The branch page is where you manage your branch and its sub-agencies with authority delegated by HQ. When you log in, only 'my branch' data (revenue, enrollment, attendance, settlement) is shown automatically. You see your sub-agencies' performance at a glance and process the settlement that flows HQ ↔ branch ↔ agency. The layout is the same as the admin page — only the scope differs.</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0D9488"/>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My-branch scope, automatic</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Just log in and see only your branch's data.</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0D9488"/>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Manage sub-agencies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Agency list, performance and recruiting in one place.</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0D9488"/>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HQ→branch→agency settlement</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Receipt/distribution auto-calculated by the tree.</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0D9488"/>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Performance reports</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Branch/agency performance in a monthly report.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0D9488"/>
                </a:solidFill>
                <a:latin typeface="Malgun Gothic"/>
              </a:rPr>
              <a:t>Your Branch Metrics (example)</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0D9488"/>
                </a:solidFill>
                <a:latin typeface="Malgun Gothic"/>
              </a:rPr>
              <a:t>📑 Contents  (1/2)</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Introduction</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a:t>
            </a:r>
          </a:p>
        </p:txBody>
      </p:sp>
      <p:sp>
        <p:nvSpPr>
          <p:cNvPr id="9" name="Rounded Rectangle 8"/>
          <p:cNvSpPr/>
          <p:nvPr/>
        </p:nvSpPr>
        <p:spPr>
          <a:xfrm>
            <a:off x="411480" y="175564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Branch Login &amp; Permissions</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5</a:t>
            </a:r>
          </a:p>
        </p:txBody>
      </p:sp>
      <p:sp>
        <p:nvSpPr>
          <p:cNvPr id="13" name="Rounded Rectangle 12"/>
          <p:cNvSpPr/>
          <p:nvPr/>
        </p:nvSpPr>
        <p:spPr>
          <a:xfrm>
            <a:off x="411480" y="202996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My Page &amp; Admin Dashboard</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6</a:t>
            </a:r>
          </a:p>
        </p:txBody>
      </p:sp>
      <p:sp>
        <p:nvSpPr>
          <p:cNvPr id="17" name="Rounded Rectangle 16"/>
          <p:cNvSpPr/>
          <p:nvPr/>
        </p:nvSpPr>
        <p:spPr>
          <a:xfrm>
            <a:off x="411480" y="230428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Branch Dashboard</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7</a:t>
            </a:r>
          </a:p>
        </p:txBody>
      </p:sp>
      <p:sp>
        <p:nvSpPr>
          <p:cNvPr id="21" name="Rounded Rectangle 20"/>
          <p:cNvSpPr/>
          <p:nvPr/>
        </p:nvSpPr>
        <p:spPr>
          <a:xfrm>
            <a:off x="411480" y="257860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Using the AI Assistant</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8</a:t>
            </a:r>
          </a:p>
        </p:txBody>
      </p:sp>
      <p:sp>
        <p:nvSpPr>
          <p:cNvPr id="25" name="Rounded Rectangle 24"/>
          <p:cNvSpPr/>
          <p:nvPr/>
        </p:nvSpPr>
        <p:spPr>
          <a:xfrm>
            <a:off x="411480" y="285292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Manage Sub-agencies</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9</a:t>
            </a:r>
          </a:p>
        </p:txBody>
      </p:sp>
      <p:sp>
        <p:nvSpPr>
          <p:cNvPr id="29" name="Rounded Rectangle 28"/>
          <p:cNvSpPr/>
          <p:nvPr/>
        </p:nvSpPr>
        <p:spPr>
          <a:xfrm>
            <a:off x="411480" y="312724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Branch Settlement (receive &amp; distribute)</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10</a:t>
            </a:r>
          </a:p>
        </p:txBody>
      </p:sp>
      <p:sp>
        <p:nvSpPr>
          <p:cNvPr id="33" name="Rounded Rectangle 32"/>
          <p:cNvSpPr/>
          <p:nvPr/>
        </p:nvSpPr>
        <p:spPr>
          <a:xfrm>
            <a:off x="411480" y="340156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Student · Parent Status</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11</a:t>
            </a:r>
          </a:p>
        </p:txBody>
      </p:sp>
      <p:sp>
        <p:nvSpPr>
          <p:cNvPr id="37" name="Rounded Rectangle 36"/>
          <p:cNvSpPr/>
          <p:nvPr/>
        </p:nvSpPr>
        <p:spPr>
          <a:xfrm>
            <a:off x="411480" y="3675887"/>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Payments·Overdue·Refunds (branch)</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12</a:t>
            </a:r>
          </a:p>
        </p:txBody>
      </p:sp>
      <p:sp>
        <p:nvSpPr>
          <p:cNvPr id="41" name="Rounded Rectangle 40"/>
          <p:cNvSpPr/>
          <p:nvPr/>
        </p:nvSpPr>
        <p:spPr>
          <a:xfrm>
            <a:off x="6141567" y="148132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Branch Retention</a:t>
            </a:r>
          </a:p>
        </p:txBody>
      </p:sp>
      <p:sp>
        <p:nvSpPr>
          <p:cNvPr id="44" name="TextBox 43"/>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13</a:t>
            </a:r>
          </a:p>
        </p:txBody>
      </p:sp>
      <p:sp>
        <p:nvSpPr>
          <p:cNvPr id="45" name="Rounded Rectangle 44"/>
          <p:cNvSpPr/>
          <p:nvPr/>
        </p:nvSpPr>
        <p:spPr>
          <a:xfrm>
            <a:off x="6141567" y="175564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Monthly Report·Performance</a:t>
            </a:r>
          </a:p>
        </p:txBody>
      </p:sp>
      <p:sp>
        <p:nvSpPr>
          <p:cNvPr id="48" name="TextBox 47"/>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14</a:t>
            </a:r>
          </a:p>
        </p:txBody>
      </p:sp>
      <p:sp>
        <p:nvSpPr>
          <p:cNvPr id="49" name="Rounded Rectangle 48"/>
          <p:cNvSpPr/>
          <p:nvPr/>
        </p:nvSpPr>
        <p:spPr>
          <a:xfrm>
            <a:off x="6141567" y="202996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Agency Support·Training</a:t>
            </a:r>
          </a:p>
        </p:txBody>
      </p:sp>
      <p:sp>
        <p:nvSpPr>
          <p:cNvPr id="52" name="TextBox 51"/>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15</a:t>
            </a:r>
          </a:p>
        </p:txBody>
      </p:sp>
      <p:sp>
        <p:nvSpPr>
          <p:cNvPr id="53" name="Rounded Rectangle 52"/>
          <p:cNvSpPr/>
          <p:nvPr/>
        </p:nvSpPr>
        <p:spPr>
          <a:xfrm>
            <a:off x="6141567" y="230428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Support·Inquiries</a:t>
            </a:r>
          </a:p>
        </p:txBody>
      </p:sp>
      <p:sp>
        <p:nvSpPr>
          <p:cNvPr id="56" name="TextBox 55"/>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16</a:t>
            </a:r>
          </a:p>
        </p:txBody>
      </p:sp>
      <p:sp>
        <p:nvSpPr>
          <p:cNvPr id="57" name="Rounded Rectangle 56"/>
          <p:cNvSpPr/>
          <p:nvPr/>
        </p:nvSpPr>
        <p:spPr>
          <a:xfrm>
            <a:off x="6141567" y="257860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Korea·Philippines Dual Clock</a:t>
            </a:r>
          </a:p>
        </p:txBody>
      </p:sp>
      <p:sp>
        <p:nvSpPr>
          <p:cNvPr id="60" name="TextBox 59"/>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17</a:t>
            </a:r>
          </a:p>
        </p:txBody>
      </p:sp>
      <p:sp>
        <p:nvSpPr>
          <p:cNvPr id="61" name="Rounded Rectangle 60"/>
          <p:cNvSpPr/>
          <p:nvPr/>
        </p:nvSpPr>
        <p:spPr>
          <a:xfrm>
            <a:off x="6141567" y="285292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Chinese Pronunciation Coach</a:t>
            </a:r>
          </a:p>
        </p:txBody>
      </p:sp>
      <p:sp>
        <p:nvSpPr>
          <p:cNvPr id="64" name="TextBox 63"/>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18</a:t>
            </a:r>
          </a:p>
        </p:txBody>
      </p:sp>
      <p:sp>
        <p:nvSpPr>
          <p:cNvPr id="65" name="Rounded Rectangle 64"/>
          <p:cNvSpPr/>
          <p:nvPr/>
        </p:nvSpPr>
        <p:spPr>
          <a:xfrm>
            <a:off x="6141567" y="312724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In-class Praise Points (understand &amp; use)</a:t>
            </a:r>
          </a:p>
        </p:txBody>
      </p:sp>
      <p:sp>
        <p:nvSpPr>
          <p:cNvPr id="68" name="TextBox 67"/>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19</a:t>
            </a:r>
          </a:p>
        </p:txBody>
      </p:sp>
      <p:sp>
        <p:nvSpPr>
          <p:cNvPr id="69" name="Rounded Rectangle 68"/>
          <p:cNvSpPr/>
          <p:nvPr/>
        </p:nvSpPr>
        <p:spPr>
          <a:xfrm>
            <a:off x="6141567" y="340156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Notice Studio (Poster + Popup)</a:t>
            </a:r>
          </a:p>
        </p:txBody>
      </p:sp>
      <p:sp>
        <p:nvSpPr>
          <p:cNvPr id="72" name="TextBox 71"/>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20</a:t>
            </a:r>
          </a:p>
        </p:txBody>
      </p:sp>
      <p:sp>
        <p:nvSpPr>
          <p:cNvPr id="73" name="Rounded Rectangle 72"/>
          <p:cNvSpPr/>
          <p:nvPr/>
        </p:nvSpPr>
        <p:spPr>
          <a:xfrm>
            <a:off x="6141567" y="3675887"/>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Command the AI Operations Assistant</a:t>
            </a:r>
          </a:p>
        </p:txBody>
      </p:sp>
      <p:sp>
        <p:nvSpPr>
          <p:cNvPr id="76" name="TextBox 75"/>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0D9488"/>
                </a:solidFill>
                <a:latin typeface="Malgun Gothic"/>
              </a:rPr>
              <a:t>📑 Contents  (2/2)</a:t>
            </a:r>
          </a:p>
        </p:txBody>
      </p:sp>
      <p:sp>
        <p:nvSpPr>
          <p:cNvPr id="7" name="Rounded Rectangle 6"/>
          <p:cNvSpPr/>
          <p:nvPr/>
        </p:nvSpPr>
        <p:spPr>
          <a:xfrm>
            <a:off x="411480" y="148132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9" name="TextBox 8"/>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Share Library Links via KakaoTalk</a:t>
            </a:r>
          </a:p>
        </p:txBody>
      </p:sp>
      <p:sp>
        <p:nvSpPr>
          <p:cNvPr id="10" name="TextBox 9"/>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22</a:t>
            </a:r>
          </a:p>
        </p:txBody>
      </p:sp>
      <p:sp>
        <p:nvSpPr>
          <p:cNvPr id="11" name="Rounded Rectangle 10"/>
          <p:cNvSpPr/>
          <p:nvPr/>
        </p:nvSpPr>
        <p:spPr>
          <a:xfrm>
            <a:off x="411480" y="175564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13" name="TextBox 12"/>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 refreshed admin screen</a:t>
            </a:r>
          </a:p>
        </p:txBody>
      </p:sp>
      <p:sp>
        <p:nvSpPr>
          <p:cNvPr id="14" name="TextBox 13"/>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23</a:t>
            </a:r>
          </a:p>
        </p:txBody>
      </p:sp>
      <p:sp>
        <p:nvSpPr>
          <p:cNvPr id="15" name="Rounded Rectangle 14"/>
          <p:cNvSpPr/>
          <p:nvPr/>
        </p:nvSpPr>
        <p:spPr>
          <a:xfrm>
            <a:off x="411480" y="202996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17" name="TextBox 16"/>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The interface language sets itself</a:t>
            </a:r>
          </a:p>
        </p:txBody>
      </p:sp>
      <p:sp>
        <p:nvSpPr>
          <p:cNvPr id="18" name="TextBox 17"/>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24</a:t>
            </a:r>
          </a:p>
        </p:txBody>
      </p:sp>
      <p:sp>
        <p:nvSpPr>
          <p:cNvPr id="19" name="Rounded Rectangle 18"/>
          <p:cNvSpPr/>
          <p:nvPr/>
        </p:nvSpPr>
        <p:spPr>
          <a:xfrm>
            <a:off x="411480" y="230428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21" name="TextBox 20"/>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Enrolment &amp; payment → automatic lesson creation</a:t>
            </a:r>
          </a:p>
        </p:txBody>
      </p:sp>
      <p:sp>
        <p:nvSpPr>
          <p:cNvPr id="22" name="TextBox 21"/>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25</a:t>
            </a:r>
          </a:p>
        </p:txBody>
      </p:sp>
      <p:sp>
        <p:nvSpPr>
          <p:cNvPr id="23" name="Rounded Rectangle 22"/>
          <p:cNvSpPr/>
          <p:nvPr/>
        </p:nvSpPr>
        <p:spPr>
          <a:xfrm>
            <a:off x="411480" y="257860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25" name="TextBox 24"/>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Teacher Management, redesigned (roster filters · groups · detail tabs)</a:t>
            </a:r>
          </a:p>
        </p:txBody>
      </p:sp>
      <p:sp>
        <p:nvSpPr>
          <p:cNvPr id="26" name="TextBox 25"/>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26</a:t>
            </a:r>
          </a:p>
        </p:txBody>
      </p:sp>
      <p:sp>
        <p:nvSpPr>
          <p:cNvPr id="27" name="Rounded Rectangle 26"/>
          <p:cNvSpPr/>
          <p:nvPr/>
        </p:nvSpPr>
        <p:spPr>
          <a:xfrm>
            <a:off x="411480" y="285292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29" name="TextBox 28"/>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Sending the Parent Monthly Report (pentagon)</a:t>
            </a:r>
          </a:p>
        </p:txBody>
      </p:sp>
      <p:sp>
        <p:nvSpPr>
          <p:cNvPr id="30" name="TextBox 29"/>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27</a:t>
            </a:r>
          </a:p>
        </p:txBody>
      </p:sp>
      <p:sp>
        <p:nvSpPr>
          <p:cNvPr id="31" name="Rounded Rectangle 30"/>
          <p:cNvSpPr/>
          <p:nvPr/>
        </p:nvSpPr>
        <p:spPr>
          <a:xfrm>
            <a:off x="411480" y="312724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33" name="TextBox 32"/>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Parent Weekly Report (the re-enrolment lever)</a:t>
            </a:r>
          </a:p>
        </p:txBody>
      </p:sp>
      <p:sp>
        <p:nvSpPr>
          <p:cNvPr id="34" name="TextBox 33"/>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28</a:t>
            </a:r>
          </a:p>
        </p:txBody>
      </p:sp>
      <p:sp>
        <p:nvSpPr>
          <p:cNvPr id="35" name="Rounded Rectangle 34"/>
          <p:cNvSpPr/>
          <p:nvPr/>
        </p:nvSpPr>
        <p:spPr>
          <a:xfrm>
            <a:off x="411480" y="340156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37" name="TextBox 36"/>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Home Screen Split (first-time parent vs. existing member)</a:t>
            </a:r>
          </a:p>
        </p:txBody>
      </p:sp>
      <p:sp>
        <p:nvSpPr>
          <p:cNvPr id="38" name="TextBox 37"/>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29</a:t>
            </a:r>
          </a:p>
        </p:txBody>
      </p:sp>
      <p:sp>
        <p:nvSpPr>
          <p:cNvPr id="39" name="Rounded Rectangle 38"/>
          <p:cNvSpPr/>
          <p:nvPr/>
        </p:nvSpPr>
        <p:spPr>
          <a:xfrm>
            <a:off x="411480" y="3675887"/>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41" name="TextBox 40"/>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The Admin Screen Is Much Faster Now</a:t>
            </a:r>
          </a:p>
        </p:txBody>
      </p:sp>
      <p:sp>
        <p:nvSpPr>
          <p:cNvPr id="42" name="TextBox 41"/>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30</a:t>
            </a:r>
          </a:p>
        </p:txBody>
      </p:sp>
      <p:sp>
        <p:nvSpPr>
          <p:cNvPr id="43" name="Rounded Rectangle 42"/>
          <p:cNvSpPr/>
          <p:nvPr/>
        </p:nvSpPr>
        <p:spPr>
          <a:xfrm>
            <a:off x="6141567" y="148132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45" name="TextBox 44"/>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Academy Search Box (find it by name)</a:t>
            </a:r>
          </a:p>
        </p:txBody>
      </p:sp>
      <p:sp>
        <p:nvSpPr>
          <p:cNvPr id="46" name="TextBox 45"/>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31</a:t>
            </a:r>
          </a:p>
        </p:txBody>
      </p:sp>
      <p:sp>
        <p:nvSpPr>
          <p:cNvPr id="47" name="Rounded Rectangle 46"/>
          <p:cNvSpPr/>
          <p:nvPr/>
        </p:nvSpPr>
        <p:spPr>
          <a:xfrm>
            <a:off x="6141567" y="175564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28</a:t>
            </a:r>
          </a:p>
        </p:txBody>
      </p:sp>
      <p:sp>
        <p:nvSpPr>
          <p:cNvPr id="49" name="TextBox 48"/>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New-Payment Screen, Now Step-by-Step</a:t>
            </a:r>
          </a:p>
        </p:txBody>
      </p:sp>
      <p:sp>
        <p:nvSpPr>
          <p:cNvPr id="50" name="TextBox 49"/>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32</a:t>
            </a:r>
          </a:p>
        </p:txBody>
      </p:sp>
      <p:sp>
        <p:nvSpPr>
          <p:cNvPr id="51" name="Rounded Rectangle 50"/>
          <p:cNvSpPr/>
          <p:nvPr/>
        </p:nvSpPr>
        <p:spPr>
          <a:xfrm>
            <a:off x="6141567" y="202996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29</a:t>
            </a:r>
          </a:p>
        </p:txBody>
      </p:sp>
      <p:sp>
        <p:nvSpPr>
          <p:cNvPr id="53" name="TextBox 52"/>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Sample Report Card for Parents Without an Account</a:t>
            </a:r>
          </a:p>
        </p:txBody>
      </p:sp>
      <p:sp>
        <p:nvSpPr>
          <p:cNvPr id="54" name="TextBox 53"/>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33</a:t>
            </a:r>
          </a:p>
        </p:txBody>
      </p:sp>
      <p:sp>
        <p:nvSpPr>
          <p:cNvPr id="55" name="Rounded Rectangle 54"/>
          <p:cNvSpPr/>
          <p:nvPr/>
        </p:nvSpPr>
        <p:spPr>
          <a:xfrm>
            <a:off x="6141567" y="230428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30</a:t>
            </a:r>
          </a:p>
        </p:txBody>
      </p:sp>
      <p:sp>
        <p:nvSpPr>
          <p:cNvPr id="57" name="TextBox 56"/>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Unified Support Hours &amp; Channel Order (KakaoTalk first)</a:t>
            </a:r>
          </a:p>
        </p:txBody>
      </p:sp>
      <p:sp>
        <p:nvSpPr>
          <p:cNvPr id="58" name="TextBox 57"/>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34</a:t>
            </a:r>
          </a:p>
        </p:txBody>
      </p:sp>
      <p:sp>
        <p:nvSpPr>
          <p:cNvPr id="59" name="Rounded Rectangle 58"/>
          <p:cNvSpPr/>
          <p:nvPr/>
        </p:nvSpPr>
        <p:spPr>
          <a:xfrm>
            <a:off x="6141567" y="257860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31</a:t>
            </a:r>
          </a:p>
        </p:txBody>
      </p:sp>
      <p:sp>
        <p:nvSpPr>
          <p:cNvPr id="61" name="TextBox 60"/>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Feature Summary · Data</a:t>
            </a:r>
          </a:p>
        </p:txBody>
      </p:sp>
      <p:sp>
        <p:nvSpPr>
          <p:cNvPr id="62" name="TextBox 61"/>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35</a:t>
            </a:r>
          </a:p>
        </p:txBody>
      </p:sp>
      <p:sp>
        <p:nvSpPr>
          <p:cNvPr id="63" name="Rounded Rectangle 62"/>
          <p:cNvSpPr/>
          <p:nvPr/>
        </p:nvSpPr>
        <p:spPr>
          <a:xfrm>
            <a:off x="6141567" y="285292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32</a:t>
            </a:r>
          </a:p>
        </p:txBody>
      </p:sp>
      <p:sp>
        <p:nvSpPr>
          <p:cNvPr id="65" name="TextBox 64"/>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Data at a Glance</a:t>
            </a:r>
          </a:p>
        </p:txBody>
      </p:sp>
      <p:sp>
        <p:nvSpPr>
          <p:cNvPr id="66" name="TextBox 65"/>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36</a:t>
            </a:r>
          </a:p>
        </p:txBody>
      </p:sp>
      <p:sp>
        <p:nvSpPr>
          <p:cNvPr id="67" name="Rounded Rectangle 66"/>
          <p:cNvSpPr/>
          <p:nvPr/>
        </p:nvSpPr>
        <p:spPr>
          <a:xfrm>
            <a:off x="6141567" y="312724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33</a:t>
            </a:r>
          </a:p>
        </p:txBody>
      </p:sp>
      <p:sp>
        <p:nvSpPr>
          <p:cNvPr id="69" name="TextBox 68"/>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Frequently Asked Questions (FAQ)</a:t>
            </a:r>
          </a:p>
        </p:txBody>
      </p:sp>
      <p:sp>
        <p:nvSpPr>
          <p:cNvPr id="70" name="TextBox 69"/>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37</a:t>
            </a:r>
          </a:p>
        </p:txBody>
      </p:sp>
      <p:sp>
        <p:nvSpPr>
          <p:cNvPr id="71" name="Rounded Rectangle 70"/>
          <p:cNvSpPr/>
          <p:nvPr/>
        </p:nvSpPr>
        <p:spPr>
          <a:xfrm>
            <a:off x="6141567" y="340156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34</a:t>
            </a:r>
          </a:p>
        </p:txBody>
      </p:sp>
      <p:sp>
        <p:nvSpPr>
          <p:cNvPr id="73" name="TextBox 72"/>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Checklist</a:t>
            </a:r>
          </a:p>
        </p:txBody>
      </p:sp>
      <p:sp>
        <p:nvSpPr>
          <p:cNvPr id="74" name="TextBox 73"/>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38</a:t>
            </a:r>
          </a:p>
        </p:txBody>
      </p:sp>
      <p:sp>
        <p:nvSpPr>
          <p:cNvPr id="75" name="Rounded Rectangle 74"/>
          <p:cNvSpPr/>
          <p:nvPr/>
        </p:nvSpPr>
        <p:spPr>
          <a:xfrm>
            <a:off x="6141567" y="3675887"/>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35</a:t>
            </a:r>
          </a:p>
        </p:txBody>
      </p:sp>
      <p:sp>
        <p:nvSpPr>
          <p:cNvPr id="77" name="TextBox 76"/>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Conclusion</a:t>
            </a:r>
          </a:p>
        </p:txBody>
      </p:sp>
      <p:sp>
        <p:nvSpPr>
          <p:cNvPr id="78" name="TextBox 77"/>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39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Branch Login &amp; Permissions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Only my branch's data shows</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Logging in with a branch account shows only 'my branch' menus and data. HQ-wide or other branches' data isn't visible, so you can focus on your branch with peace of mind.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63540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Log in with ID and password (Kakao, Naver, Google also work).</a:t>
            </a:r>
          </a:p>
          <a:p>
            <a:pPr>
              <a:lnSpc>
                <a:spcPct val="115000"/>
              </a:lnSpc>
              <a:spcAft>
                <a:spcPts val="300"/>
              </a:spcAft>
            </a:pPr>
            <a:r>
              <a:rPr sz="700" b="1">
                <a:solidFill>
                  <a:srgbClr val="0D9488"/>
                </a:solidFill>
                <a:latin typeface="Malgun Gothic"/>
              </a:rPr>
              <a:t>● </a:t>
            </a:r>
            <a:r>
              <a:rPr sz="900">
                <a:solidFill>
                  <a:srgbClr val="334155"/>
                </a:solidFill>
                <a:latin typeface="Malgun Gothic"/>
              </a:rPr>
              <a:t>On login, menus/data for your role (branch) are applied automatically.</a:t>
            </a:r>
          </a:p>
          <a:p>
            <a:pPr>
              <a:lnSpc>
                <a:spcPct val="115000"/>
              </a:lnSpc>
              <a:spcAft>
                <a:spcPts val="300"/>
              </a:spcAft>
            </a:pPr>
            <a:r>
              <a:rPr sz="700" b="1">
                <a:solidFill>
                  <a:srgbClr val="0D9488"/>
                </a:solidFill>
                <a:latin typeface="Malgun Gothic"/>
              </a:rPr>
              <a:t>● </a:t>
            </a:r>
            <a:r>
              <a:rPr sz="900">
                <a:solidFill>
                  <a:srgbClr val="334155"/>
                </a:solidFill>
                <a:latin typeface="Malgun Gothic"/>
              </a:rPr>
              <a:t>Forgot your password? Reset via 'Find password'.</a:t>
            </a:r>
          </a:p>
          <a:p>
            <a:pPr>
              <a:lnSpc>
                <a:spcPct val="115000"/>
              </a:lnSpc>
              <a:spcAft>
                <a:spcPts val="300"/>
              </a:spcAft>
            </a:pPr>
            <a:r>
              <a:rPr sz="700" b="1">
                <a:solidFill>
                  <a:srgbClr val="0D9488"/>
                </a:solidFill>
                <a:latin typeface="Malgun Gothic"/>
              </a:rPr>
              <a:t>● </a:t>
            </a:r>
            <a:r>
              <a:rPr sz="900">
                <a:solidFill>
                  <a:srgbClr val="334155"/>
                </a:solidFill>
                <a:latin typeface="Malgun Gothic"/>
              </a:rPr>
              <a:t>You can split permission scope among staff.</a:t>
            </a:r>
          </a:p>
        </p:txBody>
      </p:sp>
      <p:sp>
        <p:nvSpPr>
          <p:cNvPr id="14" name="Rounded Rectangle 13"/>
          <p:cNvSpPr/>
          <p:nvPr/>
        </p:nvSpPr>
        <p:spPr>
          <a:xfrm>
            <a:off x="457200" y="5475884"/>
            <a:ext cx="5669280" cy="833475"/>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52160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768492"/>
            <a:ext cx="5394960" cy="504291"/>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Only your branch and sub-agency data shows.</a:t>
            </a:r>
          </a:p>
          <a:p>
            <a:pPr>
              <a:lnSpc>
                <a:spcPct val="115000"/>
              </a:lnSpc>
              <a:spcAft>
                <a:spcPts val="100"/>
              </a:spcAft>
            </a:pPr>
            <a:r>
              <a:rPr sz="650" b="1">
                <a:solidFill>
                  <a:srgbClr val="0D9488"/>
                </a:solidFill>
                <a:latin typeface="Malgun Gothic"/>
              </a:rPr>
              <a:t>● </a:t>
            </a:r>
            <a:r>
              <a:rPr sz="850">
                <a:solidFill>
                  <a:srgbClr val="334155"/>
                </a:solidFill>
                <a:latin typeface="Malgun Gothic"/>
              </a:rPr>
              <a:t>Turn on 'Save ID' only on your own trusted PC.</a:t>
            </a:r>
          </a:p>
        </p:txBody>
      </p:sp>
      <p:sp>
        <p:nvSpPr>
          <p:cNvPr id="17" name="Rounded Rectangle 16"/>
          <p:cNvSpPr/>
          <p:nvPr/>
        </p:nvSpPr>
        <p:spPr>
          <a:xfrm>
            <a:off x="365760" y="6217920"/>
            <a:ext cx="11457432" cy="47548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On shared PCs, turn off auto-login and always log out when done.</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06370"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588666"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ID and pas…</a:t>
            </a:r>
          </a:p>
        </p:txBody>
      </p:sp>
      <p:sp>
        <p:nvSpPr>
          <p:cNvPr id="26" name="TextBox 25"/>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7" name="Rounded Rectangle 26"/>
          <p:cNvSpPr/>
          <p:nvPr/>
        </p:nvSpPr>
        <p:spPr>
          <a:xfrm>
            <a:off x="4346143"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28439"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role (bran…</a:t>
            </a:r>
          </a:p>
        </p:txBody>
      </p:sp>
      <p:sp>
        <p:nvSpPr>
          <p:cNvPr id="31" name="TextBox 30"/>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2" name="Rounded Rectangle 31"/>
          <p:cNvSpPr/>
          <p:nvPr/>
        </p:nvSpPr>
        <p:spPr>
          <a:xfrm>
            <a:off x="6185916"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68212"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'Find pass…</a:t>
            </a:r>
          </a:p>
        </p:txBody>
      </p:sp>
      <p:sp>
        <p:nvSpPr>
          <p:cNvPr id="36" name="TextBox 35"/>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7" name="Rounded Rectangle 36"/>
          <p:cNvSpPr/>
          <p:nvPr/>
        </p:nvSpPr>
        <p:spPr>
          <a:xfrm>
            <a:off x="8025688"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107984"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permission…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Page &amp; Admin Dashboard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Open the management screen from My Page</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Branch operations start from 'My Page.' After logging in, press the 📊 'Admin' button in the My Page menu to enter the branch-scope admin (operations) dashboard, where you manage revenue, enrollment, agencies and settlement.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2244852"/>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After logging in, open '👤 My Page'.</a:t>
            </a:r>
          </a:p>
          <a:p>
            <a:pPr>
              <a:lnSpc>
                <a:spcPct val="115000"/>
              </a:lnSpc>
              <a:spcAft>
                <a:spcPts val="300"/>
              </a:spcAft>
            </a:pPr>
            <a:r>
              <a:rPr sz="700" b="1">
                <a:solidFill>
                  <a:srgbClr val="0D9488"/>
                </a:solidFill>
                <a:latin typeface="Malgun Gothic"/>
              </a:rPr>
              <a:t>● </a:t>
            </a:r>
            <a:r>
              <a:rPr sz="900">
                <a:solidFill>
                  <a:srgbClr val="334155"/>
                </a:solidFill>
                <a:latin typeface="Malgun Gothic"/>
              </a:rPr>
              <a:t>Press the 📊 'Admin' button in the My Page menu. (goes to the admin dashboard)</a:t>
            </a:r>
          </a:p>
          <a:p>
            <a:pPr>
              <a:lnSpc>
                <a:spcPct val="115000"/>
              </a:lnSpc>
              <a:spcAft>
                <a:spcPts val="300"/>
              </a:spcAft>
            </a:pPr>
            <a:r>
              <a:rPr sz="700" b="1">
                <a:solidFill>
                  <a:srgbClr val="0D9488"/>
                </a:solidFill>
                <a:latin typeface="Malgun Gothic"/>
              </a:rPr>
              <a:t>● </a:t>
            </a:r>
            <a:r>
              <a:rPr sz="900">
                <a:solidFill>
                  <a:srgbClr val="334155"/>
                </a:solidFill>
                <a:latin typeface="Malgun Gothic"/>
              </a:rPr>
              <a:t>On the admin dashboard, check your branch revenue, enrollment, attendance and sub-agencies.</a:t>
            </a:r>
          </a:p>
          <a:p>
            <a:pPr>
              <a:lnSpc>
                <a:spcPct val="115000"/>
              </a:lnSpc>
              <a:spcAft>
                <a:spcPts val="300"/>
              </a:spcAft>
            </a:pPr>
            <a:r>
              <a:rPr sz="700" b="1">
                <a:solidFill>
                  <a:srgbClr val="0D9488"/>
                </a:solidFill>
                <a:latin typeface="Malgun Gothic"/>
              </a:rPr>
              <a:t>● </a:t>
            </a:r>
            <a:r>
              <a:rPr sz="900">
                <a:solidFill>
                  <a:srgbClr val="334155"/>
                </a:solidFill>
                <a:latin typeface="Malgun Gothic"/>
              </a:rPr>
              <a:t>My Page also has postpone/change, new inquiry, all-menu, pre-check and more.</a:t>
            </a:r>
          </a:p>
          <a:p>
            <a:pPr>
              <a:lnSpc>
                <a:spcPct val="115000"/>
              </a:lnSpc>
              <a:spcAft>
                <a:spcPts val="300"/>
              </a:spcAft>
            </a:pPr>
            <a:r>
              <a:rPr sz="700" b="1">
                <a:solidFill>
                  <a:srgbClr val="0D9488"/>
                </a:solidFill>
                <a:latin typeface="Malgun Gothic"/>
              </a:rPr>
              <a:t>● </a:t>
            </a:r>
            <a:r>
              <a:rPr sz="900">
                <a:solidFill>
                  <a:srgbClr val="334155"/>
                </a:solidFill>
                <a:latin typeface="Malgun Gothic"/>
              </a:rPr>
              <a:t>If text looks English, use the EN button to switch language.</a:t>
            </a:r>
          </a:p>
        </p:txBody>
      </p:sp>
      <p:sp>
        <p:nvSpPr>
          <p:cNvPr id="14" name="Rounded Rectangle 13"/>
          <p:cNvSpPr/>
          <p:nvPr/>
        </p:nvSpPr>
        <p:spPr>
          <a:xfrm>
            <a:off x="457200" y="6085332"/>
            <a:ext cx="5669280" cy="1522018"/>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131052"/>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6377940"/>
            <a:ext cx="5394960" cy="1192834"/>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One 'Admin' button takes you straight to the operations dashboard.</a:t>
            </a:r>
          </a:p>
          <a:p>
            <a:pPr>
              <a:lnSpc>
                <a:spcPct val="115000"/>
              </a:lnSpc>
              <a:spcAft>
                <a:spcPts val="100"/>
              </a:spcAft>
            </a:pPr>
            <a:r>
              <a:rPr sz="650" b="1">
                <a:solidFill>
                  <a:srgbClr val="0D9488"/>
                </a:solidFill>
                <a:latin typeface="Malgun Gothic"/>
              </a:rPr>
              <a:t>● </a:t>
            </a:r>
            <a:r>
              <a:rPr sz="850">
                <a:solidFill>
                  <a:srgbClr val="334155"/>
                </a:solidFill>
                <a:latin typeface="Malgun Gothic"/>
              </a:rPr>
              <a:t>All dashboard data is auto-totaled to 'your branch scope'.</a:t>
            </a:r>
          </a:p>
          <a:p>
            <a:pPr>
              <a:lnSpc>
                <a:spcPct val="115000"/>
              </a:lnSpc>
              <a:spcAft>
                <a:spcPts val="100"/>
              </a:spcAft>
            </a:pPr>
            <a:r>
              <a:rPr sz="650" b="1">
                <a:solidFill>
                  <a:srgbClr val="0D9488"/>
                </a:solidFill>
                <a:latin typeface="Malgun Gothic"/>
              </a:rPr>
              <a:t>● </a:t>
            </a:r>
            <a:r>
              <a:rPr sz="850">
                <a:solidFill>
                  <a:srgbClr val="334155"/>
                </a:solidFill>
                <a:latin typeface="Malgun Gothic"/>
              </a:rPr>
              <a:t>Menus and data are set automatically by your role (branch).</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My Page and the admin dashboard open only within the logged-in branch account's permission scope.</a:t>
            </a:r>
          </a:p>
        </p:txBody>
      </p:sp>
      <p:sp>
        <p:nvSpPr>
          <p:cNvPr id="19" name="Rounded Rectangle 18"/>
          <p:cNvSpPr/>
          <p:nvPr/>
        </p:nvSpPr>
        <p:spPr>
          <a:xfrm>
            <a:off x="6176772" y="6021324"/>
            <a:ext cx="5646420" cy="672084"/>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Each day, spend 5 minutes: My Page → Admin dashboard → check branch metrics.</a:t>
            </a:r>
          </a:p>
        </p:txBody>
      </p:sp>
      <p:sp>
        <p:nvSpPr>
          <p:cNvPr id="21" name="Rectangle 20"/>
          <p:cNvSpPr/>
          <p:nvPr/>
        </p:nvSpPr>
        <p:spPr>
          <a:xfrm>
            <a:off x="6300216" y="3684581"/>
            <a:ext cx="2761488" cy="45124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menu.jpg"/>
          <p:cNvPicPr>
            <a:picLocks noChangeAspect="1"/>
          </p:cNvPicPr>
          <p:nvPr/>
        </p:nvPicPr>
        <p:blipFill>
          <a:blip r:embed="rId2"/>
          <a:stretch>
            <a:fillRect/>
          </a:stretch>
        </p:blipFill>
        <p:spPr>
          <a:xfrm>
            <a:off x="6355080" y="3739445"/>
            <a:ext cx="2651760" cy="341514"/>
          </a:xfrm>
          <a:prstGeom prst="rect">
            <a:avLst/>
          </a:prstGeom>
        </p:spPr>
      </p:pic>
      <p:sp>
        <p:nvSpPr>
          <p:cNvPr id="23" name="Rectangle 22"/>
          <p:cNvSpPr/>
          <p:nvPr/>
        </p:nvSpPr>
        <p:spPr>
          <a:xfrm>
            <a:off x="9500616" y="3255264"/>
            <a:ext cx="2029968" cy="130987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admin_dashboard.jpg"/>
          <p:cNvPicPr>
            <a:picLocks noChangeAspect="1"/>
          </p:cNvPicPr>
          <p:nvPr/>
        </p:nvPicPr>
        <p:blipFill>
          <a:blip r:embed="rId3"/>
          <a:stretch>
            <a:fillRect/>
          </a:stretch>
        </p:blipFill>
        <p:spPr>
          <a:xfrm>
            <a:off x="9555480" y="3310128"/>
            <a:ext cx="1920240" cy="1200150"/>
          </a:xfrm>
          <a:prstGeom prst="rect">
            <a:avLst/>
          </a:prstGeom>
        </p:spPr>
      </p:pic>
      <p:sp>
        <p:nvSpPr>
          <p:cNvPr id="25" name="Rounded Rectangle 24"/>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059228" y="2670048"/>
            <a:ext cx="172821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141524"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4152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9" name="TextBox 28"/>
          <p:cNvSpPr txBox="1"/>
          <p:nvPr/>
        </p:nvSpPr>
        <p:spPr>
          <a:xfrm>
            <a:off x="2443276"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My Page…</a:t>
            </a:r>
          </a:p>
        </p:txBody>
      </p:sp>
      <p:sp>
        <p:nvSpPr>
          <p:cNvPr id="30" name="TextBox 29"/>
          <p:cNvSpPr txBox="1"/>
          <p:nvPr/>
        </p:nvSpPr>
        <p:spPr>
          <a:xfrm>
            <a:off x="3787444"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1" name="Rounded Rectangle 30"/>
          <p:cNvSpPr/>
          <p:nvPr/>
        </p:nvSpPr>
        <p:spPr>
          <a:xfrm>
            <a:off x="3970324" y="2670048"/>
            <a:ext cx="148498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05262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0526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4" name="TextBox 33"/>
          <p:cNvSpPr txBox="1"/>
          <p:nvPr/>
        </p:nvSpPr>
        <p:spPr>
          <a:xfrm>
            <a:off x="4354372" y="2670048"/>
            <a:ext cx="10643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'Admin'</a:t>
            </a:r>
          </a:p>
        </p:txBody>
      </p:sp>
      <p:sp>
        <p:nvSpPr>
          <p:cNvPr id="35" name="TextBox 34"/>
          <p:cNvSpPr txBox="1"/>
          <p:nvPr/>
        </p:nvSpPr>
        <p:spPr>
          <a:xfrm>
            <a:off x="5455310"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6" name="Rounded Rectangle 35"/>
          <p:cNvSpPr/>
          <p:nvPr/>
        </p:nvSpPr>
        <p:spPr>
          <a:xfrm>
            <a:off x="5638190"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720486"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204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9" name="TextBox 38"/>
          <p:cNvSpPr txBox="1"/>
          <p:nvPr/>
        </p:nvSpPr>
        <p:spPr>
          <a:xfrm>
            <a:off x="602223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admin dash…</a:t>
            </a:r>
          </a:p>
        </p:txBody>
      </p:sp>
      <p:sp>
        <p:nvSpPr>
          <p:cNvPr id="40" name="TextBox 39"/>
          <p:cNvSpPr txBox="1"/>
          <p:nvPr/>
        </p:nvSpPr>
        <p:spPr>
          <a:xfrm>
            <a:off x="7295083"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41" name="Rounded Rectangle 40"/>
          <p:cNvSpPr/>
          <p:nvPr/>
        </p:nvSpPr>
        <p:spPr>
          <a:xfrm>
            <a:off x="7477963"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560259"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56025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4" name="TextBox 43"/>
          <p:cNvSpPr txBox="1"/>
          <p:nvPr/>
        </p:nvSpPr>
        <p:spPr>
          <a:xfrm>
            <a:off x="786201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My Page al…</a:t>
            </a:r>
          </a:p>
        </p:txBody>
      </p:sp>
      <p:sp>
        <p:nvSpPr>
          <p:cNvPr id="45" name="TextBox 44"/>
          <p:cNvSpPr txBox="1"/>
          <p:nvPr/>
        </p:nvSpPr>
        <p:spPr>
          <a:xfrm>
            <a:off x="9134855"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46" name="Rounded Rectangle 45"/>
          <p:cNvSpPr/>
          <p:nvPr/>
        </p:nvSpPr>
        <p:spPr>
          <a:xfrm>
            <a:off x="9317735" y="2670048"/>
            <a:ext cx="811987"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940003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4000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9" name="TextBox 48"/>
          <p:cNvSpPr txBox="1"/>
          <p:nvPr/>
        </p:nvSpPr>
        <p:spPr>
          <a:xfrm>
            <a:off x="9701783" y="2670048"/>
            <a:ext cx="3913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Branch Dashboard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Your branch status at a glance</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On login, your branch's revenue, enrollment and attendance plus sub-agency status are organized as cards. Type a word in the top search box to jump right to a feature.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63540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Check today's revenue, enrollment and attendance (your branch total) at the top.</a:t>
            </a:r>
          </a:p>
          <a:p>
            <a:pPr>
              <a:lnSpc>
                <a:spcPct val="115000"/>
              </a:lnSpc>
              <a:spcAft>
                <a:spcPts val="300"/>
              </a:spcAft>
            </a:pPr>
            <a:r>
              <a:rPr sz="700" b="1">
                <a:solidFill>
                  <a:srgbClr val="0D9488"/>
                </a:solidFill>
                <a:latin typeface="Malgun Gothic"/>
              </a:rPr>
              <a:t>● </a:t>
            </a:r>
            <a:r>
              <a:rPr sz="900">
                <a:solidFill>
                  <a:srgbClr val="334155"/>
                </a:solidFill>
                <a:latin typeface="Malgun Gothic"/>
              </a:rPr>
              <a:t>Tap features from the category cards (agencies, teachers, accounting, students, content).</a:t>
            </a:r>
          </a:p>
          <a:p>
            <a:pPr>
              <a:lnSpc>
                <a:spcPct val="115000"/>
              </a:lnSpc>
              <a:spcAft>
                <a:spcPts val="300"/>
              </a:spcAft>
            </a:pPr>
            <a:r>
              <a:rPr sz="700" b="1">
                <a:solidFill>
                  <a:srgbClr val="0D9488"/>
                </a:solidFill>
                <a:latin typeface="Malgun Gothic"/>
              </a:rPr>
              <a:t>● </a:t>
            </a:r>
            <a:r>
              <a:rPr sz="900">
                <a:solidFill>
                  <a:srgbClr val="334155"/>
                </a:solidFill>
                <a:latin typeface="Malgun Gothic"/>
              </a:rPr>
              <a:t>Type a word in the feature search box to jump right there.</a:t>
            </a:r>
          </a:p>
          <a:p>
            <a:pPr>
              <a:lnSpc>
                <a:spcPct val="115000"/>
              </a:lnSpc>
              <a:spcAft>
                <a:spcPts val="300"/>
              </a:spcAft>
            </a:pPr>
            <a:r>
              <a:rPr sz="700" b="1">
                <a:solidFill>
                  <a:srgbClr val="0D9488"/>
                </a:solidFill>
                <a:latin typeface="Malgun Gothic"/>
              </a:rPr>
              <a:t>● </a:t>
            </a:r>
            <a:r>
              <a:rPr sz="900">
                <a:solidFill>
                  <a:srgbClr val="334155"/>
                </a:solidFill>
                <a:latin typeface="Malgun Gothic"/>
              </a:rPr>
              <a:t>The AI insight summarizes your branch status.</a:t>
            </a:r>
          </a:p>
        </p:txBody>
      </p:sp>
      <p:sp>
        <p:nvSpPr>
          <p:cNvPr id="14" name="Rounded Rectangle 13"/>
          <p:cNvSpPr/>
          <p:nvPr/>
        </p:nvSpPr>
        <p:spPr>
          <a:xfrm>
            <a:off x="457200" y="5475884"/>
            <a:ext cx="5669280" cy="1136599"/>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52160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768492"/>
            <a:ext cx="5394960" cy="807415"/>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All numbers are auto-totaled to 'your branch scope'.</a:t>
            </a:r>
          </a:p>
          <a:p>
            <a:pPr>
              <a:lnSpc>
                <a:spcPct val="115000"/>
              </a:lnSpc>
              <a:spcAft>
                <a:spcPts val="100"/>
              </a:spcAft>
            </a:pPr>
            <a:r>
              <a:rPr sz="650" b="1">
                <a:solidFill>
                  <a:srgbClr val="0D9488"/>
                </a:solidFill>
                <a:latin typeface="Malgun Gothic"/>
              </a:rPr>
              <a:t>● </a:t>
            </a:r>
            <a:r>
              <a:rPr sz="850">
                <a:solidFill>
                  <a:srgbClr val="334155"/>
                </a:solidFill>
                <a:latin typeface="Malgun Gothic"/>
              </a:rPr>
              <a:t>If a feature is hard to find, search is fastest.</a:t>
            </a:r>
          </a:p>
        </p:txBody>
      </p:sp>
      <p:sp>
        <p:nvSpPr>
          <p:cNvPr id="17" name="Rounded Rectangle 16"/>
          <p:cNvSpPr/>
          <p:nvPr/>
        </p:nvSpPr>
        <p:spPr>
          <a:xfrm>
            <a:off x="365760" y="6217920"/>
            <a:ext cx="11457432" cy="47548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A 5-minute morning check of branch metrics catches warning signs early.</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85008"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667304"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66730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96905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today's re…</a:t>
            </a:r>
          </a:p>
        </p:txBody>
      </p:sp>
      <p:sp>
        <p:nvSpPr>
          <p:cNvPr id="26" name="TextBox 25"/>
          <p:cNvSpPr txBox="1"/>
          <p:nvPr/>
        </p:nvSpPr>
        <p:spPr>
          <a:xfrm>
            <a:off x="4241901"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7" name="Rounded Rectangle 26"/>
          <p:cNvSpPr/>
          <p:nvPr/>
        </p:nvSpPr>
        <p:spPr>
          <a:xfrm>
            <a:off x="4424781"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507077"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0707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80882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category c…</a:t>
            </a:r>
          </a:p>
        </p:txBody>
      </p:sp>
      <p:sp>
        <p:nvSpPr>
          <p:cNvPr id="31" name="TextBox 30"/>
          <p:cNvSpPr txBox="1"/>
          <p:nvPr/>
        </p:nvSpPr>
        <p:spPr>
          <a:xfrm>
            <a:off x="6081674"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2" name="Rounded Rectangle 31"/>
          <p:cNvSpPr/>
          <p:nvPr/>
        </p:nvSpPr>
        <p:spPr>
          <a:xfrm>
            <a:off x="6264554"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4685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685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64860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feature se…</a:t>
            </a:r>
          </a:p>
        </p:txBody>
      </p:sp>
      <p:sp>
        <p:nvSpPr>
          <p:cNvPr id="36" name="TextBox 35"/>
          <p:cNvSpPr txBox="1"/>
          <p:nvPr/>
        </p:nvSpPr>
        <p:spPr>
          <a:xfrm>
            <a:off x="7921447"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7" name="Rounded Rectangle 36"/>
          <p:cNvSpPr/>
          <p:nvPr/>
        </p:nvSpPr>
        <p:spPr>
          <a:xfrm>
            <a:off x="8104327" y="2670048"/>
            <a:ext cx="149961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186623"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8662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488375"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insight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Using the AI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Look up/act by voice or text</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Speak or type into the search/mic and the AI looks up numbers or opens screens within your branch scope. Important actions are confirmed first, and it only does what you're permitted.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Speak or type into the center search/mic. e.g. 'How's the branch revenue this month?'</a:t>
            </a:r>
          </a:p>
          <a:p>
            <a:pPr>
              <a:lnSpc>
                <a:spcPct val="115000"/>
              </a:lnSpc>
              <a:spcAft>
                <a:spcPts val="300"/>
              </a:spcAft>
            </a:pPr>
            <a:r>
              <a:rPr sz="700" b="1">
                <a:solidFill>
                  <a:srgbClr val="0D9488"/>
                </a:solidFill>
                <a:latin typeface="Malgun Gothic"/>
              </a:rPr>
              <a:t>● </a:t>
            </a:r>
            <a:r>
              <a:rPr sz="900">
                <a:solidFill>
                  <a:srgbClr val="334155"/>
                </a:solidFill>
                <a:latin typeface="Malgun Gothic"/>
              </a:rPr>
              <a:t>The AI looks up numbers or opens a screen. e.g. 'Open the agency list.'</a:t>
            </a:r>
          </a:p>
          <a:p>
            <a:pPr>
              <a:lnSpc>
                <a:spcPct val="115000"/>
              </a:lnSpc>
              <a:spcAft>
                <a:spcPts val="300"/>
              </a:spcAft>
            </a:pPr>
            <a:r>
              <a:rPr sz="700" b="1">
                <a:solidFill>
                  <a:srgbClr val="0D9488"/>
                </a:solidFill>
                <a:latin typeface="Malgun Gothic"/>
              </a:rPr>
              <a:t>● </a:t>
            </a:r>
            <a:r>
              <a:rPr sz="900">
                <a:solidFill>
                  <a:srgbClr val="334155"/>
                </a:solidFill>
                <a:latin typeface="Malgun Gothic"/>
              </a:rPr>
              <a:t>Important actions are confirmed with 'Shall I?' first.</a:t>
            </a:r>
          </a:p>
          <a:p>
            <a:pPr>
              <a:lnSpc>
                <a:spcPct val="115000"/>
              </a:lnSpc>
              <a:spcAft>
                <a:spcPts val="300"/>
              </a:spcAft>
            </a:pPr>
            <a:r>
              <a:rPr sz="700" b="1">
                <a:solidFill>
                  <a:srgbClr val="0D9488"/>
                </a:solidFill>
                <a:latin typeface="Malgun Gothic"/>
              </a:rPr>
              <a:t>● </a:t>
            </a:r>
            <a:r>
              <a:rPr sz="900">
                <a:solidFill>
                  <a:srgbClr val="334155"/>
                </a:solidFill>
                <a:latin typeface="Malgun Gothic"/>
              </a:rPr>
              <a:t>The assistant only executes what you're permitted.</a:t>
            </a:r>
          </a:p>
        </p:txBody>
      </p:sp>
      <p:sp>
        <p:nvSpPr>
          <p:cNvPr id="14" name="Rounded Rectangle 13"/>
          <p:cNvSpPr/>
          <p:nvPr/>
        </p:nvSpPr>
        <p:spPr>
          <a:xfrm>
            <a:off x="457200" y="5636361"/>
            <a:ext cx="5669280" cy="833475"/>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928969"/>
            <a:ext cx="5394960" cy="504291"/>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When busy, voice is much faster.</a:t>
            </a:r>
          </a:p>
          <a:p>
            <a:pPr>
              <a:lnSpc>
                <a:spcPct val="115000"/>
              </a:lnSpc>
              <a:spcAft>
                <a:spcPts val="100"/>
              </a:spcAft>
            </a:pPr>
            <a:r>
              <a:rPr sz="650" b="1">
                <a:solidFill>
                  <a:srgbClr val="0D9488"/>
                </a:solidFill>
                <a:latin typeface="Malgun Gothic"/>
              </a:rPr>
              <a:t>● </a:t>
            </a:r>
            <a:r>
              <a:rPr sz="850">
                <a:solidFill>
                  <a:srgbClr val="334155"/>
                </a:solidFill>
                <a:latin typeface="Malgun Gothic"/>
              </a:rPr>
              <a:t>Results are limited to your branch scope.</a:t>
            </a:r>
          </a:p>
        </p:txBody>
      </p:sp>
      <p:sp>
        <p:nvSpPr>
          <p:cNvPr id="17" name="Rounded Rectangle 16"/>
          <p:cNvSpPr/>
          <p:nvPr/>
        </p:nvSpPr>
        <p:spPr>
          <a:xfrm>
            <a:off x="365760" y="6217920"/>
            <a:ext cx="11457432" cy="47548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Just say 'show me/open ○○' to jump to the screen you want.</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627985" y="2670048"/>
            <a:ext cx="149961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71028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1028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012033"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search/mic</a:t>
            </a:r>
          </a:p>
        </p:txBody>
      </p:sp>
      <p:sp>
        <p:nvSpPr>
          <p:cNvPr id="26" name="TextBox 25"/>
          <p:cNvSpPr txBox="1"/>
          <p:nvPr/>
        </p:nvSpPr>
        <p:spPr>
          <a:xfrm>
            <a:off x="4127601"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7" name="Rounded Rectangle 26"/>
          <p:cNvSpPr/>
          <p:nvPr/>
        </p:nvSpPr>
        <p:spPr>
          <a:xfrm>
            <a:off x="4310481"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392777"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277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69452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looks up n…</a:t>
            </a:r>
          </a:p>
        </p:txBody>
      </p:sp>
      <p:sp>
        <p:nvSpPr>
          <p:cNvPr id="31" name="TextBox 30"/>
          <p:cNvSpPr txBox="1"/>
          <p:nvPr/>
        </p:nvSpPr>
        <p:spPr>
          <a:xfrm>
            <a:off x="5967374"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2" name="Rounded Rectangle 31"/>
          <p:cNvSpPr/>
          <p:nvPr/>
        </p:nvSpPr>
        <p:spPr>
          <a:xfrm>
            <a:off x="6150254" y="2670048"/>
            <a:ext cx="1570939"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3255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3255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34302"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confirmed…</a:t>
            </a:r>
          </a:p>
        </p:txBody>
      </p:sp>
      <p:sp>
        <p:nvSpPr>
          <p:cNvPr id="36" name="TextBox 35"/>
          <p:cNvSpPr txBox="1"/>
          <p:nvPr/>
        </p:nvSpPr>
        <p:spPr>
          <a:xfrm>
            <a:off x="7721193"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7" name="Rounded Rectangle 36"/>
          <p:cNvSpPr/>
          <p:nvPr/>
        </p:nvSpPr>
        <p:spPr>
          <a:xfrm>
            <a:off x="7904073"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986369"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8636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28812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what you'r…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Manage Sub-agencies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 performance, recruiting</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Manage the agencies under your branch as a list and compare each agency's enrollment, revenue and performance. Recruiting and onboarding new agencies is handled here too.</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63540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Check each agency's enrollment, revenue and activity in the agency list.</a:t>
            </a:r>
          </a:p>
          <a:p>
            <a:pPr>
              <a:lnSpc>
                <a:spcPct val="115000"/>
              </a:lnSpc>
              <a:spcAft>
                <a:spcPts val="300"/>
              </a:spcAft>
            </a:pPr>
            <a:r>
              <a:rPr sz="700" b="1">
                <a:solidFill>
                  <a:srgbClr val="0D9488"/>
                </a:solidFill>
                <a:latin typeface="Malgun Gothic"/>
              </a:rPr>
              <a:t>● </a:t>
            </a:r>
            <a:r>
              <a:rPr sz="900">
                <a:solidFill>
                  <a:srgbClr val="334155"/>
                </a:solidFill>
                <a:latin typeface="Malgun Gothic"/>
              </a:rPr>
              <a:t>Compare strong/weak agencies to set support priorities.</a:t>
            </a:r>
          </a:p>
          <a:p>
            <a:pPr>
              <a:lnSpc>
                <a:spcPct val="115000"/>
              </a:lnSpc>
              <a:spcAft>
                <a:spcPts val="300"/>
              </a:spcAft>
            </a:pPr>
            <a:r>
              <a:rPr sz="700" b="1">
                <a:solidFill>
                  <a:srgbClr val="0D9488"/>
                </a:solidFill>
                <a:latin typeface="Malgun Gothic"/>
              </a:rPr>
              <a:t>● </a:t>
            </a:r>
            <a:r>
              <a:rPr sz="900">
                <a:solidFill>
                  <a:srgbClr val="334155"/>
                </a:solidFill>
                <a:latin typeface="Malgun Gothic"/>
              </a:rPr>
              <a:t>Manage new-agency recruiting/onboarding progress.</a:t>
            </a:r>
          </a:p>
          <a:p>
            <a:pPr>
              <a:lnSpc>
                <a:spcPct val="115000"/>
              </a:lnSpc>
              <a:spcAft>
                <a:spcPts val="300"/>
              </a:spcAft>
            </a:pPr>
            <a:r>
              <a:rPr sz="700" b="1">
                <a:solidFill>
                  <a:srgbClr val="0D9488"/>
                </a:solidFill>
                <a:latin typeface="Malgun Gothic"/>
              </a:rPr>
              <a:t>● </a:t>
            </a:r>
            <a:r>
              <a:rPr sz="900">
                <a:solidFill>
                  <a:srgbClr val="334155"/>
                </a:solidFill>
                <a:latin typeface="Malgun Gothic"/>
              </a:rPr>
              <a:t>Set goals/incentives per agency if needed.</a:t>
            </a:r>
          </a:p>
        </p:txBody>
      </p:sp>
      <p:sp>
        <p:nvSpPr>
          <p:cNvPr id="14" name="Rounded Rectangle 13"/>
          <p:cNvSpPr/>
          <p:nvPr/>
        </p:nvSpPr>
        <p:spPr>
          <a:xfrm>
            <a:off x="457200" y="5475884"/>
            <a:ext cx="5669280" cy="985037"/>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52160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768492"/>
            <a:ext cx="5394960" cy="655853"/>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Link agencies with big performance gaps to coaching/support.</a:t>
            </a:r>
          </a:p>
          <a:p>
            <a:pPr>
              <a:lnSpc>
                <a:spcPct val="115000"/>
              </a:lnSpc>
              <a:spcAft>
                <a:spcPts val="100"/>
              </a:spcAft>
            </a:pPr>
            <a:r>
              <a:rPr sz="650" b="1">
                <a:solidFill>
                  <a:srgbClr val="0D9488"/>
                </a:solidFill>
                <a:latin typeface="Malgun Gothic"/>
              </a:rPr>
              <a:t>● </a:t>
            </a:r>
            <a:r>
              <a:rPr sz="850">
                <a:solidFill>
                  <a:srgbClr val="334155"/>
                </a:solidFill>
                <a:latin typeface="Malgun Gothic"/>
              </a:rPr>
              <a:t>Share top agencies' methods with the others.</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Agency data is also managed by each agency's own login; the branch sees the whole picture.</a:t>
            </a:r>
          </a:p>
        </p:txBody>
      </p:sp>
      <p:sp>
        <p:nvSpPr>
          <p:cNvPr id="19" name="Rounded Rectangle 18"/>
          <p:cNvSpPr/>
          <p:nvPr/>
        </p:nvSpPr>
        <p:spPr>
          <a:xfrm>
            <a:off x="6176772" y="6021324"/>
            <a:ext cx="5646420" cy="672084"/>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Sharing a monthly performance report at month-start boosts partner motivation.</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menu_students.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06370"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88666"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agency lis…</a:t>
            </a:r>
          </a:p>
        </p:txBody>
      </p:sp>
      <p:sp>
        <p:nvSpPr>
          <p:cNvPr id="28" name="TextBox 27"/>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9" name="Rounded Rectangle 28"/>
          <p:cNvSpPr/>
          <p:nvPr/>
        </p:nvSpPr>
        <p:spPr>
          <a:xfrm>
            <a:off x="4346143"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428439"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support pr…</a:t>
            </a:r>
          </a:p>
        </p:txBody>
      </p:sp>
      <p:sp>
        <p:nvSpPr>
          <p:cNvPr id="33" name="TextBox 32"/>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4" name="Rounded Rectangle 33"/>
          <p:cNvSpPr/>
          <p:nvPr/>
        </p:nvSpPr>
        <p:spPr>
          <a:xfrm>
            <a:off x="6185916"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268212"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new-agency…</a:t>
            </a:r>
          </a:p>
        </p:txBody>
      </p:sp>
      <p:sp>
        <p:nvSpPr>
          <p:cNvPr id="38" name="TextBox 37"/>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9" name="Rounded Rectangle 38"/>
          <p:cNvSpPr/>
          <p:nvPr/>
        </p:nvSpPr>
        <p:spPr>
          <a:xfrm>
            <a:off x="8025688"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107984"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goals/ince…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Branch Settlement (receive &amp; distribute)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HQ→branch→agency</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Receive the settlement coming from HQ to your branch and check the amount distributed from the branch to sub-agencies. Revenue and commissions are auto-calculated down the org tree.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Check HQ→branch settlement (received) by month.</a:t>
            </a:r>
          </a:p>
          <a:p>
            <a:pPr>
              <a:lnSpc>
                <a:spcPct val="115000"/>
              </a:lnSpc>
              <a:spcAft>
                <a:spcPts val="300"/>
              </a:spcAft>
            </a:pPr>
            <a:r>
              <a:rPr sz="700" b="1">
                <a:solidFill>
                  <a:srgbClr val="0D9488"/>
                </a:solidFill>
                <a:latin typeface="Malgun Gothic"/>
              </a:rPr>
              <a:t>● </a:t>
            </a:r>
            <a:r>
              <a:rPr sz="900">
                <a:solidFill>
                  <a:srgbClr val="334155"/>
                </a:solidFill>
                <a:latin typeface="Malgun Gothic"/>
              </a:rPr>
              <a:t>Branch→agency distribution is auto-calculated by the tree.</a:t>
            </a:r>
          </a:p>
          <a:p>
            <a:pPr>
              <a:lnSpc>
                <a:spcPct val="115000"/>
              </a:lnSpc>
              <a:spcAft>
                <a:spcPts val="300"/>
              </a:spcAft>
            </a:pPr>
            <a:r>
              <a:rPr sz="700" b="1">
                <a:solidFill>
                  <a:srgbClr val="0D9488"/>
                </a:solidFill>
                <a:latin typeface="Malgun Gothic"/>
              </a:rPr>
              <a:t>● </a:t>
            </a:r>
            <a:r>
              <a:rPr sz="900">
                <a:solidFill>
                  <a:srgbClr val="334155"/>
                </a:solidFill>
                <a:latin typeface="Malgun Gothic"/>
              </a:rPr>
              <a:t>Review/save the settlement in a monthly report (PDF).</a:t>
            </a:r>
          </a:p>
          <a:p>
            <a:pPr>
              <a:lnSpc>
                <a:spcPct val="115000"/>
              </a:lnSpc>
              <a:spcAft>
                <a:spcPts val="300"/>
              </a:spcAft>
            </a:pPr>
            <a:r>
              <a:rPr sz="700" b="1">
                <a:solidFill>
                  <a:srgbClr val="0D9488"/>
                </a:solidFill>
                <a:latin typeface="Malgun Gothic"/>
              </a:rPr>
              <a:t>● </a:t>
            </a:r>
            <a:r>
              <a:rPr sz="900">
                <a:solidFill>
                  <a:srgbClr val="334155"/>
                </a:solidFill>
                <a:latin typeface="Malgun Gothic"/>
              </a:rPr>
              <a:t>If an item looks off, look up the details to confirm.</a:t>
            </a:r>
          </a:p>
        </p:txBody>
      </p:sp>
      <p:sp>
        <p:nvSpPr>
          <p:cNvPr id="14" name="Rounded Rectangle 13"/>
          <p:cNvSpPr/>
          <p:nvPr/>
        </p:nvSpPr>
        <p:spPr>
          <a:xfrm>
            <a:off x="457200" y="5636361"/>
            <a:ext cx="5669280" cy="1136599"/>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Settlement is auto-calculated down the org tree (HQ·branch·agency).</a:t>
            </a:r>
          </a:p>
          <a:p>
            <a:pPr>
              <a:lnSpc>
                <a:spcPct val="115000"/>
              </a:lnSpc>
              <a:spcAft>
                <a:spcPts val="100"/>
              </a:spcAft>
            </a:pPr>
            <a:r>
              <a:rPr sz="650" b="1">
                <a:solidFill>
                  <a:srgbClr val="0D9488"/>
                </a:solidFill>
                <a:latin typeface="Malgun Gothic"/>
              </a:rPr>
              <a:t>● </a:t>
            </a:r>
            <a:r>
              <a:rPr sz="850">
                <a:solidFill>
                  <a:srgbClr val="334155"/>
                </a:solidFill>
                <a:latin typeface="Malgun Gothic"/>
              </a:rPr>
              <a:t>Distributing the settlement report early builds agency trust.</a:t>
            </a:r>
          </a:p>
        </p:txBody>
      </p:sp>
      <p:sp>
        <p:nvSpPr>
          <p:cNvPr id="17" name="Rounded Rectangle 16"/>
          <p:cNvSpPr/>
          <p:nvPr/>
        </p:nvSpPr>
        <p:spPr>
          <a:xfrm>
            <a:off x="365760" y="6217920"/>
            <a:ext cx="11457432" cy="47548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Announcing settlement terms (rate·timing) to agencies in advance reduces disputes.</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478024" y="2670048"/>
            <a:ext cx="164226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56032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603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862072" y="2670048"/>
            <a:ext cx="12216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HQ→branch…</a:t>
            </a:r>
          </a:p>
        </p:txBody>
      </p:sp>
      <p:sp>
        <p:nvSpPr>
          <p:cNvPr id="26" name="TextBox 25"/>
          <p:cNvSpPr txBox="1"/>
          <p:nvPr/>
        </p:nvSpPr>
        <p:spPr>
          <a:xfrm>
            <a:off x="4120286"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7" name="Rounded Rectangle 26"/>
          <p:cNvSpPr/>
          <p:nvPr/>
        </p:nvSpPr>
        <p:spPr>
          <a:xfrm>
            <a:off x="4303166" y="2670048"/>
            <a:ext cx="1728216"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385462"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546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687214" y="2670048"/>
            <a:ext cx="1307592"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Branch→age…</a:t>
            </a:r>
          </a:p>
        </p:txBody>
      </p:sp>
      <p:sp>
        <p:nvSpPr>
          <p:cNvPr id="31" name="TextBox 30"/>
          <p:cNvSpPr txBox="1"/>
          <p:nvPr/>
        </p:nvSpPr>
        <p:spPr>
          <a:xfrm>
            <a:off x="6031382"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2" name="Rounded Rectangle 31"/>
          <p:cNvSpPr/>
          <p:nvPr/>
        </p:nvSpPr>
        <p:spPr>
          <a:xfrm>
            <a:off x="6214262"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96558"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65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9831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monthly re…</a:t>
            </a:r>
          </a:p>
        </p:txBody>
      </p:sp>
      <p:sp>
        <p:nvSpPr>
          <p:cNvPr id="36" name="TextBox 35"/>
          <p:cNvSpPr txBox="1"/>
          <p:nvPr/>
        </p:nvSpPr>
        <p:spPr>
          <a:xfrm>
            <a:off x="7871155"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7" name="Rounded Rectangle 36"/>
          <p:cNvSpPr/>
          <p:nvPr/>
        </p:nvSpPr>
        <p:spPr>
          <a:xfrm>
            <a:off x="8054035"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13633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363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43808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If an item…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 Parent Status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Branch-scope enrollment·attendance·grades</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Check the status of students in your branch (enrollment, attendance, grades). View by agency or as a branch total.</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Check branch-scope enrolled students in Students/Parents.</a:t>
            </a:r>
          </a:p>
          <a:p>
            <a:pPr>
              <a:lnSpc>
                <a:spcPct val="115000"/>
              </a:lnSpc>
              <a:spcAft>
                <a:spcPts val="300"/>
              </a:spcAft>
            </a:pPr>
            <a:r>
              <a:rPr sz="700" b="1">
                <a:solidFill>
                  <a:srgbClr val="0D9488"/>
                </a:solidFill>
                <a:latin typeface="Malgun Gothic"/>
              </a:rPr>
              <a:t>● </a:t>
            </a:r>
            <a:r>
              <a:rPr sz="900">
                <a:solidFill>
                  <a:srgbClr val="334155"/>
                </a:solidFill>
                <a:latin typeface="Malgun Gothic"/>
              </a:rPr>
              <a:t>Compare attendance/grades by agency and overall.</a:t>
            </a:r>
          </a:p>
          <a:p>
            <a:pPr>
              <a:lnSpc>
                <a:spcPct val="115000"/>
              </a:lnSpc>
              <a:spcAft>
                <a:spcPts val="300"/>
              </a:spcAft>
            </a:pPr>
            <a:r>
              <a:rPr sz="700" b="1">
                <a:solidFill>
                  <a:srgbClr val="0D9488"/>
                </a:solidFill>
                <a:latin typeface="Malgun Gothic"/>
              </a:rPr>
              <a:t>● </a:t>
            </a:r>
            <a:r>
              <a:rPr sz="900">
                <a:solidFill>
                  <a:srgbClr val="334155"/>
                </a:solidFill>
                <a:latin typeface="Malgun Gothic"/>
              </a:rPr>
              <a:t>Flag students/agencies that need attention.</a:t>
            </a:r>
          </a:p>
        </p:txBody>
      </p:sp>
      <p:sp>
        <p:nvSpPr>
          <p:cNvPr id="14" name="Rounded Rectangle 13"/>
          <p:cNvSpPr/>
          <p:nvPr/>
        </p:nvSpPr>
        <p:spPr>
          <a:xfrm>
            <a:off x="457200" y="5026914"/>
            <a:ext cx="5669280" cy="985037"/>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319522"/>
            <a:ext cx="5394960" cy="655853"/>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The student list is linked to real member data.</a:t>
            </a:r>
          </a:p>
          <a:p>
            <a:pPr>
              <a:lnSpc>
                <a:spcPct val="115000"/>
              </a:lnSpc>
              <a:spcAft>
                <a:spcPts val="100"/>
              </a:spcAft>
            </a:pPr>
            <a:r>
              <a:rPr sz="650" b="1">
                <a:solidFill>
                  <a:srgbClr val="0D9488"/>
                </a:solidFill>
                <a:latin typeface="Malgun Gothic"/>
              </a:rPr>
              <a:t>● </a:t>
            </a:r>
            <a:r>
              <a:rPr sz="850">
                <a:solidFill>
                  <a:srgbClr val="334155"/>
                </a:solidFill>
                <a:latin typeface="Malgun Gothic"/>
              </a:rPr>
              <a:t>At-risk students link to the Retention Center.</a:t>
            </a:r>
          </a:p>
        </p:txBody>
      </p:sp>
      <p:sp>
        <p:nvSpPr>
          <p:cNvPr id="17" name="Rounded Rectangle 16"/>
          <p:cNvSpPr/>
          <p:nvPr/>
        </p:nvSpPr>
        <p:spPr>
          <a:xfrm>
            <a:off x="365760" y="6217920"/>
            <a:ext cx="11457432" cy="47548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Find agencies whose attendance/enrollment is dipping and support them quickly.</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69233"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51529"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1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53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Students/P…</a:t>
            </a:r>
          </a:p>
        </p:txBody>
      </p:sp>
      <p:sp>
        <p:nvSpPr>
          <p:cNvPr id="26" name="TextBox 25"/>
          <p:cNvSpPr txBox="1"/>
          <p:nvPr/>
        </p:nvSpPr>
        <p:spPr>
          <a:xfrm>
            <a:off x="5126126"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7" name="Rounded Rectangle 26"/>
          <p:cNvSpPr/>
          <p:nvPr/>
        </p:nvSpPr>
        <p:spPr>
          <a:xfrm>
            <a:off x="5309006" y="2670048"/>
            <a:ext cx="1570939"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91302"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13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93054"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by agency…</a:t>
            </a:r>
          </a:p>
        </p:txBody>
      </p:sp>
      <p:sp>
        <p:nvSpPr>
          <p:cNvPr id="31" name="TextBox 30"/>
          <p:cNvSpPr txBox="1"/>
          <p:nvPr/>
        </p:nvSpPr>
        <p:spPr>
          <a:xfrm>
            <a:off x="6879945"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2" name="Rounded Rectangle 31"/>
          <p:cNvSpPr/>
          <p:nvPr/>
        </p:nvSpPr>
        <p:spPr>
          <a:xfrm>
            <a:off x="7062825"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4512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45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4687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Flag stude…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Payments·Overdue·Refunds (branch)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Branch-scope accounting</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Check payments, overdue and refunds in your branch scope and review amounts auto-calculated by policy. Also see collection status by agency.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Check branch-scope payments/overdue/refunds in Accounting/Points.</a:t>
            </a:r>
          </a:p>
          <a:p>
            <a:pPr>
              <a:lnSpc>
                <a:spcPct val="115000"/>
              </a:lnSpc>
              <a:spcAft>
                <a:spcPts val="300"/>
              </a:spcAft>
            </a:pPr>
            <a:r>
              <a:rPr sz="700" b="1">
                <a:solidFill>
                  <a:srgbClr val="0D9488"/>
                </a:solidFill>
                <a:latin typeface="Malgun Gothic"/>
              </a:rPr>
              <a:t>● </a:t>
            </a:r>
            <a:r>
              <a:rPr sz="900">
                <a:solidFill>
                  <a:srgbClr val="334155"/>
                </a:solidFill>
                <a:latin typeface="Malgun Gothic"/>
              </a:rPr>
              <a:t>Compare collection rate by agency.</a:t>
            </a:r>
          </a:p>
          <a:p>
            <a:pPr>
              <a:lnSpc>
                <a:spcPct val="115000"/>
              </a:lnSpc>
              <a:spcAft>
                <a:spcPts val="300"/>
              </a:spcAft>
            </a:pPr>
            <a:r>
              <a:rPr sz="700" b="1">
                <a:solidFill>
                  <a:srgbClr val="0D9488"/>
                </a:solidFill>
                <a:latin typeface="Malgun Gothic"/>
              </a:rPr>
              <a:t>● </a:t>
            </a:r>
            <a:r>
              <a:rPr sz="900">
                <a:solidFill>
                  <a:srgbClr val="334155"/>
                </a:solidFill>
                <a:latin typeface="Malgun Gothic"/>
              </a:rPr>
              <a:t>Amounts are auto-calculated per the refund table.</a:t>
            </a:r>
          </a:p>
        </p:txBody>
      </p:sp>
      <p:sp>
        <p:nvSpPr>
          <p:cNvPr id="14" name="Rounded Rectangle 13"/>
          <p:cNvSpPr/>
          <p:nvPr/>
        </p:nvSpPr>
        <p:spPr>
          <a:xfrm>
            <a:off x="457200" y="5026914"/>
            <a:ext cx="5669280" cy="1136599"/>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319522"/>
            <a:ext cx="5394960" cy="807415"/>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Strengthen alerts/support for agencies with high overdue.</a:t>
            </a:r>
          </a:p>
          <a:p>
            <a:pPr>
              <a:lnSpc>
                <a:spcPct val="115000"/>
              </a:lnSpc>
              <a:spcAft>
                <a:spcPts val="100"/>
              </a:spcAft>
            </a:pPr>
            <a:r>
              <a:rPr sz="650" b="1">
                <a:solidFill>
                  <a:srgbClr val="0D9488"/>
                </a:solidFill>
                <a:latin typeface="Malgun Gothic"/>
              </a:rPr>
              <a:t>● </a:t>
            </a:r>
            <a:r>
              <a:rPr sz="850">
                <a:solidFill>
                  <a:srgbClr val="334155"/>
                </a:solidFill>
                <a:latin typeface="Malgun Gothic"/>
              </a:rPr>
              <a:t>Discounted-payment refunds recalc at list price.</a:t>
            </a:r>
          </a:p>
        </p:txBody>
      </p:sp>
      <p:sp>
        <p:nvSpPr>
          <p:cNvPr id="17" name="Rounded Rectangle 16"/>
          <p:cNvSpPr/>
          <p:nvPr/>
        </p:nvSpPr>
        <p:spPr>
          <a:xfrm>
            <a:off x="365760" y="6217920"/>
            <a:ext cx="11457432" cy="47548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Advise agencies with low collection to automate reminders.</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26256"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08552"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Accounting…</a:t>
            </a:r>
          </a:p>
        </p:txBody>
      </p:sp>
      <p:sp>
        <p:nvSpPr>
          <p:cNvPr id="26" name="TextBox 25"/>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7" name="Rounded Rectangle 26"/>
          <p:cNvSpPr/>
          <p:nvPr/>
        </p:nvSpPr>
        <p:spPr>
          <a:xfrm>
            <a:off x="5266029"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8325"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collection…</a:t>
            </a:r>
          </a:p>
        </p:txBody>
      </p:sp>
      <p:sp>
        <p:nvSpPr>
          <p:cNvPr id="31" name="TextBox 30"/>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2" name="Rounded Rectangle 31"/>
          <p:cNvSpPr/>
          <p:nvPr/>
        </p:nvSpPr>
        <p:spPr>
          <a:xfrm>
            <a:off x="7105802"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88098"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refund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Branch Retention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Churn risk·contagion·coaching</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Find at-risk students across your branch/agencies early and prevent chain churn through family/referral. It ties into agency and teacher coaching.</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Find at-risk students/agencies with the churn-risk graph.</a:t>
            </a:r>
          </a:p>
          <a:p>
            <a:pPr>
              <a:lnSpc>
                <a:spcPct val="115000"/>
              </a:lnSpc>
              <a:spcAft>
                <a:spcPts val="300"/>
              </a:spcAft>
            </a:pPr>
            <a:r>
              <a:rPr sz="700" b="1">
                <a:solidFill>
                  <a:srgbClr val="0D9488"/>
                </a:solidFill>
                <a:latin typeface="Malgun Gothic"/>
              </a:rPr>
              <a:t>● </a:t>
            </a:r>
            <a:r>
              <a:rPr sz="900">
                <a:solidFill>
                  <a:srgbClr val="334155"/>
                </a:solidFill>
                <a:latin typeface="Malgun Gothic"/>
              </a:rPr>
              <a:t>Prevent chain churn with the contagion network.</a:t>
            </a:r>
          </a:p>
          <a:p>
            <a:pPr>
              <a:lnSpc>
                <a:spcPct val="115000"/>
              </a:lnSpc>
              <a:spcAft>
                <a:spcPts val="300"/>
              </a:spcAft>
            </a:pPr>
            <a:r>
              <a:rPr sz="700" b="1">
                <a:solidFill>
                  <a:srgbClr val="0D9488"/>
                </a:solidFill>
                <a:latin typeface="Malgun Gothic"/>
              </a:rPr>
              <a:t>● </a:t>
            </a:r>
            <a:r>
              <a:rPr sz="900">
                <a:solidFill>
                  <a:srgbClr val="334155"/>
                </a:solidFill>
                <a:latin typeface="Malgun Gothic"/>
              </a:rPr>
              <a:t>Link high-risk spots to alert-talk/counseling/coaching.</a:t>
            </a:r>
          </a:p>
        </p:txBody>
      </p:sp>
      <p:sp>
        <p:nvSpPr>
          <p:cNvPr id="14" name="Rounded Rectangle 13"/>
          <p:cNvSpPr/>
          <p:nvPr/>
        </p:nvSpPr>
        <p:spPr>
          <a:xfrm>
            <a:off x="457200" y="5187391"/>
            <a:ext cx="5669280" cy="985037"/>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479999"/>
            <a:ext cx="5394960" cy="655853"/>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Intervening early raises retention.</a:t>
            </a:r>
          </a:p>
          <a:p>
            <a:pPr>
              <a:lnSpc>
                <a:spcPct val="115000"/>
              </a:lnSpc>
              <a:spcAft>
                <a:spcPts val="100"/>
              </a:spcAft>
            </a:pPr>
            <a:r>
              <a:rPr sz="650" b="1">
                <a:solidFill>
                  <a:srgbClr val="0D9488"/>
                </a:solidFill>
                <a:latin typeface="Malgun Gothic"/>
              </a:rPr>
              <a:t>● </a:t>
            </a:r>
            <a:r>
              <a:rPr sz="850">
                <a:solidFill>
                  <a:srgbClr val="334155"/>
                </a:solidFill>
                <a:latin typeface="Malgun Gothic"/>
              </a:rPr>
              <a:t>Compare churn patterns by agency to support them.</a:t>
            </a:r>
          </a:p>
        </p:txBody>
      </p:sp>
      <p:sp>
        <p:nvSpPr>
          <p:cNvPr id="17" name="Rounded Rectangle 16"/>
          <p:cNvSpPr/>
          <p:nvPr/>
        </p:nvSpPr>
        <p:spPr>
          <a:xfrm>
            <a:off x="365760" y="6217920"/>
            <a:ext cx="11457432" cy="47548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Just caring weekly for the top at-risk agencies/students noticeably cuts churn.</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69233"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51529"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1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53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churn-risk…</a:t>
            </a:r>
          </a:p>
        </p:txBody>
      </p:sp>
      <p:sp>
        <p:nvSpPr>
          <p:cNvPr id="26" name="TextBox 25"/>
          <p:cNvSpPr txBox="1"/>
          <p:nvPr/>
        </p:nvSpPr>
        <p:spPr>
          <a:xfrm>
            <a:off x="5126126"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7" name="Rounded Rectangle 26"/>
          <p:cNvSpPr/>
          <p:nvPr/>
        </p:nvSpPr>
        <p:spPr>
          <a:xfrm>
            <a:off x="5309006" y="2670048"/>
            <a:ext cx="1570939"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91302"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13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93054"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contagion…</a:t>
            </a:r>
          </a:p>
        </p:txBody>
      </p:sp>
      <p:sp>
        <p:nvSpPr>
          <p:cNvPr id="31" name="TextBox 30"/>
          <p:cNvSpPr txBox="1"/>
          <p:nvPr/>
        </p:nvSpPr>
        <p:spPr>
          <a:xfrm>
            <a:off x="6879945"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2" name="Rounded Rectangle 31"/>
          <p:cNvSpPr/>
          <p:nvPr/>
        </p:nvSpPr>
        <p:spPr>
          <a:xfrm>
            <a:off x="7062825"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4512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45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4687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alert-talk…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Monthly Report·Performance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Branch·agency performance</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Summarize your branch and sub-agencies' performance in a monthly report. See revenue, enrollment, attendance and settlement at a glance and save/print to share.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Check branch/agency performance with the monthly report.</a:t>
            </a:r>
          </a:p>
          <a:p>
            <a:pPr>
              <a:lnSpc>
                <a:spcPct val="115000"/>
              </a:lnSpc>
              <a:spcAft>
                <a:spcPts val="300"/>
              </a:spcAft>
            </a:pPr>
            <a:r>
              <a:rPr sz="700" b="1">
                <a:solidFill>
                  <a:srgbClr val="0D9488"/>
                </a:solidFill>
                <a:latin typeface="Malgun Gothic"/>
              </a:rPr>
              <a:t>● </a:t>
            </a:r>
            <a:r>
              <a:rPr sz="900">
                <a:solidFill>
                  <a:srgbClr val="334155"/>
                </a:solidFill>
                <a:latin typeface="Malgun Gothic"/>
              </a:rPr>
              <a:t>Compare metrics (revenue·enrollment·attendance·settlement) vs prior month/year.</a:t>
            </a:r>
          </a:p>
          <a:p>
            <a:pPr>
              <a:lnSpc>
                <a:spcPct val="115000"/>
              </a:lnSpc>
              <a:spcAft>
                <a:spcPts val="300"/>
              </a:spcAft>
            </a:pPr>
            <a:r>
              <a:rPr sz="700" b="1">
                <a:solidFill>
                  <a:srgbClr val="0D9488"/>
                </a:solidFill>
                <a:latin typeface="Malgun Gothic"/>
              </a:rPr>
              <a:t>● </a:t>
            </a:r>
            <a:r>
              <a:rPr sz="900">
                <a:solidFill>
                  <a:srgbClr val="334155"/>
                </a:solidFill>
                <a:latin typeface="Malgun Gothic"/>
              </a:rPr>
              <a:t>Save the report as print/PDF to share.</a:t>
            </a:r>
          </a:p>
        </p:txBody>
      </p:sp>
      <p:sp>
        <p:nvSpPr>
          <p:cNvPr id="14" name="Rounded Rectangle 13"/>
          <p:cNvSpPr/>
          <p:nvPr/>
        </p:nvSpPr>
        <p:spPr>
          <a:xfrm>
            <a:off x="457200" y="5026914"/>
            <a:ext cx="5669280" cy="985037"/>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319522"/>
            <a:ext cx="5394960" cy="655853"/>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The AI insight helps summarize performance.</a:t>
            </a:r>
          </a:p>
          <a:p>
            <a:pPr>
              <a:lnSpc>
                <a:spcPct val="115000"/>
              </a:lnSpc>
              <a:spcAft>
                <a:spcPts val="100"/>
              </a:spcAft>
            </a:pPr>
            <a:r>
              <a:rPr sz="650" b="1">
                <a:solidFill>
                  <a:srgbClr val="0D9488"/>
                </a:solidFill>
                <a:latin typeface="Malgun Gothic"/>
              </a:rPr>
              <a:t>● </a:t>
            </a:r>
            <a:r>
              <a:rPr sz="850">
                <a:solidFill>
                  <a:srgbClr val="334155"/>
                </a:solidFill>
                <a:latin typeface="Malgun Gothic"/>
              </a:rPr>
              <a:t>The report also works as agency motivation material.</a:t>
            </a:r>
          </a:p>
        </p:txBody>
      </p:sp>
      <p:sp>
        <p:nvSpPr>
          <p:cNvPr id="17" name="Rounded Rectangle 16"/>
          <p:cNvSpPr/>
          <p:nvPr/>
        </p:nvSpPr>
        <p:spPr>
          <a:xfrm>
            <a:off x="365760" y="6217920"/>
            <a:ext cx="11457432" cy="47548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Making monthly report sharing routine keeps branch operations transparent.</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755440"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837736"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3773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13948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monthly re…</a:t>
            </a:r>
          </a:p>
        </p:txBody>
      </p:sp>
      <p:sp>
        <p:nvSpPr>
          <p:cNvPr id="26" name="TextBox 25"/>
          <p:cNvSpPr txBox="1"/>
          <p:nvPr/>
        </p:nvSpPr>
        <p:spPr>
          <a:xfrm>
            <a:off x="5412333"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7" name="Rounded Rectangle 26"/>
          <p:cNvSpPr/>
          <p:nvPr/>
        </p:nvSpPr>
        <p:spPr>
          <a:xfrm>
            <a:off x="5595213" y="2670048"/>
            <a:ext cx="124175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677509"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7750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979261"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Compare</a:t>
            </a:r>
          </a:p>
        </p:txBody>
      </p:sp>
      <p:sp>
        <p:nvSpPr>
          <p:cNvPr id="31" name="TextBox 30"/>
          <p:cNvSpPr txBox="1"/>
          <p:nvPr/>
        </p:nvSpPr>
        <p:spPr>
          <a:xfrm>
            <a:off x="6836968"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2" name="Rounded Rectangle 31"/>
          <p:cNvSpPr/>
          <p:nvPr/>
        </p:nvSpPr>
        <p:spPr>
          <a:xfrm>
            <a:off x="7019848" y="2670048"/>
            <a:ext cx="141366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02144"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0214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03896"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print/PDF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Agency Support·Training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Onboarding·ops coaching</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Support sub-agencies to operate well with onboarding and ops coaching. Guide the user guide/FAQ/support channels and share best practices.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Guide new agencies to the user guide·ops guide.</a:t>
            </a:r>
          </a:p>
          <a:p>
            <a:pPr>
              <a:lnSpc>
                <a:spcPct val="115000"/>
              </a:lnSpc>
              <a:spcAft>
                <a:spcPts val="300"/>
              </a:spcAft>
            </a:pPr>
            <a:r>
              <a:rPr sz="700" b="1">
                <a:solidFill>
                  <a:srgbClr val="0D9488"/>
                </a:solidFill>
                <a:latin typeface="Malgun Gothic"/>
              </a:rPr>
              <a:t>● </a:t>
            </a:r>
            <a:r>
              <a:rPr sz="900">
                <a:solidFill>
                  <a:srgbClr val="334155"/>
                </a:solidFill>
                <a:latin typeface="Malgun Gothic"/>
              </a:rPr>
              <a:t>Organize frequent questions into an FAQ and distribute.</a:t>
            </a:r>
          </a:p>
          <a:p>
            <a:pPr>
              <a:lnSpc>
                <a:spcPct val="115000"/>
              </a:lnSpc>
              <a:spcAft>
                <a:spcPts val="300"/>
              </a:spcAft>
            </a:pPr>
            <a:r>
              <a:rPr sz="700" b="1">
                <a:solidFill>
                  <a:srgbClr val="0D9488"/>
                </a:solidFill>
                <a:latin typeface="Malgun Gothic"/>
              </a:rPr>
              <a:t>● </a:t>
            </a:r>
            <a:r>
              <a:rPr sz="900">
                <a:solidFill>
                  <a:srgbClr val="334155"/>
                </a:solidFill>
                <a:latin typeface="Malgun Gothic"/>
              </a:rPr>
              <a:t>Share top-agency cases to level everyone up.</a:t>
            </a:r>
          </a:p>
        </p:txBody>
      </p:sp>
      <p:sp>
        <p:nvSpPr>
          <p:cNvPr id="14" name="Rounded Rectangle 13"/>
          <p:cNvSpPr/>
          <p:nvPr/>
        </p:nvSpPr>
        <p:spPr>
          <a:xfrm>
            <a:off x="457200" y="5026914"/>
            <a:ext cx="5669280" cy="1136599"/>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319522"/>
            <a:ext cx="5394960" cy="807415"/>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Early onboarding largely decides an agency's success.</a:t>
            </a:r>
          </a:p>
          <a:p>
            <a:pPr>
              <a:lnSpc>
                <a:spcPct val="115000"/>
              </a:lnSpc>
              <a:spcAft>
                <a:spcPts val="100"/>
              </a:spcAft>
            </a:pPr>
            <a:r>
              <a:rPr sz="650" b="1">
                <a:solidFill>
                  <a:srgbClr val="0D9488"/>
                </a:solidFill>
                <a:latin typeface="Malgun Gothic"/>
              </a:rPr>
              <a:t>● </a:t>
            </a:r>
            <a:r>
              <a:rPr sz="850">
                <a:solidFill>
                  <a:srgbClr val="334155"/>
                </a:solidFill>
                <a:latin typeface="Malgun Gothic"/>
              </a:rPr>
              <a:t>Turn repeat questions into FAQ to cut support load.</a:t>
            </a:r>
          </a:p>
        </p:txBody>
      </p:sp>
      <p:sp>
        <p:nvSpPr>
          <p:cNvPr id="17" name="Rounded Rectangle 16"/>
          <p:cNvSpPr/>
          <p:nvPr/>
        </p:nvSpPr>
        <p:spPr>
          <a:xfrm>
            <a:off x="365760" y="6217920"/>
            <a:ext cx="11457432" cy="47548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Quarterly agency meetings help review performance and pain points together.</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805732"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888028"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8802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18978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user guide…</a:t>
            </a:r>
          </a:p>
        </p:txBody>
      </p:sp>
      <p:sp>
        <p:nvSpPr>
          <p:cNvPr id="26" name="TextBox 25"/>
          <p:cNvSpPr txBox="1"/>
          <p:nvPr/>
        </p:nvSpPr>
        <p:spPr>
          <a:xfrm>
            <a:off x="5462625"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7" name="Rounded Rectangle 26"/>
          <p:cNvSpPr/>
          <p:nvPr/>
        </p:nvSpPr>
        <p:spPr>
          <a:xfrm>
            <a:off x="5645505" y="2670048"/>
            <a:ext cx="897940"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72780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2780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6029553" y="2670048"/>
            <a:ext cx="4773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FAQ</a:t>
            </a:r>
          </a:p>
        </p:txBody>
      </p:sp>
      <p:sp>
        <p:nvSpPr>
          <p:cNvPr id="31" name="TextBox 30"/>
          <p:cNvSpPr txBox="1"/>
          <p:nvPr/>
        </p:nvSpPr>
        <p:spPr>
          <a:xfrm>
            <a:off x="6543446"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2" name="Rounded Rectangle 31"/>
          <p:cNvSpPr/>
          <p:nvPr/>
        </p:nvSpPr>
        <p:spPr>
          <a:xfrm>
            <a:off x="6726326"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808622"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0862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11037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level ever…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Support·Inquiries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Get HQ support</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If a problem comes up in operations, contact HQ support channels. System/settlement/policy questions get resolved quickly.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Use phone, email, Kakao and remote support in Support.</a:t>
            </a:r>
          </a:p>
          <a:p>
            <a:pPr>
              <a:lnSpc>
                <a:spcPct val="115000"/>
              </a:lnSpc>
              <a:spcAft>
                <a:spcPts val="300"/>
              </a:spcAft>
            </a:pPr>
            <a:r>
              <a:rPr sz="700" b="1">
                <a:solidFill>
                  <a:srgbClr val="0D9488"/>
                </a:solidFill>
                <a:latin typeface="Malgun Gothic"/>
              </a:rPr>
              <a:t>● </a:t>
            </a:r>
            <a:r>
              <a:rPr sz="900">
                <a:solidFill>
                  <a:srgbClr val="334155"/>
                </a:solidFill>
                <a:latin typeface="Malgun Gothic"/>
              </a:rPr>
              <a:t>Route settlement/policy questions to the HQ contact.</a:t>
            </a:r>
          </a:p>
          <a:p>
            <a:pPr>
              <a:lnSpc>
                <a:spcPct val="115000"/>
              </a:lnSpc>
              <a:spcAft>
                <a:spcPts val="300"/>
              </a:spcAft>
            </a:pPr>
            <a:r>
              <a:rPr sz="700" b="1">
                <a:solidFill>
                  <a:srgbClr val="0D9488"/>
                </a:solidFill>
                <a:latin typeface="Malgun Gothic"/>
              </a:rPr>
              <a:t>● </a:t>
            </a:r>
            <a:r>
              <a:rPr sz="900">
                <a:solidFill>
                  <a:srgbClr val="334155"/>
                </a:solidFill>
                <a:latin typeface="Malgun Gothic"/>
              </a:rPr>
              <a:t>Note the fix for repeat issues.</a:t>
            </a:r>
          </a:p>
        </p:txBody>
      </p:sp>
      <p:sp>
        <p:nvSpPr>
          <p:cNvPr id="14" name="Rounded Rectangle 13"/>
          <p:cNvSpPr/>
          <p:nvPr/>
        </p:nvSpPr>
        <p:spPr>
          <a:xfrm>
            <a:off x="457200" y="5026914"/>
            <a:ext cx="5669280" cy="985037"/>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319522"/>
            <a:ext cx="5394960" cy="655853"/>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System issues resolve fast with remote support.</a:t>
            </a:r>
          </a:p>
          <a:p>
            <a:pPr>
              <a:lnSpc>
                <a:spcPct val="115000"/>
              </a:lnSpc>
              <a:spcAft>
                <a:spcPts val="100"/>
              </a:spcAft>
            </a:pPr>
            <a:r>
              <a:rPr sz="650" b="1">
                <a:solidFill>
                  <a:srgbClr val="0D9488"/>
                </a:solidFill>
                <a:latin typeface="Malgun Gothic"/>
              </a:rPr>
              <a:t>● </a:t>
            </a:r>
            <a:r>
              <a:rPr sz="850">
                <a:solidFill>
                  <a:srgbClr val="334155"/>
                </a:solidFill>
                <a:latin typeface="Malgun Gothic"/>
              </a:rPr>
              <a:t>Inquiries within business hours are faster.</a:t>
            </a:r>
          </a:p>
        </p:txBody>
      </p:sp>
      <p:sp>
        <p:nvSpPr>
          <p:cNvPr id="17" name="Rounded Rectangle 16"/>
          <p:cNvSpPr/>
          <p:nvPr/>
        </p:nvSpPr>
        <p:spPr>
          <a:xfrm>
            <a:off x="365760" y="6217920"/>
            <a:ext cx="11457432" cy="47548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Compile common inquiries and fixes and share them with agencies too.</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712464" y="2670048"/>
            <a:ext cx="124175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9476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9476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096512"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Support</a:t>
            </a:r>
          </a:p>
        </p:txBody>
      </p:sp>
      <p:sp>
        <p:nvSpPr>
          <p:cNvPr id="26" name="TextBox 25"/>
          <p:cNvSpPr txBox="1"/>
          <p:nvPr/>
        </p:nvSpPr>
        <p:spPr>
          <a:xfrm>
            <a:off x="4954219"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7" name="Rounded Rectangle 26"/>
          <p:cNvSpPr/>
          <p:nvPr/>
        </p:nvSpPr>
        <p:spPr>
          <a:xfrm>
            <a:off x="5137099" y="2670048"/>
            <a:ext cx="149961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19395"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939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521147"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HQ contact</a:t>
            </a:r>
          </a:p>
        </p:txBody>
      </p:sp>
      <p:sp>
        <p:nvSpPr>
          <p:cNvPr id="31" name="TextBox 30"/>
          <p:cNvSpPr txBox="1"/>
          <p:nvPr/>
        </p:nvSpPr>
        <p:spPr>
          <a:xfrm>
            <a:off x="6636715"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2" name="Rounded Rectangle 31"/>
          <p:cNvSpPr/>
          <p:nvPr/>
        </p:nvSpPr>
        <p:spPr>
          <a:xfrm>
            <a:off x="6819595"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90189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18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20364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Note the 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clock on screen shows 🇰🇷 Korea and 🇵🇭 Philippines time together. It lets you check the time difference instantly when coordinating lessons between Philippine teachers and Korean students.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On the on-screen dual clock, see 🇰🇷 Korea and 🇵🇭 Philippines time at once.</a:t>
            </a:r>
          </a:p>
          <a:p>
            <a:pPr>
              <a:lnSpc>
                <a:spcPct val="115000"/>
              </a:lnSpc>
              <a:spcAft>
                <a:spcPts val="300"/>
              </a:spcAft>
            </a:pPr>
            <a:r>
              <a:rPr sz="700" b="1">
                <a:solidFill>
                  <a:srgbClr val="0D9488"/>
                </a:solidFill>
                <a:latin typeface="Malgun Gothic"/>
              </a:rPr>
              <a:t>● </a:t>
            </a:r>
            <a:r>
              <a:rPr sz="900">
                <a:solidFill>
                  <a:srgbClr val="334155"/>
                </a:solidFill>
                <a:latin typeface="Malgun Gothic"/>
              </a:rPr>
              <a:t>Drag the clock to move it anywhere you like.</a:t>
            </a:r>
          </a:p>
          <a:p>
            <a:pPr>
              <a:lnSpc>
                <a:spcPct val="115000"/>
              </a:lnSpc>
              <a:spcAft>
                <a:spcPts val="300"/>
              </a:spcAft>
            </a:pPr>
            <a:r>
              <a:rPr sz="700" b="1">
                <a:solidFill>
                  <a:srgbClr val="0D9488"/>
                </a:solidFill>
                <a:latin typeface="Malgun Gothic"/>
              </a:rPr>
              <a:t>● </a:t>
            </a:r>
            <a:r>
              <a:rPr sz="900">
                <a:solidFill>
                  <a:srgbClr val="334155"/>
                </a:solidFill>
                <a:latin typeface="Malgun Gothic"/>
              </a:rPr>
              <a:t>Tap (click) the clock to go to the home screen.</a:t>
            </a:r>
          </a:p>
        </p:txBody>
      </p:sp>
      <p:sp>
        <p:nvSpPr>
          <p:cNvPr id="14" name="Rounded Rectangle 13"/>
          <p:cNvSpPr/>
          <p:nvPr/>
        </p:nvSpPr>
        <p:spPr>
          <a:xfrm>
            <a:off x="457200" y="5026914"/>
            <a:ext cx="5669280" cy="1136599"/>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319522"/>
            <a:ext cx="5394960" cy="807415"/>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The Philippines is 1 hour behind Korea (−1 hour).</a:t>
            </a:r>
          </a:p>
          <a:p>
            <a:pPr>
              <a:lnSpc>
                <a:spcPct val="115000"/>
              </a:lnSpc>
              <a:spcAft>
                <a:spcPts val="100"/>
              </a:spcAft>
            </a:pPr>
            <a:r>
              <a:rPr sz="650" b="1">
                <a:solidFill>
                  <a:srgbClr val="0D9488"/>
                </a:solidFill>
                <a:latin typeface="Malgun Gothic"/>
              </a:rPr>
              <a:t>● </a:t>
            </a:r>
            <a:r>
              <a:rPr sz="850">
                <a:solidFill>
                  <a:srgbClr val="334155"/>
                </a:solidFill>
                <a:latin typeface="Malgun Gothic"/>
              </a:rPr>
              <a:t>You can check booking/entry times in both countries' time.</a:t>
            </a:r>
          </a:p>
        </p:txBody>
      </p:sp>
      <p:sp>
        <p:nvSpPr>
          <p:cNvPr id="17" name="Rounded Rectangle 16"/>
          <p:cNvSpPr/>
          <p:nvPr/>
        </p:nvSpPr>
        <p:spPr>
          <a:xfrm>
            <a:off x="365760" y="6172200"/>
            <a:ext cx="11457432" cy="52120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842269" y="3255264"/>
            <a:ext cx="4512021"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897133" y="3310128"/>
            <a:ext cx="4402293"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841394" y="2670048"/>
            <a:ext cx="149961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92369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2369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225442"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dual clock</a:t>
            </a:r>
          </a:p>
        </p:txBody>
      </p:sp>
      <p:sp>
        <p:nvSpPr>
          <p:cNvPr id="26" name="TextBox 25"/>
          <p:cNvSpPr txBox="1"/>
          <p:nvPr/>
        </p:nvSpPr>
        <p:spPr>
          <a:xfrm>
            <a:off x="5341010"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7" name="Rounded Rectangle 26"/>
          <p:cNvSpPr/>
          <p:nvPr/>
        </p:nvSpPr>
        <p:spPr>
          <a:xfrm>
            <a:off x="5523890" y="2670048"/>
            <a:ext cx="983894"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606186"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061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907938"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Drag</a:t>
            </a:r>
          </a:p>
        </p:txBody>
      </p:sp>
      <p:sp>
        <p:nvSpPr>
          <p:cNvPr id="31" name="TextBox 30"/>
          <p:cNvSpPr txBox="1"/>
          <p:nvPr/>
        </p:nvSpPr>
        <p:spPr>
          <a:xfrm>
            <a:off x="6507784"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2" name="Rounded Rectangle 31"/>
          <p:cNvSpPr/>
          <p:nvPr/>
        </p:nvSpPr>
        <p:spPr>
          <a:xfrm>
            <a:off x="6690664"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77296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7296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07471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Tap (click…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Mangoi offers not only English but also a Chinese course. With a Darakwon Chinese Master (Lv 1–20) pronunciation coach (characters+pinyin, AI voice recognition, native comparison), you can attract and manage students who want Chinese.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In the AI voice coach, pick the CN Chinese level (or go to the Chinese pronunciation coach).</a:t>
            </a:r>
          </a:p>
          <a:p>
            <a:pPr>
              <a:lnSpc>
                <a:spcPct val="115000"/>
              </a:lnSpc>
              <a:spcAft>
                <a:spcPts val="300"/>
              </a:spcAft>
            </a:pPr>
            <a:r>
              <a:rPr sz="700" b="1">
                <a:solidFill>
                  <a:srgbClr val="0D9488"/>
                </a:solidFill>
                <a:latin typeface="Malgun Gothic"/>
              </a:rPr>
              <a:t>● </a:t>
            </a:r>
            <a:r>
              <a:rPr sz="900">
                <a:solidFill>
                  <a:srgbClr val="334155"/>
                </a:solidFill>
                <a:latin typeface="Malgun Gothic"/>
              </a:rPr>
              <a:t>Choose a Master series (1–6, HSK 1–6) and a unit.</a:t>
            </a:r>
          </a:p>
          <a:p>
            <a:pPr>
              <a:lnSpc>
                <a:spcPct val="115000"/>
              </a:lnSpc>
              <a:spcAft>
                <a:spcPts val="300"/>
              </a:spcAft>
            </a:pPr>
            <a:r>
              <a:rPr sz="700" b="1">
                <a:solidFill>
                  <a:srgbClr val="0D9488"/>
                </a:solidFill>
                <a:latin typeface="Malgun Gothic"/>
              </a:rPr>
              <a:t>● </a:t>
            </a:r>
            <a:r>
              <a:rPr sz="900">
                <a:solidFill>
                  <a:srgbClr val="334155"/>
                </a:solidFill>
                <a:latin typeface="Malgun Gothic"/>
              </a:rPr>
              <a:t>Read the sentence (characters + pinyin) and compare with 'Play native audio'.</a:t>
            </a:r>
          </a:p>
          <a:p>
            <a:pPr>
              <a:lnSpc>
                <a:spcPct val="115000"/>
              </a:lnSpc>
              <a:spcAft>
                <a:spcPts val="300"/>
              </a:spcAft>
            </a:pPr>
            <a:r>
              <a:rPr sz="700" b="1">
                <a:solidFill>
                  <a:srgbClr val="0D9488"/>
                </a:solidFill>
                <a:latin typeface="Malgun Gothic"/>
              </a:rPr>
              <a:t>● </a:t>
            </a:r>
            <a:r>
              <a:rPr sz="900">
                <a:solidFill>
                  <a:srgbClr val="334155"/>
                </a:solidFill>
                <a:latin typeface="Malgun Gothic"/>
              </a:rPr>
              <a:t>Practice hard sounds/tones with repeat and slow (0.85x).</a:t>
            </a:r>
          </a:p>
        </p:txBody>
      </p:sp>
      <p:sp>
        <p:nvSpPr>
          <p:cNvPr id="14" name="Rounded Rectangle 13"/>
          <p:cNvSpPr/>
          <p:nvPr/>
        </p:nvSpPr>
        <p:spPr>
          <a:xfrm>
            <a:off x="457200" y="5796838"/>
            <a:ext cx="5669280" cy="1370457"/>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6089446"/>
            <a:ext cx="5394960" cy="1041273"/>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Characters and pinyin appear together, so it's easy to read.</a:t>
            </a:r>
          </a:p>
          <a:p>
            <a:pPr>
              <a:lnSpc>
                <a:spcPct val="115000"/>
              </a:lnSpc>
              <a:spcAft>
                <a:spcPts val="100"/>
              </a:spcAft>
            </a:pPr>
            <a:r>
              <a:rPr sz="650" b="1">
                <a:solidFill>
                  <a:srgbClr val="0D9488"/>
                </a:solidFill>
                <a:latin typeface="Malgun Gothic"/>
              </a:rPr>
              <a:t>● </a:t>
            </a:r>
            <a:r>
              <a:rPr sz="850">
                <a:solidFill>
                  <a:srgbClr val="334155"/>
                </a:solidFill>
                <a:latin typeface="Malgun Gothic"/>
              </a:rPr>
              <a:t>The AI recognizes your voice and compares it to a native speaker.</a:t>
            </a:r>
          </a:p>
          <a:p>
            <a:pPr>
              <a:lnSpc>
                <a:spcPct val="115000"/>
              </a:lnSpc>
              <a:spcAft>
                <a:spcPts val="100"/>
              </a:spcAft>
            </a:pPr>
            <a:r>
              <a:rPr sz="650" b="1">
                <a:solidFill>
                  <a:srgbClr val="0D9488"/>
                </a:solidFill>
                <a:latin typeface="Malgun Gothic"/>
              </a:rPr>
              <a:t>● </a:t>
            </a:r>
            <a:r>
              <a:rPr sz="850">
                <a:solidFill>
                  <a:srgbClr val="334155"/>
                </a:solidFill>
                <a:latin typeface="Malgun Gothic"/>
              </a:rPr>
              <a:t>The learning games hub supports Chinese too.</a:t>
            </a:r>
          </a:p>
        </p:txBody>
      </p:sp>
      <p:sp>
        <p:nvSpPr>
          <p:cNvPr id="17" name="Rounded Rectangle 16"/>
          <p:cNvSpPr/>
          <p:nvPr/>
        </p:nvSpPr>
        <p:spPr>
          <a:xfrm>
            <a:off x="365760" y="6217920"/>
            <a:ext cx="11457432" cy="47548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Listen slowly and repeat clearly to nail the four tones.</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85008" y="2670048"/>
            <a:ext cx="149961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667304"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66730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969056"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CN Chinese</a:t>
            </a:r>
          </a:p>
        </p:txBody>
      </p:sp>
      <p:sp>
        <p:nvSpPr>
          <p:cNvPr id="26" name="TextBox 25"/>
          <p:cNvSpPr txBox="1"/>
          <p:nvPr/>
        </p:nvSpPr>
        <p:spPr>
          <a:xfrm>
            <a:off x="4084624"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7" name="Rounded Rectangle 26"/>
          <p:cNvSpPr/>
          <p:nvPr/>
        </p:nvSpPr>
        <p:spPr>
          <a:xfrm>
            <a:off x="4267504"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34980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4980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65155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Master ser…</a:t>
            </a:r>
          </a:p>
        </p:txBody>
      </p:sp>
      <p:sp>
        <p:nvSpPr>
          <p:cNvPr id="31" name="TextBox 30"/>
          <p:cNvSpPr txBox="1"/>
          <p:nvPr/>
        </p:nvSpPr>
        <p:spPr>
          <a:xfrm>
            <a:off x="5924397"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2" name="Rounded Rectangle 31"/>
          <p:cNvSpPr/>
          <p:nvPr/>
        </p:nvSpPr>
        <p:spPr>
          <a:xfrm>
            <a:off x="6107277"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189573"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8957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49132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characters…</a:t>
            </a:r>
          </a:p>
        </p:txBody>
      </p:sp>
      <p:sp>
        <p:nvSpPr>
          <p:cNvPr id="36" name="TextBox 35"/>
          <p:cNvSpPr txBox="1"/>
          <p:nvPr/>
        </p:nvSpPr>
        <p:spPr>
          <a:xfrm>
            <a:off x="7764170"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7" name="Rounded Rectangle 36"/>
          <p:cNvSpPr/>
          <p:nvPr/>
        </p:nvSpPr>
        <p:spPr>
          <a:xfrm>
            <a:off x="7947050"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029346"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934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33109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repeat and…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In-class Praise Points (understand &amp; use)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Linked to motivation·re-enrollment</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During class the teacher gives 🌟 praise points (+1P) to students on the spot, and an end-of-class rating (+10P) adds up into the student's total points. Points lead to shop/gift rewards, helping motivation and re-enrollment. Your branch understands and uses this flow for performance.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63540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The teacher gives +1P via the 🌟 praise button on a student's video during class.</a:t>
            </a:r>
          </a:p>
          <a:p>
            <a:pPr>
              <a:lnSpc>
                <a:spcPct val="115000"/>
              </a:lnSpc>
              <a:spcAft>
                <a:spcPts val="300"/>
              </a:spcAft>
            </a:pPr>
            <a:r>
              <a:rPr sz="700" b="1">
                <a:solidFill>
                  <a:srgbClr val="0D9488"/>
                </a:solidFill>
                <a:latin typeface="Malgun Gothic"/>
              </a:rPr>
              <a:t>● </a:t>
            </a:r>
            <a:r>
              <a:rPr sz="900">
                <a:solidFill>
                  <a:srgbClr val="334155"/>
                </a:solidFill>
                <a:latin typeface="Malgun Gothic"/>
              </a:rPr>
              <a:t>It accrues live in the student's 🧺 point basket and sums into their total.</a:t>
            </a:r>
          </a:p>
          <a:p>
            <a:pPr>
              <a:lnSpc>
                <a:spcPct val="115000"/>
              </a:lnSpc>
              <a:spcAft>
                <a:spcPts val="300"/>
              </a:spcAft>
            </a:pPr>
            <a:r>
              <a:rPr sz="700" b="1">
                <a:solidFill>
                  <a:srgbClr val="0D9488"/>
                </a:solidFill>
                <a:latin typeface="Malgun Gothic"/>
              </a:rPr>
              <a:t>● </a:t>
            </a:r>
            <a:r>
              <a:rPr sz="900">
                <a:solidFill>
                  <a:srgbClr val="334155"/>
                </a:solidFill>
                <a:latin typeface="Malgun Gothic"/>
              </a:rPr>
              <a:t>A post-class star rating gives the student an extra +10P.</a:t>
            </a:r>
          </a:p>
          <a:p>
            <a:pPr>
              <a:lnSpc>
                <a:spcPct val="115000"/>
              </a:lnSpc>
              <a:spcAft>
                <a:spcPts val="300"/>
              </a:spcAft>
            </a:pPr>
            <a:r>
              <a:rPr sz="700" b="1">
                <a:solidFill>
                  <a:srgbClr val="0D9488"/>
                </a:solidFill>
                <a:latin typeface="Malgun Gothic"/>
              </a:rPr>
              <a:t>● </a:t>
            </a:r>
            <a:r>
              <a:rPr sz="900">
                <a:solidFill>
                  <a:srgbClr val="334155"/>
                </a:solidFill>
                <a:latin typeface="Malgun Gothic"/>
              </a:rPr>
              <a:t>Points connect to shop/roulette/gift rewards.</a:t>
            </a:r>
          </a:p>
        </p:txBody>
      </p:sp>
      <p:sp>
        <p:nvSpPr>
          <p:cNvPr id="14" name="Rounded Rectangle 13"/>
          <p:cNvSpPr/>
          <p:nvPr/>
        </p:nvSpPr>
        <p:spPr>
          <a:xfrm>
            <a:off x="457200" y="5475884"/>
            <a:ext cx="5669280" cy="1136599"/>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52160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768492"/>
            <a:ext cx="5394960" cy="807415"/>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Instant rewards boost participation and re-enrollment.</a:t>
            </a:r>
          </a:p>
          <a:p>
            <a:pPr>
              <a:lnSpc>
                <a:spcPct val="115000"/>
              </a:lnSpc>
              <a:spcAft>
                <a:spcPts val="100"/>
              </a:spcAft>
            </a:pPr>
            <a:r>
              <a:rPr sz="650" b="1">
                <a:solidFill>
                  <a:srgbClr val="0D9488"/>
                </a:solidFill>
                <a:latin typeface="Malgun Gothic"/>
              </a:rPr>
              <a:t>● </a:t>
            </a:r>
            <a:r>
              <a:rPr sz="850">
                <a:solidFill>
                  <a:srgbClr val="334155"/>
                </a:solidFill>
                <a:latin typeface="Malgun Gothic"/>
              </a:rPr>
              <a:t>Use your branch students' points/reward response as a performance signal.</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Teachers give praise points; HQ (admin) configures the shop/reward/gift policy.</a:t>
            </a:r>
          </a:p>
        </p:txBody>
      </p:sp>
      <p:sp>
        <p:nvSpPr>
          <p:cNvPr id="19" name="Rounded Rectangle 18"/>
          <p:cNvSpPr/>
          <p:nvPr/>
        </p:nvSpPr>
        <p:spPr>
          <a:xfrm>
            <a:off x="6176772" y="6021324"/>
            <a:ext cx="5646420" cy="672084"/>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Classes (teachers) where praise points flow well tend to have higher re-enrollment.</a:t>
            </a:r>
          </a:p>
        </p:txBody>
      </p:sp>
      <p:sp>
        <p:nvSpPr>
          <p:cNvPr id="21" name="Rectangle 20"/>
          <p:cNvSpPr/>
          <p:nvPr/>
        </p:nvSpPr>
        <p:spPr>
          <a:xfrm>
            <a:off x="6300216" y="3752988"/>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807852"/>
            <a:ext cx="5486400" cy="158773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713939" y="2670048"/>
            <a:ext cx="124175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796235"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9623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097987"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a:t>
            </a:r>
          </a:p>
        </p:txBody>
      </p:sp>
      <p:sp>
        <p:nvSpPr>
          <p:cNvPr id="28" name="TextBox 27"/>
          <p:cNvSpPr txBox="1"/>
          <p:nvPr/>
        </p:nvSpPr>
        <p:spPr>
          <a:xfrm>
            <a:off x="3955694"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9" name="Rounded Rectangle 28"/>
          <p:cNvSpPr/>
          <p:nvPr/>
        </p:nvSpPr>
        <p:spPr>
          <a:xfrm>
            <a:off x="4138574"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22087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2087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52262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It accrues…</a:t>
            </a:r>
          </a:p>
        </p:txBody>
      </p:sp>
      <p:sp>
        <p:nvSpPr>
          <p:cNvPr id="33" name="TextBox 32"/>
          <p:cNvSpPr txBox="1"/>
          <p:nvPr/>
        </p:nvSpPr>
        <p:spPr>
          <a:xfrm>
            <a:off x="5795467"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4" name="Rounded Rectangle 33"/>
          <p:cNvSpPr/>
          <p:nvPr/>
        </p:nvSpPr>
        <p:spPr>
          <a:xfrm>
            <a:off x="5978347"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060643"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606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36239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post-class…</a:t>
            </a:r>
          </a:p>
        </p:txBody>
      </p:sp>
      <p:sp>
        <p:nvSpPr>
          <p:cNvPr id="38" name="TextBox 37"/>
          <p:cNvSpPr txBox="1"/>
          <p:nvPr/>
        </p:nvSpPr>
        <p:spPr>
          <a:xfrm>
            <a:off x="7635240"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9" name="Rounded Rectangle 38"/>
          <p:cNvSpPr/>
          <p:nvPr/>
        </p:nvSpPr>
        <p:spPr>
          <a:xfrm>
            <a:off x="7818120"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900416"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0041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20216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shop/roule…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Notice Studio (Poster + Popup)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Design notice/event posters and push them as app popups</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This merges the old ‘Poster Maker’ and ‘Popup Notice’ tools into one place. In the ①Create tab you design a notice/event poster, then hand it straight to the ②Publish·Popup tab to show it as a popup in your branch's student app.</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2116836"/>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Go to the admin menu Notification Center → 📢 Notice Studio.</a:t>
            </a:r>
          </a:p>
          <a:p>
            <a:pPr>
              <a:lnSpc>
                <a:spcPct val="115000"/>
              </a:lnSpc>
              <a:spcAft>
                <a:spcPts val="300"/>
              </a:spcAft>
            </a:pPr>
            <a:r>
              <a:rPr sz="700" b="1">
                <a:solidFill>
                  <a:srgbClr val="0D9488"/>
                </a:solidFill>
                <a:latin typeface="Malgun Gothic"/>
              </a:rPr>
              <a:t>● </a:t>
            </a:r>
            <a:r>
              <a:rPr sz="900">
                <a:solidFill>
                  <a:srgbClr val="334155"/>
                </a:solidFill>
                <a:latin typeface="Malgun Gothic"/>
              </a:rPr>
              <a:t>In the ①Create tab, design a poster with text, images, and video (resize · save on server · reuse).</a:t>
            </a:r>
          </a:p>
          <a:p>
            <a:pPr>
              <a:lnSpc>
                <a:spcPct val="115000"/>
              </a:lnSpc>
              <a:spcAft>
                <a:spcPts val="300"/>
              </a:spcAft>
            </a:pPr>
            <a:r>
              <a:rPr sz="700" b="1">
                <a:solidFill>
                  <a:srgbClr val="0D9488"/>
                </a:solidFill>
                <a:latin typeface="Malgun Gothic"/>
              </a:rPr>
              <a:t>● </a:t>
            </a:r>
            <a:r>
              <a:rPr sz="900">
                <a:solidFill>
                  <a:srgbClr val="334155"/>
                </a:solidFill>
                <a:latin typeface="Malgun Gothic"/>
              </a:rPr>
              <a:t>Press ‘📢 Publish as popup’ on the finished poster to auto-switch to the ②Publish·Popup tab.</a:t>
            </a:r>
          </a:p>
          <a:p>
            <a:pPr>
              <a:lnSpc>
                <a:spcPct val="115000"/>
              </a:lnSpc>
              <a:spcAft>
                <a:spcPts val="300"/>
              </a:spcAft>
            </a:pPr>
            <a:r>
              <a:rPr sz="700" b="1">
                <a:solidFill>
                  <a:srgbClr val="0D9488"/>
                </a:solidFill>
                <a:latin typeface="Malgun Gothic"/>
              </a:rPr>
              <a:t>● </a:t>
            </a:r>
            <a:r>
              <a:rPr sz="900">
                <a:solidFill>
                  <a:srgbClr val="334155"/>
                </a:solidFill>
                <a:latin typeface="Malgun Gothic"/>
              </a:rPr>
              <a:t>In the publish tab, set the display period / stop and publish it as a student-app popup.</a:t>
            </a:r>
          </a:p>
        </p:txBody>
      </p:sp>
      <p:sp>
        <p:nvSpPr>
          <p:cNvPr id="14" name="Rounded Rectangle 13"/>
          <p:cNvSpPr/>
          <p:nvPr/>
        </p:nvSpPr>
        <p:spPr>
          <a:xfrm>
            <a:off x="457200" y="5957316"/>
            <a:ext cx="5669280" cy="1370457"/>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003036"/>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6249924"/>
            <a:ext cx="5394960" cy="1041273"/>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Poster creation and popup publishing flow through one screen, two tabs — no more confusion.</a:t>
            </a:r>
          </a:p>
          <a:p>
            <a:pPr>
              <a:lnSpc>
                <a:spcPct val="115000"/>
              </a:lnSpc>
              <a:spcAft>
                <a:spcPts val="100"/>
              </a:spcAft>
            </a:pPr>
            <a:r>
              <a:rPr sz="650" b="1">
                <a:solidFill>
                  <a:srgbClr val="0D9488"/>
                </a:solidFill>
                <a:latin typeface="Malgun Gothic"/>
              </a:rPr>
              <a:t>● </a:t>
            </a:r>
            <a:r>
              <a:rPr sz="850">
                <a:solidFill>
                  <a:srgbClr val="334155"/>
                </a:solidFill>
                <a:latin typeface="Malgun Gothic"/>
              </a:rPr>
              <a:t>Posters you make can be saved and reused.</a:t>
            </a:r>
          </a:p>
          <a:p>
            <a:pPr>
              <a:lnSpc>
                <a:spcPct val="115000"/>
              </a:lnSpc>
              <a:spcAft>
                <a:spcPts val="100"/>
              </a:spcAft>
            </a:pPr>
            <a:r>
              <a:rPr sz="650" b="1">
                <a:solidFill>
                  <a:srgbClr val="0D9488"/>
                </a:solidFill>
                <a:latin typeface="Malgun Gothic"/>
              </a:rPr>
              <a:t>● </a:t>
            </a:r>
            <a:r>
              <a:rPr sz="850">
                <a:solidFill>
                  <a:srgbClr val="334155"/>
                </a:solidFill>
                <a:latin typeface="Malgun Gothic"/>
              </a:rPr>
              <a:t>Whichever route you enter from — AI assistant or sidebar search — the correct tab opens.</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Existing posters/popups are preserved (it was only merged, nothing was deleted).</a:t>
            </a:r>
          </a:p>
        </p:txBody>
      </p:sp>
      <p:sp>
        <p:nvSpPr>
          <p:cNvPr id="19" name="Rounded Rectangle 18"/>
          <p:cNvSpPr/>
          <p:nvPr/>
        </p:nvSpPr>
        <p:spPr>
          <a:xfrm>
            <a:off x="6176772" y="6021324"/>
            <a:ext cx="5646420" cy="672084"/>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Promoting an event takes just one flow: ‘Create → Publish as popup’ right away.</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606954"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68925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8925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99100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Notificati…</a:t>
            </a:r>
          </a:p>
        </p:txBody>
      </p:sp>
      <p:sp>
        <p:nvSpPr>
          <p:cNvPr id="28" name="TextBox 27"/>
          <p:cNvSpPr txBox="1"/>
          <p:nvPr/>
        </p:nvSpPr>
        <p:spPr>
          <a:xfrm>
            <a:off x="4263847"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9" name="Rounded Rectangle 28"/>
          <p:cNvSpPr/>
          <p:nvPr/>
        </p:nvSpPr>
        <p:spPr>
          <a:xfrm>
            <a:off x="4446727" y="2670048"/>
            <a:ext cx="1313078"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29023"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2902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830775" y="2670048"/>
            <a:ext cx="8924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①Create</a:t>
            </a:r>
          </a:p>
        </p:txBody>
      </p:sp>
      <p:sp>
        <p:nvSpPr>
          <p:cNvPr id="33" name="TextBox 32"/>
          <p:cNvSpPr txBox="1"/>
          <p:nvPr/>
        </p:nvSpPr>
        <p:spPr>
          <a:xfrm>
            <a:off x="5759805"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4" name="Rounded Rectangle 33"/>
          <p:cNvSpPr/>
          <p:nvPr/>
        </p:nvSpPr>
        <p:spPr>
          <a:xfrm>
            <a:off x="5942685" y="2670048"/>
            <a:ext cx="1799539"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02498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2498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326733" y="2670048"/>
            <a:ext cx="13789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Publish…</a:t>
            </a:r>
          </a:p>
        </p:txBody>
      </p:sp>
      <p:sp>
        <p:nvSpPr>
          <p:cNvPr id="38" name="TextBox 37"/>
          <p:cNvSpPr txBox="1"/>
          <p:nvPr/>
        </p:nvSpPr>
        <p:spPr>
          <a:xfrm>
            <a:off x="7742224"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9" name="Rounded Rectangle 38"/>
          <p:cNvSpPr/>
          <p:nvPr/>
        </p:nvSpPr>
        <p:spPr>
          <a:xfrm>
            <a:off x="7925104"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740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0740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30915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display pe…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Command the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Navigate with one phrase: “Take me to ○○”</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Type what you want to do into the top search bar (or the bottom-right AI assistant) in plain language, and the AI understands and jumps straight to that screen. It now reliably follows navigation commands like ‘Take me to teacher ○○'s schedule’ or ‘Open auto-scheduling’.</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Type a command in the top search bar or speak with the 🎤 mic.</a:t>
            </a:r>
          </a:p>
          <a:p>
            <a:pPr>
              <a:lnSpc>
                <a:spcPct val="115000"/>
              </a:lnSpc>
              <a:spcAft>
                <a:spcPts val="300"/>
              </a:spcAft>
            </a:pPr>
            <a:r>
              <a:rPr sz="700" b="1">
                <a:solidFill>
                  <a:srgbClr val="0D9488"/>
                </a:solidFill>
                <a:latin typeface="Malgun Gothic"/>
              </a:rPr>
              <a:t>● </a:t>
            </a:r>
            <a:r>
              <a:rPr sz="900">
                <a:solidFill>
                  <a:srgbClr val="334155"/>
                </a:solidFill>
                <a:latin typeface="Malgun Gothic"/>
              </a:rPr>
              <a:t>e.g. “Take me to teacher Kim Minji's schedule” → auto-finds that teacher in the weekly schedule and opens it.</a:t>
            </a:r>
          </a:p>
          <a:p>
            <a:pPr>
              <a:lnSpc>
                <a:spcPct val="115000"/>
              </a:lnSpc>
              <a:spcAft>
                <a:spcPts val="300"/>
              </a:spcAft>
            </a:pPr>
            <a:r>
              <a:rPr sz="700" b="1">
                <a:solidFill>
                  <a:srgbClr val="0D9488"/>
                </a:solidFill>
                <a:latin typeface="Malgun Gothic"/>
              </a:rPr>
              <a:t>● </a:t>
            </a:r>
            <a:r>
              <a:rPr sz="900">
                <a:solidFill>
                  <a:srgbClr val="334155"/>
                </a:solidFill>
                <a:latin typeface="Malgun Gothic"/>
              </a:rPr>
              <a:t>e.g. “Open auto-scheduling,” “Go to settlement” to navigate menus.</a:t>
            </a:r>
          </a:p>
          <a:p>
            <a:pPr>
              <a:lnSpc>
                <a:spcPct val="115000"/>
              </a:lnSpc>
              <a:spcAft>
                <a:spcPts val="300"/>
              </a:spcAft>
            </a:pPr>
            <a:r>
              <a:rPr sz="700" b="1">
                <a:solidFill>
                  <a:srgbClr val="0D9488"/>
                </a:solidFill>
                <a:latin typeface="Malgun Gothic"/>
              </a:rPr>
              <a:t>● </a:t>
            </a:r>
            <a:r>
              <a:rPr sz="900">
                <a:solidFill>
                  <a:srgbClr val="334155"/>
                </a:solidFill>
                <a:latin typeface="Malgun Gothic"/>
              </a:rPr>
              <a:t>Press ‘Go now →’ on the AI response card to move to that screen.</a:t>
            </a:r>
          </a:p>
        </p:txBody>
      </p:sp>
      <p:sp>
        <p:nvSpPr>
          <p:cNvPr id="14" name="Rounded Rectangle 13"/>
          <p:cNvSpPr/>
          <p:nvPr/>
        </p:nvSpPr>
        <p:spPr>
          <a:xfrm>
            <a:off x="457200" y="5796838"/>
            <a:ext cx="5669280" cy="1522018"/>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6089446"/>
            <a:ext cx="5394960" cy="1192834"/>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Navigation commands actually navigate — far fewer ‘explain only, do nothing’ replies.</a:t>
            </a:r>
          </a:p>
          <a:p>
            <a:pPr>
              <a:lnSpc>
                <a:spcPct val="115000"/>
              </a:lnSpc>
              <a:spcAft>
                <a:spcPts val="100"/>
              </a:spcAft>
            </a:pPr>
            <a:r>
              <a:rPr sz="650" b="1">
                <a:solidFill>
                  <a:srgbClr val="0D9488"/>
                </a:solidFill>
                <a:latin typeface="Malgun Gothic"/>
              </a:rPr>
              <a:t>● </a:t>
            </a:r>
            <a:r>
              <a:rPr sz="850">
                <a:solidFill>
                  <a:srgbClr val="334155"/>
                </a:solidFill>
                <a:latin typeface="Malgun Gothic"/>
              </a:rPr>
              <a:t>Searching a schedule by teacher name auto-fills the search box + filters + scrolls.</a:t>
            </a:r>
          </a:p>
          <a:p>
            <a:pPr>
              <a:lnSpc>
                <a:spcPct val="115000"/>
              </a:lnSpc>
              <a:spcAft>
                <a:spcPts val="100"/>
              </a:spcAft>
            </a:pPr>
            <a:r>
              <a:rPr sz="650" b="1">
                <a:solidFill>
                  <a:srgbClr val="0D9488"/>
                </a:solidFill>
                <a:latin typeface="Malgun Gothic"/>
              </a:rPr>
              <a:t>● </a:t>
            </a:r>
            <a:r>
              <a:rPr sz="850">
                <a:solidFill>
                  <a:srgbClr val="334155"/>
                </a:solidFill>
                <a:latin typeface="Malgun Gothic"/>
              </a:rPr>
              <a:t>For data/statistics questions it also helps with card-style answers.</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Commands that actually change things — ‘register · send · modify’ — ask for one more confirmation (a safety guard).</a:t>
            </a:r>
          </a:p>
        </p:txBody>
      </p:sp>
      <p:sp>
        <p:nvSpPr>
          <p:cNvPr id="19" name="Rounded Rectangle 18"/>
          <p:cNvSpPr/>
          <p:nvPr/>
        </p:nvSpPr>
        <p:spPr>
          <a:xfrm>
            <a:off x="6176772" y="5870448"/>
            <a:ext cx="5646420" cy="822960"/>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When you can't recall a menu name, just say what you want to do — it finds its way there.</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85339" y="2670048"/>
            <a:ext cx="149961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67635"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763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69387"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search bar</a:t>
            </a:r>
          </a:p>
        </p:txBody>
      </p:sp>
      <p:sp>
        <p:nvSpPr>
          <p:cNvPr id="28" name="TextBox 27"/>
          <p:cNvSpPr txBox="1"/>
          <p:nvPr/>
        </p:nvSpPr>
        <p:spPr>
          <a:xfrm>
            <a:off x="3984955"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9" name="Rounded Rectangle 28"/>
          <p:cNvSpPr/>
          <p:nvPr/>
        </p:nvSpPr>
        <p:spPr>
          <a:xfrm>
            <a:off x="4167835" y="2670048"/>
            <a:ext cx="172821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25013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501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551883"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“Take me t…</a:t>
            </a:r>
          </a:p>
        </p:txBody>
      </p:sp>
      <p:sp>
        <p:nvSpPr>
          <p:cNvPr id="33" name="TextBox 32"/>
          <p:cNvSpPr txBox="1"/>
          <p:nvPr/>
        </p:nvSpPr>
        <p:spPr>
          <a:xfrm>
            <a:off x="5896051"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4" name="Rounded Rectangle 33"/>
          <p:cNvSpPr/>
          <p:nvPr/>
        </p:nvSpPr>
        <p:spPr>
          <a:xfrm>
            <a:off x="6078931" y="2670048"/>
            <a:ext cx="172821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61227"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6122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462979"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“Open auto…</a:t>
            </a:r>
          </a:p>
        </p:txBody>
      </p:sp>
      <p:sp>
        <p:nvSpPr>
          <p:cNvPr id="38" name="TextBox 37"/>
          <p:cNvSpPr txBox="1"/>
          <p:nvPr/>
        </p:nvSpPr>
        <p:spPr>
          <a:xfrm>
            <a:off x="7807147"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9" name="Rounded Rectangle 38"/>
          <p:cNvSpPr/>
          <p:nvPr/>
        </p:nvSpPr>
        <p:spPr>
          <a:xfrm>
            <a:off x="7990027" y="2670048"/>
            <a:ext cx="171358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72323"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7232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374075" y="2670048"/>
            <a:ext cx="12929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‘Go now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Share Library Links via KakaoTalk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Send videos &amp; docs in original quality</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Every guide and video in the library now has a '💬 Copy KakaoTalk link' button. Attaching a file to KakaoTalk crushes the quality, but sending a link plays the original as-is. One tap copies the link — guiding parents and teachers gets much easier.</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In the admin Library, press 💬 Copy KakaoTalk link next to the file.</a:t>
            </a:r>
          </a:p>
          <a:p>
            <a:pPr>
              <a:lnSpc>
                <a:spcPct val="115000"/>
              </a:lnSpc>
              <a:spcAft>
                <a:spcPts val="300"/>
              </a:spcAft>
            </a:pPr>
            <a:r>
              <a:rPr sz="700" b="1">
                <a:solidFill>
                  <a:srgbClr val="0D9488"/>
                </a:solidFill>
                <a:latin typeface="Malgun Gothic"/>
              </a:rPr>
              <a:t>● </a:t>
            </a:r>
            <a:r>
              <a:rPr sz="900">
                <a:solidFill>
                  <a:srgbClr val="334155"/>
                </a:solidFill>
                <a:latin typeface="Malgun Gothic"/>
              </a:rPr>
              <a:t>Paste it into the KakaoTalk chat room.</a:t>
            </a:r>
          </a:p>
          <a:p>
            <a:pPr>
              <a:lnSpc>
                <a:spcPct val="115000"/>
              </a:lnSpc>
              <a:spcAft>
                <a:spcPts val="300"/>
              </a:spcAft>
            </a:pPr>
            <a:r>
              <a:rPr sz="700" b="1">
                <a:solidFill>
                  <a:srgbClr val="0D9488"/>
                </a:solidFill>
                <a:latin typeface="Malgun Gothic"/>
              </a:rPr>
              <a:t>● </a:t>
            </a:r>
            <a:r>
              <a:rPr sz="900">
                <a:solidFill>
                  <a:srgbClr val="334155"/>
                </a:solidFill>
                <a:latin typeface="Malgun Gothic"/>
              </a:rPr>
              <a:t>Recipients tap the link to watch or download in original quality.</a:t>
            </a:r>
          </a:p>
        </p:txBody>
      </p:sp>
      <p:sp>
        <p:nvSpPr>
          <p:cNvPr id="14" name="Rounded Rectangle 13"/>
          <p:cNvSpPr/>
          <p:nvPr/>
        </p:nvSpPr>
        <p:spPr>
          <a:xfrm>
            <a:off x="457200" y="5026914"/>
            <a:ext cx="5669280" cy="1136599"/>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319522"/>
            <a:ext cx="5394960" cy="807415"/>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For videos, link sharing = original quality; file attachments degrade it.</a:t>
            </a:r>
          </a:p>
          <a:p>
            <a:pPr>
              <a:lnSpc>
                <a:spcPct val="115000"/>
              </a:lnSpc>
              <a:spcAft>
                <a:spcPts val="100"/>
              </a:spcAft>
            </a:pPr>
            <a:r>
              <a:rPr sz="650" b="1">
                <a:solidFill>
                  <a:srgbClr val="0D9488"/>
                </a:solidFill>
                <a:latin typeface="Malgun Gothic"/>
              </a:rPr>
              <a:t>● </a:t>
            </a:r>
            <a:r>
              <a:rPr sz="850">
                <a:solidFill>
                  <a:srgbClr val="334155"/>
                </a:solidFill>
                <a:latin typeface="Malgun Gothic"/>
              </a:rPr>
              <a:t>Works the same for PDFs, PPTs, and videos anywhere in the library.</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Anyone with the link can open it. For internal-only material, check who you share with.</a:t>
            </a:r>
          </a:p>
        </p:txBody>
      </p:sp>
      <p:sp>
        <p:nvSpPr>
          <p:cNvPr id="19" name="Rounded Rectangle 18"/>
          <p:cNvSpPr/>
          <p:nvPr/>
        </p:nvSpPr>
        <p:spPr>
          <a:xfrm>
            <a:off x="6176772" y="6021324"/>
            <a:ext cx="5646420" cy="672084"/>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In a parents' group chat, one video-guide link does all the explaining.</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927348" y="2670048"/>
            <a:ext cx="124175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009644"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0964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4311396"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Library</a:t>
            </a:r>
          </a:p>
        </p:txBody>
      </p:sp>
      <p:sp>
        <p:nvSpPr>
          <p:cNvPr id="28" name="TextBox 27"/>
          <p:cNvSpPr txBox="1"/>
          <p:nvPr/>
        </p:nvSpPr>
        <p:spPr>
          <a:xfrm>
            <a:off x="5169103"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9" name="Rounded Rectangle 28"/>
          <p:cNvSpPr/>
          <p:nvPr/>
        </p:nvSpPr>
        <p:spPr>
          <a:xfrm>
            <a:off x="5351983" y="2670048"/>
            <a:ext cx="1069848"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434279"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3427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736031"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Paste</a:t>
            </a:r>
          </a:p>
        </p:txBody>
      </p:sp>
      <p:sp>
        <p:nvSpPr>
          <p:cNvPr id="33" name="TextBox 32"/>
          <p:cNvSpPr txBox="1"/>
          <p:nvPr/>
        </p:nvSpPr>
        <p:spPr>
          <a:xfrm>
            <a:off x="6421831"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4" name="Rounded Rectangle 33"/>
          <p:cNvSpPr/>
          <p:nvPr/>
        </p:nvSpPr>
        <p:spPr>
          <a:xfrm>
            <a:off x="6604711"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687007"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8700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98875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original q…</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 refreshed admin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Collapsible sidebar · lighter background · line icons</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admin screen is now easier on the eyes and wider. The left menu collapses to a narrow icon rail via the ‹ Collapse button, and the background is now a consistent light tone. Menu icons were redrawn as line icons so labels read clearly.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Press ‹ Collapse at the top of the left menu — it shrinks to an icon rail and the content gets wider.</a:t>
            </a:r>
          </a:p>
          <a:p>
            <a:pPr>
              <a:lnSpc>
                <a:spcPct val="115000"/>
              </a:lnSpc>
              <a:spcAft>
                <a:spcPts val="300"/>
              </a:spcAft>
            </a:pPr>
            <a:r>
              <a:rPr sz="700" b="1">
                <a:solidFill>
                  <a:srgbClr val="0D9488"/>
                </a:solidFill>
                <a:latin typeface="Malgun Gothic"/>
              </a:rPr>
              <a:t>● </a:t>
            </a:r>
            <a:r>
              <a:rPr sz="900">
                <a:solidFill>
                  <a:srgbClr val="334155"/>
                </a:solidFill>
                <a:latin typeface="Malgun Gothic"/>
              </a:rPr>
              <a:t>Press the › button in the same place to expand it again.</a:t>
            </a:r>
          </a:p>
          <a:p>
            <a:pPr>
              <a:lnSpc>
                <a:spcPct val="115000"/>
              </a:lnSpc>
              <a:spcAft>
                <a:spcPts val="300"/>
              </a:spcAft>
            </a:pPr>
            <a:r>
              <a:rPr sz="700" b="1">
                <a:solidFill>
                  <a:srgbClr val="0D9488"/>
                </a:solidFill>
                <a:latin typeface="Malgun Gothic"/>
              </a:rPr>
              <a:t>● </a:t>
            </a:r>
            <a:r>
              <a:rPr sz="900">
                <a:solidFill>
                  <a:srgbClr val="334155"/>
                </a:solidFill>
                <a:latin typeface="Malgun Gothic"/>
              </a:rPr>
              <a:t>The collapsed state is remembered for your next visit.</a:t>
            </a:r>
          </a:p>
          <a:p>
            <a:pPr>
              <a:lnSpc>
                <a:spcPct val="115000"/>
              </a:lnSpc>
              <a:spcAft>
                <a:spcPts val="300"/>
              </a:spcAft>
            </a:pPr>
            <a:r>
              <a:rPr sz="700" b="1">
                <a:solidFill>
                  <a:srgbClr val="0D9488"/>
                </a:solidFill>
                <a:latin typeface="Malgun Gothic"/>
              </a:rPr>
              <a:t>● </a:t>
            </a:r>
            <a:r>
              <a:rPr sz="900">
                <a:solidFill>
                  <a:srgbClr val="334155"/>
                </a:solidFill>
                <a:latin typeface="Malgun Gothic"/>
              </a:rPr>
              <a:t>Too many menus to find one? Type its name into menu search at the top.</a:t>
            </a:r>
          </a:p>
        </p:txBody>
      </p:sp>
      <p:sp>
        <p:nvSpPr>
          <p:cNvPr id="14" name="Rounded Rectangle 13"/>
          <p:cNvSpPr/>
          <p:nvPr/>
        </p:nvSpPr>
        <p:spPr>
          <a:xfrm>
            <a:off x="457200" y="5796838"/>
            <a:ext cx="5669280" cy="167358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6089446"/>
            <a:ext cx="5394960" cy="1344396"/>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Screens full of tables and lists gain a lot of horizontal space.</a:t>
            </a:r>
          </a:p>
          <a:p>
            <a:pPr>
              <a:lnSpc>
                <a:spcPct val="115000"/>
              </a:lnSpc>
              <a:spcAft>
                <a:spcPts val="100"/>
              </a:spcAft>
            </a:pPr>
            <a:r>
              <a:rPr sz="650" b="1">
                <a:solidFill>
                  <a:srgbClr val="0D9488"/>
                </a:solidFill>
                <a:latin typeface="Malgun Gothic"/>
              </a:rPr>
              <a:t>● </a:t>
            </a:r>
            <a:r>
              <a:rPr sz="850">
                <a:solidFill>
                  <a:srgbClr val="334155"/>
                </a:solidFill>
                <a:latin typeface="Malgun Gothic"/>
              </a:rPr>
              <a:t>15 sub-pages were moved onto the same light theme, so the colour jump between screens is gone.</a:t>
            </a:r>
          </a:p>
          <a:p>
            <a:pPr>
              <a:lnSpc>
                <a:spcPct val="115000"/>
              </a:lnSpc>
              <a:spcAft>
                <a:spcPts val="100"/>
              </a:spcAft>
            </a:pPr>
            <a:r>
              <a:rPr sz="650" b="1">
                <a:solidFill>
                  <a:srgbClr val="0D9488"/>
                </a:solidFill>
                <a:latin typeface="Malgun Gothic"/>
              </a:rPr>
              <a:t>● </a:t>
            </a:r>
            <a:r>
              <a:rPr sz="850">
                <a:solidFill>
                  <a:srgbClr val="334155"/>
                </a:solidFill>
                <a:latin typeface="Malgun Gothic"/>
              </a:rPr>
              <a:t>The collapse animation was removed so low-spec PCs don't stutter.</a:t>
            </a:r>
          </a:p>
        </p:txBody>
      </p:sp>
      <p:sp>
        <p:nvSpPr>
          <p:cNvPr id="17" name="Rounded Rectangle 16"/>
          <p:cNvSpPr/>
          <p:nvPr/>
        </p:nvSpPr>
        <p:spPr>
          <a:xfrm>
            <a:off x="365760" y="6172200"/>
            <a:ext cx="11457432" cy="52120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Wide-table screens like settlement and payroll are far easier to read with the menu collapsed.</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sidebar_rail.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979115" y="2670048"/>
            <a:ext cx="1570939"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06141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6141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363163"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Collapse</a:t>
            </a:r>
          </a:p>
        </p:txBody>
      </p:sp>
      <p:sp>
        <p:nvSpPr>
          <p:cNvPr id="26" name="TextBox 25"/>
          <p:cNvSpPr txBox="1"/>
          <p:nvPr/>
        </p:nvSpPr>
        <p:spPr>
          <a:xfrm>
            <a:off x="4550054"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7" name="Rounded Rectangle 26"/>
          <p:cNvSpPr/>
          <p:nvPr/>
        </p:nvSpPr>
        <p:spPr>
          <a:xfrm>
            <a:off x="4732934" y="2670048"/>
            <a:ext cx="797356"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81523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1523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116982" y="2670048"/>
            <a:ext cx="376732"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t>
            </a:r>
          </a:p>
        </p:txBody>
      </p:sp>
      <p:sp>
        <p:nvSpPr>
          <p:cNvPr id="31" name="TextBox 30"/>
          <p:cNvSpPr txBox="1"/>
          <p:nvPr/>
        </p:nvSpPr>
        <p:spPr>
          <a:xfrm>
            <a:off x="5530291"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2" name="Rounded Rectangle 31"/>
          <p:cNvSpPr/>
          <p:nvPr/>
        </p:nvSpPr>
        <p:spPr>
          <a:xfrm>
            <a:off x="5713171"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795467"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9546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09721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remembered…</a:t>
            </a:r>
          </a:p>
        </p:txBody>
      </p:sp>
      <p:sp>
        <p:nvSpPr>
          <p:cNvPr id="36" name="TextBox 35"/>
          <p:cNvSpPr txBox="1"/>
          <p:nvPr/>
        </p:nvSpPr>
        <p:spPr>
          <a:xfrm>
            <a:off x="7370064"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7" name="Rounded Rectangle 36"/>
          <p:cNvSpPr/>
          <p:nvPr/>
        </p:nvSpPr>
        <p:spPr>
          <a:xfrm>
            <a:off x="7552944"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3524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352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93699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menu searc…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interface language sets itself</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Overseas staff and teachers start in English</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Filipino teachers and overseas staff now start in English from the first screen. The interface language is decided from the account's nationality, and teacher accounts are always English regardless of name or previous choice. You can still switch any time with the 🌐 EN / KR button at the top.</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2116836"/>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If the account has a nationality on file, the right language appears automatically at login.</a:t>
            </a:r>
          </a:p>
          <a:p>
            <a:pPr>
              <a:lnSpc>
                <a:spcPct val="115000"/>
              </a:lnSpc>
              <a:spcAft>
                <a:spcPts val="300"/>
              </a:spcAft>
            </a:pPr>
            <a:r>
              <a:rPr sz="700" b="1">
                <a:solidFill>
                  <a:srgbClr val="0D9488"/>
                </a:solidFill>
                <a:latin typeface="Malgun Gothic"/>
              </a:rPr>
              <a:t>● </a:t>
            </a:r>
            <a:r>
              <a:rPr sz="900">
                <a:solidFill>
                  <a:srgbClr val="334155"/>
                </a:solidFill>
                <a:latin typeface="Malgun Gothic"/>
              </a:rPr>
              <a:t>To change it manually, press the 🌐 EN / KR button at the top.</a:t>
            </a:r>
          </a:p>
          <a:p>
            <a:pPr>
              <a:lnSpc>
                <a:spcPct val="115000"/>
              </a:lnSpc>
              <a:spcAft>
                <a:spcPts val="300"/>
              </a:spcAft>
            </a:pPr>
            <a:r>
              <a:rPr sz="700" b="1">
                <a:solidFill>
                  <a:srgbClr val="0D9488"/>
                </a:solidFill>
                <a:latin typeface="Malgun Gothic"/>
              </a:rPr>
              <a:t>● </a:t>
            </a:r>
            <a:r>
              <a:rPr sz="900">
                <a:solidFill>
                  <a:srgbClr val="334155"/>
                </a:solidFill>
                <a:latin typeface="Malgun Gothic"/>
              </a:rPr>
              <a:t>A manual choice is stored per account — several people can share one PC without interference.</a:t>
            </a:r>
          </a:p>
          <a:p>
            <a:pPr>
              <a:lnSpc>
                <a:spcPct val="115000"/>
              </a:lnSpc>
              <a:spcAft>
                <a:spcPts val="300"/>
              </a:spcAft>
            </a:pPr>
            <a:r>
              <a:rPr sz="700" b="1">
                <a:solidFill>
                  <a:srgbClr val="0D9488"/>
                </a:solidFill>
                <a:latin typeface="Malgun Gothic"/>
              </a:rPr>
              <a:t>● </a:t>
            </a:r>
            <a:r>
              <a:rPr sz="900">
                <a:solidFill>
                  <a:srgbClr val="334155"/>
                </a:solidFill>
                <a:latin typeface="Malgun Gothic"/>
              </a:rPr>
              <a:t>Teacher guide slides and manuals switch to the English editions with it.</a:t>
            </a:r>
          </a:p>
        </p:txBody>
      </p:sp>
      <p:sp>
        <p:nvSpPr>
          <p:cNvPr id="14" name="Rounded Rectangle 13"/>
          <p:cNvSpPr/>
          <p:nvPr/>
        </p:nvSpPr>
        <p:spPr>
          <a:xfrm>
            <a:off x="457200" y="5957316"/>
            <a:ext cx="5669280" cy="167358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003036"/>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6249924"/>
            <a:ext cx="5394960" cy="1344396"/>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Teacher accounts are always English — no more getting lost in a Korean screen.</a:t>
            </a:r>
          </a:p>
          <a:p>
            <a:pPr>
              <a:lnSpc>
                <a:spcPct val="115000"/>
              </a:lnSpc>
              <a:spcAft>
                <a:spcPts val="100"/>
              </a:spcAft>
            </a:pPr>
            <a:r>
              <a:rPr sz="650" b="1">
                <a:solidFill>
                  <a:srgbClr val="0D9488"/>
                </a:solidFill>
                <a:latin typeface="Malgun Gothic"/>
              </a:rPr>
              <a:t>● </a:t>
            </a:r>
            <a:r>
              <a:rPr sz="850">
                <a:solidFill>
                  <a:srgbClr val="334155"/>
                </a:solidFill>
                <a:latin typeface="Malgun Gothic"/>
              </a:rPr>
              <a:t>Accounts with an English name no longer flip to Korean because of a Korean job title.</a:t>
            </a:r>
          </a:p>
          <a:p>
            <a:pPr>
              <a:lnSpc>
                <a:spcPct val="115000"/>
              </a:lnSpc>
              <a:spcAft>
                <a:spcPts val="100"/>
              </a:spcAft>
            </a:pPr>
            <a:r>
              <a:rPr sz="650" b="1">
                <a:solidFill>
                  <a:srgbClr val="0D9488"/>
                </a:solidFill>
                <a:latin typeface="Malgun Gothic"/>
              </a:rPr>
              <a:t>● </a:t>
            </a:r>
            <a:r>
              <a:rPr sz="850">
                <a:solidFill>
                  <a:srgbClr val="334155"/>
                </a:solidFill>
                <a:latin typeface="Malgun Gothic"/>
              </a:rPr>
              <a:t>Language choice is isolated per account, so an overseas account isn't overwritten by someone else's pick.</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Accounts with no nationality fall back to the old name/ID heuristic. Please fill in nationality when registering teachers.</a:t>
            </a:r>
          </a:p>
        </p:txBody>
      </p:sp>
      <p:sp>
        <p:nvSpPr>
          <p:cNvPr id="19" name="Rounded Rectangle 18"/>
          <p:cNvSpPr/>
          <p:nvPr/>
        </p:nvSpPr>
        <p:spPr>
          <a:xfrm>
            <a:off x="6176772" y="5870448"/>
            <a:ext cx="5646420" cy="822960"/>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Enter nationality when registering a new teacher and their very first login is in English — fewer support requests.</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635300"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717596"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1759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01934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nationalit…</a:t>
            </a:r>
          </a:p>
        </p:txBody>
      </p:sp>
      <p:sp>
        <p:nvSpPr>
          <p:cNvPr id="28" name="TextBox 27"/>
          <p:cNvSpPr txBox="1"/>
          <p:nvPr/>
        </p:nvSpPr>
        <p:spPr>
          <a:xfrm>
            <a:off x="4292193"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9" name="Rounded Rectangle 28"/>
          <p:cNvSpPr/>
          <p:nvPr/>
        </p:nvSpPr>
        <p:spPr>
          <a:xfrm>
            <a:off x="4475073" y="2670048"/>
            <a:ext cx="148498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57369"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736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859121" y="2670048"/>
            <a:ext cx="10643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EN / KR</a:t>
            </a:r>
          </a:p>
        </p:txBody>
      </p:sp>
      <p:sp>
        <p:nvSpPr>
          <p:cNvPr id="33" name="TextBox 32"/>
          <p:cNvSpPr txBox="1"/>
          <p:nvPr/>
        </p:nvSpPr>
        <p:spPr>
          <a:xfrm>
            <a:off x="5960059"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4" name="Rounded Rectangle 33"/>
          <p:cNvSpPr/>
          <p:nvPr/>
        </p:nvSpPr>
        <p:spPr>
          <a:xfrm>
            <a:off x="6142939"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225235"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2523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52698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per accoun…</a:t>
            </a:r>
          </a:p>
        </p:txBody>
      </p:sp>
      <p:sp>
        <p:nvSpPr>
          <p:cNvPr id="38" name="TextBox 37"/>
          <p:cNvSpPr txBox="1"/>
          <p:nvPr/>
        </p:nvSpPr>
        <p:spPr>
          <a:xfrm>
            <a:off x="7799831"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9" name="Rounded Rectangle 38"/>
          <p:cNvSpPr/>
          <p:nvPr/>
        </p:nvSpPr>
        <p:spPr>
          <a:xfrm>
            <a:off x="7982711" y="2670048"/>
            <a:ext cx="1570939"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65007"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6500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366759"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switch to…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Enrolment &amp; payment → automatic lesson creation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Once payment is confirmed, every session is scheduled</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On the Enrolment screen a student picks teacher, days and time and pays — and all lesson sessions are created automatically the moment payment is confirmed. The old manual timetable entry after payment is gone. If the slot clashes with an existing lesson, the conflict is detected before payment.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208437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Send students and parents the enrolment link.</a:t>
            </a:r>
          </a:p>
          <a:p>
            <a:pPr>
              <a:lnSpc>
                <a:spcPct val="115000"/>
              </a:lnSpc>
              <a:spcAft>
                <a:spcPts val="300"/>
              </a:spcAft>
            </a:pPr>
            <a:r>
              <a:rPr sz="700" b="1">
                <a:solidFill>
                  <a:srgbClr val="0D9488"/>
                </a:solidFill>
                <a:latin typeface="Malgun Gothic"/>
              </a:rPr>
              <a:t>● </a:t>
            </a:r>
            <a:r>
              <a:rPr sz="900">
                <a:solidFill>
                  <a:srgbClr val="334155"/>
                </a:solidFill>
                <a:latin typeface="Malgun Gothic"/>
              </a:rPr>
              <a:t>They choose teacher → lesson options (weekly count, term, length) → days &amp; time.</a:t>
            </a:r>
          </a:p>
          <a:p>
            <a:pPr>
              <a:lnSpc>
                <a:spcPct val="115000"/>
              </a:lnSpc>
              <a:spcAft>
                <a:spcPts val="300"/>
              </a:spcAft>
            </a:pPr>
            <a:r>
              <a:rPr sz="700" b="1">
                <a:solidFill>
                  <a:srgbClr val="0D9488"/>
                </a:solidFill>
                <a:latin typeface="Malgun Gothic"/>
              </a:rPr>
              <a:t>● </a:t>
            </a:r>
            <a:r>
              <a:rPr sz="900">
                <a:solidFill>
                  <a:srgbClr val="334155"/>
                </a:solidFill>
                <a:latin typeface="Malgun Gothic"/>
              </a:rPr>
              <a:t>The slot check must pass before the pay button unlocks (payment is blocked on a clash).</a:t>
            </a:r>
          </a:p>
          <a:p>
            <a:pPr>
              <a:lnSpc>
                <a:spcPct val="115000"/>
              </a:lnSpc>
              <a:spcAft>
                <a:spcPts val="300"/>
              </a:spcAft>
            </a:pPr>
            <a:r>
              <a:rPr sz="700" b="1">
                <a:solidFill>
                  <a:srgbClr val="0D9488"/>
                </a:solidFill>
                <a:latin typeface="Malgun Gothic"/>
              </a:rPr>
              <a:t>● </a:t>
            </a:r>
            <a:r>
              <a:rPr sz="900">
                <a:solidFill>
                  <a:srgbClr val="334155"/>
                </a:solidFill>
                <a:latin typeface="Malgun Gothic"/>
              </a:rPr>
              <a:t>On confirmed payment, all sessions are created at once — verify in the admin lesson list.</a:t>
            </a:r>
          </a:p>
          <a:p>
            <a:pPr>
              <a:lnSpc>
                <a:spcPct val="115000"/>
              </a:lnSpc>
              <a:spcAft>
                <a:spcPts val="300"/>
              </a:spcAft>
            </a:pPr>
            <a:r>
              <a:rPr sz="700" b="1">
                <a:solidFill>
                  <a:srgbClr val="0D9488"/>
                </a:solidFill>
                <a:latin typeface="Malgun Gothic"/>
              </a:rPr>
              <a:t>● </a:t>
            </a:r>
            <a:r>
              <a:rPr sz="900">
                <a:solidFill>
                  <a:srgbClr val="334155"/>
                </a:solidFill>
                <a:latin typeface="Malgun Gothic"/>
              </a:rPr>
              <a:t>Head-office prices and discount rates are managed on the pricing screen.</a:t>
            </a:r>
          </a:p>
        </p:txBody>
      </p:sp>
      <p:sp>
        <p:nvSpPr>
          <p:cNvPr id="14" name="Rounded Rectangle 13"/>
          <p:cNvSpPr/>
          <p:nvPr/>
        </p:nvSpPr>
        <p:spPr>
          <a:xfrm>
            <a:off x="457200" y="5924854"/>
            <a:ext cx="5669280" cy="1522018"/>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7057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6217462"/>
            <a:ext cx="5394960" cy="1192834"/>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Idempotent — a duplicated payment callback will not create the sessions twice.</a:t>
            </a:r>
          </a:p>
          <a:p>
            <a:pPr>
              <a:lnSpc>
                <a:spcPct val="115000"/>
              </a:lnSpc>
              <a:spcAft>
                <a:spcPts val="100"/>
              </a:spcAft>
            </a:pPr>
            <a:r>
              <a:rPr sz="650" b="1">
                <a:solidFill>
                  <a:srgbClr val="0D9488"/>
                </a:solidFill>
                <a:latin typeface="Malgun Gothic"/>
              </a:rPr>
              <a:t>● </a:t>
            </a:r>
            <a:r>
              <a:rPr sz="850">
                <a:solidFill>
                  <a:srgbClr val="334155"/>
                </a:solidFill>
                <a:latin typeface="Malgun Gothic"/>
              </a:rPr>
              <a:t>Clashes with holidays or existing lessons are pushed back so the session count is still met.</a:t>
            </a:r>
          </a:p>
          <a:p>
            <a:pPr>
              <a:lnSpc>
                <a:spcPct val="115000"/>
              </a:lnSpc>
              <a:spcAft>
                <a:spcPts val="100"/>
              </a:spcAft>
            </a:pPr>
            <a:r>
              <a:rPr sz="650" b="1">
                <a:solidFill>
                  <a:srgbClr val="0D9488"/>
                </a:solidFill>
                <a:latin typeface="Malgun Gothic"/>
              </a:rPr>
              <a:t>● </a:t>
            </a:r>
            <a:r>
              <a:rPr sz="850">
                <a:solidFill>
                  <a:srgbClr val="334155"/>
                </a:solidFill>
                <a:latin typeface="Malgun Gothic"/>
              </a:rPr>
              <a:t>Term discounts (6 months −5%, 12 months −10%) are applied to the amount automatically.</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Stage 1 (enrol → pay → auto-create sessions) is live today. Later stages will follow.</a:t>
            </a:r>
          </a:p>
        </p:txBody>
      </p:sp>
      <p:sp>
        <p:nvSpPr>
          <p:cNvPr id="19" name="Rounded Rectangle 18"/>
          <p:cNvSpPr/>
          <p:nvPr/>
        </p:nvSpPr>
        <p:spPr>
          <a:xfrm>
            <a:off x="6176772" y="6021324"/>
            <a:ext cx="5646420" cy="672084"/>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Consultation → level test → send the enrolment link is the smoothest conversion path.</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enroll.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636776" y="2670048"/>
            <a:ext cx="1570939"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719072"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1907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020824"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enrolment…</a:t>
            </a:r>
          </a:p>
        </p:txBody>
      </p:sp>
      <p:sp>
        <p:nvSpPr>
          <p:cNvPr id="28" name="TextBox 27"/>
          <p:cNvSpPr txBox="1"/>
          <p:nvPr/>
        </p:nvSpPr>
        <p:spPr>
          <a:xfrm>
            <a:off x="3207715"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9" name="Rounded Rectangle 28"/>
          <p:cNvSpPr/>
          <p:nvPr/>
        </p:nvSpPr>
        <p:spPr>
          <a:xfrm>
            <a:off x="3390595" y="2670048"/>
            <a:ext cx="164226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47289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728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774643" y="2670048"/>
            <a:ext cx="12216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 →…</a:t>
            </a:r>
          </a:p>
        </p:txBody>
      </p:sp>
      <p:sp>
        <p:nvSpPr>
          <p:cNvPr id="33" name="TextBox 32"/>
          <p:cNvSpPr txBox="1"/>
          <p:nvPr/>
        </p:nvSpPr>
        <p:spPr>
          <a:xfrm>
            <a:off x="5032857"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4" name="Rounded Rectangle 33"/>
          <p:cNvSpPr/>
          <p:nvPr/>
        </p:nvSpPr>
        <p:spPr>
          <a:xfrm>
            <a:off x="5215737"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298033"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803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59978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slot check…</a:t>
            </a:r>
          </a:p>
        </p:txBody>
      </p:sp>
      <p:sp>
        <p:nvSpPr>
          <p:cNvPr id="38" name="TextBox 37"/>
          <p:cNvSpPr txBox="1"/>
          <p:nvPr/>
        </p:nvSpPr>
        <p:spPr>
          <a:xfrm>
            <a:off x="6872630"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9" name="Rounded Rectangle 38"/>
          <p:cNvSpPr/>
          <p:nvPr/>
        </p:nvSpPr>
        <p:spPr>
          <a:xfrm>
            <a:off x="7055510"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137806"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780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43955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all sessio…</a:t>
            </a:r>
          </a:p>
        </p:txBody>
      </p:sp>
      <p:sp>
        <p:nvSpPr>
          <p:cNvPr id="43" name="TextBox 42"/>
          <p:cNvSpPr txBox="1"/>
          <p:nvPr/>
        </p:nvSpPr>
        <p:spPr>
          <a:xfrm>
            <a:off x="8712403"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44" name="Rounded Rectangle 43"/>
          <p:cNvSpPr/>
          <p:nvPr/>
        </p:nvSpPr>
        <p:spPr>
          <a:xfrm>
            <a:off x="8895283"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977579"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7757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27933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pricing sc…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Management, redesigned (roster filters · groups · detail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Easy-to-search roster · detail at a glance</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teacher-management screen is now easier to search and read. Scattered menus are grouped into four bundles in the sidebar, and above the roster there are status/group dropdown filters with applied-filter chips. Tapping a teacher opens a detail view split into Profile / Payroll / Evaluation tabs, with a manager badge and employment status (active / on-leave / left) shown at a glance.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2244852"/>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Open Teachers in the admin menu (menus are tidied into four bundles).</a:t>
            </a:r>
          </a:p>
          <a:p>
            <a:pPr>
              <a:lnSpc>
                <a:spcPct val="115000"/>
              </a:lnSpc>
              <a:spcAft>
                <a:spcPts val="300"/>
              </a:spcAft>
            </a:pPr>
            <a:r>
              <a:rPr sz="700" b="1">
                <a:solidFill>
                  <a:srgbClr val="0D9488"/>
                </a:solidFill>
                <a:latin typeface="Malgun Gothic"/>
              </a:rPr>
              <a:t>● </a:t>
            </a:r>
            <a:r>
              <a:rPr sz="900">
                <a:solidFill>
                  <a:srgbClr val="334155"/>
                </a:solidFill>
                <a:latin typeface="Malgun Gothic"/>
              </a:rPr>
              <a:t>Filter to just the teachers you want with the status/group dropdowns above the roster.</a:t>
            </a:r>
          </a:p>
          <a:p>
            <a:pPr>
              <a:lnSpc>
                <a:spcPct val="115000"/>
              </a:lnSpc>
              <a:spcAft>
                <a:spcPts val="300"/>
              </a:spcAft>
            </a:pPr>
            <a:r>
              <a:rPr sz="700" b="1">
                <a:solidFill>
                  <a:srgbClr val="0D9488"/>
                </a:solidFill>
                <a:latin typeface="Malgun Gothic"/>
              </a:rPr>
              <a:t>● </a:t>
            </a:r>
            <a:r>
              <a:rPr sz="900">
                <a:solidFill>
                  <a:srgbClr val="334155"/>
                </a:solidFill>
                <a:latin typeface="Malgun Gothic"/>
              </a:rPr>
              <a:t>Applied filters show as chips; remove a chip to clear it.</a:t>
            </a:r>
          </a:p>
          <a:p>
            <a:pPr>
              <a:lnSpc>
                <a:spcPct val="115000"/>
              </a:lnSpc>
              <a:spcAft>
                <a:spcPts val="300"/>
              </a:spcAft>
            </a:pPr>
            <a:r>
              <a:rPr sz="700" b="1">
                <a:solidFill>
                  <a:srgbClr val="0D9488"/>
                </a:solidFill>
                <a:latin typeface="Malgun Gothic"/>
              </a:rPr>
              <a:t>● </a:t>
            </a:r>
            <a:r>
              <a:rPr sz="900">
                <a:solidFill>
                  <a:srgbClr val="334155"/>
                </a:solidFill>
                <a:latin typeface="Malgun Gothic"/>
              </a:rPr>
              <a:t>Tap a teacher to open the Profile / Payroll / Evaluation detail tabs.</a:t>
            </a:r>
          </a:p>
          <a:p>
            <a:pPr>
              <a:lnSpc>
                <a:spcPct val="115000"/>
              </a:lnSpc>
              <a:spcAft>
                <a:spcPts val="300"/>
              </a:spcAft>
            </a:pPr>
            <a:r>
              <a:rPr sz="700" b="1">
                <a:solidFill>
                  <a:srgbClr val="0D9488"/>
                </a:solidFill>
                <a:latin typeface="Malgun Gothic"/>
              </a:rPr>
              <a:t>● </a:t>
            </a:r>
            <a:r>
              <a:rPr sz="900">
                <a:solidFill>
                  <a:srgbClr val="334155"/>
                </a:solidFill>
                <a:latin typeface="Malgun Gothic"/>
              </a:rPr>
              <a:t>The summary numbers on the payroll/evaluation tabs load only as needed when opened.</a:t>
            </a:r>
          </a:p>
        </p:txBody>
      </p:sp>
      <p:sp>
        <p:nvSpPr>
          <p:cNvPr id="14" name="Rounded Rectangle 13"/>
          <p:cNvSpPr/>
          <p:nvPr/>
        </p:nvSpPr>
        <p:spPr>
          <a:xfrm>
            <a:off x="457200" y="6085332"/>
            <a:ext cx="5669280" cy="1907438"/>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131052"/>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6377940"/>
            <a:ext cx="5394960" cy="1578254"/>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Managers are marked with a badge, and status shows as active / on-leave / left (3 states).</a:t>
            </a:r>
          </a:p>
          <a:p>
            <a:pPr>
              <a:lnSpc>
                <a:spcPct val="115000"/>
              </a:lnSpc>
              <a:spcAft>
                <a:spcPts val="100"/>
              </a:spcAft>
            </a:pPr>
            <a:r>
              <a:rPr sz="650" b="1">
                <a:solidFill>
                  <a:srgbClr val="0D9488"/>
                </a:solidFill>
                <a:latin typeface="Malgun Gothic"/>
              </a:rPr>
              <a:t>● </a:t>
            </a:r>
            <a:r>
              <a:rPr sz="850">
                <a:solidFill>
                  <a:srgbClr val="334155"/>
                </a:solidFill>
                <a:latin typeface="Malgun Gothic"/>
              </a:rPr>
              <a:t>A blank name falls back to the ID, so there are no empty cells.</a:t>
            </a:r>
          </a:p>
          <a:p>
            <a:pPr>
              <a:lnSpc>
                <a:spcPct val="115000"/>
              </a:lnSpc>
              <a:spcAft>
                <a:spcPts val="100"/>
              </a:spcAft>
            </a:pPr>
            <a:r>
              <a:rPr sz="650" b="1">
                <a:solidFill>
                  <a:srgbClr val="0D9488"/>
                </a:solidFill>
                <a:latin typeface="Malgun Gothic"/>
              </a:rPr>
              <a:t>● </a:t>
            </a:r>
            <a:r>
              <a:rPr sz="850">
                <a:solidFill>
                  <a:srgbClr val="334155"/>
                </a:solidFill>
                <a:latin typeface="Malgun Gothic"/>
              </a:rPr>
              <a:t>Detail tabs reuse existing APIs for speed, and the screen is bilingual (KO/EN).</a:t>
            </a:r>
          </a:p>
          <a:p>
            <a:pPr>
              <a:lnSpc>
                <a:spcPct val="115000"/>
              </a:lnSpc>
              <a:spcAft>
                <a:spcPts val="100"/>
              </a:spcAft>
            </a:pPr>
            <a:r>
              <a:rPr sz="650" b="1">
                <a:solidFill>
                  <a:srgbClr val="0D9488"/>
                </a:solidFill>
                <a:latin typeface="Malgun Gothic"/>
              </a:rPr>
              <a:t>● </a:t>
            </a:r>
            <a:r>
              <a:rPr sz="850">
                <a:solidFill>
                  <a:srgbClr val="334155"/>
                </a:solidFill>
                <a:latin typeface="Malgun Gothic"/>
              </a:rPr>
              <a:t>The duplicate payroll entry was tidied and bug reports moved to a separate system.</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This is a filtering/detail cleanup. Registering, editing and deleting teachers works exactly as before.</a:t>
            </a:r>
          </a:p>
        </p:txBody>
      </p:sp>
      <p:sp>
        <p:nvSpPr>
          <p:cNvPr id="19" name="Rounded Rectangle 18"/>
          <p:cNvSpPr/>
          <p:nvPr/>
        </p:nvSpPr>
        <p:spPr>
          <a:xfrm>
            <a:off x="6176772" y="6021324"/>
            <a:ext cx="5646420" cy="672084"/>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The more teachers you have, the more the status/group filters help. Keep your usual conditions filtered.</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teachers.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87575" y="2670048"/>
            <a:ext cx="1327708"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16987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6987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471623"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Teachers</a:t>
            </a:r>
          </a:p>
        </p:txBody>
      </p:sp>
      <p:sp>
        <p:nvSpPr>
          <p:cNvPr id="28" name="TextBox 27"/>
          <p:cNvSpPr txBox="1"/>
          <p:nvPr/>
        </p:nvSpPr>
        <p:spPr>
          <a:xfrm>
            <a:off x="3415284"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9" name="Rounded Rectangle 28"/>
          <p:cNvSpPr/>
          <p:nvPr/>
        </p:nvSpPr>
        <p:spPr>
          <a:xfrm>
            <a:off x="3598164"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8046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8046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98221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status/gro…</a:t>
            </a:r>
          </a:p>
        </p:txBody>
      </p:sp>
      <p:sp>
        <p:nvSpPr>
          <p:cNvPr id="33" name="TextBox 32"/>
          <p:cNvSpPr txBox="1"/>
          <p:nvPr/>
        </p:nvSpPr>
        <p:spPr>
          <a:xfrm>
            <a:off x="5255056"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4" name="Rounded Rectangle 33"/>
          <p:cNvSpPr/>
          <p:nvPr/>
        </p:nvSpPr>
        <p:spPr>
          <a:xfrm>
            <a:off x="5437936" y="2670048"/>
            <a:ext cx="1069848"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520232"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2023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821984"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chips</a:t>
            </a:r>
          </a:p>
        </p:txBody>
      </p:sp>
      <p:sp>
        <p:nvSpPr>
          <p:cNvPr id="38" name="TextBox 37"/>
          <p:cNvSpPr txBox="1"/>
          <p:nvPr/>
        </p:nvSpPr>
        <p:spPr>
          <a:xfrm>
            <a:off x="6507784"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9" name="Rounded Rectangle 38"/>
          <p:cNvSpPr/>
          <p:nvPr/>
        </p:nvSpPr>
        <p:spPr>
          <a:xfrm>
            <a:off x="6690664" y="2670048"/>
            <a:ext cx="1570939"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77296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7296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074712"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Profile /…</a:t>
            </a:r>
          </a:p>
        </p:txBody>
      </p:sp>
      <p:sp>
        <p:nvSpPr>
          <p:cNvPr id="43" name="TextBox 42"/>
          <p:cNvSpPr txBox="1"/>
          <p:nvPr/>
        </p:nvSpPr>
        <p:spPr>
          <a:xfrm>
            <a:off x="8261604"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44" name="Rounded Rectangle 43"/>
          <p:cNvSpPr/>
          <p:nvPr/>
        </p:nvSpPr>
        <p:spPr>
          <a:xfrm>
            <a:off x="8444484"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52678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2678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882853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summary 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Sending the Parent Monthly Report (pentagon)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Preview the 5-axis report, then share the link</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monthly report sent to parents is renewed as a pentagon 5-axis graph — Pronunciation &amp; Fluency / Vocabulary / Sentence Building / Class Attitude / Participation — at a glance, with attendance, judgment and a teacher's note. Admins and teachers enter a student ID and month to preview, then send the KakaoTalk link.</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63540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Open the Monthly Report screen.</a:t>
            </a:r>
          </a:p>
          <a:p>
            <a:pPr>
              <a:lnSpc>
                <a:spcPct val="115000"/>
              </a:lnSpc>
              <a:spcAft>
                <a:spcPts val="300"/>
              </a:spcAft>
            </a:pPr>
            <a:r>
              <a:rPr sz="700" b="1">
                <a:solidFill>
                  <a:srgbClr val="0D9488"/>
                </a:solidFill>
                <a:latin typeface="Malgun Gothic"/>
              </a:rPr>
              <a:t>● </a:t>
            </a:r>
            <a:r>
              <a:rPr sz="900">
                <a:solidFill>
                  <a:srgbClr val="334155"/>
                </a:solidFill>
                <a:latin typeface="Malgun Gothic"/>
              </a:rPr>
              <a:t>Enter a student ID and month, press View Report to preview.</a:t>
            </a:r>
          </a:p>
          <a:p>
            <a:pPr>
              <a:lnSpc>
                <a:spcPct val="115000"/>
              </a:lnSpc>
              <a:spcAft>
                <a:spcPts val="300"/>
              </a:spcAft>
            </a:pPr>
            <a:r>
              <a:rPr sz="700" b="1">
                <a:solidFill>
                  <a:srgbClr val="0D9488"/>
                </a:solidFill>
                <a:latin typeface="Malgun Gothic"/>
              </a:rPr>
              <a:t>● </a:t>
            </a:r>
            <a:r>
              <a:rPr sz="900">
                <a:solidFill>
                  <a:srgbClr val="334155"/>
                </a:solidFill>
                <a:latin typeface="Malgun Gothic"/>
              </a:rPr>
              <a:t>Check the pentagon and teacher's note; top up evaluations if needed.</a:t>
            </a:r>
          </a:p>
          <a:p>
            <a:pPr>
              <a:lnSpc>
                <a:spcPct val="115000"/>
              </a:lnSpc>
              <a:spcAft>
                <a:spcPts val="300"/>
              </a:spcAft>
            </a:pPr>
            <a:r>
              <a:rPr sz="700" b="1">
                <a:solidFill>
                  <a:srgbClr val="0D9488"/>
                </a:solidFill>
                <a:latin typeface="Malgun Gothic"/>
              </a:rPr>
              <a:t>● </a:t>
            </a:r>
            <a:r>
              <a:rPr sz="900">
                <a:solidFill>
                  <a:srgbClr val="334155"/>
                </a:solidFill>
                <a:latin typeface="Malgun Gothic"/>
              </a:rPr>
              <a:t>Append ?uid=ID&amp;period=YYYY-MM to the URL and send the KakaoTalk link.</a:t>
            </a:r>
          </a:p>
        </p:txBody>
      </p:sp>
      <p:sp>
        <p:nvSpPr>
          <p:cNvPr id="14" name="Rounded Rectangle 13"/>
          <p:cNvSpPr/>
          <p:nvPr/>
        </p:nvSpPr>
        <p:spPr>
          <a:xfrm>
            <a:off x="457200" y="5475884"/>
            <a:ext cx="5669280" cy="1522018"/>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52160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768492"/>
            <a:ext cx="5394960" cy="1192834"/>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Only axes with real records are filled, so it's trustworthy.</a:t>
            </a:r>
          </a:p>
          <a:p>
            <a:pPr>
              <a:lnSpc>
                <a:spcPct val="115000"/>
              </a:lnSpc>
              <a:spcAft>
                <a:spcPts val="100"/>
              </a:spcAft>
            </a:pPr>
            <a:r>
              <a:rPr sz="650" b="1">
                <a:solidFill>
                  <a:srgbClr val="0D9488"/>
                </a:solidFill>
                <a:latin typeface="Malgun Gothic"/>
              </a:rPr>
              <a:t>● </a:t>
            </a:r>
            <a:r>
              <a:rPr sz="850">
                <a:solidFill>
                  <a:srgbClr val="334155"/>
                </a:solidFill>
                <a:latin typeface="Malgun Gothic"/>
              </a:rPr>
              <a:t>Compiled on a two-month cycle — conveys change without tiring parents.</a:t>
            </a:r>
          </a:p>
          <a:p>
            <a:pPr>
              <a:lnSpc>
                <a:spcPct val="115000"/>
              </a:lnSpc>
              <a:spcAft>
                <a:spcPts val="100"/>
              </a:spcAft>
            </a:pPr>
            <a:r>
              <a:rPr sz="650" b="1">
                <a:solidFill>
                  <a:srgbClr val="0D9488"/>
                </a:solidFill>
                <a:latin typeface="Malgun Gothic"/>
              </a:rPr>
              <a:t>● </a:t>
            </a:r>
            <a:r>
              <a:rPr sz="850">
                <a:solidFill>
                  <a:srgbClr val="334155"/>
                </a:solidFill>
                <a:latin typeface="Malgun Gothic"/>
              </a:rPr>
              <a:t>The Print/PDF button makes a paper report for consultations instantly.</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Report access passes an approval gate — admins via their login session, parents only via the issued link (token).</a:t>
            </a:r>
          </a:p>
        </p:txBody>
      </p:sp>
      <p:sp>
        <p:nvSpPr>
          <p:cNvPr id="19" name="Rounded Rectangle 18"/>
          <p:cNvSpPr/>
          <p:nvPr/>
        </p:nvSpPr>
        <p:spPr>
          <a:xfrm>
            <a:off x="6176772" y="6021324"/>
            <a:ext cx="5646420" cy="672084"/>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Sending the report link ahead of a booked consultation makes the meeting much smoother.</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port_pentagon.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627985"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71028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1028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01203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Monthly Re…</a:t>
            </a:r>
          </a:p>
        </p:txBody>
      </p:sp>
      <p:sp>
        <p:nvSpPr>
          <p:cNvPr id="28" name="TextBox 27"/>
          <p:cNvSpPr txBox="1"/>
          <p:nvPr/>
        </p:nvSpPr>
        <p:spPr>
          <a:xfrm>
            <a:off x="4284878"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9" name="Rounded Rectangle 28"/>
          <p:cNvSpPr/>
          <p:nvPr/>
        </p:nvSpPr>
        <p:spPr>
          <a:xfrm>
            <a:off x="4467758" y="2670048"/>
            <a:ext cx="149961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50054"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005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851806"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student ID</a:t>
            </a:r>
          </a:p>
        </p:txBody>
      </p:sp>
      <p:sp>
        <p:nvSpPr>
          <p:cNvPr id="33" name="TextBox 32"/>
          <p:cNvSpPr txBox="1"/>
          <p:nvPr/>
        </p:nvSpPr>
        <p:spPr>
          <a:xfrm>
            <a:off x="5967374"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4" name="Rounded Rectangle 33"/>
          <p:cNvSpPr/>
          <p:nvPr/>
        </p:nvSpPr>
        <p:spPr>
          <a:xfrm>
            <a:off x="6150254" y="2670048"/>
            <a:ext cx="1570939"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23255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3255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534302"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Check the…</a:t>
            </a:r>
          </a:p>
        </p:txBody>
      </p:sp>
      <p:sp>
        <p:nvSpPr>
          <p:cNvPr id="38" name="TextBox 37"/>
          <p:cNvSpPr txBox="1"/>
          <p:nvPr/>
        </p:nvSpPr>
        <p:spPr>
          <a:xfrm>
            <a:off x="7721193"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9" name="Rounded Rectangle 38"/>
          <p:cNvSpPr/>
          <p:nvPr/>
        </p:nvSpPr>
        <p:spPr>
          <a:xfrm>
            <a:off x="7904073"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986369"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8636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28812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?uid=ID&amp;pe…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 Weekly Report (the re-enrolment lever)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Deliver the proof of growth competitors cannot show</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report sent to parents containing the child's week of activity (attendance, AI friend chats, judgment training, words conquered, pronunciation). The purpose is explicit — deliver the proof of growth competitors cannot show, every week, and convert it into re-enrolment. The admin screen covers preview → test send → recipient count → send log.</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2405329"/>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Open 📅 Parent Weekly Report in the admin menu.</a:t>
            </a:r>
          </a:p>
          <a:p>
            <a:pPr>
              <a:lnSpc>
                <a:spcPct val="115000"/>
              </a:lnSpc>
              <a:spcAft>
                <a:spcPts val="300"/>
              </a:spcAft>
            </a:pPr>
            <a:r>
              <a:rPr sz="700" b="1">
                <a:solidFill>
                  <a:srgbClr val="0D9488"/>
                </a:solidFill>
                <a:latin typeface="Malgun Gothic"/>
              </a:rPr>
              <a:t>● </a:t>
            </a:r>
            <a:r>
              <a:rPr sz="900">
                <a:solidFill>
                  <a:srgbClr val="334155"/>
                </a:solidFill>
                <a:latin typeface="Malgun Gothic"/>
              </a:rPr>
              <a:t>Enter a student ID and press Preview to check the content.</a:t>
            </a:r>
          </a:p>
          <a:p>
            <a:pPr>
              <a:lnSpc>
                <a:spcPct val="115000"/>
              </a:lnSpc>
              <a:spcAft>
                <a:spcPts val="300"/>
              </a:spcAft>
            </a:pPr>
            <a:r>
              <a:rPr sz="700" b="1">
                <a:solidFill>
                  <a:srgbClr val="0D9488"/>
                </a:solidFill>
                <a:latin typeface="Malgun Gothic"/>
              </a:rPr>
              <a:t>● </a:t>
            </a:r>
            <a:r>
              <a:rPr sz="900">
                <a:solidFill>
                  <a:srgbClr val="334155"/>
                </a:solidFill>
                <a:latin typeface="Malgun Gothic"/>
              </a:rPr>
              <a:t>If needed, use Send to this parent to test with a single recipient.</a:t>
            </a:r>
          </a:p>
          <a:p>
            <a:pPr>
              <a:lnSpc>
                <a:spcPct val="115000"/>
              </a:lnSpc>
              <a:spcAft>
                <a:spcPts val="300"/>
              </a:spcAft>
            </a:pPr>
            <a:r>
              <a:rPr sz="700" b="1">
                <a:solidFill>
                  <a:srgbClr val="0D9488"/>
                </a:solidFill>
                <a:latin typeface="Malgun Gothic"/>
              </a:rPr>
              <a:t>● </a:t>
            </a:r>
            <a:r>
              <a:rPr sz="900">
                <a:solidFill>
                  <a:srgbClr val="334155"/>
                </a:solidFill>
                <a:latin typeface="Malgun Gothic"/>
              </a:rPr>
              <a:t>Use Count recipients to see how many students can receive it (those with a registered phone number).</a:t>
            </a:r>
          </a:p>
          <a:p>
            <a:pPr>
              <a:lnSpc>
                <a:spcPct val="115000"/>
              </a:lnSpc>
              <a:spcAft>
                <a:spcPts val="300"/>
              </a:spcAft>
            </a:pPr>
            <a:r>
              <a:rPr sz="700" b="1">
                <a:solidFill>
                  <a:srgbClr val="0D9488"/>
                </a:solidFill>
                <a:latin typeface="Malgun Gothic"/>
              </a:rPr>
              <a:t>● </a:t>
            </a:r>
            <a:r>
              <a:rPr sz="900">
                <a:solidFill>
                  <a:srgbClr val="334155"/>
                </a:solidFill>
                <a:latin typeface="Malgun Gothic"/>
              </a:rPr>
              <a:t>Check Recent send log for what actually went out.</a:t>
            </a:r>
          </a:p>
        </p:txBody>
      </p:sp>
      <p:sp>
        <p:nvSpPr>
          <p:cNvPr id="14" name="Rounded Rectangle 13"/>
          <p:cNvSpPr/>
          <p:nvPr/>
        </p:nvSpPr>
        <p:spPr>
          <a:xfrm>
            <a:off x="457200" y="6245809"/>
            <a:ext cx="5669280" cy="1825142"/>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291529"/>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6538417"/>
            <a:ext cx="5394960" cy="1495958"/>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What the report contains: 📅 attendance days · 🔥 streak · 🤖 AI chats · 📚 words conquered · 🧠 judgment · 🎤 pronunciation.</a:t>
            </a:r>
          </a:p>
          <a:p>
            <a:pPr>
              <a:lnSpc>
                <a:spcPct val="115000"/>
              </a:lnSpc>
              <a:spcAft>
                <a:spcPts val="100"/>
              </a:spcAft>
            </a:pPr>
            <a:r>
              <a:rPr sz="650" b="1">
                <a:solidFill>
                  <a:srgbClr val="0D9488"/>
                </a:solidFill>
                <a:latin typeface="Malgun Gothic"/>
              </a:rPr>
              <a:t>● </a:t>
            </a:r>
            <a:r>
              <a:rPr sz="850">
                <a:solidFill>
                  <a:srgbClr val="334155"/>
                </a:solidFill>
                <a:latin typeface="Malgun Gothic"/>
              </a:rPr>
              <a:t>Only students with a registered phone number can receive it — the count screen also reports how many are missing one.</a:t>
            </a:r>
          </a:p>
          <a:p>
            <a:pPr>
              <a:lnSpc>
                <a:spcPct val="115000"/>
              </a:lnSpc>
              <a:spcAft>
                <a:spcPts val="100"/>
              </a:spcAft>
            </a:pPr>
            <a:r>
              <a:rPr sz="650" b="1">
                <a:solidFill>
                  <a:srgbClr val="0D9488"/>
                </a:solidFill>
                <a:latin typeface="Malgun Gothic"/>
              </a:rPr>
              <a:t>● </a:t>
            </a:r>
            <a:r>
              <a:rPr sz="850">
                <a:solidFill>
                  <a:srgbClr val="334155"/>
                </a:solidFill>
                <a:latin typeface="Malgun Gothic"/>
              </a:rPr>
              <a:t>A Friday-evening automatic send (cron) is prepared and ready.</a:t>
            </a:r>
          </a:p>
        </p:txBody>
      </p:sp>
      <p:sp>
        <p:nvSpPr>
          <p:cNvPr id="17" name="Rounded Rectangle 16"/>
          <p:cNvSpPr/>
          <p:nvPr/>
        </p:nvSpPr>
        <p:spPr>
          <a:xfrm>
            <a:off x="365760" y="5504688"/>
            <a:ext cx="5646420" cy="118872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550408"/>
            <a:ext cx="5372100" cy="109728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 The full automatic send is OFF by default. Real messages only go out after an admin turns on the KV switch — a safeguard against accidentally messaging 29,000 people. Turn it on only after the alert-talk template is approved and management has decided.</a:t>
            </a:r>
          </a:p>
        </p:txBody>
      </p:sp>
      <p:sp>
        <p:nvSpPr>
          <p:cNvPr id="19" name="Rounded Rectangle 18"/>
          <p:cNvSpPr/>
          <p:nvPr/>
        </p:nvSpPr>
        <p:spPr>
          <a:xfrm>
            <a:off x="6176772" y="5504688"/>
            <a:ext cx="5646420" cy="1188720"/>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550408"/>
            <a:ext cx="5372100" cy="1097280"/>
          </a:xfrm>
          <a:prstGeom prst="rect">
            <a:avLst/>
          </a:prstGeom>
          <a:noFill/>
        </p:spPr>
        <p:txBody>
          <a:bodyPr wrap="square" anchor="t">
            <a:spAutoFit/>
          </a:bodyPr>
          <a:lstStyle/>
          <a:p>
            <a:pPr algn="l">
              <a:lnSpc>
                <a:spcPct val="100000"/>
              </a:lnSpc>
            </a:pPr>
            <a:r>
              <a:rPr sz="950" b="0">
                <a:solidFill>
                  <a:srgbClr val="5B4A2A"/>
                </a:solidFill>
                <a:latin typeface="Malgun Gothic"/>
              </a:rPr>
              <a:t>💡 Tip · Start with preview → a single test send only. Once the wording is settled, then turn on the full switch.</a:t>
            </a:r>
          </a:p>
        </p:txBody>
      </p:sp>
      <p:sp>
        <p:nvSpPr>
          <p:cNvPr id="21" name="Rectangle 20"/>
          <p:cNvSpPr/>
          <p:nvPr/>
        </p:nvSpPr>
        <p:spPr>
          <a:xfrm>
            <a:off x="7360919" y="3255264"/>
            <a:ext cx="3474720" cy="22128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_weekly.jpg"/>
          <p:cNvPicPr>
            <a:picLocks noChangeAspect="1"/>
          </p:cNvPicPr>
          <p:nvPr/>
        </p:nvPicPr>
        <p:blipFill>
          <a:blip r:embed="rId2"/>
          <a:stretch>
            <a:fillRect/>
          </a:stretch>
        </p:blipFill>
        <p:spPr>
          <a:xfrm>
            <a:off x="7415783" y="3310128"/>
            <a:ext cx="3364991" cy="210312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758391" y="2670048"/>
            <a:ext cx="172821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840687"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4068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142439"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Parent W…</a:t>
            </a:r>
          </a:p>
        </p:txBody>
      </p:sp>
      <p:sp>
        <p:nvSpPr>
          <p:cNvPr id="28" name="TextBox 27"/>
          <p:cNvSpPr txBox="1"/>
          <p:nvPr/>
        </p:nvSpPr>
        <p:spPr>
          <a:xfrm>
            <a:off x="3486607"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9" name="Rounded Rectangle 28"/>
          <p:cNvSpPr/>
          <p:nvPr/>
        </p:nvSpPr>
        <p:spPr>
          <a:xfrm>
            <a:off x="3669487" y="2670048"/>
            <a:ext cx="124175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751783"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5178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053535"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Preview</a:t>
            </a:r>
          </a:p>
        </p:txBody>
      </p:sp>
      <p:sp>
        <p:nvSpPr>
          <p:cNvPr id="33" name="TextBox 32"/>
          <p:cNvSpPr txBox="1"/>
          <p:nvPr/>
        </p:nvSpPr>
        <p:spPr>
          <a:xfrm>
            <a:off x="4911242"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4" name="Rounded Rectangle 33"/>
          <p:cNvSpPr/>
          <p:nvPr/>
        </p:nvSpPr>
        <p:spPr>
          <a:xfrm>
            <a:off x="5094122"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176418"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7641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47817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Send to th…</a:t>
            </a:r>
          </a:p>
        </p:txBody>
      </p:sp>
      <p:sp>
        <p:nvSpPr>
          <p:cNvPr id="38" name="TextBox 37"/>
          <p:cNvSpPr txBox="1"/>
          <p:nvPr/>
        </p:nvSpPr>
        <p:spPr>
          <a:xfrm>
            <a:off x="6751015"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9" name="Rounded Rectangle 38"/>
          <p:cNvSpPr/>
          <p:nvPr/>
        </p:nvSpPr>
        <p:spPr>
          <a:xfrm>
            <a:off x="6933895"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01619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161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31794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Count reci…</a:t>
            </a:r>
          </a:p>
        </p:txBody>
      </p:sp>
      <p:sp>
        <p:nvSpPr>
          <p:cNvPr id="43" name="TextBox 42"/>
          <p:cNvSpPr txBox="1"/>
          <p:nvPr/>
        </p:nvSpPr>
        <p:spPr>
          <a:xfrm>
            <a:off x="8590788"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44" name="Rounded Rectangle 43"/>
          <p:cNvSpPr/>
          <p:nvPr/>
        </p:nvSpPr>
        <p:spPr>
          <a:xfrm>
            <a:off x="8773667"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855963"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5596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15771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Recent sen…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Home Screen Split (first-time parent vs. existing member)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Fewer 'how do I start?' calls, more trial sign-ups</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first screen of the site (the hero) now shows one of two versions depending on who is looking. A first-time parent sees &lt;b&gt;Book a Free Trial&lt;/b&gt; as the biggest button; a logged-in member sees &lt;b&gt;Enter Class&lt;/b&gt;. We checked four competitors directly (Cambly Kids, Min Byung-chul UPhone, Engoo, Ringle) and all four lead with a new-customer call to action — this change follows that evidence.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Open the home URL in a private/incognito window to see the guest screen.</a:t>
            </a:r>
          </a:p>
          <a:p>
            <a:pPr>
              <a:lnSpc>
                <a:spcPct val="115000"/>
              </a:lnSpc>
              <a:spcAft>
                <a:spcPts val="300"/>
              </a:spcAft>
            </a:pPr>
            <a:r>
              <a:rPr sz="700" b="1">
                <a:solidFill>
                  <a:srgbClr val="0D9488"/>
                </a:solidFill>
                <a:latin typeface="Malgun Gothic"/>
              </a:rPr>
              <a:t>● </a:t>
            </a:r>
            <a:r>
              <a:rPr sz="900">
                <a:solidFill>
                  <a:srgbClr val="334155"/>
                </a:solidFill>
                <a:latin typeface="Malgun Gothic"/>
              </a:rPr>
              <a:t>Confirm the two large buttons: Book a Free Trial · Browse Teachers.</a:t>
            </a:r>
          </a:p>
          <a:p>
            <a:pPr>
              <a:lnSpc>
                <a:spcPct val="115000"/>
              </a:lnSpc>
              <a:spcAft>
                <a:spcPts val="300"/>
              </a:spcAft>
            </a:pPr>
            <a:r>
              <a:rPr sz="700" b="1">
                <a:solidFill>
                  <a:srgbClr val="0D9488"/>
                </a:solidFill>
                <a:latin typeface="Malgun Gothic"/>
              </a:rPr>
              <a:t>● </a:t>
            </a:r>
            <a:r>
              <a:rPr sz="900">
                <a:solidFill>
                  <a:srgbClr val="334155"/>
                </a:solidFill>
                <a:latin typeface="Malgun Gothic"/>
              </a:rPr>
              <a:t>Log in and open the same page — it becomes Enter Class · Chat with AI.</a:t>
            </a:r>
          </a:p>
          <a:p>
            <a:pPr>
              <a:lnSpc>
                <a:spcPct val="115000"/>
              </a:lnSpc>
              <a:spcAft>
                <a:spcPts val="300"/>
              </a:spcAft>
            </a:pPr>
            <a:r>
              <a:rPr sz="700" b="1">
                <a:solidFill>
                  <a:srgbClr val="0D9488"/>
                </a:solidFill>
                <a:latin typeface="Malgun Gothic"/>
              </a:rPr>
              <a:t>● </a:t>
            </a:r>
            <a:r>
              <a:rPr sz="900">
                <a:solidFill>
                  <a:srgbClr val="334155"/>
                </a:solidFill>
                <a:latin typeface="Malgun Gothic"/>
              </a:rPr>
              <a:t>Use the plain home URL in flyers and text messages — no separate landing page is needed.</a:t>
            </a:r>
          </a:p>
        </p:txBody>
      </p:sp>
      <p:sp>
        <p:nvSpPr>
          <p:cNvPr id="14" name="Rounded Rectangle 13"/>
          <p:cNvSpPr/>
          <p:nvPr/>
        </p:nvSpPr>
        <p:spPr>
          <a:xfrm>
            <a:off x="457200" y="5636361"/>
            <a:ext cx="5669280" cy="2362123"/>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928969"/>
            <a:ext cx="5394960" cy="2032939"/>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No new page was created. The same URL decides for itself based on login state.</a:t>
            </a:r>
          </a:p>
          <a:p>
            <a:pPr>
              <a:lnSpc>
                <a:spcPct val="115000"/>
              </a:lnSpc>
              <a:spcAft>
                <a:spcPts val="100"/>
              </a:spcAft>
            </a:pPr>
            <a:r>
              <a:rPr sz="650" b="1">
                <a:solidFill>
                  <a:srgbClr val="0D9488"/>
                </a:solidFill>
                <a:latin typeface="Malgun Gothic"/>
              </a:rPr>
              <a:t>● </a:t>
            </a:r>
            <a:r>
              <a:rPr sz="850">
                <a:solidFill>
                  <a:srgbClr val="334155"/>
                </a:solidFill>
                <a:latin typeface="Malgun Gothic"/>
              </a:rPr>
              <a:t>The guest screen still keeps a small 'Enter Class' link — this prevents an existing student who changed devices or was logged out from being locked out of class.</a:t>
            </a:r>
          </a:p>
          <a:p>
            <a:pPr>
              <a:lnSpc>
                <a:spcPct val="115000"/>
              </a:lnSpc>
              <a:spcAft>
                <a:spcPts val="100"/>
              </a:spcAft>
            </a:pPr>
            <a:r>
              <a:rPr sz="650" b="1">
                <a:solidFill>
                  <a:srgbClr val="0D9488"/>
                </a:solidFill>
                <a:latin typeface="Malgun Gothic"/>
              </a:rPr>
              <a:t>● </a:t>
            </a:r>
            <a:r>
              <a:rPr sz="850">
                <a:solidFill>
                  <a:srgbClr val="334155"/>
                </a:solidFill>
                <a:latin typeface="Malgun Gothic"/>
              </a:rPr>
              <a:t>If the check fails for any reason, it always falls back to the guest screen — the page is never blank.</a:t>
            </a:r>
          </a:p>
          <a:p>
            <a:pPr>
              <a:lnSpc>
                <a:spcPct val="115000"/>
              </a:lnSpc>
              <a:spcAft>
                <a:spcPts val="100"/>
              </a:spcAft>
            </a:pPr>
            <a:r>
              <a:rPr sz="650" b="1">
                <a:solidFill>
                  <a:srgbClr val="0D9488"/>
                </a:solidFill>
                <a:latin typeface="Malgun Gothic"/>
              </a:rPr>
              <a:t>● </a:t>
            </a:r>
            <a:r>
              <a:rPr sz="850">
                <a:solidFill>
                  <a:srgbClr val="334155"/>
                </a:solidFill>
                <a:latin typeface="Malgun Gothic"/>
              </a:rPr>
              <a:t>No flicker. The decision is made before the page paints.</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Never remove the small 'Enter Class' link on the guest screen. Existing members also land there when their login expires (30 days) or they switch devices.</a:t>
            </a:r>
          </a:p>
        </p:txBody>
      </p:sp>
      <p:sp>
        <p:nvSpPr>
          <p:cNvPr id="19" name="Rounded Rectangle 18"/>
          <p:cNvSpPr/>
          <p:nvPr/>
        </p:nvSpPr>
        <p:spPr>
          <a:xfrm>
            <a:off x="6176772" y="5870448"/>
            <a:ext cx="5646420" cy="822960"/>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To see what a parent sees, open the home page in an incognito window — that is the exact first impression.</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home.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06370"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88666"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home URL i…</a:t>
            </a:r>
          </a:p>
        </p:txBody>
      </p:sp>
      <p:sp>
        <p:nvSpPr>
          <p:cNvPr id="28" name="TextBox 27"/>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9" name="Rounded Rectangle 28"/>
          <p:cNvSpPr/>
          <p:nvPr/>
        </p:nvSpPr>
        <p:spPr>
          <a:xfrm>
            <a:off x="4346143"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428439"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Book a Fre…</a:t>
            </a:r>
          </a:p>
        </p:txBody>
      </p:sp>
      <p:sp>
        <p:nvSpPr>
          <p:cNvPr id="33" name="TextBox 32"/>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4" name="Rounded Rectangle 33"/>
          <p:cNvSpPr/>
          <p:nvPr/>
        </p:nvSpPr>
        <p:spPr>
          <a:xfrm>
            <a:off x="6185916"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268212"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Enter Clas…</a:t>
            </a:r>
          </a:p>
        </p:txBody>
      </p:sp>
      <p:sp>
        <p:nvSpPr>
          <p:cNvPr id="38" name="TextBox 37"/>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9" name="Rounded Rectangle 38"/>
          <p:cNvSpPr/>
          <p:nvPr/>
        </p:nvSpPr>
        <p:spPr>
          <a:xfrm>
            <a:off x="8025688"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107984"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plain home…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Admin Screen Is Much Faster Now</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freeze after clicking is gone</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We removed the brief freeze that happened whenever you clicked something in the admin screen. The cause was not the feature you clicked — a readability-enhancement routine was recalculating every collapsed card each time. It now skips collapsed cards and never re-touches what it has already processed.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Use the admin screen as usual.</a:t>
            </a:r>
          </a:p>
          <a:p>
            <a:pPr>
              <a:lnSpc>
                <a:spcPct val="115000"/>
              </a:lnSpc>
              <a:spcAft>
                <a:spcPts val="300"/>
              </a:spcAft>
            </a:pPr>
            <a:r>
              <a:rPr sz="700" b="1">
                <a:solidFill>
                  <a:srgbClr val="0D9488"/>
                </a:solidFill>
                <a:latin typeface="Malgun Gothic"/>
              </a:rPr>
              <a:t>● </a:t>
            </a:r>
            <a:r>
              <a:rPr sz="900">
                <a:solidFill>
                  <a:srgbClr val="334155"/>
                </a:solidFill>
                <a:latin typeface="Malgun Gothic"/>
              </a:rPr>
              <a:t>Check that menus and cards open immediately, with no freeze.</a:t>
            </a:r>
          </a:p>
          <a:p>
            <a:pPr>
              <a:lnSpc>
                <a:spcPct val="115000"/>
              </a:lnSpc>
              <a:spcAft>
                <a:spcPts val="300"/>
              </a:spcAft>
            </a:pPr>
            <a:r>
              <a:rPr sz="700" b="1">
                <a:solidFill>
                  <a:srgbClr val="0D9488"/>
                </a:solidFill>
                <a:latin typeface="Malgun Gothic"/>
              </a:rPr>
              <a:t>● </a:t>
            </a:r>
            <a:r>
              <a:rPr sz="900">
                <a:solidFill>
                  <a:srgbClr val="334155"/>
                </a:solidFill>
                <a:latin typeface="Malgun Gothic"/>
              </a:rPr>
              <a:t>If it still feels slow, do a hard refresh (Ctrl+F5) in the browser.</a:t>
            </a:r>
          </a:p>
        </p:txBody>
      </p:sp>
      <p:sp>
        <p:nvSpPr>
          <p:cNvPr id="14" name="Rounded Rectangle 13"/>
          <p:cNvSpPr/>
          <p:nvPr/>
        </p:nvSpPr>
        <p:spPr>
          <a:xfrm>
            <a:off x="457200" y="5026914"/>
            <a:ext cx="5669280" cy="1522018"/>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319522"/>
            <a:ext cx="5394960" cy="1192834"/>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Freeze on click dropped 396ms → 57ms; idle load dropped 366ms → 0ms.</a:t>
            </a:r>
          </a:p>
          <a:p>
            <a:pPr>
              <a:lnSpc>
                <a:spcPct val="115000"/>
              </a:lnSpc>
              <a:spcAft>
                <a:spcPts val="100"/>
              </a:spcAft>
            </a:pPr>
            <a:r>
              <a:rPr sz="650" b="1">
                <a:solidFill>
                  <a:srgbClr val="0D9488"/>
                </a:solidFill>
                <a:latin typeface="Malgun Gothic"/>
              </a:rPr>
              <a:t>● </a:t>
            </a:r>
            <a:r>
              <a:rPr sz="850">
                <a:solidFill>
                  <a:srgbClr val="334155"/>
                </a:solidFill>
                <a:latin typeface="Malgun Gothic"/>
              </a:rPr>
              <a:t>Nothing about the look or colours changed — only the speed.</a:t>
            </a:r>
          </a:p>
          <a:p>
            <a:pPr>
              <a:lnSpc>
                <a:spcPct val="115000"/>
              </a:lnSpc>
              <a:spcAft>
                <a:spcPts val="100"/>
              </a:spcAft>
            </a:pPr>
            <a:r>
              <a:rPr sz="650" b="1">
                <a:solidFill>
                  <a:srgbClr val="0D9488"/>
                </a:solidFill>
                <a:latin typeface="Malgun Gothic"/>
              </a:rPr>
              <a:t>● </a:t>
            </a:r>
            <a:r>
              <a:rPr sz="850">
                <a:solidFill>
                  <a:srgbClr val="334155"/>
                </a:solidFill>
                <a:latin typeface="Malgun Gothic"/>
              </a:rPr>
              <a:t>The difference is largest on card-heavy screens (teacher and student lists).</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If your browser still holds an old copy of the page you may not feel the improvement. Do one hard refresh (Ctrl+F5).</a:t>
            </a:r>
          </a:p>
        </p:txBody>
      </p:sp>
      <p:sp>
        <p:nvSpPr>
          <p:cNvPr id="19" name="Rounded Rectangle 18"/>
          <p:cNvSpPr/>
          <p:nvPr/>
        </p:nvSpPr>
        <p:spPr>
          <a:xfrm>
            <a:off x="6176772" y="5870448"/>
            <a:ext cx="5646420" cy="822960"/>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If it is still slow, check whether too many browser tabs are open.</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426256"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508552"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Use the ad…</a:t>
            </a:r>
          </a:p>
        </p:txBody>
      </p:sp>
      <p:sp>
        <p:nvSpPr>
          <p:cNvPr id="28" name="TextBox 27"/>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9" name="Rounded Rectangle 28"/>
          <p:cNvSpPr/>
          <p:nvPr/>
        </p:nvSpPr>
        <p:spPr>
          <a:xfrm>
            <a:off x="5266029"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348325"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open immed…</a:t>
            </a:r>
          </a:p>
        </p:txBody>
      </p:sp>
      <p:sp>
        <p:nvSpPr>
          <p:cNvPr id="33" name="TextBox 32"/>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4" name="Rounded Rectangle 33"/>
          <p:cNvSpPr/>
          <p:nvPr/>
        </p:nvSpPr>
        <p:spPr>
          <a:xfrm>
            <a:off x="7105802"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188098"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hard refre…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Academy Search Box (find it by name)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No more scrolling the whole list</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academy (branch/agency) list now has a search box so you can find one by typing its name. No more scrolling up and down a long list.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63540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Open the academy list screen in the admin menu.</a:t>
            </a:r>
          </a:p>
          <a:p>
            <a:pPr>
              <a:lnSpc>
                <a:spcPct val="115000"/>
              </a:lnSpc>
              <a:spcAft>
                <a:spcPts val="300"/>
              </a:spcAft>
            </a:pPr>
            <a:r>
              <a:rPr sz="700" b="1">
                <a:solidFill>
                  <a:srgbClr val="0D9488"/>
                </a:solidFill>
                <a:latin typeface="Malgun Gothic"/>
              </a:rPr>
              <a:t>● </a:t>
            </a:r>
            <a:r>
              <a:rPr sz="900">
                <a:solidFill>
                  <a:srgbClr val="334155"/>
                </a:solidFill>
                <a:latin typeface="Malgun Gothic"/>
              </a:rPr>
              <a:t>Type part of an academy name into the search box above the list.</a:t>
            </a:r>
          </a:p>
          <a:p>
            <a:pPr>
              <a:lnSpc>
                <a:spcPct val="115000"/>
              </a:lnSpc>
              <a:spcAft>
                <a:spcPts val="300"/>
              </a:spcAft>
            </a:pPr>
            <a:r>
              <a:rPr sz="700" b="1">
                <a:solidFill>
                  <a:srgbClr val="0D9488"/>
                </a:solidFill>
                <a:latin typeface="Malgun Gothic"/>
              </a:rPr>
              <a:t>● </a:t>
            </a:r>
            <a:r>
              <a:rPr sz="900">
                <a:solidFill>
                  <a:srgbClr val="334155"/>
                </a:solidFill>
                <a:latin typeface="Malgun Gothic"/>
              </a:rPr>
              <a:t>The list filters to matching academies as you type.</a:t>
            </a:r>
          </a:p>
          <a:p>
            <a:pPr>
              <a:lnSpc>
                <a:spcPct val="115000"/>
              </a:lnSpc>
              <a:spcAft>
                <a:spcPts val="300"/>
              </a:spcAft>
            </a:pPr>
            <a:r>
              <a:rPr sz="700" b="1">
                <a:solidFill>
                  <a:srgbClr val="0D9488"/>
                </a:solidFill>
                <a:latin typeface="Malgun Gothic"/>
              </a:rPr>
              <a:t>● </a:t>
            </a:r>
            <a:r>
              <a:rPr sz="900">
                <a:solidFill>
                  <a:srgbClr val="334155"/>
                </a:solidFill>
                <a:latin typeface="Malgun Gothic"/>
              </a:rPr>
              <a:t>Clear the box to return to the full list.</a:t>
            </a:r>
          </a:p>
        </p:txBody>
      </p:sp>
      <p:sp>
        <p:nvSpPr>
          <p:cNvPr id="14" name="Rounded Rectangle 13"/>
          <p:cNvSpPr/>
          <p:nvPr/>
        </p:nvSpPr>
        <p:spPr>
          <a:xfrm>
            <a:off x="457200" y="5475884"/>
            <a:ext cx="5669280" cy="985037"/>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52160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768492"/>
            <a:ext cx="5394960" cy="655853"/>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A partial name is enough to find it.</a:t>
            </a:r>
          </a:p>
          <a:p>
            <a:pPr>
              <a:lnSpc>
                <a:spcPct val="115000"/>
              </a:lnSpc>
              <a:spcAft>
                <a:spcPts val="100"/>
              </a:spcAft>
            </a:pPr>
            <a:r>
              <a:rPr sz="650" b="1">
                <a:solidFill>
                  <a:srgbClr val="0D9488"/>
                </a:solidFill>
                <a:latin typeface="Malgun Gothic"/>
              </a:rPr>
              <a:t>● </a:t>
            </a:r>
            <a:r>
              <a:rPr sz="850">
                <a:solidFill>
                  <a:srgbClr val="334155"/>
                </a:solidFill>
                <a:latin typeface="Malgun Gothic"/>
              </a:rPr>
              <a:t>The existing list and its features are unchanged — only the way you find things was added.</a:t>
            </a:r>
          </a:p>
        </p:txBody>
      </p:sp>
      <p:sp>
        <p:nvSpPr>
          <p:cNvPr id="17" name="Rounded Rectangle 16"/>
          <p:cNvSpPr/>
          <p:nvPr/>
        </p:nvSpPr>
        <p:spPr>
          <a:xfrm>
            <a:off x="365760" y="6172200"/>
            <a:ext cx="11457432" cy="52120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For academies you check often, remember two or three letters of the name — that is enough to filter instantly.</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06624"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78892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889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09067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academy li…</a:t>
            </a:r>
          </a:p>
        </p:txBody>
      </p:sp>
      <p:sp>
        <p:nvSpPr>
          <p:cNvPr id="26" name="TextBox 25"/>
          <p:cNvSpPr txBox="1"/>
          <p:nvPr/>
        </p:nvSpPr>
        <p:spPr>
          <a:xfrm>
            <a:off x="4363516"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7" name="Rounded Rectangle 26"/>
          <p:cNvSpPr/>
          <p:nvPr/>
        </p:nvSpPr>
        <p:spPr>
          <a:xfrm>
            <a:off x="4546396" y="2670048"/>
            <a:ext cx="149961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28692"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2869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930444"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search box</a:t>
            </a:r>
          </a:p>
        </p:txBody>
      </p:sp>
      <p:sp>
        <p:nvSpPr>
          <p:cNvPr id="31" name="TextBox 30"/>
          <p:cNvSpPr txBox="1"/>
          <p:nvPr/>
        </p:nvSpPr>
        <p:spPr>
          <a:xfrm>
            <a:off x="6046012"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2" name="Rounded Rectangle 31"/>
          <p:cNvSpPr/>
          <p:nvPr/>
        </p:nvSpPr>
        <p:spPr>
          <a:xfrm>
            <a:off x="6228892"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11188"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1118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61294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matching a…</a:t>
            </a:r>
          </a:p>
        </p:txBody>
      </p:sp>
      <p:sp>
        <p:nvSpPr>
          <p:cNvPr id="36" name="TextBox 35"/>
          <p:cNvSpPr txBox="1"/>
          <p:nvPr/>
        </p:nvSpPr>
        <p:spPr>
          <a:xfrm>
            <a:off x="7885785"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7" name="Rounded Rectangle 36"/>
          <p:cNvSpPr/>
          <p:nvPr/>
        </p:nvSpPr>
        <p:spPr>
          <a:xfrm>
            <a:off x="8068665" y="2670048"/>
            <a:ext cx="141366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15096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5096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452713"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full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New-Payment Screen, Now Step-by-Step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It no longer shows 12 products at once</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new-payment screen now starts with 'who is this for?'. Previously all 12 products appeared at once and parents had no idea where to start. Now they pick from Kids · 1:1 · Group · Business · Test Prep · Corporate and only the matching products remain.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635404"/>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Point the parent to the New Payment screen.</a:t>
            </a:r>
          </a:p>
          <a:p>
            <a:pPr>
              <a:lnSpc>
                <a:spcPct val="115000"/>
              </a:lnSpc>
              <a:spcAft>
                <a:spcPts val="300"/>
              </a:spcAft>
            </a:pPr>
            <a:r>
              <a:rPr sz="700" b="1">
                <a:solidFill>
                  <a:srgbClr val="0D9488"/>
                </a:solidFill>
                <a:latin typeface="Malgun Gothic"/>
              </a:rPr>
              <a:t>● </a:t>
            </a:r>
            <a:r>
              <a:rPr sz="900">
                <a:solidFill>
                  <a:srgbClr val="334155"/>
                </a:solidFill>
                <a:latin typeface="Malgun Gothic"/>
              </a:rPr>
              <a:t>Have them pick the audience first (Kids, 1:1, Group, Business, Test Prep, Corporate).</a:t>
            </a:r>
          </a:p>
          <a:p>
            <a:pPr>
              <a:lnSpc>
                <a:spcPct val="115000"/>
              </a:lnSpc>
              <a:spcAft>
                <a:spcPts val="300"/>
              </a:spcAft>
            </a:pPr>
            <a:r>
              <a:rPr sz="700" b="1">
                <a:solidFill>
                  <a:srgbClr val="0D9488"/>
                </a:solidFill>
                <a:latin typeface="Malgun Gothic"/>
              </a:rPr>
              <a:t>● </a:t>
            </a:r>
            <a:r>
              <a:rPr sz="900">
                <a:solidFill>
                  <a:srgbClr val="334155"/>
                </a:solidFill>
                <a:latin typeface="Malgun Gothic"/>
              </a:rPr>
              <a:t>Only the products for that audience stay on screen.</a:t>
            </a:r>
          </a:p>
          <a:p>
            <a:pPr>
              <a:lnSpc>
                <a:spcPct val="115000"/>
              </a:lnSpc>
              <a:spcAft>
                <a:spcPts val="300"/>
              </a:spcAft>
            </a:pPr>
            <a:r>
              <a:rPr sz="700" b="1">
                <a:solidFill>
                  <a:srgbClr val="0D9488"/>
                </a:solidFill>
                <a:latin typeface="Malgun Gothic"/>
              </a:rPr>
              <a:t>● </a:t>
            </a:r>
            <a:r>
              <a:rPr sz="900">
                <a:solidFill>
                  <a:srgbClr val="334155"/>
                </a:solidFill>
                <a:latin typeface="Malgun Gothic"/>
              </a:rPr>
              <a:t>If they want to compare everything, press See Full Price List.</a:t>
            </a:r>
          </a:p>
        </p:txBody>
      </p:sp>
      <p:sp>
        <p:nvSpPr>
          <p:cNvPr id="14" name="Rounded Rectangle 13"/>
          <p:cNvSpPr/>
          <p:nvPr/>
        </p:nvSpPr>
        <p:spPr>
          <a:xfrm>
            <a:off x="457200" y="5475884"/>
            <a:ext cx="5669280" cy="167358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521604"/>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768492"/>
            <a:ext cx="5394960" cy="1344396"/>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No product card or payment logic was changed — only what is displayed, so it is safe.</a:t>
            </a:r>
          </a:p>
          <a:p>
            <a:pPr>
              <a:lnSpc>
                <a:spcPct val="115000"/>
              </a:lnSpc>
              <a:spcAft>
                <a:spcPts val="100"/>
              </a:spcAft>
            </a:pPr>
            <a:r>
              <a:rPr sz="650" b="1">
                <a:solidFill>
                  <a:srgbClr val="0D9488"/>
                </a:solidFill>
                <a:latin typeface="Malgun Gothic"/>
              </a:rPr>
              <a:t>● </a:t>
            </a:r>
            <a:r>
              <a:rPr sz="850">
                <a:solidFill>
                  <a:srgbClr val="334155"/>
                </a:solidFill>
                <a:latin typeface="Malgun Gothic"/>
              </a:rPr>
              <a:t>Verified counts: 3 initially (free trial, other, policy) → 4 when Kids is selected → 12 in full view.</a:t>
            </a:r>
          </a:p>
          <a:p>
            <a:pPr>
              <a:lnSpc>
                <a:spcPct val="115000"/>
              </a:lnSpc>
              <a:spcAft>
                <a:spcPts val="100"/>
              </a:spcAft>
            </a:pPr>
            <a:r>
              <a:rPr sz="650" b="1">
                <a:solidFill>
                  <a:srgbClr val="0D9488"/>
                </a:solidFill>
                <a:latin typeface="Malgun Gothic"/>
              </a:rPr>
              <a:t>● </a:t>
            </a:r>
            <a:r>
              <a:rPr sz="850">
                <a:solidFill>
                  <a:srgbClr val="334155"/>
                </a:solidFill>
                <a:latin typeface="Malgun Gothic"/>
              </a:rPr>
              <a:t>See Full Price List was deliberately kept — hiding prices backfires.</a:t>
            </a:r>
          </a:p>
        </p:txBody>
      </p:sp>
      <p:sp>
        <p:nvSpPr>
          <p:cNvPr id="17" name="Rounded Rectangle 16"/>
          <p:cNvSpPr/>
          <p:nvPr/>
        </p:nvSpPr>
        <p:spPr>
          <a:xfrm>
            <a:off x="365760" y="6172200"/>
            <a:ext cx="11457432" cy="52120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When a caller says 'I don't know which one to pick', just have them choose the audience first.</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670962"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753258"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532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05501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New Paymen…</a:t>
            </a:r>
          </a:p>
        </p:txBody>
      </p:sp>
      <p:sp>
        <p:nvSpPr>
          <p:cNvPr id="26" name="TextBox 25"/>
          <p:cNvSpPr txBox="1"/>
          <p:nvPr/>
        </p:nvSpPr>
        <p:spPr>
          <a:xfrm>
            <a:off x="4327855"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7" name="Rounded Rectangle 26"/>
          <p:cNvSpPr/>
          <p:nvPr/>
        </p:nvSpPr>
        <p:spPr>
          <a:xfrm>
            <a:off x="4510735" y="2670048"/>
            <a:ext cx="1327708"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593031"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930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894783"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audience</a:t>
            </a:r>
          </a:p>
        </p:txBody>
      </p:sp>
      <p:sp>
        <p:nvSpPr>
          <p:cNvPr id="31" name="TextBox 30"/>
          <p:cNvSpPr txBox="1"/>
          <p:nvPr/>
        </p:nvSpPr>
        <p:spPr>
          <a:xfrm>
            <a:off x="5838444"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2" name="Rounded Rectangle 31"/>
          <p:cNvSpPr/>
          <p:nvPr/>
        </p:nvSpPr>
        <p:spPr>
          <a:xfrm>
            <a:off x="6021324"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103620"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036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40537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Only the p…</a:t>
            </a:r>
          </a:p>
        </p:txBody>
      </p:sp>
      <p:sp>
        <p:nvSpPr>
          <p:cNvPr id="36" name="TextBox 35"/>
          <p:cNvSpPr txBox="1"/>
          <p:nvPr/>
        </p:nvSpPr>
        <p:spPr>
          <a:xfrm>
            <a:off x="7678216"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7" name="Rounded Rectangle 36"/>
          <p:cNvSpPr/>
          <p:nvPr/>
        </p:nvSpPr>
        <p:spPr>
          <a:xfrm>
            <a:off x="7861096"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943392"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4339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24514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See Full 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Sample Report Card for Parents Without an Account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Something to show in front of the login wall</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Until now there was nothing to show a prospective parent who had no account. The report-card screen now offers 'No account — view a sample report first', so you can show what the 5-axis scores + teacher comment + AI analysis look like without logging in.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During a consultation, open the report-card screen for the parent.</a:t>
            </a:r>
          </a:p>
          <a:p>
            <a:pPr>
              <a:lnSpc>
                <a:spcPct val="115000"/>
              </a:lnSpc>
              <a:spcAft>
                <a:spcPts val="300"/>
              </a:spcAft>
            </a:pPr>
            <a:r>
              <a:rPr sz="700" b="1">
                <a:solidFill>
                  <a:srgbClr val="0D9488"/>
                </a:solidFill>
                <a:latin typeface="Malgun Gothic"/>
              </a:rPr>
              <a:t>● </a:t>
            </a:r>
            <a:r>
              <a:rPr sz="900">
                <a:solidFill>
                  <a:srgbClr val="334155"/>
                </a:solidFill>
                <a:latin typeface="Malgun Gothic"/>
              </a:rPr>
              <a:t>Press No account — view a sample report first.</a:t>
            </a:r>
          </a:p>
          <a:p>
            <a:pPr>
              <a:lnSpc>
                <a:spcPct val="115000"/>
              </a:lnSpc>
              <a:spcAft>
                <a:spcPts val="300"/>
              </a:spcAft>
            </a:pPr>
            <a:r>
              <a:rPr sz="700" b="1">
                <a:solidFill>
                  <a:srgbClr val="0D9488"/>
                </a:solidFill>
                <a:latin typeface="Malgun Gothic"/>
              </a:rPr>
              <a:t>● </a:t>
            </a:r>
            <a:r>
              <a:rPr sz="900">
                <a:solidFill>
                  <a:srgbClr val="334155"/>
                </a:solidFill>
                <a:latin typeface="Malgun Gothic"/>
              </a:rPr>
              <a:t>Walk through the 5-axis scores, teacher comment and AI analysis together.</a:t>
            </a:r>
          </a:p>
          <a:p>
            <a:pPr>
              <a:lnSpc>
                <a:spcPct val="115000"/>
              </a:lnSpc>
              <a:spcAft>
                <a:spcPts val="300"/>
              </a:spcAft>
            </a:pPr>
            <a:r>
              <a:rPr sz="700" b="1">
                <a:solidFill>
                  <a:srgbClr val="0D9488"/>
                </a:solidFill>
                <a:latin typeface="Malgun Gothic"/>
              </a:rPr>
              <a:t>● </a:t>
            </a:r>
            <a:r>
              <a:rPr sz="900">
                <a:solidFill>
                  <a:srgbClr val="334155"/>
                </a:solidFill>
                <a:latin typeface="Malgun Gothic"/>
              </a:rPr>
              <a:t>Close with 'this is what you'll receive for your child' and offer the trial.</a:t>
            </a:r>
          </a:p>
        </p:txBody>
      </p:sp>
      <p:sp>
        <p:nvSpPr>
          <p:cNvPr id="14" name="Rounded Rectangle 13"/>
          <p:cNvSpPr/>
          <p:nvPr/>
        </p:nvSpPr>
        <p:spPr>
          <a:xfrm>
            <a:off x="457200" y="5636361"/>
            <a:ext cx="5669280" cy="1136599"/>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 All values are examples. The title and top banner are marked 'Sample'.</a:t>
            </a:r>
          </a:p>
          <a:p>
            <a:pPr>
              <a:lnSpc>
                <a:spcPct val="115000"/>
              </a:lnSpc>
              <a:spcAft>
                <a:spcPts val="100"/>
              </a:spcAft>
            </a:pPr>
            <a:r>
              <a:rPr sz="650" b="1">
                <a:solidFill>
                  <a:srgbClr val="0D9488"/>
                </a:solidFill>
                <a:latin typeface="Malgun Gothic"/>
              </a:rPr>
              <a:t>● </a:t>
            </a:r>
            <a:r>
              <a:rPr sz="850">
                <a:solidFill>
                  <a:srgbClr val="334155"/>
                </a:solidFill>
                <a:latin typeface="Malgun Gothic"/>
              </a:rPr>
              <a:t>Never remove that marking — if it is mistaken for a real record it becomes a trust problem.</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The sample uses no real student data. Use it for consultations only.</a:t>
            </a:r>
          </a:p>
        </p:txBody>
      </p:sp>
      <p:sp>
        <p:nvSpPr>
          <p:cNvPr id="19" name="Rounded Rectangle 18"/>
          <p:cNvSpPr/>
          <p:nvPr/>
        </p:nvSpPr>
        <p:spPr>
          <a:xfrm>
            <a:off x="6176772" y="5870448"/>
            <a:ext cx="5646420" cy="822960"/>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Showing the sample report in the first three minutes of a consultation makes 'what do I actually get?' concrete and lifts trial conversion.</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port_pentagon.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06370"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88666"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report-car…</a:t>
            </a:r>
          </a:p>
        </p:txBody>
      </p:sp>
      <p:sp>
        <p:nvSpPr>
          <p:cNvPr id="28" name="TextBox 27"/>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9" name="Rounded Rectangle 28"/>
          <p:cNvSpPr/>
          <p:nvPr/>
        </p:nvSpPr>
        <p:spPr>
          <a:xfrm>
            <a:off x="4346143"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428439"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No account…</a:t>
            </a:r>
          </a:p>
        </p:txBody>
      </p:sp>
      <p:sp>
        <p:nvSpPr>
          <p:cNvPr id="33" name="TextBox 32"/>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4" name="Rounded Rectangle 33"/>
          <p:cNvSpPr/>
          <p:nvPr/>
        </p:nvSpPr>
        <p:spPr>
          <a:xfrm>
            <a:off x="6185916"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268212"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Walk throu…</a:t>
            </a:r>
          </a:p>
        </p:txBody>
      </p:sp>
      <p:sp>
        <p:nvSpPr>
          <p:cNvPr id="38" name="TextBox 37"/>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9" name="Rounded Rectangle 38"/>
          <p:cNvSpPr/>
          <p:nvPr/>
        </p:nvSpPr>
        <p:spPr>
          <a:xfrm>
            <a:off x="8025688"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107984"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Close with…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Unified Support Hours &amp; Channel Order (KakaoTalk first)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One value across every screen</a:t>
            </a:r>
          </a:p>
        </p:txBody>
      </p:sp>
      <p:sp>
        <p:nvSpPr>
          <p:cNvPr id="10" name="Rounded Rectangle 9"/>
          <p:cNvSpPr/>
          <p:nvPr/>
        </p:nvSpPr>
        <p:spPr>
          <a:xfrm>
            <a:off x="365760" y="1828800"/>
            <a:ext cx="11430000" cy="73152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Support hours previously appeared as 09-22 / 10-20 / 7 p.m. on different screens. They are now unified to 10:00–23:00 (closed weekends and public holidays). The KakaoTalk channel was also moved to first place, and the phone card now notes that KakaoTalk is faster.</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0D9488"/>
                </a:solidFill>
                <a:latin typeface="Malgun Gothic"/>
              </a:rPr>
              <a:t>● </a:t>
            </a:r>
            <a:r>
              <a:rPr sz="900">
                <a:solidFill>
                  <a:srgbClr val="334155"/>
                </a:solidFill>
                <a:latin typeface="Malgun Gothic"/>
              </a:rPr>
              <a:t>On the Contact screen, confirm the card order is KakaoTalk → phone.</a:t>
            </a:r>
          </a:p>
          <a:p>
            <a:pPr>
              <a:lnSpc>
                <a:spcPct val="115000"/>
              </a:lnSpc>
              <a:spcAft>
                <a:spcPts val="300"/>
              </a:spcAft>
            </a:pPr>
            <a:r>
              <a:rPr sz="700" b="1">
                <a:solidFill>
                  <a:srgbClr val="0D9488"/>
                </a:solidFill>
                <a:latin typeface="Malgun Gothic"/>
              </a:rPr>
              <a:t>● </a:t>
            </a:r>
            <a:r>
              <a:rPr sz="900">
                <a:solidFill>
                  <a:srgbClr val="334155"/>
                </a:solidFill>
                <a:latin typeface="Malgun Gothic"/>
              </a:rPr>
              <a:t>When advising parents, point them to the KakaoTalk channel first.</a:t>
            </a:r>
          </a:p>
          <a:p>
            <a:pPr>
              <a:lnSpc>
                <a:spcPct val="115000"/>
              </a:lnSpc>
              <a:spcAft>
                <a:spcPts val="300"/>
              </a:spcAft>
            </a:pPr>
            <a:r>
              <a:rPr sz="700" b="1">
                <a:solidFill>
                  <a:srgbClr val="0D9488"/>
                </a:solidFill>
                <a:latin typeface="Malgun Gothic"/>
              </a:rPr>
              <a:t>● </a:t>
            </a:r>
            <a:r>
              <a:rPr sz="900">
                <a:solidFill>
                  <a:srgbClr val="334155"/>
                </a:solidFill>
                <a:latin typeface="Malgun Gothic"/>
              </a:rPr>
              <a:t>Quote support hours as 10:00–23:00 (closed weekends and holidays).</a:t>
            </a:r>
          </a:p>
        </p:txBody>
      </p:sp>
      <p:sp>
        <p:nvSpPr>
          <p:cNvPr id="14" name="Rounded Rectangle 13"/>
          <p:cNvSpPr/>
          <p:nvPr/>
        </p:nvSpPr>
        <p:spPr>
          <a:xfrm>
            <a:off x="457200" y="5187391"/>
            <a:ext cx="5669280" cy="167358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0D9488"/>
                </a:solidFill>
                <a:latin typeface="Malgun Gothic"/>
              </a:rPr>
              <a:t>✅ Key Points</a:t>
            </a:r>
          </a:p>
        </p:txBody>
      </p:sp>
      <p:sp>
        <p:nvSpPr>
          <p:cNvPr id="16" name="TextBox 15"/>
          <p:cNvSpPr txBox="1"/>
          <p:nvPr/>
        </p:nvSpPr>
        <p:spPr>
          <a:xfrm>
            <a:off x="594360" y="5479999"/>
            <a:ext cx="5394960" cy="1344396"/>
          </a:xfrm>
          <a:prstGeom prst="rect">
            <a:avLst/>
          </a:prstGeom>
          <a:noFill/>
        </p:spPr>
        <p:txBody>
          <a:bodyPr wrap="square">
            <a:spAutoFit/>
          </a:bodyPr>
          <a:lstStyle/>
          <a:p>
            <a:pPr>
              <a:lnSpc>
                <a:spcPct val="115000"/>
              </a:lnSpc>
              <a:spcAft>
                <a:spcPts val="100"/>
              </a:spcAft>
            </a:pPr>
            <a:r>
              <a:rPr sz="650" b="1">
                <a:solidFill>
                  <a:srgbClr val="0D9488"/>
                </a:solidFill>
                <a:latin typeface="Malgun Gothic"/>
              </a:rPr>
              <a:t>● </a:t>
            </a:r>
            <a:r>
              <a:rPr sz="850">
                <a:solidFill>
                  <a:srgbClr val="334155"/>
                </a:solidFill>
                <a:latin typeface="Malgun Gothic"/>
              </a:rPr>
              <a:t>Places corrected: contact screen, home menu, FAQ (both languages), AI consultant fact block, student FAQ — all the same value now.</a:t>
            </a:r>
          </a:p>
          <a:p>
            <a:pPr>
              <a:lnSpc>
                <a:spcPct val="115000"/>
              </a:lnSpc>
              <a:spcAft>
                <a:spcPts val="100"/>
              </a:spcAft>
            </a:pPr>
            <a:r>
              <a:rPr sz="650" b="1">
                <a:solidFill>
                  <a:srgbClr val="0D9488"/>
                </a:solidFill>
                <a:latin typeface="Malgun Gothic"/>
              </a:rPr>
              <a:t>● </a:t>
            </a:r>
            <a:r>
              <a:rPr sz="850">
                <a:solidFill>
                  <a:srgbClr val="334155"/>
                </a:solidFill>
                <a:latin typeface="Malgun Gothic"/>
              </a:rPr>
              <a:t>The unused fax number and placeholder phone numbers were deleted.</a:t>
            </a:r>
          </a:p>
          <a:p>
            <a:pPr>
              <a:lnSpc>
                <a:spcPct val="115000"/>
              </a:lnSpc>
              <a:spcAft>
                <a:spcPts val="100"/>
              </a:spcAft>
            </a:pPr>
            <a:r>
              <a:rPr sz="650" b="1">
                <a:solidFill>
                  <a:srgbClr val="0D9488"/>
                </a:solidFill>
                <a:latin typeface="Malgun Gothic"/>
              </a:rPr>
              <a:t>● </a:t>
            </a:r>
            <a:r>
              <a:rPr sz="850">
                <a:solidFill>
                  <a:srgbClr val="334155"/>
                </a:solidFill>
                <a:latin typeface="Malgun Gothic"/>
              </a:rPr>
              <a:t>The AI consultant quotes the same hours and the same channel order.</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If real operating hours change, all of these must be updated together. Changing only one brings the inconsistency straight back.</a:t>
            </a:r>
          </a:p>
        </p:txBody>
      </p:sp>
      <p:sp>
        <p:nvSpPr>
          <p:cNvPr id="19" name="Rounded Rectangle 18"/>
          <p:cNvSpPr/>
          <p:nvPr/>
        </p:nvSpPr>
        <p:spPr>
          <a:xfrm>
            <a:off x="6176772" y="5870448"/>
            <a:ext cx="5646420" cy="822960"/>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If you need the Philippines call-centre numbers listed, provide the real ones — the previous placeholders were removed.</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contact.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598163" y="2670048"/>
            <a:ext cx="124175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680459"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8045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982211"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Contact</a:t>
            </a:r>
          </a:p>
        </p:txBody>
      </p:sp>
      <p:sp>
        <p:nvSpPr>
          <p:cNvPr id="28" name="TextBox 27"/>
          <p:cNvSpPr txBox="1"/>
          <p:nvPr/>
        </p:nvSpPr>
        <p:spPr>
          <a:xfrm>
            <a:off x="4839919"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29" name="Rounded Rectangle 28"/>
          <p:cNvSpPr/>
          <p:nvPr/>
        </p:nvSpPr>
        <p:spPr>
          <a:xfrm>
            <a:off x="5022799" y="2670048"/>
            <a:ext cx="1656892"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05095"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0509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40684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point them…</a:t>
            </a:r>
          </a:p>
        </p:txBody>
      </p:sp>
      <p:sp>
        <p:nvSpPr>
          <p:cNvPr id="33" name="TextBox 32"/>
          <p:cNvSpPr txBox="1"/>
          <p:nvPr/>
        </p:nvSpPr>
        <p:spPr>
          <a:xfrm>
            <a:off x="6679692" y="2670048"/>
            <a:ext cx="182880" cy="457200"/>
          </a:xfrm>
          <a:prstGeom prst="rect">
            <a:avLst/>
          </a:prstGeom>
          <a:noFill/>
        </p:spPr>
        <p:txBody>
          <a:bodyPr wrap="square" anchor="ctr">
            <a:spAutoFit/>
          </a:bodyPr>
          <a:lstStyle/>
          <a:p>
            <a:pPr algn="ctr">
              <a:lnSpc>
                <a:spcPct val="100000"/>
              </a:lnSpc>
            </a:pPr>
            <a:r>
              <a:rPr sz="1500" b="1">
                <a:solidFill>
                  <a:srgbClr val="0D9488"/>
                </a:solidFill>
                <a:latin typeface="Malgun Gothic"/>
              </a:rPr>
              <a:t>›</a:t>
            </a:r>
          </a:p>
        </p:txBody>
      </p:sp>
      <p:sp>
        <p:nvSpPr>
          <p:cNvPr id="34" name="Rounded Rectangle 33"/>
          <p:cNvSpPr/>
          <p:nvPr/>
        </p:nvSpPr>
        <p:spPr>
          <a:xfrm>
            <a:off x="6862572" y="2670048"/>
            <a:ext cx="1728215" cy="457200"/>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944868" y="2761488"/>
            <a:ext cx="274320" cy="27432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448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246620"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10:00–23:0…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Rounded Rectangle 5"/>
          <p:cNvSpPr/>
          <p:nvPr/>
        </p:nvSpPr>
        <p:spPr>
          <a:xfrm>
            <a:off x="365760" y="841248"/>
            <a:ext cx="658368"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31</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0D9488"/>
                </a:solidFill>
                <a:latin typeface="Malgun Gothic"/>
              </a:rPr>
              <a:t>📋 Branch Features at a Glance</a:t>
            </a:r>
          </a:p>
        </p:txBody>
      </p:sp>
      <p:graphicFrame>
        <p:nvGraphicFramePr>
          <p:cNvPr id="9" name="Table 8"/>
          <p:cNvGraphicFramePr>
            <a:graphicFrameLocks noGrp="1"/>
          </p:cNvGraphicFramePr>
          <p:nvPr/>
        </p:nvGraphicFramePr>
        <p:xfrm>
          <a:off x="365760" y="1463040"/>
          <a:ext cx="11460175" cy="4114800"/>
        </p:xfrm>
        <a:graphic>
          <a:graphicData uri="http://schemas.openxmlformats.org/drawingml/2006/table">
            <a:tbl>
              <a:tblPr firstRow="1" bandRow="1">
                <a:tableStyleId>{5C22544A-7EE6-4342-B048-85BDC9FD1C3A}</a:tableStyleId>
              </a:tblPr>
              <a:tblGrid>
                <a:gridCol w="2865043"/>
                <a:gridCol w="2865043"/>
                <a:gridCol w="2865043"/>
                <a:gridCol w="2865046"/>
              </a:tblGrid>
              <a:tr h="514350">
                <a:tc>
                  <a:txBody>
                    <a:bodyPr/>
                    <a:lstStyle/>
                    <a:p>
                      <a:pPr algn="ctr"/>
                      <a:r>
                        <a:rPr sz="1300" b="1">
                          <a:solidFill>
                            <a:srgbClr val="FFFFFF"/>
                          </a:solidFill>
                          <a:latin typeface="Malgun Gothic"/>
                        </a:rPr>
                        <a:t>Feature</a:t>
                      </a:r>
                    </a:p>
                  </a:txBody>
                  <a:tcPr>
                    <a:solidFill>
                      <a:srgbClr val="0D9488"/>
                    </a:solidFill>
                  </a:tcPr>
                </a:tc>
                <a:tc>
                  <a:txBody>
                    <a:bodyPr/>
                    <a:lstStyle/>
                    <a:p>
                      <a:pPr algn="ctr"/>
                      <a:r>
                        <a:rPr sz="1300" b="1">
                          <a:solidFill>
                            <a:srgbClr val="FFFFFF"/>
                          </a:solidFill>
                          <a:latin typeface="Malgun Gothic"/>
                        </a:rPr>
                        <a:t>What it does</a:t>
                      </a:r>
                    </a:p>
                  </a:txBody>
                  <a:tcPr>
                    <a:solidFill>
                      <a:srgbClr val="0D9488"/>
                    </a:solidFill>
                  </a:tcPr>
                </a:tc>
                <a:tc>
                  <a:txBody>
                    <a:bodyPr/>
                    <a:lstStyle/>
                    <a:p>
                      <a:pPr algn="ctr"/>
                      <a:r>
                        <a:rPr sz="1300" b="1">
                          <a:solidFill>
                            <a:srgbClr val="FFFFFF"/>
                          </a:solidFill>
                          <a:latin typeface="Malgun Gothic"/>
                        </a:rPr>
                        <a:t>Scope</a:t>
                      </a:r>
                    </a:p>
                  </a:txBody>
                  <a:tcPr>
                    <a:solidFill>
                      <a:srgbClr val="0D9488"/>
                    </a:solidFill>
                  </a:tcPr>
                </a:tc>
                <a:tc>
                  <a:txBody>
                    <a:bodyPr/>
                    <a:lstStyle/>
                    <a:p>
                      <a:pPr algn="ctr"/>
                      <a:r>
                        <a:rPr sz="1300" b="1">
                          <a:solidFill>
                            <a:srgbClr val="FFFFFF"/>
                          </a:solidFill>
                          <a:latin typeface="Malgun Gothic"/>
                        </a:rPr>
                        <a:t>Core benefit</a:t>
                      </a:r>
                    </a:p>
                  </a:txBody>
                  <a:tcPr>
                    <a:solidFill>
                      <a:srgbClr val="0D9488"/>
                    </a:solidFill>
                  </a:tcPr>
                </a:tc>
              </a:tr>
              <a:tr h="514350">
                <a:tc>
                  <a:txBody>
                    <a:bodyPr/>
                    <a:lstStyle/>
                    <a:p>
                      <a:pPr algn="l"/>
                      <a:r>
                        <a:rPr sz="1200" b="1">
                          <a:solidFill>
                            <a:srgbClr val="334155"/>
                          </a:solidFill>
                          <a:latin typeface="Malgun Gothic"/>
                        </a:rPr>
                        <a:t>Branch dashboard</a:t>
                      </a:r>
                    </a:p>
                  </a:txBody>
                  <a:tcPr>
                    <a:solidFill>
                      <a:srgbClr val="FFFFFF"/>
                    </a:solidFill>
                  </a:tcPr>
                </a:tc>
                <a:tc>
                  <a:txBody>
                    <a:bodyPr/>
                    <a:lstStyle/>
                    <a:p>
                      <a:pPr algn="ctr"/>
                      <a:r>
                        <a:rPr sz="1200">
                          <a:solidFill>
                            <a:srgbClr val="334155"/>
                          </a:solidFill>
                          <a:latin typeface="Malgun Gothic"/>
                        </a:rPr>
                        <a:t>Revenue·enrollment·attendance</a:t>
                      </a:r>
                    </a:p>
                  </a:txBody>
                  <a:tcPr>
                    <a:solidFill>
                      <a:srgbClr val="FFFFFF"/>
                    </a:solidFill>
                  </a:tcPr>
                </a:tc>
                <a:tc>
                  <a:txBody>
                    <a:bodyPr/>
                    <a:lstStyle/>
                    <a:p>
                      <a:pPr algn="ctr"/>
                      <a:r>
                        <a:rPr sz="1200">
                          <a:solidFill>
                            <a:srgbClr val="334155"/>
                          </a:solidFill>
                          <a:latin typeface="Malgun Gothic"/>
                        </a:rPr>
                        <a:t>My branch</a:t>
                      </a:r>
                    </a:p>
                  </a:txBody>
                  <a:tcPr>
                    <a:solidFill>
                      <a:srgbClr val="FFFFFF"/>
                    </a:solidFill>
                  </a:tcPr>
                </a:tc>
                <a:tc>
                  <a:txBody>
                    <a:bodyPr/>
                    <a:lstStyle/>
                    <a:p>
                      <a:pPr algn="ctr"/>
                      <a:r>
                        <a:rPr sz="1200">
                          <a:solidFill>
                            <a:srgbClr val="334155"/>
                          </a:solidFill>
                          <a:latin typeface="Malgun Gothic"/>
                        </a:rPr>
                        <a:t>Quick read</a:t>
                      </a:r>
                    </a:p>
                  </a:txBody>
                  <a:tcPr>
                    <a:solidFill>
                      <a:srgbClr val="FFFFFF"/>
                    </a:solidFill>
                  </a:tcPr>
                </a:tc>
              </a:tr>
              <a:tr h="514350">
                <a:tc>
                  <a:txBody>
                    <a:bodyPr/>
                    <a:lstStyle/>
                    <a:p>
                      <a:pPr algn="l"/>
                      <a:r>
                        <a:rPr sz="1200" b="1">
                          <a:solidFill>
                            <a:srgbClr val="334155"/>
                          </a:solidFill>
                          <a:latin typeface="Malgun Gothic"/>
                        </a:rPr>
                        <a:t>Agency mgmt</a:t>
                      </a:r>
                    </a:p>
                  </a:txBody>
                  <a:tcPr>
                    <a:solidFill>
                      <a:srgbClr val="F8FAFC"/>
                    </a:solidFill>
                  </a:tcPr>
                </a:tc>
                <a:tc>
                  <a:txBody>
                    <a:bodyPr/>
                    <a:lstStyle/>
                    <a:p>
                      <a:pPr algn="ctr"/>
                      <a:r>
                        <a:rPr sz="1200">
                          <a:solidFill>
                            <a:srgbClr val="334155"/>
                          </a:solidFill>
                          <a:latin typeface="Malgun Gothic"/>
                        </a:rPr>
                        <a:t>List·performance·recruiting</a:t>
                      </a:r>
                    </a:p>
                  </a:txBody>
                  <a:tcPr>
                    <a:solidFill>
                      <a:srgbClr val="F8FAFC"/>
                    </a:solidFill>
                  </a:tcPr>
                </a:tc>
                <a:tc>
                  <a:txBody>
                    <a:bodyPr/>
                    <a:lstStyle/>
                    <a:p>
                      <a:pPr algn="ctr"/>
                      <a:r>
                        <a:rPr sz="1200">
                          <a:solidFill>
                            <a:srgbClr val="334155"/>
                          </a:solidFill>
                          <a:latin typeface="Malgun Gothic"/>
                        </a:rPr>
                        <a:t>Sub-agencies</a:t>
                      </a:r>
                    </a:p>
                  </a:txBody>
                  <a:tcPr>
                    <a:solidFill>
                      <a:srgbClr val="F8FAFC"/>
                    </a:solidFill>
                  </a:tcPr>
                </a:tc>
                <a:tc>
                  <a:txBody>
                    <a:bodyPr/>
                    <a:lstStyle/>
                    <a:p>
                      <a:pPr algn="ctr"/>
                      <a:r>
                        <a:rPr sz="1200">
                          <a:solidFill>
                            <a:srgbClr val="334155"/>
                          </a:solidFill>
                          <a:latin typeface="Malgun Gothic"/>
                        </a:rPr>
                        <a:t>Level up</a:t>
                      </a:r>
                    </a:p>
                  </a:txBody>
                  <a:tcPr>
                    <a:solidFill>
                      <a:srgbClr val="F8FAFC"/>
                    </a:solidFill>
                  </a:tcPr>
                </a:tc>
              </a:tr>
              <a:tr h="514350">
                <a:tc>
                  <a:txBody>
                    <a:bodyPr/>
                    <a:lstStyle/>
                    <a:p>
                      <a:pPr algn="l"/>
                      <a:r>
                        <a:rPr sz="1200" b="1">
                          <a:solidFill>
                            <a:srgbClr val="334155"/>
                          </a:solidFill>
                          <a:latin typeface="Malgun Gothic"/>
                        </a:rPr>
                        <a:t>Branch settlement</a:t>
                      </a:r>
                    </a:p>
                  </a:txBody>
                  <a:tcPr>
                    <a:solidFill>
                      <a:srgbClr val="FFFFFF"/>
                    </a:solidFill>
                  </a:tcPr>
                </a:tc>
                <a:tc>
                  <a:txBody>
                    <a:bodyPr/>
                    <a:lstStyle/>
                    <a:p>
                      <a:pPr algn="ctr"/>
                      <a:r>
                        <a:rPr sz="1200">
                          <a:solidFill>
                            <a:srgbClr val="334155"/>
                          </a:solidFill>
                          <a:latin typeface="Malgun Gothic"/>
                        </a:rPr>
                        <a:t>Receive·distribute auto-calc</a:t>
                      </a:r>
                    </a:p>
                  </a:txBody>
                  <a:tcPr>
                    <a:solidFill>
                      <a:srgbClr val="FFFFFF"/>
                    </a:solidFill>
                  </a:tcPr>
                </a:tc>
                <a:tc>
                  <a:txBody>
                    <a:bodyPr/>
                    <a:lstStyle/>
                    <a:p>
                      <a:pPr algn="ctr"/>
                      <a:r>
                        <a:rPr sz="1200">
                          <a:solidFill>
                            <a:srgbClr val="334155"/>
                          </a:solidFill>
                          <a:latin typeface="Malgun Gothic"/>
                        </a:rPr>
                        <a:t>HQ↔branch↔agency</a:t>
                      </a:r>
                    </a:p>
                  </a:txBody>
                  <a:tcPr>
                    <a:solidFill>
                      <a:srgbClr val="FFFFFF"/>
                    </a:solidFill>
                  </a:tcPr>
                </a:tc>
                <a:tc>
                  <a:txBody>
                    <a:bodyPr/>
                    <a:lstStyle/>
                    <a:p>
                      <a:pPr algn="ctr"/>
                      <a:r>
                        <a:rPr sz="1200">
                          <a:solidFill>
                            <a:srgbClr val="334155"/>
                          </a:solidFill>
                          <a:latin typeface="Malgun Gothic"/>
                        </a:rPr>
                        <a:t>Accurate settlement</a:t>
                      </a:r>
                    </a:p>
                  </a:txBody>
                  <a:tcPr>
                    <a:solidFill>
                      <a:srgbClr val="FFFFFF"/>
                    </a:solidFill>
                  </a:tcPr>
                </a:tc>
              </a:tr>
              <a:tr h="514350">
                <a:tc>
                  <a:txBody>
                    <a:bodyPr/>
                    <a:lstStyle/>
                    <a:p>
                      <a:pPr algn="l"/>
                      <a:r>
                        <a:rPr sz="1200" b="1">
                          <a:solidFill>
                            <a:srgbClr val="334155"/>
                          </a:solidFill>
                          <a:latin typeface="Malgun Gothic"/>
                        </a:rPr>
                        <a:t>Students·parents</a:t>
                      </a:r>
                    </a:p>
                  </a:txBody>
                  <a:tcPr>
                    <a:solidFill>
                      <a:srgbClr val="F8FAFC"/>
                    </a:solidFill>
                  </a:tcPr>
                </a:tc>
                <a:tc>
                  <a:txBody>
                    <a:bodyPr/>
                    <a:lstStyle/>
                    <a:p>
                      <a:pPr algn="ctr"/>
                      <a:r>
                        <a:rPr sz="1200">
                          <a:solidFill>
                            <a:srgbClr val="334155"/>
                          </a:solidFill>
                          <a:latin typeface="Malgun Gothic"/>
                        </a:rPr>
                        <a:t>Enrollment·attendance·grades</a:t>
                      </a:r>
                    </a:p>
                  </a:txBody>
                  <a:tcPr>
                    <a:solidFill>
                      <a:srgbClr val="F8FAFC"/>
                    </a:solidFill>
                  </a:tcPr>
                </a:tc>
                <a:tc>
                  <a:txBody>
                    <a:bodyPr/>
                    <a:lstStyle/>
                    <a:p>
                      <a:pPr algn="ctr"/>
                      <a:r>
                        <a:rPr sz="1200">
                          <a:solidFill>
                            <a:srgbClr val="334155"/>
                          </a:solidFill>
                          <a:latin typeface="Malgun Gothic"/>
                        </a:rPr>
                        <a:t>Branch scope</a:t>
                      </a:r>
                    </a:p>
                  </a:txBody>
                  <a:tcPr>
                    <a:solidFill>
                      <a:srgbClr val="F8FAFC"/>
                    </a:solidFill>
                  </a:tcPr>
                </a:tc>
                <a:tc>
                  <a:txBody>
                    <a:bodyPr/>
                    <a:lstStyle/>
                    <a:p>
                      <a:pPr algn="ctr"/>
                      <a:r>
                        <a:rPr sz="1200">
                          <a:solidFill>
                            <a:srgbClr val="334155"/>
                          </a:solidFill>
                          <a:latin typeface="Malgun Gothic"/>
                        </a:rPr>
                        <a:t>Churn prevention</a:t>
                      </a:r>
                    </a:p>
                  </a:txBody>
                  <a:tcPr>
                    <a:solidFill>
                      <a:srgbClr val="F8FAFC"/>
                    </a:solidFill>
                  </a:tcPr>
                </a:tc>
              </a:tr>
              <a:tr h="514350">
                <a:tc>
                  <a:txBody>
                    <a:bodyPr/>
                    <a:lstStyle/>
                    <a:p>
                      <a:pPr algn="l"/>
                      <a:r>
                        <a:rPr sz="1200" b="1">
                          <a:solidFill>
                            <a:srgbClr val="334155"/>
                          </a:solidFill>
                          <a:latin typeface="Malgun Gothic"/>
                        </a:rPr>
                        <a:t>Accounting</a:t>
                      </a:r>
                    </a:p>
                  </a:txBody>
                  <a:tcPr>
                    <a:solidFill>
                      <a:srgbClr val="FFFFFF"/>
                    </a:solidFill>
                  </a:tcPr>
                </a:tc>
                <a:tc>
                  <a:txBody>
                    <a:bodyPr/>
                    <a:lstStyle/>
                    <a:p>
                      <a:pPr algn="ctr"/>
                      <a:r>
                        <a:rPr sz="1200">
                          <a:solidFill>
                            <a:srgbClr val="334155"/>
                          </a:solidFill>
                          <a:latin typeface="Malgun Gothic"/>
                        </a:rPr>
                        <a:t>Payments·overdue·refunds</a:t>
                      </a:r>
                    </a:p>
                  </a:txBody>
                  <a:tcPr>
                    <a:solidFill>
                      <a:srgbClr val="FFFFFF"/>
                    </a:solidFill>
                  </a:tcPr>
                </a:tc>
                <a:tc>
                  <a:txBody>
                    <a:bodyPr/>
                    <a:lstStyle/>
                    <a:p>
                      <a:pPr algn="ctr"/>
                      <a:r>
                        <a:rPr sz="1200">
                          <a:solidFill>
                            <a:srgbClr val="334155"/>
                          </a:solidFill>
                          <a:latin typeface="Malgun Gothic"/>
                        </a:rPr>
                        <a:t>Branch scope</a:t>
                      </a:r>
                    </a:p>
                  </a:txBody>
                  <a:tcPr>
                    <a:solidFill>
                      <a:srgbClr val="FFFFFF"/>
                    </a:solidFill>
                  </a:tcPr>
                </a:tc>
                <a:tc>
                  <a:txBody>
                    <a:bodyPr/>
                    <a:lstStyle/>
                    <a:p>
                      <a:pPr algn="ctr"/>
                      <a:r>
                        <a:rPr sz="1200">
                          <a:solidFill>
                            <a:srgbClr val="334155"/>
                          </a:solidFill>
                          <a:latin typeface="Malgun Gothic"/>
                        </a:rPr>
                        <a:t>Healthy collection</a:t>
                      </a:r>
                    </a:p>
                  </a:txBody>
                  <a:tcPr>
                    <a:solidFill>
                      <a:srgbClr val="FFFFFF"/>
                    </a:solidFill>
                  </a:tcPr>
                </a:tc>
              </a:tr>
              <a:tr h="514350">
                <a:tc>
                  <a:txBody>
                    <a:bodyPr/>
                    <a:lstStyle/>
                    <a:p>
                      <a:pPr algn="l"/>
                      <a:r>
                        <a:rPr sz="1200" b="1">
                          <a:solidFill>
                            <a:srgbClr val="334155"/>
                          </a:solidFill>
                          <a:latin typeface="Malgun Gothic"/>
                        </a:rPr>
                        <a:t>Retention</a:t>
                      </a:r>
                    </a:p>
                  </a:txBody>
                  <a:tcPr>
                    <a:solidFill>
                      <a:srgbClr val="F8FAFC"/>
                    </a:solidFill>
                  </a:tcPr>
                </a:tc>
                <a:tc>
                  <a:txBody>
                    <a:bodyPr/>
                    <a:lstStyle/>
                    <a:p>
                      <a:pPr algn="ctr"/>
                      <a:r>
                        <a:rPr sz="1200">
                          <a:solidFill>
                            <a:srgbClr val="334155"/>
                          </a:solidFill>
                          <a:latin typeface="Malgun Gothic"/>
                        </a:rPr>
                        <a:t>Churn risk·contagion</a:t>
                      </a:r>
                    </a:p>
                  </a:txBody>
                  <a:tcPr>
                    <a:solidFill>
                      <a:srgbClr val="F8FAFC"/>
                    </a:solidFill>
                  </a:tcPr>
                </a:tc>
                <a:tc>
                  <a:txBody>
                    <a:bodyPr/>
                    <a:lstStyle/>
                    <a:p>
                      <a:pPr algn="ctr"/>
                      <a:r>
                        <a:rPr sz="1200">
                          <a:solidFill>
                            <a:srgbClr val="334155"/>
                          </a:solidFill>
                          <a:latin typeface="Malgun Gothic"/>
                        </a:rPr>
                        <a:t>Branch·agency</a:t>
                      </a:r>
                    </a:p>
                  </a:txBody>
                  <a:tcPr>
                    <a:solidFill>
                      <a:srgbClr val="F8FAFC"/>
                    </a:solidFill>
                  </a:tcPr>
                </a:tc>
                <a:tc>
                  <a:txBody>
                    <a:bodyPr/>
                    <a:lstStyle/>
                    <a:p>
                      <a:pPr algn="ctr"/>
                      <a:r>
                        <a:rPr sz="1200">
                          <a:solidFill>
                            <a:srgbClr val="334155"/>
                          </a:solidFill>
                          <a:latin typeface="Malgun Gothic"/>
                        </a:rPr>
                        <a:t>Retention ↑</a:t>
                      </a:r>
                    </a:p>
                  </a:txBody>
                  <a:tcPr>
                    <a:solidFill>
                      <a:srgbClr val="F8FAFC"/>
                    </a:solidFill>
                  </a:tcPr>
                </a:tc>
              </a:tr>
              <a:tr h="514350">
                <a:tc>
                  <a:txBody>
                    <a:bodyPr/>
                    <a:lstStyle/>
                    <a:p>
                      <a:pPr algn="l"/>
                      <a:r>
                        <a:rPr sz="1200" b="1">
                          <a:solidFill>
                            <a:srgbClr val="334155"/>
                          </a:solidFill>
                          <a:latin typeface="Malgun Gothic"/>
                        </a:rPr>
                        <a:t>Monthly report</a:t>
                      </a:r>
                    </a:p>
                  </a:txBody>
                  <a:tcPr>
                    <a:solidFill>
                      <a:srgbClr val="FFFFFF"/>
                    </a:solidFill>
                  </a:tcPr>
                </a:tc>
                <a:tc>
                  <a:txBody>
                    <a:bodyPr/>
                    <a:lstStyle/>
                    <a:p>
                      <a:pPr algn="ctr"/>
                      <a:r>
                        <a:rPr sz="1200">
                          <a:solidFill>
                            <a:srgbClr val="334155"/>
                          </a:solidFill>
                          <a:latin typeface="Malgun Gothic"/>
                        </a:rPr>
                        <a:t>Performance analysis</a:t>
                      </a:r>
                    </a:p>
                  </a:txBody>
                  <a:tcPr>
                    <a:solidFill>
                      <a:srgbClr val="FFFFFF"/>
                    </a:solidFill>
                  </a:tcPr>
                </a:tc>
                <a:tc>
                  <a:txBody>
                    <a:bodyPr/>
                    <a:lstStyle/>
                    <a:p>
                      <a:pPr algn="ctr"/>
                      <a:r>
                        <a:rPr sz="1200">
                          <a:solidFill>
                            <a:srgbClr val="334155"/>
                          </a:solidFill>
                          <a:latin typeface="Malgun Gothic"/>
                        </a:rPr>
                        <a:t>Branch·agency</a:t>
                      </a:r>
                    </a:p>
                  </a:txBody>
                  <a:tcPr>
                    <a:solidFill>
                      <a:srgbClr val="FFFFFF"/>
                    </a:solidFill>
                  </a:tcPr>
                </a:tc>
                <a:tc>
                  <a:txBody>
                    <a:bodyPr/>
                    <a:lstStyle/>
                    <a:p>
                      <a:pPr algn="ctr"/>
                      <a:r>
                        <a:rPr sz="1200">
                          <a:solidFill>
                            <a:srgbClr val="334155"/>
                          </a:solidFill>
                          <a:latin typeface="Malgun Gothic"/>
                        </a:rPr>
                        <a:t>Transparent ops</a:t>
                      </a:r>
                    </a:p>
                  </a:txBody>
                  <a:tcPr>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Rounded Rectangle 5"/>
          <p:cNvSpPr/>
          <p:nvPr/>
        </p:nvSpPr>
        <p:spPr>
          <a:xfrm>
            <a:off x="365760" y="841248"/>
            <a:ext cx="658368"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32</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0D9488"/>
                </a:solidFill>
                <a:latin typeface="Malgun Gothic"/>
              </a:rPr>
              <a:t>📊 Data at a Glance</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Enrollment by Agency (example)</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Settlement Split (example)</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Rounded Rectangle 5"/>
          <p:cNvSpPr/>
          <p:nvPr/>
        </p:nvSpPr>
        <p:spPr>
          <a:xfrm>
            <a:off x="365760" y="841248"/>
            <a:ext cx="658368"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33</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0D9488"/>
                </a:solidFill>
                <a:latin typeface="Malgun Gothic"/>
              </a:rPr>
              <a:t>❓ Frequently Asked Questions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0D9488"/>
                </a:solidFill>
                <a:latin typeface="Malgun Gothic"/>
              </a:rPr>
              <a:t>Q. Where do I log in?</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Log in at admin.mangoi.co.kr. By role (branch), only your branch's data shows automatically.</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0D9488"/>
                </a:solidFill>
                <a:latin typeface="Malgun Gothic"/>
              </a:rPr>
              <a:t>Q. Can I see other branches' data?</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No. By permission scope, only your branch and sub-agency data is visible.</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0D9488"/>
                </a:solidFill>
                <a:latin typeface="Malgun Gothic"/>
              </a:rPr>
              <a:t>Q. How is settlement calculated?</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Revenue/commissions are auto-calculated down the org tree (HQ→branch→agency). Check the monthly report.</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0D9488"/>
                </a:solidFill>
                <a:latin typeface="Malgun Gothic"/>
              </a:rPr>
              <a:t>Q. An agency is underperforming.</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Find causes via retention/accounting/reports and support with onboarding/coaching/incentives; sharing best cases helps.</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0D9488"/>
                </a:solidFill>
                <a:latin typeface="Malgun Gothic"/>
              </a:rPr>
              <a:t>Q. A system problem occurred.</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Contact HQ support (phone·email·Kakao·remote) for a quick fix.</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CFDF5"/>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Rounded Rectangle 5"/>
          <p:cNvSpPr/>
          <p:nvPr/>
        </p:nvSpPr>
        <p:spPr>
          <a:xfrm>
            <a:off x="365760" y="841248"/>
            <a:ext cx="658368"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34</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0D9488"/>
                </a:solidFill>
                <a:latin typeface="Malgun Gothic"/>
              </a:rPr>
              <a:t>✅ Branch Operations Checklist</a:t>
            </a:r>
          </a:p>
        </p:txBody>
      </p:sp>
      <p:sp>
        <p:nvSpPr>
          <p:cNvPr id="9" name="Rounded Rectangle 8"/>
          <p:cNvSpPr/>
          <p:nvPr/>
        </p:nvSpPr>
        <p:spPr>
          <a:xfrm>
            <a:off x="457200" y="1645920"/>
            <a:ext cx="292608" cy="292608"/>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today's branch revenue/enrollment/attendance?</a:t>
            </a:r>
          </a:p>
        </p:txBody>
      </p:sp>
      <p:sp>
        <p:nvSpPr>
          <p:cNvPr id="11" name="Rounded Rectangle 10"/>
          <p:cNvSpPr/>
          <p:nvPr/>
        </p:nvSpPr>
        <p:spPr>
          <a:xfrm>
            <a:off x="457200" y="2212848"/>
            <a:ext cx="292608" cy="292608"/>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spot and support underperforming agencies?</a:t>
            </a:r>
          </a:p>
        </p:txBody>
      </p:sp>
      <p:sp>
        <p:nvSpPr>
          <p:cNvPr id="13" name="Rounded Rectangle 12"/>
          <p:cNvSpPr/>
          <p:nvPr/>
        </p:nvSpPr>
        <p:spPr>
          <a:xfrm>
            <a:off x="457200" y="2779776"/>
            <a:ext cx="292608" cy="292608"/>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review this month's settlement (receive·distribute)?</a:t>
            </a:r>
          </a:p>
        </p:txBody>
      </p:sp>
      <p:sp>
        <p:nvSpPr>
          <p:cNvPr id="15" name="Rounded Rectangle 14"/>
          <p:cNvSpPr/>
          <p:nvPr/>
        </p:nvSpPr>
        <p:spPr>
          <a:xfrm>
            <a:off x="457200" y="3346704"/>
            <a:ext cx="292608" cy="292608"/>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overdue/refund items?</a:t>
            </a:r>
          </a:p>
        </p:txBody>
      </p:sp>
      <p:sp>
        <p:nvSpPr>
          <p:cNvPr id="17" name="Rounded Rectangle 16"/>
          <p:cNvSpPr/>
          <p:nvPr/>
        </p:nvSpPr>
        <p:spPr>
          <a:xfrm>
            <a:off x="457200" y="3913632"/>
            <a:ext cx="292608" cy="292608"/>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care for at-risk students/agencies?</a:t>
            </a:r>
          </a:p>
        </p:txBody>
      </p:sp>
      <p:sp>
        <p:nvSpPr>
          <p:cNvPr id="19" name="Rounded Rectangle 18"/>
          <p:cNvSpPr/>
          <p:nvPr/>
        </p:nvSpPr>
        <p:spPr>
          <a:xfrm>
            <a:off x="457200" y="4480560"/>
            <a:ext cx="292608" cy="292608"/>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onboard new agencies?</a:t>
            </a:r>
          </a:p>
        </p:txBody>
      </p:sp>
      <p:sp>
        <p:nvSpPr>
          <p:cNvPr id="21" name="Rounded Rectangle 20"/>
          <p:cNvSpPr/>
          <p:nvPr/>
        </p:nvSpPr>
        <p:spPr>
          <a:xfrm>
            <a:off x="457200" y="5047488"/>
            <a:ext cx="292608" cy="292608"/>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share the monthly report?</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Rounded Rectangle 5"/>
          <p:cNvSpPr/>
          <p:nvPr/>
        </p:nvSpPr>
        <p:spPr>
          <a:xfrm>
            <a:off x="365760" y="841248"/>
            <a:ext cx="658368"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35</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0D9488"/>
                </a:solidFill>
                <a:latin typeface="Malgun Gothic"/>
              </a:rPr>
              <a:t>🏁 Conclusion · A Practical Guide to Branch Growth</a:t>
            </a:r>
          </a:p>
        </p:txBody>
      </p:sp>
      <p:sp>
        <p:nvSpPr>
          <p:cNvPr id="9" name="Rounded Rectangle 8"/>
          <p:cNvSpPr/>
          <p:nvPr/>
        </p:nvSpPr>
        <p:spPr>
          <a:xfrm>
            <a:off x="365760" y="1371600"/>
            <a:ext cx="11430000" cy="86868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A branch is the bridge between HQ and agencies. Watch your branch metrics, support your agencies to grow, and process settlement transparently — and the whole branch grows together. Keep this rhythm and operations get far more stable.</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0D9488"/>
                </a:solidFill>
                <a:latin typeface="Malgun Gothic"/>
              </a:rPr>
              <a:t>🔄 The Flow at a Glance</a:t>
            </a:r>
          </a:p>
        </p:txBody>
      </p:sp>
      <p:sp>
        <p:nvSpPr>
          <p:cNvPr id="12" name="Rounded Rectangle 11"/>
          <p:cNvSpPr/>
          <p:nvPr/>
        </p:nvSpPr>
        <p:spPr>
          <a:xfrm>
            <a:off x="457200" y="2788920"/>
            <a:ext cx="16002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Morning (5 min)</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revenue/enrollment/attendance on the branch dashboard; read the AI insight</a:t>
            </a:r>
          </a:p>
        </p:txBody>
      </p:sp>
      <p:sp>
        <p:nvSpPr>
          <p:cNvPr id="15" name="Rounded Rectangle 14"/>
          <p:cNvSpPr/>
          <p:nvPr/>
        </p:nvSpPr>
        <p:spPr>
          <a:xfrm>
            <a:off x="457200" y="3246120"/>
            <a:ext cx="16002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Late morning</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Review performance/collection by agency; check overdue/refunds</a:t>
            </a:r>
          </a:p>
        </p:txBody>
      </p:sp>
      <p:sp>
        <p:nvSpPr>
          <p:cNvPr id="18" name="Rounded Rectangle 17"/>
          <p:cNvSpPr/>
          <p:nvPr/>
        </p:nvSpPr>
        <p:spPr>
          <a:xfrm>
            <a:off x="457200" y="3703320"/>
            <a:ext cx="16002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Afternoon</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Support/coach underperforming agencies; care for at-risk students (retention)</a:t>
            </a:r>
          </a:p>
        </p:txBody>
      </p:sp>
      <p:sp>
        <p:nvSpPr>
          <p:cNvPr id="21" name="Rounded Rectangle 20"/>
          <p:cNvSpPr/>
          <p:nvPr/>
        </p:nvSpPr>
        <p:spPr>
          <a:xfrm>
            <a:off x="457200" y="4160520"/>
            <a:ext cx="16002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Weekly</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Onboard new agencies; share best practices</a:t>
            </a:r>
          </a:p>
        </p:txBody>
      </p:sp>
      <p:sp>
        <p:nvSpPr>
          <p:cNvPr id="24" name="Rounded Rectangle 23"/>
          <p:cNvSpPr/>
          <p:nvPr/>
        </p:nvSpPr>
        <p:spPr>
          <a:xfrm>
            <a:off x="457200" y="4617720"/>
            <a:ext cx="16002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Monthly</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Check/distribute HQ→branch→agency settlement; share the monthly report</a:t>
            </a:r>
          </a:p>
        </p:txBody>
      </p:sp>
      <p:sp>
        <p:nvSpPr>
          <p:cNvPr id="27" name="TextBox 26"/>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0D9488"/>
                </a:solidFill>
                <a:latin typeface="Malgun Gothic"/>
              </a:rPr>
              <a:t>⭐ Key Principles</a:t>
            </a:r>
          </a:p>
        </p:txBody>
      </p:sp>
      <p:sp>
        <p:nvSpPr>
          <p:cNvPr id="28" name="TextBox 27"/>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0D9488"/>
                </a:solidFill>
                <a:latin typeface="Malgun Gothic"/>
              </a:rPr>
              <a:t>● </a:t>
            </a:r>
            <a:r>
              <a:rPr sz="1100">
                <a:solidFill>
                  <a:srgbClr val="334155"/>
                </a:solidFill>
                <a:latin typeface="Malgun Gothic"/>
              </a:rPr>
              <a:t>Metrics, 5 minutes each morning — catch branch/agency signals early.</a:t>
            </a:r>
          </a:p>
          <a:p>
            <a:pPr>
              <a:lnSpc>
                <a:spcPct val="115000"/>
              </a:lnSpc>
              <a:spcAft>
                <a:spcPts val="500"/>
              </a:spcAft>
            </a:pPr>
            <a:r>
              <a:rPr sz="900" b="1">
                <a:solidFill>
                  <a:srgbClr val="0D9488"/>
                </a:solidFill>
                <a:latin typeface="Malgun Gothic"/>
              </a:rPr>
              <a:t>● </a:t>
            </a:r>
            <a:r>
              <a:rPr sz="1100">
                <a:solidFill>
                  <a:srgbClr val="334155"/>
                </a:solidFill>
                <a:latin typeface="Malgun Gothic"/>
              </a:rPr>
              <a:t>Agencies as partners — close performance gaps with coaching/support.</a:t>
            </a:r>
          </a:p>
          <a:p>
            <a:pPr>
              <a:lnSpc>
                <a:spcPct val="115000"/>
              </a:lnSpc>
              <a:spcAft>
                <a:spcPts val="500"/>
              </a:spcAft>
            </a:pPr>
            <a:r>
              <a:rPr sz="900" b="1">
                <a:solidFill>
                  <a:srgbClr val="0D9488"/>
                </a:solidFill>
                <a:latin typeface="Malgun Gothic"/>
              </a:rPr>
              <a:t>● </a:t>
            </a:r>
            <a:r>
              <a:rPr sz="1100">
                <a:solidFill>
                  <a:srgbClr val="334155"/>
                </a:solidFill>
                <a:latin typeface="Malgun Gothic"/>
              </a:rPr>
              <a:t>Transparent settlement — announcing terms upfront builds trust.</a:t>
            </a:r>
          </a:p>
          <a:p>
            <a:pPr>
              <a:lnSpc>
                <a:spcPct val="115000"/>
              </a:lnSpc>
              <a:spcAft>
                <a:spcPts val="500"/>
              </a:spcAft>
            </a:pPr>
            <a:r>
              <a:rPr sz="900" b="1">
                <a:solidFill>
                  <a:srgbClr val="0D9488"/>
                </a:solidFill>
                <a:latin typeface="Malgun Gothic"/>
              </a:rPr>
              <a:t>● </a:t>
            </a:r>
            <a:r>
              <a:rPr sz="1100">
                <a:solidFill>
                  <a:srgbClr val="334155"/>
                </a:solidFill>
                <a:latin typeface="Malgun Gothic"/>
              </a:rPr>
              <a:t>Intervene on churn early — care for at-risk agencies/students first.</a:t>
            </a:r>
          </a:p>
          <a:p>
            <a:pPr>
              <a:lnSpc>
                <a:spcPct val="115000"/>
              </a:lnSpc>
              <a:spcAft>
                <a:spcPts val="500"/>
              </a:spcAft>
            </a:pPr>
            <a:r>
              <a:rPr sz="900" b="1">
                <a:solidFill>
                  <a:srgbClr val="0D9488"/>
                </a:solidFill>
                <a:latin typeface="Malgun Gothic"/>
              </a:rPr>
              <a:t>● </a:t>
            </a:r>
            <a:r>
              <a:rPr sz="1100">
                <a:solidFill>
                  <a:srgbClr val="334155"/>
                </a:solidFill>
                <a:latin typeface="Malgun Gothic"/>
              </a:rPr>
              <a:t>Spread best practices — share top agencies' methods branch-wide.</a:t>
            </a:r>
          </a:p>
        </p:txBody>
      </p:sp>
      <p:sp>
        <p:nvSpPr>
          <p:cNvPr id="29" name="TextBox 28"/>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0D9488"/>
                </a:solidFill>
                <a:latin typeface="Malgun Gothic"/>
              </a:rPr>
              <a:t>📌 Remember</a:t>
            </a:r>
          </a:p>
        </p:txBody>
      </p:sp>
      <p:sp>
        <p:nvSpPr>
          <p:cNvPr id="30" name="TextBox 29"/>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59E0B"/>
                </a:solidFill>
                <a:latin typeface="Malgun Gothic"/>
              </a:rPr>
              <a:t>● </a:t>
            </a:r>
            <a:r>
              <a:rPr sz="1050">
                <a:solidFill>
                  <a:srgbClr val="334155"/>
                </a:solidFill>
                <a:latin typeface="Malgun Gothic"/>
              </a:rPr>
              <a:t>Log in at admin.mangoi.co.kr; data is auto-limited to your branch scope</a:t>
            </a:r>
          </a:p>
          <a:p>
            <a:pPr>
              <a:lnSpc>
                <a:spcPct val="115000"/>
              </a:lnSpc>
              <a:spcAft>
                <a:spcPts val="400"/>
              </a:spcAft>
            </a:pPr>
            <a:r>
              <a:rPr sz="850" b="1">
                <a:solidFill>
                  <a:srgbClr val="F59E0B"/>
                </a:solidFill>
                <a:latin typeface="Malgun Gothic"/>
              </a:rPr>
              <a:t>● </a:t>
            </a:r>
            <a:r>
              <a:rPr sz="1050">
                <a:solidFill>
                  <a:srgbClr val="334155"/>
                </a:solidFill>
                <a:latin typeface="Malgun Gothic"/>
              </a:rPr>
              <a:t>Settlement is auto-calculated by the HQ→branch→agency tree</a:t>
            </a:r>
          </a:p>
          <a:p>
            <a:pPr>
              <a:lnSpc>
                <a:spcPct val="115000"/>
              </a:lnSpc>
              <a:spcAft>
                <a:spcPts val="400"/>
              </a:spcAft>
            </a:pPr>
            <a:r>
              <a:rPr sz="850" b="1">
                <a:solidFill>
                  <a:srgbClr val="F59E0B"/>
                </a:solidFill>
                <a:latin typeface="Malgun Gothic"/>
              </a:rPr>
              <a:t>● </a:t>
            </a:r>
            <a:r>
              <a:rPr sz="1050">
                <a:solidFill>
                  <a:srgbClr val="334155"/>
                </a:solidFill>
                <a:latin typeface="Malgun Gothic"/>
              </a:rPr>
              <a:t>Most field inquiries like 'can't enter' are browser/permission issues</a:t>
            </a:r>
          </a:p>
          <a:p>
            <a:pPr>
              <a:lnSpc>
                <a:spcPct val="115000"/>
              </a:lnSpc>
              <a:spcAft>
                <a:spcPts val="400"/>
              </a:spcAft>
            </a:pPr>
            <a:r>
              <a:rPr sz="850" b="1">
                <a:solidFill>
                  <a:srgbClr val="F59E0B"/>
                </a:solidFill>
                <a:latin typeface="Malgun Gothic"/>
              </a:rPr>
              <a:t>● </a:t>
            </a:r>
            <a:r>
              <a:rPr sz="1050">
                <a:solidFill>
                  <a:srgbClr val="334155"/>
                </a:solidFill>
                <a:latin typeface="Malgun Gothic"/>
              </a:rPr>
              <a:t>Ops rhythm: 'Check → Support → Settle → Report'!</a:t>
            </a:r>
          </a:p>
        </p:txBody>
      </p:sp>
      <p:sp>
        <p:nvSpPr>
          <p:cNvPr id="31" name="Rounded Rectangle 30"/>
          <p:cNvSpPr/>
          <p:nvPr/>
        </p:nvSpPr>
        <p:spPr>
          <a:xfrm>
            <a:off x="457200" y="6172200"/>
            <a:ext cx="11338560" cy="566928"/>
          </a:xfrm>
          <a:prstGeom prst="roundRect">
            <a:avLst/>
          </a:prstGeom>
          <a:solidFill>
            <a:srgbClr val="ECFDF5"/>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A good branch is one that helps its agencies thrive. Read the situation with metrics, support your partners, and keep settlement transparent — and branch and agencies grow together. Questions? Contact HQ support anytime — cheering on your solid branch operations!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EA5E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