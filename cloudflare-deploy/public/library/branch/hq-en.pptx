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0D9488"/>
              </a:solidFill>
            </c:spPr>
          </c:dPt>
          <c:dPt>
            <c:idx val="1"/>
            <c:spPr>
              <a:solidFill>
                <a:srgbClr val="0EA5E9"/>
              </a:solidFill>
            </c:spPr>
          </c:dPt>
          <c:dPt>
            <c:idx val="2"/>
            <c:spPr>
              <a:solidFill>
                <a:srgbClr val="F59E0B"/>
              </a:solidFill>
            </c:spPr>
          </c:dPt>
          <c:cat>
            <c:strRef>
              <c:f>Sheet1!$A$2:$A$4</c:f>
              <c:strCache>
                <c:ptCount val="3"/>
                <c:pt idx="0">
                  <c:v>Revenue (M KRW)</c:v>
                </c:pt>
                <c:pt idx="1">
                  <c:v>Enrolled</c:v>
                </c:pt>
                <c:pt idx="2">
                  <c:v>Sub-agencies</c:v>
                </c:pt>
              </c:strCache>
            </c:strRef>
          </c:cat>
          <c:val>
            <c:numRef>
              <c:f>Sheet1!$B$2:$B$4</c:f>
              <c:numCache>
                <c:formatCode>General</c:formatCode>
                <c:ptCount val="3"/>
                <c:pt idx="0">
                  <c:v>64</c:v>
                </c:pt>
                <c:pt idx="1">
                  <c:v>980</c:v>
                </c:pt>
                <c:pt idx="2">
                  <c:v>12</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0D9488"/>
              </a:solidFill>
            </c:spPr>
          </c:dPt>
          <c:dPt>
            <c:idx val="1"/>
            <c:spPr>
              <a:solidFill>
                <a:srgbClr val="0EA5E9"/>
              </a:solidFill>
            </c:spPr>
          </c:dPt>
          <c:dPt>
            <c:idx val="2"/>
            <c:spPr>
              <a:solidFill>
                <a:srgbClr val="14B8A6"/>
              </a:solidFill>
            </c:spPr>
          </c:dPt>
          <c:dPt>
            <c:idx val="3"/>
            <c:spPr>
              <a:solidFill>
                <a:srgbClr val="F59E0B"/>
              </a:solidFill>
            </c:spPr>
          </c:dPt>
          <c:dPt>
            <c:idx val="4"/>
            <c:spPr>
              <a:solidFill>
                <a:srgbClr val="64748B"/>
              </a:solidFill>
            </c:spPr>
          </c:dPt>
          <c:cat>
            <c:strRef>
              <c:f>Sheet1!$A$2:$A$6</c:f>
              <c:strCache>
                <c:ptCount val="5"/>
                <c:pt idx="0">
                  <c:v>Gangnam</c:v>
                </c:pt>
                <c:pt idx="1">
                  <c:v>Bundang</c:v>
                </c:pt>
                <c:pt idx="2">
                  <c:v>Ilsan</c:v>
                </c:pt>
                <c:pt idx="3">
                  <c:v>Suwon</c:v>
                </c:pt>
                <c:pt idx="4">
                  <c:v>Incheon</c:v>
                </c:pt>
              </c:strCache>
            </c:strRef>
          </c:cat>
          <c:val>
            <c:numRef>
              <c:f>Sheet1!$B$2:$B$6</c:f>
              <c:numCache>
                <c:formatCode>General</c:formatCode>
                <c:ptCount val="5"/>
                <c:pt idx="0">
                  <c:v>210</c:v>
                </c:pt>
                <c:pt idx="1">
                  <c:v>180</c:v>
                </c:pt>
                <c:pt idx="2">
                  <c:v>150</c:v>
                </c:pt>
                <c:pt idx="3">
                  <c:v>120</c:v>
                </c:pt>
                <c:pt idx="4">
                  <c:v>90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64748B"/>
              </a:solidFill>
            </c:spPr>
          </c:dPt>
          <c:dPt>
            <c:idx val="1"/>
            <c:spPr>
              <a:solidFill>
                <a:srgbClr val="0D9488"/>
              </a:solidFill>
            </c:spPr>
          </c:dPt>
          <c:dPt>
            <c:idx val="2"/>
            <c:spPr>
              <a:solidFill>
                <a:srgbClr val="F59E0B"/>
              </a:solidFill>
            </c:spPr>
          </c:dPt>
          <c:cat>
            <c:strRef>
              <c:f>Sheet1!$A$2:$A$4</c:f>
              <c:strCache>
                <c:ptCount val="3"/>
                <c:pt idx="0">
                  <c:v>HQ fee</c:v>
                </c:pt>
                <c:pt idx="1">
                  <c:v>Branch share</c:v>
                </c:pt>
                <c:pt idx="2">
                  <c:v>Agency distribution</c:v>
                </c:pt>
              </c:strCache>
            </c:strRef>
          </c:cat>
          <c:val>
            <c:numRef>
              <c:f>Sheet1!$B$2:$B$4</c:f>
              <c:numCache>
                <c:formatCode>General</c:formatCode>
                <c:ptCount val="3"/>
                <c:pt idx="0">
                  <c:v>20</c:v>
                </c:pt>
                <c:pt idx="1">
                  <c:v>30</c:v>
                </c:pt>
                <c:pt idx="2">
                  <c:v>50</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766E"/>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0D9488"/>
                </a:solidFill>
                <a:latin typeface="Malgun Gothic"/>
              </a:rPr>
              <a:t>🏢 BRANCH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Mangoi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Branch User Guide</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Sub-agencies, settlement &amp; performance in one book</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For · Regional branch operators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Introduction</a:t>
            </a:r>
          </a:p>
        </p:txBody>
      </p:sp>
      <p:sp>
        <p:nvSpPr>
          <p:cNvPr id="6" name="Rounded Rectangle 5"/>
          <p:cNvSpPr/>
          <p:nvPr/>
        </p:nvSpPr>
        <p:spPr>
          <a:xfrm>
            <a:off x="365760" y="868680"/>
            <a:ext cx="11460175" cy="155448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0D9488"/>
                </a:solidFill>
                <a:latin typeface="Malgun Gothic"/>
              </a:rPr>
              <a:t>What is the Branch Admin Page?</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The branch page is where you manage your branch and its sub-agencies with authority delegated by HQ. When you log in, only 'my branch' data (revenue, enrollment, attendance, settlement) is shown automatically. You see your sub-agencies' performance at a glance and process the settlement that flows HQ ↔ branch ↔ agency. The layout is the same as the admin page — only the scope differs.</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My-branch scope, automatic</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Just log in and see only your branch's data.</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Manage sub-agencies</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Agency list, performance and recruiting in one place.</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HQ→branch→agency settlement</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Receipt/distribution auto-calculated by the tree.</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0D9488"/>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Performance reports</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Branch/agency performance in a monthly report.</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0D9488"/>
                </a:solidFill>
                <a:latin typeface="Malgun Gothic"/>
              </a:rPr>
              <a:t>Your Branch Metrics (example)</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dmin_login.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Contents</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Introduction</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a:t>
            </a:r>
          </a:p>
        </p:txBody>
      </p:sp>
      <p:sp>
        <p:nvSpPr>
          <p:cNvPr id="9" name="Rounded Rectangle 8"/>
          <p:cNvSpPr/>
          <p:nvPr/>
        </p:nvSpPr>
        <p:spPr>
          <a:xfrm>
            <a:off x="411480" y="17556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Branch Login &amp; Permissions</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4</a:t>
            </a:r>
          </a:p>
        </p:txBody>
      </p:sp>
      <p:sp>
        <p:nvSpPr>
          <p:cNvPr id="13" name="Rounded Rectangle 12"/>
          <p:cNvSpPr/>
          <p:nvPr/>
        </p:nvSpPr>
        <p:spPr>
          <a:xfrm>
            <a:off x="411480" y="20299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My Page &amp; Admin Dashboard</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5</a:t>
            </a:r>
          </a:p>
        </p:txBody>
      </p:sp>
      <p:sp>
        <p:nvSpPr>
          <p:cNvPr id="17" name="Rounded Rectangle 16"/>
          <p:cNvSpPr/>
          <p:nvPr/>
        </p:nvSpPr>
        <p:spPr>
          <a:xfrm>
            <a:off x="411480" y="23042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Branch Dashboard</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6</a:t>
            </a:r>
          </a:p>
        </p:txBody>
      </p:sp>
      <p:sp>
        <p:nvSpPr>
          <p:cNvPr id="21" name="Rounded Rectangle 20"/>
          <p:cNvSpPr/>
          <p:nvPr/>
        </p:nvSpPr>
        <p:spPr>
          <a:xfrm>
            <a:off x="411480" y="25786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Using the AI Assistant</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7</a:t>
            </a:r>
          </a:p>
        </p:txBody>
      </p:sp>
      <p:sp>
        <p:nvSpPr>
          <p:cNvPr id="25" name="Rounded Rectangle 24"/>
          <p:cNvSpPr/>
          <p:nvPr/>
        </p:nvSpPr>
        <p:spPr>
          <a:xfrm>
            <a:off x="411480" y="28529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Manage Sub-agencies</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8</a:t>
            </a:r>
          </a:p>
        </p:txBody>
      </p:sp>
      <p:sp>
        <p:nvSpPr>
          <p:cNvPr id="29" name="Rounded Rectangle 28"/>
          <p:cNvSpPr/>
          <p:nvPr/>
        </p:nvSpPr>
        <p:spPr>
          <a:xfrm>
            <a:off x="411480" y="31272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Branch Settlement (receive &amp; distribute)</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9</a:t>
            </a:r>
          </a:p>
        </p:txBody>
      </p:sp>
      <p:sp>
        <p:nvSpPr>
          <p:cNvPr id="33" name="Rounded Rectangle 32"/>
          <p:cNvSpPr/>
          <p:nvPr/>
        </p:nvSpPr>
        <p:spPr>
          <a:xfrm>
            <a:off x="411480" y="34015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Student · Parent Status</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10</a:t>
            </a:r>
          </a:p>
        </p:txBody>
      </p:sp>
      <p:sp>
        <p:nvSpPr>
          <p:cNvPr id="37" name="Rounded Rectangle 36"/>
          <p:cNvSpPr/>
          <p:nvPr/>
        </p:nvSpPr>
        <p:spPr>
          <a:xfrm>
            <a:off x="411480" y="3675887"/>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Payments·Overdue·Refunds (branch)</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11</a:t>
            </a:r>
          </a:p>
        </p:txBody>
      </p:sp>
      <p:sp>
        <p:nvSpPr>
          <p:cNvPr id="41" name="Rounded Rectangle 40"/>
          <p:cNvSpPr/>
          <p:nvPr/>
        </p:nvSpPr>
        <p:spPr>
          <a:xfrm>
            <a:off x="411480" y="39502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Branch Retention</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12</a:t>
            </a:r>
          </a:p>
        </p:txBody>
      </p:sp>
      <p:sp>
        <p:nvSpPr>
          <p:cNvPr id="45" name="Rounded Rectangle 44"/>
          <p:cNvSpPr/>
          <p:nvPr/>
        </p:nvSpPr>
        <p:spPr>
          <a:xfrm>
            <a:off x="411480" y="42245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Monthly Report·Performance</a:t>
            </a:r>
          </a:p>
        </p:txBody>
      </p:sp>
      <p:sp>
        <p:nvSpPr>
          <p:cNvPr id="48" name="TextBox 47"/>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13</a:t>
            </a:r>
          </a:p>
        </p:txBody>
      </p:sp>
      <p:sp>
        <p:nvSpPr>
          <p:cNvPr id="49" name="Rounded Rectangle 48"/>
          <p:cNvSpPr/>
          <p:nvPr/>
        </p:nvSpPr>
        <p:spPr>
          <a:xfrm>
            <a:off x="411480" y="44988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80"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886968"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Agency Support·Training</a:t>
            </a:r>
          </a:p>
        </p:txBody>
      </p:sp>
      <p:sp>
        <p:nvSpPr>
          <p:cNvPr id="52" name="TextBox 51"/>
          <p:cNvSpPr txBox="1"/>
          <p:nvPr/>
        </p:nvSpPr>
        <p:spPr>
          <a:xfrm>
            <a:off x="5483199" y="44714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14</a:t>
            </a:r>
          </a:p>
        </p:txBody>
      </p:sp>
      <p:sp>
        <p:nvSpPr>
          <p:cNvPr id="53" name="Rounded Rectangle 52"/>
          <p:cNvSpPr/>
          <p:nvPr/>
        </p:nvSpPr>
        <p:spPr>
          <a:xfrm>
            <a:off x="411480" y="47731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886968"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Support·Inquiries</a:t>
            </a:r>
          </a:p>
        </p:txBody>
      </p:sp>
      <p:sp>
        <p:nvSpPr>
          <p:cNvPr id="56" name="TextBox 55"/>
          <p:cNvSpPr txBox="1"/>
          <p:nvPr/>
        </p:nvSpPr>
        <p:spPr>
          <a:xfrm>
            <a:off x="5483199" y="47457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15</a:t>
            </a:r>
          </a:p>
        </p:txBody>
      </p:sp>
      <p:sp>
        <p:nvSpPr>
          <p:cNvPr id="57" name="Rounded Rectangle 56"/>
          <p:cNvSpPr/>
          <p:nvPr/>
        </p:nvSpPr>
        <p:spPr>
          <a:xfrm>
            <a:off x="411480" y="50474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886968"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Korea·Philippines Dual Clock</a:t>
            </a:r>
          </a:p>
        </p:txBody>
      </p:sp>
      <p:sp>
        <p:nvSpPr>
          <p:cNvPr id="60" name="TextBox 59"/>
          <p:cNvSpPr txBox="1"/>
          <p:nvPr/>
        </p:nvSpPr>
        <p:spPr>
          <a:xfrm>
            <a:off x="5483199" y="5020055"/>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16</a:t>
            </a:r>
          </a:p>
        </p:txBody>
      </p:sp>
      <p:sp>
        <p:nvSpPr>
          <p:cNvPr id="61" name="Rounded Rectangle 60"/>
          <p:cNvSpPr/>
          <p:nvPr/>
        </p:nvSpPr>
        <p:spPr>
          <a:xfrm>
            <a:off x="411480" y="53218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 y="53035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886968" y="52943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Chinese Pronunciation Coach</a:t>
            </a:r>
          </a:p>
        </p:txBody>
      </p:sp>
      <p:sp>
        <p:nvSpPr>
          <p:cNvPr id="64" name="TextBox 63"/>
          <p:cNvSpPr txBox="1"/>
          <p:nvPr/>
        </p:nvSpPr>
        <p:spPr>
          <a:xfrm>
            <a:off x="5483199" y="52943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17</a:t>
            </a:r>
          </a:p>
        </p:txBody>
      </p:sp>
      <p:sp>
        <p:nvSpPr>
          <p:cNvPr id="65" name="Rounded Rectangle 64"/>
          <p:cNvSpPr/>
          <p:nvPr/>
        </p:nvSpPr>
        <p:spPr>
          <a:xfrm>
            <a:off x="6141567" y="14813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In-class Praise Points (understand &amp; use)</a:t>
            </a:r>
          </a:p>
        </p:txBody>
      </p:sp>
      <p:sp>
        <p:nvSpPr>
          <p:cNvPr id="68" name="TextBox 67"/>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18</a:t>
            </a:r>
          </a:p>
        </p:txBody>
      </p:sp>
      <p:sp>
        <p:nvSpPr>
          <p:cNvPr id="69" name="Rounded Rectangle 68"/>
          <p:cNvSpPr/>
          <p:nvPr/>
        </p:nvSpPr>
        <p:spPr>
          <a:xfrm>
            <a:off x="6141567" y="17556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Notice Studio (Poster + Popup)</a:t>
            </a:r>
          </a:p>
        </p:txBody>
      </p:sp>
      <p:sp>
        <p:nvSpPr>
          <p:cNvPr id="72" name="TextBox 71"/>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19</a:t>
            </a:r>
          </a:p>
        </p:txBody>
      </p:sp>
      <p:sp>
        <p:nvSpPr>
          <p:cNvPr id="73" name="Rounded Rectangle 72"/>
          <p:cNvSpPr/>
          <p:nvPr/>
        </p:nvSpPr>
        <p:spPr>
          <a:xfrm>
            <a:off x="6141567" y="20299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Command the AI Operations Assistant</a:t>
            </a:r>
          </a:p>
        </p:txBody>
      </p:sp>
      <p:sp>
        <p:nvSpPr>
          <p:cNvPr id="76" name="TextBox 75"/>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20</a:t>
            </a:r>
          </a:p>
        </p:txBody>
      </p:sp>
      <p:sp>
        <p:nvSpPr>
          <p:cNvPr id="77" name="Rounded Rectangle 76"/>
          <p:cNvSpPr/>
          <p:nvPr/>
        </p:nvSpPr>
        <p:spPr>
          <a:xfrm>
            <a:off x="6141567" y="23042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Share Library Links via KakaoTalk</a:t>
            </a:r>
          </a:p>
        </p:txBody>
      </p:sp>
      <p:sp>
        <p:nvSpPr>
          <p:cNvPr id="80" name="TextBox 79"/>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21</a:t>
            </a:r>
          </a:p>
        </p:txBody>
      </p:sp>
      <p:sp>
        <p:nvSpPr>
          <p:cNvPr id="81" name="Rounded Rectangle 80"/>
          <p:cNvSpPr/>
          <p:nvPr/>
        </p:nvSpPr>
        <p:spPr>
          <a:xfrm>
            <a:off x="6141567" y="25786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83" name="TextBox 82"/>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 refreshed admin screen</a:t>
            </a:r>
          </a:p>
        </p:txBody>
      </p:sp>
      <p:sp>
        <p:nvSpPr>
          <p:cNvPr id="84" name="TextBox 83"/>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22</a:t>
            </a:r>
          </a:p>
        </p:txBody>
      </p:sp>
      <p:sp>
        <p:nvSpPr>
          <p:cNvPr id="85" name="Rounded Rectangle 84"/>
          <p:cNvSpPr/>
          <p:nvPr/>
        </p:nvSpPr>
        <p:spPr>
          <a:xfrm>
            <a:off x="6141567" y="28529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87" name="TextBox 86"/>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The interface language sets itself</a:t>
            </a:r>
          </a:p>
        </p:txBody>
      </p:sp>
      <p:sp>
        <p:nvSpPr>
          <p:cNvPr id="88" name="TextBox 87"/>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23</a:t>
            </a:r>
          </a:p>
        </p:txBody>
      </p:sp>
      <p:sp>
        <p:nvSpPr>
          <p:cNvPr id="89" name="Rounded Rectangle 88"/>
          <p:cNvSpPr/>
          <p:nvPr/>
        </p:nvSpPr>
        <p:spPr>
          <a:xfrm>
            <a:off x="6141567" y="31272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91" name="TextBox 90"/>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Enrolment &amp; payment → automatic lesson creation</a:t>
            </a:r>
          </a:p>
        </p:txBody>
      </p:sp>
      <p:sp>
        <p:nvSpPr>
          <p:cNvPr id="92" name="TextBox 91"/>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24</a:t>
            </a:r>
          </a:p>
        </p:txBody>
      </p:sp>
      <p:sp>
        <p:nvSpPr>
          <p:cNvPr id="93" name="Rounded Rectangle 92"/>
          <p:cNvSpPr/>
          <p:nvPr/>
        </p:nvSpPr>
        <p:spPr>
          <a:xfrm>
            <a:off x="6141567" y="34015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95" name="TextBox 94"/>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Teacher Management, redesigned (roster filters · groups · detail tabs)</a:t>
            </a:r>
          </a:p>
        </p:txBody>
      </p:sp>
      <p:sp>
        <p:nvSpPr>
          <p:cNvPr id="96" name="TextBox 95"/>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25</a:t>
            </a:r>
          </a:p>
        </p:txBody>
      </p:sp>
      <p:sp>
        <p:nvSpPr>
          <p:cNvPr id="97" name="Rounded Rectangle 96"/>
          <p:cNvSpPr/>
          <p:nvPr/>
        </p:nvSpPr>
        <p:spPr>
          <a:xfrm>
            <a:off x="6141567" y="3675887"/>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99" name="TextBox 98"/>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Sending the Parent Monthly Report (pentagon)</a:t>
            </a:r>
          </a:p>
        </p:txBody>
      </p:sp>
      <p:sp>
        <p:nvSpPr>
          <p:cNvPr id="100" name="TextBox 99"/>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26</a:t>
            </a:r>
          </a:p>
        </p:txBody>
      </p:sp>
      <p:sp>
        <p:nvSpPr>
          <p:cNvPr id="101" name="Rounded Rectangle 100"/>
          <p:cNvSpPr/>
          <p:nvPr/>
        </p:nvSpPr>
        <p:spPr>
          <a:xfrm>
            <a:off x="6141567" y="395020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103" name="TextBox 102"/>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Feature Summary · Data</a:t>
            </a:r>
          </a:p>
        </p:txBody>
      </p:sp>
      <p:sp>
        <p:nvSpPr>
          <p:cNvPr id="104" name="TextBox 103"/>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27</a:t>
            </a:r>
          </a:p>
        </p:txBody>
      </p:sp>
      <p:sp>
        <p:nvSpPr>
          <p:cNvPr id="105" name="Rounded Rectangle 104"/>
          <p:cNvSpPr/>
          <p:nvPr/>
        </p:nvSpPr>
        <p:spPr>
          <a:xfrm>
            <a:off x="6141567" y="422452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107" name="TextBox 106"/>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Data at a Glance</a:t>
            </a:r>
          </a:p>
        </p:txBody>
      </p:sp>
      <p:sp>
        <p:nvSpPr>
          <p:cNvPr id="108" name="TextBox 107"/>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28</a:t>
            </a:r>
          </a:p>
        </p:txBody>
      </p:sp>
      <p:sp>
        <p:nvSpPr>
          <p:cNvPr id="109" name="Rounded Rectangle 108"/>
          <p:cNvSpPr/>
          <p:nvPr/>
        </p:nvSpPr>
        <p:spPr>
          <a:xfrm>
            <a:off x="6141567" y="449884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141567" y="44805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111" name="TextBox 110"/>
          <p:cNvSpPr txBox="1"/>
          <p:nvPr/>
        </p:nvSpPr>
        <p:spPr>
          <a:xfrm>
            <a:off x="6617055" y="44714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Frequently Asked Questions (FAQ)</a:t>
            </a:r>
          </a:p>
        </p:txBody>
      </p:sp>
      <p:sp>
        <p:nvSpPr>
          <p:cNvPr id="112" name="TextBox 111"/>
          <p:cNvSpPr txBox="1"/>
          <p:nvPr/>
        </p:nvSpPr>
        <p:spPr>
          <a:xfrm>
            <a:off x="11213287" y="447141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29</a:t>
            </a:r>
          </a:p>
        </p:txBody>
      </p:sp>
      <p:sp>
        <p:nvSpPr>
          <p:cNvPr id="113" name="Rounded Rectangle 112"/>
          <p:cNvSpPr/>
          <p:nvPr/>
        </p:nvSpPr>
        <p:spPr>
          <a:xfrm>
            <a:off x="6141567" y="477316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41567" y="47548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115" name="TextBox 114"/>
          <p:cNvSpPr txBox="1"/>
          <p:nvPr/>
        </p:nvSpPr>
        <p:spPr>
          <a:xfrm>
            <a:off x="6617055" y="47457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Checklist</a:t>
            </a:r>
          </a:p>
        </p:txBody>
      </p:sp>
      <p:sp>
        <p:nvSpPr>
          <p:cNvPr id="116" name="TextBox 115"/>
          <p:cNvSpPr txBox="1"/>
          <p:nvPr/>
        </p:nvSpPr>
        <p:spPr>
          <a:xfrm>
            <a:off x="11213287" y="4745736"/>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30</a:t>
            </a:r>
          </a:p>
        </p:txBody>
      </p:sp>
      <p:sp>
        <p:nvSpPr>
          <p:cNvPr id="117" name="Rounded Rectangle 116"/>
          <p:cNvSpPr/>
          <p:nvPr/>
        </p:nvSpPr>
        <p:spPr>
          <a:xfrm>
            <a:off x="6141567" y="5047488"/>
            <a:ext cx="384048" cy="228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141567" y="50292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119" name="TextBox 118"/>
          <p:cNvSpPr txBox="1"/>
          <p:nvPr/>
        </p:nvSpPr>
        <p:spPr>
          <a:xfrm>
            <a:off x="6617055" y="5020055"/>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Conclusion</a:t>
            </a:r>
          </a:p>
        </p:txBody>
      </p:sp>
      <p:sp>
        <p:nvSpPr>
          <p:cNvPr id="120" name="TextBox 119"/>
          <p:cNvSpPr txBox="1"/>
          <p:nvPr/>
        </p:nvSpPr>
        <p:spPr>
          <a:xfrm>
            <a:off x="11213287" y="5020055"/>
            <a:ext cx="457200" cy="274320"/>
          </a:xfrm>
          <a:prstGeom prst="rect">
            <a:avLst/>
          </a:prstGeom>
          <a:noFill/>
        </p:spPr>
        <p:txBody>
          <a:bodyPr wrap="square" anchor="ctr">
            <a:spAutoFit/>
          </a:bodyPr>
          <a:lstStyle/>
          <a:p>
            <a:pPr algn="r">
              <a:lnSpc>
                <a:spcPct val="100000"/>
              </a:lnSpc>
            </a:pPr>
            <a:r>
              <a:rPr sz="1050" b="1">
                <a:solidFill>
                  <a:srgbClr val="0D9488"/>
                </a:solidFill>
                <a:latin typeface="Malgun Gothic"/>
              </a:rPr>
              <a:t>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Branch Login &amp; Permissions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Only my branch's data shows</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Logging in with a branch account shows only 'my branch' menus and data. HQ-wide or other branches' data isn't visible, so you can focus on your branch with peace of mind.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Log in with ID and password (Kakao, Naver, Google also work).</a:t>
            </a:r>
          </a:p>
          <a:p>
            <a:pPr>
              <a:lnSpc>
                <a:spcPct val="115000"/>
              </a:lnSpc>
              <a:spcAft>
                <a:spcPts val="600"/>
              </a:spcAft>
            </a:pPr>
            <a:r>
              <a:rPr sz="1050" b="1">
                <a:solidFill>
                  <a:srgbClr val="0D9488"/>
                </a:solidFill>
                <a:latin typeface="Malgun Gothic"/>
              </a:rPr>
              <a:t>● </a:t>
            </a:r>
            <a:r>
              <a:rPr sz="1250">
                <a:solidFill>
                  <a:srgbClr val="334155"/>
                </a:solidFill>
                <a:latin typeface="Malgun Gothic"/>
              </a:rPr>
              <a:t>On login, menus/data for your role (branch) are applied automatically.</a:t>
            </a:r>
          </a:p>
          <a:p>
            <a:pPr>
              <a:lnSpc>
                <a:spcPct val="115000"/>
              </a:lnSpc>
              <a:spcAft>
                <a:spcPts val="600"/>
              </a:spcAft>
            </a:pPr>
            <a:r>
              <a:rPr sz="1050" b="1">
                <a:solidFill>
                  <a:srgbClr val="0D9488"/>
                </a:solidFill>
                <a:latin typeface="Malgun Gothic"/>
              </a:rPr>
              <a:t>● </a:t>
            </a:r>
            <a:r>
              <a:rPr sz="1250">
                <a:solidFill>
                  <a:srgbClr val="334155"/>
                </a:solidFill>
                <a:latin typeface="Malgun Gothic"/>
              </a:rPr>
              <a:t>Forgot your password? Reset via 'Find password'.</a:t>
            </a:r>
          </a:p>
          <a:p>
            <a:pPr>
              <a:lnSpc>
                <a:spcPct val="115000"/>
              </a:lnSpc>
              <a:spcAft>
                <a:spcPts val="600"/>
              </a:spcAft>
            </a:pPr>
            <a:r>
              <a:rPr sz="1050" b="1">
                <a:solidFill>
                  <a:srgbClr val="0D9488"/>
                </a:solidFill>
                <a:latin typeface="Malgun Gothic"/>
              </a:rPr>
              <a:t>● </a:t>
            </a:r>
            <a:r>
              <a:rPr sz="1250">
                <a:solidFill>
                  <a:srgbClr val="334155"/>
                </a:solidFill>
                <a:latin typeface="Malgun Gothic"/>
              </a:rPr>
              <a:t>You can split permission scope among staff.</a:t>
            </a:r>
          </a:p>
        </p:txBody>
      </p:sp>
      <p:sp>
        <p:nvSpPr>
          <p:cNvPr id="14" name="Rounded Rectangle 13"/>
          <p:cNvSpPr/>
          <p:nvPr/>
        </p:nvSpPr>
        <p:spPr>
          <a:xfrm>
            <a:off x="457200" y="4782312"/>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Only your branch and sub-agency data shows.</a:t>
            </a:r>
          </a:p>
          <a:p>
            <a:pPr>
              <a:lnSpc>
                <a:spcPct val="115000"/>
              </a:lnSpc>
              <a:spcAft>
                <a:spcPts val="200"/>
              </a:spcAft>
            </a:pPr>
            <a:r>
              <a:rPr sz="900" b="1">
                <a:solidFill>
                  <a:srgbClr val="0D9488"/>
                </a:solidFill>
                <a:latin typeface="Malgun Gothic"/>
              </a:rPr>
              <a:t>● </a:t>
            </a:r>
            <a:r>
              <a:rPr sz="1100">
                <a:solidFill>
                  <a:srgbClr val="334155"/>
                </a:solidFill>
                <a:latin typeface="Malgun Gothic"/>
              </a:rPr>
              <a:t>Turn on 'Save ID' only on your own trusted PC.</a:t>
            </a:r>
          </a:p>
        </p:txBody>
      </p:sp>
      <p:sp>
        <p:nvSpPr>
          <p:cNvPr id="17" name="Rounded Rectangle 16"/>
          <p:cNvSpPr/>
          <p:nvPr/>
        </p:nvSpPr>
        <p:spPr>
          <a:xfrm>
            <a:off x="457200" y="5897879"/>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On shared PCs, turn off auto-login and always log out when done.</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logi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My Page &amp; Admin Dashboard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Open the management screen from My Page</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Branch operations start from 'My Page.' After logging in, press the 📊 'Admin' button in the My Page menu to enter the branch-scope admin (operations) dashboard, where you manage revenue, enrollment, agencies and settlement.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After logging in, open '👤 My Page'.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Press the 📊 'Admin' button in the My Page menu. (goes to the admin dashboard)</a:t>
            </a:r>
          </a:p>
          <a:p>
            <a:pPr>
              <a:lnSpc>
                <a:spcPct val="115000"/>
              </a:lnSpc>
              <a:spcAft>
                <a:spcPts val="600"/>
              </a:spcAft>
            </a:pPr>
            <a:r>
              <a:rPr sz="1050" b="1">
                <a:solidFill>
                  <a:srgbClr val="0D9488"/>
                </a:solidFill>
                <a:latin typeface="Malgun Gothic"/>
              </a:rPr>
              <a:t>● </a:t>
            </a:r>
            <a:r>
              <a:rPr sz="1250">
                <a:solidFill>
                  <a:srgbClr val="334155"/>
                </a:solidFill>
                <a:latin typeface="Malgun Gothic"/>
              </a:rPr>
              <a:t>On the admin dashboard, check your branch revenue, enrollment, attendance and sub-agencies.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My Page also has postpone/change, new inquiry, all-menu, pre-check and more.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If text looks English, use the EN button to switch language.</a:t>
            </a:r>
          </a:p>
        </p:txBody>
      </p:sp>
      <p:sp>
        <p:nvSpPr>
          <p:cNvPr id="14" name="Rounded Rectangle 13"/>
          <p:cNvSpPr/>
          <p:nvPr/>
        </p:nvSpPr>
        <p:spPr>
          <a:xfrm>
            <a:off x="457200" y="5166360"/>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One 'Admin' button takes you straight to the operations dashboard.</a:t>
            </a:r>
          </a:p>
          <a:p>
            <a:pPr>
              <a:lnSpc>
                <a:spcPct val="115000"/>
              </a:lnSpc>
              <a:spcAft>
                <a:spcPts val="200"/>
              </a:spcAft>
            </a:pPr>
            <a:r>
              <a:rPr sz="900" b="1">
                <a:solidFill>
                  <a:srgbClr val="0D9488"/>
                </a:solidFill>
                <a:latin typeface="Malgun Gothic"/>
              </a:rPr>
              <a:t>● </a:t>
            </a:r>
            <a:r>
              <a:rPr sz="1100">
                <a:solidFill>
                  <a:srgbClr val="334155"/>
                </a:solidFill>
                <a:latin typeface="Malgun Gothic"/>
              </a:rPr>
              <a:t>All dashboard data is auto-totaled to 'your branch scope'.</a:t>
            </a:r>
          </a:p>
          <a:p>
            <a:pPr>
              <a:lnSpc>
                <a:spcPct val="115000"/>
              </a:lnSpc>
              <a:spcAft>
                <a:spcPts val="200"/>
              </a:spcAft>
            </a:pPr>
            <a:r>
              <a:rPr sz="900" b="1">
                <a:solidFill>
                  <a:srgbClr val="0D9488"/>
                </a:solidFill>
                <a:latin typeface="Malgun Gothic"/>
              </a:rPr>
              <a:t>● </a:t>
            </a:r>
            <a:r>
              <a:rPr sz="1100">
                <a:solidFill>
                  <a:srgbClr val="334155"/>
                </a:solidFill>
                <a:latin typeface="Malgun Gothic"/>
              </a:rPr>
              <a:t>Menus and data are set automatically by your role (branch).</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My Page and the admin dashboard open only within the logged-in branch account's permission scope.</a:t>
            </a:r>
          </a:p>
        </p:txBody>
      </p:sp>
      <p:sp>
        <p:nvSpPr>
          <p:cNvPr id="19" name="Rounded Rectangle 18"/>
          <p:cNvSpPr/>
          <p:nvPr/>
        </p:nvSpPr>
        <p:spPr>
          <a:xfrm>
            <a:off x="457200" y="7324344"/>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Each day, spend 5 minutes: My Page → Admin dashboard → check branch metrics.</a:t>
            </a:r>
          </a:p>
        </p:txBody>
      </p:sp>
      <p:sp>
        <p:nvSpPr>
          <p:cNvPr id="21" name="Rectangle 20"/>
          <p:cNvSpPr/>
          <p:nvPr/>
        </p:nvSpPr>
        <p:spPr>
          <a:xfrm>
            <a:off x="6300216" y="2700458"/>
            <a:ext cx="2761488" cy="45124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ypage_menu.jpg"/>
          <p:cNvPicPr>
            <a:picLocks noChangeAspect="1"/>
          </p:cNvPicPr>
          <p:nvPr/>
        </p:nvPicPr>
        <p:blipFill>
          <a:blip r:embed="rId2"/>
          <a:stretch>
            <a:fillRect/>
          </a:stretch>
        </p:blipFill>
        <p:spPr>
          <a:xfrm>
            <a:off x="6355080" y="2755322"/>
            <a:ext cx="2651760" cy="341514"/>
          </a:xfrm>
          <a:prstGeom prst="rect">
            <a:avLst/>
          </a:prstGeom>
        </p:spPr>
      </p:pic>
      <p:sp>
        <p:nvSpPr>
          <p:cNvPr id="23" name="Rectangle 22"/>
          <p:cNvSpPr/>
          <p:nvPr/>
        </p:nvSpPr>
        <p:spPr>
          <a:xfrm>
            <a:off x="9134856" y="2042541"/>
            <a:ext cx="2761488" cy="1767077"/>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min_dashboard.jpg"/>
          <p:cNvPicPr>
            <a:picLocks noChangeAspect="1"/>
          </p:cNvPicPr>
          <p:nvPr/>
        </p:nvPicPr>
        <p:blipFill>
          <a:blip r:embed="rId3"/>
          <a:stretch>
            <a:fillRect/>
          </a:stretch>
        </p:blipFill>
        <p:spPr>
          <a:xfrm>
            <a:off x="9189720" y="2097405"/>
            <a:ext cx="2651760" cy="165734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Branch Dashboard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Your branch status at a glance</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On login, your branch's revenue, enrollment and attendance plus sub-agency status are organized as cards. Type a word in the top search box to jump right to a feature.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Check today's revenue, enrollment and attendance (your branch total) at the top.</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Tap features from the category cards (agencies, teachers, accounting, students, content).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Type a word in the feature search box to jump right there.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The AI insight summarizes your branch status.</a:t>
            </a:r>
          </a:p>
        </p:txBody>
      </p:sp>
      <p:sp>
        <p:nvSpPr>
          <p:cNvPr id="14" name="Rounded Rectangle 13"/>
          <p:cNvSpPr/>
          <p:nvPr/>
        </p:nvSpPr>
        <p:spPr>
          <a:xfrm>
            <a:off x="457200" y="4782312"/>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All numbers are auto-totaled to 'your branch scope'.</a:t>
            </a:r>
          </a:p>
          <a:p>
            <a:pPr>
              <a:lnSpc>
                <a:spcPct val="115000"/>
              </a:lnSpc>
              <a:spcAft>
                <a:spcPts val="200"/>
              </a:spcAft>
            </a:pPr>
            <a:r>
              <a:rPr sz="900" b="1">
                <a:solidFill>
                  <a:srgbClr val="0D9488"/>
                </a:solidFill>
                <a:latin typeface="Malgun Gothic"/>
              </a:rPr>
              <a:t>● </a:t>
            </a:r>
            <a:r>
              <a:rPr sz="1100">
                <a:solidFill>
                  <a:srgbClr val="334155"/>
                </a:solidFill>
                <a:latin typeface="Malgun Gothic"/>
              </a:rPr>
              <a:t>If a feature is hard to find, search is fastest.</a:t>
            </a:r>
          </a:p>
        </p:txBody>
      </p:sp>
      <p:sp>
        <p:nvSpPr>
          <p:cNvPr id="17" name="Rounded Rectangle 16"/>
          <p:cNvSpPr/>
          <p:nvPr/>
        </p:nvSpPr>
        <p:spPr>
          <a:xfrm>
            <a:off x="457200" y="5897879"/>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 5-minute morning check of branch metrics catches warning signs early.</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Using the AI Assistant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Look up/act by voice or text</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Speak or type into the search/mic and the AI looks up numbers or opens screens within your branch scope. Important actions are confirmed first, and it only does what you're permitted.</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Speak or type into the center search/mic. e.g. 'How's the branch revenue this month?'</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The AI looks up numbers or opens a screen. e.g. 'Open the agency list.'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Important actions are confirmed with 'Shall I?' first.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The assistant only executes what you're permitted.</a:t>
            </a:r>
          </a:p>
        </p:txBody>
      </p:sp>
      <p:sp>
        <p:nvSpPr>
          <p:cNvPr id="14" name="Rounded Rectangle 13"/>
          <p:cNvSpPr/>
          <p:nvPr/>
        </p:nvSpPr>
        <p:spPr>
          <a:xfrm>
            <a:off x="457200" y="4782312"/>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When busy, voice is much faster.</a:t>
            </a:r>
          </a:p>
          <a:p>
            <a:pPr>
              <a:lnSpc>
                <a:spcPct val="115000"/>
              </a:lnSpc>
              <a:spcAft>
                <a:spcPts val="200"/>
              </a:spcAft>
            </a:pPr>
            <a:r>
              <a:rPr sz="900" b="1">
                <a:solidFill>
                  <a:srgbClr val="0D9488"/>
                </a:solidFill>
                <a:latin typeface="Malgun Gothic"/>
              </a:rPr>
              <a:t>● </a:t>
            </a:r>
            <a:r>
              <a:rPr sz="1100">
                <a:solidFill>
                  <a:srgbClr val="334155"/>
                </a:solidFill>
                <a:latin typeface="Malgun Gothic"/>
              </a:rPr>
              <a:t>Results are limited to your branch scope.</a:t>
            </a:r>
          </a:p>
        </p:txBody>
      </p:sp>
      <p:sp>
        <p:nvSpPr>
          <p:cNvPr id="17" name="Rounded Rectangle 16"/>
          <p:cNvSpPr/>
          <p:nvPr/>
        </p:nvSpPr>
        <p:spPr>
          <a:xfrm>
            <a:off x="457200" y="5897879"/>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Just say 'show me/open ○○' to jump to the screen you want.</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Manage Sub-agencies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List, performance, recruiting</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Manage the agencies under your branch as a list and compare each agency's enrollment, revenue and performance. Recruiting and onboarding new agencies is handled here too.</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Check each agency's enrollment, revenue and activity in the agency list.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Compare strong/weak agencies to set support priorities.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Manage new-agency recruiting/onboarding progress.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Set goals/incentives per agency if needed.</a:t>
            </a:r>
          </a:p>
        </p:txBody>
      </p:sp>
      <p:sp>
        <p:nvSpPr>
          <p:cNvPr id="14" name="Rounded Rectangle 13"/>
          <p:cNvSpPr/>
          <p:nvPr/>
        </p:nvSpPr>
        <p:spPr>
          <a:xfrm>
            <a:off x="457200" y="4782312"/>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Link agencies with big performance gaps to coaching/support.</a:t>
            </a:r>
          </a:p>
          <a:p>
            <a:pPr>
              <a:lnSpc>
                <a:spcPct val="115000"/>
              </a:lnSpc>
              <a:spcAft>
                <a:spcPts val="200"/>
              </a:spcAft>
            </a:pPr>
            <a:r>
              <a:rPr sz="900" b="1">
                <a:solidFill>
                  <a:srgbClr val="0D9488"/>
                </a:solidFill>
                <a:latin typeface="Malgun Gothic"/>
              </a:rPr>
              <a:t>● </a:t>
            </a:r>
            <a:r>
              <a:rPr sz="1100">
                <a:solidFill>
                  <a:srgbClr val="334155"/>
                </a:solidFill>
                <a:latin typeface="Malgun Gothic"/>
              </a:rPr>
              <a:t>Share top agencies' methods with the others.</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Agency data is also managed by each agency's own login; the branch sees the whole picture.</a:t>
            </a:r>
          </a:p>
        </p:txBody>
      </p:sp>
      <p:sp>
        <p:nvSpPr>
          <p:cNvPr id="19" name="Rounded Rectangle 18"/>
          <p:cNvSpPr/>
          <p:nvPr/>
        </p:nvSpPr>
        <p:spPr>
          <a:xfrm>
            <a:off x="457200" y="6629399"/>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Sharing a monthly performance report at month-start boosts partner motivation.</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menu_student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Branch Settlement (receive &amp; distribute)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HQ→branch→agency</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Receive the settlement coming from HQ to your branch and check the amount distributed from the branch to sub-agencies. Revenue and commissions are auto-calculated down the org tree.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Check HQ→branch settlement (received) by month.</a:t>
            </a:r>
          </a:p>
          <a:p>
            <a:pPr>
              <a:lnSpc>
                <a:spcPct val="115000"/>
              </a:lnSpc>
              <a:spcAft>
                <a:spcPts val="600"/>
              </a:spcAft>
            </a:pPr>
            <a:r>
              <a:rPr sz="1050" b="1">
                <a:solidFill>
                  <a:srgbClr val="0D9488"/>
                </a:solidFill>
                <a:latin typeface="Malgun Gothic"/>
              </a:rPr>
              <a:t>● </a:t>
            </a:r>
            <a:r>
              <a:rPr sz="1250">
                <a:solidFill>
                  <a:srgbClr val="334155"/>
                </a:solidFill>
                <a:latin typeface="Malgun Gothic"/>
              </a:rPr>
              <a:t>Branch→agency distribution is auto-calculated by the tree.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Review/save the settlement in a monthly report (PDF).</a:t>
            </a:r>
          </a:p>
          <a:p>
            <a:pPr>
              <a:lnSpc>
                <a:spcPct val="115000"/>
              </a:lnSpc>
              <a:spcAft>
                <a:spcPts val="600"/>
              </a:spcAft>
            </a:pPr>
            <a:r>
              <a:rPr sz="1050" b="1">
                <a:solidFill>
                  <a:srgbClr val="0D9488"/>
                </a:solidFill>
                <a:latin typeface="Malgun Gothic"/>
              </a:rPr>
              <a:t>● </a:t>
            </a:r>
            <a:r>
              <a:rPr sz="1250">
                <a:solidFill>
                  <a:srgbClr val="334155"/>
                </a:solidFill>
                <a:latin typeface="Malgun Gothic"/>
              </a:rPr>
              <a:t>If an item looks off, look up the details to confirm.</a:t>
            </a:r>
          </a:p>
        </p:txBody>
      </p:sp>
      <p:sp>
        <p:nvSpPr>
          <p:cNvPr id="14" name="Rounded Rectangle 13"/>
          <p:cNvSpPr/>
          <p:nvPr/>
        </p:nvSpPr>
        <p:spPr>
          <a:xfrm>
            <a:off x="457200" y="4782312"/>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Settlement is auto-calculated down the org tree (HQ·branch·agency).</a:t>
            </a:r>
          </a:p>
          <a:p>
            <a:pPr>
              <a:lnSpc>
                <a:spcPct val="115000"/>
              </a:lnSpc>
              <a:spcAft>
                <a:spcPts val="200"/>
              </a:spcAft>
            </a:pPr>
            <a:r>
              <a:rPr sz="900" b="1">
                <a:solidFill>
                  <a:srgbClr val="0D9488"/>
                </a:solidFill>
                <a:latin typeface="Malgun Gothic"/>
              </a:rPr>
              <a:t>● </a:t>
            </a:r>
            <a:r>
              <a:rPr sz="1100">
                <a:solidFill>
                  <a:srgbClr val="334155"/>
                </a:solidFill>
                <a:latin typeface="Malgun Gothic"/>
              </a:rPr>
              <a:t>Distributing the settlement report early builds agency trust.</a:t>
            </a:r>
          </a:p>
        </p:txBody>
      </p:sp>
      <p:sp>
        <p:nvSpPr>
          <p:cNvPr id="17" name="Rounded Rectangle 16"/>
          <p:cNvSpPr/>
          <p:nvPr/>
        </p:nvSpPr>
        <p:spPr>
          <a:xfrm>
            <a:off x="457200" y="5897879"/>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Announcing settlement terms (rate·timing) to agencies in advance reduces disputes.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onthlyrepor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Student · Parent Status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Branch-scope enrollment·attendance·grades</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Check the status of students in your branch (enrollment, attendance, grades). View by agency or as a branch total.</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Check branch-scope enrolled students in Students/Parents.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Compare attendance/grades by agency and overall.</a:t>
            </a:r>
          </a:p>
          <a:p>
            <a:pPr>
              <a:lnSpc>
                <a:spcPct val="115000"/>
              </a:lnSpc>
              <a:spcAft>
                <a:spcPts val="600"/>
              </a:spcAft>
            </a:pPr>
            <a:r>
              <a:rPr sz="1050" b="1">
                <a:solidFill>
                  <a:srgbClr val="0D9488"/>
                </a:solidFill>
                <a:latin typeface="Malgun Gothic"/>
              </a:rPr>
              <a:t>● </a:t>
            </a:r>
            <a:r>
              <a:rPr sz="1250">
                <a:solidFill>
                  <a:srgbClr val="334155"/>
                </a:solidFill>
                <a:latin typeface="Malgun Gothic"/>
              </a:rPr>
              <a:t>Flag students/agencies that need attention.</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The student list is linked to real member data.</a:t>
            </a:r>
          </a:p>
          <a:p>
            <a:pPr>
              <a:lnSpc>
                <a:spcPct val="115000"/>
              </a:lnSpc>
              <a:spcAft>
                <a:spcPts val="200"/>
              </a:spcAft>
            </a:pPr>
            <a:r>
              <a:rPr sz="900" b="1">
                <a:solidFill>
                  <a:srgbClr val="0D9488"/>
                </a:solidFill>
                <a:latin typeface="Malgun Gothic"/>
              </a:rPr>
              <a:t>● </a:t>
            </a:r>
            <a:r>
              <a:rPr sz="1100">
                <a:solidFill>
                  <a:srgbClr val="334155"/>
                </a:solidFill>
                <a:latin typeface="Malgun Gothic"/>
              </a:rPr>
              <a:t>At-risk students link to the Retention Center.</a:t>
            </a:r>
          </a:p>
        </p:txBody>
      </p:sp>
      <p:sp>
        <p:nvSpPr>
          <p:cNvPr id="17" name="Rounded Rectangle 16"/>
          <p:cNvSpPr/>
          <p:nvPr/>
        </p:nvSpPr>
        <p:spPr>
          <a:xfrm>
            <a:off x="457200" y="551383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Find agencies whose attendance/enrollment is dipping and support them quickly.</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enu_student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Payments·Overdue·Refunds (branch)</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Branch-scope accounting</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Check payments, overdue and refunds in your branch scope and review amounts auto-calculated by policy. Also see collection status by agency.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Check branch-scope payments/overdue/refunds in Accounting/Points.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Compare collection rate by agency.</a:t>
            </a:r>
          </a:p>
          <a:p>
            <a:pPr>
              <a:lnSpc>
                <a:spcPct val="115000"/>
              </a:lnSpc>
              <a:spcAft>
                <a:spcPts val="600"/>
              </a:spcAft>
            </a:pPr>
            <a:r>
              <a:rPr sz="1050" b="1">
                <a:solidFill>
                  <a:srgbClr val="0D9488"/>
                </a:solidFill>
                <a:latin typeface="Malgun Gothic"/>
              </a:rPr>
              <a:t>● </a:t>
            </a:r>
            <a:r>
              <a:rPr sz="1250">
                <a:solidFill>
                  <a:srgbClr val="334155"/>
                </a:solidFill>
                <a:latin typeface="Malgun Gothic"/>
              </a:rPr>
              <a:t>Amounts are auto-calculated per the refund table.</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Strengthen alerts/support for agencies with high overdue.</a:t>
            </a:r>
          </a:p>
          <a:p>
            <a:pPr>
              <a:lnSpc>
                <a:spcPct val="115000"/>
              </a:lnSpc>
              <a:spcAft>
                <a:spcPts val="200"/>
              </a:spcAft>
            </a:pPr>
            <a:r>
              <a:rPr sz="900" b="1">
                <a:solidFill>
                  <a:srgbClr val="0D9488"/>
                </a:solidFill>
                <a:latin typeface="Malgun Gothic"/>
              </a:rPr>
              <a:t>● </a:t>
            </a:r>
            <a:r>
              <a:rPr sz="1100">
                <a:solidFill>
                  <a:srgbClr val="334155"/>
                </a:solidFill>
                <a:latin typeface="Malgun Gothic"/>
              </a:rPr>
              <a:t>Discounted-payment refunds recalc at list price.</a:t>
            </a:r>
          </a:p>
        </p:txBody>
      </p:sp>
      <p:sp>
        <p:nvSpPr>
          <p:cNvPr id="17" name="Rounded Rectangle 16"/>
          <p:cNvSpPr/>
          <p:nvPr/>
        </p:nvSpPr>
        <p:spPr>
          <a:xfrm>
            <a:off x="457200" y="551383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Advise agencies with low collection to automate reminders.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Branch Retention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Churn risk·contagion·coaching</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Find at-risk students across your branch/agencies early and prevent chain churn through family/referral. It ties into agency and teacher coaching.</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Find at-risk students/agencies with the churn-risk graph.</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Prevent chain churn with the contagion network.</a:t>
            </a:r>
          </a:p>
          <a:p>
            <a:pPr>
              <a:lnSpc>
                <a:spcPct val="115000"/>
              </a:lnSpc>
              <a:spcAft>
                <a:spcPts val="600"/>
              </a:spcAft>
            </a:pPr>
            <a:r>
              <a:rPr sz="1050" b="1">
                <a:solidFill>
                  <a:srgbClr val="0D9488"/>
                </a:solidFill>
                <a:latin typeface="Malgun Gothic"/>
              </a:rPr>
              <a:t>● </a:t>
            </a:r>
            <a:r>
              <a:rPr sz="1250">
                <a:solidFill>
                  <a:srgbClr val="334155"/>
                </a:solidFill>
                <a:latin typeface="Malgun Gothic"/>
              </a:rPr>
              <a:t>Link high-risk spots to alert-talk/counseling/coaching.</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Intervening early raises retention.</a:t>
            </a:r>
          </a:p>
          <a:p>
            <a:pPr>
              <a:lnSpc>
                <a:spcPct val="115000"/>
              </a:lnSpc>
              <a:spcAft>
                <a:spcPts val="200"/>
              </a:spcAft>
            </a:pPr>
            <a:r>
              <a:rPr sz="900" b="1">
                <a:solidFill>
                  <a:srgbClr val="0D9488"/>
                </a:solidFill>
                <a:latin typeface="Malgun Gothic"/>
              </a:rPr>
              <a:t>● </a:t>
            </a:r>
            <a:r>
              <a:rPr sz="1100">
                <a:solidFill>
                  <a:srgbClr val="334155"/>
                </a:solidFill>
                <a:latin typeface="Malgun Gothic"/>
              </a:rPr>
              <a:t>Compare churn patterns by agency to support them.</a:t>
            </a:r>
          </a:p>
        </p:txBody>
      </p:sp>
      <p:sp>
        <p:nvSpPr>
          <p:cNvPr id="17" name="Rounded Rectangle 16"/>
          <p:cNvSpPr/>
          <p:nvPr/>
        </p:nvSpPr>
        <p:spPr>
          <a:xfrm>
            <a:off x="457200" y="551383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Just caring weekly for the top at-risk agencies/students noticeably cuts churn.</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Monthly Report·Performance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Branch·agency performance</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Summarize your branch and sub-agencies' performance in a monthly report. See revenue, enrollment, attendance and settlement at a glance and save/print to share.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Check branch/agency performance with the monthly report.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Compare metrics (revenue·enrollment·attendance·settlement) vs prior month/year.</a:t>
            </a:r>
          </a:p>
          <a:p>
            <a:pPr>
              <a:lnSpc>
                <a:spcPct val="115000"/>
              </a:lnSpc>
              <a:spcAft>
                <a:spcPts val="600"/>
              </a:spcAft>
            </a:pPr>
            <a:r>
              <a:rPr sz="1050" b="1">
                <a:solidFill>
                  <a:srgbClr val="0D9488"/>
                </a:solidFill>
                <a:latin typeface="Malgun Gothic"/>
              </a:rPr>
              <a:t>● </a:t>
            </a:r>
            <a:r>
              <a:rPr sz="1250">
                <a:solidFill>
                  <a:srgbClr val="334155"/>
                </a:solidFill>
                <a:latin typeface="Malgun Gothic"/>
              </a:rPr>
              <a:t>Save the report as print/PDF to share.</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The AI insight helps summarize performance.</a:t>
            </a:r>
          </a:p>
          <a:p>
            <a:pPr>
              <a:lnSpc>
                <a:spcPct val="115000"/>
              </a:lnSpc>
              <a:spcAft>
                <a:spcPts val="200"/>
              </a:spcAft>
            </a:pPr>
            <a:r>
              <a:rPr sz="900" b="1">
                <a:solidFill>
                  <a:srgbClr val="0D9488"/>
                </a:solidFill>
                <a:latin typeface="Malgun Gothic"/>
              </a:rPr>
              <a:t>● </a:t>
            </a:r>
            <a:r>
              <a:rPr sz="1100">
                <a:solidFill>
                  <a:srgbClr val="334155"/>
                </a:solidFill>
                <a:latin typeface="Malgun Gothic"/>
              </a:rPr>
              <a:t>The report also works as agency motivation material.</a:t>
            </a:r>
          </a:p>
        </p:txBody>
      </p:sp>
      <p:sp>
        <p:nvSpPr>
          <p:cNvPr id="17" name="Rounded Rectangle 16"/>
          <p:cNvSpPr/>
          <p:nvPr/>
        </p:nvSpPr>
        <p:spPr>
          <a:xfrm>
            <a:off x="457200" y="551383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Making monthly report sharing routine keeps branch operations transparent.</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onthlyrepor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Agency Support·Training</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Onboarding·ops coaching</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Support sub-agencies to operate well with onboarding and ops coaching. Guide the user guide/FAQ/support channels and share best practices.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Guide new agencies to the user guide·ops guide.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Organize frequent questions into an FAQ and distribute.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Share top-agency cases to level everyone up.</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Early onboarding largely decides an agency's success.</a:t>
            </a:r>
          </a:p>
          <a:p>
            <a:pPr>
              <a:lnSpc>
                <a:spcPct val="115000"/>
              </a:lnSpc>
              <a:spcAft>
                <a:spcPts val="200"/>
              </a:spcAft>
            </a:pPr>
            <a:r>
              <a:rPr sz="900" b="1">
                <a:solidFill>
                  <a:srgbClr val="0D9488"/>
                </a:solidFill>
                <a:latin typeface="Malgun Gothic"/>
              </a:rPr>
              <a:t>● </a:t>
            </a:r>
            <a:r>
              <a:rPr sz="1100">
                <a:solidFill>
                  <a:srgbClr val="334155"/>
                </a:solidFill>
                <a:latin typeface="Malgun Gothic"/>
              </a:rPr>
              <a:t>Turn repeat questions into FAQ to cut support load.</a:t>
            </a:r>
          </a:p>
        </p:txBody>
      </p:sp>
      <p:sp>
        <p:nvSpPr>
          <p:cNvPr id="17" name="Rounded Rectangle 16"/>
          <p:cNvSpPr/>
          <p:nvPr/>
        </p:nvSpPr>
        <p:spPr>
          <a:xfrm>
            <a:off x="457200" y="551383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Quarterly agency meetings help review performance and pain points together.</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Support·Inquiries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Get HQ support</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If a problem comes up in operations, contact HQ support channels. System/settlement/policy questions get resolved quickly.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Use phone, email, Kakao and remote support in Support.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Route settlement/policy questions to the HQ contact.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Note the fix for repeat issues.</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System issues resolve fast with remote support.</a:t>
            </a:r>
          </a:p>
          <a:p>
            <a:pPr>
              <a:lnSpc>
                <a:spcPct val="115000"/>
              </a:lnSpc>
              <a:spcAft>
                <a:spcPts val="200"/>
              </a:spcAft>
            </a:pPr>
            <a:r>
              <a:rPr sz="900" b="1">
                <a:solidFill>
                  <a:srgbClr val="0D9488"/>
                </a:solidFill>
                <a:latin typeface="Malgun Gothic"/>
              </a:rPr>
              <a:t>● </a:t>
            </a:r>
            <a:r>
              <a:rPr sz="1100">
                <a:solidFill>
                  <a:srgbClr val="334155"/>
                </a:solidFill>
                <a:latin typeface="Malgun Gothic"/>
              </a:rPr>
              <a:t>Inquiries within business hours are faster.</a:t>
            </a:r>
          </a:p>
        </p:txBody>
      </p:sp>
      <p:sp>
        <p:nvSpPr>
          <p:cNvPr id="17" name="Rounded Rectangle 16"/>
          <p:cNvSpPr/>
          <p:nvPr/>
        </p:nvSpPr>
        <p:spPr>
          <a:xfrm>
            <a:off x="457200" y="551383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Compile common inquiries and fixes and share them with agencies too.</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Korea·Philippines Dual Clock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Two countries' time on screen</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A clock on screen shows 🇰🇷 Korea and 🇵🇭 Philippines time together. It lets you check the time difference instantly when coordinating lessons between Philippine teachers and Korean students.</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On the on-screen dual clock, see 🇰🇷 Korea and 🇵🇭 Philippines time at once.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Drag the clock to move it anywhere you like.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Tap (click) the clock to go to the home screen.</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The Philippines is 1 hour behind Korea (−1 hour).</a:t>
            </a:r>
          </a:p>
          <a:p>
            <a:pPr>
              <a:lnSpc>
                <a:spcPct val="115000"/>
              </a:lnSpc>
              <a:spcAft>
                <a:spcPts val="200"/>
              </a:spcAft>
            </a:pPr>
            <a:r>
              <a:rPr sz="900" b="1">
                <a:solidFill>
                  <a:srgbClr val="0D9488"/>
                </a:solidFill>
                <a:latin typeface="Malgun Gothic"/>
              </a:rPr>
              <a:t>● </a:t>
            </a:r>
            <a:r>
              <a:rPr sz="1100">
                <a:solidFill>
                  <a:srgbClr val="334155"/>
                </a:solidFill>
                <a:latin typeface="Malgun Gothic"/>
              </a:rPr>
              <a:t>You can check booking/entry times in both countries' time.</a:t>
            </a:r>
          </a:p>
        </p:txBody>
      </p:sp>
      <p:sp>
        <p:nvSpPr>
          <p:cNvPr id="17" name="Rounded Rectangle 16"/>
          <p:cNvSpPr/>
          <p:nvPr/>
        </p:nvSpPr>
        <p:spPr>
          <a:xfrm>
            <a:off x="457200" y="551383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When a lesson time is confusing due to the time difference, this clock clears it up instantly.</a:t>
            </a:r>
          </a:p>
        </p:txBody>
      </p:sp>
      <p:sp>
        <p:nvSpPr>
          <p:cNvPr id="19" name="Rectangle 18"/>
          <p:cNvSpPr/>
          <p:nvPr/>
        </p:nvSpPr>
        <p:spPr>
          <a:xfrm>
            <a:off x="6300216" y="2356264"/>
            <a:ext cx="5596128" cy="35170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355080" y="2411128"/>
            <a:ext cx="5486400" cy="34073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Chinese Pronunciation Coach</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Darakwon Chinese Master Lv1–20</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Mangoi offers not only English but also a Chinese course. With a Darakwon Chinese Master (Lv 1–20) pronunciation coach (characters+pinyin, AI voice recognition, native comparison), you can attract and manage students who want Chinese.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In the AI voice coach, pick the CN Chinese level (or go to the Chinese pronunciation coach).</a:t>
            </a:r>
          </a:p>
          <a:p>
            <a:pPr>
              <a:lnSpc>
                <a:spcPct val="115000"/>
              </a:lnSpc>
              <a:spcAft>
                <a:spcPts val="600"/>
              </a:spcAft>
            </a:pPr>
            <a:r>
              <a:rPr sz="1050" b="1">
                <a:solidFill>
                  <a:srgbClr val="0D9488"/>
                </a:solidFill>
                <a:latin typeface="Malgun Gothic"/>
              </a:rPr>
              <a:t>● </a:t>
            </a:r>
            <a:r>
              <a:rPr sz="1250">
                <a:solidFill>
                  <a:srgbClr val="334155"/>
                </a:solidFill>
                <a:latin typeface="Malgun Gothic"/>
              </a:rPr>
              <a:t>Choose a Master series (1–6, HSK 1–6) and a unit.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Read the sentence (characters + pinyin) and compare with 'Play native audio'.</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Practice hard sounds/tones with repeat and slow (0.85x).</a:t>
            </a:r>
          </a:p>
        </p:txBody>
      </p:sp>
      <p:sp>
        <p:nvSpPr>
          <p:cNvPr id="14" name="Rounded Rectangle 13"/>
          <p:cNvSpPr/>
          <p:nvPr/>
        </p:nvSpPr>
        <p:spPr>
          <a:xfrm>
            <a:off x="457200" y="4782312"/>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Characters and pinyin appear together, so it's easy to read.</a:t>
            </a:r>
          </a:p>
          <a:p>
            <a:pPr>
              <a:lnSpc>
                <a:spcPct val="115000"/>
              </a:lnSpc>
              <a:spcAft>
                <a:spcPts val="200"/>
              </a:spcAft>
            </a:pPr>
            <a:r>
              <a:rPr sz="900" b="1">
                <a:solidFill>
                  <a:srgbClr val="0D9488"/>
                </a:solidFill>
                <a:latin typeface="Malgun Gothic"/>
              </a:rPr>
              <a:t>● </a:t>
            </a:r>
            <a:r>
              <a:rPr sz="1100">
                <a:solidFill>
                  <a:srgbClr val="334155"/>
                </a:solidFill>
                <a:latin typeface="Malgun Gothic"/>
              </a:rPr>
              <a:t>The AI recognizes your voice and compares it to a native speaker.</a:t>
            </a:r>
          </a:p>
          <a:p>
            <a:pPr>
              <a:lnSpc>
                <a:spcPct val="115000"/>
              </a:lnSpc>
              <a:spcAft>
                <a:spcPts val="200"/>
              </a:spcAft>
            </a:pPr>
            <a:r>
              <a:rPr sz="900" b="1">
                <a:solidFill>
                  <a:srgbClr val="0D9488"/>
                </a:solidFill>
                <a:latin typeface="Malgun Gothic"/>
              </a:rPr>
              <a:t>● </a:t>
            </a:r>
            <a:r>
              <a:rPr sz="1100">
                <a:solidFill>
                  <a:srgbClr val="334155"/>
                </a:solidFill>
                <a:latin typeface="Malgun Gothic"/>
              </a:rPr>
              <a:t>The learning games hub supports Chinese too.</a:t>
            </a:r>
          </a:p>
        </p:txBody>
      </p:sp>
      <p:sp>
        <p:nvSpPr>
          <p:cNvPr id="17" name="Rounded Rectangle 16"/>
          <p:cNvSpPr/>
          <p:nvPr/>
        </p:nvSpPr>
        <p:spPr>
          <a:xfrm>
            <a:off x="457200" y="6208775"/>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Listen slowly and repeat clearly to nail the four tones.</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In-class Praise Points (understand &amp; use)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Linked to motivation·re-enrollment</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During class the teacher gives 🌟 praise points (+1P) to students on the spot, and an end-of-class rating (+10P) adds up into the student's total points. Points lead to shop/gift rewards, helping motivation and re-enrollment. Your branch understands and uses this flow for performance.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The teacher gives +1P via the 🌟 praise button on a student's video during class.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It accrues live in the student's 🧺 point basket and sums into their total.</a:t>
            </a:r>
          </a:p>
          <a:p>
            <a:pPr>
              <a:lnSpc>
                <a:spcPct val="115000"/>
              </a:lnSpc>
              <a:spcAft>
                <a:spcPts val="600"/>
              </a:spcAft>
            </a:pPr>
            <a:r>
              <a:rPr sz="1050" b="1">
                <a:solidFill>
                  <a:srgbClr val="0D9488"/>
                </a:solidFill>
                <a:latin typeface="Malgun Gothic"/>
              </a:rPr>
              <a:t>● </a:t>
            </a:r>
            <a:r>
              <a:rPr sz="1250">
                <a:solidFill>
                  <a:srgbClr val="334155"/>
                </a:solidFill>
                <a:latin typeface="Malgun Gothic"/>
              </a:rPr>
              <a:t>A post-class star rating gives the student an extra +10P.</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Points connect to shop/roulette/gift rewards.</a:t>
            </a:r>
          </a:p>
        </p:txBody>
      </p:sp>
      <p:sp>
        <p:nvSpPr>
          <p:cNvPr id="14" name="Rounded Rectangle 13"/>
          <p:cNvSpPr/>
          <p:nvPr/>
        </p:nvSpPr>
        <p:spPr>
          <a:xfrm>
            <a:off x="457200" y="4782312"/>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Instant rewards boost participation and re-enrollment.</a:t>
            </a:r>
          </a:p>
          <a:p>
            <a:pPr>
              <a:lnSpc>
                <a:spcPct val="115000"/>
              </a:lnSpc>
              <a:spcAft>
                <a:spcPts val="200"/>
              </a:spcAft>
            </a:pPr>
            <a:r>
              <a:rPr sz="900" b="1">
                <a:solidFill>
                  <a:srgbClr val="0D9488"/>
                </a:solidFill>
                <a:latin typeface="Malgun Gothic"/>
              </a:rPr>
              <a:t>● </a:t>
            </a:r>
            <a:r>
              <a:rPr sz="1100">
                <a:solidFill>
                  <a:srgbClr val="334155"/>
                </a:solidFill>
                <a:latin typeface="Malgun Gothic"/>
              </a:rPr>
              <a:t>Use your branch students' points/reward response as a performance signal.</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Teachers give praise points; HQ (admin) configures the shop/reward/gift policy.</a:t>
            </a:r>
          </a:p>
        </p:txBody>
      </p:sp>
      <p:sp>
        <p:nvSpPr>
          <p:cNvPr id="19" name="Rounded Rectangle 18"/>
          <p:cNvSpPr/>
          <p:nvPr/>
        </p:nvSpPr>
        <p:spPr>
          <a:xfrm>
            <a:off x="457200" y="6629399"/>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Classes (teachers) where praise points flow well tend to have higher re-enrollment.</a:t>
            </a:r>
          </a:p>
        </p:txBody>
      </p:sp>
      <p:sp>
        <p:nvSpPr>
          <p:cNvPr id="21" name="Rectangle 20"/>
          <p:cNvSpPr/>
          <p:nvPr/>
        </p:nvSpPr>
        <p:spPr>
          <a:xfrm>
            <a:off x="6300216" y="3266070"/>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320934"/>
            <a:ext cx="5486400" cy="158773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Notice Studio (Poster + Popup)</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Design notice/event posters and push them as app popups</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This merges the old ‘Poster Maker’ and ‘Popup Notice’ tools into one place. In the ①Create tab you design a notice/event poster, then hand it straight to the ②Publish·Popup tab to show it as a popup in your branch's student app.</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Go to the admin menu Notification Center → 📢 Notice Studio.</a:t>
            </a:r>
          </a:p>
          <a:p>
            <a:pPr>
              <a:lnSpc>
                <a:spcPct val="115000"/>
              </a:lnSpc>
              <a:spcAft>
                <a:spcPts val="600"/>
              </a:spcAft>
            </a:pPr>
            <a:r>
              <a:rPr sz="1050" b="1">
                <a:solidFill>
                  <a:srgbClr val="0D9488"/>
                </a:solidFill>
                <a:latin typeface="Malgun Gothic"/>
              </a:rPr>
              <a:t>● </a:t>
            </a:r>
            <a:r>
              <a:rPr sz="1250">
                <a:solidFill>
                  <a:srgbClr val="334155"/>
                </a:solidFill>
                <a:latin typeface="Malgun Gothic"/>
              </a:rPr>
              <a:t>In the ①Create tab, design a poster with text, images, and video (resize · save on server · reuse).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Press ‘📢 Publish as popup’ on the finished poster to auto-switch to the ②Publish·Popup tab.</a:t>
            </a:r>
          </a:p>
          <a:p>
            <a:pPr>
              <a:lnSpc>
                <a:spcPct val="115000"/>
              </a:lnSpc>
              <a:spcAft>
                <a:spcPts val="600"/>
              </a:spcAft>
            </a:pPr>
            <a:r>
              <a:rPr sz="1050" b="1">
                <a:solidFill>
                  <a:srgbClr val="0D9488"/>
                </a:solidFill>
                <a:latin typeface="Malgun Gothic"/>
              </a:rPr>
              <a:t>● </a:t>
            </a:r>
            <a:r>
              <a:rPr sz="1250">
                <a:solidFill>
                  <a:srgbClr val="334155"/>
                </a:solidFill>
                <a:latin typeface="Malgun Gothic"/>
              </a:rPr>
              <a:t>In the publish tab, set the display period / stop and publish it as a student-app popup.</a:t>
            </a:r>
          </a:p>
        </p:txBody>
      </p:sp>
      <p:sp>
        <p:nvSpPr>
          <p:cNvPr id="14" name="Rounded Rectangle 13"/>
          <p:cNvSpPr/>
          <p:nvPr/>
        </p:nvSpPr>
        <p:spPr>
          <a:xfrm>
            <a:off x="457200" y="4782312"/>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Poster creation and popup publishing flow through one screen, two tabs — no more confusion.</a:t>
            </a:r>
          </a:p>
          <a:p>
            <a:pPr>
              <a:lnSpc>
                <a:spcPct val="115000"/>
              </a:lnSpc>
              <a:spcAft>
                <a:spcPts val="200"/>
              </a:spcAft>
            </a:pPr>
            <a:r>
              <a:rPr sz="900" b="1">
                <a:solidFill>
                  <a:srgbClr val="0D9488"/>
                </a:solidFill>
                <a:latin typeface="Malgun Gothic"/>
              </a:rPr>
              <a:t>● </a:t>
            </a:r>
            <a:r>
              <a:rPr sz="1100">
                <a:solidFill>
                  <a:srgbClr val="334155"/>
                </a:solidFill>
                <a:latin typeface="Malgun Gothic"/>
              </a:rPr>
              <a:t>Posters you make can be saved and reused.</a:t>
            </a:r>
          </a:p>
          <a:p>
            <a:pPr>
              <a:lnSpc>
                <a:spcPct val="115000"/>
              </a:lnSpc>
              <a:spcAft>
                <a:spcPts val="200"/>
              </a:spcAft>
            </a:pPr>
            <a:r>
              <a:rPr sz="900" b="1">
                <a:solidFill>
                  <a:srgbClr val="0D9488"/>
                </a:solidFill>
                <a:latin typeface="Malgun Gothic"/>
              </a:rPr>
              <a:t>● </a:t>
            </a:r>
            <a:r>
              <a:rPr sz="1100">
                <a:solidFill>
                  <a:srgbClr val="334155"/>
                </a:solidFill>
                <a:latin typeface="Malgun Gothic"/>
              </a:rPr>
              <a:t>Whichever route you enter from — AI assistant or sidebar search — the correct tab opens.</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Existing posters/popups are preserved (it was only merged, nothing was deleted).</a:t>
            </a:r>
          </a:p>
        </p:txBody>
      </p:sp>
      <p:sp>
        <p:nvSpPr>
          <p:cNvPr id="19" name="Rounded Rectangle 18"/>
          <p:cNvSpPr/>
          <p:nvPr/>
        </p:nvSpPr>
        <p:spPr>
          <a:xfrm>
            <a:off x="457200" y="6940295"/>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Promoting an event takes just one flow: ‘Create → Publish as popup’ right away.</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Command the AI Operations Assistant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Navigate with one phrase: “Take me to ○○”</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Type what you want to do into the top search bar (or the bottom-right AI assistant) in plain language, and the AI understands and jumps straight to that screen. It now reliably follows navigation commands like ‘Take me to teacher ○○'s schedule’ or ‘Open auto-scheduling’.</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Type a command in the top search bar or speak with the 🎤 mic.</a:t>
            </a:r>
          </a:p>
          <a:p>
            <a:pPr>
              <a:lnSpc>
                <a:spcPct val="115000"/>
              </a:lnSpc>
              <a:spcAft>
                <a:spcPts val="600"/>
              </a:spcAft>
            </a:pPr>
            <a:r>
              <a:rPr sz="1050" b="1">
                <a:solidFill>
                  <a:srgbClr val="0D9488"/>
                </a:solidFill>
                <a:latin typeface="Malgun Gothic"/>
              </a:rPr>
              <a:t>● </a:t>
            </a:r>
            <a:r>
              <a:rPr sz="1250">
                <a:solidFill>
                  <a:srgbClr val="334155"/>
                </a:solidFill>
                <a:latin typeface="Malgun Gothic"/>
              </a:rPr>
              <a:t>e.g. “Take me to teacher Kim Minji's schedule” → auto-finds that teacher in the weekly schedule and opens it.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e.g. “Open auto-scheduling,” “Go to settlement” to navigate menus.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Press ‘Go now →’ on the AI response card to move to that screen.</a:t>
            </a:r>
          </a:p>
        </p:txBody>
      </p:sp>
      <p:sp>
        <p:nvSpPr>
          <p:cNvPr id="14" name="Rounded Rectangle 13"/>
          <p:cNvSpPr/>
          <p:nvPr/>
        </p:nvSpPr>
        <p:spPr>
          <a:xfrm>
            <a:off x="457200" y="4782312"/>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Navigation commands actually navigate — far fewer ‘explain only, do nothing’ replies.</a:t>
            </a:r>
          </a:p>
          <a:p>
            <a:pPr>
              <a:lnSpc>
                <a:spcPct val="115000"/>
              </a:lnSpc>
              <a:spcAft>
                <a:spcPts val="200"/>
              </a:spcAft>
            </a:pPr>
            <a:r>
              <a:rPr sz="900" b="1">
                <a:solidFill>
                  <a:srgbClr val="0D9488"/>
                </a:solidFill>
                <a:latin typeface="Malgun Gothic"/>
              </a:rPr>
              <a:t>● </a:t>
            </a:r>
            <a:r>
              <a:rPr sz="1100">
                <a:solidFill>
                  <a:srgbClr val="334155"/>
                </a:solidFill>
                <a:latin typeface="Malgun Gothic"/>
              </a:rPr>
              <a:t>Searching a schedule by teacher name auto-fills the search box + filters + scrolls.</a:t>
            </a:r>
          </a:p>
          <a:p>
            <a:pPr>
              <a:lnSpc>
                <a:spcPct val="115000"/>
              </a:lnSpc>
              <a:spcAft>
                <a:spcPts val="200"/>
              </a:spcAft>
            </a:pPr>
            <a:r>
              <a:rPr sz="900" b="1">
                <a:solidFill>
                  <a:srgbClr val="0D9488"/>
                </a:solidFill>
                <a:latin typeface="Malgun Gothic"/>
              </a:rPr>
              <a:t>● </a:t>
            </a:r>
            <a:r>
              <a:rPr sz="1100">
                <a:solidFill>
                  <a:srgbClr val="334155"/>
                </a:solidFill>
                <a:latin typeface="Malgun Gothic"/>
              </a:rPr>
              <a:t>For data/statistics questions it also helps with card-style answers.</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Commands that actually change things — ‘register · send · modify’ — ask for one more confirmation (a safety guard).</a:t>
            </a:r>
          </a:p>
        </p:txBody>
      </p:sp>
      <p:sp>
        <p:nvSpPr>
          <p:cNvPr id="19" name="Rounded Rectangle 18"/>
          <p:cNvSpPr/>
          <p:nvPr/>
        </p:nvSpPr>
        <p:spPr>
          <a:xfrm>
            <a:off x="457200" y="6940295"/>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When you can't recall a menu name, just say what you want to do — it finds its way there.</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aicomman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Share Library Links via KakaoTalk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Send videos &amp; docs in original quality</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Every guide and video in the library now has a '💬 Copy KakaoTalk link' button. Attaching a file to KakaoTalk crushes the quality, but sending a link plays the original as-is. One tap copies the link — guiding parents and teachers gets much easier.</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In the admin Library, press 💬 Copy KakaoTalk link next to the file.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Paste it into the KakaoTalk chat room.</a:t>
            </a:r>
          </a:p>
          <a:p>
            <a:pPr>
              <a:lnSpc>
                <a:spcPct val="115000"/>
              </a:lnSpc>
              <a:spcAft>
                <a:spcPts val="600"/>
              </a:spcAft>
            </a:pPr>
            <a:r>
              <a:rPr sz="1050" b="1">
                <a:solidFill>
                  <a:srgbClr val="0D9488"/>
                </a:solidFill>
                <a:latin typeface="Malgun Gothic"/>
              </a:rPr>
              <a:t>● </a:t>
            </a:r>
            <a:r>
              <a:rPr sz="1250">
                <a:solidFill>
                  <a:srgbClr val="334155"/>
                </a:solidFill>
                <a:latin typeface="Malgun Gothic"/>
              </a:rPr>
              <a:t>Recipients tap the link to watch or download in original quality.</a:t>
            </a:r>
          </a:p>
        </p:txBody>
      </p:sp>
      <p:sp>
        <p:nvSpPr>
          <p:cNvPr id="14" name="Rounded Rectangle 13"/>
          <p:cNvSpPr/>
          <p:nvPr/>
        </p:nvSpPr>
        <p:spPr>
          <a:xfrm>
            <a:off x="457200" y="4398264"/>
            <a:ext cx="5669280" cy="1005840"/>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For videos, link sharing = original quality; file attachments degrade it.</a:t>
            </a:r>
          </a:p>
          <a:p>
            <a:pPr>
              <a:lnSpc>
                <a:spcPct val="115000"/>
              </a:lnSpc>
              <a:spcAft>
                <a:spcPts val="200"/>
              </a:spcAft>
            </a:pPr>
            <a:r>
              <a:rPr sz="900" b="1">
                <a:solidFill>
                  <a:srgbClr val="0D9488"/>
                </a:solidFill>
                <a:latin typeface="Malgun Gothic"/>
              </a:rPr>
              <a:t>● </a:t>
            </a:r>
            <a:r>
              <a:rPr sz="1100">
                <a:solidFill>
                  <a:srgbClr val="334155"/>
                </a:solidFill>
                <a:latin typeface="Malgun Gothic"/>
              </a:rPr>
              <a:t>Works the same for PDFs, PPTs, and videos anywhere in the library.</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Anyone with the link can open it. For internal-only material, check who you share with.</a:t>
            </a:r>
          </a:p>
        </p:txBody>
      </p:sp>
      <p:sp>
        <p:nvSpPr>
          <p:cNvPr id="19" name="Rounded Rectangle 18"/>
          <p:cNvSpPr/>
          <p:nvPr/>
        </p:nvSpPr>
        <p:spPr>
          <a:xfrm>
            <a:off x="457200" y="6245351"/>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In a parents' group chat, one video-guide link does all the explaining.</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 refreshed admin screen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Collapsible sidebar · lighter background · line icons</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admin screen is now easier on the eyes and wider. The left menu collapses to a narrow icon rail via the ‹ Collapse button, and the background is now a consistent light tone. Menu icons were redrawn as line icons so labels read clearly.</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Press ‹ Collapse at the top of the left menu — it shrinks to an icon rail and the content gets wider.</a:t>
            </a:r>
          </a:p>
          <a:p>
            <a:pPr>
              <a:lnSpc>
                <a:spcPct val="115000"/>
              </a:lnSpc>
              <a:spcAft>
                <a:spcPts val="600"/>
              </a:spcAft>
            </a:pPr>
            <a:r>
              <a:rPr sz="1050" b="1">
                <a:solidFill>
                  <a:srgbClr val="0D9488"/>
                </a:solidFill>
                <a:latin typeface="Malgun Gothic"/>
              </a:rPr>
              <a:t>● </a:t>
            </a:r>
            <a:r>
              <a:rPr sz="1250">
                <a:solidFill>
                  <a:srgbClr val="334155"/>
                </a:solidFill>
                <a:latin typeface="Malgun Gothic"/>
              </a:rPr>
              <a:t>Press the › button in the same place to expand it again.</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The collapsed state is remembered for your next visit.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Too many menus to find one? Type its name into menu search at the top.</a:t>
            </a:r>
          </a:p>
        </p:txBody>
      </p:sp>
      <p:sp>
        <p:nvSpPr>
          <p:cNvPr id="14" name="Rounded Rectangle 13"/>
          <p:cNvSpPr/>
          <p:nvPr/>
        </p:nvSpPr>
        <p:spPr>
          <a:xfrm>
            <a:off x="457200" y="4782312"/>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Screens full of tables and lists gain a lot of horizontal space.</a:t>
            </a:r>
          </a:p>
          <a:p>
            <a:pPr>
              <a:lnSpc>
                <a:spcPct val="115000"/>
              </a:lnSpc>
              <a:spcAft>
                <a:spcPts val="200"/>
              </a:spcAft>
            </a:pPr>
            <a:r>
              <a:rPr sz="900" b="1">
                <a:solidFill>
                  <a:srgbClr val="0D9488"/>
                </a:solidFill>
                <a:latin typeface="Malgun Gothic"/>
              </a:rPr>
              <a:t>● </a:t>
            </a:r>
            <a:r>
              <a:rPr sz="1100">
                <a:solidFill>
                  <a:srgbClr val="334155"/>
                </a:solidFill>
                <a:latin typeface="Malgun Gothic"/>
              </a:rPr>
              <a:t>15 sub-pages were moved onto the same light theme, so the colour jump between screens is gone.</a:t>
            </a:r>
          </a:p>
          <a:p>
            <a:pPr>
              <a:lnSpc>
                <a:spcPct val="115000"/>
              </a:lnSpc>
              <a:spcAft>
                <a:spcPts val="200"/>
              </a:spcAft>
            </a:pPr>
            <a:r>
              <a:rPr sz="900" b="1">
                <a:solidFill>
                  <a:srgbClr val="0D9488"/>
                </a:solidFill>
                <a:latin typeface="Malgun Gothic"/>
              </a:rPr>
              <a:t>● </a:t>
            </a:r>
            <a:r>
              <a:rPr sz="1100">
                <a:solidFill>
                  <a:srgbClr val="334155"/>
                </a:solidFill>
                <a:latin typeface="Malgun Gothic"/>
              </a:rPr>
              <a:t>The collapse animation was removed so low-spec PCs don't stutter.</a:t>
            </a:r>
          </a:p>
        </p:txBody>
      </p:sp>
      <p:sp>
        <p:nvSpPr>
          <p:cNvPr id="17" name="Rounded Rectangle 16"/>
          <p:cNvSpPr/>
          <p:nvPr/>
        </p:nvSpPr>
        <p:spPr>
          <a:xfrm>
            <a:off x="457200" y="6208775"/>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Wide-table screens like settlement and payroll are far easier to read with the menu collapsed.</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sidebar_rail.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The interface language sets itself</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Overseas staff and teachers start in English</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Filipino teachers and overseas staff now start in English from the first screen. The interface language is decided from the account's nationality, and teacher accounts are always English regardless of name or previous choice. You can still switch any time with the 🌐 EN / KR button at the top.</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If the account has a nationality on file, the right language appears automatically at login.</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To change it manually, press the 🌐 EN / KR button at the top.</a:t>
            </a:r>
          </a:p>
          <a:p>
            <a:pPr>
              <a:lnSpc>
                <a:spcPct val="115000"/>
              </a:lnSpc>
              <a:spcAft>
                <a:spcPts val="600"/>
              </a:spcAft>
            </a:pPr>
            <a:r>
              <a:rPr sz="1050" b="1">
                <a:solidFill>
                  <a:srgbClr val="0D9488"/>
                </a:solidFill>
                <a:latin typeface="Malgun Gothic"/>
              </a:rPr>
              <a:t>● </a:t>
            </a:r>
            <a:r>
              <a:rPr sz="1250">
                <a:solidFill>
                  <a:srgbClr val="334155"/>
                </a:solidFill>
                <a:latin typeface="Malgun Gothic"/>
              </a:rPr>
              <a:t>A manual choice is stored per account — several people can share one PC without interference.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Teacher guide slides and manuals switch to the English editions with it.</a:t>
            </a:r>
          </a:p>
        </p:txBody>
      </p:sp>
      <p:sp>
        <p:nvSpPr>
          <p:cNvPr id="14" name="Rounded Rectangle 13"/>
          <p:cNvSpPr/>
          <p:nvPr/>
        </p:nvSpPr>
        <p:spPr>
          <a:xfrm>
            <a:off x="457200" y="4782312"/>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Teacher accounts are always English — no more getting lost in a Korean screen.</a:t>
            </a:r>
          </a:p>
          <a:p>
            <a:pPr>
              <a:lnSpc>
                <a:spcPct val="115000"/>
              </a:lnSpc>
              <a:spcAft>
                <a:spcPts val="200"/>
              </a:spcAft>
            </a:pPr>
            <a:r>
              <a:rPr sz="900" b="1">
                <a:solidFill>
                  <a:srgbClr val="0D9488"/>
                </a:solidFill>
                <a:latin typeface="Malgun Gothic"/>
              </a:rPr>
              <a:t>● </a:t>
            </a:r>
            <a:r>
              <a:rPr sz="1100">
                <a:solidFill>
                  <a:srgbClr val="334155"/>
                </a:solidFill>
                <a:latin typeface="Malgun Gothic"/>
              </a:rPr>
              <a:t>Accounts with an English name no longer flip to Korean because of a Korean job title.</a:t>
            </a:r>
          </a:p>
          <a:p>
            <a:pPr>
              <a:lnSpc>
                <a:spcPct val="115000"/>
              </a:lnSpc>
              <a:spcAft>
                <a:spcPts val="200"/>
              </a:spcAft>
            </a:pPr>
            <a:r>
              <a:rPr sz="900" b="1">
                <a:solidFill>
                  <a:srgbClr val="0D9488"/>
                </a:solidFill>
                <a:latin typeface="Malgun Gothic"/>
              </a:rPr>
              <a:t>● </a:t>
            </a:r>
            <a:r>
              <a:rPr sz="1100">
                <a:solidFill>
                  <a:srgbClr val="334155"/>
                </a:solidFill>
                <a:latin typeface="Malgun Gothic"/>
              </a:rPr>
              <a:t>Language choice is isolated per account, so an overseas account isn't overwritten by someone else's pick.</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Accounts with no nationality fall back to the old name/ID heuristic. Please fill in nationality when registering teachers.</a:t>
            </a:r>
          </a:p>
        </p:txBody>
      </p:sp>
      <p:sp>
        <p:nvSpPr>
          <p:cNvPr id="19" name="Rounded Rectangle 18"/>
          <p:cNvSpPr/>
          <p:nvPr/>
        </p:nvSpPr>
        <p:spPr>
          <a:xfrm>
            <a:off x="457200" y="6940295"/>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Enter nationality when registering a new teacher and their very first login is in English — fewer support requests.</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dashboar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Enrolment &amp; payment → automatic lesson creation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Once payment is confirmed, every session is scheduled</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On the Enrolment screen a student picks teacher, days and time and pays — and all lesson sessions are created automatically the moment payment is confirmed. The old manual timetable entry after payment is gone. If the slot clashes with an existing lesson, the conflict is detected before payment.</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Send students and parents the enrolment link.</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They choose teacher → lesson options (weekly count, term, length) → days &amp; time.</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The slot check must pass before the pay button unlocks (payment is blocked on a clash).</a:t>
            </a:r>
          </a:p>
          <a:p>
            <a:pPr>
              <a:lnSpc>
                <a:spcPct val="115000"/>
              </a:lnSpc>
              <a:spcAft>
                <a:spcPts val="600"/>
              </a:spcAft>
            </a:pPr>
            <a:r>
              <a:rPr sz="1050" b="1">
                <a:solidFill>
                  <a:srgbClr val="0D9488"/>
                </a:solidFill>
                <a:latin typeface="Malgun Gothic"/>
              </a:rPr>
              <a:t>● </a:t>
            </a:r>
            <a:r>
              <a:rPr sz="1250">
                <a:solidFill>
                  <a:srgbClr val="334155"/>
                </a:solidFill>
                <a:latin typeface="Malgun Gothic"/>
              </a:rPr>
              <a:t>On confirmed payment, all sessions are created at once — verify in the admin lesson list.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Head-office prices and discount rates are managed on the pricing screen.</a:t>
            </a:r>
          </a:p>
        </p:txBody>
      </p:sp>
      <p:sp>
        <p:nvSpPr>
          <p:cNvPr id="14" name="Rounded Rectangle 13"/>
          <p:cNvSpPr/>
          <p:nvPr/>
        </p:nvSpPr>
        <p:spPr>
          <a:xfrm>
            <a:off x="457200" y="5166360"/>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Idempotent — a duplicated payment callback will not create the sessions twice.</a:t>
            </a:r>
          </a:p>
          <a:p>
            <a:pPr>
              <a:lnSpc>
                <a:spcPct val="115000"/>
              </a:lnSpc>
              <a:spcAft>
                <a:spcPts val="200"/>
              </a:spcAft>
            </a:pPr>
            <a:r>
              <a:rPr sz="900" b="1">
                <a:solidFill>
                  <a:srgbClr val="0D9488"/>
                </a:solidFill>
                <a:latin typeface="Malgun Gothic"/>
              </a:rPr>
              <a:t>● </a:t>
            </a:r>
            <a:r>
              <a:rPr sz="1100">
                <a:solidFill>
                  <a:srgbClr val="334155"/>
                </a:solidFill>
                <a:latin typeface="Malgun Gothic"/>
              </a:rPr>
              <a:t>Clashes with holidays or existing lessons are pushed back so the session count is still met.</a:t>
            </a:r>
          </a:p>
          <a:p>
            <a:pPr>
              <a:lnSpc>
                <a:spcPct val="115000"/>
              </a:lnSpc>
              <a:spcAft>
                <a:spcPts val="200"/>
              </a:spcAft>
            </a:pPr>
            <a:r>
              <a:rPr sz="900" b="1">
                <a:solidFill>
                  <a:srgbClr val="0D9488"/>
                </a:solidFill>
                <a:latin typeface="Malgun Gothic"/>
              </a:rPr>
              <a:t>● </a:t>
            </a:r>
            <a:r>
              <a:rPr sz="1100">
                <a:solidFill>
                  <a:srgbClr val="334155"/>
                </a:solidFill>
                <a:latin typeface="Malgun Gothic"/>
              </a:rPr>
              <a:t>Term discounts (6 months −5%, 12 months −10%) are applied to the amount automatically.</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Stage 1 (enrol → pay → auto-create sessions) is live today. Later stages will follow.</a:t>
            </a:r>
          </a:p>
        </p:txBody>
      </p:sp>
      <p:sp>
        <p:nvSpPr>
          <p:cNvPr id="19" name="Rounded Rectangle 18"/>
          <p:cNvSpPr/>
          <p:nvPr/>
        </p:nvSpPr>
        <p:spPr>
          <a:xfrm>
            <a:off x="457200" y="7324344"/>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Consultation → level test → send the enrolment link is the smoothest conversion path.</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enroll.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Teacher Management, redesigned (roster filters · groups · detail tabs)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Easy-to-search roster · detail at a glance</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teacher-management screen is now easier to search and read. Scattered menus are grouped into four bundles in the sidebar, and above the roster there are status/group dropdown filters with applied-filter chips. Tapping a teacher opens a detail view split into Profile / Payroll / Evaluation tabs, with a manager badge and employment status (active / on-leave / left) shown at a glance.</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Open Teachers in the admin menu (menus are tidied into four bundles).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Filter to just the teachers you want with the status/group dropdowns above the roster.</a:t>
            </a:r>
          </a:p>
          <a:p>
            <a:pPr>
              <a:lnSpc>
                <a:spcPct val="115000"/>
              </a:lnSpc>
              <a:spcAft>
                <a:spcPts val="600"/>
              </a:spcAft>
            </a:pPr>
            <a:r>
              <a:rPr sz="1050" b="1">
                <a:solidFill>
                  <a:srgbClr val="0D9488"/>
                </a:solidFill>
                <a:latin typeface="Malgun Gothic"/>
              </a:rPr>
              <a:t>● </a:t>
            </a:r>
            <a:r>
              <a:rPr sz="1250">
                <a:solidFill>
                  <a:srgbClr val="334155"/>
                </a:solidFill>
                <a:latin typeface="Malgun Gothic"/>
              </a:rPr>
              <a:t>Applied filters show as chips; remove a chip to clear it.</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Tap a teacher to open the Profile / Payroll / Evaluation detail tabs.</a:t>
            </a:r>
          </a:p>
          <a:p>
            <a:pPr>
              <a:lnSpc>
                <a:spcPct val="115000"/>
              </a:lnSpc>
              <a:spcAft>
                <a:spcPts val="600"/>
              </a:spcAft>
            </a:pPr>
            <a:r>
              <a:rPr sz="1050" b="1">
                <a:solidFill>
                  <a:srgbClr val="0D9488"/>
                </a:solidFill>
                <a:latin typeface="Malgun Gothic"/>
              </a:rPr>
              <a:t>● </a:t>
            </a:r>
            <a:r>
              <a:rPr sz="1250">
                <a:solidFill>
                  <a:srgbClr val="334155"/>
                </a:solidFill>
                <a:latin typeface="Malgun Gothic"/>
              </a:rPr>
              <a:t>The summary numbers on the payroll/evaluation tabs load only as needed when opened.</a:t>
            </a:r>
          </a:p>
        </p:txBody>
      </p:sp>
      <p:sp>
        <p:nvSpPr>
          <p:cNvPr id="14" name="Rounded Rectangle 13"/>
          <p:cNvSpPr/>
          <p:nvPr/>
        </p:nvSpPr>
        <p:spPr>
          <a:xfrm>
            <a:off x="457200" y="5166360"/>
            <a:ext cx="5669280" cy="1627632"/>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495544"/>
            <a:ext cx="5394960" cy="1261872"/>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Managers are marked with a badge, and status shows as active / on-leave / left (3 states).</a:t>
            </a:r>
          </a:p>
          <a:p>
            <a:pPr>
              <a:lnSpc>
                <a:spcPct val="115000"/>
              </a:lnSpc>
              <a:spcAft>
                <a:spcPts val="200"/>
              </a:spcAft>
            </a:pPr>
            <a:r>
              <a:rPr sz="900" b="1">
                <a:solidFill>
                  <a:srgbClr val="0D9488"/>
                </a:solidFill>
                <a:latin typeface="Malgun Gothic"/>
              </a:rPr>
              <a:t>● </a:t>
            </a:r>
            <a:r>
              <a:rPr sz="1100">
                <a:solidFill>
                  <a:srgbClr val="334155"/>
                </a:solidFill>
                <a:latin typeface="Malgun Gothic"/>
              </a:rPr>
              <a:t>A blank name falls back to the ID, so there are no empty cells.</a:t>
            </a:r>
          </a:p>
          <a:p>
            <a:pPr>
              <a:lnSpc>
                <a:spcPct val="115000"/>
              </a:lnSpc>
              <a:spcAft>
                <a:spcPts val="200"/>
              </a:spcAft>
            </a:pPr>
            <a:r>
              <a:rPr sz="900" b="1">
                <a:solidFill>
                  <a:srgbClr val="0D9488"/>
                </a:solidFill>
                <a:latin typeface="Malgun Gothic"/>
              </a:rPr>
              <a:t>● </a:t>
            </a:r>
            <a:r>
              <a:rPr sz="1100">
                <a:solidFill>
                  <a:srgbClr val="334155"/>
                </a:solidFill>
                <a:latin typeface="Malgun Gothic"/>
              </a:rPr>
              <a:t>Detail tabs reuse existing APIs for speed, and the screen is bilingual (KO/EN).</a:t>
            </a:r>
          </a:p>
          <a:p>
            <a:pPr>
              <a:lnSpc>
                <a:spcPct val="115000"/>
              </a:lnSpc>
              <a:spcAft>
                <a:spcPts val="200"/>
              </a:spcAft>
            </a:pPr>
            <a:r>
              <a:rPr sz="900" b="1">
                <a:solidFill>
                  <a:srgbClr val="0D9488"/>
                </a:solidFill>
                <a:latin typeface="Malgun Gothic"/>
              </a:rPr>
              <a:t>● </a:t>
            </a:r>
            <a:r>
              <a:rPr sz="1100">
                <a:solidFill>
                  <a:srgbClr val="334155"/>
                </a:solidFill>
                <a:latin typeface="Malgun Gothic"/>
              </a:rPr>
              <a:t>The duplicate payroll entry was tidied and bug reports moved to a separate system.</a:t>
            </a:r>
          </a:p>
        </p:txBody>
      </p:sp>
      <p:sp>
        <p:nvSpPr>
          <p:cNvPr id="17" name="Rounded Rectangle 16"/>
          <p:cNvSpPr/>
          <p:nvPr/>
        </p:nvSpPr>
        <p:spPr>
          <a:xfrm>
            <a:off x="457200" y="6903720"/>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949440"/>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This is a filtering/detail cleanup. Registering, editing and deleting teachers works exactly as before.</a:t>
            </a:r>
          </a:p>
        </p:txBody>
      </p:sp>
      <p:sp>
        <p:nvSpPr>
          <p:cNvPr id="19" name="Rounded Rectangle 18"/>
          <p:cNvSpPr/>
          <p:nvPr/>
        </p:nvSpPr>
        <p:spPr>
          <a:xfrm>
            <a:off x="457200" y="7635240"/>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680960"/>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The more teachers you have, the more the status/group filters help. Keep your usual conditions filtered.</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teacher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Sending the Parent Monthly Report (pentagon)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Preview the 5-axis report, then share the link</a:t>
            </a:r>
          </a:p>
        </p:txBody>
      </p:sp>
      <p:sp>
        <p:nvSpPr>
          <p:cNvPr id="10" name="Rounded Rectangle 9"/>
          <p:cNvSpPr/>
          <p:nvPr/>
        </p:nvSpPr>
        <p:spPr>
          <a:xfrm>
            <a:off x="365760" y="1828800"/>
            <a:ext cx="11430000" cy="77724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The monthly report sent to parents is renewed as a pentagon 5-axis graph — Pronunciation &amp; Fluency / Vocabulary / Sentence Building / Class Attitude / Participation — at a glance, with attendance, judgment and a teacher's note. Admins and teachers enter a student ID and month to preview, then send the KakaoTalk link.</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0D9488"/>
                </a:solidFill>
                <a:latin typeface="Malgun Gothic"/>
              </a:rPr>
              <a:t>How to use</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0D9488"/>
                </a:solidFill>
                <a:latin typeface="Malgun Gothic"/>
              </a:rPr>
              <a:t>● </a:t>
            </a:r>
            <a:r>
              <a:rPr sz="1250">
                <a:solidFill>
                  <a:srgbClr val="334155"/>
                </a:solidFill>
                <a:latin typeface="Malgun Gothic"/>
              </a:rPr>
              <a:t>Open the Monthly Report screen.</a:t>
            </a:r>
          </a:p>
          <a:p>
            <a:pPr>
              <a:lnSpc>
                <a:spcPct val="115000"/>
              </a:lnSpc>
              <a:spcAft>
                <a:spcPts val="600"/>
              </a:spcAft>
            </a:pPr>
            <a:r>
              <a:rPr sz="1050" b="1">
                <a:solidFill>
                  <a:srgbClr val="0D9488"/>
                </a:solidFill>
                <a:latin typeface="Malgun Gothic"/>
              </a:rPr>
              <a:t>● </a:t>
            </a:r>
            <a:r>
              <a:rPr sz="1250">
                <a:solidFill>
                  <a:srgbClr val="334155"/>
                </a:solidFill>
                <a:latin typeface="Malgun Gothic"/>
              </a:rPr>
              <a:t>Enter a student ID and month, press View Report to preview.</a:t>
            </a:r>
          </a:p>
          <a:p>
            <a:pPr>
              <a:lnSpc>
                <a:spcPct val="115000"/>
              </a:lnSpc>
              <a:spcAft>
                <a:spcPts val="600"/>
              </a:spcAft>
            </a:pPr>
            <a:r>
              <a:rPr sz="1050" b="1">
                <a:solidFill>
                  <a:srgbClr val="0D9488"/>
                </a:solidFill>
                <a:latin typeface="Malgun Gothic"/>
              </a:rPr>
              <a:t>● </a:t>
            </a:r>
            <a:r>
              <a:rPr sz="1250">
                <a:solidFill>
                  <a:srgbClr val="334155"/>
                </a:solidFill>
                <a:latin typeface="Malgun Gothic"/>
              </a:rPr>
              <a:t>Check the pentagon and teacher's note; top up evaluations if needed.</a:t>
            </a:r>
          </a:p>
          <a:p>
            <a:pPr>
              <a:lnSpc>
                <a:spcPct val="115000"/>
              </a:lnSpc>
              <a:spcAft>
                <a:spcPts val="600"/>
              </a:spcAft>
            </a:pPr>
            <a:r>
              <a:rPr sz="1050" b="1">
                <a:solidFill>
                  <a:srgbClr val="0D9488"/>
                </a:solidFill>
                <a:latin typeface="Malgun Gothic"/>
              </a:rPr>
              <a:t>● </a:t>
            </a:r>
            <a:r>
              <a:rPr sz="1250">
                <a:solidFill>
                  <a:srgbClr val="334155"/>
                </a:solidFill>
                <a:latin typeface="Malgun Gothic"/>
              </a:rPr>
              <a:t>Append ?uid=ID&amp;period=YYYY-MM to the URL and send the KakaoTalk link.</a:t>
            </a:r>
          </a:p>
        </p:txBody>
      </p:sp>
      <p:sp>
        <p:nvSpPr>
          <p:cNvPr id="14" name="Rounded Rectangle 13"/>
          <p:cNvSpPr/>
          <p:nvPr/>
        </p:nvSpPr>
        <p:spPr>
          <a:xfrm>
            <a:off x="457200" y="4782312"/>
            <a:ext cx="5669280" cy="1316736"/>
          </a:xfrm>
          <a:prstGeom prst="roundRect">
            <a:avLst/>
          </a:prstGeom>
          <a:solidFill>
            <a:srgbClr val="F4F7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0D9488"/>
                </a:solidFill>
                <a:latin typeface="Malgun Gothic"/>
              </a:rPr>
              <a:t>✅ Key Points</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0D9488"/>
                </a:solidFill>
                <a:latin typeface="Malgun Gothic"/>
              </a:rPr>
              <a:t>● </a:t>
            </a:r>
            <a:r>
              <a:rPr sz="1100">
                <a:solidFill>
                  <a:srgbClr val="334155"/>
                </a:solidFill>
                <a:latin typeface="Malgun Gothic"/>
              </a:rPr>
              <a:t>Only axes with real records are filled, so it's trustworthy.</a:t>
            </a:r>
          </a:p>
          <a:p>
            <a:pPr>
              <a:lnSpc>
                <a:spcPct val="115000"/>
              </a:lnSpc>
              <a:spcAft>
                <a:spcPts val="200"/>
              </a:spcAft>
            </a:pPr>
            <a:r>
              <a:rPr sz="900" b="1">
                <a:solidFill>
                  <a:srgbClr val="0D9488"/>
                </a:solidFill>
                <a:latin typeface="Malgun Gothic"/>
              </a:rPr>
              <a:t>● </a:t>
            </a:r>
            <a:r>
              <a:rPr sz="1100">
                <a:solidFill>
                  <a:srgbClr val="334155"/>
                </a:solidFill>
                <a:latin typeface="Malgun Gothic"/>
              </a:rPr>
              <a:t>Compiled on a two-month cycle — conveys change without tiring parents.</a:t>
            </a:r>
          </a:p>
          <a:p>
            <a:pPr>
              <a:lnSpc>
                <a:spcPct val="115000"/>
              </a:lnSpc>
              <a:spcAft>
                <a:spcPts val="200"/>
              </a:spcAft>
            </a:pPr>
            <a:r>
              <a:rPr sz="900" b="1">
                <a:solidFill>
                  <a:srgbClr val="0D9488"/>
                </a:solidFill>
                <a:latin typeface="Malgun Gothic"/>
              </a:rPr>
              <a:t>● </a:t>
            </a:r>
            <a:r>
              <a:rPr sz="1100">
                <a:solidFill>
                  <a:srgbClr val="334155"/>
                </a:solidFill>
                <a:latin typeface="Malgun Gothic"/>
              </a:rPr>
              <a:t>The Print/PDF button makes a paper report for consultations instantly.</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Good to know · Report access passes an approval gate — admins via their login session, parents only via the issued link (token).</a:t>
            </a:r>
          </a:p>
        </p:txBody>
      </p:sp>
      <p:sp>
        <p:nvSpPr>
          <p:cNvPr id="19" name="Rounded Rectangle 18"/>
          <p:cNvSpPr/>
          <p:nvPr/>
        </p:nvSpPr>
        <p:spPr>
          <a:xfrm>
            <a:off x="457200" y="6940295"/>
            <a:ext cx="5669280" cy="658368"/>
          </a:xfrm>
          <a:prstGeom prst="roundRect">
            <a:avLst/>
          </a:prstGeom>
          <a:solidFill>
            <a:srgbClr val="FFF7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Tip · Sending the report link ahead of a booked consultation makes the meeting much smoother.</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Feature Summary · Data</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24</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Branch Features at a Glance</a:t>
            </a:r>
          </a:p>
        </p:txBody>
      </p:sp>
      <p:graphicFrame>
        <p:nvGraphicFramePr>
          <p:cNvPr id="9" name="Table 8"/>
          <p:cNvGraphicFramePr>
            <a:graphicFrameLocks noGrp="1"/>
          </p:cNvGraphicFramePr>
          <p:nvPr/>
        </p:nvGraphicFramePr>
        <p:xfrm>
          <a:off x="365760" y="1463040"/>
          <a:ext cx="11460175" cy="4114800"/>
        </p:xfrm>
        <a:graphic>
          <a:graphicData uri="http://schemas.openxmlformats.org/drawingml/2006/table">
            <a:tbl>
              <a:tblPr firstRow="1" bandRow="1">
                <a:tableStyleId>{5C22544A-7EE6-4342-B048-85BDC9FD1C3A}</a:tableStyleId>
              </a:tblPr>
              <a:tblGrid>
                <a:gridCol w="2865043"/>
                <a:gridCol w="2865043"/>
                <a:gridCol w="2865043"/>
                <a:gridCol w="2865046"/>
              </a:tblGrid>
              <a:tr h="514350">
                <a:tc>
                  <a:txBody>
                    <a:bodyPr/>
                    <a:lstStyle/>
                    <a:p>
                      <a:pPr algn="ctr"/>
                      <a:r>
                        <a:rPr sz="1300" b="1">
                          <a:solidFill>
                            <a:srgbClr val="FFFFFF"/>
                          </a:solidFill>
                          <a:latin typeface="Malgun Gothic"/>
                        </a:rPr>
                        <a:t>Feature</a:t>
                      </a:r>
                    </a:p>
                  </a:txBody>
                  <a:tcPr>
                    <a:solidFill>
                      <a:srgbClr val="0D9488"/>
                    </a:solidFill>
                  </a:tcPr>
                </a:tc>
                <a:tc>
                  <a:txBody>
                    <a:bodyPr/>
                    <a:lstStyle/>
                    <a:p>
                      <a:pPr algn="ctr"/>
                      <a:r>
                        <a:rPr sz="1300" b="1">
                          <a:solidFill>
                            <a:srgbClr val="FFFFFF"/>
                          </a:solidFill>
                          <a:latin typeface="Malgun Gothic"/>
                        </a:rPr>
                        <a:t>What it does</a:t>
                      </a:r>
                    </a:p>
                  </a:txBody>
                  <a:tcPr>
                    <a:solidFill>
                      <a:srgbClr val="0D9488"/>
                    </a:solidFill>
                  </a:tcPr>
                </a:tc>
                <a:tc>
                  <a:txBody>
                    <a:bodyPr/>
                    <a:lstStyle/>
                    <a:p>
                      <a:pPr algn="ctr"/>
                      <a:r>
                        <a:rPr sz="1300" b="1">
                          <a:solidFill>
                            <a:srgbClr val="FFFFFF"/>
                          </a:solidFill>
                          <a:latin typeface="Malgun Gothic"/>
                        </a:rPr>
                        <a:t>Scope</a:t>
                      </a:r>
                    </a:p>
                  </a:txBody>
                  <a:tcPr>
                    <a:solidFill>
                      <a:srgbClr val="0D9488"/>
                    </a:solidFill>
                  </a:tcPr>
                </a:tc>
                <a:tc>
                  <a:txBody>
                    <a:bodyPr/>
                    <a:lstStyle/>
                    <a:p>
                      <a:pPr algn="ctr"/>
                      <a:r>
                        <a:rPr sz="1300" b="1">
                          <a:solidFill>
                            <a:srgbClr val="FFFFFF"/>
                          </a:solidFill>
                          <a:latin typeface="Malgun Gothic"/>
                        </a:rPr>
                        <a:t>Core benefit</a:t>
                      </a:r>
                    </a:p>
                  </a:txBody>
                  <a:tcPr>
                    <a:solidFill>
                      <a:srgbClr val="0D9488"/>
                    </a:solidFill>
                  </a:tcPr>
                </a:tc>
              </a:tr>
              <a:tr h="514350">
                <a:tc>
                  <a:txBody>
                    <a:bodyPr/>
                    <a:lstStyle/>
                    <a:p>
                      <a:pPr algn="l"/>
                      <a:r>
                        <a:rPr sz="1200" b="1">
                          <a:solidFill>
                            <a:srgbClr val="334155"/>
                          </a:solidFill>
                          <a:latin typeface="Malgun Gothic"/>
                        </a:rPr>
                        <a:t>Branch dashboard</a:t>
                      </a:r>
                    </a:p>
                  </a:txBody>
                  <a:tcPr>
                    <a:solidFill>
                      <a:srgbClr val="FFFFFF"/>
                    </a:solidFill>
                  </a:tcPr>
                </a:tc>
                <a:tc>
                  <a:txBody>
                    <a:bodyPr/>
                    <a:lstStyle/>
                    <a:p>
                      <a:pPr algn="ctr"/>
                      <a:r>
                        <a:rPr sz="1200">
                          <a:solidFill>
                            <a:srgbClr val="334155"/>
                          </a:solidFill>
                          <a:latin typeface="Malgun Gothic"/>
                        </a:rPr>
                        <a:t>Revenue·enrollment·attendance</a:t>
                      </a:r>
                    </a:p>
                  </a:txBody>
                  <a:tcPr>
                    <a:solidFill>
                      <a:srgbClr val="FFFFFF"/>
                    </a:solidFill>
                  </a:tcPr>
                </a:tc>
                <a:tc>
                  <a:txBody>
                    <a:bodyPr/>
                    <a:lstStyle/>
                    <a:p>
                      <a:pPr algn="ctr"/>
                      <a:r>
                        <a:rPr sz="1200">
                          <a:solidFill>
                            <a:srgbClr val="334155"/>
                          </a:solidFill>
                          <a:latin typeface="Malgun Gothic"/>
                        </a:rPr>
                        <a:t>My branch</a:t>
                      </a:r>
                    </a:p>
                  </a:txBody>
                  <a:tcPr>
                    <a:solidFill>
                      <a:srgbClr val="FFFFFF"/>
                    </a:solidFill>
                  </a:tcPr>
                </a:tc>
                <a:tc>
                  <a:txBody>
                    <a:bodyPr/>
                    <a:lstStyle/>
                    <a:p>
                      <a:pPr algn="ctr"/>
                      <a:r>
                        <a:rPr sz="1200">
                          <a:solidFill>
                            <a:srgbClr val="334155"/>
                          </a:solidFill>
                          <a:latin typeface="Malgun Gothic"/>
                        </a:rPr>
                        <a:t>Quick read</a:t>
                      </a:r>
                    </a:p>
                  </a:txBody>
                  <a:tcPr>
                    <a:solidFill>
                      <a:srgbClr val="FFFFFF"/>
                    </a:solidFill>
                  </a:tcPr>
                </a:tc>
              </a:tr>
              <a:tr h="514350">
                <a:tc>
                  <a:txBody>
                    <a:bodyPr/>
                    <a:lstStyle/>
                    <a:p>
                      <a:pPr algn="l"/>
                      <a:r>
                        <a:rPr sz="1200" b="1">
                          <a:solidFill>
                            <a:srgbClr val="334155"/>
                          </a:solidFill>
                          <a:latin typeface="Malgun Gothic"/>
                        </a:rPr>
                        <a:t>Agency mgmt</a:t>
                      </a:r>
                    </a:p>
                  </a:txBody>
                  <a:tcPr>
                    <a:solidFill>
                      <a:srgbClr val="F8FAFC"/>
                    </a:solidFill>
                  </a:tcPr>
                </a:tc>
                <a:tc>
                  <a:txBody>
                    <a:bodyPr/>
                    <a:lstStyle/>
                    <a:p>
                      <a:pPr algn="ctr"/>
                      <a:r>
                        <a:rPr sz="1200">
                          <a:solidFill>
                            <a:srgbClr val="334155"/>
                          </a:solidFill>
                          <a:latin typeface="Malgun Gothic"/>
                        </a:rPr>
                        <a:t>List·performance·recruiting</a:t>
                      </a:r>
                    </a:p>
                  </a:txBody>
                  <a:tcPr>
                    <a:solidFill>
                      <a:srgbClr val="F8FAFC"/>
                    </a:solidFill>
                  </a:tcPr>
                </a:tc>
                <a:tc>
                  <a:txBody>
                    <a:bodyPr/>
                    <a:lstStyle/>
                    <a:p>
                      <a:pPr algn="ctr"/>
                      <a:r>
                        <a:rPr sz="1200">
                          <a:solidFill>
                            <a:srgbClr val="334155"/>
                          </a:solidFill>
                          <a:latin typeface="Malgun Gothic"/>
                        </a:rPr>
                        <a:t>Sub-agencies</a:t>
                      </a:r>
                    </a:p>
                  </a:txBody>
                  <a:tcPr>
                    <a:solidFill>
                      <a:srgbClr val="F8FAFC"/>
                    </a:solidFill>
                  </a:tcPr>
                </a:tc>
                <a:tc>
                  <a:txBody>
                    <a:bodyPr/>
                    <a:lstStyle/>
                    <a:p>
                      <a:pPr algn="ctr"/>
                      <a:r>
                        <a:rPr sz="1200">
                          <a:solidFill>
                            <a:srgbClr val="334155"/>
                          </a:solidFill>
                          <a:latin typeface="Malgun Gothic"/>
                        </a:rPr>
                        <a:t>Level up</a:t>
                      </a:r>
                    </a:p>
                  </a:txBody>
                  <a:tcPr>
                    <a:solidFill>
                      <a:srgbClr val="F8FAFC"/>
                    </a:solidFill>
                  </a:tcPr>
                </a:tc>
              </a:tr>
              <a:tr h="514350">
                <a:tc>
                  <a:txBody>
                    <a:bodyPr/>
                    <a:lstStyle/>
                    <a:p>
                      <a:pPr algn="l"/>
                      <a:r>
                        <a:rPr sz="1200" b="1">
                          <a:solidFill>
                            <a:srgbClr val="334155"/>
                          </a:solidFill>
                          <a:latin typeface="Malgun Gothic"/>
                        </a:rPr>
                        <a:t>Branch settlement</a:t>
                      </a:r>
                    </a:p>
                  </a:txBody>
                  <a:tcPr>
                    <a:solidFill>
                      <a:srgbClr val="FFFFFF"/>
                    </a:solidFill>
                  </a:tcPr>
                </a:tc>
                <a:tc>
                  <a:txBody>
                    <a:bodyPr/>
                    <a:lstStyle/>
                    <a:p>
                      <a:pPr algn="ctr"/>
                      <a:r>
                        <a:rPr sz="1200">
                          <a:solidFill>
                            <a:srgbClr val="334155"/>
                          </a:solidFill>
                          <a:latin typeface="Malgun Gothic"/>
                        </a:rPr>
                        <a:t>Receive·distribute auto-calc</a:t>
                      </a:r>
                    </a:p>
                  </a:txBody>
                  <a:tcPr>
                    <a:solidFill>
                      <a:srgbClr val="FFFFFF"/>
                    </a:solidFill>
                  </a:tcPr>
                </a:tc>
                <a:tc>
                  <a:txBody>
                    <a:bodyPr/>
                    <a:lstStyle/>
                    <a:p>
                      <a:pPr algn="ctr"/>
                      <a:r>
                        <a:rPr sz="1200">
                          <a:solidFill>
                            <a:srgbClr val="334155"/>
                          </a:solidFill>
                          <a:latin typeface="Malgun Gothic"/>
                        </a:rPr>
                        <a:t>HQ↔branch↔agency</a:t>
                      </a:r>
                    </a:p>
                  </a:txBody>
                  <a:tcPr>
                    <a:solidFill>
                      <a:srgbClr val="FFFFFF"/>
                    </a:solidFill>
                  </a:tcPr>
                </a:tc>
                <a:tc>
                  <a:txBody>
                    <a:bodyPr/>
                    <a:lstStyle/>
                    <a:p>
                      <a:pPr algn="ctr"/>
                      <a:r>
                        <a:rPr sz="1200">
                          <a:solidFill>
                            <a:srgbClr val="334155"/>
                          </a:solidFill>
                          <a:latin typeface="Malgun Gothic"/>
                        </a:rPr>
                        <a:t>Accurate settlement</a:t>
                      </a:r>
                    </a:p>
                  </a:txBody>
                  <a:tcPr>
                    <a:solidFill>
                      <a:srgbClr val="FFFFFF"/>
                    </a:solidFill>
                  </a:tcPr>
                </a:tc>
              </a:tr>
              <a:tr h="514350">
                <a:tc>
                  <a:txBody>
                    <a:bodyPr/>
                    <a:lstStyle/>
                    <a:p>
                      <a:pPr algn="l"/>
                      <a:r>
                        <a:rPr sz="1200" b="1">
                          <a:solidFill>
                            <a:srgbClr val="334155"/>
                          </a:solidFill>
                          <a:latin typeface="Malgun Gothic"/>
                        </a:rPr>
                        <a:t>Students·parents</a:t>
                      </a:r>
                    </a:p>
                  </a:txBody>
                  <a:tcPr>
                    <a:solidFill>
                      <a:srgbClr val="F8FAFC"/>
                    </a:solidFill>
                  </a:tcPr>
                </a:tc>
                <a:tc>
                  <a:txBody>
                    <a:bodyPr/>
                    <a:lstStyle/>
                    <a:p>
                      <a:pPr algn="ctr"/>
                      <a:r>
                        <a:rPr sz="1200">
                          <a:solidFill>
                            <a:srgbClr val="334155"/>
                          </a:solidFill>
                          <a:latin typeface="Malgun Gothic"/>
                        </a:rPr>
                        <a:t>Enrollment·attendance·grades</a:t>
                      </a:r>
                    </a:p>
                  </a:txBody>
                  <a:tcPr>
                    <a:solidFill>
                      <a:srgbClr val="F8FAFC"/>
                    </a:solidFill>
                  </a:tcPr>
                </a:tc>
                <a:tc>
                  <a:txBody>
                    <a:bodyPr/>
                    <a:lstStyle/>
                    <a:p>
                      <a:pPr algn="ctr"/>
                      <a:r>
                        <a:rPr sz="1200">
                          <a:solidFill>
                            <a:srgbClr val="334155"/>
                          </a:solidFill>
                          <a:latin typeface="Malgun Gothic"/>
                        </a:rPr>
                        <a:t>Branch scope</a:t>
                      </a:r>
                    </a:p>
                  </a:txBody>
                  <a:tcPr>
                    <a:solidFill>
                      <a:srgbClr val="F8FAFC"/>
                    </a:solidFill>
                  </a:tcPr>
                </a:tc>
                <a:tc>
                  <a:txBody>
                    <a:bodyPr/>
                    <a:lstStyle/>
                    <a:p>
                      <a:pPr algn="ctr"/>
                      <a:r>
                        <a:rPr sz="1200">
                          <a:solidFill>
                            <a:srgbClr val="334155"/>
                          </a:solidFill>
                          <a:latin typeface="Malgun Gothic"/>
                        </a:rPr>
                        <a:t>Churn prevention</a:t>
                      </a:r>
                    </a:p>
                  </a:txBody>
                  <a:tcPr>
                    <a:solidFill>
                      <a:srgbClr val="F8FAFC"/>
                    </a:solidFill>
                  </a:tcPr>
                </a:tc>
              </a:tr>
              <a:tr h="514350">
                <a:tc>
                  <a:txBody>
                    <a:bodyPr/>
                    <a:lstStyle/>
                    <a:p>
                      <a:pPr algn="l"/>
                      <a:r>
                        <a:rPr sz="1200" b="1">
                          <a:solidFill>
                            <a:srgbClr val="334155"/>
                          </a:solidFill>
                          <a:latin typeface="Malgun Gothic"/>
                        </a:rPr>
                        <a:t>Accounting</a:t>
                      </a:r>
                    </a:p>
                  </a:txBody>
                  <a:tcPr>
                    <a:solidFill>
                      <a:srgbClr val="FFFFFF"/>
                    </a:solidFill>
                  </a:tcPr>
                </a:tc>
                <a:tc>
                  <a:txBody>
                    <a:bodyPr/>
                    <a:lstStyle/>
                    <a:p>
                      <a:pPr algn="ctr"/>
                      <a:r>
                        <a:rPr sz="1200">
                          <a:solidFill>
                            <a:srgbClr val="334155"/>
                          </a:solidFill>
                          <a:latin typeface="Malgun Gothic"/>
                        </a:rPr>
                        <a:t>Payments·overdue·refunds</a:t>
                      </a:r>
                    </a:p>
                  </a:txBody>
                  <a:tcPr>
                    <a:solidFill>
                      <a:srgbClr val="FFFFFF"/>
                    </a:solidFill>
                  </a:tcPr>
                </a:tc>
                <a:tc>
                  <a:txBody>
                    <a:bodyPr/>
                    <a:lstStyle/>
                    <a:p>
                      <a:pPr algn="ctr"/>
                      <a:r>
                        <a:rPr sz="1200">
                          <a:solidFill>
                            <a:srgbClr val="334155"/>
                          </a:solidFill>
                          <a:latin typeface="Malgun Gothic"/>
                        </a:rPr>
                        <a:t>Branch scope</a:t>
                      </a:r>
                    </a:p>
                  </a:txBody>
                  <a:tcPr>
                    <a:solidFill>
                      <a:srgbClr val="FFFFFF"/>
                    </a:solidFill>
                  </a:tcPr>
                </a:tc>
                <a:tc>
                  <a:txBody>
                    <a:bodyPr/>
                    <a:lstStyle/>
                    <a:p>
                      <a:pPr algn="ctr"/>
                      <a:r>
                        <a:rPr sz="1200">
                          <a:solidFill>
                            <a:srgbClr val="334155"/>
                          </a:solidFill>
                          <a:latin typeface="Malgun Gothic"/>
                        </a:rPr>
                        <a:t>Healthy collection</a:t>
                      </a:r>
                    </a:p>
                  </a:txBody>
                  <a:tcPr>
                    <a:solidFill>
                      <a:srgbClr val="FFFFFF"/>
                    </a:solidFill>
                  </a:tcPr>
                </a:tc>
              </a:tr>
              <a:tr h="514350">
                <a:tc>
                  <a:txBody>
                    <a:bodyPr/>
                    <a:lstStyle/>
                    <a:p>
                      <a:pPr algn="l"/>
                      <a:r>
                        <a:rPr sz="1200" b="1">
                          <a:solidFill>
                            <a:srgbClr val="334155"/>
                          </a:solidFill>
                          <a:latin typeface="Malgun Gothic"/>
                        </a:rPr>
                        <a:t>Retention</a:t>
                      </a:r>
                    </a:p>
                  </a:txBody>
                  <a:tcPr>
                    <a:solidFill>
                      <a:srgbClr val="F8FAFC"/>
                    </a:solidFill>
                  </a:tcPr>
                </a:tc>
                <a:tc>
                  <a:txBody>
                    <a:bodyPr/>
                    <a:lstStyle/>
                    <a:p>
                      <a:pPr algn="ctr"/>
                      <a:r>
                        <a:rPr sz="1200">
                          <a:solidFill>
                            <a:srgbClr val="334155"/>
                          </a:solidFill>
                          <a:latin typeface="Malgun Gothic"/>
                        </a:rPr>
                        <a:t>Churn risk·contagion</a:t>
                      </a:r>
                    </a:p>
                  </a:txBody>
                  <a:tcPr>
                    <a:solidFill>
                      <a:srgbClr val="F8FAFC"/>
                    </a:solidFill>
                  </a:tcPr>
                </a:tc>
                <a:tc>
                  <a:txBody>
                    <a:bodyPr/>
                    <a:lstStyle/>
                    <a:p>
                      <a:pPr algn="ctr"/>
                      <a:r>
                        <a:rPr sz="1200">
                          <a:solidFill>
                            <a:srgbClr val="334155"/>
                          </a:solidFill>
                          <a:latin typeface="Malgun Gothic"/>
                        </a:rPr>
                        <a:t>Branch·agency</a:t>
                      </a:r>
                    </a:p>
                  </a:txBody>
                  <a:tcPr>
                    <a:solidFill>
                      <a:srgbClr val="F8FAFC"/>
                    </a:solidFill>
                  </a:tcPr>
                </a:tc>
                <a:tc>
                  <a:txBody>
                    <a:bodyPr/>
                    <a:lstStyle/>
                    <a:p>
                      <a:pPr algn="ctr"/>
                      <a:r>
                        <a:rPr sz="1200">
                          <a:solidFill>
                            <a:srgbClr val="334155"/>
                          </a:solidFill>
                          <a:latin typeface="Malgun Gothic"/>
                        </a:rPr>
                        <a:t>Retention ↑</a:t>
                      </a:r>
                    </a:p>
                  </a:txBody>
                  <a:tcPr>
                    <a:solidFill>
                      <a:srgbClr val="F8FAFC"/>
                    </a:solidFill>
                  </a:tcPr>
                </a:tc>
              </a:tr>
              <a:tr h="514350">
                <a:tc>
                  <a:txBody>
                    <a:bodyPr/>
                    <a:lstStyle/>
                    <a:p>
                      <a:pPr algn="l"/>
                      <a:r>
                        <a:rPr sz="1200" b="1">
                          <a:solidFill>
                            <a:srgbClr val="334155"/>
                          </a:solidFill>
                          <a:latin typeface="Malgun Gothic"/>
                        </a:rPr>
                        <a:t>Monthly report</a:t>
                      </a:r>
                    </a:p>
                  </a:txBody>
                  <a:tcPr>
                    <a:solidFill>
                      <a:srgbClr val="FFFFFF"/>
                    </a:solidFill>
                  </a:tcPr>
                </a:tc>
                <a:tc>
                  <a:txBody>
                    <a:bodyPr/>
                    <a:lstStyle/>
                    <a:p>
                      <a:pPr algn="ctr"/>
                      <a:r>
                        <a:rPr sz="1200">
                          <a:solidFill>
                            <a:srgbClr val="334155"/>
                          </a:solidFill>
                          <a:latin typeface="Malgun Gothic"/>
                        </a:rPr>
                        <a:t>Performance analysis</a:t>
                      </a:r>
                    </a:p>
                  </a:txBody>
                  <a:tcPr>
                    <a:solidFill>
                      <a:srgbClr val="FFFFFF"/>
                    </a:solidFill>
                  </a:tcPr>
                </a:tc>
                <a:tc>
                  <a:txBody>
                    <a:bodyPr/>
                    <a:lstStyle/>
                    <a:p>
                      <a:pPr algn="ctr"/>
                      <a:r>
                        <a:rPr sz="1200">
                          <a:solidFill>
                            <a:srgbClr val="334155"/>
                          </a:solidFill>
                          <a:latin typeface="Malgun Gothic"/>
                        </a:rPr>
                        <a:t>Branch·agency</a:t>
                      </a:r>
                    </a:p>
                  </a:txBody>
                  <a:tcPr>
                    <a:solidFill>
                      <a:srgbClr val="FFFFFF"/>
                    </a:solidFill>
                  </a:tcPr>
                </a:tc>
                <a:tc>
                  <a:txBody>
                    <a:bodyPr/>
                    <a:lstStyle/>
                    <a:p>
                      <a:pPr algn="ctr"/>
                      <a:r>
                        <a:rPr sz="1200">
                          <a:solidFill>
                            <a:srgbClr val="334155"/>
                          </a:solidFill>
                          <a:latin typeface="Malgun Gothic"/>
                        </a:rPr>
                        <a:t>Transparent ops</a:t>
                      </a:r>
                    </a:p>
                  </a:txBody>
                  <a:tcP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Data at a Glance</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25</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Data at a Glance</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Enrollment by Agency (example)</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Settlement Split (example)</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Frequently Asked Questions (FAQ)</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26</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Frequently Asked Questions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Where do I log in?</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Log in at admin.mangoi.co.kr. By role (branch), only your branch's data shows automatically.</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Can I see other branches' data?</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No. By permission scope, only your branch and sub-agency data is visible.</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How is settlement calculated?</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Revenue/commissions are auto-calculated down the org tree (HQ→branch→agency). Check the monthly report.</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An agency is underperforming.</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Find causes via retention/accounting/reports and support with onboarding/coaching/incentives; sharing best cases helps.</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0D9488"/>
                </a:solidFill>
                <a:latin typeface="Malgun Gothic"/>
              </a:rPr>
              <a:t>Q. A system problem occurred.</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Contact HQ support (phone·email·Kakao·remote) for a quick fix.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CFDF5"/>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Checklist</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27</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0D9488"/>
                </a:solidFill>
                <a:latin typeface="Malgun Gothic"/>
              </a:rPr>
              <a:t>✅ Branch Operations Checklist</a:t>
            </a:r>
          </a:p>
        </p:txBody>
      </p:sp>
      <p:sp>
        <p:nvSpPr>
          <p:cNvPr id="9" name="Rounded Rectangle 8"/>
          <p:cNvSpPr/>
          <p:nvPr/>
        </p:nvSpPr>
        <p:spPr>
          <a:xfrm>
            <a:off x="457200" y="1645920"/>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today's branch revenue/enrollment/attendance?</a:t>
            </a:r>
          </a:p>
        </p:txBody>
      </p:sp>
      <p:sp>
        <p:nvSpPr>
          <p:cNvPr id="11" name="Rounded Rectangle 10"/>
          <p:cNvSpPr/>
          <p:nvPr/>
        </p:nvSpPr>
        <p:spPr>
          <a:xfrm>
            <a:off x="457200" y="2212848"/>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spot and support underperforming agencies?</a:t>
            </a:r>
          </a:p>
        </p:txBody>
      </p:sp>
      <p:sp>
        <p:nvSpPr>
          <p:cNvPr id="13" name="Rounded Rectangle 12"/>
          <p:cNvSpPr/>
          <p:nvPr/>
        </p:nvSpPr>
        <p:spPr>
          <a:xfrm>
            <a:off x="457200" y="2779776"/>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review this month's settlement (receive·distribute)?</a:t>
            </a:r>
          </a:p>
        </p:txBody>
      </p:sp>
      <p:sp>
        <p:nvSpPr>
          <p:cNvPr id="15" name="Rounded Rectangle 14"/>
          <p:cNvSpPr/>
          <p:nvPr/>
        </p:nvSpPr>
        <p:spPr>
          <a:xfrm>
            <a:off x="457200" y="3346704"/>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overdue/refund items?</a:t>
            </a:r>
          </a:p>
        </p:txBody>
      </p:sp>
      <p:sp>
        <p:nvSpPr>
          <p:cNvPr id="17" name="Rounded Rectangle 16"/>
          <p:cNvSpPr/>
          <p:nvPr/>
        </p:nvSpPr>
        <p:spPr>
          <a:xfrm>
            <a:off x="457200" y="3913632"/>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care for at-risk students/agencies?</a:t>
            </a:r>
          </a:p>
        </p:txBody>
      </p:sp>
      <p:sp>
        <p:nvSpPr>
          <p:cNvPr id="19" name="Rounded Rectangle 18"/>
          <p:cNvSpPr/>
          <p:nvPr/>
        </p:nvSpPr>
        <p:spPr>
          <a:xfrm>
            <a:off x="457200" y="4480560"/>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onboard new agencies?</a:t>
            </a:r>
          </a:p>
        </p:txBody>
      </p:sp>
      <p:sp>
        <p:nvSpPr>
          <p:cNvPr id="21" name="Rounded Rectangle 20"/>
          <p:cNvSpPr/>
          <p:nvPr/>
        </p:nvSpPr>
        <p:spPr>
          <a:xfrm>
            <a:off x="457200" y="5047488"/>
            <a:ext cx="292608" cy="292608"/>
          </a:xfrm>
          <a:prstGeom prst="roundRect">
            <a:avLst/>
          </a:prstGeom>
          <a:solidFill>
            <a:srgbClr val="FFFFFF"/>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share the monthly report?</a:t>
            </a:r>
          </a:p>
        </p:txBody>
      </p:sp>
      <p:pic>
        <p:nvPicPr>
          <p:cNvPr id="23" name="Picture 22"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Branch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Conclusion</a:t>
            </a:r>
          </a:p>
        </p:txBody>
      </p:sp>
      <p:sp>
        <p:nvSpPr>
          <p:cNvPr id="6" name="Rounded Rectangle 5"/>
          <p:cNvSpPr/>
          <p:nvPr/>
        </p:nvSpPr>
        <p:spPr>
          <a:xfrm>
            <a:off x="365760" y="841248"/>
            <a:ext cx="658368"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28</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0D9488"/>
                </a:solidFill>
                <a:latin typeface="Malgun Gothic"/>
              </a:rPr>
              <a:t>🏁 Conclusion · A Practical Guide to Branch Growth</a:t>
            </a:r>
          </a:p>
        </p:txBody>
      </p:sp>
      <p:sp>
        <p:nvSpPr>
          <p:cNvPr id="9" name="Rounded Rectangle 8"/>
          <p:cNvSpPr/>
          <p:nvPr/>
        </p:nvSpPr>
        <p:spPr>
          <a:xfrm>
            <a:off x="365760" y="1371600"/>
            <a:ext cx="11430000" cy="868680"/>
          </a:xfrm>
          <a:prstGeom prst="round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A branch is the bridge between HQ and agencies. Watch your branch metrics, support your agencies to grow, and process settlement transparently — and the whole branch grows together. Keep this rhythm and operations get far more stable.</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0D9488"/>
                </a:solidFill>
                <a:latin typeface="Malgun Gothic"/>
              </a:rPr>
              <a:t>🔄 The Flow at a Glance</a:t>
            </a:r>
          </a:p>
        </p:txBody>
      </p:sp>
      <p:sp>
        <p:nvSpPr>
          <p:cNvPr id="12" name="Rounded Rectangle 11"/>
          <p:cNvSpPr/>
          <p:nvPr/>
        </p:nvSpPr>
        <p:spPr>
          <a:xfrm>
            <a:off x="457200" y="27889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Morning (5 min)</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Check revenue/enrollment/attendance on the branch dashboard; read the AI insight</a:t>
            </a:r>
          </a:p>
        </p:txBody>
      </p:sp>
      <p:sp>
        <p:nvSpPr>
          <p:cNvPr id="15" name="Rounded Rectangle 14"/>
          <p:cNvSpPr/>
          <p:nvPr/>
        </p:nvSpPr>
        <p:spPr>
          <a:xfrm>
            <a:off x="457200" y="32461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Late morning</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Review performance/collection by agency; check overdue/refunds</a:t>
            </a:r>
          </a:p>
        </p:txBody>
      </p:sp>
      <p:sp>
        <p:nvSpPr>
          <p:cNvPr id="18" name="Rounded Rectangle 17"/>
          <p:cNvSpPr/>
          <p:nvPr/>
        </p:nvSpPr>
        <p:spPr>
          <a:xfrm>
            <a:off x="457200" y="37033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Afternoon</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Support/coach underperforming agencies; care for at-risk students (retention)</a:t>
            </a:r>
          </a:p>
        </p:txBody>
      </p:sp>
      <p:sp>
        <p:nvSpPr>
          <p:cNvPr id="21" name="Rounded Rectangle 20"/>
          <p:cNvSpPr/>
          <p:nvPr/>
        </p:nvSpPr>
        <p:spPr>
          <a:xfrm>
            <a:off x="457200" y="41605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Weekly</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Onboard new agencies; share best practices</a:t>
            </a:r>
          </a:p>
        </p:txBody>
      </p:sp>
      <p:sp>
        <p:nvSpPr>
          <p:cNvPr id="24" name="Rounded Rectangle 23"/>
          <p:cNvSpPr/>
          <p:nvPr/>
        </p:nvSpPr>
        <p:spPr>
          <a:xfrm>
            <a:off x="457200" y="4617720"/>
            <a:ext cx="16002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Monthly</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Check/distribute HQ→branch→agency settlement; share the monthly report</a:t>
            </a:r>
          </a:p>
        </p:txBody>
      </p:sp>
      <p:sp>
        <p:nvSpPr>
          <p:cNvPr id="27" name="TextBox 26"/>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0D9488"/>
                </a:solidFill>
                <a:latin typeface="Malgun Gothic"/>
              </a:rPr>
              <a:t>⭐ Key Principles</a:t>
            </a:r>
          </a:p>
        </p:txBody>
      </p:sp>
      <p:sp>
        <p:nvSpPr>
          <p:cNvPr id="28" name="TextBox 27"/>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0D9488"/>
                </a:solidFill>
                <a:latin typeface="Malgun Gothic"/>
              </a:rPr>
              <a:t>● </a:t>
            </a:r>
            <a:r>
              <a:rPr sz="1100">
                <a:solidFill>
                  <a:srgbClr val="334155"/>
                </a:solidFill>
                <a:latin typeface="Malgun Gothic"/>
              </a:rPr>
              <a:t>Metrics, 5 minutes each morning — catch branch/agency signals early.</a:t>
            </a:r>
          </a:p>
          <a:p>
            <a:pPr>
              <a:lnSpc>
                <a:spcPct val="115000"/>
              </a:lnSpc>
              <a:spcAft>
                <a:spcPts val="500"/>
              </a:spcAft>
            </a:pPr>
            <a:r>
              <a:rPr sz="900" b="1">
                <a:solidFill>
                  <a:srgbClr val="0D9488"/>
                </a:solidFill>
                <a:latin typeface="Malgun Gothic"/>
              </a:rPr>
              <a:t>● </a:t>
            </a:r>
            <a:r>
              <a:rPr sz="1100">
                <a:solidFill>
                  <a:srgbClr val="334155"/>
                </a:solidFill>
                <a:latin typeface="Malgun Gothic"/>
              </a:rPr>
              <a:t>Agencies as partners — close performance gaps with coaching/support.</a:t>
            </a:r>
          </a:p>
          <a:p>
            <a:pPr>
              <a:lnSpc>
                <a:spcPct val="115000"/>
              </a:lnSpc>
              <a:spcAft>
                <a:spcPts val="500"/>
              </a:spcAft>
            </a:pPr>
            <a:r>
              <a:rPr sz="900" b="1">
                <a:solidFill>
                  <a:srgbClr val="0D9488"/>
                </a:solidFill>
                <a:latin typeface="Malgun Gothic"/>
              </a:rPr>
              <a:t>● </a:t>
            </a:r>
            <a:r>
              <a:rPr sz="1100">
                <a:solidFill>
                  <a:srgbClr val="334155"/>
                </a:solidFill>
                <a:latin typeface="Malgun Gothic"/>
              </a:rPr>
              <a:t>Transparent settlement — announcing terms upfront builds trust.</a:t>
            </a:r>
          </a:p>
          <a:p>
            <a:pPr>
              <a:lnSpc>
                <a:spcPct val="115000"/>
              </a:lnSpc>
              <a:spcAft>
                <a:spcPts val="500"/>
              </a:spcAft>
            </a:pPr>
            <a:r>
              <a:rPr sz="900" b="1">
                <a:solidFill>
                  <a:srgbClr val="0D9488"/>
                </a:solidFill>
                <a:latin typeface="Malgun Gothic"/>
              </a:rPr>
              <a:t>● </a:t>
            </a:r>
            <a:r>
              <a:rPr sz="1100">
                <a:solidFill>
                  <a:srgbClr val="334155"/>
                </a:solidFill>
                <a:latin typeface="Malgun Gothic"/>
              </a:rPr>
              <a:t>Intervene on churn early — care for at-risk agencies/students first.</a:t>
            </a:r>
          </a:p>
          <a:p>
            <a:pPr>
              <a:lnSpc>
                <a:spcPct val="115000"/>
              </a:lnSpc>
              <a:spcAft>
                <a:spcPts val="500"/>
              </a:spcAft>
            </a:pPr>
            <a:r>
              <a:rPr sz="900" b="1">
                <a:solidFill>
                  <a:srgbClr val="0D9488"/>
                </a:solidFill>
                <a:latin typeface="Malgun Gothic"/>
              </a:rPr>
              <a:t>● </a:t>
            </a:r>
            <a:r>
              <a:rPr sz="1100">
                <a:solidFill>
                  <a:srgbClr val="334155"/>
                </a:solidFill>
                <a:latin typeface="Malgun Gothic"/>
              </a:rPr>
              <a:t>Spread best practices — share top agencies' methods branch-wide.</a:t>
            </a:r>
          </a:p>
        </p:txBody>
      </p:sp>
      <p:sp>
        <p:nvSpPr>
          <p:cNvPr id="29" name="TextBox 28"/>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0D9488"/>
                </a:solidFill>
                <a:latin typeface="Malgun Gothic"/>
              </a:rPr>
              <a:t>📌 Remember</a:t>
            </a:r>
          </a:p>
        </p:txBody>
      </p:sp>
      <p:sp>
        <p:nvSpPr>
          <p:cNvPr id="30" name="TextBox 29"/>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F59E0B"/>
                </a:solidFill>
                <a:latin typeface="Malgun Gothic"/>
              </a:rPr>
              <a:t>● </a:t>
            </a:r>
            <a:r>
              <a:rPr sz="1050">
                <a:solidFill>
                  <a:srgbClr val="334155"/>
                </a:solidFill>
                <a:latin typeface="Malgun Gothic"/>
              </a:rPr>
              <a:t>Log in at admin.mangoi.co.kr; data is auto-limited to your branch scope</a:t>
            </a:r>
          </a:p>
          <a:p>
            <a:pPr>
              <a:lnSpc>
                <a:spcPct val="115000"/>
              </a:lnSpc>
              <a:spcAft>
                <a:spcPts val="400"/>
              </a:spcAft>
            </a:pPr>
            <a:r>
              <a:rPr sz="850" b="1">
                <a:solidFill>
                  <a:srgbClr val="F59E0B"/>
                </a:solidFill>
                <a:latin typeface="Malgun Gothic"/>
              </a:rPr>
              <a:t>● </a:t>
            </a:r>
            <a:r>
              <a:rPr sz="1050">
                <a:solidFill>
                  <a:srgbClr val="334155"/>
                </a:solidFill>
                <a:latin typeface="Malgun Gothic"/>
              </a:rPr>
              <a:t>Settlement is auto-calculated by the HQ→branch→agency tree</a:t>
            </a:r>
          </a:p>
          <a:p>
            <a:pPr>
              <a:lnSpc>
                <a:spcPct val="115000"/>
              </a:lnSpc>
              <a:spcAft>
                <a:spcPts val="400"/>
              </a:spcAft>
            </a:pPr>
            <a:r>
              <a:rPr sz="850" b="1">
                <a:solidFill>
                  <a:srgbClr val="F59E0B"/>
                </a:solidFill>
                <a:latin typeface="Malgun Gothic"/>
              </a:rPr>
              <a:t>● </a:t>
            </a:r>
            <a:r>
              <a:rPr sz="1050">
                <a:solidFill>
                  <a:srgbClr val="334155"/>
                </a:solidFill>
                <a:latin typeface="Malgun Gothic"/>
              </a:rPr>
              <a:t>Most field inquiries like 'can't enter' are browser/permission issues</a:t>
            </a:r>
          </a:p>
          <a:p>
            <a:pPr>
              <a:lnSpc>
                <a:spcPct val="115000"/>
              </a:lnSpc>
              <a:spcAft>
                <a:spcPts val="400"/>
              </a:spcAft>
            </a:pPr>
            <a:r>
              <a:rPr sz="850" b="1">
                <a:solidFill>
                  <a:srgbClr val="F59E0B"/>
                </a:solidFill>
                <a:latin typeface="Malgun Gothic"/>
              </a:rPr>
              <a:t>● </a:t>
            </a:r>
            <a:r>
              <a:rPr sz="1050">
                <a:solidFill>
                  <a:srgbClr val="334155"/>
                </a:solidFill>
                <a:latin typeface="Malgun Gothic"/>
              </a:rPr>
              <a:t>Ops rhythm: 'Check → Support → Settle → Report'!</a:t>
            </a:r>
          </a:p>
        </p:txBody>
      </p:sp>
      <p:sp>
        <p:nvSpPr>
          <p:cNvPr id="31" name="Rounded Rectangle 30"/>
          <p:cNvSpPr/>
          <p:nvPr/>
        </p:nvSpPr>
        <p:spPr>
          <a:xfrm>
            <a:off x="457200" y="6172200"/>
            <a:ext cx="11338560" cy="566928"/>
          </a:xfrm>
          <a:prstGeom prst="roundRect">
            <a:avLst/>
          </a:prstGeom>
          <a:solidFill>
            <a:srgbClr val="ECFDF5"/>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A good branch is one that helps its agencies thrive. Read the situation with metrics, support your partners, and keep settlement transparent — and branch and agencies grow together. Questions? Contact HQ support anytime — cheering on your solid branch operations!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EA5E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Let's grow together with Mangoi!</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Questions? Ask the on-site A.i assistant or contact customer support.</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