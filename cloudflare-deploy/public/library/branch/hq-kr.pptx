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1" r:id="rId32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월 매출(백만)</c:v>
                </c:pt>
                <c:pt idx="1">
                  <c:v>재원생(명)</c:v>
                </c:pt>
                <c:pt idx="2">
                  <c:v>산하 대리점(개)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</c:v>
                </c:pt>
                <c:pt idx="1">
                  <c:v>980</c:v>
                </c:pt>
                <c:pt idx="2">
                  <c:v>12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0D9488"/>
              </a:solidFill>
            </c:spPr>
          </c:dPt>
          <c:dPt>
            <c:idx val="1"/>
            <c:spPr>
              <a:solidFill>
                <a:srgbClr val="0EA5E9"/>
              </a:solidFill>
            </c:spPr>
          </c:dPt>
          <c:dPt>
            <c:idx val="2"/>
            <c:spPr>
              <a:solidFill>
                <a:srgbClr val="14B8A6"/>
              </a:solidFill>
            </c:spPr>
          </c:dPt>
          <c:dPt>
            <c:idx val="3"/>
            <c:spPr>
              <a:solidFill>
                <a:srgbClr val="F59E0B"/>
              </a:solidFill>
            </c:spPr>
          </c:dPt>
          <c:dPt>
            <c:idx val="4"/>
            <c:spPr>
              <a:solidFill>
                <a:srgbClr val="64748B"/>
              </a:solidFill>
            </c:spPr>
          </c:dPt>
          <c:cat>
            <c:strRef>
              <c:f>Sheet1!$A$2:$A$6</c:f>
              <c:strCache>
                <c:ptCount val="5"/>
                <c:pt idx="0">
                  <c:v>강남점</c:v>
                </c:pt>
                <c:pt idx="1">
                  <c:v>분당점</c:v>
                </c:pt>
                <c:pt idx="2">
                  <c:v>일산점</c:v>
                </c:pt>
                <c:pt idx="3">
                  <c:v>수원점</c:v>
                </c:pt>
                <c:pt idx="4">
                  <c:v>인천점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210</c:v>
                </c:pt>
                <c:pt idx="1">
                  <c:v>180</c:v>
                </c:pt>
                <c:pt idx="2">
                  <c:v>150</c:v>
                </c:pt>
                <c:pt idx="3">
                  <c:v>120</c:v>
                </c:pt>
                <c:pt idx="4">
                  <c:v>90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64748B"/>
              </a:solidFill>
            </c:spPr>
          </c:dPt>
          <c:dPt>
            <c:idx val="1"/>
            <c:spPr>
              <a:solidFill>
                <a:srgbClr val="0D9488"/>
              </a:solidFill>
            </c:spPr>
          </c:dPt>
          <c:dPt>
            <c:idx val="2"/>
            <c:spPr>
              <a:solidFill>
                <a:srgbClr val="F59E0B"/>
              </a:solidFill>
            </c:spPr>
          </c:dPt>
          <c:cat>
            <c:strRef>
              <c:f>Sheet1!$A$2:$A$4</c:f>
              <c:strCache>
                <c:ptCount val="3"/>
                <c:pt idx="0">
                  <c:v>본사 수수료</c:v>
                </c:pt>
                <c:pt idx="1">
                  <c:v>지사 몫</c:v>
                </c:pt>
                <c:pt idx="2">
                  <c:v>대리점 배분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30</c:v>
                </c:pt>
                <c:pt idx="2">
                  <c:v>50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🏢 BRANCH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망고아이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지사용 사용설명서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산하 대리점·정산·성과 관리를 한 권으로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대상 · 지역 지사 운영·관리자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소개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9488"/>
                </a:solidFill>
                <a:latin typeface="Malgun Gothic"/>
              </a:rPr>
              <a:t>지사 관리 페이지란?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지사 페이지는 본사에서 위임받은 권한으로 우리 지사와 산하 대리점을 관리하는 곳이에요. 로그인하면 ‘내 지사’ 범위의 데이터(매출·재원생·출석·정산)만 자동으로 보이고, 산하 대리점의 성과를 한눈에 확인하며 본사↔지사↔대리점으로 이어지는 정산을 처리해요. 화면 구성은 관리자 페이지와 같고, 보이는 범위만 달라요.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내 지사 범위 자동 적용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로그인만 하면 우리 지사 데이터만 보여요.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산하 대리점 관리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대리점 목록·성과·모집을 한 곳에서.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본사→지사→대리점 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수령·배분이 트리 구조로 자동 계산.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0D9488"/>
                </a:solidFill>
                <a:latin typeface="Malgun Gothic"/>
              </a:rP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성과 리포트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지사·대리점 성과를 월간 리포트로.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D9488"/>
                </a:solidFill>
                <a:latin typeface="Malgun Gothic"/>
              </a:rPr>
              <a:t>우리 지사 지표(예시)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지사 로그인 &amp; 권한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내 지사 데이터만 자동 표시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계정으로 로그인하면 ‘우리 지사’ 범위의 메뉴와 데이터만 보여요. 본사 전체나 다른 지사 데이터는 보이지 않아, 안심하고 우리 지사에 집중할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아이디·비밀번호로 로그인해요. (카카오·네이버·구글도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로그인하면 권한(지사) 에 맞는 메뉴·데이터가 자동으로 적용돼요.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비밀번호를 잊었으면 ‘비밀번호 찾기’로 재설정해요.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직원에게는 권한 범위를 나눠 부여할 수 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내 지사·산하 대리점 데이터만 보여요.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안전한 내 PC에서만 ‘아이디 저장’을 켜세요.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공용 PC에서는 자동 로그인을 끄고 사용 후 꼭 로그아웃하세요.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마이페이지 &amp; 관리자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마이페이지에서 관리 화면 열기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 운영은 ‘마이페이지’에서 시작해요. 로그인 후 마이페이지의 메뉴 중 📊 ‘관리자’ 버튼을 누르면 우리 지사 범위의 관리자(운영) 대시보드로 들어가, 매출·재원·대리점·정산을 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로그인 후 화면에서 ‘👤 마이페이지’를 열어요.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 메뉴에서 📊 ‘관리자’ 버튼을 눌러요. (관리자 대시보드로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대시보드에서 우리 지사 매출·재원·출석·산하 대리점을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마이페이지에는 연기/변경·신규상담·전체메뉴·수업 진단 등도 함께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글자가 영어로 보이면 EN 버튼으로 한국어로 바꿔요.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‘관리자’ 버튼 하나로 바로 운영 대시보드에 들어가요.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대시보드 데이터는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권한(지사)에 따라 보이는 메뉴·데이터가 자동으로 정해져요.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마이페이지·관리자 대시보드 모두 로그인한 지사 계정의 권한 범위 안에서만 열려요.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마이페이지 → 관리자 대시보드 순서로 지사 지표를 5분만 점검하세요.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지사 대시보드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우리 지사 현황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로그인하면 우리 지사의 매출·재원생·출석률과 산하 대리점 현황이 카드로 정리돼 있어요. 상단 검색창에 단어만 넣어도 원하는 기능으로 바로 이동해요.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상단에서 오늘 매출·재원생·출석률(우리 지사 합계)을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카테고리 카드(대리점·강사·회계·학생·콘텐츠)에서 기능을 눌러요.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기능 검색창에 단어를 넣으면 바로 이동해요.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인사이트가 우리 지사 상태를 요약해줘요.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숫자는 모두 ‘우리 지사 범위’로 자동 집계돼요.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찾는 기능이 안 보이면 검색이 가장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매일 아침 지사 지표 5분 점검으로 이상 신호를 빨리 잡으세요.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 활용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말·글로 조회·처리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검색/마이크에 말하거나 글로 시키면 AI가 우리 지사 범위에서 숫자를 조회하거나 화면을 열어줘요. 중요한 처리는 먼저 확인하고, 권한이 있는 일만 실행해요.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가운데 검색/마이크에 말하거나 입력해요. 예) “이번 달 지사 매출 어때?”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AI가 숫자를 조회하거나 화면을 열어줘요. 예) “대리점 목록 열어줘”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중요한 처리는 ‘할까요?’로 먼저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권한이 있는 일만 비서가 실행해요.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바쁜 시간엔 말로 시키는 게 훨씬 빨라요.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조회 결과도 우리 지사 범위로 한정돼요.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‘○○ 보여줘/열어줘’ 한마디면 원하는 화면으로 바로 이동해요.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🏬 산하 대리점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대리점 목록·성과·모집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대리점들을 목록으로 관리하고, 각 대리점의 재원생·매출·성과를 비교해요. 신규 대리점 모집·온보딩도 여기서 챙겨요.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 목록에서 각 대리점의 재원생·매출·활동을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성과가 좋은/부진한 대리점을 비교해 지원 우선순위를 정해요.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 모집·온보딩 진행 상황을 관리해요.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필요하면 대리점별 목표·인센티브를 설정해요.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편차가 큰 대리점은 코칭·지원을 연결하세요.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대리점의 방식을 다른 대리점에 공유하면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대리점 데이터는 해당 대리점 권한에서도 각자 관리돼요. 지사는 전체를 조망해요.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월초에 대리점별 성과 리포트를 공유하면 파트너 동기부여가 커져요.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지사 정산 (수령·배분)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본사→지사→대리점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본사에서 지사로 내려오는 정산을 수령하고, 지사에서 산하 대리점으로 배분되는 금액을 확인해요. 조직 트리 구조를 따라 매출·수수료가 자동 계산돼요.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본사→지사 정산(수령액)을 월별로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지사→대리점 배분이 트리 구조로 자동 계산돼요.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 내역을 월간 리포트로 확인·저장(PDF)해요.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이상 항목이 있으면 내역을 조회해 확인해요.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조직 트리(본사·지사·대리점)를 따라 자동 계산돼요.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월초 정산 리포트 배포로 대리점 신뢰가 올라가요.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정산 기준(수수료율·시기)을 대리점에 미리 공지하면 분쟁이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학생·학부모 현황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재원·출결·성적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지사에 속한 학생 현황(재원·출결·성적)을 확인해요. 대리점별로 나눠 보거나 지사 전체로 합산해 볼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학생/학부모에서 지사 범위 재원생을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대리점별·전체 출결·성적을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관리가 필요한 학생·대리점을 표시해요.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학생 목록은 실제 회원 데이터와 연동돼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이탈위험 학생은 리텐션 센터와 연결돼요.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출석·재원 추이가 꺾이는 대리점을 빨리 찾아 지원하세요.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결제·미납·환불 (지사)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 범위 회계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 범위의 결제·미납·환불을 확인하고, 규정에 따라 자동 계산되는 금액을 점검해요. 대리점별 수납 현황도 함께 봐요.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회계/포인트에서 지사 범위 결제·미납·환불을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대리점별 수납률을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환불 규정표에 따라 금액이 자동 계산돼요.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미납이 많은 대리점은 알림·지원을 강화하세요.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할인 결제 환불은 정가 기준으로 재정산돼요.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수납률이 낮은 대리점에 알림 자동화를 안내하면 개선돼요.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지사 리텐션 관리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이탈위험·전염·코칭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우리 지사·대리점에서 이탈 위험이 있는 학생을 미리 찾고, 가족·추천으로 이어지는 연쇄 이탈을 예방해요. 대리점·강사 코칭과도 연결돼요.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이탈위험 그래프로 위험 학생·대리점을 찾아요.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이탈 전염 관계망으로 연쇄 이탈을 예방해요.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위험이 높은 곳에 알림톡·상담·코칭을 연결해요.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빨리 개입할수록 잔존율이 올라가요.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대리점별 이탈 패턴을 비교해 지원하세요.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매주 위험 상위 대리점·학생만이라도 챙기면 이탈이 눈에 띄게 줄어요.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📊 월간 리포트·성과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지사·대리점 성과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지사와 산하 대리점의 성과를 월간 리포트로 정리해요. 매출·재원·출석·정산을 한눈에 보고, 인쇄·PDF로 저장해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월간 리포트로 지사·대리점 성과를 확인해요.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지표(매출·재원·출석·정산)를 전월/전년과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리포트를 인쇄·PDF로 저장해 공유해요.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인사이트가 성과 요약을 도와줘요.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성과 리포트는 대리점 동기부여 자료로도 좋아요.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월초 리포트 공유를 정례화하면 지사 운영이 투명해져요.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🎓 대리점 지원·교육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온보딩·운영 코칭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산하 대리점이 잘 운영하도록 온보딩과 운영 코칭을 지원해요. 사용설명서·FAQ·상담 채널을 안내하고, 우수 사례를 공유해요.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신규 대리점에 사용설명서·운영 가이드를 안내해요.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자주 묻는 질문은 FAQ로 정리해 배포해요.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우수 대리점 사례를 공유해 상향 평준화해요.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초기 온보딩이 대리점 성패를 크게 좌우해요.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반복 문의는 FAQ로 만들어 지원 부담을 줄이세요.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분기별 대리점 미팅으로 성과·애로사항을 함께 점검하세요.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고객센터·문의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본사 지원 받기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운영 중 문제가 생기면 본사 고객센터·지원 채널로 문의해요. 시스템·정산·정책 관련 문의를 빠르게 해결할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고객센터에서 전화·이메일·카카오·원격지원을 이용해요.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정산·정책 문의는 본사 담당과 연결해요.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 문제는 대응 방법을 메모해 둬요.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시스템 문제는 원격지원으로 빠르게 해결돼요.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운영시간 내 문의가 빨라요.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자주 겪는 문의와 해결법을 정리해 대리점에도 공유하세요.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한국·필리핀 듀얼 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화면에 뜨는 두 나라 시간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화면에 🇰🇷 한국·🇵🇭 필리핀 시간이 함께 뜨는 시계예요. 필리핀 현지 강사와 한국 학생의 수업 시간을 조율할 때 시차를 바로 확인할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화면에 떠 있는 듀얼 시계에서 🇰🇷 한국·🇵🇭 필리핀 시간을 동시에 봐요.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드래그하면 원하는 위치로 옮길 수 있어요.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시계를 탭(클릭)하면 홈으로 이동해요.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필리핀은 한국보다 1시간 느려요(시차 −1시간).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수업 예약·입장 시간을 두 나라 시간으로 확인할 수 있어요.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시차 때문에 수업 시간이 헷갈릴 때 이 시계를 보면 바로 확인돼요.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중국어 발음 코치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다락원 중국어 마스터 Lv1~20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망고아이는 영어뿐 아니라 중국어 과정도 제공해요. 다락원 중국어 마스터(Lv 1~20) 기반 발음 코치(한자+병음·AI 음성인식·원어민 비교)로, 중국어 수요가 있는 학생을 유치·관리할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음성코치에서 CN 중국어 레벨을 골라요. (또는 중국어 발음 코치로 이동)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다락원 마스터 시리즈(1~6, HSK 1~6)와 단원을 선택해요.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화면의 문장(한자 + 병음)을 따라 읽고, ‘원어민 발음 듣기’로 비교해요.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반복·느리게(0.85x) 기능으로 어려운 발음·성조를 연습해요.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한자와 병음(발음 표기)이 함께 나와 읽기 쉬워요.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AI가 음성을 인식해 원어민과 비교해줘요.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학습 게임 허브에서도 중국어를 지원해요.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느리게로 듣고 또박또박 따라 하면 성조(4성)가 잘 잡혀요.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수업 중 칭찬 포인트 (이해·활용)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학생 동기부여·재등록에 연결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수업 중 교사가 학생에게 🌟 칭찬 포인트(+1P)를 즉석 지급하고, 수업 종료 별점(+10P)이 더해져 학생 총포인트로 쌓여요. 포인트는 상점·기프티콘 보상으로 이어져 학생 동기부여와 재등록에 도움이 돼요. 지사는 이 흐름을 이해하고 성과에 활용해요.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교사가 수업 중 학생 화면의 🌟 칭찬 버튼으로 +1P를 지급해요.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학생 🧺 포인트 바구니에 실시간 누적, 총 포인트에 합산돼요.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수업 종료 별점 평가로 학생은 +10P를 더 받아요.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포인트는 상점·룰렛·기프티콘 보상과 연결돼요.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즉각 보상은 학생 참여·재등록에 긍정적이에요.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우리 지사 학생의 포인트·리워드 반응을 성과로 활용하세요.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칭찬 포인트 지급은 교사가, 상점·리워드·기프티콘 정책은 본사(관리자)가 구성해요.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칭찬 포인트가 잘 도는 반(교사)일수록 재등록률이 높은 경향이 있어요.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공지 스튜디오 (포스터 + 팝업)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공지·이벤트 포스터를 만들어 학생 앱 팝업으로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흩어져 있던 ‘포스터 만들기’와 ‘팝업 공지 관리’를 한 곳으로 통합한 기능이에요. ①만들기 탭에서 공지·이벤트 포스터를 디자인하고, 바로 ②게시·팝업 탭으로 넘겨 우리 지사 학생 앱에 팝업으로 띄울 수 있어요.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관리자 메뉴 알림 센터 → 📢 공지 스튜디오로 들어가요.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①만들기 탭에서 문구·이미지·동영상으로 포스터를 꾸며요. (크기 조절·서버 저장·재사용 가능)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완성한 포스터의 ‘📢 팝업으로 게시’ 를 누르면 ②게시·팝업 탭으로 자동 전환돼요.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게시 탭에서 노출 기간·중단을 설정해 학생 앱 팝업으로 발행해요.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포스터 제작과 팝업 발행이 한 화면 2탭으로 이어져 헷갈리지 않아요.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만든 포스터는 저장해두고 재사용할 수 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AI 비서·사이드바 검색 어느 경로로 들어와도 올바른 탭이 열려요.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기존 포스터·팝업 데이터는 그대로 유지돼요(통합만 됐고 삭제되지 않았어요).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이벤트 홍보는 ‘만들기 → 바로 팝업 게시’ 흐름 한 번이면 끝나요.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주요 기능 사용법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AI 운영비서에게 시키기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“○○ 화면으로 가게 해줘” 한마디로 이동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상단 통합 검색창(또는 우하단 AI 운영비서) 에 하고 싶은 일을 자연스럽게 말하면, AI가 알아듣고 바로 그 화면으로 이동시켜줘요. 이제 ‘○○ 강사 스케줄로 가게 해줘’, ‘자동 스케줄링 열어줘’ 같은 이동 명령을 정확히 따라요.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사용 방법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상단 검색창에 명령을 입력하거나 🎤 마이크로 말해요.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“김민지 강사 스케줄로 가게 해줘” → 주간 스케줄에서 해당 강사를 자동으로 찾아 열어줘요.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예: “자동 스케줄링 열어줘”, “정산 화면으로” 처럼 메뉴 이동을 시켜요.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AI 응답 카드의 ‘지금 이동 →’ 을 누르면 해당 화면으로 넘어가요.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0D9488"/>
                </a:solidFill>
                <a:latin typeface="Malgun Gothic"/>
              </a:rPr>
              <a:t>✅ 핵심 포인트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이동 명령은 확실히 이동하고, 설명만 하고 마는 일이 줄었어요.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강사 이름으로 스케줄을 검색하면 검색창 자동 채움 + 필터 + 스크롤까지 돼요.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데이터 조회·통계 질문에는 카드형 답변으로도 도와줘요.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알아두기 · ‘등록·발송·변경’처럼 실제로 무언가를 바꾸는 명령은 한 번 더 확인해요(안전장치).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꿀팁 · 메뉴 이름이 기억나지 않을 땐 하고 싶은 일을 그대로 말해보세요 — 알아서 찾아가요.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기능 요약 ·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📋 지사 기능 한눈에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기능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하나요?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범위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핵심 효과</a:t>
                      </a:r>
                    </a:p>
                  </a:txBody>
                  <a:tcPr>
                    <a:solidFill>
                      <a:srgbClr val="0D948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대시보드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매출·재원·출석 현황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우리 지사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빠른 상황 파악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대리점 관리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목록·성과·모집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산하 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상향평준화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지사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수령·배분 자동계산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본사↔지사↔대리점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정확한 정산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학생·학부모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재원·출결·성적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 방지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회계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결제·미납·환불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 범위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건전한 수납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리텐션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이탈위험·전염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잔존율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월간 리포트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성과 분석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지사·대리점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투명한 운영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한눈에 보는 데이터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📊 한눈에 보는 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대리점별 재원생(예시)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정산 흐름(예시 비중)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자주 묻는 질문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❓ 자주 묻는 질문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어디서 접속하나요?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admin.mangoi.co.kr 에서 로그인해요. 권한(지사)에 따라 우리 지사 데이터만 자동으로 보여요.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다른 지사 데이터도 보이나요?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아니요. 권한 범위상 우리 지사와 산하 대리점 데이터만 보입니다.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정산은 어떻게 계산되나요?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조직 트리(본사→지사→대리점)를 따라 매출·수수료가 자동 계산됩니다. 월간 리포트에서 확인하세요.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대리점 성과가 부진해요.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리텐션·회계·리포트로 원인을 찾고, 온보딩·코칭·인센티브로 지원하세요. 우수 사례 공유도 효과적입니다.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Q. 시스템 문제가 생겼어요.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본사 고객센터(전화·이메일·카카오·원격지원)로 문의하면 빠르게 해결됩니다.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D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D9488"/>
                </a:solidFill>
                <a:latin typeface="Malgun Gothic"/>
              </a:rPr>
              <a:t>✅ 지사 운영 체크리스트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오늘 지사 매출·재원·출석 지표를 확인했나요?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부진한 대리점을 파악하고 지원했나요?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이번 달 정산(수령·배분)을 점검했나요?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미납·환불 건을 확인했나요?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이탈위험 학생·대리점을 챙겼나요?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신규 대리점 온보딩을 진행했나요?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월간 리포트를 공유했나요?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65760" y="841247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41247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9488"/>
                </a:solidFill>
                <a:latin typeface="Malgun Gothic"/>
              </a:rPr>
              <a:t>🏁 마무리 · 지사 성장을 위한 실천 가이드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지사의 역할은 본사와 대리점을 잇는 다리예요. 우리 지사 지표를 챙기고, 산하 대리점이 잘 크도록 지원하며, 정산을 투명하게 처리하면 지사 전체가 함께 성장합니다. 이 리듬만 지켜도 운영이 훨씬 안정적이에요.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🔄 하루 흐름 한눈에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아침 (5분)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지사 대시보드에서 매출·재원·출석 확인, AI 인사이트로 상태 파악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대리점별 성과·수납 점검, 미납·환불 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오후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부진 대리점 지원·코칭, 이탈위험 학생 케어(리텐션)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주간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신규 대리점 온보딩, 우수 사례 공유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월간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본사→지사→대리점 정산 확인·배포, 월간 리포트 공유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⭐ 핵심 원칙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지표는 매일 아침 5분 — 지사·대리점 이상 신호를 빨리 잡아요.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대리점을 파트너로 — 성과 편차를 코칭·지원으로 좁혀요.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정산은 투명하게 — 기준을 미리 공지하면 신뢰가 쌓여요.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이탈은 조기 개입 — 위험 대리점·학생을 먼저 챙겨요.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0D948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우수 사례를 확산 — 잘하는 대리점 방식을 전체로 공유해요.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0D9488"/>
                </a:solidFill>
                <a:latin typeface="Malgun Gothic"/>
              </a:rPr>
              <a:t>📌 꼭 기억하세요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접속은 admin.mangoi.co.kr, 데이터는 우리 지사 범위로 자동 한정돼요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정산은 본사→지사→대리점 트리 구조로 자동 계산돼요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‘입장 안 됨’ 등 현장 문의의 대부분은 브라우저·권한 문제예요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F59E0B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운영 리듬은 ‘점검 → 지원 → 정산 → 리포트’!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좋은 지사는 대리점이 잘되게 돕는 지사예요. 지표로 상황을 읽고, 파트너를 지원하고, 정산을 투명하게 하면 지사와 대리점이 함께 성장합니다. 궁금한 점은 언제든 본사 고객센터로 — 든든한 지사 운영을 응원합니다! 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795528"/>
            <a:ext cx="475488" cy="475488"/>
          </a:xfrm>
          <a:prstGeom prst="round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795528"/>
            <a:ext cx="475488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22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A5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망고아이와 함께 성장해요!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궁금한 점은 사이트 A.i 상담사 또는 고객센터로 문의하세요.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🏢 망고아이 지사용 사용설명서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차례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749808"/>
            <a:ext cx="73152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1E2340"/>
                </a:solidFill>
                <a:latin typeface="Malgun Gothic"/>
              </a:rPr>
              <a:t>📑 차례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·   </a:t>
            </a:r>
            <a:r>
              <a:rPr sz="1100">
                <a:solidFill>
                  <a:srgbClr val="334155"/>
                </a:solidFill>
                <a:latin typeface="Malgun Gothic"/>
              </a:rPr>
              <a:t>소개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🔐 지사 로그인 &amp; 권한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👤 마이페이지 &amp; 관리자 대시보드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🏠 지사 대시보드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 활용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🏬 산하 대리점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🌳 지사 정산 (수령·배분)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🧑‍🎓 학생·학부모 현황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08  </a:t>
            </a:r>
            <a:r>
              <a:rPr sz="1100">
                <a:solidFill>
                  <a:srgbClr val="334155"/>
                </a:solidFill>
                <a:latin typeface="Malgun Gothic"/>
              </a:rPr>
              <a:t>💳 결제·미납·환불 (지사)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09  </a:t>
            </a:r>
            <a:r>
              <a:rPr sz="1100">
                <a:solidFill>
                  <a:srgbClr val="334155"/>
                </a:solidFill>
                <a:latin typeface="Malgun Gothic"/>
              </a:rPr>
              <a:t>🧲 지사 리텐션 관리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10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📊 월간 리포트·성과 분석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11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🎓 대리점 지원·교육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4476" y="1417320"/>
            <a:ext cx="5500116" cy="5212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12  </a:t>
            </a:r>
            <a:r>
              <a:rPr sz="1100">
                <a:solidFill>
                  <a:srgbClr val="334155"/>
                </a:solidFill>
                <a:latin typeface="Malgun Gothic"/>
              </a:rPr>
              <a:t>🎧 고객센터·문의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p.15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13  </a:t>
            </a:r>
            <a:r>
              <a:rPr sz="1100">
                <a:solidFill>
                  <a:srgbClr val="334155"/>
                </a:solidFill>
                <a:latin typeface="Malgun Gothic"/>
              </a:rPr>
              <a:t>🕐 한국·필리핀 듀얼 시계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p.16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14  </a:t>
            </a:r>
            <a:r>
              <a:rPr sz="1100">
                <a:solidFill>
                  <a:srgbClr val="334155"/>
                </a:solidFill>
                <a:latin typeface="Malgun Gothic"/>
              </a:rPr>
              <a:t>🇨🇳 중국어 발음 코치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p.17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15  </a:t>
            </a:r>
            <a:r>
              <a:rPr sz="1100">
                <a:solidFill>
                  <a:srgbClr val="334155"/>
                </a:solidFill>
                <a:latin typeface="Malgun Gothic"/>
              </a:rPr>
              <a:t>🌟 수업 중 칭찬 포인트 (이해·활용)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p.18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16  </a:t>
            </a:r>
            <a:r>
              <a:rPr sz="1100">
                <a:solidFill>
                  <a:srgbClr val="334155"/>
                </a:solidFill>
                <a:latin typeface="Malgun Gothic"/>
              </a:rPr>
              <a:t>📢 공지 스튜디오 (포스터 + 팝업)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p.19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17  </a:t>
            </a:r>
            <a:r>
              <a:rPr sz="1100">
                <a:solidFill>
                  <a:srgbClr val="334155"/>
                </a:solidFill>
                <a:latin typeface="Malgun Gothic"/>
              </a:rPr>
              <a:t>🤖 AI 운영비서에게 시키기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p.20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18  </a:t>
            </a:r>
            <a:r>
              <a:rPr sz="1100">
                <a:solidFill>
                  <a:srgbClr val="334155"/>
                </a:solidFill>
                <a:latin typeface="Malgun Gothic"/>
              </a:rPr>
              <a:t>지사 기능 한눈에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p.21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19  </a:t>
            </a:r>
            <a:r>
              <a:rPr sz="1100">
                <a:solidFill>
                  <a:srgbClr val="334155"/>
                </a:solidFill>
                <a:latin typeface="Malgun Gothic"/>
              </a:rPr>
              <a:t>한눈에 보는 데이터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p.22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20  </a:t>
            </a:r>
            <a:r>
              <a:rPr sz="1100">
                <a:solidFill>
                  <a:srgbClr val="334155"/>
                </a:solidFill>
                <a:latin typeface="Malgun Gothic"/>
              </a:rPr>
              <a:t>자주 묻는 질문 (FAQ)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p.23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21  </a:t>
            </a:r>
            <a:r>
              <a:rPr sz="1100">
                <a:solidFill>
                  <a:srgbClr val="334155"/>
                </a:solidFill>
                <a:latin typeface="Malgun Gothic"/>
              </a:rPr>
              <a:t>지사 운영 체크리스트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p.24</a:t>
            </a:r>
          </a:p>
          <a:p>
            <a:pPr>
              <a:spcAft>
                <a:spcPts val="1935"/>
              </a:spcAft>
            </a:pPr>
            <a:r>
              <a:rPr sz="1100" b="1">
                <a:solidFill>
                  <a:srgbClr val="4F46E5"/>
                </a:solidFill>
                <a:latin typeface="Malgun Gothic"/>
              </a:rPr>
              <a:t>22  </a:t>
            </a:r>
            <a:r>
              <a:rPr sz="1100">
                <a:solidFill>
                  <a:srgbClr val="334155"/>
                </a:solidFill>
                <a:latin typeface="Malgun Gothic"/>
              </a:rPr>
              <a:t>마무리 · 지사 성장을 위한 실천 가이드</a:t>
            </a:r>
            <a:r>
              <a:rPr sz="950">
                <a:solidFill>
                  <a:srgbClr val="94A3B8"/>
                </a:solidFill>
                <a:latin typeface="Malgun Gothic"/>
              </a:rPr>
              <a:t>   ·  p.25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