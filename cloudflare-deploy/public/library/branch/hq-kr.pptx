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0D9488"/>
              </a:solidFill>
            </c:spPr>
          </c:dPt>
          <c:dPt>
            <c:idx val="1"/>
            <c:spPr>
              <a:solidFill>
                <a:srgbClr val="0EA5E9"/>
              </a:solidFill>
            </c:spPr>
          </c:dPt>
          <c:dPt>
            <c:idx val="2"/>
            <c:spPr>
              <a:solidFill>
                <a:srgbClr val="F59E0B"/>
              </a:solidFill>
            </c:spPr>
          </c:dPt>
          <c:cat>
            <c:strRef>
              <c:f>Sheet1!$A$2:$A$4</c:f>
              <c:strCache>
                <c:ptCount val="3"/>
                <c:pt idx="0">
                  <c:v>월 매출(백만)</c:v>
                </c:pt>
                <c:pt idx="1">
                  <c:v>재원생(명)</c:v>
                </c:pt>
                <c:pt idx="2">
                  <c:v>산하 대리점(개)</c:v>
                </c:pt>
              </c:strCache>
            </c:strRef>
          </c:cat>
          <c:val>
            <c:numRef>
              <c:f>Sheet1!$B$2:$B$4</c:f>
              <c:numCache>
                <c:formatCode>General</c:formatCode>
                <c:ptCount val="3"/>
                <c:pt idx="0">
                  <c:v>64</c:v>
                </c:pt>
                <c:pt idx="1">
                  <c:v>980</c:v>
                </c:pt>
                <c:pt idx="2">
                  <c:v>12</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0D9488"/>
              </a:solidFill>
            </c:spPr>
          </c:dPt>
          <c:dPt>
            <c:idx val="1"/>
            <c:spPr>
              <a:solidFill>
                <a:srgbClr val="0EA5E9"/>
              </a:solidFill>
            </c:spPr>
          </c:dPt>
          <c:dPt>
            <c:idx val="2"/>
            <c:spPr>
              <a:solidFill>
                <a:srgbClr val="14B8A6"/>
              </a:solidFill>
            </c:spPr>
          </c:dPt>
          <c:dPt>
            <c:idx val="3"/>
            <c:spPr>
              <a:solidFill>
                <a:srgbClr val="F59E0B"/>
              </a:solidFill>
            </c:spPr>
          </c:dPt>
          <c:dPt>
            <c:idx val="4"/>
            <c:spPr>
              <a:solidFill>
                <a:srgbClr val="64748B"/>
              </a:solidFill>
            </c:spPr>
          </c:dPt>
          <c:cat>
            <c:strRef>
              <c:f>Sheet1!$A$2:$A$6</c:f>
              <c:strCache>
                <c:ptCount val="5"/>
                <c:pt idx="0">
                  <c:v>강남점</c:v>
                </c:pt>
                <c:pt idx="1">
                  <c:v>분당점</c:v>
                </c:pt>
                <c:pt idx="2">
                  <c:v>일산점</c:v>
                </c:pt>
                <c:pt idx="3">
                  <c:v>수원점</c:v>
                </c:pt>
                <c:pt idx="4">
                  <c:v>인천점</c:v>
                </c:pt>
              </c:strCache>
            </c:strRef>
          </c:cat>
          <c:val>
            <c:numRef>
              <c:f>Sheet1!$B$2:$B$6</c:f>
              <c:numCache>
                <c:formatCode>General</c:formatCode>
                <c:ptCount val="5"/>
                <c:pt idx="0">
                  <c:v>210</c:v>
                </c:pt>
                <c:pt idx="1">
                  <c:v>180</c:v>
                </c:pt>
                <c:pt idx="2">
                  <c:v>150</c:v>
                </c:pt>
                <c:pt idx="3">
                  <c:v>120</c:v>
                </c:pt>
                <c:pt idx="4">
                  <c:v>90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64748B"/>
              </a:solidFill>
            </c:spPr>
          </c:dPt>
          <c:dPt>
            <c:idx val="1"/>
            <c:spPr>
              <a:solidFill>
                <a:srgbClr val="0D9488"/>
              </a:solidFill>
            </c:spPr>
          </c:dPt>
          <c:dPt>
            <c:idx val="2"/>
            <c:spPr>
              <a:solidFill>
                <a:srgbClr val="F59E0B"/>
              </a:solidFill>
            </c:spPr>
          </c:dPt>
          <c:cat>
            <c:strRef>
              <c:f>Sheet1!$A$2:$A$4</c:f>
              <c:strCache>
                <c:ptCount val="3"/>
                <c:pt idx="0">
                  <c:v>본사 수수료</c:v>
                </c:pt>
                <c:pt idx="1">
                  <c:v>지사 몫</c:v>
                </c:pt>
                <c:pt idx="2">
                  <c:v>대리점 배분</c:v>
                </c:pt>
              </c:strCache>
            </c:strRef>
          </c:cat>
          <c:val>
            <c:numRef>
              <c:f>Sheet1!$B$2:$B$4</c:f>
              <c:numCache>
                <c:formatCode>General</c:formatCode>
                <c:ptCount val="3"/>
                <c:pt idx="0">
                  <c:v>20</c:v>
                </c:pt>
                <c:pt idx="1">
                  <c:v>30</c:v>
                </c:pt>
                <c:pt idx="2">
                  <c:v>50</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766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0D9488"/>
                </a:solidFill>
                <a:latin typeface="Malgun Gothic"/>
              </a:rPr>
              <a:t>🏢 BRANCH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망고아이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지사용 사용설명서</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산하 대리점·정산·성과 관리를 한 권으로</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대상 · 지역 지사 운영·관리자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소개</a:t>
            </a:r>
          </a:p>
        </p:txBody>
      </p:sp>
      <p:sp>
        <p:nvSpPr>
          <p:cNvPr id="6" name="Rounded Rectangle 5"/>
          <p:cNvSpPr/>
          <p:nvPr/>
        </p:nvSpPr>
        <p:spPr>
          <a:xfrm>
            <a:off x="365760" y="868680"/>
            <a:ext cx="11460175" cy="155448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0D9488"/>
                </a:solidFill>
                <a:latin typeface="Malgun Gothic"/>
              </a:rPr>
              <a:t>지사 관리 페이지란?</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지사 페이지는 본사에서 위임받은 권한으로 우리 지사와 산하 대리점을 관리하는 곳이에요. 로그인하면 ‘내 지사’ 범위의 데이터(매출·재원생·출석·정산)만 자동으로 보이고, 산하 대리점의 성과를 한눈에 확인하며 본사↔지사↔대리점으로 이어지는 정산을 처리해요. 화면 구성은 관리자 페이지와 같고, 보이는 범위만 달라요.</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내 지사 범위 자동 적용</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로그인만 하면 우리 지사 데이터만 보여요.</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산하 대리점 관리</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대리점 목록·성과·모집을 한 곳에서.</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본사→지사→대리점 정산</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수령·배분이 트리 구조로 자동 계산.</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성과 리포트</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지사·대리점 성과를 월간 리포트로.</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0D9488"/>
                </a:solidFill>
                <a:latin typeface="Malgun Gothic"/>
              </a:rPr>
              <a:t>우리 지사 지표(예시)</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dmin_login.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차례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소개</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a:t>
            </a:r>
          </a:p>
        </p:txBody>
      </p:sp>
      <p:sp>
        <p:nvSpPr>
          <p:cNvPr id="9" name="Rounded Rectangle 8"/>
          <p:cNvSpPr/>
          <p:nvPr/>
        </p:nvSpPr>
        <p:spPr>
          <a:xfrm>
            <a:off x="411480" y="17556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지사 로그인 &amp; 권한</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5</a:t>
            </a:r>
          </a:p>
        </p:txBody>
      </p:sp>
      <p:sp>
        <p:nvSpPr>
          <p:cNvPr id="13" name="Rounded Rectangle 12"/>
          <p:cNvSpPr/>
          <p:nvPr/>
        </p:nvSpPr>
        <p:spPr>
          <a:xfrm>
            <a:off x="411480" y="20299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마이페이지 &amp; 관리자 대시보드</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6</a:t>
            </a:r>
          </a:p>
        </p:txBody>
      </p:sp>
      <p:sp>
        <p:nvSpPr>
          <p:cNvPr id="17" name="Rounded Rectangle 16"/>
          <p:cNvSpPr/>
          <p:nvPr/>
        </p:nvSpPr>
        <p:spPr>
          <a:xfrm>
            <a:off x="411480" y="23042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지사 대시보드</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7</a:t>
            </a:r>
          </a:p>
        </p:txBody>
      </p:sp>
      <p:sp>
        <p:nvSpPr>
          <p:cNvPr id="21" name="Rounded Rectangle 20"/>
          <p:cNvSpPr/>
          <p:nvPr/>
        </p:nvSpPr>
        <p:spPr>
          <a:xfrm>
            <a:off x="411480" y="25786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운영비서 활용</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8</a:t>
            </a:r>
          </a:p>
        </p:txBody>
      </p:sp>
      <p:sp>
        <p:nvSpPr>
          <p:cNvPr id="25" name="Rounded Rectangle 24"/>
          <p:cNvSpPr/>
          <p:nvPr/>
        </p:nvSpPr>
        <p:spPr>
          <a:xfrm>
            <a:off x="411480" y="28529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산하 대리점 관리</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9</a:t>
            </a:r>
          </a:p>
        </p:txBody>
      </p:sp>
      <p:sp>
        <p:nvSpPr>
          <p:cNvPr id="29" name="Rounded Rectangle 28"/>
          <p:cNvSpPr/>
          <p:nvPr/>
        </p:nvSpPr>
        <p:spPr>
          <a:xfrm>
            <a:off x="411480" y="31272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지사 정산 (수령·배분)</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10</a:t>
            </a:r>
          </a:p>
        </p:txBody>
      </p:sp>
      <p:sp>
        <p:nvSpPr>
          <p:cNvPr id="33" name="Rounded Rectangle 32"/>
          <p:cNvSpPr/>
          <p:nvPr/>
        </p:nvSpPr>
        <p:spPr>
          <a:xfrm>
            <a:off x="411480" y="34015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학생·학부모 현황</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11</a:t>
            </a:r>
          </a:p>
        </p:txBody>
      </p:sp>
      <p:sp>
        <p:nvSpPr>
          <p:cNvPr id="37" name="Rounded Rectangle 36"/>
          <p:cNvSpPr/>
          <p:nvPr/>
        </p:nvSpPr>
        <p:spPr>
          <a:xfrm>
            <a:off x="411480" y="3675887"/>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결제·미납·환불 (지사)</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12</a:t>
            </a:r>
          </a:p>
        </p:txBody>
      </p:sp>
      <p:sp>
        <p:nvSpPr>
          <p:cNvPr id="41" name="Rounded Rectangle 40"/>
          <p:cNvSpPr/>
          <p:nvPr/>
        </p:nvSpPr>
        <p:spPr>
          <a:xfrm>
            <a:off x="6141567" y="14813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지사 리텐션 관리</a:t>
            </a:r>
          </a:p>
        </p:txBody>
      </p:sp>
      <p:sp>
        <p:nvSpPr>
          <p:cNvPr id="44" name="TextBox 43"/>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13</a:t>
            </a:r>
          </a:p>
        </p:txBody>
      </p:sp>
      <p:sp>
        <p:nvSpPr>
          <p:cNvPr id="45" name="Rounded Rectangle 44"/>
          <p:cNvSpPr/>
          <p:nvPr/>
        </p:nvSpPr>
        <p:spPr>
          <a:xfrm>
            <a:off x="6141567" y="17556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월간 리포트·성과 분석</a:t>
            </a:r>
          </a:p>
        </p:txBody>
      </p:sp>
      <p:sp>
        <p:nvSpPr>
          <p:cNvPr id="48" name="TextBox 47"/>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14</a:t>
            </a:r>
          </a:p>
        </p:txBody>
      </p:sp>
      <p:sp>
        <p:nvSpPr>
          <p:cNvPr id="49" name="Rounded Rectangle 48"/>
          <p:cNvSpPr/>
          <p:nvPr/>
        </p:nvSpPr>
        <p:spPr>
          <a:xfrm>
            <a:off x="6141567" y="20299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대리점 지원·교육</a:t>
            </a:r>
          </a:p>
        </p:txBody>
      </p:sp>
      <p:sp>
        <p:nvSpPr>
          <p:cNvPr id="52" name="TextBox 51"/>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15</a:t>
            </a:r>
          </a:p>
        </p:txBody>
      </p:sp>
      <p:sp>
        <p:nvSpPr>
          <p:cNvPr id="53" name="Rounded Rectangle 52"/>
          <p:cNvSpPr/>
          <p:nvPr/>
        </p:nvSpPr>
        <p:spPr>
          <a:xfrm>
            <a:off x="6141567" y="23042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고객센터·문의</a:t>
            </a:r>
          </a:p>
        </p:txBody>
      </p:sp>
      <p:sp>
        <p:nvSpPr>
          <p:cNvPr id="56" name="TextBox 55"/>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16</a:t>
            </a:r>
          </a:p>
        </p:txBody>
      </p:sp>
      <p:sp>
        <p:nvSpPr>
          <p:cNvPr id="57" name="Rounded Rectangle 56"/>
          <p:cNvSpPr/>
          <p:nvPr/>
        </p:nvSpPr>
        <p:spPr>
          <a:xfrm>
            <a:off x="6141567" y="25786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한국·필리핀 듀얼 시계</a:t>
            </a:r>
          </a:p>
        </p:txBody>
      </p:sp>
      <p:sp>
        <p:nvSpPr>
          <p:cNvPr id="60" name="TextBox 59"/>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17</a:t>
            </a:r>
          </a:p>
        </p:txBody>
      </p:sp>
      <p:sp>
        <p:nvSpPr>
          <p:cNvPr id="61" name="Rounded Rectangle 60"/>
          <p:cNvSpPr/>
          <p:nvPr/>
        </p:nvSpPr>
        <p:spPr>
          <a:xfrm>
            <a:off x="6141567" y="28529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중국어 발음 코치</a:t>
            </a:r>
          </a:p>
        </p:txBody>
      </p:sp>
      <p:sp>
        <p:nvSpPr>
          <p:cNvPr id="64" name="TextBox 63"/>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18</a:t>
            </a:r>
          </a:p>
        </p:txBody>
      </p:sp>
      <p:sp>
        <p:nvSpPr>
          <p:cNvPr id="65" name="Rounded Rectangle 64"/>
          <p:cNvSpPr/>
          <p:nvPr/>
        </p:nvSpPr>
        <p:spPr>
          <a:xfrm>
            <a:off x="6141567" y="31272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중 칭찬 포인트 (이해·활용)</a:t>
            </a:r>
          </a:p>
        </p:txBody>
      </p:sp>
      <p:sp>
        <p:nvSpPr>
          <p:cNvPr id="68" name="TextBox 67"/>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19</a:t>
            </a:r>
          </a:p>
        </p:txBody>
      </p:sp>
      <p:sp>
        <p:nvSpPr>
          <p:cNvPr id="69" name="Rounded Rectangle 68"/>
          <p:cNvSpPr/>
          <p:nvPr/>
        </p:nvSpPr>
        <p:spPr>
          <a:xfrm>
            <a:off x="6141567" y="34015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공지 스튜디오 (포스터 + 팝업)</a:t>
            </a:r>
          </a:p>
        </p:txBody>
      </p:sp>
      <p:sp>
        <p:nvSpPr>
          <p:cNvPr id="72" name="TextBox 71"/>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20</a:t>
            </a:r>
          </a:p>
        </p:txBody>
      </p:sp>
      <p:sp>
        <p:nvSpPr>
          <p:cNvPr id="73" name="Rounded Rectangle 72"/>
          <p:cNvSpPr/>
          <p:nvPr/>
        </p:nvSpPr>
        <p:spPr>
          <a:xfrm>
            <a:off x="6141567" y="3675887"/>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운영비서에게 시키기</a:t>
            </a:r>
          </a:p>
        </p:txBody>
      </p:sp>
      <p:sp>
        <p:nvSpPr>
          <p:cNvPr id="76" name="TextBox 75"/>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차례  (2/2)</a:t>
            </a:r>
          </a:p>
        </p:txBody>
      </p:sp>
      <p:sp>
        <p:nvSpPr>
          <p:cNvPr id="7" name="Rounded Rectangle 6"/>
          <p:cNvSpPr/>
          <p:nvPr/>
        </p:nvSpPr>
        <p:spPr>
          <a:xfrm>
            <a:off x="411480" y="14813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자료실 카카오톡 링크 공유</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22</a:t>
            </a:r>
          </a:p>
        </p:txBody>
      </p:sp>
      <p:sp>
        <p:nvSpPr>
          <p:cNvPr id="11" name="Rounded Rectangle 10"/>
          <p:cNvSpPr/>
          <p:nvPr/>
        </p:nvSpPr>
        <p:spPr>
          <a:xfrm>
            <a:off x="411480" y="17556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새로워진 관리자 화면</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23</a:t>
            </a:r>
          </a:p>
        </p:txBody>
      </p:sp>
      <p:sp>
        <p:nvSpPr>
          <p:cNvPr id="15" name="Rounded Rectangle 14"/>
          <p:cNvSpPr/>
          <p:nvPr/>
        </p:nvSpPr>
        <p:spPr>
          <a:xfrm>
            <a:off x="411480" y="20299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화면 언어가 자동으로 맞춰져요</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24</a:t>
            </a:r>
          </a:p>
        </p:txBody>
      </p:sp>
      <p:sp>
        <p:nvSpPr>
          <p:cNvPr id="19" name="Rounded Rectangle 18"/>
          <p:cNvSpPr/>
          <p:nvPr/>
        </p:nvSpPr>
        <p:spPr>
          <a:xfrm>
            <a:off x="411480" y="23042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수강 등록 · 결제 → 수업 자동 생성</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25</a:t>
            </a:r>
          </a:p>
        </p:txBody>
      </p:sp>
      <p:sp>
        <p:nvSpPr>
          <p:cNvPr id="23" name="Rounded Rectangle 22"/>
          <p:cNvSpPr/>
          <p:nvPr/>
        </p:nvSpPr>
        <p:spPr>
          <a:xfrm>
            <a:off x="411480" y="25786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강사 통합 관리 개편 (명부 필터 · 그룹 · 상세 탭)</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26</a:t>
            </a:r>
          </a:p>
        </p:txBody>
      </p:sp>
      <p:sp>
        <p:nvSpPr>
          <p:cNvPr id="27" name="Rounded Rectangle 26"/>
          <p:cNvSpPr/>
          <p:nvPr/>
        </p:nvSpPr>
        <p:spPr>
          <a:xfrm>
            <a:off x="411480" y="28529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월간 성적표 (오각형) 발송</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27</a:t>
            </a:r>
          </a:p>
        </p:txBody>
      </p:sp>
      <p:sp>
        <p:nvSpPr>
          <p:cNvPr id="31" name="Rounded Rectangle 30"/>
          <p:cNvSpPr/>
          <p:nvPr/>
        </p:nvSpPr>
        <p:spPr>
          <a:xfrm>
            <a:off x="411480" y="31272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주간 리포트 (재등록을 잇는 무기)</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28</a:t>
            </a:r>
          </a:p>
        </p:txBody>
      </p:sp>
      <p:sp>
        <p:nvSpPr>
          <p:cNvPr id="35" name="Rounded Rectangle 34"/>
          <p:cNvSpPr/>
          <p:nvPr/>
        </p:nvSpPr>
        <p:spPr>
          <a:xfrm>
            <a:off x="411480" y="34015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홈 첫 화면 개편 (처음 온 학부모 · 기존 회원 자동 분리)</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29</a:t>
            </a:r>
          </a:p>
        </p:txBody>
      </p:sp>
      <p:sp>
        <p:nvSpPr>
          <p:cNvPr id="39" name="Rounded Rectangle 38"/>
          <p:cNvSpPr/>
          <p:nvPr/>
        </p:nvSpPr>
        <p:spPr>
          <a:xfrm>
            <a:off x="411480" y="3675887"/>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관리자 화면이 훨씬 빨라졌어요</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30</a:t>
            </a:r>
          </a:p>
        </p:txBody>
      </p:sp>
      <p:sp>
        <p:nvSpPr>
          <p:cNvPr id="43" name="Rounded Rectangle 42"/>
          <p:cNvSpPr/>
          <p:nvPr/>
        </p:nvSpPr>
        <p:spPr>
          <a:xfrm>
            <a:off x="6141567" y="14813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45" name="TextBox 44"/>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학원 검색칸 (이름으로 바로 찾기)</a:t>
            </a:r>
          </a:p>
        </p:txBody>
      </p:sp>
      <p:sp>
        <p:nvSpPr>
          <p:cNvPr id="46" name="TextBox 45"/>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31</a:t>
            </a:r>
          </a:p>
        </p:txBody>
      </p:sp>
      <p:sp>
        <p:nvSpPr>
          <p:cNvPr id="47" name="Rounded Rectangle 46"/>
          <p:cNvSpPr/>
          <p:nvPr/>
        </p:nvSpPr>
        <p:spPr>
          <a:xfrm>
            <a:off x="6141567" y="17556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49" name="TextBox 48"/>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신규 결제 화면 단계형 개편</a:t>
            </a:r>
          </a:p>
        </p:txBody>
      </p:sp>
      <p:sp>
        <p:nvSpPr>
          <p:cNvPr id="50" name="TextBox 49"/>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32</a:t>
            </a:r>
          </a:p>
        </p:txBody>
      </p:sp>
      <p:sp>
        <p:nvSpPr>
          <p:cNvPr id="51" name="Rounded Rectangle 50"/>
          <p:cNvSpPr/>
          <p:nvPr/>
        </p:nvSpPr>
        <p:spPr>
          <a:xfrm>
            <a:off x="6141567" y="20299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53" name="TextBox 52"/>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계정 없는 학부모용 샘플 평가표</a:t>
            </a:r>
          </a:p>
        </p:txBody>
      </p:sp>
      <p:sp>
        <p:nvSpPr>
          <p:cNvPr id="54" name="TextBox 53"/>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33</a:t>
            </a:r>
          </a:p>
        </p:txBody>
      </p:sp>
      <p:sp>
        <p:nvSpPr>
          <p:cNvPr id="55" name="Rounded Rectangle 54"/>
          <p:cNvSpPr/>
          <p:nvPr/>
        </p:nvSpPr>
        <p:spPr>
          <a:xfrm>
            <a:off x="6141567" y="23042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57" name="TextBox 56"/>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상담 창구·운영시간 통일 (카카오 1순위)</a:t>
            </a:r>
          </a:p>
        </p:txBody>
      </p:sp>
      <p:sp>
        <p:nvSpPr>
          <p:cNvPr id="58" name="TextBox 57"/>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34</a:t>
            </a:r>
          </a:p>
        </p:txBody>
      </p:sp>
      <p:sp>
        <p:nvSpPr>
          <p:cNvPr id="59" name="Rounded Rectangle 58"/>
          <p:cNvSpPr/>
          <p:nvPr/>
        </p:nvSpPr>
        <p:spPr>
          <a:xfrm>
            <a:off x="6141567" y="25786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61" name="TextBox 60"/>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기능 요약 · 데이터</a:t>
            </a:r>
          </a:p>
        </p:txBody>
      </p:sp>
      <p:sp>
        <p:nvSpPr>
          <p:cNvPr id="62" name="TextBox 61"/>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35</a:t>
            </a:r>
          </a:p>
        </p:txBody>
      </p:sp>
      <p:sp>
        <p:nvSpPr>
          <p:cNvPr id="63" name="Rounded Rectangle 62"/>
          <p:cNvSpPr/>
          <p:nvPr/>
        </p:nvSpPr>
        <p:spPr>
          <a:xfrm>
            <a:off x="6141567" y="28529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65" name="TextBox 64"/>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한눈에 보는 데이터</a:t>
            </a:r>
          </a:p>
        </p:txBody>
      </p:sp>
      <p:sp>
        <p:nvSpPr>
          <p:cNvPr id="66" name="TextBox 65"/>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36</a:t>
            </a:r>
          </a:p>
        </p:txBody>
      </p:sp>
      <p:sp>
        <p:nvSpPr>
          <p:cNvPr id="67" name="Rounded Rectangle 66"/>
          <p:cNvSpPr/>
          <p:nvPr/>
        </p:nvSpPr>
        <p:spPr>
          <a:xfrm>
            <a:off x="6141567" y="31272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69" name="TextBox 68"/>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자주 묻는 질문 (FAQ)</a:t>
            </a:r>
          </a:p>
        </p:txBody>
      </p:sp>
      <p:sp>
        <p:nvSpPr>
          <p:cNvPr id="70" name="TextBox 69"/>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37</a:t>
            </a:r>
          </a:p>
        </p:txBody>
      </p:sp>
      <p:sp>
        <p:nvSpPr>
          <p:cNvPr id="71" name="Rounded Rectangle 70"/>
          <p:cNvSpPr/>
          <p:nvPr/>
        </p:nvSpPr>
        <p:spPr>
          <a:xfrm>
            <a:off x="6141567" y="34015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73" name="TextBox 72"/>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체크리스트</a:t>
            </a:r>
          </a:p>
        </p:txBody>
      </p:sp>
      <p:sp>
        <p:nvSpPr>
          <p:cNvPr id="74" name="TextBox 73"/>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38</a:t>
            </a:r>
          </a:p>
        </p:txBody>
      </p:sp>
      <p:sp>
        <p:nvSpPr>
          <p:cNvPr id="75" name="Rounded Rectangle 74"/>
          <p:cNvSpPr/>
          <p:nvPr/>
        </p:nvSpPr>
        <p:spPr>
          <a:xfrm>
            <a:off x="6141567" y="3675887"/>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77" name="TextBox 76"/>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마무리</a:t>
            </a:r>
          </a:p>
        </p:txBody>
      </p:sp>
      <p:sp>
        <p:nvSpPr>
          <p:cNvPr id="78" name="TextBox 77"/>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지사 로그인 &amp; 권한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지사 데이터만 자동 표시</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지사 계정으로 로그인하면 ‘우리 지사’ 범위의 메뉴와 데이터만 보여요. 본사 전체나 다른 지사 데이터는 보이지 않아, 안심하고 우리 지사에 집중할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아이디·비밀번호로 로그인해요. (카카오·네이버·구글도 가능)</a:t>
            </a:r>
          </a:p>
          <a:p>
            <a:pPr>
              <a:lnSpc>
                <a:spcPct val="115000"/>
              </a:lnSpc>
              <a:spcAft>
                <a:spcPts val="300"/>
              </a:spcAft>
            </a:pPr>
            <a:r>
              <a:rPr sz="750" b="1">
                <a:solidFill>
                  <a:srgbClr val="0D9488"/>
                </a:solidFill>
                <a:latin typeface="Malgun Gothic"/>
              </a:rPr>
              <a:t>● </a:t>
            </a:r>
            <a:r>
              <a:rPr sz="950">
                <a:solidFill>
                  <a:srgbClr val="334155"/>
                </a:solidFill>
                <a:latin typeface="Malgun Gothic"/>
              </a:rPr>
              <a:t>로그인하면 권한(지사) 에 맞는 메뉴·데이터가 자동으로 적용돼요.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비밀번호를 잊었으면 ‘비밀번호 찾기’로 재설정해요.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직원에게는 권한 범위를 나눠 부여할 수 있어요.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내 지사·산하 대리점 데이터만 보여요.</a:t>
            </a:r>
          </a:p>
          <a:p>
            <a:pPr>
              <a:lnSpc>
                <a:spcPct val="115000"/>
              </a:lnSpc>
              <a:spcAft>
                <a:spcPts val="100"/>
              </a:spcAft>
            </a:pPr>
            <a:r>
              <a:rPr sz="700" b="1">
                <a:solidFill>
                  <a:srgbClr val="0D9488"/>
                </a:solidFill>
                <a:latin typeface="Malgun Gothic"/>
              </a:rPr>
              <a:t>● </a:t>
            </a:r>
            <a:r>
              <a:rPr sz="900">
                <a:solidFill>
                  <a:srgbClr val="334155"/>
                </a:solidFill>
                <a:latin typeface="Malgun Gothic"/>
              </a:rPr>
              <a:t>안전한 내 PC에서만 ‘아이디 저장’을 켜세요.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공용 PC에서는 자동 로그인을 끄고 사용 후 꼭 로그아웃하세요.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logi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16428" y="2670048"/>
            <a:ext cx="18269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9872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987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900476"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아이디·비밀번호</a:t>
            </a:r>
          </a:p>
        </p:txBody>
      </p:sp>
      <p:sp>
        <p:nvSpPr>
          <p:cNvPr id="26" name="TextBox 25"/>
          <p:cNvSpPr txBox="1"/>
          <p:nvPr/>
        </p:nvSpPr>
        <p:spPr>
          <a:xfrm>
            <a:off x="434340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526280" y="2670048"/>
            <a:ext cx="14410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857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85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910328" y="2670048"/>
            <a:ext cx="10204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권한(지사)</a:t>
            </a:r>
          </a:p>
        </p:txBody>
      </p:sp>
      <p:sp>
        <p:nvSpPr>
          <p:cNvPr id="31" name="TextBox 30"/>
          <p:cNvSpPr txBox="1"/>
          <p:nvPr/>
        </p:nvSpPr>
        <p:spPr>
          <a:xfrm>
            <a:off x="5967374"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150254" y="2670048"/>
            <a:ext cx="198424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3255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255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34302" y="2670048"/>
            <a:ext cx="15636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‘비밀번호 찾기’</a:t>
            </a:r>
          </a:p>
        </p:txBody>
      </p:sp>
      <p:sp>
        <p:nvSpPr>
          <p:cNvPr id="36" name="TextBox 35"/>
          <p:cNvSpPr txBox="1"/>
          <p:nvPr/>
        </p:nvSpPr>
        <p:spPr>
          <a:xfrm>
            <a:off x="813450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8317382"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39967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996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70143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권한 범위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마이페이지 &amp; 관리자 대시보드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마이페이지에서 관리 화면 열기</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지사 운영은 ‘마이페이지’에서 시작해요. 로그인 후 마이페이지의 메뉴 중 📊 ‘관리자’ 버튼을 누르면 우리 지사 범위의 관리자(운영) 대시보드로 들어가, 매출·재원·대리점·정산을 관리할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로그인 후 화면에서 ‘👤 마이페이지’를 열어요.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마이페이지 메뉴에서 📊 ‘관리자’ 버튼을 눌러요. (관리자 대시보드로 이동)</a:t>
            </a:r>
          </a:p>
          <a:p>
            <a:pPr>
              <a:lnSpc>
                <a:spcPct val="115000"/>
              </a:lnSpc>
              <a:spcAft>
                <a:spcPts val="300"/>
              </a:spcAft>
            </a:pPr>
            <a:r>
              <a:rPr sz="700" b="1">
                <a:solidFill>
                  <a:srgbClr val="0D9488"/>
                </a:solidFill>
                <a:latin typeface="Malgun Gothic"/>
              </a:rPr>
              <a:t>● </a:t>
            </a:r>
            <a:r>
              <a:rPr sz="900">
                <a:solidFill>
                  <a:srgbClr val="334155"/>
                </a:solidFill>
                <a:latin typeface="Malgun Gothic"/>
              </a:rPr>
              <a:t>관리자 대시보드에서 우리 지사 매출·재원·출석·산하 대리점을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마이페이지에는 연기/변경·신규상담·전체메뉴·수업 진단 등도 함께 있어요.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글자가 영어로 보이면 EN 버튼으로 한국어로 바꿔요.</a:t>
            </a:r>
          </a:p>
        </p:txBody>
      </p:sp>
      <p:sp>
        <p:nvSpPr>
          <p:cNvPr id="14" name="Rounded Rectangle 13"/>
          <p:cNvSpPr/>
          <p:nvPr/>
        </p:nvSpPr>
        <p:spPr>
          <a:xfrm>
            <a:off x="457200" y="5282946"/>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575554"/>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‘관리자’ 버튼 하나로 바로 운영 대시보드에 들어가요.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대시보드 데이터는 모두 ‘우리 지사 범위’로 자동 집계돼요.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권한(지사)에 따라 보이는 메뉴·데이터가 자동으로 정해져요.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마이페이지·관리자 대시보드 모두 로그인한 지사 계정의 권한 범위 안에서만 열려요.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매일 마이페이지 → 관리자 대시보드 순서로 지사 지표를 5분만 점검하세요.</a:t>
            </a:r>
          </a:p>
        </p:txBody>
      </p:sp>
      <p:sp>
        <p:nvSpPr>
          <p:cNvPr id="21" name="Rectangle 20"/>
          <p:cNvSpPr/>
          <p:nvPr/>
        </p:nvSpPr>
        <p:spPr>
          <a:xfrm>
            <a:off x="6300216" y="3722300"/>
            <a:ext cx="2761488" cy="45124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menu.jpg"/>
          <p:cNvPicPr>
            <a:picLocks noChangeAspect="1"/>
          </p:cNvPicPr>
          <p:nvPr/>
        </p:nvPicPr>
        <p:blipFill>
          <a:blip r:embed="rId2"/>
          <a:stretch>
            <a:fillRect/>
          </a:stretch>
        </p:blipFill>
        <p:spPr>
          <a:xfrm>
            <a:off x="6355080" y="3777164"/>
            <a:ext cx="2651760" cy="341514"/>
          </a:xfrm>
          <a:prstGeom prst="rect">
            <a:avLst/>
          </a:prstGeom>
        </p:spPr>
      </p:pic>
      <p:sp>
        <p:nvSpPr>
          <p:cNvPr id="23" name="Rectangle 22"/>
          <p:cNvSpPr/>
          <p:nvPr/>
        </p:nvSpPr>
        <p:spPr>
          <a:xfrm>
            <a:off x="9440265" y="3255264"/>
            <a:ext cx="2150668" cy="13853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min_dashboard.jpg"/>
          <p:cNvPicPr>
            <a:picLocks noChangeAspect="1"/>
          </p:cNvPicPr>
          <p:nvPr/>
        </p:nvPicPr>
        <p:blipFill>
          <a:blip r:embed="rId3"/>
          <a:stretch>
            <a:fillRect/>
          </a:stretch>
        </p:blipFill>
        <p:spPr>
          <a:xfrm>
            <a:off x="9495129" y="3310128"/>
            <a:ext cx="2040940" cy="1275588"/>
          </a:xfrm>
          <a:prstGeom prst="rect">
            <a:avLst/>
          </a:prstGeom>
        </p:spPr>
      </p:pic>
      <p:sp>
        <p:nvSpPr>
          <p:cNvPr id="25" name="Rounded Rectangle 24"/>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432864" y="2670048"/>
            <a:ext cx="198424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1516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151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9" name="TextBox 28"/>
          <p:cNvSpPr txBox="1"/>
          <p:nvPr/>
        </p:nvSpPr>
        <p:spPr>
          <a:xfrm>
            <a:off x="1816912" y="2670048"/>
            <a:ext cx="15636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마이페이지’</a:t>
            </a:r>
          </a:p>
        </p:txBody>
      </p:sp>
      <p:sp>
        <p:nvSpPr>
          <p:cNvPr id="30" name="TextBox 29"/>
          <p:cNvSpPr txBox="1"/>
          <p:nvPr/>
        </p:nvSpPr>
        <p:spPr>
          <a:xfrm>
            <a:off x="341711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1" name="Rounded Rectangle 30"/>
          <p:cNvSpPr/>
          <p:nvPr/>
        </p:nvSpPr>
        <p:spPr>
          <a:xfrm>
            <a:off x="3599992" y="2670048"/>
            <a:ext cx="16696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8228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822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4" name="TextBox 33"/>
          <p:cNvSpPr txBox="1"/>
          <p:nvPr/>
        </p:nvSpPr>
        <p:spPr>
          <a:xfrm>
            <a:off x="398404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‘관리자’</a:t>
            </a:r>
          </a:p>
        </p:txBody>
      </p:sp>
      <p:sp>
        <p:nvSpPr>
          <p:cNvPr id="35" name="TextBox 34"/>
          <p:cNvSpPr txBox="1"/>
          <p:nvPr/>
        </p:nvSpPr>
        <p:spPr>
          <a:xfrm>
            <a:off x="526968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6" name="Rounded Rectangle 35"/>
          <p:cNvSpPr/>
          <p:nvPr/>
        </p:nvSpPr>
        <p:spPr>
          <a:xfrm>
            <a:off x="5452567" y="2670048"/>
            <a:ext cx="18269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53486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48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9" name="TextBox 38"/>
          <p:cNvSpPr txBox="1"/>
          <p:nvPr/>
        </p:nvSpPr>
        <p:spPr>
          <a:xfrm>
            <a:off x="5836615"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관리자 대시보드</a:t>
            </a:r>
          </a:p>
        </p:txBody>
      </p:sp>
      <p:sp>
        <p:nvSpPr>
          <p:cNvPr id="40" name="TextBox 39"/>
          <p:cNvSpPr txBox="1"/>
          <p:nvPr/>
        </p:nvSpPr>
        <p:spPr>
          <a:xfrm>
            <a:off x="727953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41" name="Rounded Rectangle 40"/>
          <p:cNvSpPr/>
          <p:nvPr/>
        </p:nvSpPr>
        <p:spPr>
          <a:xfrm>
            <a:off x="7462418" y="2670048"/>
            <a:ext cx="229880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54471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447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4" name="TextBox 43"/>
          <p:cNvSpPr txBox="1"/>
          <p:nvPr/>
        </p:nvSpPr>
        <p:spPr>
          <a:xfrm>
            <a:off x="7846466" y="2670048"/>
            <a:ext cx="18781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마이페이지에는 연기…</a:t>
            </a:r>
          </a:p>
        </p:txBody>
      </p:sp>
      <p:sp>
        <p:nvSpPr>
          <p:cNvPr id="45" name="TextBox 44"/>
          <p:cNvSpPr txBox="1"/>
          <p:nvPr/>
        </p:nvSpPr>
        <p:spPr>
          <a:xfrm>
            <a:off x="9761219"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46" name="Rounded Rectangle 45"/>
          <p:cNvSpPr/>
          <p:nvPr/>
        </p:nvSpPr>
        <p:spPr>
          <a:xfrm>
            <a:off x="9944099" y="2670048"/>
            <a:ext cx="81198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2639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2639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9" name="TextBox 48"/>
          <p:cNvSpPr txBox="1"/>
          <p:nvPr/>
        </p:nvSpPr>
        <p:spPr>
          <a:xfrm>
            <a:off x="10328147" y="2670048"/>
            <a:ext cx="3913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지사 대시보드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우리 지사 현황 한눈에</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로그인하면 우리 지사의 매출·재원생·출석률과 산하 대리점 현황이 카드로 정리돼 있어요. 상단 검색창에 단어만 넣어도 원하는 기능으로 바로 이동해요.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상단에서 오늘 매출·재원생·출석률(우리 지사 합계)을 확인해요.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카테고리 카드(대리점·강사·회계·학생·콘텐츠)에서 기능을 눌러요.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기능 검색창에 단어를 넣으면 바로 이동해요.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AI 인사이트가 우리 지사 상태를 요약해줘요.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숫자는 모두 ‘우리 지사 범위’로 자동 집계돼요.</a:t>
            </a:r>
          </a:p>
          <a:p>
            <a:pPr>
              <a:lnSpc>
                <a:spcPct val="115000"/>
              </a:lnSpc>
              <a:spcAft>
                <a:spcPts val="100"/>
              </a:spcAft>
            </a:pPr>
            <a:r>
              <a:rPr sz="700" b="1">
                <a:solidFill>
                  <a:srgbClr val="0D9488"/>
                </a:solidFill>
                <a:latin typeface="Malgun Gothic"/>
              </a:rPr>
              <a:t>● </a:t>
            </a:r>
            <a:r>
              <a:rPr sz="900">
                <a:solidFill>
                  <a:srgbClr val="334155"/>
                </a:solidFill>
                <a:latin typeface="Malgun Gothic"/>
              </a:rPr>
              <a:t>찾는 기능이 안 보이면 검색이 가장 빨라요.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매일 아침 지사 지표 5분 점검으로 이상 신호를 빨리 잡으세요.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387498"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46979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697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771546"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오늘 매출·재원생·…</a:t>
            </a:r>
          </a:p>
        </p:txBody>
      </p:sp>
      <p:sp>
        <p:nvSpPr>
          <p:cNvPr id="26" name="TextBox 25"/>
          <p:cNvSpPr txBox="1"/>
          <p:nvPr/>
        </p:nvSpPr>
        <p:spPr>
          <a:xfrm>
            <a:off x="454365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726533" y="2670048"/>
            <a:ext cx="16696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0882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88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110581"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카테고리 카드</a:t>
            </a:r>
          </a:p>
        </p:txBody>
      </p:sp>
      <p:sp>
        <p:nvSpPr>
          <p:cNvPr id="31" name="TextBox 30"/>
          <p:cNvSpPr txBox="1"/>
          <p:nvPr/>
        </p:nvSpPr>
        <p:spPr>
          <a:xfrm>
            <a:off x="639622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579107"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6140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6140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963155"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기능 검색창</a:t>
            </a:r>
          </a:p>
        </p:txBody>
      </p:sp>
      <p:sp>
        <p:nvSpPr>
          <p:cNvPr id="36" name="TextBox 35"/>
          <p:cNvSpPr txBox="1"/>
          <p:nvPr/>
        </p:nvSpPr>
        <p:spPr>
          <a:xfrm>
            <a:off x="809152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8274405" y="2670048"/>
            <a:ext cx="152704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35670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670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658453" y="2670048"/>
            <a:ext cx="11064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인사이트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운영비서 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말·글로 조회·처리</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검색/마이크에 말하거나 글로 시키면 AI가 우리 지사 범위에서 숫자를 조회하거나 화면을 열어줘요. 중요한 처리는 먼저 확인하고, 권한이 있는 일만 실행해요.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가운데 검색/마이크에 말하거나 입력해요. 예) “이번 달 지사 매출 어때?”</a:t>
            </a:r>
          </a:p>
          <a:p>
            <a:pPr>
              <a:lnSpc>
                <a:spcPct val="115000"/>
              </a:lnSpc>
              <a:spcAft>
                <a:spcPts val="300"/>
              </a:spcAft>
            </a:pPr>
            <a:r>
              <a:rPr sz="750" b="1">
                <a:solidFill>
                  <a:srgbClr val="0D9488"/>
                </a:solidFill>
                <a:latin typeface="Malgun Gothic"/>
              </a:rPr>
              <a:t>● </a:t>
            </a:r>
            <a:r>
              <a:rPr sz="950">
                <a:solidFill>
                  <a:srgbClr val="334155"/>
                </a:solidFill>
                <a:latin typeface="Malgun Gothic"/>
              </a:rPr>
              <a:t>AI가 숫자를 조회하거나 화면을 열어줘요. 예) “대리점 목록 열어줘”</a:t>
            </a:r>
          </a:p>
          <a:p>
            <a:pPr>
              <a:lnSpc>
                <a:spcPct val="115000"/>
              </a:lnSpc>
              <a:spcAft>
                <a:spcPts val="300"/>
              </a:spcAft>
            </a:pPr>
            <a:r>
              <a:rPr sz="750" b="1">
                <a:solidFill>
                  <a:srgbClr val="0D9488"/>
                </a:solidFill>
                <a:latin typeface="Malgun Gothic"/>
              </a:rPr>
              <a:t>● </a:t>
            </a:r>
            <a:r>
              <a:rPr sz="950">
                <a:solidFill>
                  <a:srgbClr val="334155"/>
                </a:solidFill>
                <a:latin typeface="Malgun Gothic"/>
              </a:rPr>
              <a:t>중요한 처리는 ‘할까요?’로 먼저 확인해요.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권한이 있는 일만 비서가 실행해요.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바쁜 시간엔 말로 시키는 게 훨씬 빨라요.</a:t>
            </a:r>
          </a:p>
          <a:p>
            <a:pPr>
              <a:lnSpc>
                <a:spcPct val="115000"/>
              </a:lnSpc>
              <a:spcAft>
                <a:spcPts val="100"/>
              </a:spcAft>
            </a:pPr>
            <a:r>
              <a:rPr sz="700" b="1">
                <a:solidFill>
                  <a:srgbClr val="0D9488"/>
                </a:solidFill>
                <a:latin typeface="Malgun Gothic"/>
              </a:rPr>
              <a:t>● </a:t>
            </a:r>
            <a:r>
              <a:rPr sz="900">
                <a:solidFill>
                  <a:srgbClr val="334155"/>
                </a:solidFill>
                <a:latin typeface="Malgun Gothic"/>
              </a:rPr>
              <a:t>조회 결과도 우리 지사 범위로 한정돼요.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 보여줘/열어줘’ 한마디면 원하는 화면으로 바로 이동해요.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237536"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31983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198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621584"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검색/마이크</a:t>
            </a:r>
          </a:p>
        </p:txBody>
      </p:sp>
      <p:sp>
        <p:nvSpPr>
          <p:cNvPr id="26" name="TextBox 25"/>
          <p:cNvSpPr txBox="1"/>
          <p:nvPr/>
        </p:nvSpPr>
        <p:spPr>
          <a:xfrm>
            <a:off x="3749954"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3932834"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01513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151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316882"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숫자를 조회</a:t>
            </a:r>
          </a:p>
        </p:txBody>
      </p:sp>
      <p:sp>
        <p:nvSpPr>
          <p:cNvPr id="31" name="TextBox 30"/>
          <p:cNvSpPr txBox="1"/>
          <p:nvPr/>
        </p:nvSpPr>
        <p:spPr>
          <a:xfrm>
            <a:off x="544525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5628131"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1042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104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012179"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‘할까요?’로 먼저…</a:t>
            </a:r>
          </a:p>
        </p:txBody>
      </p:sp>
      <p:sp>
        <p:nvSpPr>
          <p:cNvPr id="36" name="TextBox 35"/>
          <p:cNvSpPr txBox="1"/>
          <p:nvPr/>
        </p:nvSpPr>
        <p:spPr>
          <a:xfrm>
            <a:off x="785561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8038490"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2078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207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422538"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권한이 있는 일만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산하 대리점 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대리점 목록·성과·모집</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우리 지사에 속한 대리점들을 목록으로 관리하고, 각 대리점의 재원생·매출·성과를 비교해요. 신규 대리점 모집·온보딩도 여기서 챙겨요.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대리점 목록에서 각 대리점의 재원생·매출·활동을 확인해요.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성과가 좋은/부진한 대리점을 비교해 지원 우선순위를 정해요.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신규 대리점 모집·온보딩 진행 상황을 관리해요.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필요하면 대리점별 목표·인센티브를 설정해요.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성과 편차가 큰 대리점은 코칭·지원을 연결하세요.</a:t>
            </a:r>
          </a:p>
          <a:p>
            <a:pPr>
              <a:lnSpc>
                <a:spcPct val="115000"/>
              </a:lnSpc>
              <a:spcAft>
                <a:spcPts val="100"/>
              </a:spcAft>
            </a:pPr>
            <a:r>
              <a:rPr sz="700" b="1">
                <a:solidFill>
                  <a:srgbClr val="0D9488"/>
                </a:solidFill>
                <a:latin typeface="Malgun Gothic"/>
              </a:rPr>
              <a:t>● </a:t>
            </a:r>
            <a:r>
              <a:rPr sz="900">
                <a:solidFill>
                  <a:srgbClr val="334155"/>
                </a:solidFill>
                <a:latin typeface="Malgun Gothic"/>
              </a:rPr>
              <a:t>우수 대리점의 방식을 다른 대리점에 공유하면 좋아요.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대리점 데이터는 해당 대리점 권한에서도 각자 관리돼요. 지사는 전체를 조망해요.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월초에 대리점별 성과 리포트를 공유하면 파트너 동기부여가 커져요.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menu_students.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16175"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39847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84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700223"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대리점 목록</a:t>
            </a:r>
          </a:p>
        </p:txBody>
      </p:sp>
      <p:sp>
        <p:nvSpPr>
          <p:cNvPr id="28" name="TextBox 27"/>
          <p:cNvSpPr txBox="1"/>
          <p:nvPr/>
        </p:nvSpPr>
        <p:spPr>
          <a:xfrm>
            <a:off x="382859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4011472" y="2670048"/>
            <a:ext cx="16696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09376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937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39552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지원 우선순위</a:t>
            </a:r>
          </a:p>
        </p:txBody>
      </p:sp>
      <p:sp>
        <p:nvSpPr>
          <p:cNvPr id="33" name="TextBox 32"/>
          <p:cNvSpPr txBox="1"/>
          <p:nvPr/>
        </p:nvSpPr>
        <p:spPr>
          <a:xfrm>
            <a:off x="568116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864047"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4634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63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248095"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신규 대리점 모집·…</a:t>
            </a:r>
          </a:p>
        </p:txBody>
      </p:sp>
      <p:sp>
        <p:nvSpPr>
          <p:cNvPr id="38" name="TextBox 37"/>
          <p:cNvSpPr txBox="1"/>
          <p:nvPr/>
        </p:nvSpPr>
        <p:spPr>
          <a:xfrm>
            <a:off x="802020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8203082" y="2670048"/>
            <a:ext cx="16696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8537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853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8713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목표·인센티브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지사 정산 (수령·배분)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본사→지사→대리점</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본사에서 지사로 내려오는 정산을 수령하고, 지사에서 산하 대리점으로 배분되는 금액을 확인해요. 조직 트리 구조를 따라 매출·수수료가 자동 계산돼요.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본사→지사 정산(수령액)을 월별로 확인해요.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지사→대리점 배분이 트리 구조로 자동 계산돼요.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정산 내역을 월간 리포트로 확인·저장(PDF)해요.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이상 항목이 있으면 내역을 조회해 확인해요.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정산은 조직 트리(본사·지사·대리점)를 따라 자동 계산돼요.</a:t>
            </a:r>
          </a:p>
          <a:p>
            <a:pPr>
              <a:lnSpc>
                <a:spcPct val="115000"/>
              </a:lnSpc>
              <a:spcAft>
                <a:spcPts val="100"/>
              </a:spcAft>
            </a:pPr>
            <a:r>
              <a:rPr sz="700" b="1">
                <a:solidFill>
                  <a:srgbClr val="0D9488"/>
                </a:solidFill>
                <a:latin typeface="Malgun Gothic"/>
              </a:rPr>
              <a:t>● </a:t>
            </a:r>
            <a:r>
              <a:rPr sz="900">
                <a:solidFill>
                  <a:srgbClr val="334155"/>
                </a:solidFill>
                <a:latin typeface="Malgun Gothic"/>
              </a:rPr>
              <a:t>월초 정산 리포트 배포로 대리점 신뢰가 올라가요.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정산 기준(수수료율·시기)을 대리점에 미리 공지하면 분쟁이 줄어요.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044598" y="2670048"/>
            <a:ext cx="18269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12689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268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428646"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본사→지사 정산</a:t>
            </a:r>
          </a:p>
        </p:txBody>
      </p:sp>
      <p:sp>
        <p:nvSpPr>
          <p:cNvPr id="26" name="TextBox 25"/>
          <p:cNvSpPr txBox="1"/>
          <p:nvPr/>
        </p:nvSpPr>
        <p:spPr>
          <a:xfrm>
            <a:off x="3871569"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054449" y="2670048"/>
            <a:ext cx="198424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3674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674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438497" y="2670048"/>
            <a:ext cx="15636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지사→대리점 배분</a:t>
            </a:r>
          </a:p>
        </p:txBody>
      </p:sp>
      <p:sp>
        <p:nvSpPr>
          <p:cNvPr id="31" name="TextBox 30"/>
          <p:cNvSpPr txBox="1"/>
          <p:nvPr/>
        </p:nvSpPr>
        <p:spPr>
          <a:xfrm>
            <a:off x="603869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221577"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0387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38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605625"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월간 리포트</a:t>
            </a:r>
          </a:p>
        </p:txBody>
      </p:sp>
      <p:sp>
        <p:nvSpPr>
          <p:cNvPr id="36" name="TextBox 35"/>
          <p:cNvSpPr txBox="1"/>
          <p:nvPr/>
        </p:nvSpPr>
        <p:spPr>
          <a:xfrm>
            <a:off x="773399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7916875"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99917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991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00923"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이상 항목이 있으면…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학생·학부모 현황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 범위 재원·출결·성적</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우리 지사에 속한 학생 현황(재원·출결·성적)을 확인해요. 대리점별로 나눠 보거나 지사 전체로 합산해 볼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학생/학부모에서 지사 범위 재원생을 확인해요.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대리점별·전체 출결·성적을 비교해요.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관리가 필요한 학생·대리점을 표시해요.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학생 목록은 실제 회원 데이터와 연동돼 있어요.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이탈위험 학생은 리텐션 센터와 연결돼요.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출석·재원 추이가 꺾이는 대리점을 빨리 찾아 지원하세요.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enu_students.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6800"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8909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90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9084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학생/학부모</a:t>
            </a:r>
          </a:p>
        </p:txBody>
      </p:sp>
      <p:sp>
        <p:nvSpPr>
          <p:cNvPr id="26" name="TextBox 25"/>
          <p:cNvSpPr txBox="1"/>
          <p:nvPr/>
        </p:nvSpPr>
        <p:spPr>
          <a:xfrm>
            <a:off x="471921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902098" y="2670048"/>
            <a:ext cx="16696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8439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843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286146"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대리점별·전체</a:t>
            </a:r>
          </a:p>
        </p:txBody>
      </p:sp>
      <p:sp>
        <p:nvSpPr>
          <p:cNvPr id="31" name="TextBox 30"/>
          <p:cNvSpPr txBox="1"/>
          <p:nvPr/>
        </p:nvSpPr>
        <p:spPr>
          <a:xfrm>
            <a:off x="657179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754672"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3696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369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138720"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관리가 필요한 학생…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결제·미납·환불 (지사)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 범위 회계</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우리 지사 범위의 결제·미납·환불을 확인하고, 규정에 따라 자동 계산되는 금액을 점검해요. 대리점별 수납 현황도 함께 봐요.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회계/포인트에서 지사 범위 결제·미납·환불을 확인해요.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대리점별 수납률을 비교해요.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환불 규정표에 따라 금액이 자동 계산돼요.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미납이 많은 대리점은 알림·지원을 강화하세요.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할인 결제 환불은 정가 기준으로 재정산돼요.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수납률이 낮은 대리점에 알림 자동화를 안내하면 개선돼요.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85692"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6798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79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69740"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회계/포인트</a:t>
            </a:r>
          </a:p>
        </p:txBody>
      </p:sp>
      <p:sp>
        <p:nvSpPr>
          <p:cNvPr id="26" name="TextBox 25"/>
          <p:cNvSpPr txBox="1"/>
          <p:nvPr/>
        </p:nvSpPr>
        <p:spPr>
          <a:xfrm>
            <a:off x="499811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5180990" y="2670048"/>
            <a:ext cx="18269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6328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32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565038"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대리점별 수납률</a:t>
            </a:r>
          </a:p>
        </p:txBody>
      </p:sp>
      <p:sp>
        <p:nvSpPr>
          <p:cNvPr id="31" name="TextBox 30"/>
          <p:cNvSpPr txBox="1"/>
          <p:nvPr/>
        </p:nvSpPr>
        <p:spPr>
          <a:xfrm>
            <a:off x="700796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7190841"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7313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7313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57488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환불 규정표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지사 리텐션 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이탈위험·전염·코칭</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우리 지사·대리점에서 이탈 위험이 있는 학생을 미리 찾고, 가족·추천으로 이어지는 연쇄 이탈을 예방해요. 대리점·강사 코칭과도 연결돼요.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이탈위험 그래프로 위험 학생·대리점을 찾아요.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이탈 전염 관계망으로 연쇄 이탈을 예방해요.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위험이 높은 곳에 알림톡·상담·코칭을 연결해요.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빨리 개입할수록 잔존율이 올라가요.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대리점별 이탈 패턴을 비교해 지원하세요.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매주 위험 상위 대리점·학생만이라도 챙기면 이탈이 눈에 띄게 줄어요.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85185" y="2670048"/>
            <a:ext cx="18269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6748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674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69233"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이탈위험 그래프</a:t>
            </a:r>
          </a:p>
        </p:txBody>
      </p:sp>
      <p:sp>
        <p:nvSpPr>
          <p:cNvPr id="26" name="TextBox 25"/>
          <p:cNvSpPr txBox="1"/>
          <p:nvPr/>
        </p:nvSpPr>
        <p:spPr>
          <a:xfrm>
            <a:off x="491215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5095036"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7733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73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79084"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이탈 전염 관계망</a:t>
            </a:r>
          </a:p>
        </p:txBody>
      </p:sp>
      <p:sp>
        <p:nvSpPr>
          <p:cNvPr id="31" name="TextBox 30"/>
          <p:cNvSpPr txBox="1"/>
          <p:nvPr/>
        </p:nvSpPr>
        <p:spPr>
          <a:xfrm>
            <a:off x="700796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7190841"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7313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7313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574889"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알림톡·상담·코칭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월간 리포트·성과 분석</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지사·대리점 성과</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지사와 산하 대리점의 성과를 월간 리포트로 정리해요. 매출·재원·출석·정산을 한눈에 보고, 인쇄·PDF로 저장해 공유해요.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월간 리포트로 지사·대리점 성과를 확인해요.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지표(매출·재원·출석·정산)를 전월/전년과 비교해요.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리포트를 인쇄·PDF로 저장해 공유해요.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AI 인사이트가 성과 요약을 도와줘요.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성과 리포트는 대리점 동기부여 자료로도 좋아요.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월초 리포트 공유를 정례화하면 지사 운영이 투명해져요.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49700"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3199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19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93374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월간 리포트</a:t>
            </a:r>
          </a:p>
        </p:txBody>
      </p:sp>
      <p:sp>
        <p:nvSpPr>
          <p:cNvPr id="26" name="TextBox 25"/>
          <p:cNvSpPr txBox="1"/>
          <p:nvPr/>
        </p:nvSpPr>
        <p:spPr>
          <a:xfrm>
            <a:off x="506211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5244998"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2729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272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29046"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전월/전년과 비교</a:t>
            </a:r>
          </a:p>
        </p:txBody>
      </p:sp>
      <p:sp>
        <p:nvSpPr>
          <p:cNvPr id="31" name="TextBox 30"/>
          <p:cNvSpPr txBox="1"/>
          <p:nvPr/>
        </p:nvSpPr>
        <p:spPr>
          <a:xfrm>
            <a:off x="715792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7340803" y="2670048"/>
            <a:ext cx="129844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42309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230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724851" y="2670048"/>
            <a:ext cx="8778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인쇄·PDF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지원·교육</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온보딩·운영 코칭</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산하 대리점이 잘 운영하도록 온보딩과 운영 코칭을 지원해요. 사용설명서·FAQ·상담 채널을 안내하고, 우수 사례를 공유해요.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신규 대리점에 사용설명서·운영 가이드를 안내해요.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자주 묻는 질문은 FAQ로 정리해 배포해요.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우수 대리점 사례를 공유해 상향 평준화해요.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초기 온보딩이 대리점 성패를 크게 좌우해요.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반복 문의는 FAQ로 만들어 지원 부담을 줄이세요.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분기별 대리점 미팅으로 성과·애로사항을 함께 점검하세요.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92677"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7497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49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976725"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사용설명서·운영 가…</a:t>
            </a:r>
          </a:p>
        </p:txBody>
      </p:sp>
      <p:sp>
        <p:nvSpPr>
          <p:cNvPr id="26" name="TextBox 25"/>
          <p:cNvSpPr txBox="1"/>
          <p:nvPr/>
        </p:nvSpPr>
        <p:spPr>
          <a:xfrm>
            <a:off x="582015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6003036" y="2670048"/>
            <a:ext cx="8979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08533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53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6387083" y="2670048"/>
            <a:ext cx="4773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FAQ</a:t>
            </a:r>
          </a:p>
        </p:txBody>
      </p:sp>
      <p:sp>
        <p:nvSpPr>
          <p:cNvPr id="31" name="TextBox 30"/>
          <p:cNvSpPr txBox="1"/>
          <p:nvPr/>
        </p:nvSpPr>
        <p:spPr>
          <a:xfrm>
            <a:off x="690097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7083856"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6615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661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67904"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상향 평준화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고객센터·문의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본사 지원 받기</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운영 중 문제가 생기면 본사 고객센터·지원 채널로 문의해요. 시스템·정산·정책 관련 문의를 빠르게 해결할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고객센터에서 전화·이메일·카카오·원격지원을 이용해요.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정산·정책 문의는 본사 담당과 연결해요.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반복 문제는 대응 방법을 메모해 둬요.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시스템 문제는 원격지원으로 빠르게 해결돼요.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운영시간 내 문의가 빨라요.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자주 겪는 문의와 해결법을 정리해 대리점에도 공유하세요.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42969" y="2670048"/>
            <a:ext cx="126918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526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526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27017"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고객센터</a:t>
            </a:r>
          </a:p>
        </p:txBody>
      </p:sp>
      <p:sp>
        <p:nvSpPr>
          <p:cNvPr id="26" name="TextBox 25"/>
          <p:cNvSpPr txBox="1"/>
          <p:nvPr/>
        </p:nvSpPr>
        <p:spPr>
          <a:xfrm>
            <a:off x="491215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5095036"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7733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73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79084"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본사 담당</a:t>
            </a:r>
          </a:p>
        </p:txBody>
      </p:sp>
      <p:sp>
        <p:nvSpPr>
          <p:cNvPr id="31" name="TextBox 30"/>
          <p:cNvSpPr txBox="1"/>
          <p:nvPr/>
        </p:nvSpPr>
        <p:spPr>
          <a:xfrm>
            <a:off x="645017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633057"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1535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153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017105"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대응 방법을 메모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한국·필리핀 듀얼 시계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화면에 뜨는 두 나라 시간</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화면에 🇰🇷 한국·🇵🇭 필리핀 시간이 함께 뜨는 시계예요. 필리핀 현지 강사와 한국 학생의 수업 시간을 조율할 때 시차를 바로 확인할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화면에 떠 있는 듀얼 시계에서 🇰🇷 한국·🇵🇭 필리핀 시간을 동시에 봐요.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시계를 드래그하면 원하는 위치로 옮길 수 있어요.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시계를 탭(클릭)하면 홈으로 이동해요.</a:t>
            </a:r>
          </a:p>
        </p:txBody>
      </p:sp>
      <p:sp>
        <p:nvSpPr>
          <p:cNvPr id="14" name="Rounded Rectangle 13"/>
          <p:cNvSpPr/>
          <p:nvPr/>
        </p:nvSpPr>
        <p:spPr>
          <a:xfrm>
            <a:off x="457200" y="5044744"/>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필리핀은 한국보다 1시간 느려요(시차 −1시간).</a:t>
            </a:r>
          </a:p>
          <a:p>
            <a:pPr>
              <a:lnSpc>
                <a:spcPct val="115000"/>
              </a:lnSpc>
              <a:spcAft>
                <a:spcPts val="100"/>
              </a:spcAft>
            </a:pPr>
            <a:r>
              <a:rPr sz="800" b="1">
                <a:solidFill>
                  <a:srgbClr val="0D9488"/>
                </a:solidFill>
                <a:latin typeface="Malgun Gothic"/>
              </a:rPr>
              <a:t>● </a:t>
            </a:r>
            <a:r>
              <a:rPr sz="1000">
                <a:solidFill>
                  <a:srgbClr val="334155"/>
                </a:solidFill>
                <a:latin typeface="Malgun Gothic"/>
              </a:rPr>
              <a:t>수업 예약·입장 시간을 두 나라 시간으로 확인할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시차 때문에 수업 시간이 헷갈릴 때 이 시계를 보면 바로 확인돼요.</a:t>
            </a:r>
          </a:p>
        </p:txBody>
      </p:sp>
      <p:sp>
        <p:nvSpPr>
          <p:cNvPr id="19" name="Rectangle 18"/>
          <p:cNvSpPr/>
          <p:nvPr/>
        </p:nvSpPr>
        <p:spPr>
          <a:xfrm>
            <a:off x="6805460" y="3255264"/>
            <a:ext cx="4585638"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860324" y="3310128"/>
            <a:ext cx="4475910"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36161"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11845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84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42020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듀얼 시계</a:t>
            </a:r>
          </a:p>
        </p:txBody>
      </p:sp>
      <p:sp>
        <p:nvSpPr>
          <p:cNvPr id="26" name="TextBox 25"/>
          <p:cNvSpPr txBox="1"/>
          <p:nvPr/>
        </p:nvSpPr>
        <p:spPr>
          <a:xfrm>
            <a:off x="539130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5574182" y="2670048"/>
            <a:ext cx="111191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5647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564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95823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드래그</a:t>
            </a:r>
          </a:p>
        </p:txBody>
      </p:sp>
      <p:sp>
        <p:nvSpPr>
          <p:cNvPr id="31" name="TextBox 30"/>
          <p:cNvSpPr txBox="1"/>
          <p:nvPr/>
        </p:nvSpPr>
        <p:spPr>
          <a:xfrm>
            <a:off x="668609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868972" y="2670048"/>
            <a:ext cx="12838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5126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512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53020" y="2670048"/>
            <a:ext cx="8631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탭(클릭)</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중국어 발음 코치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다락원 중국어 마스터 Lv1~20</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망고아이는 영어뿐 아니라 중국어 과정도 제공해요. 다락원 중국어 마스터(Lv 1~20) 기반 발음 코치(한자+병음·AI 음성인식·원어민 비교)로, 중국어 수요가 있는 학생을 유치·관리할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AI 음성코치에서 CN 중국어 레벨을 골라요. (또는 중국어 발음 코치로 이동)</a:t>
            </a:r>
          </a:p>
          <a:p>
            <a:pPr>
              <a:lnSpc>
                <a:spcPct val="115000"/>
              </a:lnSpc>
              <a:spcAft>
                <a:spcPts val="300"/>
              </a:spcAft>
            </a:pPr>
            <a:r>
              <a:rPr sz="700" b="1">
                <a:solidFill>
                  <a:srgbClr val="0D9488"/>
                </a:solidFill>
                <a:latin typeface="Malgun Gothic"/>
              </a:rPr>
              <a:t>● </a:t>
            </a:r>
            <a:r>
              <a:rPr sz="900">
                <a:solidFill>
                  <a:srgbClr val="334155"/>
                </a:solidFill>
                <a:latin typeface="Malgun Gothic"/>
              </a:rPr>
              <a:t>다락원 마스터 시리즈(1~6, HSK 1~6)와 단원을 선택해요.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화면의 문장(한자 + 병음)을 따라 읽고, ‘원어민 발음 듣기’로 비교해요.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반복·느리게(0.85x) 기능으로 어려운 발음·성조를 연습해요.</a:t>
            </a:r>
          </a:p>
        </p:txBody>
      </p:sp>
      <p:sp>
        <p:nvSpPr>
          <p:cNvPr id="14" name="Rounded Rectangle 13"/>
          <p:cNvSpPr/>
          <p:nvPr/>
        </p:nvSpPr>
        <p:spPr>
          <a:xfrm>
            <a:off x="457200" y="4994452"/>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287060"/>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한자와 병음(발음 표기)이 함께 나와 읽기 쉬워요.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AI가 음성을 인식해 원어민과 비교해줘요.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학습 게임 허브에서도 중국어를 지원해요.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느리게로 듣고 또박또박 따라 하면 성조(4성)가 잘 잡혀요.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251252" y="2670048"/>
            <a:ext cx="13697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33354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335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635300" y="2670048"/>
            <a:ext cx="9491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CN 중국어</a:t>
            </a:r>
          </a:p>
        </p:txBody>
      </p:sp>
      <p:sp>
        <p:nvSpPr>
          <p:cNvPr id="26" name="TextBox 25"/>
          <p:cNvSpPr txBox="1"/>
          <p:nvPr/>
        </p:nvSpPr>
        <p:spPr>
          <a:xfrm>
            <a:off x="362102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3803903"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8619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861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18795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다락원 마스터 시리…</a:t>
            </a:r>
          </a:p>
        </p:txBody>
      </p:sp>
      <p:sp>
        <p:nvSpPr>
          <p:cNvPr id="31" name="TextBox 30"/>
          <p:cNvSpPr txBox="1"/>
          <p:nvPr/>
        </p:nvSpPr>
        <p:spPr>
          <a:xfrm>
            <a:off x="603138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6214262" y="2670048"/>
            <a:ext cx="152704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9655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65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98310" y="2670048"/>
            <a:ext cx="11064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한자 + 병음</a:t>
            </a:r>
          </a:p>
        </p:txBody>
      </p:sp>
      <p:sp>
        <p:nvSpPr>
          <p:cNvPr id="36" name="TextBox 35"/>
          <p:cNvSpPr txBox="1"/>
          <p:nvPr/>
        </p:nvSpPr>
        <p:spPr>
          <a:xfrm>
            <a:off x="774131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7924190" y="2670048"/>
            <a:ext cx="201350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0648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064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08238"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반복·느리게(0.8…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중 칭찬 포인트 (이해·활용)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 동기부여·재등록에 연결</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중 교사가 학생에게 🌟 칭찬 포인트(+1P)를 즉석 지급하고, 수업 종료 별점(+10P)이 더해져 학생 총포인트로 쌓여요. 포인트는 상점·기프티콘 보상으로 이어져 학생 동기부여와 재등록에 도움이 돼요. 지사는 이 흐름을 이해하고 성과에 활용해요.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교사가 수업 중 학생 화면의 🌟 칭찬 버튼으로 +1P를 지급해요.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학생 🧺 포인트 바구니에 실시간 누적, 총 포인트에 합산돼요.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수업 종료 별점 평가로 학생은 +10P를 더 받아요.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포인트는 상점·룰렛·기프티콘 보상과 연결돼요.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즉각 보상은 학생 참여·재등록에 긍정적이에요.</a:t>
            </a:r>
          </a:p>
          <a:p>
            <a:pPr>
              <a:lnSpc>
                <a:spcPct val="115000"/>
              </a:lnSpc>
              <a:spcAft>
                <a:spcPts val="100"/>
              </a:spcAft>
            </a:pPr>
            <a:r>
              <a:rPr sz="700" b="1">
                <a:solidFill>
                  <a:srgbClr val="0D9488"/>
                </a:solidFill>
                <a:latin typeface="Malgun Gothic"/>
              </a:rPr>
              <a:t>● </a:t>
            </a:r>
            <a:r>
              <a:rPr sz="900">
                <a:solidFill>
                  <a:srgbClr val="334155"/>
                </a:solidFill>
                <a:latin typeface="Malgun Gothic"/>
              </a:rPr>
              <a:t>우리 지사 학생의 포인트·리워드 반응을 성과로 활용하세요.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칭찬 포인트 지급은 교사가, 상점·리워드·기프티콘 정책은 본사(관리자)가 구성해요.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칭찬 포인트가 잘 도는 반(교사)일수록 재등록률이 높은 경향이 있어요.</a:t>
            </a:r>
          </a:p>
        </p:txBody>
      </p:sp>
      <p:sp>
        <p:nvSpPr>
          <p:cNvPr id="21" name="Rectangle 20"/>
          <p:cNvSpPr/>
          <p:nvPr/>
        </p:nvSpPr>
        <p:spPr>
          <a:xfrm>
            <a:off x="6300216" y="3828426"/>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883290"/>
            <a:ext cx="5486400" cy="158773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52344" y="2670048"/>
            <a:ext cx="954633"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3464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36392"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교사</a:t>
            </a:r>
          </a:p>
        </p:txBody>
      </p:sp>
      <p:sp>
        <p:nvSpPr>
          <p:cNvPr id="28" name="TextBox 27"/>
          <p:cNvSpPr txBox="1"/>
          <p:nvPr/>
        </p:nvSpPr>
        <p:spPr>
          <a:xfrm>
            <a:off x="370697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889857" y="2670048"/>
            <a:ext cx="954633"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7215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721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273905"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a:t>
            </a:r>
          </a:p>
        </p:txBody>
      </p:sp>
      <p:sp>
        <p:nvSpPr>
          <p:cNvPr id="33" name="TextBox 32"/>
          <p:cNvSpPr txBox="1"/>
          <p:nvPr/>
        </p:nvSpPr>
        <p:spPr>
          <a:xfrm>
            <a:off x="484449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027371"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10966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0966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411419"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종료 별점 평…</a:t>
            </a:r>
          </a:p>
        </p:txBody>
      </p:sp>
      <p:sp>
        <p:nvSpPr>
          <p:cNvPr id="38" name="TextBox 37"/>
          <p:cNvSpPr txBox="1"/>
          <p:nvPr/>
        </p:nvSpPr>
        <p:spPr>
          <a:xfrm>
            <a:off x="718352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7366406" y="2670048"/>
            <a:ext cx="207020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44870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487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750454"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상점·룰렛·기프티콘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공지 스튜디오 (포스터 + 팝업)</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공지·이벤트 포스터를 만들어 학생 앱 팝업으로</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흩어져 있던 ‘포스터 만들기’와 ‘팝업 공지 관리’를 한 곳으로 통합한 기능이에요. ①만들기 탭에서 공지·이벤트 포스터를 디자인하고, 바로 ②게시·팝업 탭으로 넘겨 우리 지사 학생 앱에 팝업으로 띄울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474927"/>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관리자 메뉴 알림 센터 → 📢 공지 스튜디오로 들어가요.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①만들기 탭에서 문구·이미지·동영상으로 포스터를 꾸며요. (크기 조절·서버 저장·재사용 가능)</a:t>
            </a:r>
          </a:p>
          <a:p>
            <a:pPr>
              <a:lnSpc>
                <a:spcPct val="115000"/>
              </a:lnSpc>
              <a:spcAft>
                <a:spcPts val="300"/>
              </a:spcAft>
            </a:pPr>
            <a:r>
              <a:rPr sz="700" b="1">
                <a:solidFill>
                  <a:srgbClr val="0D9488"/>
                </a:solidFill>
                <a:latin typeface="Malgun Gothic"/>
              </a:rPr>
              <a:t>● </a:t>
            </a:r>
            <a:r>
              <a:rPr sz="900">
                <a:solidFill>
                  <a:srgbClr val="334155"/>
                </a:solidFill>
                <a:latin typeface="Malgun Gothic"/>
              </a:rPr>
              <a:t>완성한 포스터의 ‘📢 팝업으로 게시’ 를 누르면 ②게시·팝업 탭으로 자동 전환돼요.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게시 탭에서 노출 기간·중단을 설정해 학생 앱 팝업으로 발행해요.</a:t>
            </a:r>
          </a:p>
        </p:txBody>
      </p:sp>
      <p:sp>
        <p:nvSpPr>
          <p:cNvPr id="14" name="Rounded Rectangle 13"/>
          <p:cNvSpPr/>
          <p:nvPr/>
        </p:nvSpPr>
        <p:spPr>
          <a:xfrm>
            <a:off x="457200" y="5315407"/>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61127"/>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608015"/>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포스터 제작과 팝업 발행이 한 화면 2탭으로 이어져 헷갈리지 않아요.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만든 포스터는 저장해두고 재사용할 수 있어요.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AI 비서·사이드바 검색 어느 경로로 들어와도 올바른 탭이 열려요.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기존 포스터·팝업 데이터는 그대로 유지돼요(통합만 됐고 삭제되지 않았어요).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이벤트 홍보는 ‘만들기 → 바로 팝업 게시’ 흐름 한 번이면 끝나요.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194560" y="2670048"/>
            <a:ext cx="19988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27685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768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578608" y="2670048"/>
            <a:ext cx="15782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알림 센터 → 📢…</a:t>
            </a:r>
          </a:p>
        </p:txBody>
      </p:sp>
      <p:sp>
        <p:nvSpPr>
          <p:cNvPr id="28" name="TextBox 27"/>
          <p:cNvSpPr txBox="1"/>
          <p:nvPr/>
        </p:nvSpPr>
        <p:spPr>
          <a:xfrm>
            <a:off x="419343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4376318" y="2670048"/>
            <a:ext cx="126918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5861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586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760366"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①만들기</a:t>
            </a:r>
          </a:p>
        </p:txBody>
      </p:sp>
      <p:sp>
        <p:nvSpPr>
          <p:cNvPr id="33" name="TextBox 32"/>
          <p:cNvSpPr txBox="1"/>
          <p:nvPr/>
        </p:nvSpPr>
        <p:spPr>
          <a:xfrm>
            <a:off x="564550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828385"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1068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106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212433"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팝업으로 게시…</a:t>
            </a:r>
          </a:p>
        </p:txBody>
      </p:sp>
      <p:sp>
        <p:nvSpPr>
          <p:cNvPr id="38" name="TextBox 37"/>
          <p:cNvSpPr txBox="1"/>
          <p:nvPr/>
        </p:nvSpPr>
        <p:spPr>
          <a:xfrm>
            <a:off x="8055864"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8238744" y="2670048"/>
            <a:ext cx="175564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32104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622792"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노출 기간·중단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운영비서에게 시키기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 화면으로 가게 해줘” 한마디로 이동</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상단 통합 검색창(또는 우하단 AI 운영비서) 에 하고 싶은 일을 자연스럽게 말하면, AI가 알아듣고 바로 그 화면으로 이동시켜줘요. 이제 ‘○○ 강사 스케줄로 가게 해줘’, ‘자동 스케줄링 열어줘’ 같은 이동 명령을 정확히 따라요.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상단 검색창에 명령을 입력하거나 🎤 마이크로 말해요.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예: “김민지 강사 스케줄로 가게 해줘” → 주간 스케줄에서 해당 강사를 자동으로 찾아 열어줘요.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예: “자동 스케줄링 열어줘”, “정산 화면으로” 처럼 메뉴 이동을 시켜요.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AI 응답 카드의 ‘지금 이동 →’ 을 누르면 해당 화면으로 넘어가요.</a:t>
            </a:r>
          </a:p>
        </p:txBody>
      </p:sp>
      <p:sp>
        <p:nvSpPr>
          <p:cNvPr id="14" name="Rounded Rectangle 13"/>
          <p:cNvSpPr/>
          <p:nvPr/>
        </p:nvSpPr>
        <p:spPr>
          <a:xfrm>
            <a:off x="457200" y="5154930"/>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이동 명령은 확실히 이동하고, 설명만 하고 마는 일이 줄었어요.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강사 이름으로 스케줄을 검색하면 검색창 자동 채움 + 필터 + 스크롤까지 돼요.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데이터 조회·통계 질문에는 카드형 답변으로도 도와줘요.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‘등록·발송·변경’처럼 실제로 무언가를 바꾸는 명령은 한 번 더 확인해요(안전장치).</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메뉴 이름이 기억나지 않을 땐 하고 싶은 일을 그대로 말해보세요 — 알아서 찾아가요.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aicomman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80260" y="2670048"/>
            <a:ext cx="111191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6255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25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464308"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검색창</a:t>
            </a:r>
          </a:p>
        </p:txBody>
      </p:sp>
      <p:sp>
        <p:nvSpPr>
          <p:cNvPr id="28" name="TextBox 27"/>
          <p:cNvSpPr txBox="1"/>
          <p:nvPr/>
        </p:nvSpPr>
        <p:spPr>
          <a:xfrm>
            <a:off x="319217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375050"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5734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5734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759098"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“김민지 강사 스케…</a:t>
            </a:r>
          </a:p>
        </p:txBody>
      </p:sp>
      <p:sp>
        <p:nvSpPr>
          <p:cNvPr id="33" name="TextBox 32"/>
          <p:cNvSpPr txBox="1"/>
          <p:nvPr/>
        </p:nvSpPr>
        <p:spPr>
          <a:xfrm>
            <a:off x="560252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785408"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6770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6770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16945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“자동 스케줄링 열…</a:t>
            </a:r>
          </a:p>
        </p:txBody>
      </p:sp>
      <p:sp>
        <p:nvSpPr>
          <p:cNvPr id="38" name="TextBox 37"/>
          <p:cNvSpPr txBox="1"/>
          <p:nvPr/>
        </p:nvSpPr>
        <p:spPr>
          <a:xfrm>
            <a:off x="801288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8195767"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7806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80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79815"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‘지금 이동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자료실 카카오톡 링크 공유</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영상·문서를 원본 화질 그대로 카톡으로</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자료실의 설명서·영상마다 ‘💬 카톡 링크복사’ 버튼이 생겼어요. 카카오톡에 파일을 첨부하면 화질이 눌리지만, 링크로 보내면 원본 화질 그대로 재생돼요. 버튼 한 번으로 링크가 복사되니 학부모·강사 안내가 훨씬 쉬워요.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0D9488"/>
                </a:solidFill>
                <a:latin typeface="Malgun Gothic"/>
              </a:rPr>
              <a:t>● </a:t>
            </a:r>
            <a:r>
              <a:rPr sz="1150">
                <a:solidFill>
                  <a:srgbClr val="334155"/>
                </a:solidFill>
                <a:latin typeface="Malgun Gothic"/>
              </a:rPr>
              <a:t>관리자 자료실에서 공유할 파일 옆 💬 카톡 링크복사를 눌러요.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카카오톡 대화방에 붙여넣기로 보내요.</a:t>
            </a:r>
          </a:p>
          <a:p>
            <a:pPr>
              <a:lnSpc>
                <a:spcPct val="115000"/>
              </a:lnSpc>
              <a:spcAft>
                <a:spcPts val="300"/>
              </a:spcAft>
            </a:pPr>
            <a:r>
              <a:rPr sz="950" b="1">
                <a:solidFill>
                  <a:srgbClr val="0D9488"/>
                </a:solidFill>
                <a:latin typeface="Malgun Gothic"/>
              </a:rPr>
              <a:t>● </a:t>
            </a:r>
            <a:r>
              <a:rPr sz="1150">
                <a:solidFill>
                  <a:srgbClr val="334155"/>
                </a:solidFill>
                <a:latin typeface="Malgun Gothic"/>
              </a:rPr>
              <a:t>받는 사람은 링크를 눌러 원본 화질로 바로 보거나 내려받아요.</a:t>
            </a:r>
          </a:p>
        </p:txBody>
      </p:sp>
      <p:sp>
        <p:nvSpPr>
          <p:cNvPr id="14" name="Rounded Rectangle 13"/>
          <p:cNvSpPr/>
          <p:nvPr/>
        </p:nvSpPr>
        <p:spPr>
          <a:xfrm>
            <a:off x="457200" y="4839690"/>
            <a:ext cx="5669280" cy="88696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0D9488"/>
                </a:solidFill>
                <a:latin typeface="Malgun Gothic"/>
              </a:rPr>
              <a:t>● </a:t>
            </a:r>
            <a:r>
              <a:rPr sz="1000">
                <a:solidFill>
                  <a:srgbClr val="334155"/>
                </a:solidFill>
                <a:latin typeface="Malgun Gothic"/>
              </a:rPr>
              <a:t>동영상은 링크 공유 = 원본 화질, 파일 첨부는 화질이 떨어져요.</a:t>
            </a:r>
          </a:p>
          <a:p>
            <a:pPr>
              <a:lnSpc>
                <a:spcPct val="115000"/>
              </a:lnSpc>
              <a:spcAft>
                <a:spcPts val="100"/>
              </a:spcAft>
            </a:pPr>
            <a:r>
              <a:rPr sz="800" b="1">
                <a:solidFill>
                  <a:srgbClr val="0D9488"/>
                </a:solidFill>
                <a:latin typeface="Malgun Gothic"/>
              </a:rPr>
              <a:t>● </a:t>
            </a:r>
            <a:r>
              <a:rPr sz="1000">
                <a:solidFill>
                  <a:srgbClr val="334155"/>
                </a:solidFill>
                <a:latin typeface="Malgun Gothic"/>
              </a:rPr>
              <a:t>설명서 PDF·PPT·영상 등 자료실 어디서나 같은 방식으로 공유돼요.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링크를 받은 사람은 누구나 열 수 있어요. 내부용 자료는 공유 대상을 확인하세요.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학부모 단체방에는 영상 설명서 링크 하나면 안내가 끝나요.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043476" y="2670048"/>
            <a:ext cx="111191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2577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257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4427524"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자료실</a:t>
            </a:r>
          </a:p>
        </p:txBody>
      </p:sp>
      <p:sp>
        <p:nvSpPr>
          <p:cNvPr id="28" name="TextBox 27"/>
          <p:cNvSpPr txBox="1"/>
          <p:nvPr/>
        </p:nvSpPr>
        <p:spPr>
          <a:xfrm>
            <a:off x="515538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5338267" y="2670048"/>
            <a:ext cx="126918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2056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05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722315"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붙여넣기</a:t>
            </a:r>
          </a:p>
        </p:txBody>
      </p:sp>
      <p:sp>
        <p:nvSpPr>
          <p:cNvPr id="33" name="TextBox 32"/>
          <p:cNvSpPr txBox="1"/>
          <p:nvPr/>
        </p:nvSpPr>
        <p:spPr>
          <a:xfrm>
            <a:off x="6607454"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6790334"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7263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726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174382"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원본 화질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새로워진 관리자 화면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사이드바 접기 · 밝은 배경 · 선 아이콘</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관리자 화면이 눈이 편하고 넓게 바뀌었습니다. 왼쪽 메뉴는 ‹ 접기 버튼으로 아이콘만 남는 좁은 띠(레일) 로 접히고, 배경은 밝은 톤으로 통일됐어요. 메뉴 아이콘도 선(라인) 아이콘으로 정리해 글자가 잘 읽힙니다.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왼쪽 메뉴 맨 위의 ‹ 접기를 눌러요. 메뉴가 아이콘 띠로 줄어들며 본문이 넓어져요.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다시 펼치려면 같은 자리의 › 버튼을 눌러요.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접은 상태는 다음 접속 때도 그대로 기억됩니다.</a:t>
            </a:r>
          </a:p>
          <a:p>
            <a:pPr>
              <a:lnSpc>
                <a:spcPct val="115000"/>
              </a:lnSpc>
              <a:spcAft>
                <a:spcPts val="300"/>
              </a:spcAft>
            </a:pPr>
            <a:r>
              <a:rPr sz="700" b="1">
                <a:solidFill>
                  <a:srgbClr val="0D9488"/>
                </a:solidFill>
                <a:latin typeface="Malgun Gothic"/>
              </a:rPr>
              <a:t>● </a:t>
            </a:r>
            <a:r>
              <a:rPr sz="900">
                <a:solidFill>
                  <a:srgbClr val="334155"/>
                </a:solidFill>
                <a:latin typeface="Malgun Gothic"/>
              </a:rPr>
              <a:t>메뉴가 많아 찾기 어려우면 위쪽 메뉴 검색에 이름을 쳐 보세요.</a:t>
            </a:r>
          </a:p>
        </p:txBody>
      </p:sp>
      <p:sp>
        <p:nvSpPr>
          <p:cNvPr id="14" name="Rounded Rectangle 13"/>
          <p:cNvSpPr/>
          <p:nvPr/>
        </p:nvSpPr>
        <p:spPr>
          <a:xfrm>
            <a:off x="457200" y="5154930"/>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표·목록이 많은 화면에서 가로 공간이 크게 늘어나요.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하위 메뉴 15장까지 밝은 테마로 통일돼 화면 간 색 차이가 사라졌어요.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저사양 PC에서도 버벅이지 않도록 접기 애니메이션을 없앴습니다.</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정산·급여처럼 표가 넓은 화면은 접어 놓고 보면 훨씬 편합니다.</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sidebar_rail.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66644" y="2670048"/>
            <a:ext cx="119786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4894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489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250692"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접기</a:t>
            </a:r>
          </a:p>
        </p:txBody>
      </p:sp>
      <p:sp>
        <p:nvSpPr>
          <p:cNvPr id="26" name="TextBox 25"/>
          <p:cNvSpPr txBox="1"/>
          <p:nvPr/>
        </p:nvSpPr>
        <p:spPr>
          <a:xfrm>
            <a:off x="406450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247388" y="2670048"/>
            <a:ext cx="119786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2968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296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631436"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버튼</a:t>
            </a:r>
          </a:p>
        </p:txBody>
      </p:sp>
      <p:sp>
        <p:nvSpPr>
          <p:cNvPr id="31" name="TextBox 30"/>
          <p:cNvSpPr txBox="1"/>
          <p:nvPr/>
        </p:nvSpPr>
        <p:spPr>
          <a:xfrm>
            <a:off x="544525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5628132"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1042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1042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012180"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다음 접속 때도 그…</a:t>
            </a:r>
          </a:p>
        </p:txBody>
      </p:sp>
      <p:sp>
        <p:nvSpPr>
          <p:cNvPr id="36" name="TextBox 35"/>
          <p:cNvSpPr txBox="1"/>
          <p:nvPr/>
        </p:nvSpPr>
        <p:spPr>
          <a:xfrm>
            <a:off x="778428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7967167"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4946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94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51215"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메뉴 검색</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화면 언어가 자동으로 맞춰져요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해외 스태프·강사는 영어로 시작</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필리핀 강사와 해외 스태프가 처음부터 영어 화면으로 시작합니다. 계정의 국적 정보를 기준으로 화면 언어가 정해지고, 강사 계정은 이름·이전 선택과 무관하게 항상 영어로 뜹니다. 물론 상단 🌐 EN / KR 버튼으로 언제든 직접 바꿀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계정에 국적이 등록돼 있으면 로그인할 때 자동으로 맞는 언어가 뜹니다.</a:t>
            </a:r>
          </a:p>
          <a:p>
            <a:pPr>
              <a:lnSpc>
                <a:spcPct val="115000"/>
              </a:lnSpc>
              <a:spcAft>
                <a:spcPts val="300"/>
              </a:spcAft>
            </a:pPr>
            <a:r>
              <a:rPr sz="700" b="1">
                <a:solidFill>
                  <a:srgbClr val="0D9488"/>
                </a:solidFill>
                <a:latin typeface="Malgun Gothic"/>
              </a:rPr>
              <a:t>● </a:t>
            </a:r>
            <a:r>
              <a:rPr sz="900">
                <a:solidFill>
                  <a:srgbClr val="334155"/>
                </a:solidFill>
                <a:latin typeface="Malgun Gothic"/>
              </a:rPr>
              <a:t>직접 바꾸려면 상단의 🌐 EN / KR 버튼을 눌러요.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직접 고른 언어는 그 계정에만 저장돼요 — 같은 PC를 여러 명이 써도 섞이지 않습니다.</a:t>
            </a:r>
          </a:p>
          <a:p>
            <a:pPr>
              <a:lnSpc>
                <a:spcPct val="115000"/>
              </a:lnSpc>
              <a:spcAft>
                <a:spcPts val="300"/>
              </a:spcAft>
            </a:pPr>
            <a:r>
              <a:rPr sz="700" b="1">
                <a:solidFill>
                  <a:srgbClr val="0D9488"/>
                </a:solidFill>
                <a:latin typeface="Malgun Gothic"/>
              </a:rPr>
              <a:t>● </a:t>
            </a:r>
            <a:r>
              <a:rPr sz="900">
                <a:solidFill>
                  <a:srgbClr val="334155"/>
                </a:solidFill>
                <a:latin typeface="Malgun Gothic"/>
              </a:rPr>
              <a:t>강사용 안내 슬라이드·안내서도 영어판으로 함께 바뀝니다.</a:t>
            </a:r>
          </a:p>
        </p:txBody>
      </p:sp>
      <p:sp>
        <p:nvSpPr>
          <p:cNvPr id="14" name="Rounded Rectangle 13"/>
          <p:cNvSpPr/>
          <p:nvPr/>
        </p:nvSpPr>
        <p:spPr>
          <a:xfrm>
            <a:off x="457200" y="5154930"/>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강사 계정은 무조건 영어 — 한국어 화면 때문에 헤매는 일이 없어요.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이름에 붙은 한글 직함 때문에 영문 이름 계정이 한국어로 뜨던 문제도 고쳤어요.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언어 선택이 계정별로 분리돼 해외 계정이 남의 선택에 덮이지 않아요.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국적이 비어 있는 계정은 기존 방식(이름·아이디 규칙)으로 판단합니다. 강사 등록 시 국적을 꼭 넣어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새 강사를 등록할 때 국적을 함께 입력하면 첫 로그인부터 영어 화면으로 시작해 문의가 줄어듭니다.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30652" y="2670048"/>
            <a:ext cx="954633"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1294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29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31470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국적</a:t>
            </a:r>
          </a:p>
        </p:txBody>
      </p:sp>
      <p:sp>
        <p:nvSpPr>
          <p:cNvPr id="28" name="TextBox 27"/>
          <p:cNvSpPr txBox="1"/>
          <p:nvPr/>
        </p:nvSpPr>
        <p:spPr>
          <a:xfrm>
            <a:off x="388528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4068165" y="2670048"/>
            <a:ext cx="148498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15046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5046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452213" y="2670048"/>
            <a:ext cx="10643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EN / KR</a:t>
            </a:r>
          </a:p>
        </p:txBody>
      </p:sp>
      <p:sp>
        <p:nvSpPr>
          <p:cNvPr id="33" name="TextBox 32"/>
          <p:cNvSpPr txBox="1"/>
          <p:nvPr/>
        </p:nvSpPr>
        <p:spPr>
          <a:xfrm>
            <a:off x="555315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736031"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1832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183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12007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그 계정에만</a:t>
            </a:r>
          </a:p>
        </p:txBody>
      </p:sp>
      <p:sp>
        <p:nvSpPr>
          <p:cNvPr id="38" name="TextBox 37"/>
          <p:cNvSpPr txBox="1"/>
          <p:nvPr/>
        </p:nvSpPr>
        <p:spPr>
          <a:xfrm>
            <a:off x="724844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7431328" y="2670048"/>
            <a:ext cx="182697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51362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136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815376"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영어판으로 함께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수강 등록 · 결제 → 수업 자동 생성</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결제 확정되면 회차 전량이 자동으로 잡힙니다</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수강신청 화면에서 학생이 강사·요일·시간을 고르고 결제하면, 결제 확정 시점에 수업 회차가 전량 자동 생성됩니다. 예전처럼 결제 확인 후 사람이 일일이 시간표를 넣던 작업이 사라졌어요. 같은 시간에 이미 잡힌 수업이 있으면 결제 전에 충돌을 감지해 알려 줍니다.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학생·학부모에게 수강신청 링크를 안내해요.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학생이 강사 → 수업 옵션(주 횟수·기간·수업 길이) → 요일·시간 순으로 고릅니다.</a:t>
            </a:r>
          </a:p>
          <a:p>
            <a:pPr>
              <a:lnSpc>
                <a:spcPct val="115000"/>
              </a:lnSpc>
              <a:spcAft>
                <a:spcPts val="300"/>
              </a:spcAft>
            </a:pPr>
            <a:r>
              <a:rPr sz="700" b="1">
                <a:solidFill>
                  <a:srgbClr val="0D9488"/>
                </a:solidFill>
                <a:latin typeface="Malgun Gothic"/>
              </a:rPr>
              <a:t>● </a:t>
            </a:r>
            <a:r>
              <a:rPr sz="900">
                <a:solidFill>
                  <a:srgbClr val="334155"/>
                </a:solidFill>
                <a:latin typeface="Malgun Gothic"/>
              </a:rPr>
              <a:t>시간 확인이 통과돼야 결제 버튼이 열립니다(충돌 시 결제 불가).</a:t>
            </a:r>
          </a:p>
          <a:p>
            <a:pPr>
              <a:lnSpc>
                <a:spcPct val="115000"/>
              </a:lnSpc>
              <a:spcAft>
                <a:spcPts val="300"/>
              </a:spcAft>
            </a:pPr>
            <a:r>
              <a:rPr sz="700" b="1">
                <a:solidFill>
                  <a:srgbClr val="0D9488"/>
                </a:solidFill>
                <a:latin typeface="Malgun Gothic"/>
              </a:rPr>
              <a:t>● </a:t>
            </a:r>
            <a:r>
              <a:rPr sz="900">
                <a:solidFill>
                  <a:srgbClr val="334155"/>
                </a:solidFill>
                <a:latin typeface="Malgun Gothic"/>
              </a:rPr>
              <a:t>결제가 확정되면 회차가 한꺼번에 생성됩니다. 관리자 화면 수업 목록에서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본사 단가·할인율은 단가표 화면에서 관리합니다.</a:t>
            </a:r>
          </a:p>
        </p:txBody>
      </p:sp>
      <p:sp>
        <p:nvSpPr>
          <p:cNvPr id="14" name="Rounded Rectangle 13"/>
          <p:cNvSpPr/>
          <p:nvPr/>
        </p:nvSpPr>
        <p:spPr>
          <a:xfrm>
            <a:off x="457200" y="5443423"/>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736031"/>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멱등 처리돼서 결제 알림이 중복 들어와도 회차가 두 번 생기지 않아요.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공휴일·기존 수업과 겹치면 뒤로 밀어서 회차 수를 채웁니다.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기간 할인(6개월 -5% · 12개월 -10%)이 금액에 자동 반영됩니다.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현재는 1단계(등록 → 결제 → 회차 자동 생성) 까지 열려 있습니다. 이후 단계는 순차 반영 예정입니다.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 레벨테스트 → 수강신청 링크 전달 순서로 안내하면 등록 전환이 매끄럽습니다.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enroll.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68272" y="2670048"/>
            <a:ext cx="16696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5056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05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65232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수강신청 링크</a:t>
            </a:r>
          </a:p>
        </p:txBody>
      </p:sp>
      <p:sp>
        <p:nvSpPr>
          <p:cNvPr id="28" name="TextBox 27"/>
          <p:cNvSpPr txBox="1"/>
          <p:nvPr/>
        </p:nvSpPr>
        <p:spPr>
          <a:xfrm>
            <a:off x="293796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120847"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0314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31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504895"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강사 → 수업 옵션…</a:t>
            </a:r>
          </a:p>
        </p:txBody>
      </p:sp>
      <p:sp>
        <p:nvSpPr>
          <p:cNvPr id="33" name="TextBox 32"/>
          <p:cNvSpPr txBox="1"/>
          <p:nvPr/>
        </p:nvSpPr>
        <p:spPr>
          <a:xfrm>
            <a:off x="527700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459882"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54217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421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84393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시간 확인</a:t>
            </a:r>
          </a:p>
        </p:txBody>
      </p:sp>
      <p:sp>
        <p:nvSpPr>
          <p:cNvPr id="38" name="TextBox 37"/>
          <p:cNvSpPr txBox="1"/>
          <p:nvPr/>
        </p:nvSpPr>
        <p:spPr>
          <a:xfrm>
            <a:off x="681502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6997903"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8019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801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38195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회차가 한꺼번에 생…</a:t>
            </a:r>
          </a:p>
        </p:txBody>
      </p:sp>
      <p:sp>
        <p:nvSpPr>
          <p:cNvPr id="43" name="TextBox 42"/>
          <p:cNvSpPr txBox="1"/>
          <p:nvPr/>
        </p:nvSpPr>
        <p:spPr>
          <a:xfrm>
            <a:off x="922538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44" name="Rounded Rectangle 43"/>
          <p:cNvSpPr/>
          <p:nvPr/>
        </p:nvSpPr>
        <p:spPr>
          <a:xfrm>
            <a:off x="9408261"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9055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905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79230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단가표 화면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강사 통합 관리 개편 (명부 필터 · 그룹 · 상세 탭)</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찾기 쉬운 명부 · 한눈에 보는 상세</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강사 관리 화면이 찾기 쉽고 보기 편하게 정리됐어요. 흩어져 있던 메뉴를 네 묶음으로 그룹지어 사이드바에 담았고, 강사 명부 위에는 구분·상태·그룹 드롭다운 필터와 적용된 필터 칩이 생겼어요. 강사를 누르면 프로필·급여·평가 탭으로 나뉜 상세 화면이 열리고, 매니저 배지와 재직 상태(재직·휴직·퇴사) 가 한눈에 표시돼요.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관리자 메뉴 강사 통합을 열어요(메뉴가 네 묶음으로 정리돼 있어요).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명부 위 상태·그룹 드롭다운으로 원하는 강사만 걸러요.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적용된 필터는 칩으로 표시되고, 칩을 지우면 해제돼요.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강사를 누르면 프로필 / 급여 / 평가 탭 상세가 열려요.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급여·평가 탭의 요약 숫자는 열 때 필요한 만큼만 불러옵니다.</a:t>
            </a:r>
          </a:p>
        </p:txBody>
      </p:sp>
      <p:sp>
        <p:nvSpPr>
          <p:cNvPr id="14" name="Rounded Rectangle 13"/>
          <p:cNvSpPr/>
          <p:nvPr/>
        </p:nvSpPr>
        <p:spPr>
          <a:xfrm>
            <a:off x="457200" y="5282946"/>
            <a:ext cx="5669280" cy="1301191"/>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575554"/>
            <a:ext cx="5394960" cy="972007"/>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매니저는 배지로 구분되고, 재직 상태가 재직·휴직·퇴사 3가지로 표시돼요.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이름이 비어도 아이디로 대체 표기돼 빈칸이 없어요.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상세 탭은 기존 API를 재사용해 빠르게 뜨고, 화면은 한/영 병기예요.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중복이던 급여 입구를 정리하고 버그 접수는 별도 시스템으로 옮겼어요.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필터·상세 정리 작업이에요. 강사 등록·수정·삭제 기능 자체는 그대로예요.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강사가 많을수록 상태·그룹 필터가 큰 힘을 발휘해요. 자주 보는 조건은 필터를 걸어 두고 쓰세요.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teachers.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32534"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1483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148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916582"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강사 통합</a:t>
            </a:r>
          </a:p>
        </p:txBody>
      </p:sp>
      <p:sp>
        <p:nvSpPr>
          <p:cNvPr id="28" name="TextBox 27"/>
          <p:cNvSpPr txBox="1"/>
          <p:nvPr/>
        </p:nvSpPr>
        <p:spPr>
          <a:xfrm>
            <a:off x="288767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070555" y="2670048"/>
            <a:ext cx="207020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15285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528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454603"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상태·그룹 드롭다운</a:t>
            </a:r>
          </a:p>
        </p:txBody>
      </p:sp>
      <p:sp>
        <p:nvSpPr>
          <p:cNvPr id="33" name="TextBox 32"/>
          <p:cNvSpPr txBox="1"/>
          <p:nvPr/>
        </p:nvSpPr>
        <p:spPr>
          <a:xfrm>
            <a:off x="514075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323636" y="2670048"/>
            <a:ext cx="797356"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40593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059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707684" y="2670048"/>
            <a:ext cx="37673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칩</a:t>
            </a:r>
          </a:p>
        </p:txBody>
      </p:sp>
      <p:sp>
        <p:nvSpPr>
          <p:cNvPr id="38" name="TextBox 37"/>
          <p:cNvSpPr txBox="1"/>
          <p:nvPr/>
        </p:nvSpPr>
        <p:spPr>
          <a:xfrm>
            <a:off x="612099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6303873" y="2670048"/>
            <a:ext cx="201350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38616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616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6687921"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프로필 / 급여 /…</a:t>
            </a:r>
          </a:p>
        </p:txBody>
      </p:sp>
      <p:sp>
        <p:nvSpPr>
          <p:cNvPr id="43" name="TextBox 42"/>
          <p:cNvSpPr txBox="1"/>
          <p:nvPr/>
        </p:nvSpPr>
        <p:spPr>
          <a:xfrm>
            <a:off x="831738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44" name="Rounded Rectangle 43"/>
          <p:cNvSpPr/>
          <p:nvPr/>
        </p:nvSpPr>
        <p:spPr>
          <a:xfrm>
            <a:off x="8500262"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8255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825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8884310"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급여·평가 탭의 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월간 성적표 (오각형) 발송</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5축 그래프 성적표를 미리보고 링크로</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학부모에게 보내는 월간 성적표가 오각형 5축 그래프로 새로워졌어요. 발음·유창성 / 어휘 / 문장 구성력 / 수업 태도 / 참여도 를 한눈에 보여 주고, 출결·판단력·담임의 한마디가 함께 담깁니다. 관리자·교사는 학생 ID와 월을 넣어 미리보기한 뒤 카카오톡 링크로 보냅니다.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월간 리포트 화면을 열어요.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학생 ID와 월을 넣고 레포트 보기를 눌러 미리봐요.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오각형과 담임의 한마디를 확인하고, 필요하면 평가를 보완해요.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주소에 ?uid=학생ID&amp;period=YYYY-MM 를 붙여 카카오톡 링크로 보냅니다.</a:t>
            </a:r>
          </a:p>
        </p:txBody>
      </p:sp>
      <p:sp>
        <p:nvSpPr>
          <p:cNvPr id="14" name="Rounded Rectangle 13"/>
          <p:cNvSpPr/>
          <p:nvPr/>
        </p:nvSpPr>
        <p:spPr>
          <a:xfrm>
            <a:off x="457200" y="5154930"/>
            <a:ext cx="5669280" cy="106733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실제 기록이 있는 축만 채워져 신뢰할 수 있어요.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2개월 주기로 정리해 학부모 피로 없이 변화를 전달해요.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인쇄/PDF 버튼으로 상담용 종이 성적표도 즉시 만들 수 있어요.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성적표 열람은 승인 게이트를 거쳐요. 관리자는 로그인 세션으로, 학부모는 발급된 링크(토큰)로만 열립니다.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예약과 함께 성적표 링크를 미리 보내면 상담이 훨씬 매끄러워요.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44191"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2648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264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82823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월간 리포트</a:t>
            </a:r>
          </a:p>
        </p:txBody>
      </p:sp>
      <p:sp>
        <p:nvSpPr>
          <p:cNvPr id="28" name="TextBox 27"/>
          <p:cNvSpPr txBox="1"/>
          <p:nvPr/>
        </p:nvSpPr>
        <p:spPr>
          <a:xfrm>
            <a:off x="395660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4139488" y="2670048"/>
            <a:ext cx="121249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2178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217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523536"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 ID</a:t>
            </a:r>
          </a:p>
        </p:txBody>
      </p:sp>
      <p:sp>
        <p:nvSpPr>
          <p:cNvPr id="33" name="TextBox 32"/>
          <p:cNvSpPr txBox="1"/>
          <p:nvPr/>
        </p:nvSpPr>
        <p:spPr>
          <a:xfrm>
            <a:off x="535198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534863"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61715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171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91891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오각형과 담임의 한…</a:t>
            </a:r>
          </a:p>
        </p:txBody>
      </p:sp>
      <p:sp>
        <p:nvSpPr>
          <p:cNvPr id="38" name="TextBox 37"/>
          <p:cNvSpPr txBox="1"/>
          <p:nvPr/>
        </p:nvSpPr>
        <p:spPr>
          <a:xfrm>
            <a:off x="7762341"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7945221" y="2670048"/>
            <a:ext cx="1799539"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2751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2751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29269" y="2670048"/>
            <a:ext cx="13789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?uid=학생ID&amp;…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주간 리포트 (재등록을 잇는 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경쟁사가 못 보여 주는 ‘성장의 증거’를 매주</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아이의 한 주 활동(출석·AI 친구 대화·판단력·정복한 단어·발음)을 담아 학부모에게 보내는 리포트입니다. 목적은 분명합니다 — 경쟁사가 보여 주지 못하는 ‘성장의 증거’를 매주 전달해 재등록으로 잇는 것입니다. 관리자 화면에서 미리보기 → 테스트 발송 → 대상 집계 → 발송 로그를 모두 확인할 수 있습니다.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관리자 메뉴에서 📅 학부모 주간 리포트를 열어요.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학생 ID를 넣고 미리보기로 내용을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필요하면 이 학부모에게 실제 발송으로 한 명에게만 테스트해요.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발송 대상 집계로 지금 받을 수 있는 학생 수(전화번호 등록자)를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최근 발송 로그로 실제로 나간 기록을 확인해요.</a:t>
            </a:r>
          </a:p>
        </p:txBody>
      </p:sp>
      <p:sp>
        <p:nvSpPr>
          <p:cNvPr id="14" name="Rounded Rectangle 13"/>
          <p:cNvSpPr/>
          <p:nvPr/>
        </p:nvSpPr>
        <p:spPr>
          <a:xfrm>
            <a:off x="457200" y="5282946"/>
            <a:ext cx="5669280" cy="1370457"/>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575554"/>
            <a:ext cx="5394960" cy="1041273"/>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리포트에 담기는 것: 📅 출석 일수 · 🔥 연속 출석 · 🤖 AI 대화 · 📚 정복 단어 · 🧠 판단력 · 🎤 발음.</a:t>
            </a:r>
          </a:p>
          <a:p>
            <a:pPr>
              <a:lnSpc>
                <a:spcPct val="115000"/>
              </a:lnSpc>
              <a:spcAft>
                <a:spcPts val="100"/>
              </a:spcAft>
            </a:pPr>
            <a:r>
              <a:rPr sz="650" b="1">
                <a:solidFill>
                  <a:srgbClr val="0D9488"/>
                </a:solidFill>
                <a:latin typeface="Malgun Gothic"/>
              </a:rPr>
              <a:t>● </a:t>
            </a:r>
            <a:r>
              <a:rPr sz="850">
                <a:solidFill>
                  <a:srgbClr val="334155"/>
                </a:solidFill>
                <a:latin typeface="Malgun Gothic"/>
              </a:rPr>
              <a:t>전화번호가 등록된 학생만 받을 수 있어요 — 집계 화면이 미등록 인원을 함께 알려 줍니다.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매주 금요일 저녁 자동 발송(크론) 이 준비돼 있습니다.</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 전체 자동 발송은 기본으로 꺼져 있습니다. 관리자가 KV 스위치를 켠 뒤에만 실제 문자가 나갑니다 — 실수로 29,000명에게 발송되는 사고를 막기 위한 안전장치입니다. 알림톡 템플릿 승인과 대표 결정 뒤에 켜세요.</a:t>
            </a:r>
          </a:p>
        </p:txBody>
      </p:sp>
      <p:sp>
        <p:nvSpPr>
          <p:cNvPr id="19" name="Rounded Rectangle 18"/>
          <p:cNvSpPr/>
          <p:nvPr/>
        </p:nvSpPr>
        <p:spPr>
          <a:xfrm>
            <a:off x="6176772" y="6021324"/>
            <a:ext cx="5646420" cy="672084"/>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꿀팁 · 먼저 미리보기 → 한 명 테스트 발송까지만 해 보세요. 문구가 확정되면 그때 전체 스위치를 켜면 됩니다.</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parent_weekly.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46657"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2895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89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530705"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학부모 주간 리…</a:t>
            </a:r>
          </a:p>
        </p:txBody>
      </p:sp>
      <p:sp>
        <p:nvSpPr>
          <p:cNvPr id="28" name="TextBox 27"/>
          <p:cNvSpPr txBox="1"/>
          <p:nvPr/>
        </p:nvSpPr>
        <p:spPr>
          <a:xfrm>
            <a:off x="330281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485692" y="2670048"/>
            <a:ext cx="126918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798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679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69740"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미리보기</a:t>
            </a:r>
          </a:p>
        </p:txBody>
      </p:sp>
      <p:sp>
        <p:nvSpPr>
          <p:cNvPr id="33" name="TextBox 32"/>
          <p:cNvSpPr txBox="1"/>
          <p:nvPr/>
        </p:nvSpPr>
        <p:spPr>
          <a:xfrm>
            <a:off x="4754879"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4937759"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02005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00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321807"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 학부모에게 실제…</a:t>
            </a:r>
          </a:p>
        </p:txBody>
      </p:sp>
      <p:sp>
        <p:nvSpPr>
          <p:cNvPr id="38" name="TextBox 37"/>
          <p:cNvSpPr txBox="1"/>
          <p:nvPr/>
        </p:nvSpPr>
        <p:spPr>
          <a:xfrm>
            <a:off x="716523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7348118" y="2670048"/>
            <a:ext cx="175564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43041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304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732166"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발송 대상 집계</a:t>
            </a:r>
          </a:p>
        </p:txBody>
      </p:sp>
      <p:sp>
        <p:nvSpPr>
          <p:cNvPr id="43" name="TextBox 42"/>
          <p:cNvSpPr txBox="1"/>
          <p:nvPr/>
        </p:nvSpPr>
        <p:spPr>
          <a:xfrm>
            <a:off x="910376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44" name="Rounded Rectangle 43"/>
          <p:cNvSpPr/>
          <p:nvPr/>
        </p:nvSpPr>
        <p:spPr>
          <a:xfrm>
            <a:off x="9286646" y="2670048"/>
            <a:ext cx="175564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36894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6894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670694"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최근 발송 로그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홈 첫 화면 개편 (처음 온 학부모 · 기존 회원 자동 분리)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상담 전화가 줄고 체험 신청이 늘어나는 구조</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홈페이지 첫 화면(히어로)이 보는 사람에 따라 두 가지로 나뉘어 표시됩니다. 처음 온 학부모에게는 &lt;b&gt;무료 체험 신청&lt;/b&gt;이 가장 큰 버튼으로, 이미 로그인한 회원에게는 &lt;b&gt;수업 입장&lt;/b&gt;이 가장 큰 버튼으로 뜹니다. 경쟁사 4곳(캠블리키즈·민병철유폰·엔구·링글)을 실제로 확인한 결과 모두 첫 버튼이 신규 상담·체험 신청이었고, 이를 반영한 개편입니다.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새 창(시크릿 모드)으로 홈 주소를 열어 비회원 화면을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무료 체험 신청 · 강사 둘러보기 두 버튼이 크게 보이는지 봐요.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로그인한 뒤 같은 화면을 열면 수업 입장 · AI와 친구하기로 바뀌어요.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홍보물·문자에는 홈 주소 그대로 넣으면 됩니다 — 별도 랜딩페이지가 필요 없어요.</a:t>
            </a:r>
          </a:p>
        </p:txBody>
      </p:sp>
      <p:sp>
        <p:nvSpPr>
          <p:cNvPr id="14" name="Rounded Rectangle 13"/>
          <p:cNvSpPr/>
          <p:nvPr/>
        </p:nvSpPr>
        <p:spPr>
          <a:xfrm>
            <a:off x="457200" y="4994452"/>
            <a:ext cx="5669280" cy="1452753"/>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287060"/>
            <a:ext cx="5394960" cy="1123569"/>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페이지를 새로 만들지 않았어요. 같은 주소가 로그인 여부만 보고 알아서 바뀝니다.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비회원 화면에도 작은 ‘수업 입장’ 링크를 남겼어요 — 기기를 바꾸거나 로그인이 풀린 기존 학생이 수업에 못 들어가는 사고를 막습니다.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판정에 실패하면 무조건 비회원 화면으로 떨어집니다 — 화면이 비는 일이 없어요.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깜빡임이 없습니다. 화면이 그려지기 전에 판정이 끝나요.</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비회원 화면의 작은 ‘수업 입장’ 링크는 절대 빼면 안 됩니다. 로그인이 30일 만에 만료되거나 기기를 바꾼 기존 회원도 이 화면을 보기 때문입니다.</a:t>
            </a:r>
          </a:p>
        </p:txBody>
      </p:sp>
      <p:sp>
        <p:nvSpPr>
          <p:cNvPr id="19" name="Rounded Rectangle 18"/>
          <p:cNvSpPr/>
          <p:nvPr/>
        </p:nvSpPr>
        <p:spPr>
          <a:xfrm>
            <a:off x="6176772" y="6021324"/>
            <a:ext cx="5646420" cy="672084"/>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꿀팁 · 체험 신청 전환을 보고 싶다면 시크릿 창으로 홈에 들어가 보세요. 학부모가 처음 보는 화면이 그대로 나옵니다.</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29891" y="2670048"/>
            <a:ext cx="119786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1218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121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713939"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홈 주소</a:t>
            </a:r>
          </a:p>
        </p:txBody>
      </p:sp>
      <p:sp>
        <p:nvSpPr>
          <p:cNvPr id="28" name="TextBox 27"/>
          <p:cNvSpPr txBox="1"/>
          <p:nvPr/>
        </p:nvSpPr>
        <p:spPr>
          <a:xfrm>
            <a:off x="352775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710635" y="2670048"/>
            <a:ext cx="208483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9293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929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94683" y="2670048"/>
            <a:ext cx="16642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무료 체험 신청 ·…</a:t>
            </a:r>
          </a:p>
        </p:txBody>
      </p:sp>
      <p:sp>
        <p:nvSpPr>
          <p:cNvPr id="33" name="TextBox 32"/>
          <p:cNvSpPr txBox="1"/>
          <p:nvPr/>
        </p:nvSpPr>
        <p:spPr>
          <a:xfrm>
            <a:off x="579546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978347" y="2670048"/>
            <a:ext cx="194218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6064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606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362395"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입장 · AI…</a:t>
            </a:r>
          </a:p>
        </p:txBody>
      </p:sp>
      <p:sp>
        <p:nvSpPr>
          <p:cNvPr id="38" name="TextBox 37"/>
          <p:cNvSpPr txBox="1"/>
          <p:nvPr/>
        </p:nvSpPr>
        <p:spPr>
          <a:xfrm>
            <a:off x="792053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8103412" y="2670048"/>
            <a:ext cx="175564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18570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570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487460"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홈 주소 그대로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관리자 화면이 훨씬 빨라졌어요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누르면 멈추던 현상 제거</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관리자 화면에서 무엇을 누르면 잠깐 멈추던 현상을 없앴습니다. 원인은 누른 기능이 아니라, 글자를 읽기 좋게 만들어 주는 보정 기능이 접혀 있는 카드까지 매번 다시 계산하고 있었던 것입니다. 접힌 카드는 건너뛰고, 이미 처리한 곳은 다시 만지지 않도록 고쳤습니다.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865479"/>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관리자 화면을 평소처럼 사용해요.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메뉴·카드를 눌렀을 때 멈춤 없이 바로 열리는지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느리게 느껴지면 브라우저에서 새로고침(Ctrl+F5) 을 한 번 해 주세요.</a:t>
            </a:r>
          </a:p>
        </p:txBody>
      </p:sp>
      <p:sp>
        <p:nvSpPr>
          <p:cNvPr id="14" name="Rounded Rectangle 13"/>
          <p:cNvSpPr/>
          <p:nvPr/>
        </p:nvSpPr>
        <p:spPr>
          <a:xfrm>
            <a:off x="457200" y="4705959"/>
            <a:ext cx="5669280" cy="1218895"/>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51679"/>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4998567"/>
            <a:ext cx="5394960" cy="889711"/>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클릭 시 멈춤 396ms → 57ms, 대기 중 부하 366ms → 0ms 로 줄었습니다.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화면 모양과 색은 전혀 바뀌지 않았습니다 — 속도만 좋아졌어요.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카드가 많은 화면(강사·학생 목록)일수록 체감이 큽니다.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브라우저에 옛 화면이 남아 있으면 개선이 바로 느껴지지 않을 수 있어요. 강력 새로고침(Ctrl+F5) 을 한 번 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그래도 느리다면 브라우저 탭을 너무 많이 열어 두지 않았는지 확인해 보세요.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48686" y="2670048"/>
            <a:ext cx="2227478"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3098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098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32734"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관리자 화면을 평소…</a:t>
            </a:r>
          </a:p>
        </p:txBody>
      </p:sp>
      <p:sp>
        <p:nvSpPr>
          <p:cNvPr id="28" name="TextBox 27"/>
          <p:cNvSpPr txBox="1"/>
          <p:nvPr/>
        </p:nvSpPr>
        <p:spPr>
          <a:xfrm>
            <a:off x="4976164"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5159044" y="2670048"/>
            <a:ext cx="215615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241340"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413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543092"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멈춤 없이 바로 열…</a:t>
            </a:r>
          </a:p>
        </p:txBody>
      </p:sp>
      <p:sp>
        <p:nvSpPr>
          <p:cNvPr id="33" name="TextBox 32"/>
          <p:cNvSpPr txBox="1"/>
          <p:nvPr/>
        </p:nvSpPr>
        <p:spPr>
          <a:xfrm>
            <a:off x="731520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7498079" y="2670048"/>
            <a:ext cx="1942185"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8037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037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882127"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새로고침(Ctrl+…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학원 검색칸 (이름으로 바로 찾기)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목록을 훑지 않고 바로</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학원(지사·대리점) 목록에서 이름을 입력해 바로 찾을 수 있는 검색칸이 생겼습니다. 학원 수가 많아 목록을 위아래로 훑어야 했던 불편을 없앴습니다.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0D9488"/>
                </a:solidFill>
                <a:latin typeface="Malgun Gothic"/>
              </a:rPr>
              <a:t>● </a:t>
            </a:r>
            <a:r>
              <a:rPr sz="950">
                <a:solidFill>
                  <a:srgbClr val="334155"/>
                </a:solidFill>
                <a:latin typeface="Malgun Gothic"/>
              </a:rPr>
              <a:t>관리자 메뉴에서 학원 목록 화면을 열어요.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목록 위 검색칸에 학원 이름 일부를 입력해요.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입력하는 즉시 해당 학원만 목록에 남아요.</a:t>
            </a:r>
          </a:p>
          <a:p>
            <a:pPr>
              <a:lnSpc>
                <a:spcPct val="115000"/>
              </a:lnSpc>
              <a:spcAft>
                <a:spcPts val="300"/>
              </a:spcAft>
            </a:pPr>
            <a:r>
              <a:rPr sz="750" b="1">
                <a:solidFill>
                  <a:srgbClr val="0D9488"/>
                </a:solidFill>
                <a:latin typeface="Malgun Gothic"/>
              </a:rPr>
              <a:t>● </a:t>
            </a:r>
            <a:r>
              <a:rPr sz="950">
                <a:solidFill>
                  <a:srgbClr val="334155"/>
                </a:solidFill>
                <a:latin typeface="Malgun Gothic"/>
              </a:rPr>
              <a:t>검색칸을 비우면 전체 목록으로 돌아와요.</a:t>
            </a:r>
          </a:p>
        </p:txBody>
      </p:sp>
      <p:sp>
        <p:nvSpPr>
          <p:cNvPr id="14" name="Rounded Rectangle 13"/>
          <p:cNvSpPr/>
          <p:nvPr/>
        </p:nvSpPr>
        <p:spPr>
          <a:xfrm>
            <a:off x="457200" y="5030114"/>
            <a:ext cx="5669280" cy="85130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0D9488"/>
                </a:solidFill>
                <a:latin typeface="Malgun Gothic"/>
              </a:rPr>
              <a:t>● </a:t>
            </a:r>
            <a:r>
              <a:rPr sz="900">
                <a:solidFill>
                  <a:srgbClr val="334155"/>
                </a:solidFill>
                <a:latin typeface="Malgun Gothic"/>
              </a:rPr>
              <a:t>이름 일부만 입력해도 찾아집니다.</a:t>
            </a:r>
          </a:p>
          <a:p>
            <a:pPr>
              <a:lnSpc>
                <a:spcPct val="115000"/>
              </a:lnSpc>
              <a:spcAft>
                <a:spcPts val="100"/>
              </a:spcAft>
            </a:pPr>
            <a:r>
              <a:rPr sz="700" b="1">
                <a:solidFill>
                  <a:srgbClr val="0D9488"/>
                </a:solidFill>
                <a:latin typeface="Malgun Gothic"/>
              </a:rPr>
              <a:t>● </a:t>
            </a:r>
            <a:r>
              <a:rPr sz="900">
                <a:solidFill>
                  <a:srgbClr val="334155"/>
                </a:solidFill>
                <a:latin typeface="Malgun Gothic"/>
              </a:rPr>
              <a:t>기존 목록·기능은 그대로이고 찾는 방법만 추가됐습니다.</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자주 확인하는 학원이 있다면 이름 두세 글자만 외워 두세요. 클릭 없이 바로 걸러집니다.</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52851"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3514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51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3689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학원 목록</a:t>
            </a:r>
          </a:p>
        </p:txBody>
      </p:sp>
      <p:sp>
        <p:nvSpPr>
          <p:cNvPr id="26" name="TextBox 25"/>
          <p:cNvSpPr txBox="1"/>
          <p:nvPr/>
        </p:nvSpPr>
        <p:spPr>
          <a:xfrm>
            <a:off x="450799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690872" y="2670048"/>
            <a:ext cx="111191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7316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07492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검색칸</a:t>
            </a:r>
          </a:p>
        </p:txBody>
      </p:sp>
      <p:sp>
        <p:nvSpPr>
          <p:cNvPr id="31" name="TextBox 30"/>
          <p:cNvSpPr txBox="1"/>
          <p:nvPr/>
        </p:nvSpPr>
        <p:spPr>
          <a:xfrm>
            <a:off x="580278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5985662"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06795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679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369710"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해당 학원만</a:t>
            </a:r>
          </a:p>
        </p:txBody>
      </p:sp>
      <p:sp>
        <p:nvSpPr>
          <p:cNvPr id="36" name="TextBox 35"/>
          <p:cNvSpPr txBox="1"/>
          <p:nvPr/>
        </p:nvSpPr>
        <p:spPr>
          <a:xfrm>
            <a:off x="7498079"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7680959"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76325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632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065007"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목록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신규 결제 화면 단계형 개편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상품 12개를 한꺼번에 보여 주지 않아요</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신규 결제 화면이 ‘대상 먼저 고르기’ 단계형으로 바뀌었습니다. 예전에는 첫 화면에 상품 12개가 한꺼번에 떠서 학부모가 무엇을 골라야 할지 막막했습니다. 이제 키즈 · 일반 1:1 · 그룹 · 비즈니스 · 시험 · 기업 중 대상을 먼저 고르면 해당 상품만 보입니다.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학부모에게 신규 결제 화면을 안내해요.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대상(키즈·일반 1:1·그룹·비즈니스·시험·기업)을 먼저 고르게 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고른 대상에 맞는 상품만 화면에 남아요.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전체를 비교하고 싶어 하면 전체 요금표 보기를 눌러 주세요.</a:t>
            </a:r>
          </a:p>
        </p:txBody>
      </p:sp>
      <p:sp>
        <p:nvSpPr>
          <p:cNvPr id="14" name="Rounded Rectangle 13"/>
          <p:cNvSpPr/>
          <p:nvPr/>
        </p:nvSpPr>
        <p:spPr>
          <a:xfrm>
            <a:off x="457200" y="4994452"/>
            <a:ext cx="5669280" cy="1522018"/>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287060"/>
            <a:ext cx="5394960" cy="1192834"/>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상품 카드와 결제 로직은 하나도 바뀌지 않았어요 — 보여 주기만 나눈 것이라 안전합니다.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초기 3개(무료체험·기타·규정) → 키즈 선택 시 4개 → 전체 12개로 확인됐습니다.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전체 요금표 보기를 남겨 두었어요 — 가격을 숨긴다는 인상을 주면 역효과이기 때문입니다.</a:t>
            </a:r>
          </a:p>
        </p:txBody>
      </p:sp>
      <p:sp>
        <p:nvSpPr>
          <p:cNvPr id="17" name="Rounded Rectangle 16"/>
          <p:cNvSpPr/>
          <p:nvPr/>
        </p:nvSpPr>
        <p:spPr>
          <a:xfrm>
            <a:off x="365760" y="6217920"/>
            <a:ext cx="11457432" cy="47548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전화에서 ‘어떤 걸 고를지 모르겠다’는 말이 나오면, 대상만 먼저 고르게 안내하세요.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52851" y="2670048"/>
            <a:ext cx="135514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35147"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51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3689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신규 결제</a:t>
            </a:r>
          </a:p>
        </p:txBody>
      </p:sp>
      <p:sp>
        <p:nvSpPr>
          <p:cNvPr id="26" name="TextBox 25"/>
          <p:cNvSpPr txBox="1"/>
          <p:nvPr/>
        </p:nvSpPr>
        <p:spPr>
          <a:xfrm>
            <a:off x="450799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7" name="Rounded Rectangle 26"/>
          <p:cNvSpPr/>
          <p:nvPr/>
        </p:nvSpPr>
        <p:spPr>
          <a:xfrm>
            <a:off x="4690872" y="2670048"/>
            <a:ext cx="954633"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7316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07492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대상</a:t>
            </a:r>
          </a:p>
        </p:txBody>
      </p:sp>
      <p:sp>
        <p:nvSpPr>
          <p:cNvPr id="31" name="TextBox 30"/>
          <p:cNvSpPr txBox="1"/>
          <p:nvPr/>
        </p:nvSpPr>
        <p:spPr>
          <a:xfrm>
            <a:off x="5645505"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2" name="Rounded Rectangle 31"/>
          <p:cNvSpPr/>
          <p:nvPr/>
        </p:nvSpPr>
        <p:spPr>
          <a:xfrm>
            <a:off x="5828385" y="2670048"/>
            <a:ext cx="1111910"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1068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106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212433"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상품만</a:t>
            </a:r>
          </a:p>
        </p:txBody>
      </p:sp>
      <p:sp>
        <p:nvSpPr>
          <p:cNvPr id="36" name="TextBox 35"/>
          <p:cNvSpPr txBox="1"/>
          <p:nvPr/>
        </p:nvSpPr>
        <p:spPr>
          <a:xfrm>
            <a:off x="6940296"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7" name="Rounded Rectangle 36"/>
          <p:cNvSpPr/>
          <p:nvPr/>
        </p:nvSpPr>
        <p:spPr>
          <a:xfrm>
            <a:off x="7123176" y="2670048"/>
            <a:ext cx="1912924"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05472"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054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507224"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요금표 보기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계정 없는 학부모용 샘플 평가표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로그인 벽 앞에서 보여 줄 것이 생겼어요</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계정이 없는 가망 학부모에게 보여 줄 것이 아무것도 없던 문제를 해결했습니다. 평가표 화면에 ‘계정이 없어요 — 샘플 평가표 먼저 보기’ 가 생겨, 로그인 없이 5축 점수 + 강사 코멘트 + AI 분석이 어떻게 나오는지 미리 보여 줄 수 있습니다.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상담 중 학부모에게 평가표 화면을 열어 보여 줘요.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계정이 없어요 — 샘플 평가표 먼저 보기를 눌러요.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5축 점수·강사 코멘트·AI 분석 구성을 함께 보며 설명해요.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‘우리 아이 것도 이렇게 나옵니다’로 체험 신청을 연결해요.</a:t>
            </a:r>
          </a:p>
        </p:txBody>
      </p:sp>
      <p:sp>
        <p:nvSpPr>
          <p:cNvPr id="14" name="Rounded Rectangle 13"/>
          <p:cNvSpPr/>
          <p:nvPr/>
        </p:nvSpPr>
        <p:spPr>
          <a:xfrm>
            <a:off x="457200" y="4994452"/>
            <a:ext cx="5669280" cy="985037"/>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5287060"/>
            <a:ext cx="5394960" cy="655853"/>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 값은 전부 예시입니다. 제목과 상단 배너에 ‘샘플/예시’ 표시가 들어가 있어요.</a:t>
            </a:r>
          </a:p>
          <a:p>
            <a:pPr>
              <a:lnSpc>
                <a:spcPct val="115000"/>
              </a:lnSpc>
              <a:spcAft>
                <a:spcPts val="100"/>
              </a:spcAft>
            </a:pPr>
            <a:r>
              <a:rPr sz="650" b="1">
                <a:solidFill>
                  <a:srgbClr val="0D9488"/>
                </a:solidFill>
                <a:latin typeface="Malgun Gothic"/>
              </a:rPr>
              <a:t>● </a:t>
            </a:r>
            <a:r>
              <a:rPr sz="850">
                <a:solidFill>
                  <a:srgbClr val="334155"/>
                </a:solidFill>
                <a:latin typeface="Malgun Gothic"/>
              </a:rPr>
              <a:t>이 표시는 절대 지우면 안 됩니다 — 실제 기록으로 오해되면 신뢰 문제가 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샘플은 실제 학생 데이터를 쓰지 않습니다. 상담 자료로만 활용하세요.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첫 3분에 샘플 평가표를 보여 주면 ‘무엇을 받게 되는지’가 명확해져 체험 전환이 올라갑니다.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951329" y="2670048"/>
            <a:ext cx="151241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033625"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336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335377"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평가표 화면</a:t>
            </a:r>
          </a:p>
        </p:txBody>
      </p:sp>
      <p:sp>
        <p:nvSpPr>
          <p:cNvPr id="28" name="TextBox 27"/>
          <p:cNvSpPr txBox="1"/>
          <p:nvPr/>
        </p:nvSpPr>
        <p:spPr>
          <a:xfrm>
            <a:off x="3463747"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3646627" y="2670048"/>
            <a:ext cx="207020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28923"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289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30675"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계정이 없어요 —…</a:t>
            </a:r>
          </a:p>
        </p:txBody>
      </p:sp>
      <p:sp>
        <p:nvSpPr>
          <p:cNvPr id="33" name="TextBox 32"/>
          <p:cNvSpPr txBox="1"/>
          <p:nvPr/>
        </p:nvSpPr>
        <p:spPr>
          <a:xfrm>
            <a:off x="5716828"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5899708" y="2670048"/>
            <a:ext cx="208483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82004"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200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283756" y="2670048"/>
            <a:ext cx="16642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5축 점수·강사 코…</a:t>
            </a:r>
          </a:p>
        </p:txBody>
      </p:sp>
      <p:sp>
        <p:nvSpPr>
          <p:cNvPr id="38" name="TextBox 37"/>
          <p:cNvSpPr txBox="1"/>
          <p:nvPr/>
        </p:nvSpPr>
        <p:spPr>
          <a:xfrm>
            <a:off x="7984540"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9" name="Rounded Rectangle 38"/>
          <p:cNvSpPr/>
          <p:nvPr/>
        </p:nvSpPr>
        <p:spPr>
          <a:xfrm>
            <a:off x="8167420" y="2670048"/>
            <a:ext cx="207020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49716"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4971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51468"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‘우리 아이 것도…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상담 창구·운영시간 통일 (카카오 1순위)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화면마다 달랐던 안내를 한 값으로</a:t>
            </a:r>
          </a:p>
        </p:txBody>
      </p:sp>
      <p:sp>
        <p:nvSpPr>
          <p:cNvPr id="10" name="Rounded Rectangle 9"/>
          <p:cNvSpPr/>
          <p:nvPr/>
        </p:nvSpPr>
        <p:spPr>
          <a:xfrm>
            <a:off x="365760" y="1828800"/>
            <a:ext cx="11430000" cy="73152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상담 운영시간이 화면마다 09-22 / 10-20 / 오후 7시로 제각각이던 문제를 10:00~23:00 (주말·공휴일 휴무) 한 값으로 통일했습니다. 또한 카카오 채널을 1순위 창구로 올리고, 전화 카드에도 ‘카카오가 더 빠릅니다’를 함께 표기했습니다.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사용 방법</a:t>
            </a:r>
          </a:p>
        </p:txBody>
      </p:sp>
      <p:sp>
        <p:nvSpPr>
          <p:cNvPr id="13" name="TextBox 12"/>
          <p:cNvSpPr txBox="1"/>
          <p:nvPr/>
        </p:nvSpPr>
        <p:spPr>
          <a:xfrm>
            <a:off x="457200" y="3749040"/>
            <a:ext cx="5669280" cy="865479"/>
          </a:xfrm>
          <a:prstGeom prst="rect">
            <a:avLst/>
          </a:prstGeom>
          <a:noFill/>
        </p:spPr>
        <p:txBody>
          <a:bodyPr wrap="square">
            <a:spAutoFit/>
          </a:bodyPr>
          <a:lstStyle/>
          <a:p>
            <a:pPr>
              <a:lnSpc>
                <a:spcPct val="115000"/>
              </a:lnSpc>
              <a:spcAft>
                <a:spcPts val="300"/>
              </a:spcAft>
            </a:pPr>
            <a:r>
              <a:rPr sz="700" b="1">
                <a:solidFill>
                  <a:srgbClr val="0D9488"/>
                </a:solidFill>
                <a:latin typeface="Malgun Gothic"/>
              </a:rPr>
              <a:t>● </a:t>
            </a:r>
            <a:r>
              <a:rPr sz="900">
                <a:solidFill>
                  <a:srgbClr val="334155"/>
                </a:solidFill>
                <a:latin typeface="Malgun Gothic"/>
              </a:rPr>
              <a:t>문의하기 화면에서 카드 순서가 카카오 → 전화 인지 확인해요.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학부모 안내 시 카카오 채널을 먼저 안내해요.</a:t>
            </a:r>
          </a:p>
          <a:p>
            <a:pPr>
              <a:lnSpc>
                <a:spcPct val="115000"/>
              </a:lnSpc>
              <a:spcAft>
                <a:spcPts val="300"/>
              </a:spcAft>
            </a:pPr>
            <a:r>
              <a:rPr sz="700" b="1">
                <a:solidFill>
                  <a:srgbClr val="0D9488"/>
                </a:solidFill>
                <a:latin typeface="Malgun Gothic"/>
              </a:rPr>
              <a:t>● </a:t>
            </a:r>
            <a:r>
              <a:rPr sz="900">
                <a:solidFill>
                  <a:srgbClr val="334155"/>
                </a:solidFill>
                <a:latin typeface="Malgun Gothic"/>
              </a:rPr>
              <a:t>운영시간은 10:00~23:00 (주말·공휴일 휴무) 로 통일해 안내해요.</a:t>
            </a:r>
          </a:p>
        </p:txBody>
      </p:sp>
      <p:sp>
        <p:nvSpPr>
          <p:cNvPr id="14" name="Rounded Rectangle 13"/>
          <p:cNvSpPr/>
          <p:nvPr/>
        </p:nvSpPr>
        <p:spPr>
          <a:xfrm>
            <a:off x="457200" y="4705959"/>
            <a:ext cx="5669280" cy="1218895"/>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51679"/>
            <a:ext cx="5394960" cy="274320"/>
          </a:xfrm>
          <a:prstGeom prst="rect">
            <a:avLst/>
          </a:prstGeom>
          <a:noFill/>
        </p:spPr>
        <p:txBody>
          <a:bodyPr wrap="square" anchor="t">
            <a:spAutoFit/>
          </a:bodyPr>
          <a:lstStyle/>
          <a:p>
            <a:pPr algn="l">
              <a:lnSpc>
                <a:spcPct val="100000"/>
              </a:lnSpc>
            </a:pPr>
            <a:r>
              <a:rPr sz="1100" b="1">
                <a:solidFill>
                  <a:srgbClr val="0D9488"/>
                </a:solidFill>
                <a:latin typeface="Malgun Gothic"/>
              </a:rPr>
              <a:t>✅ 핵심 포인트</a:t>
            </a:r>
          </a:p>
        </p:txBody>
      </p:sp>
      <p:sp>
        <p:nvSpPr>
          <p:cNvPr id="16" name="TextBox 15"/>
          <p:cNvSpPr txBox="1"/>
          <p:nvPr/>
        </p:nvSpPr>
        <p:spPr>
          <a:xfrm>
            <a:off x="594360" y="4998567"/>
            <a:ext cx="5394960" cy="889711"/>
          </a:xfrm>
          <a:prstGeom prst="rect">
            <a:avLst/>
          </a:prstGeom>
          <a:noFill/>
        </p:spPr>
        <p:txBody>
          <a:bodyPr wrap="square">
            <a:spAutoFit/>
          </a:bodyPr>
          <a:lstStyle/>
          <a:p>
            <a:pPr>
              <a:lnSpc>
                <a:spcPct val="115000"/>
              </a:lnSpc>
              <a:spcAft>
                <a:spcPts val="100"/>
              </a:spcAft>
            </a:pPr>
            <a:r>
              <a:rPr sz="650" b="1">
                <a:solidFill>
                  <a:srgbClr val="0D9488"/>
                </a:solidFill>
                <a:latin typeface="Malgun Gothic"/>
              </a:rPr>
              <a:t>● </a:t>
            </a:r>
            <a:r>
              <a:rPr sz="850">
                <a:solidFill>
                  <a:srgbClr val="334155"/>
                </a:solidFill>
                <a:latin typeface="Malgun Gothic"/>
              </a:rPr>
              <a:t>고친 곳: 문의 화면·홈 메뉴·FAQ(한/영)·AI 상담사 사실블록·학생 FAQ까지 전부 같은 값입니다.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쓰지 않는 팩스 번호와 자리표시자 전화번호는 삭제했습니다.</a:t>
            </a:r>
          </a:p>
          <a:p>
            <a:pPr>
              <a:lnSpc>
                <a:spcPct val="115000"/>
              </a:lnSpc>
              <a:spcAft>
                <a:spcPts val="100"/>
              </a:spcAft>
            </a:pPr>
            <a:r>
              <a:rPr sz="650" b="1">
                <a:solidFill>
                  <a:srgbClr val="0D9488"/>
                </a:solidFill>
                <a:latin typeface="Malgun Gothic"/>
              </a:rPr>
              <a:t>● </a:t>
            </a:r>
            <a:r>
              <a:rPr sz="850">
                <a:solidFill>
                  <a:srgbClr val="334155"/>
                </a:solidFill>
                <a:latin typeface="Malgun Gothic"/>
              </a:rPr>
              <a:t>AI 상담사도 같은 시간·같은 창구 순서로 안내합니다.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실제 운영시간이 바뀌면 이 값들을 한꺼번에 고쳐야 합니다. 한 곳만 고치면 다시 화면마다 달라집니다.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필리핀 콜센터 번호가 필요하면 실번호를 알려 주세요 — 자리표시자였던 번호는 삭제된 상태입니다.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contact.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13455" y="2670048"/>
            <a:ext cx="1269187"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495751"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957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797503"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문의하기</a:t>
            </a:r>
          </a:p>
        </p:txBody>
      </p:sp>
      <p:sp>
        <p:nvSpPr>
          <p:cNvPr id="28" name="TextBox 27"/>
          <p:cNvSpPr txBox="1"/>
          <p:nvPr/>
        </p:nvSpPr>
        <p:spPr>
          <a:xfrm>
            <a:off x="4682642"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29" name="Rounded Rectangle 28"/>
          <p:cNvSpPr/>
          <p:nvPr/>
        </p:nvSpPr>
        <p:spPr>
          <a:xfrm>
            <a:off x="4865522" y="2670048"/>
            <a:ext cx="2070201"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947818"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4781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249570"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카카오 채널을 먼저</a:t>
            </a:r>
          </a:p>
        </p:txBody>
      </p:sp>
      <p:sp>
        <p:nvSpPr>
          <p:cNvPr id="33" name="TextBox 32"/>
          <p:cNvSpPr txBox="1"/>
          <p:nvPr/>
        </p:nvSpPr>
        <p:spPr>
          <a:xfrm>
            <a:off x="6935723" y="2670048"/>
            <a:ext cx="182880" cy="457200"/>
          </a:xfrm>
          <a:prstGeom prst="rect">
            <a:avLst/>
          </a:prstGeom>
          <a:noFill/>
        </p:spPr>
        <p:txBody>
          <a:bodyPr wrap="square" anchor="ctr">
            <a:spAutoFit/>
          </a:bodyPr>
          <a:lstStyle/>
          <a:p>
            <a:pPr algn="ctr">
              <a:lnSpc>
                <a:spcPct val="100000"/>
              </a:lnSpc>
            </a:pPr>
            <a:r>
              <a:rPr sz="1500" b="1">
                <a:solidFill>
                  <a:srgbClr val="0D9488"/>
                </a:solidFill>
                <a:latin typeface="Malgun Gothic"/>
              </a:rPr>
              <a:t>›</a:t>
            </a:r>
          </a:p>
        </p:txBody>
      </p:sp>
      <p:sp>
        <p:nvSpPr>
          <p:cNvPr id="34" name="Rounded Rectangle 33"/>
          <p:cNvSpPr/>
          <p:nvPr/>
        </p:nvSpPr>
        <p:spPr>
          <a:xfrm>
            <a:off x="7118603" y="2670048"/>
            <a:ext cx="1656892" cy="457200"/>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200899" y="2761488"/>
            <a:ext cx="274320" cy="27432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008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50265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10:00~23:0…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기능 요약 · 데이터</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31</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지사 기능 한눈에</a:t>
            </a:r>
          </a:p>
        </p:txBody>
      </p:sp>
      <p:graphicFrame>
        <p:nvGraphicFramePr>
          <p:cNvPr id="9" name="Table 8"/>
          <p:cNvGraphicFramePr>
            <a:graphicFrameLocks noGrp="1"/>
          </p:cNvGraphicFramePr>
          <p:nvPr/>
        </p:nvGraphicFramePr>
        <p:xfrm>
          <a:off x="365760" y="1463040"/>
          <a:ext cx="11460175" cy="4114800"/>
        </p:xfrm>
        <a:graphic>
          <a:graphicData uri="http://schemas.openxmlformats.org/drawingml/2006/table">
            <a:tbl>
              <a:tblPr firstRow="1" bandRow="1">
                <a:tableStyleId>{5C22544A-7EE6-4342-B048-85BDC9FD1C3A}</a:tableStyleId>
              </a:tblPr>
              <a:tblGrid>
                <a:gridCol w="2865043"/>
                <a:gridCol w="2865043"/>
                <a:gridCol w="2865043"/>
                <a:gridCol w="2865046"/>
              </a:tblGrid>
              <a:tr h="514350">
                <a:tc>
                  <a:txBody>
                    <a:bodyPr/>
                    <a:lstStyle/>
                    <a:p>
                      <a:pPr algn="ctr"/>
                      <a:r>
                        <a:rPr sz="1300" b="1">
                          <a:solidFill>
                            <a:srgbClr val="FFFFFF"/>
                          </a:solidFill>
                          <a:latin typeface="Malgun Gothic"/>
                        </a:rPr>
                        <a:t>기능</a:t>
                      </a:r>
                    </a:p>
                  </a:txBody>
                  <a:tcPr>
                    <a:solidFill>
                      <a:srgbClr val="0D9488"/>
                    </a:solidFill>
                  </a:tcPr>
                </a:tc>
                <a:tc>
                  <a:txBody>
                    <a:bodyPr/>
                    <a:lstStyle/>
                    <a:p>
                      <a:pPr algn="ctr"/>
                      <a:r>
                        <a:rPr sz="1300" b="1">
                          <a:solidFill>
                            <a:srgbClr val="FFFFFF"/>
                          </a:solidFill>
                          <a:latin typeface="Malgun Gothic"/>
                        </a:rPr>
                        <a:t>무엇을 하나요?</a:t>
                      </a:r>
                    </a:p>
                  </a:txBody>
                  <a:tcPr>
                    <a:solidFill>
                      <a:srgbClr val="0D9488"/>
                    </a:solidFill>
                  </a:tcPr>
                </a:tc>
                <a:tc>
                  <a:txBody>
                    <a:bodyPr/>
                    <a:lstStyle/>
                    <a:p>
                      <a:pPr algn="ctr"/>
                      <a:r>
                        <a:rPr sz="1300" b="1">
                          <a:solidFill>
                            <a:srgbClr val="FFFFFF"/>
                          </a:solidFill>
                          <a:latin typeface="Malgun Gothic"/>
                        </a:rPr>
                        <a:t>범위</a:t>
                      </a:r>
                    </a:p>
                  </a:txBody>
                  <a:tcPr>
                    <a:solidFill>
                      <a:srgbClr val="0D9488"/>
                    </a:solidFill>
                  </a:tcPr>
                </a:tc>
                <a:tc>
                  <a:txBody>
                    <a:bodyPr/>
                    <a:lstStyle/>
                    <a:p>
                      <a:pPr algn="ctr"/>
                      <a:r>
                        <a:rPr sz="1300" b="1">
                          <a:solidFill>
                            <a:srgbClr val="FFFFFF"/>
                          </a:solidFill>
                          <a:latin typeface="Malgun Gothic"/>
                        </a:rPr>
                        <a:t>핵심 효과</a:t>
                      </a:r>
                    </a:p>
                  </a:txBody>
                  <a:tcPr>
                    <a:solidFill>
                      <a:srgbClr val="0D9488"/>
                    </a:solidFill>
                  </a:tcPr>
                </a:tc>
              </a:tr>
              <a:tr h="514350">
                <a:tc>
                  <a:txBody>
                    <a:bodyPr/>
                    <a:lstStyle/>
                    <a:p>
                      <a:pPr algn="l"/>
                      <a:r>
                        <a:rPr sz="1200" b="1">
                          <a:solidFill>
                            <a:srgbClr val="334155"/>
                          </a:solidFill>
                          <a:latin typeface="Malgun Gothic"/>
                        </a:rPr>
                        <a:t>지사 대시보드</a:t>
                      </a:r>
                    </a:p>
                  </a:txBody>
                  <a:tcPr>
                    <a:solidFill>
                      <a:srgbClr val="FFFFFF"/>
                    </a:solidFill>
                  </a:tcPr>
                </a:tc>
                <a:tc>
                  <a:txBody>
                    <a:bodyPr/>
                    <a:lstStyle/>
                    <a:p>
                      <a:pPr algn="ctr"/>
                      <a:r>
                        <a:rPr sz="1200">
                          <a:solidFill>
                            <a:srgbClr val="334155"/>
                          </a:solidFill>
                          <a:latin typeface="Malgun Gothic"/>
                        </a:rPr>
                        <a:t>매출·재원·출석 현황</a:t>
                      </a:r>
                    </a:p>
                  </a:txBody>
                  <a:tcPr>
                    <a:solidFill>
                      <a:srgbClr val="FFFFFF"/>
                    </a:solidFill>
                  </a:tcPr>
                </a:tc>
                <a:tc>
                  <a:txBody>
                    <a:bodyPr/>
                    <a:lstStyle/>
                    <a:p>
                      <a:pPr algn="ctr"/>
                      <a:r>
                        <a:rPr sz="1200">
                          <a:solidFill>
                            <a:srgbClr val="334155"/>
                          </a:solidFill>
                          <a:latin typeface="Malgun Gothic"/>
                        </a:rPr>
                        <a:t>우리 지사</a:t>
                      </a:r>
                    </a:p>
                  </a:txBody>
                  <a:tcPr>
                    <a:solidFill>
                      <a:srgbClr val="FFFFFF"/>
                    </a:solidFill>
                  </a:tcPr>
                </a:tc>
                <a:tc>
                  <a:txBody>
                    <a:bodyPr/>
                    <a:lstStyle/>
                    <a:p>
                      <a:pPr algn="ctr"/>
                      <a:r>
                        <a:rPr sz="1200">
                          <a:solidFill>
                            <a:srgbClr val="334155"/>
                          </a:solidFill>
                          <a:latin typeface="Malgun Gothic"/>
                        </a:rPr>
                        <a:t>빠른 상황 파악</a:t>
                      </a:r>
                    </a:p>
                  </a:txBody>
                  <a:tcPr>
                    <a:solidFill>
                      <a:srgbClr val="FFFFFF"/>
                    </a:solidFill>
                  </a:tcPr>
                </a:tc>
              </a:tr>
              <a:tr h="514350">
                <a:tc>
                  <a:txBody>
                    <a:bodyPr/>
                    <a:lstStyle/>
                    <a:p>
                      <a:pPr algn="l"/>
                      <a:r>
                        <a:rPr sz="1200" b="1">
                          <a:solidFill>
                            <a:srgbClr val="334155"/>
                          </a:solidFill>
                          <a:latin typeface="Malgun Gothic"/>
                        </a:rPr>
                        <a:t>대리점 관리</a:t>
                      </a:r>
                    </a:p>
                  </a:txBody>
                  <a:tcPr>
                    <a:solidFill>
                      <a:srgbClr val="F8FAFC"/>
                    </a:solidFill>
                  </a:tcPr>
                </a:tc>
                <a:tc>
                  <a:txBody>
                    <a:bodyPr/>
                    <a:lstStyle/>
                    <a:p>
                      <a:pPr algn="ctr"/>
                      <a:r>
                        <a:rPr sz="1200">
                          <a:solidFill>
                            <a:srgbClr val="334155"/>
                          </a:solidFill>
                          <a:latin typeface="Malgun Gothic"/>
                        </a:rPr>
                        <a:t>목록·성과·모집</a:t>
                      </a:r>
                    </a:p>
                  </a:txBody>
                  <a:tcPr>
                    <a:solidFill>
                      <a:srgbClr val="F8FAFC"/>
                    </a:solidFill>
                  </a:tcPr>
                </a:tc>
                <a:tc>
                  <a:txBody>
                    <a:bodyPr/>
                    <a:lstStyle/>
                    <a:p>
                      <a:pPr algn="ctr"/>
                      <a:r>
                        <a:rPr sz="1200">
                          <a:solidFill>
                            <a:srgbClr val="334155"/>
                          </a:solidFill>
                          <a:latin typeface="Malgun Gothic"/>
                        </a:rPr>
                        <a:t>산하 대리점</a:t>
                      </a:r>
                    </a:p>
                  </a:txBody>
                  <a:tcPr>
                    <a:solidFill>
                      <a:srgbClr val="F8FAFC"/>
                    </a:solidFill>
                  </a:tcPr>
                </a:tc>
                <a:tc>
                  <a:txBody>
                    <a:bodyPr/>
                    <a:lstStyle/>
                    <a:p>
                      <a:pPr algn="ctr"/>
                      <a:r>
                        <a:rPr sz="1200">
                          <a:solidFill>
                            <a:srgbClr val="334155"/>
                          </a:solidFill>
                          <a:latin typeface="Malgun Gothic"/>
                        </a:rPr>
                        <a:t>성과 상향평준화</a:t>
                      </a:r>
                    </a:p>
                  </a:txBody>
                  <a:tcPr>
                    <a:solidFill>
                      <a:srgbClr val="F8FAFC"/>
                    </a:solidFill>
                  </a:tcPr>
                </a:tc>
              </a:tr>
              <a:tr h="514350">
                <a:tc>
                  <a:txBody>
                    <a:bodyPr/>
                    <a:lstStyle/>
                    <a:p>
                      <a:pPr algn="l"/>
                      <a:r>
                        <a:rPr sz="1200" b="1">
                          <a:solidFill>
                            <a:srgbClr val="334155"/>
                          </a:solidFill>
                          <a:latin typeface="Malgun Gothic"/>
                        </a:rPr>
                        <a:t>지사 정산</a:t>
                      </a:r>
                    </a:p>
                  </a:txBody>
                  <a:tcPr>
                    <a:solidFill>
                      <a:srgbClr val="FFFFFF"/>
                    </a:solidFill>
                  </a:tcPr>
                </a:tc>
                <a:tc>
                  <a:txBody>
                    <a:bodyPr/>
                    <a:lstStyle/>
                    <a:p>
                      <a:pPr algn="ctr"/>
                      <a:r>
                        <a:rPr sz="1200">
                          <a:solidFill>
                            <a:srgbClr val="334155"/>
                          </a:solidFill>
                          <a:latin typeface="Malgun Gothic"/>
                        </a:rPr>
                        <a:t>수령·배분 자동계산</a:t>
                      </a:r>
                    </a:p>
                  </a:txBody>
                  <a:tcPr>
                    <a:solidFill>
                      <a:srgbClr val="FFFFFF"/>
                    </a:solidFill>
                  </a:tcPr>
                </a:tc>
                <a:tc>
                  <a:txBody>
                    <a:bodyPr/>
                    <a:lstStyle/>
                    <a:p>
                      <a:pPr algn="ctr"/>
                      <a:r>
                        <a:rPr sz="1200">
                          <a:solidFill>
                            <a:srgbClr val="334155"/>
                          </a:solidFill>
                          <a:latin typeface="Malgun Gothic"/>
                        </a:rPr>
                        <a:t>본사↔지사↔대리점</a:t>
                      </a:r>
                    </a:p>
                  </a:txBody>
                  <a:tcPr>
                    <a:solidFill>
                      <a:srgbClr val="FFFFFF"/>
                    </a:solidFill>
                  </a:tcPr>
                </a:tc>
                <a:tc>
                  <a:txBody>
                    <a:bodyPr/>
                    <a:lstStyle/>
                    <a:p>
                      <a:pPr algn="ctr"/>
                      <a:r>
                        <a:rPr sz="1200">
                          <a:solidFill>
                            <a:srgbClr val="334155"/>
                          </a:solidFill>
                          <a:latin typeface="Malgun Gothic"/>
                        </a:rPr>
                        <a:t>정확한 정산</a:t>
                      </a:r>
                    </a:p>
                  </a:txBody>
                  <a:tcPr>
                    <a:solidFill>
                      <a:srgbClr val="FFFFFF"/>
                    </a:solidFill>
                  </a:tcPr>
                </a:tc>
              </a:tr>
              <a:tr h="514350">
                <a:tc>
                  <a:txBody>
                    <a:bodyPr/>
                    <a:lstStyle/>
                    <a:p>
                      <a:pPr algn="l"/>
                      <a:r>
                        <a:rPr sz="1200" b="1">
                          <a:solidFill>
                            <a:srgbClr val="334155"/>
                          </a:solidFill>
                          <a:latin typeface="Malgun Gothic"/>
                        </a:rPr>
                        <a:t>학생·학부모</a:t>
                      </a:r>
                    </a:p>
                  </a:txBody>
                  <a:tcPr>
                    <a:solidFill>
                      <a:srgbClr val="F8FAFC"/>
                    </a:solidFill>
                  </a:tcPr>
                </a:tc>
                <a:tc>
                  <a:txBody>
                    <a:bodyPr/>
                    <a:lstStyle/>
                    <a:p>
                      <a:pPr algn="ctr"/>
                      <a:r>
                        <a:rPr sz="1200">
                          <a:solidFill>
                            <a:srgbClr val="334155"/>
                          </a:solidFill>
                          <a:latin typeface="Malgun Gothic"/>
                        </a:rPr>
                        <a:t>재원·출결·성적</a:t>
                      </a:r>
                    </a:p>
                  </a:txBody>
                  <a:tcPr>
                    <a:solidFill>
                      <a:srgbClr val="F8FAFC"/>
                    </a:solidFill>
                  </a:tcPr>
                </a:tc>
                <a:tc>
                  <a:txBody>
                    <a:bodyPr/>
                    <a:lstStyle/>
                    <a:p>
                      <a:pPr algn="ctr"/>
                      <a:r>
                        <a:rPr sz="1200">
                          <a:solidFill>
                            <a:srgbClr val="334155"/>
                          </a:solidFill>
                          <a:latin typeface="Malgun Gothic"/>
                        </a:rPr>
                        <a:t>지사 범위</a:t>
                      </a:r>
                    </a:p>
                  </a:txBody>
                  <a:tcPr>
                    <a:solidFill>
                      <a:srgbClr val="F8FAFC"/>
                    </a:solidFill>
                  </a:tcPr>
                </a:tc>
                <a:tc>
                  <a:txBody>
                    <a:bodyPr/>
                    <a:lstStyle/>
                    <a:p>
                      <a:pPr algn="ctr"/>
                      <a:r>
                        <a:rPr sz="1200">
                          <a:solidFill>
                            <a:srgbClr val="334155"/>
                          </a:solidFill>
                          <a:latin typeface="Malgun Gothic"/>
                        </a:rPr>
                        <a:t>이탈 방지</a:t>
                      </a:r>
                    </a:p>
                  </a:txBody>
                  <a:tcPr>
                    <a:solidFill>
                      <a:srgbClr val="F8FAFC"/>
                    </a:solidFill>
                  </a:tcPr>
                </a:tc>
              </a:tr>
              <a:tr h="514350">
                <a:tc>
                  <a:txBody>
                    <a:bodyPr/>
                    <a:lstStyle/>
                    <a:p>
                      <a:pPr algn="l"/>
                      <a:r>
                        <a:rPr sz="1200" b="1">
                          <a:solidFill>
                            <a:srgbClr val="334155"/>
                          </a:solidFill>
                          <a:latin typeface="Malgun Gothic"/>
                        </a:rPr>
                        <a:t>회계</a:t>
                      </a:r>
                    </a:p>
                  </a:txBody>
                  <a:tcPr>
                    <a:solidFill>
                      <a:srgbClr val="FFFFFF"/>
                    </a:solidFill>
                  </a:tcPr>
                </a:tc>
                <a:tc>
                  <a:txBody>
                    <a:bodyPr/>
                    <a:lstStyle/>
                    <a:p>
                      <a:pPr algn="ctr"/>
                      <a:r>
                        <a:rPr sz="1200">
                          <a:solidFill>
                            <a:srgbClr val="334155"/>
                          </a:solidFill>
                          <a:latin typeface="Malgun Gothic"/>
                        </a:rPr>
                        <a:t>결제·미납·환불</a:t>
                      </a:r>
                    </a:p>
                  </a:txBody>
                  <a:tcPr>
                    <a:solidFill>
                      <a:srgbClr val="FFFFFF"/>
                    </a:solidFill>
                  </a:tcPr>
                </a:tc>
                <a:tc>
                  <a:txBody>
                    <a:bodyPr/>
                    <a:lstStyle/>
                    <a:p>
                      <a:pPr algn="ctr"/>
                      <a:r>
                        <a:rPr sz="1200">
                          <a:solidFill>
                            <a:srgbClr val="334155"/>
                          </a:solidFill>
                          <a:latin typeface="Malgun Gothic"/>
                        </a:rPr>
                        <a:t>지사 범위</a:t>
                      </a:r>
                    </a:p>
                  </a:txBody>
                  <a:tcPr>
                    <a:solidFill>
                      <a:srgbClr val="FFFFFF"/>
                    </a:solidFill>
                  </a:tcPr>
                </a:tc>
                <a:tc>
                  <a:txBody>
                    <a:bodyPr/>
                    <a:lstStyle/>
                    <a:p>
                      <a:pPr algn="ctr"/>
                      <a:r>
                        <a:rPr sz="1200">
                          <a:solidFill>
                            <a:srgbClr val="334155"/>
                          </a:solidFill>
                          <a:latin typeface="Malgun Gothic"/>
                        </a:rPr>
                        <a:t>건전한 수납</a:t>
                      </a:r>
                    </a:p>
                  </a:txBody>
                  <a:tcPr>
                    <a:solidFill>
                      <a:srgbClr val="FFFFFF"/>
                    </a:solidFill>
                  </a:tcPr>
                </a:tc>
              </a:tr>
              <a:tr h="514350">
                <a:tc>
                  <a:txBody>
                    <a:bodyPr/>
                    <a:lstStyle/>
                    <a:p>
                      <a:pPr algn="l"/>
                      <a:r>
                        <a:rPr sz="1200" b="1">
                          <a:solidFill>
                            <a:srgbClr val="334155"/>
                          </a:solidFill>
                          <a:latin typeface="Malgun Gothic"/>
                        </a:rPr>
                        <a:t>리텐션</a:t>
                      </a:r>
                    </a:p>
                  </a:txBody>
                  <a:tcPr>
                    <a:solidFill>
                      <a:srgbClr val="F8FAFC"/>
                    </a:solidFill>
                  </a:tcPr>
                </a:tc>
                <a:tc>
                  <a:txBody>
                    <a:bodyPr/>
                    <a:lstStyle/>
                    <a:p>
                      <a:pPr algn="ctr"/>
                      <a:r>
                        <a:rPr sz="1200">
                          <a:solidFill>
                            <a:srgbClr val="334155"/>
                          </a:solidFill>
                          <a:latin typeface="Malgun Gothic"/>
                        </a:rPr>
                        <a:t>이탈위험·전염</a:t>
                      </a:r>
                    </a:p>
                  </a:txBody>
                  <a:tcPr>
                    <a:solidFill>
                      <a:srgbClr val="F8FAFC"/>
                    </a:solidFill>
                  </a:tcPr>
                </a:tc>
                <a:tc>
                  <a:txBody>
                    <a:bodyPr/>
                    <a:lstStyle/>
                    <a:p>
                      <a:pPr algn="ctr"/>
                      <a:r>
                        <a:rPr sz="1200">
                          <a:solidFill>
                            <a:srgbClr val="334155"/>
                          </a:solidFill>
                          <a:latin typeface="Malgun Gothic"/>
                        </a:rPr>
                        <a:t>지사·대리점</a:t>
                      </a:r>
                    </a:p>
                  </a:txBody>
                  <a:tcPr>
                    <a:solidFill>
                      <a:srgbClr val="F8FAFC"/>
                    </a:solidFill>
                  </a:tcPr>
                </a:tc>
                <a:tc>
                  <a:txBody>
                    <a:bodyPr/>
                    <a:lstStyle/>
                    <a:p>
                      <a:pPr algn="ctr"/>
                      <a:r>
                        <a:rPr sz="1200">
                          <a:solidFill>
                            <a:srgbClr val="334155"/>
                          </a:solidFill>
                          <a:latin typeface="Malgun Gothic"/>
                        </a:rPr>
                        <a:t>잔존율 ↑</a:t>
                      </a:r>
                    </a:p>
                  </a:txBody>
                  <a:tcPr>
                    <a:solidFill>
                      <a:srgbClr val="F8FAFC"/>
                    </a:solidFill>
                  </a:tcPr>
                </a:tc>
              </a:tr>
              <a:tr h="514350">
                <a:tc>
                  <a:txBody>
                    <a:bodyPr/>
                    <a:lstStyle/>
                    <a:p>
                      <a:pPr algn="l"/>
                      <a:r>
                        <a:rPr sz="1200" b="1">
                          <a:solidFill>
                            <a:srgbClr val="334155"/>
                          </a:solidFill>
                          <a:latin typeface="Malgun Gothic"/>
                        </a:rPr>
                        <a:t>월간 리포트</a:t>
                      </a:r>
                    </a:p>
                  </a:txBody>
                  <a:tcPr>
                    <a:solidFill>
                      <a:srgbClr val="FFFFFF"/>
                    </a:solidFill>
                  </a:tcPr>
                </a:tc>
                <a:tc>
                  <a:txBody>
                    <a:bodyPr/>
                    <a:lstStyle/>
                    <a:p>
                      <a:pPr algn="ctr"/>
                      <a:r>
                        <a:rPr sz="1200">
                          <a:solidFill>
                            <a:srgbClr val="334155"/>
                          </a:solidFill>
                          <a:latin typeface="Malgun Gothic"/>
                        </a:rPr>
                        <a:t>성과 분석</a:t>
                      </a:r>
                    </a:p>
                  </a:txBody>
                  <a:tcPr>
                    <a:solidFill>
                      <a:srgbClr val="FFFFFF"/>
                    </a:solidFill>
                  </a:tcPr>
                </a:tc>
                <a:tc>
                  <a:txBody>
                    <a:bodyPr/>
                    <a:lstStyle/>
                    <a:p>
                      <a:pPr algn="ctr"/>
                      <a:r>
                        <a:rPr sz="1200">
                          <a:solidFill>
                            <a:srgbClr val="334155"/>
                          </a:solidFill>
                          <a:latin typeface="Malgun Gothic"/>
                        </a:rPr>
                        <a:t>지사·대리점</a:t>
                      </a:r>
                    </a:p>
                  </a:txBody>
                  <a:tcPr>
                    <a:solidFill>
                      <a:srgbClr val="FFFFFF"/>
                    </a:solidFill>
                  </a:tcPr>
                </a:tc>
                <a:tc>
                  <a:txBody>
                    <a:bodyPr/>
                    <a:lstStyle/>
                    <a:p>
                      <a:pPr algn="ctr"/>
                      <a:r>
                        <a:rPr sz="1200">
                          <a:solidFill>
                            <a:srgbClr val="334155"/>
                          </a:solidFill>
                          <a:latin typeface="Malgun Gothic"/>
                        </a:rPr>
                        <a:t>투명한 운영</a:t>
                      </a:r>
                    </a:p>
                  </a:txBody>
                  <a:tcP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한눈에 보는 데이터</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32</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한눈에 보는 데이터</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대리점별 재원생(예시)</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정산 흐름(예시 비중)</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자주 묻는 질문 (FAQ)</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33</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자주 묻는 질문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어디서 접속하나요?</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admin.mangoi.co.kr 에서 로그인해요. 권한(지사)에 따라 우리 지사 데이터만 자동으로 보여요.</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다른 지사 데이터도 보이나요?</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아니요. 권한 범위상 우리 지사와 산하 대리점 데이터만 보입니다.</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정산은 어떻게 계산되나요?</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조직 트리(본사→지사→대리점)를 따라 매출·수수료가 자동 계산됩니다. 월간 리포트에서 확인하세요.</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대리점 성과가 부진해요.</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리텐션·회계·리포트로 원인을 찾고, 온보딩·코칭·인센티브로 지원하세요. 우수 사례 공유도 효과적입니다.</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시스템 문제가 생겼어요.</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본사 고객센터(전화·이메일·카카오·원격지원)로 문의하면 빠르게 해결됩니다.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CFDF5"/>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체크리스트</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34</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지사 운영 체크리스트</a:t>
            </a:r>
          </a:p>
        </p:txBody>
      </p:sp>
      <p:sp>
        <p:nvSpPr>
          <p:cNvPr id="9" name="Rounded Rectangle 8"/>
          <p:cNvSpPr/>
          <p:nvPr/>
        </p:nvSpPr>
        <p:spPr>
          <a:xfrm>
            <a:off x="457200" y="1645920"/>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오늘 지사 매출·재원·출석 지표를 확인했나요?</a:t>
            </a:r>
          </a:p>
        </p:txBody>
      </p:sp>
      <p:sp>
        <p:nvSpPr>
          <p:cNvPr id="11" name="Rounded Rectangle 10"/>
          <p:cNvSpPr/>
          <p:nvPr/>
        </p:nvSpPr>
        <p:spPr>
          <a:xfrm>
            <a:off x="457200" y="2212848"/>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부진한 대리점을 파악하고 지원했나요?</a:t>
            </a:r>
          </a:p>
        </p:txBody>
      </p:sp>
      <p:sp>
        <p:nvSpPr>
          <p:cNvPr id="13" name="Rounded Rectangle 12"/>
          <p:cNvSpPr/>
          <p:nvPr/>
        </p:nvSpPr>
        <p:spPr>
          <a:xfrm>
            <a:off x="457200" y="2779776"/>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이번 달 정산(수령·배분)을 점검했나요?</a:t>
            </a:r>
          </a:p>
        </p:txBody>
      </p:sp>
      <p:sp>
        <p:nvSpPr>
          <p:cNvPr id="15" name="Rounded Rectangle 14"/>
          <p:cNvSpPr/>
          <p:nvPr/>
        </p:nvSpPr>
        <p:spPr>
          <a:xfrm>
            <a:off x="457200" y="3346704"/>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미납·환불 건을 확인했나요?</a:t>
            </a:r>
          </a:p>
        </p:txBody>
      </p:sp>
      <p:sp>
        <p:nvSpPr>
          <p:cNvPr id="17" name="Rounded Rectangle 16"/>
          <p:cNvSpPr/>
          <p:nvPr/>
        </p:nvSpPr>
        <p:spPr>
          <a:xfrm>
            <a:off x="457200" y="3913632"/>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이탈위험 학생·대리점을 챙겼나요?</a:t>
            </a:r>
          </a:p>
        </p:txBody>
      </p:sp>
      <p:sp>
        <p:nvSpPr>
          <p:cNvPr id="19" name="Rounded Rectangle 18"/>
          <p:cNvSpPr/>
          <p:nvPr/>
        </p:nvSpPr>
        <p:spPr>
          <a:xfrm>
            <a:off x="457200" y="4480560"/>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신규 대리점 온보딩을 진행했나요?</a:t>
            </a:r>
          </a:p>
        </p:txBody>
      </p:sp>
      <p:sp>
        <p:nvSpPr>
          <p:cNvPr id="21" name="Rounded Rectangle 20"/>
          <p:cNvSpPr/>
          <p:nvPr/>
        </p:nvSpPr>
        <p:spPr>
          <a:xfrm>
            <a:off x="457200" y="5047488"/>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월간 리포트를 공유했나요?</a:t>
            </a:r>
          </a:p>
        </p:txBody>
      </p:sp>
      <p:pic>
        <p:nvPicPr>
          <p:cNvPr id="23" name="Picture 22"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지사용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마무리</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35</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0D9488"/>
                </a:solidFill>
                <a:latin typeface="Malgun Gothic"/>
              </a:rPr>
              <a:t>🏁 마무리 · 지사 성장을 위한 실천 가이드</a:t>
            </a:r>
          </a:p>
        </p:txBody>
      </p:sp>
      <p:sp>
        <p:nvSpPr>
          <p:cNvPr id="9" name="Rounded Rectangle 8"/>
          <p:cNvSpPr/>
          <p:nvPr/>
        </p:nvSpPr>
        <p:spPr>
          <a:xfrm>
            <a:off x="365760" y="1371600"/>
            <a:ext cx="11430000" cy="86868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지사의 역할은 본사와 대리점을 잇는 다리예요. 우리 지사 지표를 챙기고, 산하 대리점이 잘 크도록 지원하며, 정산을 투명하게 처리하면 지사 전체가 함께 성장합니다. 이 리듬만 지켜도 운영이 훨씬 안정적이에요.</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0D9488"/>
                </a:solidFill>
                <a:latin typeface="Malgun Gothic"/>
              </a:rPr>
              <a:t>🔄 하루 흐름 한눈에</a:t>
            </a:r>
          </a:p>
        </p:txBody>
      </p:sp>
      <p:sp>
        <p:nvSpPr>
          <p:cNvPr id="12" name="Rounded Rectangle 11"/>
          <p:cNvSpPr/>
          <p:nvPr/>
        </p:nvSpPr>
        <p:spPr>
          <a:xfrm>
            <a:off x="457200" y="27889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아침 (5분)</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지사 대시보드에서 매출·재원·출석 확인, AI 인사이트로 상태 파악</a:t>
            </a:r>
          </a:p>
        </p:txBody>
      </p:sp>
      <p:sp>
        <p:nvSpPr>
          <p:cNvPr id="15" name="Rounded Rectangle 14"/>
          <p:cNvSpPr/>
          <p:nvPr/>
        </p:nvSpPr>
        <p:spPr>
          <a:xfrm>
            <a:off x="457200" y="32461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오전</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대리점별 성과·수납 점검, 미납·환불 확인</a:t>
            </a:r>
          </a:p>
        </p:txBody>
      </p:sp>
      <p:sp>
        <p:nvSpPr>
          <p:cNvPr id="18" name="Rounded Rectangle 17"/>
          <p:cNvSpPr/>
          <p:nvPr/>
        </p:nvSpPr>
        <p:spPr>
          <a:xfrm>
            <a:off x="457200" y="37033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오후</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부진 대리점 지원·코칭, 이탈위험 학생 케어(리텐션)</a:t>
            </a:r>
          </a:p>
        </p:txBody>
      </p:sp>
      <p:sp>
        <p:nvSpPr>
          <p:cNvPr id="21" name="Rounded Rectangle 20"/>
          <p:cNvSpPr/>
          <p:nvPr/>
        </p:nvSpPr>
        <p:spPr>
          <a:xfrm>
            <a:off x="457200" y="41605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주간</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신규 대리점 온보딩, 우수 사례 공유</a:t>
            </a:r>
          </a:p>
        </p:txBody>
      </p:sp>
      <p:sp>
        <p:nvSpPr>
          <p:cNvPr id="24" name="Rounded Rectangle 23"/>
          <p:cNvSpPr/>
          <p:nvPr/>
        </p:nvSpPr>
        <p:spPr>
          <a:xfrm>
            <a:off x="457200" y="46177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월간</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본사→지사→대리점 정산 확인·배포, 월간 리포트 공유</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0D9488"/>
                </a:solidFill>
                <a:latin typeface="Malgun Gothic"/>
              </a:rPr>
              <a:t>⭐ 핵심 원칙</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0D9488"/>
                </a:solidFill>
                <a:latin typeface="Malgun Gothic"/>
              </a:rPr>
              <a:t>● </a:t>
            </a:r>
            <a:r>
              <a:rPr sz="1100">
                <a:solidFill>
                  <a:srgbClr val="334155"/>
                </a:solidFill>
                <a:latin typeface="Malgun Gothic"/>
              </a:rPr>
              <a:t>지표는 매일 아침 5분 — 지사·대리점 이상 신호를 빨리 잡아요.</a:t>
            </a:r>
          </a:p>
          <a:p>
            <a:pPr>
              <a:lnSpc>
                <a:spcPct val="115000"/>
              </a:lnSpc>
              <a:spcAft>
                <a:spcPts val="500"/>
              </a:spcAft>
            </a:pPr>
            <a:r>
              <a:rPr sz="900" b="1">
                <a:solidFill>
                  <a:srgbClr val="0D9488"/>
                </a:solidFill>
                <a:latin typeface="Malgun Gothic"/>
              </a:rPr>
              <a:t>● </a:t>
            </a:r>
            <a:r>
              <a:rPr sz="1100">
                <a:solidFill>
                  <a:srgbClr val="334155"/>
                </a:solidFill>
                <a:latin typeface="Malgun Gothic"/>
              </a:rPr>
              <a:t>대리점을 파트너로 — 성과 편차를 코칭·지원으로 좁혀요.</a:t>
            </a:r>
          </a:p>
          <a:p>
            <a:pPr>
              <a:lnSpc>
                <a:spcPct val="115000"/>
              </a:lnSpc>
              <a:spcAft>
                <a:spcPts val="500"/>
              </a:spcAft>
            </a:pPr>
            <a:r>
              <a:rPr sz="900" b="1">
                <a:solidFill>
                  <a:srgbClr val="0D9488"/>
                </a:solidFill>
                <a:latin typeface="Malgun Gothic"/>
              </a:rPr>
              <a:t>● </a:t>
            </a:r>
            <a:r>
              <a:rPr sz="1100">
                <a:solidFill>
                  <a:srgbClr val="334155"/>
                </a:solidFill>
                <a:latin typeface="Malgun Gothic"/>
              </a:rPr>
              <a:t>정산은 투명하게 — 기준을 미리 공지하면 신뢰가 쌓여요.</a:t>
            </a:r>
          </a:p>
          <a:p>
            <a:pPr>
              <a:lnSpc>
                <a:spcPct val="115000"/>
              </a:lnSpc>
              <a:spcAft>
                <a:spcPts val="500"/>
              </a:spcAft>
            </a:pPr>
            <a:r>
              <a:rPr sz="900" b="1">
                <a:solidFill>
                  <a:srgbClr val="0D9488"/>
                </a:solidFill>
                <a:latin typeface="Malgun Gothic"/>
              </a:rPr>
              <a:t>● </a:t>
            </a:r>
            <a:r>
              <a:rPr sz="1100">
                <a:solidFill>
                  <a:srgbClr val="334155"/>
                </a:solidFill>
                <a:latin typeface="Malgun Gothic"/>
              </a:rPr>
              <a:t>이탈은 조기 개입 — 위험 대리점·학생을 먼저 챙겨요.</a:t>
            </a:r>
          </a:p>
          <a:p>
            <a:pPr>
              <a:lnSpc>
                <a:spcPct val="115000"/>
              </a:lnSpc>
              <a:spcAft>
                <a:spcPts val="500"/>
              </a:spcAft>
            </a:pPr>
            <a:r>
              <a:rPr sz="900" b="1">
                <a:solidFill>
                  <a:srgbClr val="0D9488"/>
                </a:solidFill>
                <a:latin typeface="Malgun Gothic"/>
              </a:rPr>
              <a:t>● </a:t>
            </a:r>
            <a:r>
              <a:rPr sz="1100">
                <a:solidFill>
                  <a:srgbClr val="334155"/>
                </a:solidFill>
                <a:latin typeface="Malgun Gothic"/>
              </a:rPr>
              <a:t>우수 사례를 확산 — 잘하는 대리점 방식을 전체로 공유해요.</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0D9488"/>
                </a:solidFill>
                <a:latin typeface="Malgun Gothic"/>
              </a:rPr>
              <a:t>📌 꼭 기억하세요</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59E0B"/>
                </a:solidFill>
                <a:latin typeface="Malgun Gothic"/>
              </a:rPr>
              <a:t>● </a:t>
            </a:r>
            <a:r>
              <a:rPr sz="1050">
                <a:solidFill>
                  <a:srgbClr val="334155"/>
                </a:solidFill>
                <a:latin typeface="Malgun Gothic"/>
              </a:rPr>
              <a:t>접속은 admin.mangoi.co.kr, 데이터는 우리 지사 범위로 자동 한정돼요</a:t>
            </a:r>
          </a:p>
          <a:p>
            <a:pPr>
              <a:lnSpc>
                <a:spcPct val="115000"/>
              </a:lnSpc>
              <a:spcAft>
                <a:spcPts val="400"/>
              </a:spcAft>
            </a:pPr>
            <a:r>
              <a:rPr sz="850" b="1">
                <a:solidFill>
                  <a:srgbClr val="F59E0B"/>
                </a:solidFill>
                <a:latin typeface="Malgun Gothic"/>
              </a:rPr>
              <a:t>● </a:t>
            </a:r>
            <a:r>
              <a:rPr sz="1050">
                <a:solidFill>
                  <a:srgbClr val="334155"/>
                </a:solidFill>
                <a:latin typeface="Malgun Gothic"/>
              </a:rPr>
              <a:t>정산은 본사→지사→대리점 트리 구조로 자동 계산돼요</a:t>
            </a:r>
          </a:p>
          <a:p>
            <a:pPr>
              <a:lnSpc>
                <a:spcPct val="115000"/>
              </a:lnSpc>
              <a:spcAft>
                <a:spcPts val="400"/>
              </a:spcAft>
            </a:pPr>
            <a:r>
              <a:rPr sz="850" b="1">
                <a:solidFill>
                  <a:srgbClr val="F59E0B"/>
                </a:solidFill>
                <a:latin typeface="Malgun Gothic"/>
              </a:rPr>
              <a:t>● </a:t>
            </a:r>
            <a:r>
              <a:rPr sz="1050">
                <a:solidFill>
                  <a:srgbClr val="334155"/>
                </a:solidFill>
                <a:latin typeface="Malgun Gothic"/>
              </a:rPr>
              <a:t>‘입장 안 됨’ 등 현장 문의의 대부분은 브라우저·권한 문제예요</a:t>
            </a:r>
          </a:p>
          <a:p>
            <a:pPr>
              <a:lnSpc>
                <a:spcPct val="115000"/>
              </a:lnSpc>
              <a:spcAft>
                <a:spcPts val="400"/>
              </a:spcAft>
            </a:pPr>
            <a:r>
              <a:rPr sz="850" b="1">
                <a:solidFill>
                  <a:srgbClr val="F59E0B"/>
                </a:solidFill>
                <a:latin typeface="Malgun Gothic"/>
              </a:rPr>
              <a:t>● </a:t>
            </a:r>
            <a:r>
              <a:rPr sz="1050">
                <a:solidFill>
                  <a:srgbClr val="334155"/>
                </a:solidFill>
                <a:latin typeface="Malgun Gothic"/>
              </a:rPr>
              <a:t>운영 리듬은 ‘점검 → 지원 → 정산 → 리포트’!</a:t>
            </a:r>
          </a:p>
        </p:txBody>
      </p:sp>
      <p:sp>
        <p:nvSpPr>
          <p:cNvPr id="31" name="Rounded Rectangle 30"/>
          <p:cNvSpPr/>
          <p:nvPr/>
        </p:nvSpPr>
        <p:spPr>
          <a:xfrm>
            <a:off x="457200" y="6172200"/>
            <a:ext cx="11338560" cy="566928"/>
          </a:xfrm>
          <a:prstGeom prst="roundRect">
            <a:avLst/>
          </a:prstGeom>
          <a:solidFill>
            <a:srgbClr val="ECFDF5"/>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좋은 지사는 대리점이 잘되게 돕는 지사예요. 지표로 상황을 읽고, 파트너를 지원하고, 정산을 투명하게 하면 지사와 대리점이 함께 성장합니다. 궁금한 점은 언제든 본사 고객센터로 — 든든한 지사 운영을 응원합니다!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A5E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망고아이와 함께 성장해요!</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궁금한 점은 사이트 A.i 상담사 또는 고객센터로 문의하세요.</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