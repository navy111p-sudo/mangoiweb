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F59E0B"/>
              </a:solidFill>
            </c:spPr>
          </c:dPt>
          <c:dPt>
            <c:idx val="1"/>
            <c:spPr>
              <a:solidFill>
                <a:srgbClr val="7C3AED"/>
              </a:solidFill>
            </c:spPr>
          </c:dPt>
          <c:dPt>
            <c:idx val="2"/>
            <c:spPr>
              <a:solidFill>
                <a:srgbClr val="4F46E5"/>
              </a:solidFill>
            </c:spPr>
          </c:dPt>
          <c:dPt>
            <c:idx val="3"/>
            <c:spPr>
              <a:solidFill>
                <a:srgbClr val="0EA5E9"/>
              </a:solidFill>
            </c:spPr>
          </c:dPt>
          <c:dPt>
            <c:idx val="4"/>
            <c:spPr>
              <a:solidFill>
                <a:srgbClr val="10B981"/>
              </a:solidFill>
            </c:spPr>
          </c:dPt>
          <c:cat>
            <c:strRef>
              <c:f>Sheet1!$A$2:$A$6</c:f>
              <c:strCache>
                <c:ptCount val="5"/>
                <c:pt idx="0">
                  <c:v>AI warm-up</c:v>
                </c:pt>
                <c:pt idx="1">
                  <c:v>Video lesson</c:v>
                </c:pt>
                <c:pt idx="2">
                  <c:v>Review games</c:v>
                </c:pt>
                <c:pt idx="3">
                  <c:v>Vocabulary</c:v>
                </c:pt>
                <c:pt idx="4">
                  <c:v>AI friend</c:v>
                </c:pt>
              </c:strCache>
            </c:strRef>
          </c:cat>
          <c:val>
            <c:numRef>
              <c:f>Sheet1!$B$2:$B$6</c:f>
              <c:numCache>
                <c:formatCode>General</c:formatCode>
                <c:ptCount val="5"/>
                <c:pt idx="0">
                  <c:v>3</c:v>
                </c:pt>
                <c:pt idx="1">
                  <c:v>25</c:v>
                </c:pt>
                <c:pt idx="2">
                  <c:v>10</c:v>
                </c:pt>
                <c:pt idx="3">
                  <c:v>7</c:v>
                </c:pt>
                <c:pt idx="4">
                  <c:v>5</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7C3AED"/>
              </a:solidFill>
            </c:spPr>
          </c:dPt>
          <c:dPt>
            <c:idx val="1"/>
            <c:spPr>
              <a:solidFill>
                <a:srgbClr val="0EA5E9"/>
              </a:solidFill>
            </c:spPr>
          </c:dPt>
          <c:dPt>
            <c:idx val="2"/>
            <c:spPr>
              <a:solidFill>
                <a:srgbClr val="F59E0B"/>
              </a:solidFill>
            </c:spPr>
          </c:dPt>
          <c:dPt>
            <c:idx val="3"/>
            <c:spPr>
              <a:solidFill>
                <a:srgbClr val="10B981"/>
              </a:solidFill>
            </c:spPr>
          </c:dPt>
          <c:cat>
            <c:strRef>
              <c:f>Sheet1!$A$2:$A$5</c:f>
              <c:strCache>
                <c:ptCount val="4"/>
                <c:pt idx="0">
                  <c:v>Speaking</c:v>
                </c:pt>
                <c:pt idx="1">
                  <c:v>Listening</c:v>
                </c:pt>
                <c:pt idx="2">
                  <c:v>Words</c:v>
                </c:pt>
                <c:pt idx="3">
                  <c:v>Sentences</c:v>
                </c:pt>
              </c:strCache>
            </c:strRef>
          </c:cat>
          <c:val>
            <c:numRef>
              <c:f>Sheet1!$B$2:$B$5</c:f>
              <c:numCache>
                <c:formatCode>General</c:formatCode>
                <c:ptCount val="4"/>
                <c:pt idx="0">
                  <c:v>9</c:v>
                </c:pt>
                <c:pt idx="1">
                  <c:v>7</c:v>
                </c:pt>
                <c:pt idx="2">
                  <c:v>10</c:v>
                </c:pt>
                <c:pt idx="3">
                  <c:v>8</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7C3AED"/>
              </a:solidFill>
            </c:spPr>
          </c:dPt>
          <c:dPt>
            <c:idx val="1"/>
            <c:spPr>
              <a:solidFill>
                <a:srgbClr val="7C3AED"/>
              </a:solidFill>
            </c:spPr>
          </c:dPt>
          <c:dPt>
            <c:idx val="2"/>
            <c:spPr>
              <a:solidFill>
                <a:srgbClr val="7C3AED"/>
              </a:solidFill>
            </c:spPr>
          </c:dPt>
          <c:dPt>
            <c:idx val="3"/>
            <c:spPr>
              <a:solidFill>
                <a:srgbClr val="7C3AED"/>
              </a:solidFill>
            </c:spPr>
          </c:dPt>
          <c:dPt>
            <c:idx val="4"/>
            <c:spPr>
              <a:solidFill>
                <a:srgbClr val="7C3AED"/>
              </a:solidFill>
            </c:spPr>
          </c:dPt>
          <c:dPt>
            <c:idx val="5"/>
            <c:spPr>
              <a:solidFill>
                <a:srgbClr val="7C3AED"/>
              </a:solidFill>
            </c:spPr>
          </c:dPt>
          <c:cat>
            <c:strRef>
              <c:f>Sheet1!$A$2:$A$7</c:f>
              <c:strCache>
                <c:ptCount val="6"/>
                <c:pt idx="0">
                  <c:v>W1</c:v>
                </c:pt>
                <c:pt idx="1">
                  <c:v>W2</c:v>
                </c:pt>
                <c:pt idx="2">
                  <c:v>W3</c:v>
                </c:pt>
                <c:pt idx="3">
                  <c:v>W4</c:v>
                </c:pt>
                <c:pt idx="4">
                  <c:v>W6</c:v>
                </c:pt>
                <c:pt idx="5">
                  <c:v>W8</c:v>
                </c:pt>
              </c:strCache>
            </c:strRef>
          </c:cat>
          <c:val>
            <c:numRef>
              <c:f>Sheet1!$B$2:$B$7</c:f>
              <c:numCache>
                <c:formatCode>General</c:formatCode>
                <c:ptCount val="6"/>
                <c:pt idx="0">
                  <c:v>20</c:v>
                </c:pt>
                <c:pt idx="1">
                  <c:v>45</c:v>
                </c:pt>
                <c:pt idx="2">
                  <c:v>80</c:v>
                </c:pt>
                <c:pt idx="3">
                  <c:v>130</c:v>
                </c:pt>
                <c:pt idx="4">
                  <c:v>210</c:v>
                </c:pt>
                <c:pt idx="5">
                  <c:v>320</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7C3AED"/>
                </a:solidFill>
                <a:latin typeface="Malgun Gothic"/>
              </a:rPr>
              <a:t>🎒 STUDENT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Mangoi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Student User Guide</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Easy on your own — the complete Mangoi guide</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For · Students learning with Mangoi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Introduction</a:t>
            </a:r>
          </a:p>
        </p:txBody>
      </p:sp>
      <p:sp>
        <p:nvSpPr>
          <p:cNvPr id="6" name="Rounded Rectangle 5"/>
          <p:cNvSpPr/>
          <p:nvPr/>
        </p:nvSpPr>
        <p:spPr>
          <a:xfrm>
            <a:off x="365760" y="868680"/>
            <a:ext cx="11460175" cy="155448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7C3AED"/>
                </a:solidFill>
                <a:latin typeface="Malgun Gothic"/>
              </a:rPr>
              <a:t>What is Mangoi?</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Mangoi brings together live 1:1 video English lessons with a native-speaker teacher and AI learning &amp; games you can do on your own before and after class. Connect right from your web browser (Chrome/Edge) on a phone, tablet or PC — no app install needed. Just follow this guide and even first-timers can use it easily on their own.</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1:1 native video lessons</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Meet your teacher face-to-face and talk in English at set times.</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AI warm-up · pronunciation coach</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Warm up before class and get instant pronunciation fixes.</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10 learning games</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Review today's words and sentences through fun games.</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7C3AED"/>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Points · badges · streak</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The more you study, the more points and badges you collect.</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7C3AED"/>
                </a:solidFill>
                <a:latin typeface="Malgun Gothic"/>
              </a:rPr>
              <a:t>Recommended Daily Routine (min)</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tudent_home.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Contents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Introduction</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a:t>
            </a:r>
          </a:p>
        </p:txBody>
      </p:sp>
      <p:sp>
        <p:nvSpPr>
          <p:cNvPr id="9" name="Rounded Rectangle 8"/>
          <p:cNvSpPr/>
          <p:nvPr/>
        </p:nvSpPr>
        <p:spPr>
          <a:xfrm>
            <a:off x="411480"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Getting Started &amp; Home</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a:t>
            </a:r>
          </a:p>
        </p:txBody>
      </p:sp>
      <p:sp>
        <p:nvSpPr>
          <p:cNvPr id="13" name="Rounded Rectangle 12"/>
          <p:cNvSpPr/>
          <p:nvPr/>
        </p:nvSpPr>
        <p:spPr>
          <a:xfrm>
            <a:off x="411480"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Enter a Video Lesson</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a:t>
            </a:r>
          </a:p>
        </p:txBody>
      </p:sp>
      <p:sp>
        <p:nvSpPr>
          <p:cNvPr id="17" name="Rounded Rectangle 16"/>
          <p:cNvSpPr/>
          <p:nvPr/>
        </p:nvSpPr>
        <p:spPr>
          <a:xfrm>
            <a:off x="411480"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Classroom at a Glance</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7</a:t>
            </a:r>
          </a:p>
        </p:txBody>
      </p:sp>
      <p:sp>
        <p:nvSpPr>
          <p:cNvPr id="21" name="Rounded Rectangle 20"/>
          <p:cNvSpPr/>
          <p:nvPr/>
        </p:nvSpPr>
        <p:spPr>
          <a:xfrm>
            <a:off x="411480"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Switching the 6 Top Tabs</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8</a:t>
            </a:r>
          </a:p>
        </p:txBody>
      </p:sp>
      <p:sp>
        <p:nvSpPr>
          <p:cNvPr id="25" name="Rounded Rectangle 24"/>
          <p:cNvSpPr/>
          <p:nvPr/>
        </p:nvSpPr>
        <p:spPr>
          <a:xfrm>
            <a:off x="411480"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Board Tools, One by One</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9</a:t>
            </a:r>
          </a:p>
        </p:txBody>
      </p:sp>
      <p:sp>
        <p:nvSpPr>
          <p:cNvPr id="29" name="Rounded Rectangle 28"/>
          <p:cNvSpPr/>
          <p:nvPr/>
        </p:nvSpPr>
        <p:spPr>
          <a:xfrm>
            <a:off x="411480"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Materials Tools (share PDF/photos)</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10</a:t>
            </a:r>
          </a:p>
        </p:txBody>
      </p:sp>
      <p:sp>
        <p:nvSpPr>
          <p:cNvPr id="33" name="Rounded Rectangle 32"/>
          <p:cNvSpPr/>
          <p:nvPr/>
        </p:nvSpPr>
        <p:spPr>
          <a:xfrm>
            <a:off x="411480"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Writing Tools (annotate on top)</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11</a:t>
            </a:r>
          </a:p>
        </p:txBody>
      </p:sp>
      <p:sp>
        <p:nvSpPr>
          <p:cNvPr id="37" name="Rounded Rectangle 36"/>
          <p:cNvSpPr/>
          <p:nvPr/>
        </p:nvSpPr>
        <p:spPr>
          <a:xfrm>
            <a:off x="411480"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Watch Video Together</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12</a:t>
            </a:r>
          </a:p>
        </p:txBody>
      </p:sp>
      <p:sp>
        <p:nvSpPr>
          <p:cNvPr id="41" name="Rounded Rectangle 40"/>
          <p:cNvSpPr/>
          <p:nvPr/>
        </p:nvSpPr>
        <p:spPr>
          <a:xfrm>
            <a:off x="411480"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Background &amp; Face Decorations</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13</a:t>
            </a:r>
          </a:p>
        </p:txBody>
      </p:sp>
      <p:sp>
        <p:nvSpPr>
          <p:cNvPr id="45" name="Rounded Rectangle 44"/>
          <p:cNvSpPr/>
          <p:nvPr/>
        </p:nvSpPr>
        <p:spPr>
          <a:xfrm>
            <a:off x="411480"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Resize &amp; Arrange the Screen</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14</a:t>
            </a:r>
          </a:p>
        </p:txBody>
      </p:sp>
      <p:sp>
        <p:nvSpPr>
          <p:cNvPr id="49" name="Rounded Rectangle 48"/>
          <p:cNvSpPr/>
          <p:nvPr/>
        </p:nvSpPr>
        <p:spPr>
          <a:xfrm>
            <a:off x="411480"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886968"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Praise Points During Class</a:t>
            </a:r>
          </a:p>
        </p:txBody>
      </p:sp>
      <p:sp>
        <p:nvSpPr>
          <p:cNvPr id="52" name="TextBox 51"/>
          <p:cNvSpPr txBox="1"/>
          <p:nvPr/>
        </p:nvSpPr>
        <p:spPr>
          <a:xfrm>
            <a:off x="5483199"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15</a:t>
            </a:r>
          </a:p>
        </p:txBody>
      </p:sp>
      <p:sp>
        <p:nvSpPr>
          <p:cNvPr id="53" name="Rounded Rectangle 52"/>
          <p:cNvSpPr/>
          <p:nvPr/>
        </p:nvSpPr>
        <p:spPr>
          <a:xfrm>
            <a:off x="411480"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886968"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Bottom Dock &amp; Praise Basket</a:t>
            </a:r>
          </a:p>
        </p:txBody>
      </p:sp>
      <p:sp>
        <p:nvSpPr>
          <p:cNvPr id="56" name="TextBox 55"/>
          <p:cNvSpPr txBox="1"/>
          <p:nvPr/>
        </p:nvSpPr>
        <p:spPr>
          <a:xfrm>
            <a:off x="5483199"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16</a:t>
            </a:r>
          </a:p>
        </p:txBody>
      </p:sp>
      <p:sp>
        <p:nvSpPr>
          <p:cNvPr id="57" name="Rounded Rectangle 56"/>
          <p:cNvSpPr/>
          <p:nvPr/>
        </p:nvSpPr>
        <p:spPr>
          <a:xfrm>
            <a:off x="411480"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886968"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How to Join In During Class</a:t>
            </a:r>
          </a:p>
        </p:txBody>
      </p:sp>
      <p:sp>
        <p:nvSpPr>
          <p:cNvPr id="60" name="TextBox 59"/>
          <p:cNvSpPr txBox="1"/>
          <p:nvPr/>
        </p:nvSpPr>
        <p:spPr>
          <a:xfrm>
            <a:off x="5483199"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17</a:t>
            </a:r>
          </a:p>
        </p:txBody>
      </p:sp>
      <p:sp>
        <p:nvSpPr>
          <p:cNvPr id="61" name="Rounded Rectangle 60"/>
          <p:cNvSpPr/>
          <p:nvPr/>
        </p:nvSpPr>
        <p:spPr>
          <a:xfrm>
            <a:off x="411480"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886968"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After Class — Review &amp; Rating</a:t>
            </a:r>
          </a:p>
        </p:txBody>
      </p:sp>
      <p:sp>
        <p:nvSpPr>
          <p:cNvPr id="64" name="TextBox 63"/>
          <p:cNvSpPr txBox="1"/>
          <p:nvPr/>
        </p:nvSpPr>
        <p:spPr>
          <a:xfrm>
            <a:off x="5483199"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18</a:t>
            </a:r>
          </a:p>
        </p:txBody>
      </p:sp>
      <p:sp>
        <p:nvSpPr>
          <p:cNvPr id="65" name="Rounded Rectangle 64"/>
          <p:cNvSpPr/>
          <p:nvPr/>
        </p:nvSpPr>
        <p:spPr>
          <a:xfrm>
            <a:off x="6141567"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Pre-class Device Check</a:t>
            </a:r>
          </a:p>
        </p:txBody>
      </p:sp>
      <p:sp>
        <p:nvSpPr>
          <p:cNvPr id="68" name="TextBox 67"/>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19</a:t>
            </a:r>
          </a:p>
        </p:txBody>
      </p:sp>
      <p:sp>
        <p:nvSpPr>
          <p:cNvPr id="69" name="Rounded Rectangle 68"/>
          <p:cNvSpPr/>
          <p:nvPr/>
        </p:nvSpPr>
        <p:spPr>
          <a:xfrm>
            <a:off x="6141567"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Warm Up with AI</a:t>
            </a:r>
          </a:p>
        </p:txBody>
      </p:sp>
      <p:sp>
        <p:nvSpPr>
          <p:cNvPr id="72" name="TextBox 71"/>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20</a:t>
            </a:r>
          </a:p>
        </p:txBody>
      </p:sp>
      <p:sp>
        <p:nvSpPr>
          <p:cNvPr id="73" name="Rounded Rectangle 72"/>
          <p:cNvSpPr/>
          <p:nvPr/>
        </p:nvSpPr>
        <p:spPr>
          <a:xfrm>
            <a:off x="6141567"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Pronunciation Coach</a:t>
            </a:r>
          </a:p>
        </p:txBody>
      </p:sp>
      <p:sp>
        <p:nvSpPr>
          <p:cNvPr id="76" name="TextBox 75"/>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21</a:t>
            </a:r>
          </a:p>
        </p:txBody>
      </p:sp>
      <p:sp>
        <p:nvSpPr>
          <p:cNvPr id="77" name="Rounded Rectangle 76"/>
          <p:cNvSpPr/>
          <p:nvPr/>
        </p:nvSpPr>
        <p:spPr>
          <a:xfrm>
            <a:off x="6141567"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Take a Level Test</a:t>
            </a:r>
          </a:p>
        </p:txBody>
      </p:sp>
      <p:sp>
        <p:nvSpPr>
          <p:cNvPr id="80" name="TextBox 79"/>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22</a:t>
            </a:r>
          </a:p>
        </p:txBody>
      </p:sp>
      <p:sp>
        <p:nvSpPr>
          <p:cNvPr id="81" name="Rounded Rectangle 80"/>
          <p:cNvSpPr/>
          <p:nvPr/>
        </p:nvSpPr>
        <p:spPr>
          <a:xfrm>
            <a:off x="6141567"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My Level · Curriculum</a:t>
            </a:r>
          </a:p>
        </p:txBody>
      </p:sp>
      <p:sp>
        <p:nvSpPr>
          <p:cNvPr id="84" name="TextBox 83"/>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23</a:t>
            </a:r>
          </a:p>
        </p:txBody>
      </p:sp>
      <p:sp>
        <p:nvSpPr>
          <p:cNvPr id="85" name="Rounded Rectangle 84"/>
          <p:cNvSpPr/>
          <p:nvPr/>
        </p:nvSpPr>
        <p:spPr>
          <a:xfrm>
            <a:off x="6141567"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Learning Games Hub</a:t>
            </a:r>
          </a:p>
        </p:txBody>
      </p:sp>
      <p:sp>
        <p:nvSpPr>
          <p:cNvPr id="88" name="TextBox 87"/>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24</a:t>
            </a:r>
          </a:p>
        </p:txBody>
      </p:sp>
      <p:sp>
        <p:nvSpPr>
          <p:cNvPr id="89" name="Rounded Rectangle 88"/>
          <p:cNvSpPr/>
          <p:nvPr/>
        </p:nvSpPr>
        <p:spPr>
          <a:xfrm>
            <a:off x="6141567"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3D Battle</a:t>
            </a:r>
          </a:p>
        </p:txBody>
      </p:sp>
      <p:sp>
        <p:nvSpPr>
          <p:cNvPr id="92" name="TextBox 91"/>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25</a:t>
            </a:r>
          </a:p>
        </p:txBody>
      </p:sp>
      <p:sp>
        <p:nvSpPr>
          <p:cNvPr id="93" name="Rounded Rectangle 92"/>
          <p:cNvSpPr/>
          <p:nvPr/>
        </p:nvSpPr>
        <p:spPr>
          <a:xfrm>
            <a:off x="6141567"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95" name="TextBox 94"/>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Shooting · Mastery Games</a:t>
            </a:r>
          </a:p>
        </p:txBody>
      </p:sp>
      <p:sp>
        <p:nvSpPr>
          <p:cNvPr id="96" name="TextBox 95"/>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26</a:t>
            </a:r>
          </a:p>
        </p:txBody>
      </p:sp>
      <p:sp>
        <p:nvSpPr>
          <p:cNvPr id="97" name="Rounded Rectangle 96"/>
          <p:cNvSpPr/>
          <p:nvPr/>
        </p:nvSpPr>
        <p:spPr>
          <a:xfrm>
            <a:off x="6141567"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99" name="TextBox 98"/>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Word Fighter (zombies)</a:t>
            </a:r>
          </a:p>
        </p:txBody>
      </p:sp>
      <p:sp>
        <p:nvSpPr>
          <p:cNvPr id="100" name="TextBox 99"/>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27</a:t>
            </a:r>
          </a:p>
        </p:txBody>
      </p:sp>
      <p:sp>
        <p:nvSpPr>
          <p:cNvPr id="101" name="Rounded Rectangle 100"/>
          <p:cNvSpPr/>
          <p:nvPr/>
        </p:nvSpPr>
        <p:spPr>
          <a:xfrm>
            <a:off x="6141567"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103" name="TextBox 102"/>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Suspect Mystery</a:t>
            </a:r>
          </a:p>
        </p:txBody>
      </p:sp>
      <p:sp>
        <p:nvSpPr>
          <p:cNvPr id="104" name="TextBox 103"/>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28</a:t>
            </a:r>
          </a:p>
        </p:txBody>
      </p:sp>
      <p:sp>
        <p:nvSpPr>
          <p:cNvPr id="105" name="Rounded Rectangle 104"/>
          <p:cNvSpPr/>
          <p:nvPr/>
        </p:nvSpPr>
        <p:spPr>
          <a:xfrm>
            <a:off x="6141567"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107" name="TextBox 106"/>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Speaking Quiz</a:t>
            </a:r>
          </a:p>
        </p:txBody>
      </p:sp>
      <p:sp>
        <p:nvSpPr>
          <p:cNvPr id="108" name="TextBox 107"/>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29</a:t>
            </a:r>
          </a:p>
        </p:txBody>
      </p:sp>
      <p:sp>
        <p:nvSpPr>
          <p:cNvPr id="109" name="Rounded Rectangle 108"/>
          <p:cNvSpPr/>
          <p:nvPr/>
        </p:nvSpPr>
        <p:spPr>
          <a:xfrm>
            <a:off x="6141567"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141567"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111" name="TextBox 110"/>
          <p:cNvSpPr txBox="1"/>
          <p:nvPr/>
        </p:nvSpPr>
        <p:spPr>
          <a:xfrm>
            <a:off x="6617055"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Review Quiz</a:t>
            </a:r>
          </a:p>
        </p:txBody>
      </p:sp>
      <p:sp>
        <p:nvSpPr>
          <p:cNvPr id="112" name="TextBox 111"/>
          <p:cNvSpPr txBox="1"/>
          <p:nvPr/>
        </p:nvSpPr>
        <p:spPr>
          <a:xfrm>
            <a:off x="11213287"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30</a:t>
            </a:r>
          </a:p>
        </p:txBody>
      </p:sp>
      <p:sp>
        <p:nvSpPr>
          <p:cNvPr id="113" name="Rounded Rectangle 112"/>
          <p:cNvSpPr/>
          <p:nvPr/>
        </p:nvSpPr>
        <p:spPr>
          <a:xfrm>
            <a:off x="6141567"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41567"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115" name="TextBox 114"/>
          <p:cNvSpPr txBox="1"/>
          <p:nvPr/>
        </p:nvSpPr>
        <p:spPr>
          <a:xfrm>
            <a:off x="6617055"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My Vocab</a:t>
            </a:r>
          </a:p>
        </p:txBody>
      </p:sp>
      <p:sp>
        <p:nvSpPr>
          <p:cNvPr id="116" name="TextBox 115"/>
          <p:cNvSpPr txBox="1"/>
          <p:nvPr/>
        </p:nvSpPr>
        <p:spPr>
          <a:xfrm>
            <a:off x="11213287"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31</a:t>
            </a:r>
          </a:p>
        </p:txBody>
      </p:sp>
      <p:sp>
        <p:nvSpPr>
          <p:cNvPr id="117" name="Rounded Rectangle 116"/>
          <p:cNvSpPr/>
          <p:nvPr/>
        </p:nvSpPr>
        <p:spPr>
          <a:xfrm>
            <a:off x="6141567"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141567"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119" name="TextBox 118"/>
          <p:cNvSpPr txBox="1"/>
          <p:nvPr/>
        </p:nvSpPr>
        <p:spPr>
          <a:xfrm>
            <a:off x="6617055"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Friend (Mango)</a:t>
            </a:r>
          </a:p>
        </p:txBody>
      </p:sp>
      <p:sp>
        <p:nvSpPr>
          <p:cNvPr id="120" name="TextBox 119"/>
          <p:cNvSpPr txBox="1"/>
          <p:nvPr/>
        </p:nvSpPr>
        <p:spPr>
          <a:xfrm>
            <a:off x="11213287"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Contents  (2/2)</a:t>
            </a:r>
          </a:p>
        </p:txBody>
      </p:sp>
      <p:sp>
        <p:nvSpPr>
          <p:cNvPr id="7" name="Rounded Rectangle 6"/>
          <p:cNvSpPr/>
          <p:nvPr/>
        </p:nvSpPr>
        <p:spPr>
          <a:xfrm>
            <a:off x="411480"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Writing</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33</a:t>
            </a:r>
          </a:p>
        </p:txBody>
      </p:sp>
      <p:sp>
        <p:nvSpPr>
          <p:cNvPr id="11" name="Rounded Rectangle 10"/>
          <p:cNvSpPr/>
          <p:nvPr/>
        </p:nvSpPr>
        <p:spPr>
          <a:xfrm>
            <a:off x="411480"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Attendance Streak · Badges</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34</a:t>
            </a:r>
          </a:p>
        </p:txBody>
      </p:sp>
      <p:sp>
        <p:nvSpPr>
          <p:cNvPr id="15" name="Rounded Rectangle 14"/>
          <p:cNvSpPr/>
          <p:nvPr/>
        </p:nvSpPr>
        <p:spPr>
          <a:xfrm>
            <a:off x="411480"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MBTI Style Test</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35</a:t>
            </a:r>
          </a:p>
        </p:txBody>
      </p:sp>
      <p:sp>
        <p:nvSpPr>
          <p:cNvPr id="19" name="Rounded Rectangle 18"/>
          <p:cNvSpPr/>
          <p:nvPr/>
        </p:nvSpPr>
        <p:spPr>
          <a:xfrm>
            <a:off x="411480"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Book a Lesson</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36</a:t>
            </a:r>
          </a:p>
        </p:txBody>
      </p:sp>
      <p:sp>
        <p:nvSpPr>
          <p:cNvPr id="23" name="Rounded Rectangle 22"/>
          <p:cNvSpPr/>
          <p:nvPr/>
        </p:nvSpPr>
        <p:spPr>
          <a:xfrm>
            <a:off x="411480"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Postpone · Change a Lesson</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37</a:t>
            </a:r>
          </a:p>
        </p:txBody>
      </p:sp>
      <p:sp>
        <p:nvSpPr>
          <p:cNvPr id="27" name="Rounded Rectangle 26"/>
          <p:cNvSpPr/>
          <p:nvPr/>
        </p:nvSpPr>
        <p:spPr>
          <a:xfrm>
            <a:off x="411480"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[Parents] See Your Child's Learning</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38</a:t>
            </a:r>
          </a:p>
        </p:txBody>
      </p:sp>
      <p:sp>
        <p:nvSpPr>
          <p:cNvPr id="31" name="Rounded Rectangle 30"/>
          <p:cNvSpPr/>
          <p:nvPr/>
        </p:nvSpPr>
        <p:spPr>
          <a:xfrm>
            <a:off x="411480"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[Parents] Payment · Postpone · Refund</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39</a:t>
            </a:r>
          </a:p>
        </p:txBody>
      </p:sp>
      <p:sp>
        <p:nvSpPr>
          <p:cNvPr id="35" name="Rounded Rectangle 34"/>
          <p:cNvSpPr/>
          <p:nvPr/>
        </p:nvSpPr>
        <p:spPr>
          <a:xfrm>
            <a:off x="411480"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Korea·Philippines Dual Clock</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40</a:t>
            </a:r>
          </a:p>
        </p:txBody>
      </p:sp>
      <p:sp>
        <p:nvSpPr>
          <p:cNvPr id="39" name="Rounded Rectangle 38"/>
          <p:cNvSpPr/>
          <p:nvPr/>
        </p:nvSpPr>
        <p:spPr>
          <a:xfrm>
            <a:off x="411480"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37</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Chinese Pronunciation Coach</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41</a:t>
            </a:r>
          </a:p>
        </p:txBody>
      </p:sp>
      <p:sp>
        <p:nvSpPr>
          <p:cNvPr id="43" name="Rounded Rectangle 42"/>
          <p:cNvSpPr/>
          <p:nvPr/>
        </p:nvSpPr>
        <p:spPr>
          <a:xfrm>
            <a:off x="411480"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38</a:t>
            </a:r>
          </a:p>
        </p:txBody>
      </p:sp>
      <p:sp>
        <p:nvSpPr>
          <p:cNvPr id="45" name="TextBox 44"/>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Voice Diary</a:t>
            </a:r>
          </a:p>
        </p:txBody>
      </p:sp>
      <p:sp>
        <p:nvSpPr>
          <p:cNvPr id="46" name="TextBox 45"/>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42</a:t>
            </a:r>
          </a:p>
        </p:txBody>
      </p:sp>
      <p:sp>
        <p:nvSpPr>
          <p:cNvPr id="47" name="Rounded Rectangle 46"/>
          <p:cNvSpPr/>
          <p:nvPr/>
        </p:nvSpPr>
        <p:spPr>
          <a:xfrm>
            <a:off x="411480"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39</a:t>
            </a:r>
          </a:p>
        </p:txBody>
      </p:sp>
      <p:sp>
        <p:nvSpPr>
          <p:cNvPr id="49" name="TextBox 48"/>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Where to next? (Learning-flow guide)</a:t>
            </a:r>
          </a:p>
        </p:txBody>
      </p:sp>
      <p:sp>
        <p:nvSpPr>
          <p:cNvPr id="50" name="TextBox 49"/>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43</a:t>
            </a:r>
          </a:p>
        </p:txBody>
      </p:sp>
      <p:sp>
        <p:nvSpPr>
          <p:cNvPr id="51" name="Rounded Rectangle 50"/>
          <p:cNvSpPr/>
          <p:nvPr/>
        </p:nvSpPr>
        <p:spPr>
          <a:xfrm>
            <a:off x="411480"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40</a:t>
            </a:r>
          </a:p>
        </p:txBody>
      </p:sp>
      <p:sp>
        <p:nvSpPr>
          <p:cNvPr id="53" name="TextBox 52"/>
          <p:cNvSpPr txBox="1"/>
          <p:nvPr/>
        </p:nvSpPr>
        <p:spPr>
          <a:xfrm>
            <a:off x="886968"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Ask the A.i Assistant</a:t>
            </a:r>
          </a:p>
        </p:txBody>
      </p:sp>
      <p:sp>
        <p:nvSpPr>
          <p:cNvPr id="54" name="TextBox 53"/>
          <p:cNvSpPr txBox="1"/>
          <p:nvPr/>
        </p:nvSpPr>
        <p:spPr>
          <a:xfrm>
            <a:off x="5483199"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44</a:t>
            </a:r>
          </a:p>
        </p:txBody>
      </p:sp>
      <p:sp>
        <p:nvSpPr>
          <p:cNvPr id="55" name="Rounded Rectangle 54"/>
          <p:cNvSpPr/>
          <p:nvPr/>
        </p:nvSpPr>
        <p:spPr>
          <a:xfrm>
            <a:off x="411480"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41</a:t>
            </a:r>
          </a:p>
        </p:txBody>
      </p:sp>
      <p:sp>
        <p:nvSpPr>
          <p:cNvPr id="57" name="TextBox 56"/>
          <p:cNvSpPr txBox="1"/>
          <p:nvPr/>
        </p:nvSpPr>
        <p:spPr>
          <a:xfrm>
            <a:off x="886968"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New Classroom Comforts</a:t>
            </a:r>
          </a:p>
        </p:txBody>
      </p:sp>
      <p:sp>
        <p:nvSpPr>
          <p:cNvPr id="58" name="TextBox 57"/>
          <p:cNvSpPr txBox="1"/>
          <p:nvPr/>
        </p:nvSpPr>
        <p:spPr>
          <a:xfrm>
            <a:off x="5483199"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45</a:t>
            </a:r>
          </a:p>
        </p:txBody>
      </p:sp>
      <p:sp>
        <p:nvSpPr>
          <p:cNvPr id="59" name="Rounded Rectangle 58"/>
          <p:cNvSpPr/>
          <p:nvPr/>
        </p:nvSpPr>
        <p:spPr>
          <a:xfrm>
            <a:off x="411480"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42</a:t>
            </a:r>
          </a:p>
        </p:txBody>
      </p:sp>
      <p:sp>
        <p:nvSpPr>
          <p:cNvPr id="61" name="TextBox 60"/>
          <p:cNvSpPr txBox="1"/>
          <p:nvPr/>
        </p:nvSpPr>
        <p:spPr>
          <a:xfrm>
            <a:off x="886968"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1:1 Private Chat &amp; File Sharing</a:t>
            </a:r>
          </a:p>
        </p:txBody>
      </p:sp>
      <p:sp>
        <p:nvSpPr>
          <p:cNvPr id="62" name="TextBox 61"/>
          <p:cNvSpPr txBox="1"/>
          <p:nvPr/>
        </p:nvSpPr>
        <p:spPr>
          <a:xfrm>
            <a:off x="5483199"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46</a:t>
            </a:r>
          </a:p>
        </p:txBody>
      </p:sp>
      <p:sp>
        <p:nvSpPr>
          <p:cNvPr id="63" name="Rounded Rectangle 62"/>
          <p:cNvSpPr/>
          <p:nvPr/>
        </p:nvSpPr>
        <p:spPr>
          <a:xfrm>
            <a:off x="411480" y="53218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43</a:t>
            </a:r>
          </a:p>
        </p:txBody>
      </p:sp>
      <p:sp>
        <p:nvSpPr>
          <p:cNvPr id="65" name="TextBox 64"/>
          <p:cNvSpPr txBox="1"/>
          <p:nvPr/>
        </p:nvSpPr>
        <p:spPr>
          <a:xfrm>
            <a:off x="886968"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Home Screen: Bright · Dark</a:t>
            </a:r>
          </a:p>
        </p:txBody>
      </p:sp>
      <p:sp>
        <p:nvSpPr>
          <p:cNvPr id="66" name="TextBox 65"/>
          <p:cNvSpPr txBox="1"/>
          <p:nvPr/>
        </p:nvSpPr>
        <p:spPr>
          <a:xfrm>
            <a:off x="5483199" y="52943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47</a:t>
            </a:r>
          </a:p>
        </p:txBody>
      </p:sp>
      <p:sp>
        <p:nvSpPr>
          <p:cNvPr id="67" name="Rounded Rectangle 66"/>
          <p:cNvSpPr/>
          <p:nvPr/>
        </p:nvSpPr>
        <p:spPr>
          <a:xfrm>
            <a:off x="6141567" y="14813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44</a:t>
            </a:r>
          </a:p>
        </p:txBody>
      </p:sp>
      <p:sp>
        <p:nvSpPr>
          <p:cNvPr id="69" name="TextBox 68"/>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Judgment Training (pick the right words)</a:t>
            </a:r>
          </a:p>
        </p:txBody>
      </p:sp>
      <p:sp>
        <p:nvSpPr>
          <p:cNvPr id="70" name="TextBox 69"/>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48</a:t>
            </a:r>
          </a:p>
        </p:txBody>
      </p:sp>
      <p:sp>
        <p:nvSpPr>
          <p:cNvPr id="71" name="Rounded Rectangle 70"/>
          <p:cNvSpPr/>
          <p:nvPr/>
        </p:nvSpPr>
        <p:spPr>
          <a:xfrm>
            <a:off x="6141567" y="17556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45</a:t>
            </a:r>
          </a:p>
        </p:txBody>
      </p:sp>
      <p:sp>
        <p:nvSpPr>
          <p:cNvPr id="73" name="TextBox 72"/>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Grammar Pizza Master (word order)</a:t>
            </a:r>
          </a:p>
        </p:txBody>
      </p:sp>
      <p:sp>
        <p:nvSpPr>
          <p:cNvPr id="74" name="TextBox 73"/>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49</a:t>
            </a:r>
          </a:p>
        </p:txBody>
      </p:sp>
      <p:sp>
        <p:nvSpPr>
          <p:cNvPr id="75" name="Rounded Rectangle 74"/>
          <p:cNvSpPr/>
          <p:nvPr/>
        </p:nvSpPr>
        <p:spPr>
          <a:xfrm>
            <a:off x="6141567" y="20299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46</a:t>
            </a:r>
          </a:p>
        </p:txBody>
      </p:sp>
      <p:sp>
        <p:nvSpPr>
          <p:cNvPr id="77" name="TextBox 76"/>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Word Tetris</a:t>
            </a:r>
          </a:p>
        </p:txBody>
      </p:sp>
      <p:sp>
        <p:nvSpPr>
          <p:cNvPr id="78" name="TextBox 77"/>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50</a:t>
            </a:r>
          </a:p>
        </p:txBody>
      </p:sp>
      <p:sp>
        <p:nvSpPr>
          <p:cNvPr id="79" name="Rounded Rectangle 78"/>
          <p:cNvSpPr/>
          <p:nvPr/>
        </p:nvSpPr>
        <p:spPr>
          <a:xfrm>
            <a:off x="6141567" y="23042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47</a:t>
            </a:r>
          </a:p>
        </p:txBody>
      </p:sp>
      <p:sp>
        <p:nvSpPr>
          <p:cNvPr id="81" name="TextBox 80"/>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Tank Battle · Language Ace</a:t>
            </a:r>
          </a:p>
        </p:txBody>
      </p:sp>
      <p:sp>
        <p:nvSpPr>
          <p:cNvPr id="82" name="TextBox 81"/>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51</a:t>
            </a:r>
          </a:p>
        </p:txBody>
      </p:sp>
      <p:sp>
        <p:nvSpPr>
          <p:cNvPr id="83" name="Rounded Rectangle 82"/>
          <p:cNvSpPr/>
          <p:nvPr/>
        </p:nvSpPr>
        <p:spPr>
          <a:xfrm>
            <a:off x="6141567" y="25786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48</a:t>
            </a:r>
          </a:p>
        </p:txBody>
      </p:sp>
      <p:sp>
        <p:nvSpPr>
          <p:cNvPr id="85" name="TextBox 84"/>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Log in with your face or fingerprint (passkey)</a:t>
            </a:r>
          </a:p>
        </p:txBody>
      </p:sp>
      <p:sp>
        <p:nvSpPr>
          <p:cNvPr id="86" name="TextBox 85"/>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52</a:t>
            </a:r>
          </a:p>
        </p:txBody>
      </p:sp>
      <p:sp>
        <p:nvSpPr>
          <p:cNvPr id="87" name="Rounded Rectangle 86"/>
          <p:cNvSpPr/>
          <p:nvPr/>
        </p:nvSpPr>
        <p:spPr>
          <a:xfrm>
            <a:off x="6141567" y="28529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49</a:t>
            </a:r>
          </a:p>
        </p:txBody>
      </p:sp>
      <p:sp>
        <p:nvSpPr>
          <p:cNvPr id="89" name="TextBox 88"/>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Your speaking isn't cut off any more · a smarter AI friend</a:t>
            </a:r>
          </a:p>
        </p:txBody>
      </p:sp>
      <p:sp>
        <p:nvSpPr>
          <p:cNvPr id="90" name="TextBox 89"/>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53</a:t>
            </a:r>
          </a:p>
        </p:txBody>
      </p:sp>
      <p:sp>
        <p:nvSpPr>
          <p:cNvPr id="91" name="Rounded Rectangle 90"/>
          <p:cNvSpPr/>
          <p:nvPr/>
        </p:nvSpPr>
        <p:spPr>
          <a:xfrm>
            <a:off x="6141567" y="31272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50</a:t>
            </a:r>
          </a:p>
        </p:txBody>
      </p:sp>
      <p:sp>
        <p:nvSpPr>
          <p:cNvPr id="93" name="TextBox 92"/>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Enrol and pay in one go</a:t>
            </a:r>
          </a:p>
        </p:txBody>
      </p:sp>
      <p:sp>
        <p:nvSpPr>
          <p:cNvPr id="94" name="TextBox 93"/>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54</a:t>
            </a:r>
          </a:p>
        </p:txBody>
      </p:sp>
      <p:sp>
        <p:nvSpPr>
          <p:cNvPr id="95" name="Rounded Rectangle 94"/>
          <p:cNvSpPr/>
          <p:nvPr/>
        </p:nvSpPr>
        <p:spPr>
          <a:xfrm>
            <a:off x="6141567" y="34015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51</a:t>
            </a:r>
          </a:p>
        </p:txBody>
      </p:sp>
      <p:sp>
        <p:nvSpPr>
          <p:cNvPr id="97" name="TextBox 96"/>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Rescue Voyage (Mango Rescue Voyage)</a:t>
            </a:r>
          </a:p>
        </p:txBody>
      </p:sp>
      <p:sp>
        <p:nvSpPr>
          <p:cNvPr id="98" name="TextBox 97"/>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55</a:t>
            </a:r>
          </a:p>
        </p:txBody>
      </p:sp>
      <p:sp>
        <p:nvSpPr>
          <p:cNvPr id="99" name="Rounded Rectangle 98"/>
          <p:cNvSpPr/>
          <p:nvPr/>
        </p:nvSpPr>
        <p:spPr>
          <a:xfrm>
            <a:off x="6141567" y="3675887"/>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52</a:t>
            </a:r>
          </a:p>
        </p:txBody>
      </p:sp>
      <p:sp>
        <p:nvSpPr>
          <p:cNvPr id="101" name="TextBox 100"/>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[Parents] Pentagon Monthly Report</a:t>
            </a:r>
          </a:p>
        </p:txBody>
      </p:sp>
      <p:sp>
        <p:nvSpPr>
          <p:cNvPr id="102" name="TextBox 101"/>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56</a:t>
            </a:r>
          </a:p>
        </p:txBody>
      </p:sp>
      <p:sp>
        <p:nvSpPr>
          <p:cNvPr id="103" name="Rounded Rectangle 102"/>
          <p:cNvSpPr/>
          <p:nvPr/>
        </p:nvSpPr>
        <p:spPr>
          <a:xfrm>
            <a:off x="6141567" y="395020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53</a:t>
            </a:r>
          </a:p>
        </p:txBody>
      </p:sp>
      <p:sp>
        <p:nvSpPr>
          <p:cNvPr id="105" name="TextBox 104"/>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Feature Summary · Data</a:t>
            </a:r>
          </a:p>
        </p:txBody>
      </p:sp>
      <p:sp>
        <p:nvSpPr>
          <p:cNvPr id="106" name="TextBox 105"/>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57</a:t>
            </a:r>
          </a:p>
        </p:txBody>
      </p:sp>
      <p:sp>
        <p:nvSpPr>
          <p:cNvPr id="107" name="Rounded Rectangle 106"/>
          <p:cNvSpPr/>
          <p:nvPr/>
        </p:nvSpPr>
        <p:spPr>
          <a:xfrm>
            <a:off x="6141567" y="422452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54</a:t>
            </a:r>
          </a:p>
        </p:txBody>
      </p:sp>
      <p:sp>
        <p:nvSpPr>
          <p:cNvPr id="109" name="TextBox 108"/>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Data at a Glance</a:t>
            </a:r>
          </a:p>
        </p:txBody>
      </p:sp>
      <p:sp>
        <p:nvSpPr>
          <p:cNvPr id="110" name="TextBox 109"/>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58</a:t>
            </a:r>
          </a:p>
        </p:txBody>
      </p:sp>
      <p:sp>
        <p:nvSpPr>
          <p:cNvPr id="111" name="Rounded Rectangle 110"/>
          <p:cNvSpPr/>
          <p:nvPr/>
        </p:nvSpPr>
        <p:spPr>
          <a:xfrm>
            <a:off x="6141567" y="449884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141567"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55</a:t>
            </a:r>
          </a:p>
        </p:txBody>
      </p:sp>
      <p:sp>
        <p:nvSpPr>
          <p:cNvPr id="113" name="TextBox 112"/>
          <p:cNvSpPr txBox="1"/>
          <p:nvPr/>
        </p:nvSpPr>
        <p:spPr>
          <a:xfrm>
            <a:off x="6617055"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Frequently Asked Questions (FAQ)</a:t>
            </a:r>
          </a:p>
        </p:txBody>
      </p:sp>
      <p:sp>
        <p:nvSpPr>
          <p:cNvPr id="114" name="TextBox 113"/>
          <p:cNvSpPr txBox="1"/>
          <p:nvPr/>
        </p:nvSpPr>
        <p:spPr>
          <a:xfrm>
            <a:off x="11213287" y="447141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59</a:t>
            </a:r>
          </a:p>
        </p:txBody>
      </p:sp>
      <p:sp>
        <p:nvSpPr>
          <p:cNvPr id="115" name="Rounded Rectangle 114"/>
          <p:cNvSpPr/>
          <p:nvPr/>
        </p:nvSpPr>
        <p:spPr>
          <a:xfrm>
            <a:off x="6141567" y="477316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141567"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56</a:t>
            </a:r>
          </a:p>
        </p:txBody>
      </p:sp>
      <p:sp>
        <p:nvSpPr>
          <p:cNvPr id="117" name="TextBox 116"/>
          <p:cNvSpPr txBox="1"/>
          <p:nvPr/>
        </p:nvSpPr>
        <p:spPr>
          <a:xfrm>
            <a:off x="6617055"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Checklist</a:t>
            </a:r>
          </a:p>
        </p:txBody>
      </p:sp>
      <p:sp>
        <p:nvSpPr>
          <p:cNvPr id="118" name="TextBox 117"/>
          <p:cNvSpPr txBox="1"/>
          <p:nvPr/>
        </p:nvSpPr>
        <p:spPr>
          <a:xfrm>
            <a:off x="11213287" y="4745736"/>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60</a:t>
            </a:r>
          </a:p>
        </p:txBody>
      </p:sp>
      <p:sp>
        <p:nvSpPr>
          <p:cNvPr id="119" name="Rounded Rectangle 118"/>
          <p:cNvSpPr/>
          <p:nvPr/>
        </p:nvSpPr>
        <p:spPr>
          <a:xfrm>
            <a:off x="6141567" y="5047488"/>
            <a:ext cx="384048" cy="2286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141567"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57</a:t>
            </a:r>
          </a:p>
        </p:txBody>
      </p:sp>
      <p:sp>
        <p:nvSpPr>
          <p:cNvPr id="121" name="TextBox 120"/>
          <p:cNvSpPr txBox="1"/>
          <p:nvPr/>
        </p:nvSpPr>
        <p:spPr>
          <a:xfrm>
            <a:off x="6617055"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Conclusion</a:t>
            </a:r>
          </a:p>
        </p:txBody>
      </p:sp>
      <p:sp>
        <p:nvSpPr>
          <p:cNvPr id="122" name="TextBox 121"/>
          <p:cNvSpPr txBox="1"/>
          <p:nvPr/>
        </p:nvSpPr>
        <p:spPr>
          <a:xfrm>
            <a:off x="11213287" y="5020055"/>
            <a:ext cx="457200" cy="274320"/>
          </a:xfrm>
          <a:prstGeom prst="rect">
            <a:avLst/>
          </a:prstGeom>
          <a:noFill/>
        </p:spPr>
        <p:txBody>
          <a:bodyPr wrap="square" anchor="ctr">
            <a:spAutoFit/>
          </a:bodyPr>
          <a:lstStyle/>
          <a:p>
            <a:pPr algn="r">
              <a:lnSpc>
                <a:spcPct val="100000"/>
              </a:lnSpc>
            </a:pPr>
            <a:r>
              <a:rPr sz="1050" b="1">
                <a:solidFill>
                  <a:srgbClr val="7C3AED"/>
                </a:solidFill>
                <a:latin typeface="Malgun Gothic"/>
              </a:rPr>
              <a:t>61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Getting Started &amp; Home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Access · login · screen layout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Mangoi opens right away when you type the address in Chrome or Edge. After you log in, a space-themed home screen appears, and from here you move to lessons, games and learning menus.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Go to www.mangoi.co.kr in your browser and log in (social login works too).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Check your name and points (P) at the top-right to confirm you're logged in.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Tap the 'Open' tab on the left to expand the menu sidebar.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Ask the A.i assistant at the bottom-right anything you're curious about.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the EN button to switch the on-screen text to English.</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No app install — a web browser is all you need.</a:t>
            </a:r>
          </a:p>
          <a:p>
            <a:pPr>
              <a:lnSpc>
                <a:spcPct val="115000"/>
              </a:lnSpc>
              <a:spcAft>
                <a:spcPts val="200"/>
              </a:spcAft>
            </a:pPr>
            <a:r>
              <a:rPr sz="900" b="1">
                <a:solidFill>
                  <a:srgbClr val="7C3AED"/>
                </a:solidFill>
                <a:latin typeface="Malgun Gothic"/>
              </a:rPr>
              <a:t>● </a:t>
            </a:r>
            <a:r>
              <a:rPr sz="1100">
                <a:solidFill>
                  <a:srgbClr val="334155"/>
                </a:solidFill>
                <a:latin typeface="Malgun Gothic"/>
              </a:rPr>
              <a:t>'Add Mangoi app' at the bottom of home creates a home-screen icon.</a:t>
            </a:r>
          </a:p>
          <a:p>
            <a:pPr>
              <a:lnSpc>
                <a:spcPct val="115000"/>
              </a:lnSpc>
              <a:spcAft>
                <a:spcPts val="200"/>
              </a:spcAft>
            </a:pPr>
            <a:r>
              <a:rPr sz="900" b="1">
                <a:solidFill>
                  <a:srgbClr val="7C3AED"/>
                </a:solidFill>
                <a:latin typeface="Malgun Gothic"/>
              </a:rPr>
              <a:t>● </a:t>
            </a:r>
            <a:r>
              <a:rPr sz="1100">
                <a:solidFill>
                  <a:srgbClr val="334155"/>
                </a:solidFill>
                <a:latin typeface="Malgun Gothic"/>
              </a:rPr>
              <a:t>Study on phone, tablet or PC with the same account, anywhere.</a:t>
            </a:r>
          </a:p>
        </p:txBody>
      </p:sp>
      <p:sp>
        <p:nvSpPr>
          <p:cNvPr id="17" name="Rounded Rectangle 16"/>
          <p:cNvSpPr/>
          <p:nvPr/>
        </p:nvSpPr>
        <p:spPr>
          <a:xfrm>
            <a:off x="457200" y="659282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Turn on auto-login only on your own trusted device so you don't type it every time.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Enter a Video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Meet your teacher 1:1 (30 seconds!)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it's lesson time, join the classroom and study face-to-face with your native teacher. It feels new at first, but just follow the steps and you'll be in quickly.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Tap the invite link you received, or the today's lesson card on the site.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Enter your name (the room code is usually filled in; if empty, you go to the shared room).</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the Enter button.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the browser asks, press 'Allow' for camera and mic — that connects your face and voice.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you see your teacher, say hello and start the lesson!</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It works best opened in Chrome or Edge.</a:t>
            </a:r>
          </a:p>
          <a:p>
            <a:pPr>
              <a:lnSpc>
                <a:spcPct val="115000"/>
              </a:lnSpc>
              <a:spcAft>
                <a:spcPts val="200"/>
              </a:spcAft>
            </a:pPr>
            <a:r>
              <a:rPr sz="900" b="1">
                <a:solidFill>
                  <a:srgbClr val="7C3AED"/>
                </a:solidFill>
                <a:latin typeface="Malgun Gothic"/>
              </a:rPr>
              <a:t>● </a:t>
            </a:r>
            <a:r>
              <a:rPr sz="1100">
                <a:solidFill>
                  <a:srgbClr val="334155"/>
                </a:solidFill>
                <a:latin typeface="Malgun Gothic"/>
              </a:rPr>
              <a:t>Opening the link inside KakaoTalk may block the camera → choose 'open in another browser'.</a:t>
            </a:r>
          </a:p>
          <a:p>
            <a:pPr>
              <a:lnSpc>
                <a:spcPct val="115000"/>
              </a:lnSpc>
              <a:spcAft>
                <a:spcPts val="200"/>
              </a:spcAft>
            </a:pPr>
            <a:r>
              <a:rPr sz="900" b="1">
                <a:solidFill>
                  <a:srgbClr val="7C3AED"/>
                </a:solidFill>
                <a:latin typeface="Malgun Gothic"/>
              </a:rPr>
              <a:t>● </a:t>
            </a:r>
            <a:r>
              <a:rPr sz="1100">
                <a:solidFill>
                  <a:srgbClr val="334155"/>
                </a:solidFill>
                <a:latin typeface="Malgun Gothic"/>
              </a:rPr>
              <a:t>A headset makes the sound clearer and cuts noise.</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If sound/video won't work, refresh the page and 'Allow' camera and mic again.</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Enter 5 minutes early to check your face and sound — it puts you at ease.</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Classroom at a Glance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What does the lesson screen look like?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enter a lesson, the screen has three main areas: ① the top bar (room info, timer, language, dark mode), ② the large center workspace (where the board, materials, video, etc. open), and ③ the bottom control dock (camera, chat, leave). Your face video and the praise basket sit in a small window at the top-left.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Top-left: `Room: mangoi-class · Users: 2` — the room name and how many people are connected.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Top-right: ⏰ Timer (lesson time), 🔴 REC (recording indicator), 🌐 EN (switch language), 🌙 Dark (dark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Center: the tool you pick from the top tabs (board, materials, video…) opens here.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Bottom-center: the control dock — camera, screen share, chat and leave buttons.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Small window, top-left: your face video and the 🧺 praise basket (how many praises you received).</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Hover over a button to see its name (tooltip).</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text looks Korean, press EN at the top-right to switch language.</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the screen is too bright, switch to 🌙 Dark.</a:t>
            </a:r>
          </a:p>
        </p:txBody>
      </p:sp>
      <p:sp>
        <p:nvSpPr>
          <p:cNvPr id="17" name="Rounded Rectangle 16"/>
          <p:cNvSpPr/>
          <p:nvPr/>
        </p:nvSpPr>
        <p:spPr>
          <a:xfrm>
            <a:off x="457200" y="659282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It looks like a lot of buttons at first, but the four you use most are board, materials, camera and chat.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Switching the 6 Top Tabs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Board · Video · Games · Background · AI Warm-up · Review Quiz</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At the top of the center workspace there are six tab buttons. Click one to switch to that tool. The active tab is highlighted.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 Board: a whiteboard for writing and drawing while explaining.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Video: watch a YouTube link or a video file together.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Games: open learning games during class (may be limited during lesson time).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Background: change the backdrop behind your video and decorate your face.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AI Warm-up: an English warm-up before the lesson.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Review Quiz: an AI-made quiz matched to this lesson's textbook and level.</a:t>
            </a:r>
          </a:p>
        </p:txBody>
      </p:sp>
      <p:sp>
        <p:nvSpPr>
          <p:cNvPr id="14" name="Rounded Rectangle 13"/>
          <p:cNvSpPr/>
          <p:nvPr/>
        </p:nvSpPr>
        <p:spPr>
          <a:xfrm>
            <a:off x="457200" y="5550408"/>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Your face video stays visible even after switching tabs.</a:t>
            </a:r>
          </a:p>
          <a:p>
            <a:pPr>
              <a:lnSpc>
                <a:spcPct val="115000"/>
              </a:lnSpc>
              <a:spcAft>
                <a:spcPts val="200"/>
              </a:spcAft>
            </a:pPr>
            <a:r>
              <a:rPr sz="900" b="1">
                <a:solidFill>
                  <a:srgbClr val="7C3AED"/>
                </a:solidFill>
                <a:latin typeface="Malgun Gothic"/>
              </a:rPr>
              <a:t>● </a:t>
            </a:r>
            <a:r>
              <a:rPr sz="1100">
                <a:solidFill>
                  <a:srgbClr val="334155"/>
                </a:solidFill>
                <a:latin typeface="Malgun Gothic"/>
              </a:rPr>
              <a:t>At the far right of the tabs there are also 📚 Materials Tools ▾ and ✍️ Writing Tools ▾.</a:t>
            </a:r>
          </a:p>
        </p:txBody>
      </p:sp>
      <p:sp>
        <p:nvSpPr>
          <p:cNvPr id="17" name="Rounded Rectangle 16"/>
          <p:cNvSpPr/>
          <p:nvPr/>
        </p:nvSpPr>
        <p:spPr>
          <a:xfrm>
            <a:off x="457200" y="6665976"/>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Lessons mostly use the 🖊 Board and 📚 Materials the most.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Board Tools, One by One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Pen · eraser · shapes · text · save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Open the 🖊 Board tab and a row of drawing tools appears at the top. Let's go through each button from left to right.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 Pen: draw freely. / 🧽 Eraser: erase what you drew.</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Line / ⬜ Rectangle / ⭕ Circle: draw straight lines and shapes.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Text: type letters with the keyboard.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Color (color box): pick the pen color. / Thickness (slider): adjust line width.</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AI Shapes: even rough drawings snap into neat shapes automatically.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AI Text: recognizes handwriting and turns it into clean typed text.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Clear All: wipe the whole board. / 💾 Save: save the board as an image.</a:t>
            </a:r>
          </a:p>
        </p:txBody>
      </p:sp>
      <p:sp>
        <p:nvSpPr>
          <p:cNvPr id="14" name="Rounded Rectangle 13"/>
          <p:cNvSpPr/>
          <p:nvPr/>
        </p:nvSpPr>
        <p:spPr>
          <a:xfrm>
            <a:off x="457200" y="5934456"/>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Change color and thickness to highlight key parts so they stick.</a:t>
            </a:r>
          </a:p>
          <a:p>
            <a:pPr>
              <a:lnSpc>
                <a:spcPct val="115000"/>
              </a:lnSpc>
              <a:spcAft>
                <a:spcPts val="200"/>
              </a:spcAft>
            </a:pPr>
            <a:r>
              <a:rPr sz="900" b="1">
                <a:solidFill>
                  <a:srgbClr val="7C3AED"/>
                </a:solidFill>
                <a:latin typeface="Malgun Gothic"/>
              </a:rPr>
              <a:t>● </a:t>
            </a:r>
            <a:r>
              <a:rPr sz="1100">
                <a:solidFill>
                  <a:srgbClr val="334155"/>
                </a:solidFill>
                <a:latin typeface="Malgun Gothic"/>
              </a:rPr>
              <a:t>AI Shapes / AI Text auto-tidy when turned on (experimental).</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Pressing Save (💾) downloads the current board as an image you can use for review.</a:t>
            </a:r>
          </a:p>
        </p:txBody>
      </p:sp>
      <p:sp>
        <p:nvSpPr>
          <p:cNvPr id="19" name="Rounded Rectangle 18"/>
          <p:cNvSpPr/>
          <p:nvPr/>
        </p:nvSpPr>
        <p:spPr>
          <a:xfrm>
            <a:off x="457200" y="77815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Save (💾) the board before class ends to keep exactly what you learned today.</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Materials Tools (share PDF/photos)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Upload · library · turn pages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Click 📚 Materials Tools ▾ at the right of the tabs and a menu drops down. This is where you upload textbooks (PDF/photos) to view together.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 Upload (PDF/JPG/PNG): upload a textbook file from your device to share.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Library: pick from textbooks the academy (admin) uploaded.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Download: download the file you're currently viewing.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Prev / Next ▶: turn textbook pages.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Fit / 100% / 1:1: fit the page to the screen or view at real size.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Stop sharing: end textbook sharing.</a:t>
            </a:r>
          </a:p>
        </p:txBody>
      </p:sp>
      <p:sp>
        <p:nvSpPr>
          <p:cNvPr id="14" name="Rounded Rectangle 13"/>
          <p:cNvSpPr/>
          <p:nvPr/>
        </p:nvSpPr>
        <p:spPr>
          <a:xfrm>
            <a:off x="457200" y="5550408"/>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moment you upload, the other person sees the exact same page.</a:t>
            </a:r>
          </a:p>
          <a:p>
            <a:pPr>
              <a:lnSpc>
                <a:spcPct val="115000"/>
              </a:lnSpc>
              <a:spcAft>
                <a:spcPts val="200"/>
              </a:spcAft>
            </a:pPr>
            <a:r>
              <a:rPr sz="900" b="1">
                <a:solidFill>
                  <a:srgbClr val="7C3AED"/>
                </a:solidFill>
                <a:latin typeface="Malgun Gothic"/>
              </a:rPr>
              <a:t>● </a:t>
            </a:r>
            <a:r>
              <a:rPr sz="1100">
                <a:solidFill>
                  <a:srgbClr val="334155"/>
                </a:solidFill>
                <a:latin typeface="Malgun Gothic"/>
              </a:rPr>
              <a:t>Not only PDFs — JPG and PNG photos work too.</a:t>
            </a:r>
          </a:p>
        </p:txBody>
      </p:sp>
      <p:sp>
        <p:nvSpPr>
          <p:cNvPr id="17" name="Rounded Rectangle 16"/>
          <p:cNvSpPr/>
          <p:nvPr/>
        </p:nvSpPr>
        <p:spPr>
          <a:xfrm>
            <a:off x="457200" y="6665976"/>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Upload the textbook before class for a smooth start.</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materials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Writing Tools (annotate on top)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Pen · highlighter · text · undo</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Click ✍️ Writing Tools ▾ at the right of the tabs and the writing menu drops down. Use it to write directly on top of a textbook or the screen.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 Pen: write freely on the screen. / 🖍 Highlighter: brightly mark important spots.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Eraser: erase your writing. / 📝 Text: type letters.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AI Shapes: tidy your drawn shapes.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Thickness (slider): adjust the pen width.</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Undo: cancel your last mark. / 🗑 Clear: erase all writing.</a:t>
            </a:r>
          </a:p>
        </p:txBody>
      </p:sp>
      <p:sp>
        <p:nvSpPr>
          <p:cNvPr id="14" name="Rounded Rectangle 13"/>
          <p:cNvSpPr/>
          <p:nvPr/>
        </p:nvSpPr>
        <p:spPr>
          <a:xfrm>
            <a:off x="457200" y="5166360"/>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With a textbook open, your writing appears right on top of it.</a:t>
            </a:r>
          </a:p>
          <a:p>
            <a:pPr>
              <a:lnSpc>
                <a:spcPct val="115000"/>
              </a:lnSpc>
              <a:spcAft>
                <a:spcPts val="200"/>
              </a:spcAft>
            </a:pPr>
            <a:r>
              <a:rPr sz="900" b="1">
                <a:solidFill>
                  <a:srgbClr val="7C3AED"/>
                </a:solidFill>
                <a:latin typeface="Malgun Gothic"/>
              </a:rPr>
              <a:t>● </a:t>
            </a:r>
            <a:r>
              <a:rPr sz="1100">
                <a:solidFill>
                  <a:srgbClr val="334155"/>
                </a:solidFill>
                <a:latin typeface="Malgun Gothic"/>
              </a:rPr>
              <a:t>Highlight key words to make them stand out.</a:t>
            </a:r>
          </a:p>
        </p:txBody>
      </p:sp>
      <p:sp>
        <p:nvSpPr>
          <p:cNvPr id="17" name="Rounded Rectangle 16"/>
          <p:cNvSpPr/>
          <p:nvPr/>
        </p:nvSpPr>
        <p:spPr>
          <a:xfrm>
            <a:off x="457200" y="6281928"/>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327648"/>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Made a mistake? One tap on ↩ Undo cleans it up.</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Watch Video Together</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Share YouTube · video files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In the 📹 Video tab you can paste a YouTube link or upload a video file to watch together — great for songs and video materials.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Paste a YouTube link (URL) into the box, or upload a video file.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 Play URL / Play to start the video.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New video to switch to a different one.</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video plays on the other person's screen too.</a:t>
            </a:r>
          </a:p>
          <a:p>
            <a:pPr>
              <a:lnSpc>
                <a:spcPct val="115000"/>
              </a:lnSpc>
              <a:spcAft>
                <a:spcPts val="200"/>
              </a:spcAft>
            </a:pPr>
            <a:r>
              <a:rPr sz="900" b="1">
                <a:solidFill>
                  <a:srgbClr val="7C3AED"/>
                </a:solidFill>
                <a:latin typeface="Malgun Gothic"/>
              </a:rPr>
              <a:t>● </a:t>
            </a:r>
            <a:r>
              <a:rPr sz="1100">
                <a:solidFill>
                  <a:srgbClr val="334155"/>
                </a:solidFill>
                <a:latin typeface="Malgun Gothic"/>
              </a:rPr>
              <a:t>For sound-heavy material, earphones help you hear better.</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Prepare the video link in advance so you can play it instantly in class.</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video.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Background &amp; Face Decorations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Change backdrop · masks · accessories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In the 🎨 Background tab you can change the backdrop behind your face and add fun decorations. Just click what you want in the grid.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In the background grid, tap a backdrop (space, desert, forest, cherry blossom, beach, pyramids…).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Tap Background off to return to your normal camera view.</a:t>
            </a:r>
          </a:p>
          <a:p>
            <a:pPr>
              <a:lnSpc>
                <a:spcPct val="115000"/>
              </a:lnSpc>
              <a:spcAft>
                <a:spcPts val="600"/>
              </a:spcAft>
            </a:pPr>
            <a:r>
              <a:rPr sz="1050" b="1">
                <a:solidFill>
                  <a:srgbClr val="7C3AED"/>
                </a:solidFill>
                <a:latin typeface="Malgun Gothic"/>
              </a:rPr>
              <a:t>● </a:t>
            </a:r>
            <a:r>
              <a:rPr sz="1250">
                <a:solidFill>
                  <a:srgbClr val="334155"/>
                </a:solidFill>
                <a:latin typeface="Malgun Gothic"/>
              </a:rPr>
              <a:t>Below, in Face Decorations (masks/accessories), pick glasses, hats, animals and more.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Don't like it? Tap again to turn it off.</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Changing the background keeps your face visible.</a:t>
            </a:r>
          </a:p>
          <a:p>
            <a:pPr>
              <a:lnSpc>
                <a:spcPct val="115000"/>
              </a:lnSpc>
              <a:spcAft>
                <a:spcPts val="200"/>
              </a:spcAft>
            </a:pPr>
            <a:r>
              <a:rPr sz="900" b="1">
                <a:solidFill>
                  <a:srgbClr val="7C3AED"/>
                </a:solidFill>
                <a:latin typeface="Malgun Gothic"/>
              </a:rPr>
              <a:t>● </a:t>
            </a:r>
            <a:r>
              <a:rPr sz="1100">
                <a:solidFill>
                  <a:srgbClr val="334155"/>
                </a:solidFill>
                <a:latin typeface="Malgun Gothic"/>
              </a:rPr>
              <a:t>Very flashy decorations can distract from the lesson.</a:t>
            </a:r>
          </a:p>
        </p:txBody>
      </p:sp>
      <p:sp>
        <p:nvSpPr>
          <p:cNvPr id="17" name="Rounded Rectangle 16"/>
          <p:cNvSpPr/>
          <p:nvPr/>
        </p:nvSpPr>
        <p:spPr>
          <a:xfrm>
            <a:off x="457200" y="589787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Use a clean background for class and fun decorations for break time.</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g.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Resize &amp; Arrange the Screen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1/4 · 1/2 · 3/4 · Full · PIP · Solo · Free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size bar above the video lets you change the size and layout of your face-video window. The current size is shown in blue.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1/4 · 1/2 · 3/4 · Full: make the video window 1/4 up to full-screen.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PIP: float the video as a small overlay on top of the board/materials.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Solo: hide others and see only your own screen larger.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Free: drag the title bar to move it, drag the bottom-right corner to resize freely.</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Make the video small (1/4) when reading materials, large (Full) when presenting.</a:t>
            </a:r>
          </a:p>
          <a:p>
            <a:pPr>
              <a:lnSpc>
                <a:spcPct val="115000"/>
              </a:lnSpc>
              <a:spcAft>
                <a:spcPts val="200"/>
              </a:spcAft>
            </a:pPr>
            <a:r>
              <a:rPr sz="900" b="1">
                <a:solidFill>
                  <a:srgbClr val="7C3AED"/>
                </a:solidFill>
                <a:latin typeface="Malgun Gothic"/>
              </a:rPr>
              <a:t>● </a:t>
            </a:r>
            <a:r>
              <a:rPr sz="1100">
                <a:solidFill>
                  <a:srgbClr val="334155"/>
                </a:solidFill>
                <a:latin typeface="Malgun Gothic"/>
              </a:rPr>
              <a:t>📌 PIP is great when you want to see the textbook and faces at once.</a:t>
            </a:r>
          </a:p>
        </p:txBody>
      </p:sp>
      <p:sp>
        <p:nvSpPr>
          <p:cNvPr id="17" name="Rounded Rectangle 16"/>
          <p:cNvSpPr/>
          <p:nvPr/>
        </p:nvSpPr>
        <p:spPr>
          <a:xfrm>
            <a:off x="457200" y="589787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On a small screen, shrink the video to 1/4 and view the textbook large.</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layout_full.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Praise Points During Class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Teacher gives → +1P in student's basket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do well, the teacher can give praise points on the spot. When the teacher taps the 🌟 'Praise' star button on your video, that student instantly gets +1P, and it piles up in real time in the 🧺 point basket on the student's screen.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Teacher: tap the 🌟 'Praise' button at the top-left of a student's video → that student gets +1P. (the count builds up next to the star)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With several students, you can also pick a student from the 'Give Praise' bar.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Student: +1P flies into the 🧺 point basket at the top-left of your screen in real time.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class ends, the student leaves a star rating to get an extra +10P.</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Collected points are spent as rewards in the point shop, roulette, etc.</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more praise you get, the faster points pile up.</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praise star has an anti-spam cooldown, so it may briefly turn gray.</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basket shows points earned this class; your total P (top bar) is the running sum.</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Praise points are given by the teacher — students can't add them by themselves.</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Teachers: praise 🌟 the moment a student does well — instant rewards motivate best.</a:t>
            </a:r>
          </a:p>
        </p:txBody>
      </p:sp>
      <p:sp>
        <p:nvSpPr>
          <p:cNvPr id="21" name="Rectangle 20"/>
          <p:cNvSpPr/>
          <p:nvPr/>
        </p:nvSpPr>
        <p:spPr>
          <a:xfrm>
            <a:off x="6300216" y="3266070"/>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320934"/>
            <a:ext cx="5486400" cy="158773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Bottom Dock &amp; Praise Basket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Camera · screen share · chat · leave · praise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control dock at the bottom-center holds the buttons you use most during class. Let's also look at the small 🧺 praise basket at the top-left.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 Settings: pick camera/mic devices and check their status.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Camera / 🎤 Mic: turn your face and sound on/off.</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Screen Share: show your computer screen to the other person.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Chat: talk in text (great for words and links).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Native: call the native-speaker helper / interpreter feature.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Leave: end the lesson and exit the room.</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Praise Basket (top-left): the praise (stars/stickers) you receive during class collects here.</a:t>
            </a:r>
          </a:p>
        </p:txBody>
      </p:sp>
      <p:sp>
        <p:nvSpPr>
          <p:cNvPr id="14" name="Rounded Rectangle 13"/>
          <p:cNvSpPr/>
          <p:nvPr/>
        </p:nvSpPr>
        <p:spPr>
          <a:xfrm>
            <a:off x="457200" y="5934456"/>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Before leaving (🚪), make sure you saved the board / notes.</a:t>
            </a:r>
          </a:p>
          <a:p>
            <a:pPr>
              <a:lnSpc>
                <a:spcPct val="115000"/>
              </a:lnSpc>
              <a:spcAft>
                <a:spcPts val="200"/>
              </a:spcAft>
            </a:pPr>
            <a:r>
              <a:rPr sz="900" b="1">
                <a:solidFill>
                  <a:srgbClr val="7C3AED"/>
                </a:solidFill>
                <a:latin typeface="Malgun Gothic"/>
              </a:rPr>
              <a:t>● </a:t>
            </a:r>
            <a:r>
              <a:rPr sz="1100">
                <a:solidFill>
                  <a:srgbClr val="334155"/>
                </a:solidFill>
                <a:latin typeface="Malgun Gothic"/>
              </a:rPr>
              <a:t>No sound? Check the mic/speaker devices in ⚙️ Settings.</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Screen share asks the browser which window to share — pick the screen and allow it.</a:t>
            </a:r>
          </a:p>
        </p:txBody>
      </p:sp>
      <p:sp>
        <p:nvSpPr>
          <p:cNvPr id="19" name="Rounded Rectangle 18"/>
          <p:cNvSpPr/>
          <p:nvPr/>
        </p:nvSpPr>
        <p:spPr>
          <a:xfrm>
            <a:off x="457200" y="77815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your praise basket fills up, it means you're doing great!</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How to Join In During Class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Speak, ask, write together</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video lesson isn't a lesson you just watch — it's one you do together. Don't only listen; the more you join in with the ways below, the faster your English grows.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When the teacher asks, turn on your 🎤 mic and answer out loud. (turn it on only when speaking to cut noise)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If you can't hear or you're curious, ask in 💬 chat. Check unknown words in text too.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Write on the board together — with the teacher's OK, use the pen to write or draw answers.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Turn textbook pages together and follow the page you're 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 Keep your camera on — the teacher helps more when they can see your face.</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more you speak, the better. Mistakes are fine!</a:t>
            </a:r>
          </a:p>
          <a:p>
            <a:pPr>
              <a:lnSpc>
                <a:spcPct val="115000"/>
              </a:lnSpc>
              <a:spcAft>
                <a:spcPts val="200"/>
              </a:spcAft>
            </a:pPr>
            <a:r>
              <a:rPr sz="900" b="1">
                <a:solidFill>
                  <a:srgbClr val="7C3AED"/>
                </a:solidFill>
                <a:latin typeface="Malgun Gothic"/>
              </a:rPr>
              <a:t>● </a:t>
            </a:r>
            <a:r>
              <a:rPr sz="1100">
                <a:solidFill>
                  <a:srgbClr val="334155"/>
                </a:solidFill>
                <a:latin typeface="Malgun Gothic"/>
              </a:rPr>
              <a:t>Do well and the teacher gives you 🌟 praise points (see earlier page).</a:t>
            </a:r>
          </a:p>
          <a:p>
            <a:pPr>
              <a:lnSpc>
                <a:spcPct val="115000"/>
              </a:lnSpc>
              <a:spcAft>
                <a:spcPts val="200"/>
              </a:spcAft>
            </a:pPr>
            <a:r>
              <a:rPr sz="900" b="1">
                <a:solidFill>
                  <a:srgbClr val="7C3AED"/>
                </a:solidFill>
                <a:latin typeface="Malgun Gothic"/>
              </a:rPr>
              <a:t>● </a:t>
            </a:r>
            <a:r>
              <a:rPr sz="1100">
                <a:solidFill>
                  <a:srgbClr val="334155"/>
                </a:solidFill>
                <a:latin typeface="Malgun Gothic"/>
              </a:rPr>
              <a:t>Earphones in a quiet place make the sound clear.</a:t>
            </a:r>
          </a:p>
        </p:txBody>
      </p:sp>
      <p:sp>
        <p:nvSpPr>
          <p:cNvPr id="17" name="Rounded Rectangle 16"/>
          <p:cNvSpPr/>
          <p:nvPr/>
        </p:nvSpPr>
        <p:spPr>
          <a:xfrm>
            <a:off x="457200" y="659282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Memorize phrases like 'One more time, please' to make class easier.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ass_video.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After Class — Review &amp; Rating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Review quiz &amp; rating for +10P</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class ends, tidy up what you learned right away. A 'Take the review quiz?' popup appears, and leaving a star rating earns you points too.</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When class ends, a 'Take the review quiz? Yes / No' popup appears.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'Yes' and a review quiz matched to today's class appears automatically.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Leave a star rating (How was today's class? 7 stars) to get +10P.</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Then review today's words once more with a learning game to make it perfect.</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Reviewing right after class stays in memory longest.</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rating helps your teacher, and you get points too.</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You must leave a star rating to exit the class (it's OK to be honest).</a:t>
            </a:r>
          </a:p>
        </p:txBody>
      </p:sp>
      <p:sp>
        <p:nvSpPr>
          <p:cNvPr id="19" name="Rounded Rectangle 18"/>
          <p:cNvSpPr/>
          <p:nvPr/>
        </p:nvSpPr>
        <p:spPr>
          <a:xfrm>
            <a:off x="457200" y="662939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Review quiz → game → vocabulary, in that order, makes today's lesson truly yours.</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viewquiz.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Pre-class Device Check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Check camera, mic and internet first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This screen checks your camera, mic, network and lighting before class. A score and traffic-light signals tell you right away whether things are good, preventing drop-outs mid-lesson.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The check screen tests camera, mic, network and lighting all at once.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the overall score and each item's signal (green/yellow/red).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If red appears, follow the tips to turn on a light or move seats and check again.</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When your face is well-lit, the teacher can read your expression and help more.</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Wi-Fi is weak, moving closer to the router helps.</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Do the check 5 minutes before class — fixing issues early keeps the lesson smooth.</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echeck.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Warm Up with AI</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 3-minute warm-up before class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Before class, an AI friend asks English questions tied to today's textbook. Answering casually loosens you up so the first 5 minutes of class feel much easier.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Before class, the AI friend greets you in English — reply casually.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Questions linked to today's textbook appear so you get a feel in advance.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the speak/listen buttons to answer by voice or type.</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Your teacher can see your warm-up, so class flows naturally from it.</a:t>
            </a:r>
          </a:p>
          <a:p>
            <a:pPr>
              <a:lnSpc>
                <a:spcPct val="115000"/>
              </a:lnSpc>
              <a:spcAft>
                <a:spcPts val="200"/>
              </a:spcAft>
            </a:pPr>
            <a:r>
              <a:rPr sz="900" b="1">
                <a:solidFill>
                  <a:srgbClr val="7C3AED"/>
                </a:solidFill>
                <a:latin typeface="Malgun Gothic"/>
              </a:rPr>
              <a:t>● </a:t>
            </a:r>
            <a:r>
              <a:rPr sz="1100">
                <a:solidFill>
                  <a:srgbClr val="334155"/>
                </a:solidFill>
                <a:latin typeface="Malgun Gothic"/>
              </a:rPr>
              <a:t>Mistakes are fine — it's just a warm-up, so relax!</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Make the warm-up a habit before every class and you'll start speaking sooner.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armup.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Fixes your pronunciation instantly</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Read a sentence at your level, record it with the mic, and the AI tells you a pronunciation score and what to fix. You can also replay the native audio and correct yourself.</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Pick a level (Phonics, BTS, SIU, etc.) to get sentences at your level.</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the sentence on screen and press the red mic button to record.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AI shows your pronunciation score and what to fix.</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'replay' to hear the native audio and practice once more.</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Start with short sentences, clearly — your score rises faster.</a:t>
            </a:r>
          </a:p>
          <a:p>
            <a:pPr>
              <a:lnSpc>
                <a:spcPct val="115000"/>
              </a:lnSpc>
              <a:spcAft>
                <a:spcPts val="200"/>
              </a:spcAft>
            </a:pPr>
            <a:r>
              <a:rPr sz="900" b="1">
                <a:solidFill>
                  <a:srgbClr val="7C3AED"/>
                </a:solidFill>
                <a:latin typeface="Malgun Gothic"/>
              </a:rPr>
              <a:t>● </a:t>
            </a:r>
            <a:r>
              <a:rPr sz="1100">
                <a:solidFill>
                  <a:srgbClr val="334155"/>
                </a:solidFill>
                <a:latin typeface="Malgun Gothic"/>
              </a:rPr>
              <a:t>Repeating sentences from class here makes them stick.</a:t>
            </a:r>
          </a:p>
        </p:txBody>
      </p:sp>
      <p:sp>
        <p:nvSpPr>
          <p:cNvPr id="17" name="Rounded Rectangle 16"/>
          <p:cNvSpPr/>
          <p:nvPr/>
        </p:nvSpPr>
        <p:spPr>
          <a:xfrm>
            <a:off x="457200" y="589787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Five sentences a day and your pronunciation noticeably improves.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Take a Level Test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Find out your English level</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test that shows your current English level. The result feeds into your curriculum, so you avoid lessons that are too easy or too hard.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On the level test request screen, pick a method (AI/teacher) and a date/time.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Follow the guide and answer the speaking and listening questions.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result is reflected in your curriculum (my level).</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We recommend taking it once when you first start.</a:t>
            </a:r>
          </a:p>
          <a:p>
            <a:pPr>
              <a:lnSpc>
                <a:spcPct val="115000"/>
              </a:lnSpc>
              <a:spcAft>
                <a:spcPts val="200"/>
              </a:spcAft>
            </a:pPr>
            <a:r>
              <a:rPr sz="900" b="1">
                <a:solidFill>
                  <a:srgbClr val="7C3AED"/>
                </a:solidFill>
                <a:latin typeface="Malgun Gothic"/>
              </a:rPr>
              <a:t>● </a:t>
            </a:r>
            <a:r>
              <a:rPr sz="1100">
                <a:solidFill>
                  <a:srgbClr val="334155"/>
                </a:solidFill>
                <a:latin typeface="Malgun Gothic"/>
              </a:rPr>
              <a:t>Retake it periodically to see how much you've improved.</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Relax — the goal is just to know your level accurately.</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leveltes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My Level · Curriculum</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See how far you've come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Levels 1–10 show where you are now and what you'll learn next. As you take lessons and play games, you move up to the next level.</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Check which of Levels 1–10 you're at now.</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Tap a level to see what you learn and the goals.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Set a target level and keep challenging yourself.</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As levels rise, the sentences get longer and more practical.</a:t>
            </a:r>
          </a:p>
          <a:p>
            <a:pPr>
              <a:lnSpc>
                <a:spcPct val="115000"/>
              </a:lnSpc>
              <a:spcAft>
                <a:spcPts val="200"/>
              </a:spcAft>
            </a:pPr>
            <a:r>
              <a:rPr sz="900" b="1">
                <a:solidFill>
                  <a:srgbClr val="7C3AED"/>
                </a:solidFill>
                <a:latin typeface="Malgun Gothic"/>
              </a:rPr>
              <a:t>● </a:t>
            </a:r>
            <a:r>
              <a:rPr sz="1100">
                <a:solidFill>
                  <a:srgbClr val="334155"/>
                </a:solidFill>
                <a:latin typeface="Malgun Gothic"/>
              </a:rPr>
              <a:t>Setting a goal with your teacher boosts motivation.</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Knowing your level means games and reviews use the right words for you.</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curriculu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Learning Games Hub</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Review with 10 games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Games menu has 10 games. Today's textbook and level words appear in them, so you review naturally while playing and earn points.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In Games, tap a game card to start right away.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At the top, choose English/Chinese and the game speed.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Correct answers earn points and keep your learning streak flame going.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Fill 10 correct answers to see your result and highlights.</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Game words are linked to what you learned today.</a:t>
            </a:r>
          </a:p>
          <a:p>
            <a:pPr>
              <a:lnSpc>
                <a:spcPct val="115000"/>
              </a:lnSpc>
              <a:spcAft>
                <a:spcPts val="200"/>
              </a:spcAft>
            </a:pPr>
            <a:r>
              <a:rPr sz="900" b="1">
                <a:solidFill>
                  <a:srgbClr val="7C3AED"/>
                </a:solidFill>
                <a:latin typeface="Malgun Gothic"/>
              </a:rPr>
              <a:t>● </a:t>
            </a:r>
            <a:r>
              <a:rPr sz="1100">
                <a:solidFill>
                  <a:srgbClr val="334155"/>
                </a:solidFill>
                <a:latin typeface="Malgun Gothic"/>
              </a:rPr>
              <a:t>Games marked 'speaking' score better when you say the answer aloud.</a:t>
            </a:r>
          </a:p>
        </p:txBody>
      </p:sp>
      <p:sp>
        <p:nvSpPr>
          <p:cNvPr id="17" name="Rounded Rectangle 16"/>
          <p:cNvSpPr/>
          <p:nvPr/>
        </p:nvSpPr>
        <p:spPr>
          <a:xfrm>
            <a:off x="457200" y="589787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Games are review. When class words appear in a game, they stick longer.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game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3D Battle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Quiz duel with a boss!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boss-battle game where you attack with a 3D character by answering questions. The more you get right, the stronger you get and the more badges you earn.</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Enter the lesson boss battle and attack by solving questions.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more correct answers, the stronger you get and the more badges you earn.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Wrong is fine — try again and learn the words.</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Turn on sound for extra excitement with sound effects.</a:t>
            </a:r>
          </a:p>
          <a:p>
            <a:pPr>
              <a:lnSpc>
                <a:spcPct val="115000"/>
              </a:lnSpc>
              <a:spcAft>
                <a:spcPts val="200"/>
              </a:spcAft>
            </a:pPr>
            <a:r>
              <a:rPr sz="900" b="1">
                <a:solidFill>
                  <a:srgbClr val="7C3AED"/>
                </a:solidFill>
                <a:latin typeface="Malgun Gothic"/>
              </a:rPr>
              <a:t>● </a:t>
            </a:r>
            <a:r>
              <a:rPr sz="1100">
                <a:solidFill>
                  <a:srgbClr val="334155"/>
                </a:solidFill>
                <a:latin typeface="Malgun Gothic"/>
              </a:rPr>
              <a:t>Beat the boss for a special badge.</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Too hard? Change the game speed to 'slow'.</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battle3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Shooting · Mastery Games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Shoot and fish while speaking</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Shoot words in space (Shooting + Speaking) or build target sentences by hunting and fishing words (Mastery). Pick a difficulty and speed to suit you.</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Shooting + Speaking: shoot words in order to complete a sentence.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Mastery (word hunt / sentence fishing): build the target sentence while speaking.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Change difficulty and speed to pick your challenge.</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Speaking games score better when you say answers aloud.</a:t>
            </a:r>
          </a:p>
          <a:p>
            <a:pPr>
              <a:lnSpc>
                <a:spcPct val="115000"/>
              </a:lnSpc>
              <a:spcAft>
                <a:spcPts val="200"/>
              </a:spcAft>
            </a:pPr>
            <a:r>
              <a:rPr sz="900" b="1">
                <a:solidFill>
                  <a:srgbClr val="7C3AED"/>
                </a:solidFill>
                <a:latin typeface="Malgun Gothic"/>
              </a:rPr>
              <a:t>● </a:t>
            </a:r>
            <a:r>
              <a:rPr sz="1100">
                <a:solidFill>
                  <a:srgbClr val="334155"/>
                </a:solidFill>
                <a:latin typeface="Malgun Gothic"/>
              </a:rPr>
              <a:t>Reading the target sentence loudly helps memory.</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Start at 'easy/normal' and raise it as you get comfortable.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mastery.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Word Fighter (zombies)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Beat zombies with words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An action game where you fend off oncoming zombies with words and sentences. It trains you to recall words quickly under pressure.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Type or speak to match the word/sentence on screen to stop zombies.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faster you answer, the higher your score and combo.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Get as many right as you can before you run out of lives.</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Great for quick-reaction practice.</a:t>
            </a:r>
          </a:p>
          <a:p>
            <a:pPr>
              <a:lnSpc>
                <a:spcPct val="115000"/>
              </a:lnSpc>
              <a:spcAft>
                <a:spcPts val="200"/>
              </a:spcAft>
            </a:pPr>
            <a:r>
              <a:rPr sz="900" b="1">
                <a:solidFill>
                  <a:srgbClr val="7C3AED"/>
                </a:solidFill>
                <a:latin typeface="Malgun Gothic"/>
              </a:rPr>
              <a:t>● </a:t>
            </a:r>
            <a:r>
              <a:rPr sz="1100">
                <a:solidFill>
                  <a:srgbClr val="334155"/>
                </a:solidFill>
                <a:latin typeface="Malgun Gothic"/>
              </a:rPr>
              <a:t>Don't skip unknown words — check their meaning.</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Nervous? Breathe — accuracy matters more than speed.</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ordfighter.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Suspect Mystery</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Listening &amp; speaking through story</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mystery game where you listen to the teacher's (AI) English hints, find the culprit, and explain in English. You practice listening and speaking at the same time inside a story.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Press 'Start Class' to begin the case.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Listen to the English hints and gather clues.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Pick the culprit and explain your reason in English.</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Improves listening focus.</a:t>
            </a:r>
          </a:p>
          <a:p>
            <a:pPr>
              <a:lnSpc>
                <a:spcPct val="115000"/>
              </a:lnSpc>
              <a:spcAft>
                <a:spcPts val="200"/>
              </a:spcAft>
            </a:pPr>
            <a:r>
              <a:rPr sz="900" b="1">
                <a:solidFill>
                  <a:srgbClr val="7C3AED"/>
                </a:solidFill>
                <a:latin typeface="Malgun Gothic"/>
              </a:rPr>
              <a:t>● </a:t>
            </a:r>
            <a:r>
              <a:rPr sz="1100">
                <a:solidFill>
                  <a:srgbClr val="334155"/>
                </a:solidFill>
                <a:latin typeface="Malgun Gothic"/>
              </a:rPr>
              <a:t>Practices giving reasons in English.</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Missed a hint? Use replay to check it.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uspe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Speaking Quiz</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Listen and repeat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quiz where you listen to a sentence and repeat it to check pronunciation and sentences. A great way to review today's lesson out loud.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Press 'Start' to get questions.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Listen and repeat each sentence.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Fill 10 correct answers to see your result and pronunciation feedback.</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more you speak aloud, the more you improve.</a:t>
            </a:r>
          </a:p>
          <a:p>
            <a:pPr>
              <a:lnSpc>
                <a:spcPct val="115000"/>
              </a:lnSpc>
              <a:spcAft>
                <a:spcPts val="200"/>
              </a:spcAft>
            </a:pPr>
            <a:r>
              <a:rPr sz="900" b="1">
                <a:solidFill>
                  <a:srgbClr val="7C3AED"/>
                </a:solidFill>
                <a:latin typeface="Malgun Gothic"/>
              </a:rPr>
              <a:t>● </a:t>
            </a:r>
            <a:r>
              <a:rPr sz="1100">
                <a:solidFill>
                  <a:srgbClr val="334155"/>
                </a:solidFill>
                <a:latin typeface="Malgun Gothic"/>
              </a:rPr>
              <a:t>A quiet place helps recognition.</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Doing it right after class doubles what you remember.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aking.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Review Quiz</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 quick check of the lesson</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After class, a short quiz checks today's content. It tells you what you did well and what to review more.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Take the review quiz that pops up after class.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Recheck wrong questions with the explanation.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Note the words to review more from your result.</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It's short, so you can do it every time without pressure.</a:t>
            </a:r>
          </a:p>
          <a:p>
            <a:pPr>
              <a:lnSpc>
                <a:spcPct val="115000"/>
              </a:lnSpc>
              <a:spcAft>
                <a:spcPts val="200"/>
              </a:spcAft>
            </a:pPr>
            <a:r>
              <a:rPr sz="900" b="1">
                <a:solidFill>
                  <a:srgbClr val="7C3AED"/>
                </a:solidFill>
                <a:latin typeface="Malgun Gothic"/>
              </a:rPr>
              <a:t>● </a:t>
            </a:r>
            <a:r>
              <a:rPr sz="1100">
                <a:solidFill>
                  <a:srgbClr val="334155"/>
                </a:solidFill>
                <a:latin typeface="Malgun Gothic"/>
              </a:rPr>
              <a:t>Wrong words link to the vocabulary book and games.</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Review quiz → game, in that order, is perfect.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reviewquiz.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My Vocab</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Memorize with word cards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Your own vocabulary book to memorize collected words as cards. Check meanings and pronunciation and review even on the go.</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Flip through your word cards in the vocabulary book.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Check the meaning and pronunciation on each card.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Split known and unknown words and repeat.</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Words from games and lessons collect here.</a:t>
            </a:r>
          </a:p>
          <a:p>
            <a:pPr>
              <a:lnSpc>
                <a:spcPct val="115000"/>
              </a:lnSpc>
              <a:spcAft>
                <a:spcPts val="200"/>
              </a:spcAft>
            </a:pPr>
            <a:r>
              <a:rPr sz="900" b="1">
                <a:solidFill>
                  <a:srgbClr val="7C3AED"/>
                </a:solidFill>
                <a:latin typeface="Malgun Gothic"/>
              </a:rPr>
              <a:t>● </a:t>
            </a:r>
            <a:r>
              <a:rPr sz="1100">
                <a:solidFill>
                  <a:srgbClr val="334155"/>
                </a:solidFill>
                <a:latin typeface="Malgun Gothic"/>
              </a:rPr>
              <a:t>Perfect for spare moments on the go.</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Just 10 words a day is 300 words in a month.</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vocab.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Friend (Mango)</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Free English chat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Chat freely in English with your AI friend Mango to practice conversation. Mistakes aren't embarrassing, so you can speak as much as you like.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the AI friend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Type or say what you want in English.</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Mango's reply and keep the conversation going naturally.</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Mistakes are fine — practice freely!</a:t>
            </a:r>
          </a:p>
          <a:p>
            <a:pPr>
              <a:lnSpc>
                <a:spcPct val="115000"/>
              </a:lnSpc>
              <a:spcAft>
                <a:spcPts val="200"/>
              </a:spcAft>
            </a:pPr>
            <a:r>
              <a:rPr sz="900" b="1">
                <a:solidFill>
                  <a:srgbClr val="7C3AED"/>
                </a:solidFill>
                <a:latin typeface="Malgun Gothic"/>
              </a:rPr>
              <a:t>● </a:t>
            </a:r>
            <a:r>
              <a:rPr sz="1100">
                <a:solidFill>
                  <a:srgbClr val="334155"/>
                </a:solidFill>
                <a:latin typeface="Malgun Gothic"/>
              </a:rPr>
              <a:t>Great for chatting in English when bored.</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Learn by asking things like 'What is …?'</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aifrien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Writing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Make your sentences natural</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Enter a sentence you want to write and the AI rewrites it into natural English. Learn why it changes and build your writing skills.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Type the sentence you want to write.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the AI Writing button.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Check the corrected sentence and the reason, then copy it.</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Great for diary and self-introduction practice.</a:t>
            </a:r>
          </a:p>
          <a:p>
            <a:pPr>
              <a:lnSpc>
                <a:spcPct val="115000"/>
              </a:lnSpc>
              <a:spcAft>
                <a:spcPts val="200"/>
              </a:spcAft>
            </a:pPr>
            <a:r>
              <a:rPr sz="900" b="1">
                <a:solidFill>
                  <a:srgbClr val="7C3AED"/>
                </a:solidFill>
                <a:latin typeface="Malgun Gothic"/>
              </a:rPr>
              <a:t>● </a:t>
            </a:r>
            <a:r>
              <a:rPr sz="1100">
                <a:solidFill>
                  <a:srgbClr val="334155"/>
                </a:solidFill>
                <a:latin typeface="Malgun Gothic"/>
              </a:rPr>
              <a:t>Memorizing the fixes speeds up your growth.</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Read the corrected sentence aloud — it helps speaking too.</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aiwrit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Attendance Streak · Badges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Consistency is skill!</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Study every day to keep the flame (streak) going, and meet conditions to auto-collect 10 kinds of badges. Consistency adds up to real skill.</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Do 'today's study' every day to keep the flame going.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Skip a day and the flame goes out — so do a little every day.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Meet the conditions and receive badges automatically.</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Doing a little every day matters most.</a:t>
            </a:r>
          </a:p>
          <a:p>
            <a:pPr>
              <a:lnSpc>
                <a:spcPct val="115000"/>
              </a:lnSpc>
              <a:spcAft>
                <a:spcPts val="200"/>
              </a:spcAft>
            </a:pPr>
            <a:r>
              <a:rPr sz="900" b="1">
                <a:solidFill>
                  <a:srgbClr val="7C3AED"/>
                </a:solidFill>
                <a:latin typeface="Malgun Gothic"/>
              </a:rPr>
              <a:t>● </a:t>
            </a:r>
            <a:r>
              <a:rPr sz="1100">
                <a:solidFill>
                  <a:srgbClr val="334155"/>
                </a:solidFill>
                <a:latin typeface="Malgun Gothic"/>
              </a:rPr>
              <a:t>Collecting badges builds the habit for fun.</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Just pressing 'today's study' keeps your streak alive.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treak.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MBTI Style Test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Know your learning style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short quiz to learn your learning style. It helps you find study methods that suit you.</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Answer the questions casually.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See your style and study tips in the result.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Apply the recommended methods to lessons and games.</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Enjoy it and get to know yourself.</a:t>
            </a:r>
          </a:p>
          <a:p>
            <a:pPr>
              <a:lnSpc>
                <a:spcPct val="115000"/>
              </a:lnSpc>
              <a:spcAft>
                <a:spcPts val="200"/>
              </a:spcAft>
            </a:pPr>
            <a:r>
              <a:rPr sz="900" b="1">
                <a:solidFill>
                  <a:srgbClr val="7C3AED"/>
                </a:solidFill>
                <a:latin typeface="Malgun Gothic"/>
              </a:rPr>
              <a:t>● </a:t>
            </a:r>
            <a:r>
              <a:rPr sz="1100">
                <a:solidFill>
                  <a:srgbClr val="334155"/>
                </a:solidFill>
                <a:latin typeface="Malgun Gothic"/>
              </a:rPr>
              <a:t>Pick games that fit your style, too.</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Share the result with your teacher for tailored coaching.</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mbti.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Book a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Set your own schedule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screen to book by choosing lesson type (1:1/group), date and time on a calendar. Once booked, your remaining count and next lesson are organized automatically.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Pick the lesson type (1:1/group).</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Select the date and time on the calendar.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Set the weekly count and move to payment/confirm.</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Available times are color-coded for easy picking.</a:t>
            </a:r>
          </a:p>
          <a:p>
            <a:pPr>
              <a:lnSpc>
                <a:spcPct val="115000"/>
              </a:lnSpc>
              <a:spcAft>
                <a:spcPts val="200"/>
              </a:spcAft>
            </a:pPr>
            <a:r>
              <a:rPr sz="900" b="1">
                <a:solidFill>
                  <a:srgbClr val="7C3AED"/>
                </a:solidFill>
                <a:latin typeface="Malgun Gothic"/>
              </a:rPr>
              <a:t>● </a:t>
            </a:r>
            <a:r>
              <a:rPr sz="1100">
                <a:solidFill>
                  <a:srgbClr val="334155"/>
                </a:solidFill>
                <a:latin typeface="Malgun Gothic"/>
              </a:rPr>
              <a:t>You can also choose by teacher.</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Popular slots fill fast — book early.</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booking.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Postpone · Change a Lesson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When something comes up</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screen to push a lesson to later or change its time when something comes up. The changed schedule is announced automatically.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Choose Postpone / Change.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Set the date and time to move to.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Confirm and your lesson count stays preserved.</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Requesting early makes it easier to get the time you want.</a:t>
            </a:r>
          </a:p>
          <a:p>
            <a:pPr>
              <a:lnSpc>
                <a:spcPct val="115000"/>
              </a:lnSpc>
              <a:spcAft>
                <a:spcPts val="200"/>
              </a:spcAft>
            </a:pPr>
            <a:r>
              <a:rPr sz="900" b="1">
                <a:solidFill>
                  <a:srgbClr val="7C3AED"/>
                </a:solidFill>
                <a:latin typeface="Malgun Gothic"/>
              </a:rPr>
              <a:t>● </a:t>
            </a:r>
            <a:r>
              <a:rPr sz="1100">
                <a:solidFill>
                  <a:srgbClr val="334155"/>
                </a:solidFill>
                <a:latin typeface="Malgun Gothic"/>
              </a:rPr>
              <a:t>Postponing never removes your lesson count.</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Postponing right before a lesson may not be possible (check the postpone/refund policy).</a:t>
            </a:r>
          </a:p>
        </p:txBody>
      </p:sp>
      <p:sp>
        <p:nvSpPr>
          <p:cNvPr id="19" name="Rounded Rectangle 18"/>
          <p:cNvSpPr/>
          <p:nvPr/>
        </p:nvSpPr>
        <p:spPr>
          <a:xfrm>
            <a:off x="457200" y="624535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If your plans might change, request at least a day ahead.</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postpon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[Parents] See Your Child's Learning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Just a student ID</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Parents can see how well their child is doing on one screen in 'My Page' just by entering the child's student ID. No app install — check it right from the web.</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My Page (the parent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Enter the child's student ID and press Look up. (it's saved after one look-up)</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Check the 30-day attendance grid for when they had class, and point flow for accrual/use.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See the learning report (teacher's latest reviews), AI voice-coaching progress and badge shelf.</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Wrap up the month with AI study recommendations and the monthly report (print/PDF).</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Attendance, reviews, points and coaching progress are all on one screen.</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monthly report can be printed or saved as PDF.</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you don't know the student ID, ask the teacher/academy.</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Manage the student ID like a password — anyone with it can view.</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Reading the review together the day after class and praising your child boosts their motivation a lot.</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par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[Parents] Payment · Postpone · Refund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Tuition and schedule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Tuition payment, postponing/changing a lesson when something comes up, and the refund policy — useful things for parents to know. It's all handled on the web and auto-calculated by policy.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Book/Pay: choose the lesson type (1:1/group) and count, then pay.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Postpone/Change: if something comes up, request in advance to move it later. (lesson count is preserved)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Refund: auto-calculated per the refund table (100% before the lesson starts, etc.).</a:t>
            </a:r>
          </a:p>
          <a:p>
            <a:pPr>
              <a:lnSpc>
                <a:spcPct val="115000"/>
              </a:lnSpc>
              <a:spcAft>
                <a:spcPts val="600"/>
              </a:spcAft>
            </a:pPr>
            <a:r>
              <a:rPr sz="1050" b="1">
                <a:solidFill>
                  <a:srgbClr val="7C3AED"/>
                </a:solidFill>
                <a:latin typeface="Malgun Gothic"/>
              </a:rPr>
              <a:t>● </a:t>
            </a:r>
            <a:r>
              <a:rPr sz="1250">
                <a:solidFill>
                  <a:srgbClr val="334155"/>
                </a:solidFill>
                <a:latin typeface="Malgun Gothic"/>
              </a:rPr>
              <a:t>Questions? Contact support (phone, email, Kakao).</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earlier you request a postpone, the easier to get the time you want.</a:t>
            </a:r>
          </a:p>
          <a:p>
            <a:pPr>
              <a:lnSpc>
                <a:spcPct val="115000"/>
              </a:lnSpc>
              <a:spcAft>
                <a:spcPts val="200"/>
              </a:spcAft>
            </a:pPr>
            <a:r>
              <a:rPr sz="900" b="1">
                <a:solidFill>
                  <a:srgbClr val="7C3AED"/>
                </a:solidFill>
                <a:latin typeface="Malgun Gothic"/>
              </a:rPr>
              <a:t>● </a:t>
            </a:r>
            <a:r>
              <a:rPr sz="1100">
                <a:solidFill>
                  <a:srgbClr val="334155"/>
                </a:solidFill>
                <a:latin typeface="Malgun Gothic"/>
              </a:rPr>
              <a:t>Refunds on discounted lessons are recalculated at list price.</a:t>
            </a:r>
          </a:p>
          <a:p>
            <a:pPr>
              <a:lnSpc>
                <a:spcPct val="115000"/>
              </a:lnSpc>
              <a:spcAft>
                <a:spcPts val="200"/>
              </a:spcAft>
            </a:pPr>
            <a:r>
              <a:rPr sz="900" b="1">
                <a:solidFill>
                  <a:srgbClr val="7C3AED"/>
                </a:solidFill>
                <a:latin typeface="Malgun Gothic"/>
              </a:rPr>
              <a:t>● </a:t>
            </a:r>
            <a:r>
              <a:rPr sz="1100">
                <a:solidFill>
                  <a:srgbClr val="334155"/>
                </a:solidFill>
                <a:latin typeface="Malgun Gothic"/>
              </a:rPr>
              <a:t>Overdue/payment notices can arrive via alert-talk/SMS.</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Lessons missed without postponing may be marked absent. Check the policy in advance.</a:t>
            </a:r>
          </a:p>
        </p:txBody>
      </p:sp>
      <p:sp>
        <p:nvSpPr>
          <p:cNvPr id="19" name="Rounded Rectangle 18"/>
          <p:cNvSpPr/>
          <p:nvPr/>
        </p:nvSpPr>
        <p:spPr>
          <a:xfrm>
            <a:off x="457200" y="694029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Checking the postpone/refund policy at signup avoids confusion later.</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booking.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Korea·Philippines Dual Clock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Two countries' time on screen</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small clock on screen shows 🇰🇷 Korea time and 🇵🇭 Philippines time together. Our native teachers are in the Philippines, so seeing both times keeps you from mixing up lesson times.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On the on-screen dual clock, see 🇰🇷 Korea and 🇵🇭 Philippines time at once.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Drag the clock to move it anywhere you like.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Tap (click) the clock to go to the home screen.</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Philippines is 1 hour behind Korea (−1 hour).</a:t>
            </a:r>
          </a:p>
          <a:p>
            <a:pPr>
              <a:lnSpc>
                <a:spcPct val="115000"/>
              </a:lnSpc>
              <a:spcAft>
                <a:spcPts val="200"/>
              </a:spcAft>
            </a:pPr>
            <a:r>
              <a:rPr sz="900" b="1">
                <a:solidFill>
                  <a:srgbClr val="7C3AED"/>
                </a:solidFill>
                <a:latin typeface="Malgun Gothic"/>
              </a:rPr>
              <a:t>● </a:t>
            </a:r>
            <a:r>
              <a:rPr sz="1100">
                <a:solidFill>
                  <a:srgbClr val="334155"/>
                </a:solidFill>
                <a:latin typeface="Malgun Gothic"/>
              </a:rPr>
              <a:t>You can check booking/entry times in both countries' time.</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a lesson time is confusing due to the time difference, this clock clears it up instantly.</a:t>
            </a:r>
          </a:p>
        </p:txBody>
      </p:sp>
      <p:sp>
        <p:nvSpPr>
          <p:cNvPr id="19" name="Rectangle 18"/>
          <p:cNvSpPr/>
          <p:nvPr/>
        </p:nvSpPr>
        <p:spPr>
          <a:xfrm>
            <a:off x="6300216" y="2356264"/>
            <a:ext cx="5596128" cy="35170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355080" y="2411128"/>
            <a:ext cx="5486400" cy="340734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Chinese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Darakwon Chinese Master Lv1–20</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You can get coaching not just in English but in Chinese pronunciation too! Read sentences along the 'Darakwon Chinese Master' textbook (Lv 1–20) and the AI recognizes your voice and compares it to a native speaker. Characters and pinyin (pronunciation) appear together.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In the AI voice coach, pick the CN Chinese level (or go to the Chinese pronunciation coach).</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Choose a Master series (1–6, HSK 1–6) and a unit.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the sentence (characters + pinyin) and compare with 'Play native audio'.</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Practice hard sounds/tones with repeat and slow (0.85x).</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Characters and pinyin appear together, so it's easy to read.</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AI recognizes your voice and compares it to a native speaker.</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learning games hub supports Chinese too.</a:t>
            </a:r>
          </a:p>
        </p:txBody>
      </p:sp>
      <p:sp>
        <p:nvSpPr>
          <p:cNvPr id="17" name="Rounded Rectangle 16"/>
          <p:cNvSpPr/>
          <p:nvPr/>
        </p:nvSpPr>
        <p:spPr>
          <a:xfrm>
            <a:off x="457200" y="620877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Listen slowly and repeat clearly to nail the four tones.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Voice Diary</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Speak about your day in English and AI corrects it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Say what happened today in English, and AI transcribes your speech, polishes the sentences, and leaves a score and encouragement. A little every day builds your own English diary!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On the home menu, tap the 📔 AI Voice Diary card (next to the English/Chinese pronunciation coach).</a:t>
            </a:r>
          </a:p>
          <a:p>
            <a:pPr>
              <a:lnSpc>
                <a:spcPct val="115000"/>
              </a:lnSpc>
              <a:spcAft>
                <a:spcPts val="600"/>
              </a:spcAft>
            </a:pPr>
            <a:r>
              <a:rPr sz="1050" b="1">
                <a:solidFill>
                  <a:srgbClr val="7C3AED"/>
                </a:solidFill>
                <a:latin typeface="Malgun Gothic"/>
              </a:rPr>
              <a:t>● </a:t>
            </a:r>
            <a:r>
              <a:rPr sz="1250">
                <a:solidFill>
                  <a:srgbClr val="334155"/>
                </a:solidFill>
                <a:latin typeface="Malgun Gothic"/>
              </a:rPr>
              <a:t>In the 🎤 Record tab, press ‘Start recording’ and talk about your day in English (about 30 seconds is plenty!).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‘Stop’ and AI automatically does transcribe → correct → score &amp; encourage.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 Calendar tab lets you revisit past entries by date.</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Turns your spoken English into text and rewrites awkward sentences naturally.</a:t>
            </a:r>
          </a:p>
          <a:p>
            <a:pPr>
              <a:lnSpc>
                <a:spcPct val="115000"/>
              </a:lnSpc>
              <a:spcAft>
                <a:spcPts val="200"/>
              </a:spcAft>
            </a:pPr>
            <a:r>
              <a:rPr sz="900" b="1">
                <a:solidFill>
                  <a:srgbClr val="7C3AED"/>
                </a:solidFill>
                <a:latin typeface="Malgun Gothic"/>
              </a:rPr>
              <a:t>● </a:t>
            </a:r>
            <a:r>
              <a:rPr sz="1100">
                <a:solidFill>
                  <a:srgbClr val="334155"/>
                </a:solidFill>
                <a:latin typeface="Malgun Gothic"/>
              </a:rPr>
              <a:t>A score (0–100) and a word of encouragement keep you motivated daily.</a:t>
            </a:r>
          </a:p>
          <a:p>
            <a:pPr>
              <a:lnSpc>
                <a:spcPct val="115000"/>
              </a:lnSpc>
              <a:spcAft>
                <a:spcPts val="200"/>
              </a:spcAft>
            </a:pPr>
            <a:r>
              <a:rPr sz="900" b="1">
                <a:solidFill>
                  <a:srgbClr val="7C3AED"/>
                </a:solidFill>
                <a:latin typeface="Malgun Gothic"/>
              </a:rPr>
              <a:t>● </a:t>
            </a:r>
            <a:r>
              <a:rPr sz="1100">
                <a:solidFill>
                  <a:srgbClr val="334155"/>
                </a:solidFill>
                <a:latin typeface="Malgun Gothic"/>
              </a:rPr>
              <a:t>Doing it daily also connects to attendance streaks and badges.</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Recording requires you to be logged in. Speaking clearly in a quiet place makes the transcription more accurate.</a:t>
            </a:r>
          </a:p>
        </p:txBody>
      </p:sp>
      <p:sp>
        <p:nvSpPr>
          <p:cNvPr id="19" name="Rounded Rectangle 18"/>
          <p:cNvSpPr/>
          <p:nvPr/>
        </p:nvSpPr>
        <p:spPr>
          <a:xfrm>
            <a:off x="457200" y="694029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It doesn't have to be perfect. The habit of saying even ‘one sentence’ a day matters most!</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voicediary.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Where to next? (Learning-flow guide)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Finish one activity and get the next one suggested</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When you finish an activity — warm-up, game, class, review, pronunciation — a ‘🚀 Where would you like to go next?’ menu pops up. No need to hunt for menus again; just follow the recommended (⭐) item to flow into your next activity.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Fully complete a warm-up, student game, review quiz, class, or step-by-step pronunciation.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Look for the ‘🚀 Choose next activity’ button (or the menu that appears automatically).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Pick from Enter Class · AI Warm-up · Review Quiz · Student Games · Replay Recording · Pronunciation, etc.</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recommended (⭐) item is a good next step for right now.</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Suggested flow: Warm-up → Game → Class → Review → Pronunciation → Game, naturally connected.</a:t>
            </a:r>
          </a:p>
          <a:p>
            <a:pPr>
              <a:lnSpc>
                <a:spcPct val="115000"/>
              </a:lnSpc>
              <a:spcAft>
                <a:spcPts val="200"/>
              </a:spcAft>
            </a:pPr>
            <a:r>
              <a:rPr sz="900" b="1">
                <a:solidFill>
                  <a:srgbClr val="7C3AED"/>
                </a:solidFill>
                <a:latin typeface="Malgun Gothic"/>
              </a:rPr>
              <a:t>● </a:t>
            </a:r>
            <a:r>
              <a:rPr sz="1100">
                <a:solidFill>
                  <a:srgbClr val="334155"/>
                </a:solidFill>
                <a:latin typeface="Malgun Gothic"/>
              </a:rPr>
              <a:t>Choosing ‘Replay Recording’ instantly replays your last class video.</a:t>
            </a:r>
          </a:p>
          <a:p>
            <a:pPr>
              <a:lnSpc>
                <a:spcPct val="115000"/>
              </a:lnSpc>
              <a:spcAft>
                <a:spcPts val="200"/>
              </a:spcAft>
            </a:pPr>
            <a:r>
              <a:rPr sz="900" b="1">
                <a:solidFill>
                  <a:srgbClr val="7C3AED"/>
                </a:solidFill>
                <a:latin typeface="Malgun Gothic"/>
              </a:rPr>
              <a:t>● </a:t>
            </a:r>
            <a:r>
              <a:rPr sz="1100">
                <a:solidFill>
                  <a:srgbClr val="334155"/>
                </a:solidFill>
                <a:latin typeface="Malgun Gothic"/>
              </a:rPr>
              <a:t>Even without playing a game/quiz, the list screen's ‘🚀 Go next’ button opens the menu.</a:t>
            </a:r>
          </a:p>
        </p:txBody>
      </p:sp>
      <p:sp>
        <p:nvSpPr>
          <p:cNvPr id="17" name="Rounded Rectangle 16"/>
          <p:cNvSpPr/>
          <p:nvPr/>
        </p:nvSpPr>
        <p:spPr>
          <a:xfrm>
            <a:off x="457200" y="620877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you're unsure what to do, open this menu to keep today's study flowing smoothly.</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flow.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Ask the A.i Assistant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The consultant avatar at the bottom-right</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Tap the ‘A.i Assistant’ at the bottom-right of the screen to ask anything, anytime. It explains how to use features and where they are, and can take you straight to the right menu.</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Tap the A.i Assistant icon at the bottom-right of the home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Type your question freely (e.g. “Where do I take the review quiz?”).</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assistant answers and guides you to the right menu.</a:t>
            </a:r>
          </a:p>
          <a:p>
            <a:pPr>
              <a:lnSpc>
                <a:spcPct val="115000"/>
              </a:lnSpc>
              <a:spcAft>
                <a:spcPts val="600"/>
              </a:spcAft>
            </a:pPr>
            <a:r>
              <a:rPr sz="1050" b="1">
                <a:solidFill>
                  <a:srgbClr val="7C3AED"/>
                </a:solidFill>
                <a:latin typeface="Malgun Gothic"/>
              </a:rPr>
              <a:t>● </a:t>
            </a:r>
            <a:r>
              <a:rPr sz="1250">
                <a:solidFill>
                  <a:srgbClr val="334155"/>
                </a:solidFill>
                <a:latin typeface="Malgun Gothic"/>
              </a:rPr>
              <a:t>You can also speak your question using the 🎤 mic.</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Points you straight to features like student games, pronunciation coach, or voice diary.</a:t>
            </a:r>
          </a:p>
          <a:p>
            <a:pPr>
              <a:lnSpc>
                <a:spcPct val="115000"/>
              </a:lnSpc>
              <a:spcAft>
                <a:spcPts val="200"/>
              </a:spcAft>
            </a:pPr>
            <a:r>
              <a:rPr sz="900" b="1">
                <a:solidFill>
                  <a:srgbClr val="7C3AED"/>
                </a:solidFill>
                <a:latin typeface="Malgun Gothic"/>
              </a:rPr>
              <a:t>● </a:t>
            </a:r>
            <a:r>
              <a:rPr sz="1100">
                <a:solidFill>
                  <a:srgbClr val="334155"/>
                </a:solidFill>
                <a:latin typeface="Malgun Gothic"/>
              </a:rPr>
              <a:t>Available anytime (nights &amp; weekends too) so you can use everything on your own.</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Requests that need a human — billing, operations — are routed to KakaoTalk chat or customer support.</a:t>
            </a:r>
          </a:p>
        </p:txBody>
      </p:sp>
      <p:sp>
        <p:nvSpPr>
          <p:cNvPr id="19" name="Rounded Rectangle 18"/>
          <p:cNvSpPr/>
          <p:nvPr/>
        </p:nvSpPr>
        <p:spPr>
          <a:xfrm>
            <a:off x="457200" y="662939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Say what you want to do, like “I want to ○○,” and it takes you to that screen.</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aiavatar.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New Classroom Comforts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Hide my face · teacher first · mobile tool dock</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lesson screen got more comfortable. A 🙈 button hides your own face for a moment, the teacher's face now appears first and large when you enter, and on phones the bottom tools stay tucked away behind a ⋯ button — so you can focus on the lesson itself.</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Tap the 🙈 button on your own tile to hide your face for a bit. Tap the 🙂 chip to bring it back.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you enter, the teacher's face is placed on top, large, automatically — no hunting.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On a phone (portrait), the default screen is faces on top and the textbook below.</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The mobile bottom dock opens only when you tap ⋯, keeping the screen roomy.</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Hiding your face doesn't turn the camera off — it only hides it on screen, so class continues.</a:t>
            </a:r>
          </a:p>
          <a:p>
            <a:pPr>
              <a:lnSpc>
                <a:spcPct val="115000"/>
              </a:lnSpc>
              <a:spcAft>
                <a:spcPts val="200"/>
              </a:spcAft>
            </a:pPr>
            <a:r>
              <a:rPr sz="900" b="1">
                <a:solidFill>
                  <a:srgbClr val="7C3AED"/>
                </a:solidFill>
                <a:latin typeface="Malgun Gothic"/>
              </a:rPr>
              <a:t>● </a:t>
            </a:r>
            <a:r>
              <a:rPr sz="1100">
                <a:solidFill>
                  <a:srgbClr val="334155"/>
                </a:solidFill>
                <a:latin typeface="Malgun Gothic"/>
              </a:rPr>
              <a:t>Rotate to landscape and it auto-arranges to faces left · textbook right.</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Hide your face only for a moment when you're shy — lessons are much more fun with eye contact!</a:t>
            </a:r>
          </a:p>
        </p:txBody>
      </p:sp>
      <p:sp>
        <p:nvSpPr>
          <p:cNvPr id="19" name="Rounded Rectangle 18"/>
          <p:cNvSpPr/>
          <p:nvPr/>
        </p:nvSpPr>
        <p:spPr>
          <a:xfrm>
            <a:off x="457200" y="662939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If the screen feels cramped, fold the dock away with the ⋯ button.</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1:1 Private Chat &amp; File Sharing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Whisper messages only your teacher sees + share any file</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Class chat now supports 1:1 private messages (DM). Send a message only a specific teacher can see, and share any file — PDF, image, document — through chat; it appears on the other side as a download card.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 Chat from the bottom dock.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Switch the recipient from Everyone to a teacher's name to whisper 1:1.</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the 📎 file button to upload a PDF, photo, or document — a download card appears for them.</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Received files are saved with the card's ⬇ Save button.</a:t>
            </a:r>
          </a:p>
        </p:txBody>
      </p:sp>
      <p:sp>
        <p:nvSpPr>
          <p:cNvPr id="14" name="Rounded Rectangle 13"/>
          <p:cNvSpPr/>
          <p:nvPr/>
        </p:nvSpPr>
        <p:spPr>
          <a:xfrm>
            <a:off x="457200" y="4782312"/>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Private chats are visible only to the two of you.</a:t>
            </a:r>
          </a:p>
          <a:p>
            <a:pPr>
              <a:lnSpc>
                <a:spcPct val="115000"/>
              </a:lnSpc>
              <a:spcAft>
                <a:spcPts val="200"/>
              </a:spcAft>
            </a:pPr>
            <a:r>
              <a:rPr sz="900" b="1">
                <a:solidFill>
                  <a:srgbClr val="7C3AED"/>
                </a:solidFill>
                <a:latin typeface="Malgun Gothic"/>
              </a:rPr>
              <a:t>● </a:t>
            </a:r>
            <a:r>
              <a:rPr sz="1100">
                <a:solidFill>
                  <a:srgbClr val="334155"/>
                </a:solidFill>
                <a:latin typeface="Malgun Gothic"/>
              </a:rPr>
              <a:t>Homework files and notes get exchanged in one step during class.</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Private chats are not stored on the server and disappear after class. Keep important things as files.</a:t>
            </a:r>
          </a:p>
        </p:txBody>
      </p:sp>
      <p:sp>
        <p:nvSpPr>
          <p:cNvPr id="19" name="Rounded Rectangle 18"/>
          <p:cNvSpPr/>
          <p:nvPr/>
        </p:nvSpPr>
        <p:spPr>
          <a:xfrm>
            <a:off x="457200" y="6629399"/>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Perfect for quietly asking a question without interrupting anyone else.</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cha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Home Screen: Bright · Dark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Auto by time of day, or pick your own</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home screen now switches automatically — bright by day, dark at night. Or use the Bright / Auto / Dark 3-way chip to set the mood yourself, anytime.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Find the 🌗 theme chip at the top of the home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Pick Bright · Auto · Dark.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Leave it on Auto and it brightens in the morning and dims at night on its own.</a:t>
            </a:r>
          </a:p>
        </p:txBody>
      </p:sp>
      <p:sp>
        <p:nvSpPr>
          <p:cNvPr id="14" name="Rounded Rectangle 13"/>
          <p:cNvSpPr/>
          <p:nvPr/>
        </p:nvSpPr>
        <p:spPr>
          <a:xfrm>
            <a:off x="457200" y="4398264"/>
            <a:ext cx="5669280" cy="1005840"/>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Late-night studying is easier on the eyes.</a:t>
            </a:r>
          </a:p>
          <a:p>
            <a:pPr>
              <a:lnSpc>
                <a:spcPct val="115000"/>
              </a:lnSpc>
              <a:spcAft>
                <a:spcPts val="200"/>
              </a:spcAft>
            </a:pPr>
            <a:r>
              <a:rPr sz="900" b="1">
                <a:solidFill>
                  <a:srgbClr val="7C3AED"/>
                </a:solidFill>
                <a:latin typeface="Malgun Gothic"/>
              </a:rPr>
              <a:t>● </a:t>
            </a:r>
            <a:r>
              <a:rPr sz="1100">
                <a:solidFill>
                  <a:srgbClr val="334155"/>
                </a:solidFill>
                <a:latin typeface="Malgun Gothic"/>
              </a:rPr>
              <a:t>Your chosen theme is remembered next time you sign in.</a:t>
            </a:r>
          </a:p>
        </p:txBody>
      </p:sp>
      <p:sp>
        <p:nvSpPr>
          <p:cNvPr id="17" name="Rounded Rectangle 16"/>
          <p:cNvSpPr/>
          <p:nvPr/>
        </p:nvSpPr>
        <p:spPr>
          <a:xfrm>
            <a:off x="457200" y="5513831"/>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Dark for bedtime review, bright for a morning warm-up — it changes the mood too!</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hom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Judgment Training (pick the right words)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Not memorising answers — what fits right now?</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AI creates a situation that could really happen, and you pick the expression that fits that situation best — then write one line saying why you chose it. “Give me that!” works with a friend, but “Could I have that, please?” is right for a teacher. Real English ability isn't how much you know; it's judging which words fit right now.</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On the student home, open AI Learning Tools → 🧠 Judgment Training.</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Here's the situation and pick one of A–D.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In Why did you choose it?, write your reason. Your own language is fine.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Submit — the AI scores it and explains why another option may fit better.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Tap 🏅 My Growth (top right) to see your judgment index and its 5 axes.</a:t>
            </a:r>
          </a:p>
        </p:txBody>
      </p:sp>
      <p:sp>
        <p:nvSpPr>
          <p:cNvPr id="14" name="Rounded Rectangle 13"/>
          <p:cNvSpPr/>
          <p:nvPr/>
        </p:nvSpPr>
        <p:spPr>
          <a:xfrm>
            <a:off x="457200" y="5166360"/>
            <a:ext cx="5669280" cy="1627632"/>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1261872"/>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Every option carries partial credit — only a clearly wrong choice scores low.</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better you explain your reason, the higher the score — it trains thinking in words.</a:t>
            </a:r>
          </a:p>
          <a:p>
            <a:pPr>
              <a:lnSpc>
                <a:spcPct val="115000"/>
              </a:lnSpc>
              <a:spcAft>
                <a:spcPts val="200"/>
              </a:spcAft>
            </a:pPr>
            <a:r>
              <a:rPr sz="900" b="1">
                <a:solidFill>
                  <a:srgbClr val="7C3AED"/>
                </a:solidFill>
                <a:latin typeface="Malgun Gothic"/>
              </a:rPr>
              <a:t>● </a:t>
            </a:r>
            <a:r>
              <a:rPr sz="1100">
                <a:solidFill>
                  <a:srgbClr val="334155"/>
                </a:solidFill>
                <a:latin typeface="Malgun Gothic"/>
              </a:rPr>
              <a:t>Questions are linked to your textbook (e.g. Side by Side 2), so they stay in range.</a:t>
            </a:r>
          </a:p>
          <a:p>
            <a:pPr>
              <a:lnSpc>
                <a:spcPct val="115000"/>
              </a:lnSpc>
              <a:spcAft>
                <a:spcPts val="200"/>
              </a:spcAft>
            </a:pPr>
            <a:r>
              <a:rPr sz="900" b="1">
                <a:solidFill>
                  <a:srgbClr val="7C3AED"/>
                </a:solidFill>
                <a:latin typeface="Malgun Gothic"/>
              </a:rPr>
              <a:t>● </a:t>
            </a:r>
            <a:r>
              <a:rPr sz="1100">
                <a:solidFill>
                  <a:srgbClr val="334155"/>
                </a:solidFill>
                <a:latin typeface="Malgun Gothic"/>
              </a:rPr>
              <a:t>Each round comes from a different topic and angle, so questions never repeat.</a:t>
            </a:r>
          </a:p>
        </p:txBody>
      </p:sp>
      <p:sp>
        <p:nvSpPr>
          <p:cNvPr id="17" name="Rounded Rectangle 16"/>
          <p:cNvSpPr/>
          <p:nvPr/>
        </p:nvSpPr>
        <p:spPr>
          <a:xfrm>
            <a:off x="457200" y="6903720"/>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949440"/>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The AI needs a few seconds to write a question. The next one is prepared while you answer, so it usually appears instantly.</a:t>
            </a:r>
          </a:p>
        </p:txBody>
      </p:sp>
      <p:sp>
        <p:nvSpPr>
          <p:cNvPr id="19" name="Rounded Rectangle 18"/>
          <p:cNvSpPr/>
          <p:nvPr/>
        </p:nvSpPr>
        <p:spPr>
          <a:xfrm>
            <a:off x="457200" y="7635240"/>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680960"/>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Getting it wrong is fine. Writing why you thought so is the whole point of this training.</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judgm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Grammar Pizza Master (word order)</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Stack the toppings in sentence order</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Words arrive as pizza toppings. Listen to the sentence first, then place the toppings in sentence order to finish the pizza. Subject, verb and object are colour-coded, so English word order sinks in visually.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 Grammar Pizza Master in the games hub.</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Press Listen and start to hear the sentence first.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Place the toppings below in sentence order onto the pizza.</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Stuck? Tap 💡 Hint! at the top right.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Sentences grow longer from Level 1 → 2 → 3.</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Each topping is labelled subject / verb / object, so word order becomes natural.</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a textbook is assigned, sentences come from that book.</a:t>
            </a:r>
          </a:p>
          <a:p>
            <a:pPr>
              <a:lnSpc>
                <a:spcPct val="115000"/>
              </a:lnSpc>
              <a:spcAft>
                <a:spcPts val="200"/>
              </a:spcAft>
            </a:pPr>
            <a:r>
              <a:rPr sz="900" b="1">
                <a:solidFill>
                  <a:srgbClr val="7C3AED"/>
                </a:solidFill>
                <a:latin typeface="Malgun Gothic"/>
              </a:rPr>
              <a:t>● </a:t>
            </a:r>
            <a:r>
              <a:rPr sz="1100">
                <a:solidFill>
                  <a:srgbClr val="334155"/>
                </a:solidFill>
                <a:latin typeface="Malgun Gothic"/>
              </a:rPr>
              <a:t>A time limit keeps the drill fast and focused.</a:t>
            </a:r>
          </a:p>
        </p:txBody>
      </p:sp>
      <p:sp>
        <p:nvSpPr>
          <p:cNvPr id="17" name="Rounded Rectangle 16"/>
          <p:cNvSpPr/>
          <p:nvPr/>
        </p:nvSpPr>
        <p:spPr>
          <a:xfrm>
            <a:off x="457200" y="659282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Read each word aloud as you place it — the order sticks far faster.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pizza.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Word Tetris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Stack word blocks and complete two lines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Classic Tetris with words on top. Words fall one at a time in sentence order — stack them well and clear a line to complete the sentence. Long words are wide blocks, short words are small ones; fitting them together makes the vocabulary stick.</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 Word Tetris in the games hub.</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Choose US English mode or CN Chinese mode.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Use ◀ ▶ to move, rotate, ▼ to speed up, ↓ to drop instantly.</a:t>
            </a:r>
          </a:p>
          <a:p>
            <a:pPr>
              <a:lnSpc>
                <a:spcPct val="115000"/>
              </a:lnSpc>
              <a:spcAft>
                <a:spcPts val="600"/>
              </a:spcAft>
            </a:pPr>
            <a:r>
              <a:rPr sz="1050" b="1">
                <a:solidFill>
                  <a:srgbClr val="7C3AED"/>
                </a:solidFill>
                <a:latin typeface="Malgun Gothic"/>
              </a:rPr>
              <a:t>● </a:t>
            </a:r>
            <a:r>
              <a:rPr sz="1250">
                <a:solidFill>
                  <a:srgbClr val="334155"/>
                </a:solidFill>
                <a:latin typeface="Malgun Gothic"/>
              </a:rPr>
              <a:t>Each time a block lands you hear the word — repeat it aloud.</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English and Chinese modes play exactly the same way.</a:t>
            </a:r>
          </a:p>
          <a:p>
            <a:pPr>
              <a:lnSpc>
                <a:spcPct val="115000"/>
              </a:lnSpc>
              <a:spcAft>
                <a:spcPts val="200"/>
              </a:spcAft>
            </a:pPr>
            <a:r>
              <a:rPr sz="900" b="1">
                <a:solidFill>
                  <a:srgbClr val="7C3AED"/>
                </a:solidFill>
                <a:latin typeface="Malgun Gothic"/>
              </a:rPr>
              <a:t>● </a:t>
            </a:r>
            <a:r>
              <a:rPr sz="1100">
                <a:solidFill>
                  <a:srgbClr val="334155"/>
                </a:solidFill>
                <a:latin typeface="Malgun Gothic"/>
              </a:rPr>
              <a:t>Your high score is saved so you can beat it next time.</a:t>
            </a:r>
          </a:p>
          <a:p>
            <a:pPr>
              <a:lnSpc>
                <a:spcPct val="115000"/>
              </a:lnSpc>
              <a:spcAft>
                <a:spcPts val="200"/>
              </a:spcAft>
            </a:pPr>
            <a:r>
              <a:rPr sz="900" b="1">
                <a:solidFill>
                  <a:srgbClr val="7C3AED"/>
                </a:solidFill>
                <a:latin typeface="Malgun Gothic"/>
              </a:rPr>
              <a:t>● </a:t>
            </a:r>
            <a:r>
              <a:rPr sz="1100">
                <a:solidFill>
                  <a:srgbClr val="334155"/>
                </a:solidFill>
                <a:latin typeface="Malgun Gothic"/>
              </a:rPr>
              <a:t>Tidied up so nothing is cut off on a phone screen.</a:t>
            </a:r>
          </a:p>
        </p:txBody>
      </p:sp>
      <p:sp>
        <p:nvSpPr>
          <p:cNvPr id="17" name="Rounded Rectangle 16"/>
          <p:cNvSpPr/>
          <p:nvPr/>
        </p:nvSpPr>
        <p:spPr>
          <a:xfrm>
            <a:off x="457200" y="620877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Lay the long words down low first — clearing lines gets much easier.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tetri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Tank Battle · Language Ace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Destroy in word order · action learning</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Two new action-style learning games. In Tank Battle you destroy enemy tanks in the sentence's word order; in Language Ace you fly and answer as you go. Hands stay busy, so focus is high and repetition never feels dull.</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 Tank Battle or ✈️ Language Ace in the games hub.</a:t>
            </a:r>
          </a:p>
          <a:p>
            <a:pPr>
              <a:lnSpc>
                <a:spcPct val="115000"/>
              </a:lnSpc>
              <a:spcAft>
                <a:spcPts val="600"/>
              </a:spcAft>
            </a:pPr>
            <a:r>
              <a:rPr sz="1050" b="1">
                <a:solidFill>
                  <a:srgbClr val="7C3AED"/>
                </a:solidFill>
                <a:latin typeface="Malgun Gothic"/>
              </a:rPr>
              <a:t>● </a:t>
            </a:r>
            <a:r>
              <a:rPr sz="1250">
                <a:solidFill>
                  <a:srgbClr val="334155"/>
                </a:solidFill>
                <a:latin typeface="Malgun Gothic"/>
              </a:rPr>
              <a:t>For Tank Battle pick English / 中文, a battlefield (grass · desert · snow) and difficulty 1–7.</a:t>
            </a:r>
          </a:p>
          <a:p>
            <a:pPr>
              <a:lnSpc>
                <a:spcPct val="115000"/>
              </a:lnSpc>
              <a:spcAft>
                <a:spcPts val="600"/>
              </a:spcAft>
            </a:pPr>
            <a:r>
              <a:rPr sz="1050" b="1">
                <a:solidFill>
                  <a:srgbClr val="7C3AED"/>
                </a:solidFill>
                <a:latin typeface="Malgun Gothic"/>
              </a:rPr>
              <a:t>● </a:t>
            </a:r>
            <a:r>
              <a:rPr sz="1250">
                <a:solidFill>
                  <a:srgbClr val="334155"/>
                </a:solidFill>
                <a:latin typeface="Malgun Gothic"/>
              </a:rPr>
              <a:t>Hold and drag the left button to move; short tap fires in that direction.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Destroy the tanks carrying the gold words of the sentence above, in order.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Pick up jelly fuel cans to gain more time.</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Higher difficulty means faster enemies and faster speech — listening practice included.</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a textbook is assigned, its sentences are used.</a:t>
            </a:r>
          </a:p>
          <a:p>
            <a:pPr>
              <a:lnSpc>
                <a:spcPct val="115000"/>
              </a:lnSpc>
              <a:spcAft>
                <a:spcPts val="200"/>
              </a:spcAft>
            </a:pPr>
            <a:r>
              <a:rPr sz="900" b="1">
                <a:solidFill>
                  <a:srgbClr val="7C3AED"/>
                </a:solidFill>
                <a:latin typeface="Malgun Gothic"/>
              </a:rPr>
              <a:t>● </a:t>
            </a:r>
            <a:r>
              <a:rPr sz="1100">
                <a:solidFill>
                  <a:srgbClr val="334155"/>
                </a:solidFill>
                <a:latin typeface="Malgun Gothic"/>
              </a:rPr>
              <a:t>Fully playable by touch on phones and tablets.</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These games are motion-heavy. On a slower device, lower the difficulty.</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Games work best as review after the lesson, not before it.</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tank.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Log in with your face or fingerprint (passkey)</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No password needed in the app</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You can now log in with your face or fingerprint in the Mangoi Android app. Register once and you're in with a glance or a touch — no ID and password to type. Your secret never leaves your phone, so it's safer too.</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Update the app to the latest version (v1.9 or later).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Log in once with your ID and password as usual.</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prompted, tap Register passkey and enrol your face or fingerprint.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From then on, log in with your face or fingerprint.</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The credential stays only on your phone and is never sent to the server.</a:t>
            </a:r>
          </a:p>
          <a:p>
            <a:pPr>
              <a:lnSpc>
                <a:spcPct val="115000"/>
              </a:lnSpc>
              <a:spcAft>
                <a:spcPts val="200"/>
              </a:spcAft>
            </a:pPr>
            <a:r>
              <a:rPr sz="900" b="1">
                <a:solidFill>
                  <a:srgbClr val="7C3AED"/>
                </a:solidFill>
                <a:latin typeface="Malgun Gothic"/>
              </a:rPr>
              <a:t>● </a:t>
            </a:r>
            <a:r>
              <a:rPr sz="1100">
                <a:solidFill>
                  <a:srgbClr val="334155"/>
                </a:solidFill>
                <a:latin typeface="Malgun Gothic"/>
              </a:rPr>
              <a:t>Changed phones? Just register once more on the new device.</a:t>
            </a:r>
          </a:p>
          <a:p>
            <a:pPr>
              <a:lnSpc>
                <a:spcPct val="115000"/>
              </a:lnSpc>
              <a:spcAft>
                <a:spcPts val="200"/>
              </a:spcAft>
            </a:pPr>
            <a:r>
              <a:rPr sz="900" b="1">
                <a:solidFill>
                  <a:srgbClr val="7C3AED"/>
                </a:solidFill>
                <a:latin typeface="Malgun Gothic"/>
              </a:rPr>
              <a:t>● </a:t>
            </a:r>
            <a:r>
              <a:rPr sz="1100">
                <a:solidFill>
                  <a:srgbClr val="334155"/>
                </a:solidFill>
                <a:latin typeface="Malgun Gothic"/>
              </a:rPr>
              <a:t>Devices without passkey support keep working with the usual ID + password.</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This is an app-only feature. In a web browser, log in the usual way.</a:t>
            </a:r>
          </a:p>
        </p:txBody>
      </p:sp>
      <p:sp>
        <p:nvSpPr>
          <p:cNvPr id="19" name="Rounded Rectangle 18"/>
          <p:cNvSpPr/>
          <p:nvPr/>
        </p:nvSpPr>
        <p:spPr>
          <a:xfrm>
            <a:off x="457200" y="694029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Younger students forget passwords constantly. Registering a passkey cuts those requests dramatically.</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49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Your speaking isn't cut off any more · a smarter AI friend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It waits even when you speak slowly</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microphone used to shut off while you were still thinking mid-sentence — that's fixed. The waiting time now adapts to the situation, and if your phone kills the microphone by itself it restarts automatically. The AI friend (Mango) no longer repeats itself, asks again when your speech is cut off, and actually slows down when you say “speak slowly”.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Press the 🎤 button in Speech Coach, AI Warm-up or AI Friend and talk.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Pausing to think is fine — it waits until you're really finished.</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Say “Please speak slowly” to the AI friend and it will slow down.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Choose the voice: male · female · alternating.</a:t>
            </a:r>
          </a:p>
        </p:txBody>
      </p:sp>
      <p:sp>
        <p:nvSpPr>
          <p:cNvPr id="14" name="Rounded Rectangle 13"/>
          <p:cNvSpPr/>
          <p:nvPr/>
        </p:nvSpPr>
        <p:spPr>
          <a:xfrm>
            <a:off x="457200" y="4782312"/>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Sudden microphone cut-outs on Android phones now recover automatically.</a:t>
            </a:r>
          </a:p>
          <a:p>
            <a:pPr>
              <a:lnSpc>
                <a:spcPct val="115000"/>
              </a:lnSpc>
              <a:spcAft>
                <a:spcPts val="200"/>
              </a:spcAft>
            </a:pPr>
            <a:r>
              <a:rPr sz="900" b="1">
                <a:solidFill>
                  <a:srgbClr val="7C3AED"/>
                </a:solidFill>
                <a:latin typeface="Malgun Gothic"/>
              </a:rPr>
              <a:t>● </a:t>
            </a:r>
            <a:r>
              <a:rPr sz="1100">
                <a:solidFill>
                  <a:srgbClr val="334155"/>
                </a:solidFill>
                <a:latin typeface="Malgun Gothic"/>
              </a:rPr>
              <a:t>The AI friend never repeats the same sentence.</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your speech is clipped, the AI asks “Did you mean this?”</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Noisy surroundings hurt recognition. Speak clearly in a quiet place.</a:t>
            </a:r>
          </a:p>
        </p:txBody>
      </p:sp>
      <p:sp>
        <p:nvSpPr>
          <p:cNvPr id="19" name="Rounded Rectangle 18"/>
          <p:cNvSpPr/>
          <p:nvPr/>
        </p:nvSpPr>
        <p:spPr>
          <a:xfrm>
            <a:off x="457200" y="6940295"/>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Using an earphone microphone raises recognition accuracy noticeably.</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aifrien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Enrol and pay in one go</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Pick teacher, days and time — lessons are scheduled automatically</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You can now choose your teacher, days and time yourself and pay — and your whole schedule is created automatically. No more phoning after payment to arrange a timetable. If a slot already clashes with another lesson, you're told before you pay.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the Enrolment screen.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① Choose a teacher.</a:t>
            </a:r>
          </a:p>
          <a:p>
            <a:pPr>
              <a:lnSpc>
                <a:spcPct val="115000"/>
              </a:lnSpc>
              <a:spcAft>
                <a:spcPts val="600"/>
              </a:spcAft>
            </a:pPr>
            <a:r>
              <a:rPr sz="1050" b="1">
                <a:solidFill>
                  <a:srgbClr val="7C3AED"/>
                </a:solidFill>
                <a:latin typeface="Malgun Gothic"/>
              </a:rPr>
              <a:t>● </a:t>
            </a:r>
            <a:r>
              <a:rPr sz="1250">
                <a:solidFill>
                  <a:srgbClr val="334155"/>
                </a:solidFill>
                <a:latin typeface="Malgun Gothic"/>
              </a:rPr>
              <a:t>② Lesson options — times per week (1–5), term (1 / 3 / 6 / 12 months), length (20 or 40 min).</a:t>
            </a:r>
          </a:p>
          <a:p>
            <a:pPr>
              <a:lnSpc>
                <a:spcPct val="115000"/>
              </a:lnSpc>
              <a:spcAft>
                <a:spcPts val="600"/>
              </a:spcAft>
            </a:pPr>
            <a:r>
              <a:rPr sz="1050" b="1">
                <a:solidFill>
                  <a:srgbClr val="7C3AED"/>
                </a:solidFill>
                <a:latin typeface="Malgun Gothic"/>
              </a:rPr>
              <a:t>● </a:t>
            </a:r>
            <a:r>
              <a:rPr sz="1250">
                <a:solidFill>
                  <a:srgbClr val="334155"/>
                </a:solidFill>
                <a:latin typeface="Malgun Gothic"/>
              </a:rPr>
              <a:t>③ Days &amp; time — pick as many days as your weekly count, then the start time and start date.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 Available appears, press Pay at the bottom.</a:t>
            </a:r>
          </a:p>
          <a:p>
            <a:pPr>
              <a:lnSpc>
                <a:spcPct val="115000"/>
              </a:lnSpc>
              <a:spcAft>
                <a:spcPts val="600"/>
              </a:spcAft>
            </a:pPr>
            <a:r>
              <a:rPr sz="1050" b="1">
                <a:solidFill>
                  <a:srgbClr val="7C3AED"/>
                </a:solidFill>
                <a:latin typeface="Malgun Gothic"/>
              </a:rPr>
              <a:t>● </a:t>
            </a:r>
            <a:r>
              <a:rPr sz="1250">
                <a:solidFill>
                  <a:srgbClr val="334155"/>
                </a:solidFill>
                <a:latin typeface="Malgun Gothic"/>
              </a:rPr>
              <a:t>Once payment completes, every session is created at once. Check it on My Page.</a:t>
            </a:r>
          </a:p>
        </p:txBody>
      </p:sp>
      <p:sp>
        <p:nvSpPr>
          <p:cNvPr id="14" name="Rounded Rectangle 13"/>
          <p:cNvSpPr/>
          <p:nvPr/>
        </p:nvSpPr>
        <p:spPr>
          <a:xfrm>
            <a:off x="457200" y="5550408"/>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879592"/>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Longer terms are cheaper — 6 months −5%, 12 months −10%.</a:t>
            </a:r>
          </a:p>
          <a:p>
            <a:pPr>
              <a:lnSpc>
                <a:spcPct val="115000"/>
              </a:lnSpc>
              <a:spcAft>
                <a:spcPts val="200"/>
              </a:spcAft>
            </a:pPr>
            <a:r>
              <a:rPr sz="900" b="1">
                <a:solidFill>
                  <a:srgbClr val="7C3AED"/>
                </a:solidFill>
                <a:latin typeface="Malgun Gothic"/>
              </a:rPr>
              <a:t>● </a:t>
            </a:r>
            <a:r>
              <a:rPr sz="1100">
                <a:solidFill>
                  <a:srgbClr val="334155"/>
                </a:solidFill>
                <a:latin typeface="Malgun Gothic"/>
              </a:rPr>
              <a:t>If the slot is taken, an ❌ appears so you can change it before paying.</a:t>
            </a:r>
          </a:p>
          <a:p>
            <a:pPr>
              <a:lnSpc>
                <a:spcPct val="115000"/>
              </a:lnSpc>
              <a:spcAft>
                <a:spcPts val="200"/>
              </a:spcAft>
            </a:pPr>
            <a:r>
              <a:rPr sz="900" b="1">
                <a:solidFill>
                  <a:srgbClr val="7C3AED"/>
                </a:solidFill>
                <a:latin typeface="Malgun Gothic"/>
              </a:rPr>
              <a:t>● </a:t>
            </a:r>
            <a:r>
              <a:rPr sz="1100">
                <a:solidFill>
                  <a:srgbClr val="334155"/>
                </a:solidFill>
                <a:latin typeface="Malgun Gothic"/>
              </a:rPr>
              <a:t>Postponing is free up to 30 minutes before the lesson; renewing extends the same day, time and teacher.</a:t>
            </a:r>
          </a:p>
        </p:txBody>
      </p:sp>
      <p:sp>
        <p:nvSpPr>
          <p:cNvPr id="17" name="Rounded Rectangle 16"/>
          <p:cNvSpPr/>
          <p:nvPr/>
        </p:nvSpPr>
        <p:spPr>
          <a:xfrm>
            <a:off x="457200" y="6976872"/>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22592"/>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Lessons are created after payment is confirmed. Wait a moment right after paying and the schedule will appear.</a:t>
            </a:r>
          </a:p>
        </p:txBody>
      </p:sp>
      <p:sp>
        <p:nvSpPr>
          <p:cNvPr id="19" name="Rounded Rectangle 18"/>
          <p:cNvSpPr/>
          <p:nvPr/>
        </p:nvSpPr>
        <p:spPr>
          <a:xfrm>
            <a:off x="457200" y="7708392"/>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754112"/>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Avoid days with school commitments. Choosing well up front beats rescheduling later.</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Rescue Voyage (Mango Rescue Voyage)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Rescue sea friends while you learn words</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Swept up by a storm, word friends have fallen into the sea — steer your boat and lift them out. Rescue one and its native pronunciation and meaning are revealed; along the way, dodge sea creatures like sharks, turtles and dolphins. After rescuing as many as you can in time, a listen-and-repeat sentence mission follows, built from the words you saved.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 Rescue Voyage in the games hub.</a:t>
            </a:r>
          </a:p>
          <a:p>
            <a:pPr>
              <a:lnSpc>
                <a:spcPct val="115000"/>
              </a:lnSpc>
              <a:spcAft>
                <a:spcPts val="600"/>
              </a:spcAft>
            </a:pPr>
            <a:r>
              <a:rPr sz="1050" b="1">
                <a:solidFill>
                  <a:srgbClr val="7C3AED"/>
                </a:solidFill>
                <a:latin typeface="Malgun Gothic"/>
              </a:rPr>
              <a:t>● </a:t>
            </a:r>
            <a:r>
              <a:rPr sz="1250">
                <a:solidFill>
                  <a:srgbClr val="334155"/>
                </a:solidFill>
                <a:latin typeface="Malgun Gothic"/>
              </a:rPr>
              <a:t>Pick English / 中文 mode and press Start.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Steer your boat to the word friends in the water and lift them out.</a:t>
            </a:r>
          </a:p>
          <a:p>
            <a:pPr>
              <a:lnSpc>
                <a:spcPct val="115000"/>
              </a:lnSpc>
              <a:spcAft>
                <a:spcPts val="600"/>
              </a:spcAft>
            </a:pPr>
            <a:r>
              <a:rPr sz="1050" b="1">
                <a:solidFill>
                  <a:srgbClr val="7C3AED"/>
                </a:solidFill>
                <a:latin typeface="Malgun Gothic"/>
              </a:rPr>
              <a:t>● </a:t>
            </a:r>
            <a:r>
              <a:rPr sz="1250">
                <a:solidFill>
                  <a:srgbClr val="334155"/>
                </a:solidFill>
                <a:latin typeface="Malgun Gothic"/>
              </a:rPr>
              <a:t>Avoid the sharks, turtles and dolphins.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When rescue ends, take on the repeat-the-sentence mission.</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Each rescue plays the native pronunciation, so it's listening practice too.</a:t>
            </a:r>
          </a:p>
          <a:p>
            <a:pPr>
              <a:lnSpc>
                <a:spcPct val="115000"/>
              </a:lnSpc>
              <a:spcAft>
                <a:spcPts val="200"/>
              </a:spcAft>
            </a:pPr>
            <a:r>
              <a:rPr sz="900" b="1">
                <a:solidFill>
                  <a:srgbClr val="7C3AED"/>
                </a:solidFill>
                <a:latin typeface="Malgun Gothic"/>
              </a:rPr>
              <a:t>● </a:t>
            </a:r>
            <a:r>
              <a:rPr sz="1100">
                <a:solidFill>
                  <a:srgbClr val="334155"/>
                </a:solidFill>
                <a:latin typeface="Malgun Gothic"/>
              </a:rPr>
              <a:t>English and Chinese modes play the same way.</a:t>
            </a:r>
          </a:p>
          <a:p>
            <a:pPr>
              <a:lnSpc>
                <a:spcPct val="115000"/>
              </a:lnSpc>
              <a:spcAft>
                <a:spcPts val="200"/>
              </a:spcAft>
            </a:pPr>
            <a:r>
              <a:rPr sz="900" b="1">
                <a:solidFill>
                  <a:srgbClr val="7C3AED"/>
                </a:solidFill>
                <a:latin typeface="Malgun Gothic"/>
              </a:rPr>
              <a:t>● </a:t>
            </a:r>
            <a:r>
              <a:rPr sz="1100">
                <a:solidFill>
                  <a:srgbClr val="334155"/>
                </a:solidFill>
                <a:latin typeface="Malgun Gothic"/>
              </a:rPr>
              <a:t>Lifelike sea creatures make it more immersive.</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This game is motion-heavy. On a slower device, take a short break if it lags.</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The sentence mission from your rescued words is the real review — repeat it aloud, clearly.</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scu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52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[Parents] Pentagon Monthly Report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Five strengths at a glance · print in one tap</a:t>
            </a:r>
          </a:p>
        </p:txBody>
      </p:sp>
      <p:sp>
        <p:nvSpPr>
          <p:cNvPr id="10" name="Rounded Rectangle 9"/>
          <p:cNvSpPr/>
          <p:nvPr/>
        </p:nvSpPr>
        <p:spPr>
          <a:xfrm>
            <a:off x="365760" y="1828800"/>
            <a:ext cx="11430000" cy="77724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report card that shows your child's month across five axes of a pentagon graph — Pronunciation &amp; Fluency / Vocabulary / Sentence Building / Class Attitude / Participation — followed by attendance, judgment index and a teacher's note. The Print/PDF button up top outputs it as-is or saves a file.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7C3AED"/>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7C3AED"/>
                </a:solidFill>
                <a:latin typeface="Malgun Gothic"/>
              </a:rPr>
              <a:t>● </a:t>
            </a:r>
            <a:r>
              <a:rPr sz="1250">
                <a:solidFill>
                  <a:srgbClr val="334155"/>
                </a:solidFill>
                <a:latin typeface="Malgun Gothic"/>
              </a:rPr>
              <a:t>Open the report link you received on KakaoTalk.</a:t>
            </a:r>
          </a:p>
          <a:p>
            <a:pPr>
              <a:lnSpc>
                <a:spcPct val="115000"/>
              </a:lnSpc>
              <a:spcAft>
                <a:spcPts val="600"/>
              </a:spcAft>
            </a:pPr>
            <a:r>
              <a:rPr sz="1050" b="1">
                <a:solidFill>
                  <a:srgbClr val="7C3AED"/>
                </a:solidFill>
                <a:latin typeface="Malgun Gothic"/>
              </a:rPr>
              <a:t>● </a:t>
            </a:r>
            <a:r>
              <a:rPr sz="1250">
                <a:solidFill>
                  <a:srgbClr val="334155"/>
                </a:solidFill>
                <a:latin typeface="Malgun Gothic"/>
              </a:rPr>
              <a:t>Check the balance of the five strengths in the pentagon graph at the top.</a:t>
            </a:r>
          </a:p>
          <a:p>
            <a:pPr>
              <a:lnSpc>
                <a:spcPct val="115000"/>
              </a:lnSpc>
              <a:spcAft>
                <a:spcPts val="600"/>
              </a:spcAft>
            </a:pPr>
            <a:r>
              <a:rPr sz="1050" b="1">
                <a:solidFill>
                  <a:srgbClr val="7C3AED"/>
                </a:solidFill>
                <a:latin typeface="Malgun Gothic"/>
              </a:rPr>
              <a:t>● </a:t>
            </a:r>
            <a:r>
              <a:rPr sz="1250">
                <a:solidFill>
                  <a:srgbClr val="334155"/>
                </a:solidFill>
                <a:latin typeface="Malgun Gothic"/>
              </a:rPr>
              <a:t>Read This Period's Status (attendance, judgment) and the Teacher's Note.</a:t>
            </a:r>
          </a:p>
          <a:p>
            <a:pPr>
              <a:lnSpc>
                <a:spcPct val="115000"/>
              </a:lnSpc>
              <a:spcAft>
                <a:spcPts val="600"/>
              </a:spcAft>
            </a:pPr>
            <a:r>
              <a:rPr sz="1050" b="1">
                <a:solidFill>
                  <a:srgbClr val="7C3AED"/>
                </a:solidFill>
                <a:latin typeface="Malgun Gothic"/>
              </a:rPr>
              <a:t>● </a:t>
            </a:r>
            <a:r>
              <a:rPr sz="1250">
                <a:solidFill>
                  <a:srgbClr val="334155"/>
                </a:solidFill>
                <a:latin typeface="Malgun Gothic"/>
              </a:rPr>
              <a:t>Note the How You Can Help at Home tips.</a:t>
            </a:r>
          </a:p>
          <a:p>
            <a:pPr>
              <a:lnSpc>
                <a:spcPct val="115000"/>
              </a:lnSpc>
              <a:spcAft>
                <a:spcPts val="600"/>
              </a:spcAft>
            </a:pPr>
            <a:r>
              <a:rPr sz="1050" b="1">
                <a:solidFill>
                  <a:srgbClr val="7C3AED"/>
                </a:solidFill>
                <a:latin typeface="Malgun Gothic"/>
              </a:rPr>
              <a:t>● </a:t>
            </a:r>
            <a:r>
              <a:rPr sz="1250">
                <a:solidFill>
                  <a:srgbClr val="334155"/>
                </a:solidFill>
                <a:latin typeface="Malgun Gothic"/>
              </a:rPr>
              <a:t>To keep a paper copy, press 🖨 Print/PDF at the top.</a:t>
            </a:r>
          </a:p>
        </p:txBody>
      </p:sp>
      <p:sp>
        <p:nvSpPr>
          <p:cNvPr id="14" name="Rounded Rectangle 13"/>
          <p:cNvSpPr/>
          <p:nvPr/>
        </p:nvSpPr>
        <p:spPr>
          <a:xfrm>
            <a:off x="457200" y="5166360"/>
            <a:ext cx="5669280" cy="1316736"/>
          </a:xfrm>
          <a:prstGeom prst="roundRect">
            <a:avLst/>
          </a:prstGeom>
          <a:solidFill>
            <a:srgbClr val="F4F7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7C3AED"/>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7C3AED"/>
                </a:solidFill>
                <a:latin typeface="Malgun Gothic"/>
              </a:rPr>
              <a:t>● </a:t>
            </a:r>
            <a:r>
              <a:rPr sz="1100">
                <a:solidFill>
                  <a:srgbClr val="334155"/>
                </a:solidFill>
                <a:latin typeface="Malgun Gothic"/>
              </a:rPr>
              <a:t>Only axes with real records are filled in — no invented numbers.</a:t>
            </a:r>
          </a:p>
          <a:p>
            <a:pPr>
              <a:lnSpc>
                <a:spcPct val="115000"/>
              </a:lnSpc>
              <a:spcAft>
                <a:spcPts val="200"/>
              </a:spcAft>
            </a:pPr>
            <a:r>
              <a:rPr sz="900" b="1">
                <a:solidFill>
                  <a:srgbClr val="7C3AED"/>
                </a:solidFill>
                <a:latin typeface="Malgun Gothic"/>
              </a:rPr>
              <a:t>● </a:t>
            </a:r>
            <a:r>
              <a:rPr sz="1100">
                <a:solidFill>
                  <a:srgbClr val="334155"/>
                </a:solidFill>
                <a:latin typeface="Malgun Gothic"/>
              </a:rPr>
              <a:t>Compiled every two months, so the trend is easy to read.</a:t>
            </a:r>
          </a:p>
          <a:p>
            <a:pPr>
              <a:lnSpc>
                <a:spcPct val="115000"/>
              </a:lnSpc>
              <a:spcAft>
                <a:spcPts val="200"/>
              </a:spcAft>
            </a:pPr>
            <a:r>
              <a:rPr sz="900" b="1">
                <a:solidFill>
                  <a:srgbClr val="7C3AED"/>
                </a:solidFill>
                <a:latin typeface="Malgun Gothic"/>
              </a:rPr>
              <a:t>● </a:t>
            </a:r>
            <a:r>
              <a:rPr sz="1100">
                <a:solidFill>
                  <a:srgbClr val="334155"/>
                </a:solidFill>
                <a:latin typeface="Malgun Gothic"/>
              </a:rPr>
              <a:t>It all fits one screen — a single printed page.</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The report fills in as learning records accumulate. In a low-activity month some axes may look empty.</a:t>
            </a:r>
          </a:p>
        </p:txBody>
      </p:sp>
      <p:sp>
        <p:nvSpPr>
          <p:cNvPr id="19" name="Rounded Rectangle 18"/>
          <p:cNvSpPr/>
          <p:nvPr/>
        </p:nvSpPr>
        <p:spPr>
          <a:xfrm>
            <a:off x="457200" y="7324344"/>
            <a:ext cx="5669280" cy="658368"/>
          </a:xfrm>
          <a:prstGeom prst="roundRect">
            <a:avLst/>
          </a:prstGeom>
          <a:solidFill>
            <a:srgbClr val="FFF7E6"/>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An evenly large pentagon means balanced learning. A dented axis is this month's challenge.</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Feature Summary · Data</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53</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Student Features at a Glance</a:t>
            </a:r>
          </a:p>
        </p:txBody>
      </p:sp>
      <p:graphicFrame>
        <p:nvGraphicFramePr>
          <p:cNvPr id="9" name="Table 8"/>
          <p:cNvGraphicFramePr>
            <a:graphicFrameLocks noGrp="1"/>
          </p:cNvGraphicFramePr>
          <p:nvPr/>
        </p:nvGraphicFramePr>
        <p:xfrm>
          <a:off x="365760" y="1463040"/>
          <a:ext cx="11460175" cy="5029200"/>
        </p:xfrm>
        <a:graphic>
          <a:graphicData uri="http://schemas.openxmlformats.org/drawingml/2006/table">
            <a:tbl>
              <a:tblPr firstRow="1" bandRow="1">
                <a:tableStyleId>{5C22544A-7EE6-4342-B048-85BDC9FD1C3A}</a:tableStyleId>
              </a:tblPr>
              <a:tblGrid>
                <a:gridCol w="2865043"/>
                <a:gridCol w="2865043"/>
                <a:gridCol w="2865043"/>
                <a:gridCol w="2865046"/>
              </a:tblGrid>
              <a:tr h="502920">
                <a:tc>
                  <a:txBody>
                    <a:bodyPr/>
                    <a:lstStyle/>
                    <a:p>
                      <a:pPr algn="ctr"/>
                      <a:r>
                        <a:rPr sz="1300" b="1">
                          <a:solidFill>
                            <a:srgbClr val="FFFFFF"/>
                          </a:solidFill>
                          <a:latin typeface="Malgun Gothic"/>
                        </a:rPr>
                        <a:t>Menu</a:t>
                      </a:r>
                    </a:p>
                  </a:txBody>
                  <a:tcPr>
                    <a:solidFill>
                      <a:srgbClr val="7C3AED"/>
                    </a:solidFill>
                  </a:tcPr>
                </a:tc>
                <a:tc>
                  <a:txBody>
                    <a:bodyPr/>
                    <a:lstStyle/>
                    <a:p>
                      <a:pPr algn="ctr"/>
                      <a:r>
                        <a:rPr sz="1300" b="1">
                          <a:solidFill>
                            <a:srgbClr val="FFFFFF"/>
                          </a:solidFill>
                          <a:latin typeface="Malgun Gothic"/>
                        </a:rPr>
                        <a:t>What it does</a:t>
                      </a:r>
                    </a:p>
                  </a:txBody>
                  <a:tcPr>
                    <a:solidFill>
                      <a:srgbClr val="7C3AED"/>
                    </a:solidFill>
                  </a:tcPr>
                </a:tc>
                <a:tc>
                  <a:txBody>
                    <a:bodyPr/>
                    <a:lstStyle/>
                    <a:p>
                      <a:pPr algn="ctr"/>
                      <a:r>
                        <a:rPr sz="1300" b="1">
                          <a:solidFill>
                            <a:srgbClr val="FFFFFF"/>
                          </a:solidFill>
                          <a:latin typeface="Malgun Gothic"/>
                        </a:rPr>
                        <a:t>When to use</a:t>
                      </a:r>
                    </a:p>
                  </a:txBody>
                  <a:tcPr>
                    <a:solidFill>
                      <a:srgbClr val="7C3AED"/>
                    </a:solidFill>
                  </a:tcPr>
                </a:tc>
                <a:tc>
                  <a:txBody>
                    <a:bodyPr/>
                    <a:lstStyle/>
                    <a:p>
                      <a:pPr algn="ctr"/>
                      <a:r>
                        <a:rPr sz="1300" b="1">
                          <a:solidFill>
                            <a:srgbClr val="FFFFFF"/>
                          </a:solidFill>
                          <a:latin typeface="Malgun Gothic"/>
                        </a:rPr>
                        <a:t>What you gain</a:t>
                      </a:r>
                    </a:p>
                  </a:txBody>
                  <a:tcPr>
                    <a:solidFill>
                      <a:srgbClr val="7C3AED"/>
                    </a:solidFill>
                  </a:tcPr>
                </a:tc>
              </a:tr>
              <a:tr h="502920">
                <a:tc>
                  <a:txBody>
                    <a:bodyPr/>
                    <a:lstStyle/>
                    <a:p>
                      <a:pPr algn="l"/>
                      <a:r>
                        <a:rPr sz="1200" b="1">
                          <a:solidFill>
                            <a:srgbClr val="334155"/>
                          </a:solidFill>
                          <a:latin typeface="Malgun Gothic"/>
                        </a:rPr>
                        <a:t>Video lesson</a:t>
                      </a:r>
                    </a:p>
                  </a:txBody>
                  <a:tcPr>
                    <a:solidFill>
                      <a:srgbClr val="FFFFFF"/>
                    </a:solidFill>
                  </a:tcPr>
                </a:tc>
                <a:tc>
                  <a:txBody>
                    <a:bodyPr/>
                    <a:lstStyle/>
                    <a:p>
                      <a:pPr algn="ctr"/>
                      <a:r>
                        <a:rPr sz="1200">
                          <a:solidFill>
                            <a:srgbClr val="334155"/>
                          </a:solidFill>
                          <a:latin typeface="Malgun Gothic"/>
                        </a:rPr>
                        <a:t>1:1 native lesson</a:t>
                      </a:r>
                    </a:p>
                  </a:txBody>
                  <a:tcPr>
                    <a:solidFill>
                      <a:srgbClr val="FFFFFF"/>
                    </a:solidFill>
                  </a:tcPr>
                </a:tc>
                <a:tc>
                  <a:txBody>
                    <a:bodyPr/>
                    <a:lstStyle/>
                    <a:p>
                      <a:pPr algn="ctr"/>
                      <a:r>
                        <a:rPr sz="1200">
                          <a:solidFill>
                            <a:srgbClr val="334155"/>
                          </a:solidFill>
                          <a:latin typeface="Malgun Gothic"/>
                        </a:rPr>
                        <a:t>At set lesson times</a:t>
                      </a:r>
                    </a:p>
                  </a:txBody>
                  <a:tcPr>
                    <a:solidFill>
                      <a:srgbClr val="FFFFFF"/>
                    </a:solidFill>
                  </a:tcPr>
                </a:tc>
                <a:tc>
                  <a:txBody>
                    <a:bodyPr/>
                    <a:lstStyle/>
                    <a:p>
                      <a:pPr algn="ctr"/>
                      <a:r>
                        <a:rPr sz="1200">
                          <a:solidFill>
                            <a:srgbClr val="334155"/>
                          </a:solidFill>
                          <a:latin typeface="Malgun Gothic"/>
                        </a:rPr>
                        <a:t>Speaking skill ↑</a:t>
                      </a:r>
                    </a:p>
                  </a:txBody>
                  <a:tcPr>
                    <a:solidFill>
                      <a:srgbClr val="FFFFFF"/>
                    </a:solidFill>
                  </a:tcPr>
                </a:tc>
              </a:tr>
              <a:tr h="502920">
                <a:tc>
                  <a:txBody>
                    <a:bodyPr/>
                    <a:lstStyle/>
                    <a:p>
                      <a:pPr algn="l"/>
                      <a:r>
                        <a:rPr sz="1200" b="1">
                          <a:solidFill>
                            <a:srgbClr val="334155"/>
                          </a:solidFill>
                          <a:latin typeface="Malgun Gothic"/>
                        </a:rPr>
                        <a:t>Class toolbar</a:t>
                      </a:r>
                    </a:p>
                  </a:txBody>
                  <a:tcPr>
                    <a:solidFill>
                      <a:srgbClr val="F8FAFC"/>
                    </a:solidFill>
                  </a:tcPr>
                </a:tc>
                <a:tc>
                  <a:txBody>
                    <a:bodyPr/>
                    <a:lstStyle/>
                    <a:p>
                      <a:pPr algn="ctr"/>
                      <a:r>
                        <a:rPr sz="1200">
                          <a:solidFill>
                            <a:srgbClr val="334155"/>
                          </a:solidFill>
                          <a:latin typeface="Malgun Gothic"/>
                        </a:rPr>
                        <a:t>Video·materials·board·chat</a:t>
                      </a:r>
                    </a:p>
                  </a:txBody>
                  <a:tcPr>
                    <a:solidFill>
                      <a:srgbClr val="F8FAFC"/>
                    </a:solidFill>
                  </a:tcPr>
                </a:tc>
                <a:tc>
                  <a:txBody>
                    <a:bodyPr/>
                    <a:lstStyle/>
                    <a:p>
                      <a:pPr algn="ctr"/>
                      <a:r>
                        <a:rPr sz="1200">
                          <a:solidFill>
                            <a:srgbClr val="334155"/>
                          </a:solidFill>
                          <a:latin typeface="Malgun Gothic"/>
                        </a:rPr>
                        <a:t>During class</a:t>
                      </a:r>
                    </a:p>
                  </a:txBody>
                  <a:tcPr>
                    <a:solidFill>
                      <a:srgbClr val="F8FAFC"/>
                    </a:solidFill>
                  </a:tcPr>
                </a:tc>
                <a:tc>
                  <a:txBody>
                    <a:bodyPr/>
                    <a:lstStyle/>
                    <a:p>
                      <a:pPr algn="ctr"/>
                      <a:r>
                        <a:rPr sz="1200">
                          <a:solidFill>
                            <a:srgbClr val="334155"/>
                          </a:solidFill>
                          <a:latin typeface="Malgun Gothic"/>
                        </a:rPr>
                        <a:t>Tool mastery</a:t>
                      </a:r>
                    </a:p>
                  </a:txBody>
                  <a:tcPr>
                    <a:solidFill>
                      <a:srgbClr val="F8FAFC"/>
                    </a:solidFill>
                  </a:tcPr>
                </a:tc>
              </a:tr>
              <a:tr h="502920">
                <a:tc>
                  <a:txBody>
                    <a:bodyPr/>
                    <a:lstStyle/>
                    <a:p>
                      <a:pPr algn="l"/>
                      <a:r>
                        <a:rPr sz="1200" b="1">
                          <a:solidFill>
                            <a:srgbClr val="334155"/>
                          </a:solidFill>
                          <a:latin typeface="Malgun Gothic"/>
                        </a:rPr>
                        <a:t>AI warm-up</a:t>
                      </a:r>
                    </a:p>
                  </a:txBody>
                  <a:tcPr>
                    <a:solidFill>
                      <a:srgbClr val="FFFFFF"/>
                    </a:solidFill>
                  </a:tcPr>
                </a:tc>
                <a:tc>
                  <a:txBody>
                    <a:bodyPr/>
                    <a:lstStyle/>
                    <a:p>
                      <a:pPr algn="ctr"/>
                      <a:r>
                        <a:rPr sz="1200">
                          <a:solidFill>
                            <a:srgbClr val="334155"/>
                          </a:solidFill>
                          <a:latin typeface="Malgun Gothic"/>
                        </a:rPr>
                        <a:t>Pre-class warm-up</a:t>
                      </a:r>
                    </a:p>
                  </a:txBody>
                  <a:tcPr>
                    <a:solidFill>
                      <a:srgbClr val="FFFFFF"/>
                    </a:solidFill>
                  </a:tcPr>
                </a:tc>
                <a:tc>
                  <a:txBody>
                    <a:bodyPr/>
                    <a:lstStyle/>
                    <a:p>
                      <a:pPr algn="ctr"/>
                      <a:r>
                        <a:rPr sz="1200">
                          <a:solidFill>
                            <a:srgbClr val="334155"/>
                          </a:solidFill>
                          <a:latin typeface="Malgun Gothic"/>
                        </a:rPr>
                        <a:t>5 min before class</a:t>
                      </a:r>
                    </a:p>
                  </a:txBody>
                  <a:tcPr>
                    <a:solidFill>
                      <a:srgbClr val="FFFFFF"/>
                    </a:solidFill>
                  </a:tcPr>
                </a:tc>
                <a:tc>
                  <a:txBody>
                    <a:bodyPr/>
                    <a:lstStyle/>
                    <a:p>
                      <a:pPr algn="ctr"/>
                      <a:r>
                        <a:rPr sz="1200">
                          <a:solidFill>
                            <a:srgbClr val="334155"/>
                          </a:solidFill>
                          <a:latin typeface="Malgun Gothic"/>
                        </a:rPr>
                        <a:t>An easy start</a:t>
                      </a:r>
                    </a:p>
                  </a:txBody>
                  <a:tcPr>
                    <a:solidFill>
                      <a:srgbClr val="FFFFFF"/>
                    </a:solidFill>
                  </a:tcPr>
                </a:tc>
              </a:tr>
              <a:tr h="502920">
                <a:tc>
                  <a:txBody>
                    <a:bodyPr/>
                    <a:lstStyle/>
                    <a:p>
                      <a:pPr algn="l"/>
                      <a:r>
                        <a:rPr sz="1200" b="1">
                          <a:solidFill>
                            <a:srgbClr val="334155"/>
                          </a:solidFill>
                          <a:latin typeface="Malgun Gothic"/>
                        </a:rPr>
                        <a:t>AI voice coach</a:t>
                      </a:r>
                    </a:p>
                  </a:txBody>
                  <a:tcPr>
                    <a:solidFill>
                      <a:srgbClr val="F8FAFC"/>
                    </a:solidFill>
                  </a:tcPr>
                </a:tc>
                <a:tc>
                  <a:txBody>
                    <a:bodyPr/>
                    <a:lstStyle/>
                    <a:p>
                      <a:pPr algn="ctr"/>
                      <a:r>
                        <a:rPr sz="1200">
                          <a:solidFill>
                            <a:srgbClr val="334155"/>
                          </a:solidFill>
                          <a:latin typeface="Malgun Gothic"/>
                        </a:rPr>
                        <a:t>Record &amp; fix pronunciation</a:t>
                      </a:r>
                    </a:p>
                  </a:txBody>
                  <a:tcPr>
                    <a:solidFill>
                      <a:srgbClr val="F8FAFC"/>
                    </a:solidFill>
                  </a:tcPr>
                </a:tc>
                <a:tc>
                  <a:txBody>
                    <a:bodyPr/>
                    <a:lstStyle/>
                    <a:p>
                      <a:pPr algn="ctr"/>
                      <a:r>
                        <a:rPr sz="1200">
                          <a:solidFill>
                            <a:srgbClr val="334155"/>
                          </a:solidFill>
                          <a:latin typeface="Malgun Gothic"/>
                        </a:rPr>
                        <a:t>Daily self-study</a:t>
                      </a:r>
                    </a:p>
                  </a:txBody>
                  <a:tcPr>
                    <a:solidFill>
                      <a:srgbClr val="F8FAFC"/>
                    </a:solidFill>
                  </a:tcPr>
                </a:tc>
                <a:tc>
                  <a:txBody>
                    <a:bodyPr/>
                    <a:lstStyle/>
                    <a:p>
                      <a:pPr algn="ctr"/>
                      <a:r>
                        <a:rPr sz="1200">
                          <a:solidFill>
                            <a:srgbClr val="334155"/>
                          </a:solidFill>
                          <a:latin typeface="Malgun Gothic"/>
                        </a:rPr>
                        <a:t>Accurate sounds</a:t>
                      </a:r>
                    </a:p>
                  </a:txBody>
                  <a:tcPr>
                    <a:solidFill>
                      <a:srgbClr val="F8FAFC"/>
                    </a:solidFill>
                  </a:tcPr>
                </a:tc>
              </a:tr>
              <a:tr h="502920">
                <a:tc>
                  <a:txBody>
                    <a:bodyPr/>
                    <a:lstStyle/>
                    <a:p>
                      <a:pPr algn="l"/>
                      <a:r>
                        <a:rPr sz="1200" b="1">
                          <a:solidFill>
                            <a:srgbClr val="334155"/>
                          </a:solidFill>
                          <a:latin typeface="Malgun Gothic"/>
                        </a:rPr>
                        <a:t>Games</a:t>
                      </a:r>
                    </a:p>
                  </a:txBody>
                  <a:tcPr>
                    <a:solidFill>
                      <a:srgbClr val="FFFFFF"/>
                    </a:solidFill>
                  </a:tcPr>
                </a:tc>
                <a:tc>
                  <a:txBody>
                    <a:bodyPr/>
                    <a:lstStyle/>
                    <a:p>
                      <a:pPr algn="ctr"/>
                      <a:r>
                        <a:rPr sz="1200">
                          <a:solidFill>
                            <a:srgbClr val="334155"/>
                          </a:solidFill>
                          <a:latin typeface="Malgun Gothic"/>
                        </a:rPr>
                        <a:t>Review by playing</a:t>
                      </a:r>
                    </a:p>
                  </a:txBody>
                  <a:tcPr>
                    <a:solidFill>
                      <a:srgbClr val="FFFFFF"/>
                    </a:solidFill>
                  </a:tcPr>
                </a:tc>
                <a:tc>
                  <a:txBody>
                    <a:bodyPr/>
                    <a:lstStyle/>
                    <a:p>
                      <a:pPr algn="ctr"/>
                      <a:r>
                        <a:rPr sz="1200">
                          <a:solidFill>
                            <a:srgbClr val="334155"/>
                          </a:solidFill>
                          <a:latin typeface="Malgun Gothic"/>
                        </a:rPr>
                        <a:t>After class</a:t>
                      </a:r>
                    </a:p>
                  </a:txBody>
                  <a:tcPr>
                    <a:solidFill>
                      <a:srgbClr val="FFFFFF"/>
                    </a:solidFill>
                  </a:tcPr>
                </a:tc>
                <a:tc>
                  <a:txBody>
                    <a:bodyPr/>
                    <a:lstStyle/>
                    <a:p>
                      <a:pPr algn="ctr"/>
                      <a:r>
                        <a:rPr sz="1200">
                          <a:solidFill>
                            <a:srgbClr val="334155"/>
                          </a:solidFill>
                          <a:latin typeface="Malgun Gothic"/>
                        </a:rPr>
                        <a:t>Points·memory</a:t>
                      </a:r>
                    </a:p>
                  </a:txBody>
                  <a:tcPr>
                    <a:solidFill>
                      <a:srgbClr val="FFFFFF"/>
                    </a:solidFill>
                  </a:tcPr>
                </a:tc>
              </a:tr>
              <a:tr h="502920">
                <a:tc>
                  <a:txBody>
                    <a:bodyPr/>
                    <a:lstStyle/>
                    <a:p>
                      <a:pPr algn="l"/>
                      <a:r>
                        <a:rPr sz="1200" b="1">
                          <a:solidFill>
                            <a:srgbClr val="334155"/>
                          </a:solidFill>
                          <a:latin typeface="Malgun Gothic"/>
                        </a:rPr>
                        <a:t>Vocabulary</a:t>
                      </a:r>
                    </a:p>
                  </a:txBody>
                  <a:tcPr>
                    <a:solidFill>
                      <a:srgbClr val="F8FAFC"/>
                    </a:solidFill>
                  </a:tcPr>
                </a:tc>
                <a:tc>
                  <a:txBody>
                    <a:bodyPr/>
                    <a:lstStyle/>
                    <a:p>
                      <a:pPr algn="ctr"/>
                      <a:r>
                        <a:rPr sz="1200">
                          <a:solidFill>
                            <a:srgbClr val="334155"/>
                          </a:solidFill>
                          <a:latin typeface="Malgun Gothic"/>
                        </a:rPr>
                        <a:t>Memorize word cards</a:t>
                      </a:r>
                    </a:p>
                  </a:txBody>
                  <a:tcPr>
                    <a:solidFill>
                      <a:srgbClr val="F8FAFC"/>
                    </a:solidFill>
                  </a:tcPr>
                </a:tc>
                <a:tc>
                  <a:txBody>
                    <a:bodyPr/>
                    <a:lstStyle/>
                    <a:p>
                      <a:pPr algn="ctr"/>
                      <a:r>
                        <a:rPr sz="1200">
                          <a:solidFill>
                            <a:srgbClr val="334155"/>
                          </a:solidFill>
                          <a:latin typeface="Malgun Gothic"/>
                        </a:rPr>
                        <a:t>On the go</a:t>
                      </a:r>
                    </a:p>
                  </a:txBody>
                  <a:tcPr>
                    <a:solidFill>
                      <a:srgbClr val="F8FAFC"/>
                    </a:solidFill>
                  </a:tcPr>
                </a:tc>
                <a:tc>
                  <a:txBody>
                    <a:bodyPr/>
                    <a:lstStyle/>
                    <a:p>
                      <a:pPr algn="ctr"/>
                      <a:r>
                        <a:rPr sz="1200">
                          <a:solidFill>
                            <a:srgbClr val="334155"/>
                          </a:solidFill>
                          <a:latin typeface="Malgun Gothic"/>
                        </a:rPr>
                        <a:t>Vocabulary ↑</a:t>
                      </a:r>
                    </a:p>
                  </a:txBody>
                  <a:tcPr>
                    <a:solidFill>
                      <a:srgbClr val="F8FAFC"/>
                    </a:solidFill>
                  </a:tcPr>
                </a:tc>
              </a:tr>
              <a:tr h="502920">
                <a:tc>
                  <a:txBody>
                    <a:bodyPr/>
                    <a:lstStyle/>
                    <a:p>
                      <a:pPr algn="l"/>
                      <a:r>
                        <a:rPr sz="1200" b="1">
                          <a:solidFill>
                            <a:srgbClr val="334155"/>
                          </a:solidFill>
                          <a:latin typeface="Malgun Gothic"/>
                        </a:rPr>
                        <a:t>AI friend</a:t>
                      </a:r>
                    </a:p>
                  </a:txBody>
                  <a:tcPr>
                    <a:solidFill>
                      <a:srgbClr val="FFFFFF"/>
                    </a:solidFill>
                  </a:tcPr>
                </a:tc>
                <a:tc>
                  <a:txBody>
                    <a:bodyPr/>
                    <a:lstStyle/>
                    <a:p>
                      <a:pPr algn="ctr"/>
                      <a:r>
                        <a:rPr sz="1200">
                          <a:solidFill>
                            <a:srgbClr val="334155"/>
                          </a:solidFill>
                          <a:latin typeface="Malgun Gothic"/>
                        </a:rPr>
                        <a:t>Free English chat</a:t>
                      </a:r>
                    </a:p>
                  </a:txBody>
                  <a:tcPr>
                    <a:solidFill>
                      <a:srgbClr val="FFFFFF"/>
                    </a:solidFill>
                  </a:tcPr>
                </a:tc>
                <a:tc>
                  <a:txBody>
                    <a:bodyPr/>
                    <a:lstStyle/>
                    <a:p>
                      <a:pPr algn="ctr"/>
                      <a:r>
                        <a:rPr sz="1200">
                          <a:solidFill>
                            <a:srgbClr val="334155"/>
                          </a:solidFill>
                          <a:latin typeface="Malgun Gothic"/>
                        </a:rPr>
                        <a:t>When bored</a:t>
                      </a:r>
                    </a:p>
                  </a:txBody>
                  <a:tcPr>
                    <a:solidFill>
                      <a:srgbClr val="FFFFFF"/>
                    </a:solidFill>
                  </a:tcPr>
                </a:tc>
                <a:tc>
                  <a:txBody>
                    <a:bodyPr/>
                    <a:lstStyle/>
                    <a:p>
                      <a:pPr algn="ctr"/>
                      <a:r>
                        <a:rPr sz="1200">
                          <a:solidFill>
                            <a:srgbClr val="334155"/>
                          </a:solidFill>
                          <a:latin typeface="Malgun Gothic"/>
                        </a:rPr>
                        <a:t>Speaking confidence</a:t>
                      </a:r>
                    </a:p>
                  </a:txBody>
                  <a:tcPr>
                    <a:solidFill>
                      <a:srgbClr val="FFFFFF"/>
                    </a:solidFill>
                  </a:tcPr>
                </a:tc>
              </a:tr>
              <a:tr h="502920">
                <a:tc>
                  <a:txBody>
                    <a:bodyPr/>
                    <a:lstStyle/>
                    <a:p>
                      <a:pPr algn="l"/>
                      <a:r>
                        <a:rPr sz="1200" b="1">
                          <a:solidFill>
                            <a:srgbClr val="334155"/>
                          </a:solidFill>
                          <a:latin typeface="Malgun Gothic"/>
                        </a:rPr>
                        <a:t>Streak</a:t>
                      </a:r>
                    </a:p>
                  </a:txBody>
                  <a:tcPr>
                    <a:solidFill>
                      <a:srgbClr val="F8FAFC"/>
                    </a:solidFill>
                  </a:tcPr>
                </a:tc>
                <a:tc>
                  <a:txBody>
                    <a:bodyPr/>
                    <a:lstStyle/>
                    <a:p>
                      <a:pPr algn="ctr"/>
                      <a:r>
                        <a:rPr sz="1200">
                          <a:solidFill>
                            <a:srgbClr val="334155"/>
                          </a:solidFill>
                          <a:latin typeface="Malgun Gothic"/>
                        </a:rPr>
                        <a:t>Daily study flame</a:t>
                      </a:r>
                    </a:p>
                  </a:txBody>
                  <a:tcPr>
                    <a:solidFill>
                      <a:srgbClr val="F8FAFC"/>
                    </a:solidFill>
                  </a:tcPr>
                </a:tc>
                <a:tc>
                  <a:txBody>
                    <a:bodyPr/>
                    <a:lstStyle/>
                    <a:p>
                      <a:pPr algn="ctr"/>
                      <a:r>
                        <a:rPr sz="1200">
                          <a:solidFill>
                            <a:srgbClr val="334155"/>
                          </a:solidFill>
                          <a:latin typeface="Malgun Gothic"/>
                        </a:rPr>
                        <a:t>Every day</a:t>
                      </a:r>
                    </a:p>
                  </a:txBody>
                  <a:tcPr>
                    <a:solidFill>
                      <a:srgbClr val="F8FAFC"/>
                    </a:solidFill>
                  </a:tcPr>
                </a:tc>
                <a:tc>
                  <a:txBody>
                    <a:bodyPr/>
                    <a:lstStyle/>
                    <a:p>
                      <a:pPr algn="ctr"/>
                      <a:r>
                        <a:rPr sz="1200">
                          <a:solidFill>
                            <a:srgbClr val="334155"/>
                          </a:solidFill>
                          <a:latin typeface="Malgun Gothic"/>
                        </a:rPr>
                        <a:t>Badges·habit</a:t>
                      </a:r>
                    </a:p>
                  </a:txBody>
                  <a:tcPr>
                    <a:solidFill>
                      <a:srgbClr val="F8FAFC"/>
                    </a:solidFill>
                  </a:tcPr>
                </a:tc>
              </a:tr>
              <a:tr h="502920">
                <a:tc>
                  <a:txBody>
                    <a:bodyPr/>
                    <a:lstStyle/>
                    <a:p>
                      <a:pPr algn="l"/>
                      <a:r>
                        <a:rPr sz="1200" b="1">
                          <a:solidFill>
                            <a:srgbClr val="334155"/>
                          </a:solidFill>
                          <a:latin typeface="Malgun Gothic"/>
                        </a:rPr>
                        <a:t>Level test</a:t>
                      </a:r>
                    </a:p>
                  </a:txBody>
                  <a:tcPr>
                    <a:solidFill>
                      <a:srgbClr val="FFFFFF"/>
                    </a:solidFill>
                  </a:tcPr>
                </a:tc>
                <a:tc>
                  <a:txBody>
                    <a:bodyPr/>
                    <a:lstStyle/>
                    <a:p>
                      <a:pPr algn="ctr"/>
                      <a:r>
                        <a:rPr sz="1200">
                          <a:solidFill>
                            <a:srgbClr val="334155"/>
                          </a:solidFill>
                          <a:latin typeface="Malgun Gothic"/>
                        </a:rPr>
                        <a:t>Assess your level</a:t>
                      </a:r>
                    </a:p>
                  </a:txBody>
                  <a:tcPr>
                    <a:solidFill>
                      <a:srgbClr val="FFFFFF"/>
                    </a:solidFill>
                  </a:tcPr>
                </a:tc>
                <a:tc>
                  <a:txBody>
                    <a:bodyPr/>
                    <a:lstStyle/>
                    <a:p>
                      <a:pPr algn="ctr"/>
                      <a:r>
                        <a:rPr sz="1200">
                          <a:solidFill>
                            <a:srgbClr val="334155"/>
                          </a:solidFill>
                          <a:latin typeface="Malgun Gothic"/>
                        </a:rPr>
                        <a:t>Start &amp; periodically</a:t>
                      </a:r>
                    </a:p>
                  </a:txBody>
                  <a:tcPr>
                    <a:solidFill>
                      <a:srgbClr val="FFFFFF"/>
                    </a:solidFill>
                  </a:tcPr>
                </a:tc>
                <a:tc>
                  <a:txBody>
                    <a:bodyPr/>
                    <a:lstStyle/>
                    <a:p>
                      <a:pPr algn="ctr"/>
                      <a:r>
                        <a:rPr sz="1200">
                          <a:solidFill>
                            <a:srgbClr val="334155"/>
                          </a:solidFill>
                          <a:latin typeface="Malgun Gothic"/>
                        </a:rPr>
                        <a:t>Tailored lessons</a:t>
                      </a:r>
                    </a:p>
                  </a:txBody>
                  <a:tcPr>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Data at a Glance</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54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Data at a Glance</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Skills Each Game Practices</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Keep it up and… (example points)</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Frequently Asked Questions (FAQ)</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55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Frequently Asked Questions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What do I use to connect?</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Phone, tablet and PC all work. We recommend Chrome or Edge. No app install needed.</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How do I enter a lesson?</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Tap the invite link or lesson card, enter your name, press 'Enter', then 'Allow' camera and mic.</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No sound or video.</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Check that you pressed 'Allow' for camera/mic, and reopen in Chrome/Edge. Inside KakaoTalk, choose 'open in another browser'.</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How do I see the textbook in class?</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Press the 'Materials' tab at the top to see what the teacher uploaded. Switch board/chat with tabs too.</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What are points for?</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Use points earned from studying and games to get rewards in the shop, roulette, etc.</a:t>
            </a:r>
          </a:p>
        </p:txBody>
      </p:sp>
      <p:sp>
        <p:nvSpPr>
          <p:cNvPr id="24" name="Rounded Rectangle 23"/>
          <p:cNvSpPr/>
          <p:nvPr/>
        </p:nvSpPr>
        <p:spPr>
          <a:xfrm>
            <a:off x="365760" y="649224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65392"/>
            <a:ext cx="11094415" cy="365760"/>
          </a:xfrm>
          <a:prstGeom prst="rect">
            <a:avLst/>
          </a:prstGeom>
          <a:noFill/>
        </p:spPr>
        <p:txBody>
          <a:bodyPr wrap="square" anchor="t">
            <a:spAutoFit/>
          </a:bodyPr>
          <a:lstStyle/>
          <a:p>
            <a:pPr algn="l">
              <a:lnSpc>
                <a:spcPct val="100000"/>
              </a:lnSpc>
            </a:pPr>
            <a:r>
              <a:rPr sz="1350" b="1">
                <a:solidFill>
                  <a:srgbClr val="7C3AED"/>
                </a:solidFill>
                <a:latin typeface="Malgun Gothic"/>
              </a:rPr>
              <a:t>Q. English feels hard.</a:t>
            </a:r>
          </a:p>
        </p:txBody>
      </p:sp>
      <p:sp>
        <p:nvSpPr>
          <p:cNvPr id="26" name="TextBox 25"/>
          <p:cNvSpPr txBox="1"/>
          <p:nvPr/>
        </p:nvSpPr>
        <p:spPr>
          <a:xfrm>
            <a:off x="548640" y="690372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The AI friend and voice coach are fine with mistakes. A level test matches your level so it gets easier.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3F0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Checklist</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56</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7C3AED"/>
                </a:solidFill>
                <a:latin typeface="Malgun Gothic"/>
              </a:rPr>
              <a:t>✅ Pre-class Checklist</a:t>
            </a:r>
          </a:p>
        </p:txBody>
      </p:sp>
      <p:sp>
        <p:nvSpPr>
          <p:cNvPr id="9" name="Rounded Rectangle 8"/>
          <p:cNvSpPr/>
          <p:nvPr/>
        </p:nvSpPr>
        <p:spPr>
          <a:xfrm>
            <a:off x="457200" y="1645920"/>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connect with Chrome/Edge?</a:t>
            </a:r>
          </a:p>
        </p:txBody>
      </p:sp>
      <p:sp>
        <p:nvSpPr>
          <p:cNvPr id="11" name="Rounded Rectangle 10"/>
          <p:cNvSpPr/>
          <p:nvPr/>
        </p:nvSpPr>
        <p:spPr>
          <a:xfrm>
            <a:off x="457200" y="2212848"/>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'Allow' the camera and mic?</a:t>
            </a:r>
          </a:p>
        </p:txBody>
      </p:sp>
      <p:sp>
        <p:nvSpPr>
          <p:cNvPr id="13" name="Rounded Rectangle 12"/>
          <p:cNvSpPr/>
          <p:nvPr/>
        </p:nvSpPr>
        <p:spPr>
          <a:xfrm>
            <a:off x="457200" y="2779776"/>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Is your face well-lit and visible?</a:t>
            </a:r>
          </a:p>
        </p:txBody>
      </p:sp>
      <p:sp>
        <p:nvSpPr>
          <p:cNvPr id="15" name="Rounded Rectangle 14"/>
          <p:cNvSpPr/>
          <p:nvPr/>
        </p:nvSpPr>
        <p:spPr>
          <a:xfrm>
            <a:off x="457200" y="3346704"/>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connect earphones (a headset)?</a:t>
            </a:r>
          </a:p>
        </p:txBody>
      </p:sp>
      <p:sp>
        <p:nvSpPr>
          <p:cNvPr id="17" name="Rounded Rectangle 16"/>
          <p:cNvSpPr/>
          <p:nvPr/>
        </p:nvSpPr>
        <p:spPr>
          <a:xfrm>
            <a:off x="457200" y="3913632"/>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warm up with the AI before class?</a:t>
            </a:r>
          </a:p>
        </p:txBody>
      </p:sp>
      <p:sp>
        <p:nvSpPr>
          <p:cNvPr id="19" name="Rounded Rectangle 18"/>
          <p:cNvSpPr/>
          <p:nvPr/>
        </p:nvSpPr>
        <p:spPr>
          <a:xfrm>
            <a:off x="457200" y="4480560"/>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Are your textbook and pen ready?</a:t>
            </a:r>
          </a:p>
        </p:txBody>
      </p:sp>
      <p:sp>
        <p:nvSpPr>
          <p:cNvPr id="21" name="Rounded Rectangle 20"/>
          <p:cNvSpPr/>
          <p:nvPr/>
        </p:nvSpPr>
        <p:spPr>
          <a:xfrm>
            <a:off x="457200" y="5047488"/>
            <a:ext cx="292608" cy="292608"/>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enter 5 minutes before class?</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Student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Conclusion</a:t>
            </a:r>
          </a:p>
        </p:txBody>
      </p:sp>
      <p:sp>
        <p:nvSpPr>
          <p:cNvPr id="6" name="Rounded Rectangle 5"/>
          <p:cNvSpPr/>
          <p:nvPr/>
        </p:nvSpPr>
        <p:spPr>
          <a:xfrm>
            <a:off x="365760" y="841248"/>
            <a:ext cx="658368"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57</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7C3AED"/>
                </a:solidFill>
                <a:latin typeface="Malgun Gothic"/>
              </a:rPr>
              <a:t>🏁 Conclusion · Your Mangoi Routine — Easy on Your Own!</a:t>
            </a:r>
          </a:p>
        </p:txBody>
      </p:sp>
      <p:sp>
        <p:nvSpPr>
          <p:cNvPr id="9" name="Rounded Rectangle 8"/>
          <p:cNvSpPr/>
          <p:nvPr/>
        </p:nvSpPr>
        <p:spPr>
          <a:xfrm>
            <a:off x="365760" y="1371600"/>
            <a:ext cx="11430000" cy="868680"/>
          </a:xfrm>
          <a:prstGeom prst="round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Now you know how to use Mangoi! Finally, here's one page on how to study through the day and the habits that make you improve fast. Keep just this page in mind and you can study on your own with ease.</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7C3AED"/>
                </a:solidFill>
                <a:latin typeface="Malgun Gothic"/>
              </a:rPr>
              <a:t>🔄 The Flow at a Glance</a:t>
            </a:r>
          </a:p>
        </p:txBody>
      </p:sp>
      <p:sp>
        <p:nvSpPr>
          <p:cNvPr id="12" name="Rounded Rectangle 11"/>
          <p:cNvSpPr/>
          <p:nvPr/>
        </p:nvSpPr>
        <p:spPr>
          <a:xfrm>
            <a:off x="457200" y="27889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Before class (5–10 min)</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My Page → 🎥 Pre-check camera/mic, warm up with the 🔥 AI warm-up</a:t>
            </a:r>
          </a:p>
        </p:txBody>
      </p:sp>
      <p:sp>
        <p:nvSpPr>
          <p:cNvPr id="15" name="Rounded Rectangle 14"/>
          <p:cNvSpPr/>
          <p:nvPr/>
        </p:nvSpPr>
        <p:spPr>
          <a:xfrm>
            <a:off x="457200" y="32461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Enter class</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Enter Class button → type your name → 'Allow' camera and mic</a:t>
            </a:r>
          </a:p>
        </p:txBody>
      </p:sp>
      <p:sp>
        <p:nvSpPr>
          <p:cNvPr id="18" name="Rounded Rectangle 17"/>
          <p:cNvSpPr/>
          <p:nvPr/>
        </p:nvSpPr>
        <p:spPr>
          <a:xfrm>
            <a:off x="457200" y="37033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During class</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Answer with your mic · 💬 ask in chat · 🖊 write on the board together · 🌟 earn praise points</a:t>
            </a:r>
          </a:p>
        </p:txBody>
      </p:sp>
      <p:sp>
        <p:nvSpPr>
          <p:cNvPr id="21" name="Rounded Rectangle 20"/>
          <p:cNvSpPr/>
          <p:nvPr/>
        </p:nvSpPr>
        <p:spPr>
          <a:xfrm>
            <a:off x="457200" y="41605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After class</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Review quiz 'Yes' → ⭐ star rating (+10P) → 🎮 review today's words with a game</a:t>
            </a:r>
          </a:p>
        </p:txBody>
      </p:sp>
      <p:sp>
        <p:nvSpPr>
          <p:cNvPr id="24" name="Rounded Rectangle 23"/>
          <p:cNvSpPr/>
          <p:nvPr/>
        </p:nvSpPr>
        <p:spPr>
          <a:xfrm>
            <a:off x="457200" y="4617720"/>
            <a:ext cx="1600200" cy="38404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A little every day</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Keep your attendance flame · 📚 vocabulary · 🤖 AI friend · 🎙️ voice-coach pronunciation</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7C3AED"/>
                </a:solidFill>
                <a:latin typeface="Malgun Gothic"/>
              </a:rPr>
              <a:t>⭐ Key Principles</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7C3AED"/>
                </a:solidFill>
                <a:latin typeface="Malgun Gothic"/>
              </a:rPr>
              <a:t>● </a:t>
            </a:r>
            <a:r>
              <a:rPr sz="1100">
                <a:solidFill>
                  <a:srgbClr val="334155"/>
                </a:solidFill>
                <a:latin typeface="Malgun Gothic"/>
              </a:rPr>
              <a:t>A little every day — even short, daily practice keeps your attendance flame alive.</a:t>
            </a:r>
          </a:p>
          <a:p>
            <a:pPr>
              <a:lnSpc>
                <a:spcPct val="115000"/>
              </a:lnSpc>
              <a:spcAft>
                <a:spcPts val="500"/>
              </a:spcAft>
            </a:pPr>
            <a:r>
              <a:rPr sz="900" b="1">
                <a:solidFill>
                  <a:srgbClr val="7C3AED"/>
                </a:solidFill>
                <a:latin typeface="Malgun Gothic"/>
              </a:rPr>
              <a:t>● </a:t>
            </a:r>
            <a:r>
              <a:rPr sz="1100">
                <a:solidFill>
                  <a:srgbClr val="334155"/>
                </a:solidFill>
                <a:latin typeface="Malgun Gothic"/>
              </a:rPr>
              <a:t>Speak a lot — mistakes are fine! The more you say aloud, the faster you grow.</a:t>
            </a:r>
          </a:p>
          <a:p>
            <a:pPr>
              <a:lnSpc>
                <a:spcPct val="115000"/>
              </a:lnSpc>
              <a:spcAft>
                <a:spcPts val="500"/>
              </a:spcAft>
            </a:pPr>
            <a:r>
              <a:rPr sz="900" b="1">
                <a:solidFill>
                  <a:srgbClr val="7C3AED"/>
                </a:solidFill>
                <a:latin typeface="Malgun Gothic"/>
              </a:rPr>
              <a:t>● </a:t>
            </a:r>
            <a:r>
              <a:rPr sz="1100">
                <a:solidFill>
                  <a:srgbClr val="334155"/>
                </a:solidFill>
                <a:latin typeface="Malgun Gothic"/>
              </a:rPr>
              <a:t>Review right after class — a quiz/game right away doubles what you remember.</a:t>
            </a:r>
          </a:p>
          <a:p>
            <a:pPr>
              <a:lnSpc>
                <a:spcPct val="115000"/>
              </a:lnSpc>
              <a:spcAft>
                <a:spcPts val="500"/>
              </a:spcAft>
            </a:pPr>
            <a:r>
              <a:rPr sz="900" b="1">
                <a:solidFill>
                  <a:srgbClr val="7C3AED"/>
                </a:solidFill>
                <a:latin typeface="Malgun Gothic"/>
              </a:rPr>
              <a:t>● </a:t>
            </a:r>
            <a:r>
              <a:rPr sz="1100">
                <a:solidFill>
                  <a:srgbClr val="334155"/>
                </a:solidFill>
                <a:latin typeface="Malgun Gothic"/>
              </a:rPr>
              <a:t>Have fun with games — today's words appear in games, so you review while playing.</a:t>
            </a:r>
          </a:p>
          <a:p>
            <a:pPr>
              <a:lnSpc>
                <a:spcPct val="115000"/>
              </a:lnSpc>
              <a:spcAft>
                <a:spcPts val="500"/>
              </a:spcAft>
            </a:pPr>
            <a:r>
              <a:rPr sz="900" b="1">
                <a:solidFill>
                  <a:srgbClr val="7C3AED"/>
                </a:solidFill>
                <a:latin typeface="Malgun Gothic"/>
              </a:rPr>
              <a:t>● </a:t>
            </a:r>
            <a:r>
              <a:rPr sz="1100">
                <a:solidFill>
                  <a:srgbClr val="334155"/>
                </a:solidFill>
                <a:latin typeface="Malgun Gothic"/>
              </a:rPr>
              <a:t>Check what you don't know — don't skip unknown words; check meaning and pronunciation.</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7C3AED"/>
                </a:solidFill>
                <a:latin typeface="Malgun Gothic"/>
              </a:rPr>
              <a:t>📌 Remember</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F9F1C"/>
                </a:solidFill>
                <a:latin typeface="Malgun Gothic"/>
              </a:rPr>
              <a:t>● </a:t>
            </a:r>
            <a:r>
              <a:rPr sz="1050">
                <a:solidFill>
                  <a:srgbClr val="334155"/>
                </a:solidFill>
                <a:latin typeface="Malgun Gothic"/>
              </a:rPr>
              <a:t>Connect in Chrome/Edge and be sure to 'Allow' camera·mic (inside KakaoTalk, open another browser)</a:t>
            </a:r>
          </a:p>
          <a:p>
            <a:pPr>
              <a:lnSpc>
                <a:spcPct val="115000"/>
              </a:lnSpc>
              <a:spcAft>
                <a:spcPts val="400"/>
              </a:spcAft>
            </a:pPr>
            <a:r>
              <a:rPr sz="850" b="1">
                <a:solidFill>
                  <a:srgbClr val="FF9F1C"/>
                </a:solidFill>
                <a:latin typeface="Malgun Gothic"/>
              </a:rPr>
              <a:t>● </a:t>
            </a:r>
            <a:r>
              <a:rPr sz="1050">
                <a:solidFill>
                  <a:srgbClr val="334155"/>
                </a:solidFill>
                <a:latin typeface="Malgun Gothic"/>
              </a:rPr>
              <a:t>Points build from study, games and in-class 🌟 praise — spend them in the shop/roulette</a:t>
            </a:r>
          </a:p>
          <a:p>
            <a:pPr>
              <a:lnSpc>
                <a:spcPct val="115000"/>
              </a:lnSpc>
              <a:spcAft>
                <a:spcPts val="400"/>
              </a:spcAft>
            </a:pPr>
            <a:r>
              <a:rPr sz="850" b="1">
                <a:solidFill>
                  <a:srgbClr val="FF9F1C"/>
                </a:solidFill>
                <a:latin typeface="Malgun Gothic"/>
              </a:rPr>
              <a:t>● </a:t>
            </a:r>
            <a:r>
              <a:rPr sz="1050">
                <a:solidFill>
                  <a:srgbClr val="334155"/>
                </a:solidFill>
                <a:latin typeface="Malgun Gothic"/>
              </a:rPr>
              <a:t>If English is hard, the AI friend/voice-coach are fine with mistakes; use the level test to match your level</a:t>
            </a:r>
          </a:p>
          <a:p>
            <a:pPr>
              <a:lnSpc>
                <a:spcPct val="115000"/>
              </a:lnSpc>
              <a:spcAft>
                <a:spcPts val="400"/>
              </a:spcAft>
            </a:pPr>
            <a:r>
              <a:rPr sz="850" b="1">
                <a:solidFill>
                  <a:srgbClr val="FF9F1C"/>
                </a:solidFill>
                <a:latin typeface="Malgun Gothic"/>
              </a:rPr>
              <a:t>● </a:t>
            </a:r>
            <a:r>
              <a:rPr sz="1050">
                <a:solidFill>
                  <a:srgbClr val="334155"/>
                </a:solidFill>
                <a:latin typeface="Malgun Gothic"/>
              </a:rPr>
              <a:t>Study rhythm: 'Warm-up → Class → Praise → Review'!</a:t>
            </a:r>
          </a:p>
        </p:txBody>
      </p:sp>
      <p:sp>
        <p:nvSpPr>
          <p:cNvPr id="31" name="Rounded Rectangle 30"/>
          <p:cNvSpPr/>
          <p:nvPr/>
        </p:nvSpPr>
        <p:spPr>
          <a:xfrm>
            <a:off x="457200" y="6172200"/>
            <a:ext cx="11338560" cy="566928"/>
          </a:xfrm>
          <a:prstGeom prst="roundRect">
            <a:avLst/>
          </a:prstGeom>
          <a:solidFill>
            <a:srgbClr val="F3F0FF"/>
          </a:solidFill>
          <a:ln w="12700">
            <a:solidFill>
              <a:srgbClr val="FF9F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The friend who keeps at it a little every day ends up best at English. Don't fear mistakes — speak all you want. Your Mangoi friends are always cheering for you. You've got this today too!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4F46E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Let's grow together with Mangoi!</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Questions? Ask the on-site A.i assistant or contact customer support.</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