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a:t>
            </a:r>
          </a:p>
        </p:txBody>
      </p:sp>
      <p:sp>
        <p:nvSpPr>
          <p:cNvPr id="9" name="Rounded Rectangle 8"/>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Getting Started &amp; Home</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a:t>
            </a:r>
          </a:p>
        </p:txBody>
      </p:sp>
      <p:sp>
        <p:nvSpPr>
          <p:cNvPr id="13" name="Rounded Rectangle 12"/>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a Video Lesson</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a:t>
            </a:r>
          </a:p>
        </p:txBody>
      </p:sp>
      <p:sp>
        <p:nvSpPr>
          <p:cNvPr id="17" name="Rounded Rectangle 16"/>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Classroom at a Glance</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7</a:t>
            </a:r>
          </a:p>
        </p:txBody>
      </p:sp>
      <p:sp>
        <p:nvSpPr>
          <p:cNvPr id="21" name="Rounded Rectangle 20"/>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Switching the 6 Top Tabs</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8</a:t>
            </a:r>
          </a:p>
        </p:txBody>
      </p:sp>
      <p:sp>
        <p:nvSpPr>
          <p:cNvPr id="25" name="Rounded Rectangle 24"/>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Board Tools, One by One</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9</a:t>
            </a:r>
          </a:p>
        </p:txBody>
      </p:sp>
      <p:sp>
        <p:nvSpPr>
          <p:cNvPr id="29" name="Rounded Rectangle 28"/>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Materials Tools (share PDF/photos)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10</a:t>
            </a:r>
          </a:p>
        </p:txBody>
      </p:sp>
      <p:sp>
        <p:nvSpPr>
          <p:cNvPr id="33" name="Rounded Rectangle 32"/>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Writing Tools (annotate on top)</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11</a:t>
            </a:r>
          </a:p>
        </p:txBody>
      </p:sp>
      <p:sp>
        <p:nvSpPr>
          <p:cNvPr id="37" name="Rounded Rectangle 36"/>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Watch Video Together</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12</a:t>
            </a:r>
          </a:p>
        </p:txBody>
      </p:sp>
      <p:sp>
        <p:nvSpPr>
          <p:cNvPr id="41" name="Rounded Rectangle 40"/>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Background &amp; Face Decorations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13</a:t>
            </a:r>
          </a:p>
        </p:txBody>
      </p:sp>
      <p:sp>
        <p:nvSpPr>
          <p:cNvPr id="45" name="Rounded Rectangle 44"/>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Resize &amp; Arrange the Screen</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14</a:t>
            </a:r>
          </a:p>
        </p:txBody>
      </p:sp>
      <p:sp>
        <p:nvSpPr>
          <p:cNvPr id="49" name="Rounded Rectangle 48"/>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Praise Points During Class</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15</a:t>
            </a:r>
          </a:p>
        </p:txBody>
      </p:sp>
      <p:sp>
        <p:nvSpPr>
          <p:cNvPr id="53" name="Rounded Rectangle 52"/>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Bottom Dock &amp; Praise Basket</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16</a:t>
            </a:r>
          </a:p>
        </p:txBody>
      </p:sp>
      <p:sp>
        <p:nvSpPr>
          <p:cNvPr id="57" name="Rounded Rectangle 56"/>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How to Join In During Class</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17</a:t>
            </a:r>
          </a:p>
        </p:txBody>
      </p:sp>
      <p:sp>
        <p:nvSpPr>
          <p:cNvPr id="61" name="Rounded Rectangle 60"/>
          <p:cNvSpPr/>
          <p:nvPr/>
        </p:nvSpPr>
        <p:spPr>
          <a:xfrm>
            <a:off x="411480"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After Class — Review &amp; Rating</a:t>
            </a:r>
          </a:p>
        </p:txBody>
      </p:sp>
      <p:sp>
        <p:nvSpPr>
          <p:cNvPr id="64" name="TextBox 63"/>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18</a:t>
            </a:r>
          </a:p>
        </p:txBody>
      </p:sp>
      <p:sp>
        <p:nvSpPr>
          <p:cNvPr id="65" name="Rounded Rectangle 64"/>
          <p:cNvSpPr/>
          <p:nvPr/>
        </p:nvSpPr>
        <p:spPr>
          <a:xfrm>
            <a:off x="411480" y="55961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1480" y="55778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886968" y="55686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Pre-class Device Check</a:t>
            </a:r>
          </a:p>
        </p:txBody>
      </p:sp>
      <p:sp>
        <p:nvSpPr>
          <p:cNvPr id="68" name="TextBox 67"/>
          <p:cNvSpPr txBox="1"/>
          <p:nvPr/>
        </p:nvSpPr>
        <p:spPr>
          <a:xfrm>
            <a:off x="5483199" y="55686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19</a:t>
            </a:r>
          </a:p>
        </p:txBody>
      </p:sp>
      <p:sp>
        <p:nvSpPr>
          <p:cNvPr id="69" name="Rounded Rectangle 68"/>
          <p:cNvSpPr/>
          <p:nvPr/>
        </p:nvSpPr>
        <p:spPr>
          <a:xfrm>
            <a:off x="411480" y="58704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11480" y="58521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886968" y="58430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Warm Up with AI</a:t>
            </a:r>
          </a:p>
        </p:txBody>
      </p:sp>
      <p:sp>
        <p:nvSpPr>
          <p:cNvPr id="72" name="TextBox 71"/>
          <p:cNvSpPr txBox="1"/>
          <p:nvPr/>
        </p:nvSpPr>
        <p:spPr>
          <a:xfrm>
            <a:off x="5483199" y="58430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20</a:t>
            </a:r>
          </a:p>
        </p:txBody>
      </p:sp>
      <p:sp>
        <p:nvSpPr>
          <p:cNvPr id="73" name="Rounded Rectangle 72"/>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Pronunciation Coach</a:t>
            </a:r>
          </a:p>
        </p:txBody>
      </p:sp>
      <p:sp>
        <p:nvSpPr>
          <p:cNvPr id="76" name="TextBox 7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21</a:t>
            </a:r>
          </a:p>
        </p:txBody>
      </p:sp>
      <p:sp>
        <p:nvSpPr>
          <p:cNvPr id="77" name="Rounded Rectangle 76"/>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Take a Level Test</a:t>
            </a:r>
          </a:p>
        </p:txBody>
      </p:sp>
      <p:sp>
        <p:nvSpPr>
          <p:cNvPr id="80" name="TextBox 7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22</a:t>
            </a:r>
          </a:p>
        </p:txBody>
      </p:sp>
      <p:sp>
        <p:nvSpPr>
          <p:cNvPr id="81" name="Rounded Rectangle 80"/>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Level · Curriculum</a:t>
            </a:r>
          </a:p>
        </p:txBody>
      </p:sp>
      <p:sp>
        <p:nvSpPr>
          <p:cNvPr id="84" name="TextBox 8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23</a:t>
            </a:r>
          </a:p>
        </p:txBody>
      </p:sp>
      <p:sp>
        <p:nvSpPr>
          <p:cNvPr id="85" name="Rounded Rectangle 84"/>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Learning Games Hub</a:t>
            </a:r>
          </a:p>
        </p:txBody>
      </p:sp>
      <p:sp>
        <p:nvSpPr>
          <p:cNvPr id="88" name="TextBox 8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24</a:t>
            </a:r>
          </a:p>
        </p:txBody>
      </p:sp>
      <p:sp>
        <p:nvSpPr>
          <p:cNvPr id="89" name="Rounded Rectangle 88"/>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3D Battle</a:t>
            </a:r>
          </a:p>
        </p:txBody>
      </p:sp>
      <p:sp>
        <p:nvSpPr>
          <p:cNvPr id="92" name="TextBox 9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25</a:t>
            </a:r>
          </a:p>
        </p:txBody>
      </p:sp>
      <p:sp>
        <p:nvSpPr>
          <p:cNvPr id="93" name="Rounded Rectangle 92"/>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Shooting · Mastery Games</a:t>
            </a:r>
          </a:p>
        </p:txBody>
      </p:sp>
      <p:sp>
        <p:nvSpPr>
          <p:cNvPr id="96" name="TextBox 9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26</a:t>
            </a:r>
          </a:p>
        </p:txBody>
      </p:sp>
      <p:sp>
        <p:nvSpPr>
          <p:cNvPr id="97" name="Rounded Rectangle 96"/>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Word Fighter (zombies)</a:t>
            </a:r>
          </a:p>
        </p:txBody>
      </p:sp>
      <p:sp>
        <p:nvSpPr>
          <p:cNvPr id="100" name="TextBox 9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27</a:t>
            </a:r>
          </a:p>
        </p:txBody>
      </p:sp>
      <p:sp>
        <p:nvSpPr>
          <p:cNvPr id="101" name="Rounded Rectangle 100"/>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Suspect Mystery</a:t>
            </a:r>
          </a:p>
        </p:txBody>
      </p:sp>
      <p:sp>
        <p:nvSpPr>
          <p:cNvPr id="104" name="TextBox 10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28</a:t>
            </a:r>
          </a:p>
        </p:txBody>
      </p:sp>
      <p:sp>
        <p:nvSpPr>
          <p:cNvPr id="105" name="Rounded Rectangle 104"/>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Speaking Quiz</a:t>
            </a:r>
          </a:p>
        </p:txBody>
      </p:sp>
      <p:sp>
        <p:nvSpPr>
          <p:cNvPr id="108" name="TextBox 10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29</a:t>
            </a:r>
          </a:p>
        </p:txBody>
      </p:sp>
      <p:sp>
        <p:nvSpPr>
          <p:cNvPr id="109" name="Rounded Rectangle 108"/>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Review Quiz</a:t>
            </a:r>
          </a:p>
        </p:txBody>
      </p:sp>
      <p:sp>
        <p:nvSpPr>
          <p:cNvPr id="112" name="TextBox 11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30</a:t>
            </a:r>
          </a:p>
        </p:txBody>
      </p:sp>
      <p:sp>
        <p:nvSpPr>
          <p:cNvPr id="113" name="Rounded Rectangle 112"/>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Vocab</a:t>
            </a:r>
          </a:p>
        </p:txBody>
      </p:sp>
      <p:sp>
        <p:nvSpPr>
          <p:cNvPr id="116" name="TextBox 11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31</a:t>
            </a:r>
          </a:p>
        </p:txBody>
      </p:sp>
      <p:sp>
        <p:nvSpPr>
          <p:cNvPr id="117" name="Rounded Rectangle 116"/>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119" name="TextBox 11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Friend (Mango)</a:t>
            </a:r>
          </a:p>
        </p:txBody>
      </p:sp>
      <p:sp>
        <p:nvSpPr>
          <p:cNvPr id="120" name="TextBox 11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32</a:t>
            </a:r>
          </a:p>
        </p:txBody>
      </p:sp>
      <p:sp>
        <p:nvSpPr>
          <p:cNvPr id="121" name="Rounded Rectangle 120"/>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23" name="TextBox 122"/>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Writing</a:t>
            </a:r>
          </a:p>
        </p:txBody>
      </p:sp>
      <p:sp>
        <p:nvSpPr>
          <p:cNvPr id="124" name="TextBox 123"/>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33</a:t>
            </a:r>
          </a:p>
        </p:txBody>
      </p:sp>
      <p:sp>
        <p:nvSpPr>
          <p:cNvPr id="125" name="Rounded Rectangle 124"/>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127" name="TextBox 126"/>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Attendance Streak · Badges</a:t>
            </a:r>
          </a:p>
        </p:txBody>
      </p:sp>
      <p:sp>
        <p:nvSpPr>
          <p:cNvPr id="128" name="TextBox 127"/>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34</a:t>
            </a:r>
          </a:p>
        </p:txBody>
      </p:sp>
      <p:sp>
        <p:nvSpPr>
          <p:cNvPr id="129" name="Rounded Rectangle 128"/>
          <p:cNvSpPr/>
          <p:nvPr/>
        </p:nvSpPr>
        <p:spPr>
          <a:xfrm>
            <a:off x="6141567"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6141567"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131" name="TextBox 130"/>
          <p:cNvSpPr txBox="1"/>
          <p:nvPr/>
        </p:nvSpPr>
        <p:spPr>
          <a:xfrm>
            <a:off x="6617055"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MBTI Style Test</a:t>
            </a:r>
          </a:p>
        </p:txBody>
      </p:sp>
      <p:sp>
        <p:nvSpPr>
          <p:cNvPr id="132" name="TextBox 131"/>
          <p:cNvSpPr txBox="1"/>
          <p:nvPr/>
        </p:nvSpPr>
        <p:spPr>
          <a:xfrm>
            <a:off x="11213287"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35</a:t>
            </a:r>
          </a:p>
        </p:txBody>
      </p:sp>
      <p:sp>
        <p:nvSpPr>
          <p:cNvPr id="133" name="Rounded Rectangle 132"/>
          <p:cNvSpPr/>
          <p:nvPr/>
        </p:nvSpPr>
        <p:spPr>
          <a:xfrm>
            <a:off x="6141567" y="55961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1567" y="55778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135" name="TextBox 134"/>
          <p:cNvSpPr txBox="1"/>
          <p:nvPr/>
        </p:nvSpPr>
        <p:spPr>
          <a:xfrm>
            <a:off x="6617055" y="55686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 a Lesson</a:t>
            </a:r>
          </a:p>
        </p:txBody>
      </p:sp>
      <p:sp>
        <p:nvSpPr>
          <p:cNvPr id="136" name="TextBox 135"/>
          <p:cNvSpPr txBox="1"/>
          <p:nvPr/>
        </p:nvSpPr>
        <p:spPr>
          <a:xfrm>
            <a:off x="11213287" y="55686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Contents  (2/2)</a:t>
            </a:r>
          </a:p>
        </p:txBody>
      </p:sp>
      <p:sp>
        <p:nvSpPr>
          <p:cNvPr id="7" name="Rounded Rectangle 6"/>
          <p:cNvSpPr/>
          <p:nvPr/>
        </p:nvSpPr>
        <p:spPr>
          <a:xfrm>
            <a:off x="411480"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Postpone · Change a Lesson</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37</a:t>
            </a:r>
          </a:p>
        </p:txBody>
      </p:sp>
      <p:sp>
        <p:nvSpPr>
          <p:cNvPr id="11" name="Rounded Rectangle 10"/>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[Parents] See Your Child's Learning</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38</a:t>
            </a:r>
          </a:p>
        </p:txBody>
      </p:sp>
      <p:sp>
        <p:nvSpPr>
          <p:cNvPr id="15" name="Rounded Rectangle 14"/>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[Parents] Payment · Postpone · Refund</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39</a:t>
            </a:r>
          </a:p>
        </p:txBody>
      </p:sp>
      <p:sp>
        <p:nvSpPr>
          <p:cNvPr id="19" name="Rounded Rectangle 18"/>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40</a:t>
            </a:r>
          </a:p>
        </p:txBody>
      </p:sp>
      <p:sp>
        <p:nvSpPr>
          <p:cNvPr id="23" name="Rounded Rectangle 22"/>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41</a:t>
            </a:r>
          </a:p>
        </p:txBody>
      </p:sp>
      <p:sp>
        <p:nvSpPr>
          <p:cNvPr id="27" name="Rounded Rectangle 26"/>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Voice Diary</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42</a:t>
            </a:r>
          </a:p>
        </p:txBody>
      </p:sp>
      <p:sp>
        <p:nvSpPr>
          <p:cNvPr id="31" name="Rounded Rectangle 30"/>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Where to next? (Learning-flow guide)</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43</a:t>
            </a:r>
          </a:p>
        </p:txBody>
      </p:sp>
      <p:sp>
        <p:nvSpPr>
          <p:cNvPr id="35" name="Rounded Rectangle 34"/>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Ask the A.i Assistant</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44</a:t>
            </a:r>
          </a:p>
        </p:txBody>
      </p:sp>
      <p:sp>
        <p:nvSpPr>
          <p:cNvPr id="39" name="Rounded Rectangle 38"/>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 Classroom Comforts</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45</a:t>
            </a:r>
          </a:p>
        </p:txBody>
      </p:sp>
      <p:sp>
        <p:nvSpPr>
          <p:cNvPr id="43" name="Rounded Rectangle 42"/>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Private Chat &amp; File Sharing</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46</a:t>
            </a:r>
          </a:p>
        </p:txBody>
      </p:sp>
      <p:sp>
        <p:nvSpPr>
          <p:cNvPr id="47" name="Rounded Rectangle 46"/>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Home Screen: Bright · Dark</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47</a:t>
            </a:r>
          </a:p>
        </p:txBody>
      </p:sp>
      <p:sp>
        <p:nvSpPr>
          <p:cNvPr id="51" name="Rounded Rectangle 50"/>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Judgment Training (pick the right words)</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48</a:t>
            </a:r>
          </a:p>
        </p:txBody>
      </p:sp>
      <p:sp>
        <p:nvSpPr>
          <p:cNvPr id="55" name="Rounded Rectangle 54"/>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57" name="TextBox 56"/>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Grammar Pizza Master (word order)</a:t>
            </a:r>
          </a:p>
        </p:txBody>
      </p:sp>
      <p:sp>
        <p:nvSpPr>
          <p:cNvPr id="58" name="TextBox 57"/>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49</a:t>
            </a:r>
          </a:p>
        </p:txBody>
      </p:sp>
      <p:sp>
        <p:nvSpPr>
          <p:cNvPr id="59" name="Rounded Rectangle 58"/>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61" name="TextBox 60"/>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Word Tetris</a:t>
            </a:r>
          </a:p>
        </p:txBody>
      </p:sp>
      <p:sp>
        <p:nvSpPr>
          <p:cNvPr id="62" name="TextBox 61"/>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50</a:t>
            </a:r>
          </a:p>
        </p:txBody>
      </p:sp>
      <p:sp>
        <p:nvSpPr>
          <p:cNvPr id="63" name="Rounded Rectangle 62"/>
          <p:cNvSpPr/>
          <p:nvPr/>
        </p:nvSpPr>
        <p:spPr>
          <a:xfrm>
            <a:off x="411480"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65" name="TextBox 64"/>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Tank Battle · Language Ace</a:t>
            </a:r>
          </a:p>
        </p:txBody>
      </p:sp>
      <p:sp>
        <p:nvSpPr>
          <p:cNvPr id="66" name="TextBox 65"/>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51</a:t>
            </a:r>
          </a:p>
        </p:txBody>
      </p:sp>
      <p:sp>
        <p:nvSpPr>
          <p:cNvPr id="67" name="Rounded Rectangle 66"/>
          <p:cNvSpPr/>
          <p:nvPr/>
        </p:nvSpPr>
        <p:spPr>
          <a:xfrm>
            <a:off x="411480" y="55961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5778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48</a:t>
            </a:r>
          </a:p>
        </p:txBody>
      </p:sp>
      <p:sp>
        <p:nvSpPr>
          <p:cNvPr id="69" name="TextBox 68"/>
          <p:cNvSpPr txBox="1"/>
          <p:nvPr/>
        </p:nvSpPr>
        <p:spPr>
          <a:xfrm>
            <a:off x="886968" y="55686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Log in with your face or fingerprint (passkey)</a:t>
            </a:r>
          </a:p>
        </p:txBody>
      </p:sp>
      <p:sp>
        <p:nvSpPr>
          <p:cNvPr id="70" name="TextBox 69"/>
          <p:cNvSpPr txBox="1"/>
          <p:nvPr/>
        </p:nvSpPr>
        <p:spPr>
          <a:xfrm>
            <a:off x="5483199" y="55686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52</a:t>
            </a:r>
          </a:p>
        </p:txBody>
      </p:sp>
      <p:sp>
        <p:nvSpPr>
          <p:cNvPr id="71" name="Rounded Rectangle 70"/>
          <p:cNvSpPr/>
          <p:nvPr/>
        </p:nvSpPr>
        <p:spPr>
          <a:xfrm>
            <a:off x="411480" y="58704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1480" y="58521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49</a:t>
            </a:r>
          </a:p>
        </p:txBody>
      </p:sp>
      <p:sp>
        <p:nvSpPr>
          <p:cNvPr id="73" name="TextBox 72"/>
          <p:cNvSpPr txBox="1"/>
          <p:nvPr/>
        </p:nvSpPr>
        <p:spPr>
          <a:xfrm>
            <a:off x="886968" y="58430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Your speaking isn't cut off any more · a smarter AI friend</a:t>
            </a:r>
          </a:p>
        </p:txBody>
      </p:sp>
      <p:sp>
        <p:nvSpPr>
          <p:cNvPr id="74" name="TextBox 73"/>
          <p:cNvSpPr txBox="1"/>
          <p:nvPr/>
        </p:nvSpPr>
        <p:spPr>
          <a:xfrm>
            <a:off x="5483199" y="58430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53</a:t>
            </a:r>
          </a:p>
        </p:txBody>
      </p:sp>
      <p:sp>
        <p:nvSpPr>
          <p:cNvPr id="75" name="Rounded Rectangle 74"/>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50</a:t>
            </a:r>
          </a:p>
        </p:txBody>
      </p:sp>
      <p:sp>
        <p:nvSpPr>
          <p:cNvPr id="77" name="TextBox 7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 and pay in one go</a:t>
            </a:r>
          </a:p>
        </p:txBody>
      </p:sp>
      <p:sp>
        <p:nvSpPr>
          <p:cNvPr id="78" name="TextBox 7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54</a:t>
            </a:r>
          </a:p>
        </p:txBody>
      </p:sp>
      <p:sp>
        <p:nvSpPr>
          <p:cNvPr id="79" name="Rounded Rectangle 78"/>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51</a:t>
            </a:r>
          </a:p>
        </p:txBody>
      </p:sp>
      <p:sp>
        <p:nvSpPr>
          <p:cNvPr id="81" name="TextBox 8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Rescue Voyage (Mango Rescue Voyage)</a:t>
            </a:r>
          </a:p>
        </p:txBody>
      </p:sp>
      <p:sp>
        <p:nvSpPr>
          <p:cNvPr id="82" name="TextBox 8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55</a:t>
            </a:r>
          </a:p>
        </p:txBody>
      </p:sp>
      <p:sp>
        <p:nvSpPr>
          <p:cNvPr id="83" name="Rounded Rectangle 82"/>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52</a:t>
            </a:r>
          </a:p>
        </p:txBody>
      </p:sp>
      <p:sp>
        <p:nvSpPr>
          <p:cNvPr id="85" name="TextBox 8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[Parents] Pentagon Monthly Report</a:t>
            </a:r>
          </a:p>
        </p:txBody>
      </p:sp>
      <p:sp>
        <p:nvSpPr>
          <p:cNvPr id="86" name="TextBox 8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56</a:t>
            </a:r>
          </a:p>
        </p:txBody>
      </p:sp>
      <p:sp>
        <p:nvSpPr>
          <p:cNvPr id="87" name="Rounded Rectangle 86"/>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53</a:t>
            </a:r>
          </a:p>
        </p:txBody>
      </p:sp>
      <p:sp>
        <p:nvSpPr>
          <p:cNvPr id="89" name="TextBox 8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First Screen Adapts to You</a:t>
            </a:r>
          </a:p>
        </p:txBody>
      </p:sp>
      <p:sp>
        <p:nvSpPr>
          <p:cNvPr id="90" name="TextBox 8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57</a:t>
            </a:r>
          </a:p>
        </p:txBody>
      </p:sp>
      <p:sp>
        <p:nvSpPr>
          <p:cNvPr id="91" name="Rounded Rectangle 90"/>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54</a:t>
            </a:r>
          </a:p>
        </p:txBody>
      </p:sp>
      <p:sp>
        <p:nvSpPr>
          <p:cNvPr id="93" name="TextBox 9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Escape by Voice</a:t>
            </a:r>
          </a:p>
        </p:txBody>
      </p:sp>
      <p:sp>
        <p:nvSpPr>
          <p:cNvPr id="94" name="TextBox 9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58</a:t>
            </a:r>
          </a:p>
        </p:txBody>
      </p:sp>
      <p:sp>
        <p:nvSpPr>
          <p:cNvPr id="95" name="Rounded Rectangle 94"/>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55</a:t>
            </a:r>
          </a:p>
        </p:txBody>
      </p:sp>
      <p:sp>
        <p:nvSpPr>
          <p:cNvPr id="97" name="TextBox 9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Vocabulary, Redesigned (6 tabs, preview included)</a:t>
            </a:r>
          </a:p>
        </p:txBody>
      </p:sp>
      <p:sp>
        <p:nvSpPr>
          <p:cNvPr id="98" name="TextBox 9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59</a:t>
            </a:r>
          </a:p>
        </p:txBody>
      </p:sp>
      <p:sp>
        <p:nvSpPr>
          <p:cNvPr id="99" name="Rounded Rectangle 98"/>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56</a:t>
            </a:r>
          </a:p>
        </p:txBody>
      </p:sp>
      <p:sp>
        <p:nvSpPr>
          <p:cNvPr id="101" name="TextBox 10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If You Forget Your Password (reset by SMS)</a:t>
            </a:r>
          </a:p>
        </p:txBody>
      </p:sp>
      <p:sp>
        <p:nvSpPr>
          <p:cNvPr id="102" name="TextBox 10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60</a:t>
            </a:r>
          </a:p>
        </p:txBody>
      </p:sp>
      <p:sp>
        <p:nvSpPr>
          <p:cNvPr id="103" name="Rounded Rectangle 102"/>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57</a:t>
            </a:r>
          </a:p>
        </p:txBody>
      </p:sp>
      <p:sp>
        <p:nvSpPr>
          <p:cNvPr id="105" name="TextBox 10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Payment Made Simpler (choose who it's for first)</a:t>
            </a:r>
          </a:p>
        </p:txBody>
      </p:sp>
      <p:sp>
        <p:nvSpPr>
          <p:cNvPr id="106" name="TextBox 10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61</a:t>
            </a:r>
          </a:p>
        </p:txBody>
      </p:sp>
      <p:sp>
        <p:nvSpPr>
          <p:cNvPr id="107" name="Rounded Rectangle 106"/>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58</a:t>
            </a:r>
          </a:p>
        </p:txBody>
      </p:sp>
      <p:sp>
        <p:nvSpPr>
          <p:cNvPr id="109" name="TextBox 10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See a Sample Report Card Without an Account</a:t>
            </a:r>
          </a:p>
        </p:txBody>
      </p:sp>
      <p:sp>
        <p:nvSpPr>
          <p:cNvPr id="110" name="TextBox 10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62</a:t>
            </a:r>
          </a:p>
        </p:txBody>
      </p:sp>
      <p:sp>
        <p:nvSpPr>
          <p:cNvPr id="111" name="Rounded Rectangle 110"/>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59</a:t>
            </a:r>
          </a:p>
        </p:txBody>
      </p:sp>
      <p:sp>
        <p:nvSpPr>
          <p:cNvPr id="113" name="TextBox 11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Parent Menu Is Now in Four Groups</a:t>
            </a:r>
          </a:p>
        </p:txBody>
      </p:sp>
      <p:sp>
        <p:nvSpPr>
          <p:cNvPr id="114" name="TextBox 11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63</a:t>
            </a:r>
          </a:p>
        </p:txBody>
      </p:sp>
      <p:sp>
        <p:nvSpPr>
          <p:cNvPr id="115" name="Rounded Rectangle 114"/>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60</a:t>
            </a:r>
          </a:p>
        </p:txBody>
      </p:sp>
      <p:sp>
        <p:nvSpPr>
          <p:cNvPr id="117" name="TextBox 11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KakaoTalk Is the Fastest Way to Reach Us</a:t>
            </a:r>
          </a:p>
        </p:txBody>
      </p:sp>
      <p:sp>
        <p:nvSpPr>
          <p:cNvPr id="118" name="TextBox 11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64</a:t>
            </a:r>
          </a:p>
        </p:txBody>
      </p:sp>
      <p:sp>
        <p:nvSpPr>
          <p:cNvPr id="119" name="Rounded Rectangle 118"/>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61</a:t>
            </a:r>
          </a:p>
        </p:txBody>
      </p:sp>
      <p:sp>
        <p:nvSpPr>
          <p:cNvPr id="121" name="TextBox 12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122" name="TextBox 12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65</a:t>
            </a:r>
          </a:p>
        </p:txBody>
      </p:sp>
      <p:sp>
        <p:nvSpPr>
          <p:cNvPr id="123" name="Rounded Rectangle 122"/>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62</a:t>
            </a:r>
          </a:p>
        </p:txBody>
      </p:sp>
      <p:sp>
        <p:nvSpPr>
          <p:cNvPr id="125" name="TextBox 124"/>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26" name="TextBox 125"/>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66</a:t>
            </a:r>
          </a:p>
        </p:txBody>
      </p:sp>
      <p:sp>
        <p:nvSpPr>
          <p:cNvPr id="127" name="Rounded Rectangle 126"/>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63</a:t>
            </a:r>
          </a:p>
        </p:txBody>
      </p:sp>
      <p:sp>
        <p:nvSpPr>
          <p:cNvPr id="129" name="TextBox 128"/>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30" name="TextBox 129"/>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67</a:t>
            </a:r>
          </a:p>
        </p:txBody>
      </p:sp>
      <p:sp>
        <p:nvSpPr>
          <p:cNvPr id="131" name="Rounded Rectangle 130"/>
          <p:cNvSpPr/>
          <p:nvPr/>
        </p:nvSpPr>
        <p:spPr>
          <a:xfrm>
            <a:off x="6141567"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141567"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64</a:t>
            </a:r>
          </a:p>
        </p:txBody>
      </p:sp>
      <p:sp>
        <p:nvSpPr>
          <p:cNvPr id="133" name="TextBox 132"/>
          <p:cNvSpPr txBox="1"/>
          <p:nvPr/>
        </p:nvSpPr>
        <p:spPr>
          <a:xfrm>
            <a:off x="6617055"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34" name="TextBox 133"/>
          <p:cNvSpPr txBox="1"/>
          <p:nvPr/>
        </p:nvSpPr>
        <p:spPr>
          <a:xfrm>
            <a:off x="11213287"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68</a:t>
            </a:r>
          </a:p>
        </p:txBody>
      </p:sp>
      <p:sp>
        <p:nvSpPr>
          <p:cNvPr id="135" name="Rounded Rectangle 134"/>
          <p:cNvSpPr/>
          <p:nvPr/>
        </p:nvSpPr>
        <p:spPr>
          <a:xfrm>
            <a:off x="6141567" y="55961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141567" y="55778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65</a:t>
            </a:r>
          </a:p>
        </p:txBody>
      </p:sp>
      <p:sp>
        <p:nvSpPr>
          <p:cNvPr id="137" name="TextBox 136"/>
          <p:cNvSpPr txBox="1"/>
          <p:nvPr/>
        </p:nvSpPr>
        <p:spPr>
          <a:xfrm>
            <a:off x="6617055" y="55686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38" name="TextBox 137"/>
          <p:cNvSpPr txBox="1"/>
          <p:nvPr/>
        </p:nvSpPr>
        <p:spPr>
          <a:xfrm>
            <a:off x="11213287" y="55686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Go to www.mangoi.co.kr in your browser and log in (social login works too).</a:t>
            </a:r>
          </a:p>
          <a:p>
            <a:pPr>
              <a:lnSpc>
                <a:spcPct val="115000"/>
              </a:lnSpc>
              <a:spcAft>
                <a:spcPts val="300"/>
              </a:spcAft>
            </a:pPr>
            <a:r>
              <a:rPr sz="700" b="1">
                <a:solidFill>
                  <a:srgbClr val="7C3AED"/>
                </a:solidFill>
                <a:latin typeface="Malgun Gothic"/>
              </a:rPr>
              <a:t>● </a:t>
            </a:r>
            <a:r>
              <a:rPr sz="900">
                <a:solidFill>
                  <a:srgbClr val="334155"/>
                </a:solidFill>
                <a:latin typeface="Malgun Gothic"/>
              </a:rPr>
              <a:t>Check your name and points (P) at the top-right to confirm you're logged in.</a:t>
            </a:r>
          </a:p>
          <a:p>
            <a:pPr>
              <a:lnSpc>
                <a:spcPct val="115000"/>
              </a:lnSpc>
              <a:spcAft>
                <a:spcPts val="300"/>
              </a:spcAft>
            </a:pPr>
            <a:r>
              <a:rPr sz="700" b="1">
                <a:solidFill>
                  <a:srgbClr val="7C3AED"/>
                </a:solidFill>
                <a:latin typeface="Malgun Gothic"/>
              </a:rPr>
              <a:t>● </a:t>
            </a:r>
            <a:r>
              <a:rPr sz="900">
                <a:solidFill>
                  <a:srgbClr val="334155"/>
                </a:solidFill>
                <a:latin typeface="Malgun Gothic"/>
              </a:rPr>
              <a:t>Tap the 'Open' tab on the left to expand the menu sidebar.</a:t>
            </a:r>
          </a:p>
          <a:p>
            <a:pPr>
              <a:lnSpc>
                <a:spcPct val="115000"/>
              </a:lnSpc>
              <a:spcAft>
                <a:spcPts val="300"/>
              </a:spcAft>
            </a:pPr>
            <a:r>
              <a:rPr sz="700" b="1">
                <a:solidFill>
                  <a:srgbClr val="7C3AED"/>
                </a:solidFill>
                <a:latin typeface="Malgun Gothic"/>
              </a:rPr>
              <a:t>● </a:t>
            </a:r>
            <a:r>
              <a:rPr sz="900">
                <a:solidFill>
                  <a:srgbClr val="334155"/>
                </a:solidFill>
                <a:latin typeface="Malgun Gothic"/>
              </a:rPr>
              <a:t>Ask the A.i assistant at the bottom-right anything you're curious about.</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the EN button to switch the on-screen text to English.</a:t>
            </a:r>
          </a:p>
        </p:txBody>
      </p:sp>
      <p:sp>
        <p:nvSpPr>
          <p:cNvPr id="14" name="Rounded Rectangle 13"/>
          <p:cNvSpPr/>
          <p:nvPr/>
        </p:nvSpPr>
        <p:spPr>
          <a:xfrm>
            <a:off x="457200" y="6085332"/>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377940"/>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No app install — a web browser is all you need.</a:t>
            </a:r>
          </a:p>
          <a:p>
            <a:pPr>
              <a:lnSpc>
                <a:spcPct val="115000"/>
              </a:lnSpc>
              <a:spcAft>
                <a:spcPts val="100"/>
              </a:spcAft>
            </a:pPr>
            <a:r>
              <a:rPr sz="650" b="1">
                <a:solidFill>
                  <a:srgbClr val="7C3AED"/>
                </a:solidFill>
                <a:latin typeface="Malgun Gothic"/>
              </a:rPr>
              <a:t>● </a:t>
            </a:r>
            <a:r>
              <a:rPr sz="850">
                <a:solidFill>
                  <a:srgbClr val="334155"/>
                </a:solidFill>
                <a:latin typeface="Malgun Gothic"/>
              </a:rPr>
              <a:t>'Add Mangoi app' at the bottom of home creates a home-screen icon.</a:t>
            </a:r>
          </a:p>
          <a:p>
            <a:pPr>
              <a:lnSpc>
                <a:spcPct val="115000"/>
              </a:lnSpc>
              <a:spcAft>
                <a:spcPts val="100"/>
              </a:spcAft>
            </a:pPr>
            <a:r>
              <a:rPr sz="650" b="1">
                <a:solidFill>
                  <a:srgbClr val="7C3AED"/>
                </a:solidFill>
                <a:latin typeface="Malgun Gothic"/>
              </a:rPr>
              <a:t>● </a:t>
            </a:r>
            <a:r>
              <a:rPr sz="850">
                <a:solidFill>
                  <a:srgbClr val="334155"/>
                </a:solidFill>
                <a:latin typeface="Malgun Gothic"/>
              </a:rPr>
              <a:t>Study on phone, tablet or PC with the same account, anywhere.</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Turn on auto-login only on your own trusted device so you don't type it every time.</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8673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6903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690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17078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www.mangoi…</a:t>
            </a:r>
          </a:p>
        </p:txBody>
      </p:sp>
      <p:sp>
        <p:nvSpPr>
          <p:cNvPr id="26" name="TextBox 25"/>
          <p:cNvSpPr txBox="1"/>
          <p:nvPr/>
        </p:nvSpPr>
        <p:spPr>
          <a:xfrm>
            <a:off x="344363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62651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0880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088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1055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name and p…</a:t>
            </a:r>
          </a:p>
        </p:txBody>
      </p:sp>
      <p:sp>
        <p:nvSpPr>
          <p:cNvPr id="31" name="TextBox 30"/>
          <p:cNvSpPr txBox="1"/>
          <p:nvPr/>
        </p:nvSpPr>
        <p:spPr>
          <a:xfrm>
            <a:off x="528340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466283"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54857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485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850331"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tab</a:t>
            </a:r>
          </a:p>
        </p:txBody>
      </p:sp>
      <p:sp>
        <p:nvSpPr>
          <p:cNvPr id="36" name="TextBox 35"/>
          <p:cNvSpPr txBox="1"/>
          <p:nvPr/>
        </p:nvSpPr>
        <p:spPr>
          <a:xfrm>
            <a:off x="696589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14877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23107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31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53282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assist…</a:t>
            </a:r>
          </a:p>
        </p:txBody>
      </p:sp>
      <p:sp>
        <p:nvSpPr>
          <p:cNvPr id="41" name="TextBox 40"/>
          <p:cNvSpPr txBox="1"/>
          <p:nvPr/>
        </p:nvSpPr>
        <p:spPr>
          <a:xfrm>
            <a:off x="880567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8988552"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07084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37260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 button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Tap the invite link you received, or the today's lesson card on the site.</a:t>
            </a:r>
          </a:p>
          <a:p>
            <a:pPr>
              <a:lnSpc>
                <a:spcPct val="115000"/>
              </a:lnSpc>
              <a:spcAft>
                <a:spcPts val="300"/>
              </a:spcAft>
            </a:pPr>
            <a:r>
              <a:rPr sz="700" b="1">
                <a:solidFill>
                  <a:srgbClr val="7C3AED"/>
                </a:solidFill>
                <a:latin typeface="Malgun Gothic"/>
              </a:rPr>
              <a:t>● </a:t>
            </a:r>
            <a:r>
              <a:rPr sz="900">
                <a:solidFill>
                  <a:srgbClr val="334155"/>
                </a:solidFill>
                <a:latin typeface="Malgun Gothic"/>
              </a:rPr>
              <a:t>Enter your name (the room code is usually filled in; if empty, you go to the shared room).</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the Enter button.</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the browser asks, press 'Allow' for camera and mic — that connects your face and voice.</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you see your teacher, say hello and start the lesson!</a:t>
            </a:r>
          </a:p>
        </p:txBody>
      </p:sp>
      <p:sp>
        <p:nvSpPr>
          <p:cNvPr id="14" name="Rounded Rectangle 13"/>
          <p:cNvSpPr/>
          <p:nvPr/>
        </p:nvSpPr>
        <p:spPr>
          <a:xfrm>
            <a:off x="457200" y="6085332"/>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377940"/>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It works best opened in Chrome or Edge.</a:t>
            </a:r>
          </a:p>
          <a:p>
            <a:pPr>
              <a:lnSpc>
                <a:spcPct val="115000"/>
              </a:lnSpc>
              <a:spcAft>
                <a:spcPts val="100"/>
              </a:spcAft>
            </a:pPr>
            <a:r>
              <a:rPr sz="650" b="1">
                <a:solidFill>
                  <a:srgbClr val="7C3AED"/>
                </a:solidFill>
                <a:latin typeface="Malgun Gothic"/>
              </a:rPr>
              <a:t>● </a:t>
            </a:r>
            <a:r>
              <a:rPr sz="850">
                <a:solidFill>
                  <a:srgbClr val="334155"/>
                </a:solidFill>
                <a:latin typeface="Malgun Gothic"/>
              </a:rPr>
              <a:t>Opening the link inside KakaoTalk may block the camera → choose 'open in another browser'.</a:t>
            </a:r>
          </a:p>
          <a:p>
            <a:pPr>
              <a:lnSpc>
                <a:spcPct val="115000"/>
              </a:lnSpc>
              <a:spcAft>
                <a:spcPts val="100"/>
              </a:spcAft>
            </a:pPr>
            <a:r>
              <a:rPr sz="650" b="1">
                <a:solidFill>
                  <a:srgbClr val="7C3AED"/>
                </a:solidFill>
                <a:latin typeface="Malgun Gothic"/>
              </a:rPr>
              <a:t>● </a:t>
            </a:r>
            <a:r>
              <a:rPr sz="850">
                <a:solidFill>
                  <a:srgbClr val="334155"/>
                </a:solidFill>
                <a:latin typeface="Malgun Gothic"/>
              </a:rPr>
              <a:t>A headset makes the sound clearer and cuts noise.</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sound/video won't work, refresh the page and 'Allow' camera and mic again.</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Enter 5 minutes early to check your face and sound — it puts you at ease.</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2407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0637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063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0812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invite lin…</a:t>
            </a:r>
          </a:p>
        </p:txBody>
      </p:sp>
      <p:sp>
        <p:nvSpPr>
          <p:cNvPr id="28" name="TextBox 27"/>
          <p:cNvSpPr txBox="1"/>
          <p:nvPr/>
        </p:nvSpPr>
        <p:spPr>
          <a:xfrm>
            <a:off x="408096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263847"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34614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61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647895"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name</a:t>
            </a:r>
          </a:p>
        </p:txBody>
      </p:sp>
      <p:sp>
        <p:nvSpPr>
          <p:cNvPr id="33" name="TextBox 32"/>
          <p:cNvSpPr txBox="1"/>
          <p:nvPr/>
        </p:nvSpPr>
        <p:spPr>
          <a:xfrm>
            <a:off x="524774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430621"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1291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129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14669"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a:t>
            </a:r>
          </a:p>
        </p:txBody>
      </p:sp>
      <p:sp>
        <p:nvSpPr>
          <p:cNvPr id="38" name="TextBox 37"/>
          <p:cNvSpPr txBox="1"/>
          <p:nvPr/>
        </p:nvSpPr>
        <p:spPr>
          <a:xfrm>
            <a:off x="650046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6683349"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6564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56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6739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'Allow'</a:t>
            </a:r>
          </a:p>
        </p:txBody>
      </p:sp>
      <p:sp>
        <p:nvSpPr>
          <p:cNvPr id="43" name="TextBox 42"/>
          <p:cNvSpPr txBox="1"/>
          <p:nvPr/>
        </p:nvSpPr>
        <p:spPr>
          <a:xfrm>
            <a:off x="792510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10798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19028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02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49203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When you 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726283"/>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Top-left: `Room: mangoi-class · Users: 2` — the room name and how many people are connected.</a:t>
            </a:r>
          </a:p>
          <a:p>
            <a:pPr>
              <a:lnSpc>
                <a:spcPct val="115000"/>
              </a:lnSpc>
              <a:spcAft>
                <a:spcPts val="300"/>
              </a:spcAft>
            </a:pPr>
            <a:r>
              <a:rPr sz="700" b="1">
                <a:solidFill>
                  <a:srgbClr val="7C3AED"/>
                </a:solidFill>
                <a:latin typeface="Malgun Gothic"/>
              </a:rPr>
              <a:t>● </a:t>
            </a:r>
            <a:r>
              <a:rPr sz="900">
                <a:solidFill>
                  <a:srgbClr val="334155"/>
                </a:solidFill>
                <a:latin typeface="Malgun Gothic"/>
              </a:rPr>
              <a:t>Top-right: ⏰ Timer (lesson time), 🔴 REC (recording indicator), 🌐 EN (switch language), 🌙 Dark (dark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Center: the tool you pick from the top tabs (board, materials, video…) opens here.</a:t>
            </a:r>
          </a:p>
          <a:p>
            <a:pPr>
              <a:lnSpc>
                <a:spcPct val="115000"/>
              </a:lnSpc>
              <a:spcAft>
                <a:spcPts val="300"/>
              </a:spcAft>
            </a:pPr>
            <a:r>
              <a:rPr sz="700" b="1">
                <a:solidFill>
                  <a:srgbClr val="7C3AED"/>
                </a:solidFill>
                <a:latin typeface="Malgun Gothic"/>
              </a:rPr>
              <a:t>● </a:t>
            </a:r>
            <a:r>
              <a:rPr sz="900">
                <a:solidFill>
                  <a:srgbClr val="334155"/>
                </a:solidFill>
                <a:latin typeface="Malgun Gothic"/>
              </a:rPr>
              <a:t>Bottom-center: the control dock — camera, screen share, chat and leave buttons.</a:t>
            </a:r>
          </a:p>
          <a:p>
            <a:pPr>
              <a:lnSpc>
                <a:spcPct val="115000"/>
              </a:lnSpc>
              <a:spcAft>
                <a:spcPts val="300"/>
              </a:spcAft>
            </a:pPr>
            <a:r>
              <a:rPr sz="700" b="1">
                <a:solidFill>
                  <a:srgbClr val="7C3AED"/>
                </a:solidFill>
                <a:latin typeface="Malgun Gothic"/>
              </a:rPr>
              <a:t>● </a:t>
            </a:r>
            <a:r>
              <a:rPr sz="90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6566763"/>
            <a:ext cx="5669280" cy="1218895"/>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612483"/>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859371"/>
            <a:ext cx="5394960" cy="889711"/>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Hover over a button to see its name (tooltip).</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text looks Korean, press EN at the top-right to switch language.</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the screen is too bright, switch to 🌙 Dark.</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798942" y="3310128"/>
            <a:ext cx="4598675"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23236"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553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05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50728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Top-left</a:t>
            </a:r>
          </a:p>
        </p:txBody>
      </p:sp>
      <p:sp>
        <p:nvSpPr>
          <p:cNvPr id="26" name="TextBox 25"/>
          <p:cNvSpPr txBox="1"/>
          <p:nvPr/>
        </p:nvSpPr>
        <p:spPr>
          <a:xfrm>
            <a:off x="3450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633825"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16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1787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Top-right</a:t>
            </a:r>
          </a:p>
        </p:txBody>
      </p:sp>
      <p:sp>
        <p:nvSpPr>
          <p:cNvPr id="31" name="TextBox 30"/>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230368"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1266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614416"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Center</a:t>
            </a:r>
          </a:p>
        </p:txBody>
      </p:sp>
      <p:sp>
        <p:nvSpPr>
          <p:cNvPr id="36" name="TextBox 35"/>
          <p:cNvSpPr txBox="1"/>
          <p:nvPr/>
        </p:nvSpPr>
        <p:spPr>
          <a:xfrm>
            <a:off x="638616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656904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65134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513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95309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Bottom-cen…</a:t>
            </a:r>
          </a:p>
        </p:txBody>
      </p:sp>
      <p:sp>
        <p:nvSpPr>
          <p:cNvPr id="41" name="TextBox 40"/>
          <p:cNvSpPr txBox="1"/>
          <p:nvPr/>
        </p:nvSpPr>
        <p:spPr>
          <a:xfrm>
            <a:off x="822594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840882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111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1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28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Small wind…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69382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 Board: a whiteboard for writing and drawing while explaining.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 Video: watch a YouTube link or a video file together.</a:t>
            </a:r>
          </a:p>
          <a:p>
            <a:pPr>
              <a:lnSpc>
                <a:spcPct val="115000"/>
              </a:lnSpc>
              <a:spcAft>
                <a:spcPts val="300"/>
              </a:spcAft>
            </a:pPr>
            <a:r>
              <a:rPr sz="700" b="1">
                <a:solidFill>
                  <a:srgbClr val="7C3AED"/>
                </a:solidFill>
                <a:latin typeface="Malgun Gothic"/>
              </a:rPr>
              <a:t>● </a:t>
            </a:r>
            <a:r>
              <a:rPr sz="900">
                <a:solidFill>
                  <a:srgbClr val="334155"/>
                </a:solidFill>
                <a:latin typeface="Malgun Gothic"/>
              </a:rPr>
              <a:t>🎮 Games: open learning games during class (may be limited during lesson time).</a:t>
            </a:r>
          </a:p>
          <a:p>
            <a:pPr>
              <a:lnSpc>
                <a:spcPct val="115000"/>
              </a:lnSpc>
              <a:spcAft>
                <a:spcPts val="300"/>
              </a:spcAft>
            </a:pPr>
            <a:r>
              <a:rPr sz="700" b="1">
                <a:solidFill>
                  <a:srgbClr val="7C3AED"/>
                </a:solidFill>
                <a:latin typeface="Malgun Gothic"/>
              </a:rPr>
              <a:t>● </a:t>
            </a:r>
            <a:r>
              <a:rPr sz="900">
                <a:solidFill>
                  <a:srgbClr val="334155"/>
                </a:solidFill>
                <a:latin typeface="Malgun Gothic"/>
              </a:rPr>
              <a:t>🎨 Background: change the backdrop behind your video and decorate your face.</a:t>
            </a:r>
          </a:p>
          <a:p>
            <a:pPr>
              <a:lnSpc>
                <a:spcPct val="115000"/>
              </a:lnSpc>
              <a:spcAft>
                <a:spcPts val="300"/>
              </a:spcAft>
            </a:pPr>
            <a:r>
              <a:rPr sz="700" b="1">
                <a:solidFill>
                  <a:srgbClr val="7C3AED"/>
                </a:solidFill>
                <a:latin typeface="Malgun Gothic"/>
              </a:rPr>
              <a:t>● </a:t>
            </a:r>
            <a:r>
              <a:rPr sz="900">
                <a:solidFill>
                  <a:srgbClr val="334155"/>
                </a:solidFill>
                <a:latin typeface="Malgun Gothic"/>
              </a:rPr>
              <a:t>🗣️ AI Warm-up: an English warm-up before the lesson.</a:t>
            </a:r>
          </a:p>
          <a:p>
            <a:pPr>
              <a:lnSpc>
                <a:spcPct val="115000"/>
              </a:lnSpc>
              <a:spcAft>
                <a:spcPts val="300"/>
              </a:spcAft>
            </a:pPr>
            <a:r>
              <a:rPr sz="700" b="1">
                <a:solidFill>
                  <a:srgbClr val="7C3AED"/>
                </a:solidFill>
                <a:latin typeface="Malgun Gothic"/>
              </a:rPr>
              <a:t>● </a:t>
            </a:r>
            <a:r>
              <a:rPr sz="900">
                <a:solidFill>
                  <a:srgbClr val="334155"/>
                </a:solidFill>
                <a:latin typeface="Malgun Gothic"/>
              </a:rPr>
              <a:t>🧠 Review Quiz: an AI-made quiz matched to this lesson's textbook and level.</a:t>
            </a:r>
          </a:p>
        </p:txBody>
      </p:sp>
      <p:sp>
        <p:nvSpPr>
          <p:cNvPr id="14" name="Rounded Rectangle 13"/>
          <p:cNvSpPr/>
          <p:nvPr/>
        </p:nvSpPr>
        <p:spPr>
          <a:xfrm>
            <a:off x="457200" y="6534302"/>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58002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826910"/>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Your face video stays visible even after switching tabs.</a:t>
            </a:r>
          </a:p>
          <a:p>
            <a:pPr>
              <a:lnSpc>
                <a:spcPct val="115000"/>
              </a:lnSpc>
              <a:spcAft>
                <a:spcPts val="100"/>
              </a:spcAft>
            </a:pPr>
            <a:r>
              <a:rPr sz="650" b="1">
                <a:solidFill>
                  <a:srgbClr val="7C3AED"/>
                </a:solidFill>
                <a:latin typeface="Malgun Gothic"/>
              </a:rPr>
              <a:t>● </a:t>
            </a:r>
            <a:r>
              <a:rPr sz="850">
                <a:solidFill>
                  <a:srgbClr val="334155"/>
                </a:solidFill>
                <a:latin typeface="Malgun Gothic"/>
              </a:rPr>
              <a:t>At the far right of the tabs there are also 📚 Materials Tools ▾ and ✍️ Writing Tools ▾.</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Lessons mostly use the 🖊 Board and 📚 Materials the most.</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04441"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8673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867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088489"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Board</a:t>
            </a:r>
          </a:p>
        </p:txBody>
      </p:sp>
      <p:sp>
        <p:nvSpPr>
          <p:cNvPr id="26" name="TextBox 25"/>
          <p:cNvSpPr txBox="1"/>
          <p:nvPr/>
        </p:nvSpPr>
        <p:spPr>
          <a:xfrm>
            <a:off x="277428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2957169"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3946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394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341217"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Video</a:t>
            </a:r>
          </a:p>
        </p:txBody>
      </p:sp>
      <p:sp>
        <p:nvSpPr>
          <p:cNvPr id="31" name="TextBox 30"/>
          <p:cNvSpPr txBox="1"/>
          <p:nvPr/>
        </p:nvSpPr>
        <p:spPr>
          <a:xfrm>
            <a:off x="402701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4209897"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29219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921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4593945"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Games</a:t>
            </a:r>
          </a:p>
        </p:txBody>
      </p:sp>
      <p:sp>
        <p:nvSpPr>
          <p:cNvPr id="36" name="TextBox 35"/>
          <p:cNvSpPr txBox="1"/>
          <p:nvPr/>
        </p:nvSpPr>
        <p:spPr>
          <a:xfrm>
            <a:off x="52797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5462625"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5449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449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5846673"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41" name="TextBox 40"/>
          <p:cNvSpPr txBox="1"/>
          <p:nvPr/>
        </p:nvSpPr>
        <p:spPr>
          <a:xfrm>
            <a:off x="696224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7145121"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22741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74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7529169"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Warm-up</a:t>
            </a:r>
          </a:p>
        </p:txBody>
      </p:sp>
      <p:sp>
        <p:nvSpPr>
          <p:cNvPr id="46" name="TextBox 45"/>
          <p:cNvSpPr txBox="1"/>
          <p:nvPr/>
        </p:nvSpPr>
        <p:spPr>
          <a:xfrm>
            <a:off x="864473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7" name="Rounded Rectangle 46"/>
          <p:cNvSpPr/>
          <p:nvPr/>
        </p:nvSpPr>
        <p:spPr>
          <a:xfrm>
            <a:off x="882761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90991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099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21166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Qui…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982315"/>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 Pen: draw freely. / 🧽 Eraser: erase what you drew.</a:t>
            </a:r>
          </a:p>
          <a:p>
            <a:pPr>
              <a:lnSpc>
                <a:spcPct val="115000"/>
              </a:lnSpc>
              <a:spcAft>
                <a:spcPts val="300"/>
              </a:spcAft>
            </a:pPr>
            <a:r>
              <a:rPr sz="700" b="1">
                <a:solidFill>
                  <a:srgbClr val="7C3AED"/>
                </a:solidFill>
                <a:latin typeface="Malgun Gothic"/>
              </a:rPr>
              <a:t>● </a:t>
            </a:r>
            <a:r>
              <a:rPr sz="900">
                <a:solidFill>
                  <a:srgbClr val="334155"/>
                </a:solidFill>
                <a:latin typeface="Malgun Gothic"/>
              </a:rPr>
              <a:t>📏 Line / ⬜ Rectangle / ⭕ Circle: draw straight lines and shapes.</a:t>
            </a:r>
          </a:p>
          <a:p>
            <a:pPr>
              <a:lnSpc>
                <a:spcPct val="115000"/>
              </a:lnSpc>
              <a:spcAft>
                <a:spcPts val="300"/>
              </a:spcAft>
            </a:pPr>
            <a:r>
              <a:rPr sz="700" b="1">
                <a:solidFill>
                  <a:srgbClr val="7C3AED"/>
                </a:solidFill>
                <a:latin typeface="Malgun Gothic"/>
              </a:rPr>
              <a:t>● </a:t>
            </a:r>
            <a:r>
              <a:rPr sz="900">
                <a:solidFill>
                  <a:srgbClr val="334155"/>
                </a:solidFill>
                <a:latin typeface="Malgun Gothic"/>
              </a:rPr>
              <a:t>📝 Text: type letters with the keyboard.</a:t>
            </a:r>
          </a:p>
          <a:p>
            <a:pPr>
              <a:lnSpc>
                <a:spcPct val="115000"/>
              </a:lnSpc>
              <a:spcAft>
                <a:spcPts val="300"/>
              </a:spcAft>
            </a:pPr>
            <a:r>
              <a:rPr sz="700" b="1">
                <a:solidFill>
                  <a:srgbClr val="7C3AED"/>
                </a:solidFill>
                <a:latin typeface="Malgun Gothic"/>
              </a:rPr>
              <a:t>● </a:t>
            </a:r>
            <a:r>
              <a:rPr sz="900">
                <a:solidFill>
                  <a:srgbClr val="334155"/>
                </a:solidFill>
                <a:latin typeface="Malgun Gothic"/>
              </a:rPr>
              <a:t>🎨 Color (color box): pick the pen color. / Thickness (slider): adjust line width.</a:t>
            </a:r>
          </a:p>
          <a:p>
            <a:pPr>
              <a:lnSpc>
                <a:spcPct val="115000"/>
              </a:lnSpc>
              <a:spcAft>
                <a:spcPts val="300"/>
              </a:spcAft>
            </a:pPr>
            <a:r>
              <a:rPr sz="700" b="1">
                <a:solidFill>
                  <a:srgbClr val="7C3AED"/>
                </a:solidFill>
                <a:latin typeface="Malgun Gothic"/>
              </a:rPr>
              <a:t>● </a:t>
            </a:r>
            <a:r>
              <a:rPr sz="900">
                <a:solidFill>
                  <a:srgbClr val="334155"/>
                </a:solidFill>
                <a:latin typeface="Malgun Gothic"/>
              </a:rPr>
              <a:t>✨ AI Shapes: even rough drawings snap into neat shapes automatically.</a:t>
            </a:r>
          </a:p>
          <a:p>
            <a:pPr>
              <a:lnSpc>
                <a:spcPct val="115000"/>
              </a:lnSpc>
              <a:spcAft>
                <a:spcPts val="300"/>
              </a:spcAft>
            </a:pPr>
            <a:r>
              <a:rPr sz="700" b="1">
                <a:solidFill>
                  <a:srgbClr val="7C3AED"/>
                </a:solidFill>
                <a:latin typeface="Malgun Gothic"/>
              </a:rPr>
              <a:t>● </a:t>
            </a:r>
            <a:r>
              <a:rPr sz="900">
                <a:solidFill>
                  <a:srgbClr val="334155"/>
                </a:solidFill>
                <a:latin typeface="Malgun Gothic"/>
              </a:rPr>
              <a:t>✍️ AI Text: recognizes handwriting and turns it into clean typed text.</a:t>
            </a:r>
          </a:p>
          <a:p>
            <a:pPr>
              <a:lnSpc>
                <a:spcPct val="115000"/>
              </a:lnSpc>
              <a:spcAft>
                <a:spcPts val="300"/>
              </a:spcAft>
            </a:pPr>
            <a:r>
              <a:rPr sz="700" b="1">
                <a:solidFill>
                  <a:srgbClr val="7C3AED"/>
                </a:solidFill>
                <a:latin typeface="Malgun Gothic"/>
              </a:rPr>
              <a:t>● </a:t>
            </a:r>
            <a:r>
              <a:rPr sz="900">
                <a:solidFill>
                  <a:srgbClr val="334155"/>
                </a:solidFill>
                <a:latin typeface="Malgun Gothic"/>
              </a:rPr>
              <a:t>🗑️ Clear All: wipe the whole board. / 💾 Save: save the board as an image.</a:t>
            </a:r>
          </a:p>
        </p:txBody>
      </p:sp>
      <p:sp>
        <p:nvSpPr>
          <p:cNvPr id="14" name="Rounded Rectangle 13"/>
          <p:cNvSpPr/>
          <p:nvPr/>
        </p:nvSpPr>
        <p:spPr>
          <a:xfrm>
            <a:off x="457200" y="6822795"/>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868515"/>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7115403"/>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Change color and thickness to highlight key parts so they stick.</a:t>
            </a:r>
          </a:p>
          <a:p>
            <a:pPr>
              <a:lnSpc>
                <a:spcPct val="115000"/>
              </a:lnSpc>
              <a:spcAft>
                <a:spcPts val="100"/>
              </a:spcAft>
            </a:pPr>
            <a:r>
              <a:rPr sz="650" b="1">
                <a:solidFill>
                  <a:srgbClr val="7C3AED"/>
                </a:solidFill>
                <a:latin typeface="Malgun Gothic"/>
              </a:rPr>
              <a:t>● </a:t>
            </a:r>
            <a:r>
              <a:rPr sz="850">
                <a:solidFill>
                  <a:srgbClr val="334155"/>
                </a:solidFill>
                <a:latin typeface="Malgun Gothic"/>
              </a:rPr>
              <a:t>AI Shapes / AI Text auto-tidy when turned on (experimental).</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Pressing Save (💾) downloads the current board as an image you can use for review.</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Save (💾) the board before class ends to keep exactly what you learned today.</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43507" y="2670048"/>
            <a:ext cx="897940"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2580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258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27555"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Pen</a:t>
            </a:r>
          </a:p>
        </p:txBody>
      </p:sp>
      <p:sp>
        <p:nvSpPr>
          <p:cNvPr id="28" name="TextBox 27"/>
          <p:cNvSpPr txBox="1"/>
          <p:nvPr/>
        </p:nvSpPr>
        <p:spPr>
          <a:xfrm>
            <a:off x="244144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2624327"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0662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066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008375"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Line</a:t>
            </a:r>
          </a:p>
        </p:txBody>
      </p:sp>
      <p:sp>
        <p:nvSpPr>
          <p:cNvPr id="33" name="TextBox 32"/>
          <p:cNvSpPr txBox="1"/>
          <p:nvPr/>
        </p:nvSpPr>
        <p:spPr>
          <a:xfrm>
            <a:off x="36082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3791102"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733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733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175150"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Text</a:t>
            </a:r>
          </a:p>
        </p:txBody>
      </p:sp>
      <p:sp>
        <p:nvSpPr>
          <p:cNvPr id="38" name="TextBox 37"/>
          <p:cNvSpPr txBox="1"/>
          <p:nvPr/>
        </p:nvSpPr>
        <p:spPr>
          <a:xfrm>
            <a:off x="477499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4957876"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04017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01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5341924"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Color</a:t>
            </a:r>
          </a:p>
        </p:txBody>
      </p:sp>
      <p:sp>
        <p:nvSpPr>
          <p:cNvPr id="43" name="TextBox 42"/>
          <p:cNvSpPr txBox="1"/>
          <p:nvPr/>
        </p:nvSpPr>
        <p:spPr>
          <a:xfrm>
            <a:off x="602772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6210604"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29290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929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6594652"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Shapes</a:t>
            </a:r>
          </a:p>
        </p:txBody>
      </p:sp>
      <p:sp>
        <p:nvSpPr>
          <p:cNvPr id="48" name="TextBox 47"/>
          <p:cNvSpPr txBox="1"/>
          <p:nvPr/>
        </p:nvSpPr>
        <p:spPr>
          <a:xfrm>
            <a:off x="762426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9" name="Rounded Rectangle 48"/>
          <p:cNvSpPr/>
          <p:nvPr/>
        </p:nvSpPr>
        <p:spPr>
          <a:xfrm>
            <a:off x="7807147"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88944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894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8191195"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Text</a:t>
            </a:r>
          </a:p>
        </p:txBody>
      </p:sp>
      <p:sp>
        <p:nvSpPr>
          <p:cNvPr id="53" name="TextBox 52"/>
          <p:cNvSpPr txBox="1"/>
          <p:nvPr/>
        </p:nvSpPr>
        <p:spPr>
          <a:xfrm>
            <a:off x="904890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54" name="Rounded Rectangle 53"/>
          <p:cNvSpPr/>
          <p:nvPr/>
        </p:nvSpPr>
        <p:spPr>
          <a:xfrm>
            <a:off x="9231782"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31407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140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61583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Clear 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372868"/>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 Upload (PDF/JPG/PNG): upload a textbook file from your device to share.</a:t>
            </a:r>
          </a:p>
          <a:p>
            <a:pPr>
              <a:lnSpc>
                <a:spcPct val="115000"/>
              </a:lnSpc>
              <a:spcAft>
                <a:spcPts val="300"/>
              </a:spcAft>
            </a:pPr>
            <a:r>
              <a:rPr sz="700" b="1">
                <a:solidFill>
                  <a:srgbClr val="7C3AED"/>
                </a:solidFill>
                <a:latin typeface="Malgun Gothic"/>
              </a:rPr>
              <a:t>● </a:t>
            </a:r>
            <a:r>
              <a:rPr sz="900">
                <a:solidFill>
                  <a:srgbClr val="334155"/>
                </a:solidFill>
                <a:latin typeface="Malgun Gothic"/>
              </a:rPr>
              <a:t>📚 Library: pick from textbooks the academy (admin) uploaded.</a:t>
            </a:r>
          </a:p>
          <a:p>
            <a:pPr>
              <a:lnSpc>
                <a:spcPct val="115000"/>
              </a:lnSpc>
              <a:spcAft>
                <a:spcPts val="300"/>
              </a:spcAft>
            </a:pPr>
            <a:r>
              <a:rPr sz="700" b="1">
                <a:solidFill>
                  <a:srgbClr val="7C3AED"/>
                </a:solidFill>
                <a:latin typeface="Malgun Gothic"/>
              </a:rPr>
              <a:t>● </a:t>
            </a:r>
            <a:r>
              <a:rPr sz="900">
                <a:solidFill>
                  <a:srgbClr val="334155"/>
                </a:solidFill>
                <a:latin typeface="Malgun Gothic"/>
              </a:rPr>
              <a:t>⬇ Download: download the file you're currently viewing.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 Prev / Next ▶: turn textbook pages.</a:t>
            </a:r>
          </a:p>
          <a:p>
            <a:pPr>
              <a:lnSpc>
                <a:spcPct val="115000"/>
              </a:lnSpc>
              <a:spcAft>
                <a:spcPts val="300"/>
              </a:spcAft>
            </a:pPr>
            <a:r>
              <a:rPr sz="700" b="1">
                <a:solidFill>
                  <a:srgbClr val="7C3AED"/>
                </a:solidFill>
                <a:latin typeface="Malgun Gothic"/>
              </a:rPr>
              <a:t>● </a:t>
            </a:r>
            <a:r>
              <a:rPr sz="900">
                <a:solidFill>
                  <a:srgbClr val="334155"/>
                </a:solidFill>
                <a:latin typeface="Malgun Gothic"/>
              </a:rPr>
              <a:t>🔲 Fit / 100% / 1:1: fit the page to the screen or view at real size.</a:t>
            </a:r>
          </a:p>
          <a:p>
            <a:pPr>
              <a:lnSpc>
                <a:spcPct val="115000"/>
              </a:lnSpc>
              <a:spcAft>
                <a:spcPts val="300"/>
              </a:spcAft>
            </a:pPr>
            <a:r>
              <a:rPr sz="700" b="1">
                <a:solidFill>
                  <a:srgbClr val="7C3AED"/>
                </a:solidFill>
                <a:latin typeface="Malgun Gothic"/>
              </a:rPr>
              <a:t>● </a:t>
            </a:r>
            <a:r>
              <a:rPr sz="900">
                <a:solidFill>
                  <a:srgbClr val="334155"/>
                </a:solidFill>
                <a:latin typeface="Malgun Gothic"/>
              </a:rPr>
              <a:t>⏹ Stop sharing: end textbook sharing.</a:t>
            </a:r>
          </a:p>
        </p:txBody>
      </p:sp>
      <p:sp>
        <p:nvSpPr>
          <p:cNvPr id="14" name="Rounded Rectangle 13"/>
          <p:cNvSpPr/>
          <p:nvPr/>
        </p:nvSpPr>
        <p:spPr>
          <a:xfrm>
            <a:off x="457200" y="6213348"/>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5906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505956"/>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moment you upload, the other person sees the exact same page.</a:t>
            </a:r>
          </a:p>
          <a:p>
            <a:pPr>
              <a:lnSpc>
                <a:spcPct val="115000"/>
              </a:lnSpc>
              <a:spcAft>
                <a:spcPts val="100"/>
              </a:spcAft>
            </a:pPr>
            <a:r>
              <a:rPr sz="650" b="1">
                <a:solidFill>
                  <a:srgbClr val="7C3AED"/>
                </a:solidFill>
                <a:latin typeface="Malgun Gothic"/>
              </a:rPr>
              <a:t>● </a:t>
            </a:r>
            <a:r>
              <a:rPr sz="850">
                <a:solidFill>
                  <a:srgbClr val="334155"/>
                </a:solidFill>
                <a:latin typeface="Malgun Gothic"/>
              </a:rPr>
              <a:t>Not only PDFs — JPG and PNG photos work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Upload the textbook before class for a smooth start.</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5473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370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370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1387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Upload (PD…</a:t>
            </a:r>
          </a:p>
        </p:txBody>
      </p:sp>
      <p:sp>
        <p:nvSpPr>
          <p:cNvPr id="26" name="TextBox 25"/>
          <p:cNvSpPr txBox="1"/>
          <p:nvPr/>
        </p:nvSpPr>
        <p:spPr>
          <a:xfrm>
            <a:off x="34116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594506"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768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768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978554"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Library</a:t>
            </a:r>
          </a:p>
        </p:txBody>
      </p:sp>
      <p:sp>
        <p:nvSpPr>
          <p:cNvPr id="31" name="TextBox 30"/>
          <p:cNvSpPr txBox="1"/>
          <p:nvPr/>
        </p:nvSpPr>
        <p:spPr>
          <a:xfrm>
            <a:off x="483626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019141"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0143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014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403189"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Download</a:t>
            </a:r>
          </a:p>
        </p:txBody>
      </p:sp>
      <p:sp>
        <p:nvSpPr>
          <p:cNvPr id="36" name="TextBox 35"/>
          <p:cNvSpPr txBox="1"/>
          <p:nvPr/>
        </p:nvSpPr>
        <p:spPr>
          <a:xfrm>
            <a:off x="634685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6529730"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61202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120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91377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a:t>
            </a:r>
          </a:p>
        </p:txBody>
      </p:sp>
      <p:sp>
        <p:nvSpPr>
          <p:cNvPr id="41" name="TextBox 40"/>
          <p:cNvSpPr txBox="1"/>
          <p:nvPr/>
        </p:nvSpPr>
        <p:spPr>
          <a:xfrm>
            <a:off x="751362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7696504" y="2670048"/>
            <a:ext cx="897940"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77880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8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080552"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Fit</a:t>
            </a:r>
          </a:p>
        </p:txBody>
      </p:sp>
      <p:sp>
        <p:nvSpPr>
          <p:cNvPr id="46" name="TextBox 45"/>
          <p:cNvSpPr txBox="1"/>
          <p:nvPr/>
        </p:nvSpPr>
        <p:spPr>
          <a:xfrm>
            <a:off x="85944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7" name="Rounded Rectangle 46"/>
          <p:cNvSpPr/>
          <p:nvPr/>
        </p:nvSpPr>
        <p:spPr>
          <a:xfrm>
            <a:off x="877732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596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596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1613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Stop shari…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 Pen: write freely on the screen. / 🖍 Highlighter: brightly mark important spots.</a:t>
            </a:r>
          </a:p>
          <a:p>
            <a:pPr>
              <a:lnSpc>
                <a:spcPct val="115000"/>
              </a:lnSpc>
              <a:spcAft>
                <a:spcPts val="300"/>
              </a:spcAft>
            </a:pPr>
            <a:r>
              <a:rPr sz="700" b="1">
                <a:solidFill>
                  <a:srgbClr val="7C3AED"/>
                </a:solidFill>
                <a:latin typeface="Malgun Gothic"/>
              </a:rPr>
              <a:t>● </a:t>
            </a:r>
            <a:r>
              <a:rPr sz="900">
                <a:solidFill>
                  <a:srgbClr val="334155"/>
                </a:solidFill>
                <a:latin typeface="Malgun Gothic"/>
              </a:rPr>
              <a:t>🧽 Eraser: erase your writing. / 📝 Text: type letters.</a:t>
            </a:r>
          </a:p>
          <a:p>
            <a:pPr>
              <a:lnSpc>
                <a:spcPct val="115000"/>
              </a:lnSpc>
              <a:spcAft>
                <a:spcPts val="300"/>
              </a:spcAft>
            </a:pPr>
            <a:r>
              <a:rPr sz="700" b="1">
                <a:solidFill>
                  <a:srgbClr val="7C3AED"/>
                </a:solidFill>
                <a:latin typeface="Malgun Gothic"/>
              </a:rPr>
              <a:t>● </a:t>
            </a:r>
            <a:r>
              <a:rPr sz="900">
                <a:solidFill>
                  <a:srgbClr val="334155"/>
                </a:solidFill>
                <a:latin typeface="Malgun Gothic"/>
              </a:rPr>
              <a:t>✨ AI Shapes: tidy your drawn shapes.</a:t>
            </a:r>
          </a:p>
          <a:p>
            <a:pPr>
              <a:lnSpc>
                <a:spcPct val="115000"/>
              </a:lnSpc>
              <a:spcAft>
                <a:spcPts val="300"/>
              </a:spcAft>
            </a:pPr>
            <a:r>
              <a:rPr sz="700" b="1">
                <a:solidFill>
                  <a:srgbClr val="7C3AED"/>
                </a:solidFill>
                <a:latin typeface="Malgun Gothic"/>
              </a:rPr>
              <a:t>● </a:t>
            </a:r>
            <a:r>
              <a:rPr sz="900">
                <a:solidFill>
                  <a:srgbClr val="334155"/>
                </a:solidFill>
                <a:latin typeface="Malgun Gothic"/>
              </a:rPr>
              <a:t>Thickness (slider): adjust the pen width.</a:t>
            </a:r>
          </a:p>
          <a:p>
            <a:pPr>
              <a:lnSpc>
                <a:spcPct val="115000"/>
              </a:lnSpc>
              <a:spcAft>
                <a:spcPts val="300"/>
              </a:spcAft>
            </a:pPr>
            <a:r>
              <a:rPr sz="700" b="1">
                <a:solidFill>
                  <a:srgbClr val="7C3AED"/>
                </a:solidFill>
                <a:latin typeface="Malgun Gothic"/>
              </a:rPr>
              <a:t>● </a:t>
            </a:r>
            <a:r>
              <a:rPr sz="900">
                <a:solidFill>
                  <a:srgbClr val="334155"/>
                </a:solidFill>
                <a:latin typeface="Malgun Gothic"/>
              </a:rPr>
              <a:t>↩ Undo: cancel your last mark. / 🗑 Clear: erase all writing.</a:t>
            </a:r>
          </a:p>
        </p:txBody>
      </p:sp>
      <p:sp>
        <p:nvSpPr>
          <p:cNvPr id="14" name="Rounded Rectangle 13"/>
          <p:cNvSpPr/>
          <p:nvPr/>
        </p:nvSpPr>
        <p:spPr>
          <a:xfrm>
            <a:off x="457200" y="5764377"/>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056985"/>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With a textbook open, your writing appears right on top of it.</a:t>
            </a:r>
          </a:p>
          <a:p>
            <a:pPr>
              <a:lnSpc>
                <a:spcPct val="115000"/>
              </a:lnSpc>
              <a:spcAft>
                <a:spcPts val="100"/>
              </a:spcAft>
            </a:pPr>
            <a:r>
              <a:rPr sz="650" b="1">
                <a:solidFill>
                  <a:srgbClr val="7C3AED"/>
                </a:solidFill>
                <a:latin typeface="Malgun Gothic"/>
              </a:rPr>
              <a:t>● </a:t>
            </a:r>
            <a:r>
              <a:rPr sz="850">
                <a:solidFill>
                  <a:srgbClr val="334155"/>
                </a:solidFill>
                <a:latin typeface="Malgun Gothic"/>
              </a:rPr>
              <a:t>Highlight key words to make them stand out.</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Made a mistake? One tap on ↩ Undo cleans it up.</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6235" y="2670048"/>
            <a:ext cx="897940"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7853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785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80283"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Pen</a:t>
            </a:r>
          </a:p>
        </p:txBody>
      </p:sp>
      <p:sp>
        <p:nvSpPr>
          <p:cNvPr id="26" name="TextBox 25"/>
          <p:cNvSpPr txBox="1"/>
          <p:nvPr/>
        </p:nvSpPr>
        <p:spPr>
          <a:xfrm>
            <a:off x="36941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877056"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9593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593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261104"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Eraser</a:t>
            </a:r>
          </a:p>
        </p:txBody>
      </p:sp>
      <p:sp>
        <p:nvSpPr>
          <p:cNvPr id="31" name="TextBox 30"/>
          <p:cNvSpPr txBox="1"/>
          <p:nvPr/>
        </p:nvSpPr>
        <p:spPr>
          <a:xfrm>
            <a:off x="503285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215737"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29803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80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599785"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Shapes</a:t>
            </a:r>
          </a:p>
        </p:txBody>
      </p:sp>
      <p:sp>
        <p:nvSpPr>
          <p:cNvPr id="36" name="TextBox 35"/>
          <p:cNvSpPr txBox="1"/>
          <p:nvPr/>
        </p:nvSpPr>
        <p:spPr>
          <a:xfrm>
            <a:off x="662940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6812280"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9457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945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196328"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Thickness</a:t>
            </a:r>
          </a:p>
        </p:txBody>
      </p:sp>
      <p:sp>
        <p:nvSpPr>
          <p:cNvPr id="41" name="TextBox 40"/>
          <p:cNvSpPr txBox="1"/>
          <p:nvPr/>
        </p:nvSpPr>
        <p:spPr>
          <a:xfrm>
            <a:off x="822594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8408822"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111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1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2870"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Undo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25956"/>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Paste a YouTube link (URL) into the box, or upload a video file.</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 Play URL / Play to start the video.</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New video to switch to a different one.</a:t>
            </a:r>
          </a:p>
        </p:txBody>
      </p:sp>
      <p:sp>
        <p:nvSpPr>
          <p:cNvPr id="14" name="Rounded Rectangle 13"/>
          <p:cNvSpPr/>
          <p:nvPr/>
        </p:nvSpPr>
        <p:spPr>
          <a:xfrm>
            <a:off x="457200" y="4866436"/>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12156"/>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59044"/>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video plays on the other person's screen too.</a:t>
            </a:r>
          </a:p>
          <a:p>
            <a:pPr>
              <a:lnSpc>
                <a:spcPct val="115000"/>
              </a:lnSpc>
              <a:spcAft>
                <a:spcPts val="100"/>
              </a:spcAft>
            </a:pPr>
            <a:r>
              <a:rPr sz="650" b="1">
                <a:solidFill>
                  <a:srgbClr val="7C3AED"/>
                </a:solidFill>
                <a:latin typeface="Malgun Gothic"/>
              </a:rPr>
              <a:t>● </a:t>
            </a:r>
            <a:r>
              <a:rPr sz="850">
                <a:solidFill>
                  <a:srgbClr val="334155"/>
                </a:solidFill>
                <a:latin typeface="Malgun Gothic"/>
              </a:rPr>
              <a:t>For sound-heavy material, earphones help you hear better.</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Prepare the video link in advance so you can play it instantly in class.</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1246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9475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94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9651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YouTube li…</a:t>
            </a:r>
          </a:p>
        </p:txBody>
      </p:sp>
      <p:sp>
        <p:nvSpPr>
          <p:cNvPr id="26" name="TextBox 25"/>
          <p:cNvSpPr txBox="1"/>
          <p:nvPr/>
        </p:nvSpPr>
        <p:spPr>
          <a:xfrm>
            <a:off x="536935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552236"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3453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34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3628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Play URL</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062825"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video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In the background grid, tap a backdrop (space, desert, forest, cherry blossom, beach, pyramids…).</a:t>
            </a:r>
          </a:p>
          <a:p>
            <a:pPr>
              <a:lnSpc>
                <a:spcPct val="115000"/>
              </a:lnSpc>
              <a:spcAft>
                <a:spcPts val="300"/>
              </a:spcAft>
            </a:pPr>
            <a:r>
              <a:rPr sz="700" b="1">
                <a:solidFill>
                  <a:srgbClr val="7C3AED"/>
                </a:solidFill>
                <a:latin typeface="Malgun Gothic"/>
              </a:rPr>
              <a:t>● </a:t>
            </a:r>
            <a:r>
              <a:rPr sz="900">
                <a:solidFill>
                  <a:srgbClr val="334155"/>
                </a:solidFill>
                <a:latin typeface="Malgun Gothic"/>
              </a:rPr>
              <a:t>Tap Background off to return to your normal camera view.</a:t>
            </a:r>
          </a:p>
          <a:p>
            <a:pPr>
              <a:lnSpc>
                <a:spcPct val="115000"/>
              </a:lnSpc>
              <a:spcAft>
                <a:spcPts val="300"/>
              </a:spcAft>
            </a:pPr>
            <a:r>
              <a:rPr sz="700" b="1">
                <a:solidFill>
                  <a:srgbClr val="7C3AED"/>
                </a:solidFill>
                <a:latin typeface="Malgun Gothic"/>
              </a:rPr>
              <a:t>● </a:t>
            </a:r>
            <a:r>
              <a:rPr sz="900">
                <a:solidFill>
                  <a:srgbClr val="334155"/>
                </a:solidFill>
                <a:latin typeface="Malgun Gothic"/>
              </a:rPr>
              <a:t>Below, in Face Decorations (masks/accessories), pick glasses, hats, animals and more.</a:t>
            </a:r>
          </a:p>
          <a:p>
            <a:pPr>
              <a:lnSpc>
                <a:spcPct val="115000"/>
              </a:lnSpc>
              <a:spcAft>
                <a:spcPts val="300"/>
              </a:spcAft>
            </a:pPr>
            <a:r>
              <a:rPr sz="700" b="1">
                <a:solidFill>
                  <a:srgbClr val="7C3AED"/>
                </a:solidFill>
                <a:latin typeface="Malgun Gothic"/>
              </a:rPr>
              <a:t>● </a:t>
            </a:r>
            <a:r>
              <a:rPr sz="900">
                <a:solidFill>
                  <a:srgbClr val="334155"/>
                </a:solidFill>
                <a:latin typeface="Malgun Gothic"/>
              </a:rPr>
              <a:t>Don't like it? Tap again to turn it off.</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Changing the background keeps your face visible.</a:t>
            </a:r>
          </a:p>
          <a:p>
            <a:pPr>
              <a:lnSpc>
                <a:spcPct val="115000"/>
              </a:lnSpc>
              <a:spcAft>
                <a:spcPts val="100"/>
              </a:spcAft>
            </a:pPr>
            <a:r>
              <a:rPr sz="650" b="1">
                <a:solidFill>
                  <a:srgbClr val="7C3AED"/>
                </a:solidFill>
                <a:latin typeface="Malgun Gothic"/>
              </a:rPr>
              <a:t>● </a:t>
            </a:r>
            <a:r>
              <a:rPr sz="850">
                <a:solidFill>
                  <a:srgbClr val="334155"/>
                </a:solidFill>
                <a:latin typeface="Malgun Gothic"/>
              </a:rPr>
              <a:t>Very flashy decorations can distract from the lesson.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Use a clean background for class and fun decorations for break time.</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Face Decor…</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Don't like…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1/4 · 1/2 · 3/4 · Full: make the video window 1/4 up to full-screen.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 PIP: float the video as a small overlay on top of the board/materials.</a:t>
            </a:r>
          </a:p>
          <a:p>
            <a:pPr>
              <a:lnSpc>
                <a:spcPct val="115000"/>
              </a:lnSpc>
              <a:spcAft>
                <a:spcPts val="300"/>
              </a:spcAft>
            </a:pPr>
            <a:r>
              <a:rPr sz="700" b="1">
                <a:solidFill>
                  <a:srgbClr val="7C3AED"/>
                </a:solidFill>
                <a:latin typeface="Malgun Gothic"/>
              </a:rPr>
              <a:t>● </a:t>
            </a:r>
            <a:r>
              <a:rPr sz="900">
                <a:solidFill>
                  <a:srgbClr val="334155"/>
                </a:solidFill>
                <a:latin typeface="Malgun Gothic"/>
              </a:rPr>
              <a:t>👤 Solo: hide others and see only your own screen larger.</a:t>
            </a:r>
          </a:p>
          <a:p>
            <a:pPr>
              <a:lnSpc>
                <a:spcPct val="115000"/>
              </a:lnSpc>
              <a:spcAft>
                <a:spcPts val="300"/>
              </a:spcAft>
            </a:pPr>
            <a:r>
              <a:rPr sz="700" b="1">
                <a:solidFill>
                  <a:srgbClr val="7C3AED"/>
                </a:solidFill>
                <a:latin typeface="Malgun Gothic"/>
              </a:rPr>
              <a:t>● </a:t>
            </a:r>
            <a:r>
              <a:rPr sz="900">
                <a:solidFill>
                  <a:srgbClr val="334155"/>
                </a:solidFill>
                <a:latin typeface="Malgun Gothic"/>
              </a:rPr>
              <a:t>⤡ Free: drag the title bar to move it, drag the bottom-right corner to resize freely.</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Make the video small (1/4) when reading materials, large (Full) when presenting.</a:t>
            </a:r>
          </a:p>
          <a:p>
            <a:pPr>
              <a:lnSpc>
                <a:spcPct val="115000"/>
              </a:lnSpc>
              <a:spcAft>
                <a:spcPts val="100"/>
              </a:spcAft>
            </a:pPr>
            <a:r>
              <a:rPr sz="650" b="1">
                <a:solidFill>
                  <a:srgbClr val="7C3AED"/>
                </a:solidFill>
                <a:latin typeface="Malgun Gothic"/>
              </a:rPr>
              <a:t>● </a:t>
            </a:r>
            <a:r>
              <a:rPr sz="850">
                <a:solidFill>
                  <a:srgbClr val="334155"/>
                </a:solidFill>
                <a:latin typeface="Malgun Gothic"/>
              </a:rPr>
              <a:t>📌 PIP is great when you want to see the textbook and faces at once.</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On a small screen, shrink the video to 1/4 and view the textbook large.</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01821"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8411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41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8586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1/4 · 1/2…</a:t>
            </a:r>
          </a:p>
        </p:txBody>
      </p:sp>
      <p:sp>
        <p:nvSpPr>
          <p:cNvPr id="26" name="TextBox 25"/>
          <p:cNvSpPr txBox="1"/>
          <p:nvPr/>
        </p:nvSpPr>
        <p:spPr>
          <a:xfrm>
            <a:off x="517276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55640" y="2670048"/>
            <a:ext cx="897940"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3793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379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39688"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PIP</a:t>
            </a:r>
          </a:p>
        </p:txBody>
      </p:sp>
      <p:sp>
        <p:nvSpPr>
          <p:cNvPr id="31" name="TextBox 30"/>
          <p:cNvSpPr txBox="1"/>
          <p:nvPr/>
        </p:nvSpPr>
        <p:spPr>
          <a:xfrm>
            <a:off x="625358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436461"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875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87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20509"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Solo</a:t>
            </a:r>
          </a:p>
        </p:txBody>
      </p:sp>
      <p:sp>
        <p:nvSpPr>
          <p:cNvPr id="36" name="TextBox 35"/>
          <p:cNvSpPr txBox="1"/>
          <p:nvPr/>
        </p:nvSpPr>
        <p:spPr>
          <a:xfrm>
            <a:off x="742035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603236"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553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55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87283"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Teacher: tap the 🌟 'Praise' button at the top-left of a student's video → that student gets +1P. (the count builds up next to the star)</a:t>
            </a:r>
          </a:p>
          <a:p>
            <a:pPr>
              <a:lnSpc>
                <a:spcPct val="115000"/>
              </a:lnSpc>
              <a:spcAft>
                <a:spcPts val="300"/>
              </a:spcAft>
            </a:pPr>
            <a:r>
              <a:rPr sz="700" b="1">
                <a:solidFill>
                  <a:srgbClr val="7C3AED"/>
                </a:solidFill>
                <a:latin typeface="Malgun Gothic"/>
              </a:rPr>
              <a:t>● </a:t>
            </a:r>
            <a:r>
              <a:rPr sz="900">
                <a:solidFill>
                  <a:srgbClr val="334155"/>
                </a:solidFill>
                <a:latin typeface="Malgun Gothic"/>
              </a:rPr>
              <a:t>With several students, you can also pick a student from the 'Give Praise' bar.</a:t>
            </a:r>
          </a:p>
          <a:p>
            <a:pPr>
              <a:lnSpc>
                <a:spcPct val="115000"/>
              </a:lnSpc>
              <a:spcAft>
                <a:spcPts val="300"/>
              </a:spcAft>
            </a:pPr>
            <a:r>
              <a:rPr sz="700" b="1">
                <a:solidFill>
                  <a:srgbClr val="7C3AED"/>
                </a:solidFill>
                <a:latin typeface="Malgun Gothic"/>
              </a:rPr>
              <a:t>● </a:t>
            </a:r>
            <a:r>
              <a:rPr sz="900">
                <a:solidFill>
                  <a:srgbClr val="334155"/>
                </a:solidFill>
                <a:latin typeface="Malgun Gothic"/>
              </a:rPr>
              <a:t>Student: +1P flies into the 🧺 point basket at the top-left of your screen in real time.</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class ends, the student leaves a star rating to get an extra +10P.</a:t>
            </a:r>
          </a:p>
          <a:p>
            <a:pPr>
              <a:lnSpc>
                <a:spcPct val="115000"/>
              </a:lnSpc>
              <a:spcAft>
                <a:spcPts val="300"/>
              </a:spcAft>
            </a:pPr>
            <a:r>
              <a:rPr sz="700" b="1">
                <a:solidFill>
                  <a:srgbClr val="7C3AED"/>
                </a:solidFill>
                <a:latin typeface="Malgun Gothic"/>
              </a:rPr>
              <a:t>● </a:t>
            </a:r>
            <a:r>
              <a:rPr sz="900">
                <a:solidFill>
                  <a:srgbClr val="334155"/>
                </a:solidFill>
                <a:latin typeface="Malgun Gothic"/>
              </a:rPr>
              <a:t>Collected points are spent as rewards in the point shop, roulette, etc.</a:t>
            </a:r>
          </a:p>
        </p:txBody>
      </p:sp>
      <p:sp>
        <p:nvSpPr>
          <p:cNvPr id="14" name="Rounded Rectangle 13"/>
          <p:cNvSpPr/>
          <p:nvPr/>
        </p:nvSpPr>
        <p:spPr>
          <a:xfrm>
            <a:off x="457200" y="6245809"/>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538417"/>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more praise you get, the faster points pile up.</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praise star has an anti-spam cooldown, so it may briefly turn gray.</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basket shows points earned this class; your total P (top bar) is the running sum.</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Praise points are given by the teacher — students can't add them by themselves.</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752988"/>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07852"/>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01621"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8391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839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85669"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a:t>
            </a:r>
          </a:p>
        </p:txBody>
      </p:sp>
      <p:sp>
        <p:nvSpPr>
          <p:cNvPr id="28" name="TextBox 27"/>
          <p:cNvSpPr txBox="1"/>
          <p:nvPr/>
        </p:nvSpPr>
        <p:spPr>
          <a:xfrm>
            <a:off x="32433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'Give Prai…</a:t>
            </a:r>
          </a:p>
        </p:txBody>
      </p:sp>
      <p:sp>
        <p:nvSpPr>
          <p:cNvPr id="33" name="TextBox 32"/>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266029"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5007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a:t>
            </a:r>
          </a:p>
        </p:txBody>
      </p:sp>
      <p:sp>
        <p:nvSpPr>
          <p:cNvPr id="38" name="TextBox 37"/>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669066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7296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When class…</a:t>
            </a:r>
          </a:p>
        </p:txBody>
      </p:sp>
      <p:sp>
        <p:nvSpPr>
          <p:cNvPr id="43" name="TextBox 42"/>
          <p:cNvSpPr txBox="1"/>
          <p:nvPr/>
        </p:nvSpPr>
        <p:spPr>
          <a:xfrm>
            <a:off x="834755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53043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61273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127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91448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 shop…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314279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 Settings: pick camera/mic devices and check their status.</a:t>
            </a:r>
          </a:p>
          <a:p>
            <a:pPr>
              <a:lnSpc>
                <a:spcPct val="115000"/>
              </a:lnSpc>
              <a:spcAft>
                <a:spcPts val="300"/>
              </a:spcAft>
            </a:pPr>
            <a:r>
              <a:rPr sz="700" b="1">
                <a:solidFill>
                  <a:srgbClr val="7C3AED"/>
                </a:solidFill>
                <a:latin typeface="Malgun Gothic"/>
              </a:rPr>
              <a:t>● </a:t>
            </a:r>
            <a:r>
              <a:rPr sz="900">
                <a:solidFill>
                  <a:srgbClr val="334155"/>
                </a:solidFill>
                <a:latin typeface="Malgun Gothic"/>
              </a:rPr>
              <a:t>📷 Camera / 🎤 Mic: turn your face and sound on/off.</a:t>
            </a:r>
          </a:p>
          <a:p>
            <a:pPr>
              <a:lnSpc>
                <a:spcPct val="115000"/>
              </a:lnSpc>
              <a:spcAft>
                <a:spcPts val="300"/>
              </a:spcAft>
            </a:pPr>
            <a:r>
              <a:rPr sz="700" b="1">
                <a:solidFill>
                  <a:srgbClr val="7C3AED"/>
                </a:solidFill>
                <a:latin typeface="Malgun Gothic"/>
              </a:rPr>
              <a:t>● </a:t>
            </a:r>
            <a:r>
              <a:rPr sz="900">
                <a:solidFill>
                  <a:srgbClr val="334155"/>
                </a:solidFill>
                <a:latin typeface="Malgun Gothic"/>
              </a:rPr>
              <a:t>🖥️ Screen Share: show your computer screen to the other person.</a:t>
            </a:r>
          </a:p>
          <a:p>
            <a:pPr>
              <a:lnSpc>
                <a:spcPct val="115000"/>
              </a:lnSpc>
              <a:spcAft>
                <a:spcPts val="300"/>
              </a:spcAft>
            </a:pPr>
            <a:r>
              <a:rPr sz="700" b="1">
                <a:solidFill>
                  <a:srgbClr val="7C3AED"/>
                </a:solidFill>
                <a:latin typeface="Malgun Gothic"/>
              </a:rPr>
              <a:t>● </a:t>
            </a:r>
            <a:r>
              <a:rPr sz="900">
                <a:solidFill>
                  <a:srgbClr val="334155"/>
                </a:solidFill>
                <a:latin typeface="Malgun Gothic"/>
              </a:rPr>
              <a:t>💬 Chat: talk in text (great for words and links).</a:t>
            </a:r>
          </a:p>
          <a:p>
            <a:pPr>
              <a:lnSpc>
                <a:spcPct val="115000"/>
              </a:lnSpc>
              <a:spcAft>
                <a:spcPts val="300"/>
              </a:spcAft>
            </a:pPr>
            <a:r>
              <a:rPr sz="700" b="1">
                <a:solidFill>
                  <a:srgbClr val="7C3AED"/>
                </a:solidFill>
                <a:latin typeface="Malgun Gothic"/>
              </a:rPr>
              <a:t>● </a:t>
            </a:r>
            <a:r>
              <a:rPr sz="900">
                <a:solidFill>
                  <a:srgbClr val="334155"/>
                </a:solidFill>
                <a:latin typeface="Malgun Gothic"/>
              </a:rPr>
              <a:t>🗣️ Native: call the native-speaker helper / interpreter feature.</a:t>
            </a:r>
          </a:p>
          <a:p>
            <a:pPr>
              <a:lnSpc>
                <a:spcPct val="115000"/>
              </a:lnSpc>
              <a:spcAft>
                <a:spcPts val="300"/>
              </a:spcAft>
            </a:pPr>
            <a:r>
              <a:rPr sz="700" b="1">
                <a:solidFill>
                  <a:srgbClr val="7C3AED"/>
                </a:solidFill>
                <a:latin typeface="Malgun Gothic"/>
              </a:rPr>
              <a:t>● </a:t>
            </a:r>
            <a:r>
              <a:rPr sz="900">
                <a:solidFill>
                  <a:srgbClr val="334155"/>
                </a:solidFill>
                <a:latin typeface="Malgun Gothic"/>
              </a:rPr>
              <a:t>🚪 Leave: end the lesson and exit the room.</a:t>
            </a:r>
          </a:p>
          <a:p>
            <a:pPr>
              <a:lnSpc>
                <a:spcPct val="115000"/>
              </a:lnSpc>
              <a:spcAft>
                <a:spcPts val="300"/>
              </a:spcAft>
            </a:pPr>
            <a:r>
              <a:rPr sz="700" b="1">
                <a:solidFill>
                  <a:srgbClr val="7C3AED"/>
                </a:solidFill>
                <a:latin typeface="Malgun Gothic"/>
              </a:rPr>
              <a:t>● </a:t>
            </a:r>
            <a:r>
              <a:rPr sz="90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6983272"/>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702899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7275880"/>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Before leaving (🚪), make sure you saved the board / notes.</a:t>
            </a:r>
          </a:p>
          <a:p>
            <a:pPr>
              <a:lnSpc>
                <a:spcPct val="115000"/>
              </a:lnSpc>
              <a:spcAft>
                <a:spcPts val="100"/>
              </a:spcAft>
            </a:pPr>
            <a:r>
              <a:rPr sz="650" b="1">
                <a:solidFill>
                  <a:srgbClr val="7C3AED"/>
                </a:solidFill>
                <a:latin typeface="Malgun Gothic"/>
              </a:rPr>
              <a:t>● </a:t>
            </a:r>
            <a:r>
              <a:rPr sz="850">
                <a:solidFill>
                  <a:srgbClr val="334155"/>
                </a:solidFill>
                <a:latin typeface="Malgun Gothic"/>
              </a:rPr>
              <a:t>No sound? Check the mic/speaker devices in ⚙️ Settings.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Screen share asks the browser which window to share — pick the screen and allow it.</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When your praise basket fills up, it means you're doing great!</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42416"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247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42646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Settings</a:t>
            </a:r>
          </a:p>
        </p:txBody>
      </p:sp>
      <p:sp>
        <p:nvSpPr>
          <p:cNvPr id="28" name="TextBox 27"/>
          <p:cNvSpPr txBox="1"/>
          <p:nvPr/>
        </p:nvSpPr>
        <p:spPr>
          <a:xfrm>
            <a:off x="237012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2553004"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63530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353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2937052"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Camera</a:t>
            </a:r>
          </a:p>
        </p:txBody>
      </p:sp>
      <p:sp>
        <p:nvSpPr>
          <p:cNvPr id="33" name="TextBox 32"/>
          <p:cNvSpPr txBox="1"/>
          <p:nvPr/>
        </p:nvSpPr>
        <p:spPr>
          <a:xfrm>
            <a:off x="370880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389168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97398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97398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27573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Screen Sha…</a:t>
            </a:r>
          </a:p>
        </p:txBody>
      </p:sp>
      <p:sp>
        <p:nvSpPr>
          <p:cNvPr id="38" name="TextBox 37"/>
          <p:cNvSpPr txBox="1"/>
          <p:nvPr/>
        </p:nvSpPr>
        <p:spPr>
          <a:xfrm>
            <a:off x="554857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5731459"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81375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137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115507"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Chat</a:t>
            </a:r>
          </a:p>
        </p:txBody>
      </p:sp>
      <p:sp>
        <p:nvSpPr>
          <p:cNvPr id="43" name="TextBox 42"/>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6898233"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980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7282281"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Native</a:t>
            </a:r>
          </a:p>
        </p:txBody>
      </p:sp>
      <p:sp>
        <p:nvSpPr>
          <p:cNvPr id="48" name="TextBox 47"/>
          <p:cNvSpPr txBox="1"/>
          <p:nvPr/>
        </p:nvSpPr>
        <p:spPr>
          <a:xfrm>
            <a:off x="805403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9" name="Rounded Rectangle 48"/>
          <p:cNvSpPr/>
          <p:nvPr/>
        </p:nvSpPr>
        <p:spPr>
          <a:xfrm>
            <a:off x="8236915"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31921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192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8620963"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Leave</a:t>
            </a:r>
          </a:p>
        </p:txBody>
      </p:sp>
      <p:sp>
        <p:nvSpPr>
          <p:cNvPr id="53" name="TextBox 52"/>
          <p:cNvSpPr txBox="1"/>
          <p:nvPr/>
        </p:nvSpPr>
        <p:spPr>
          <a:xfrm>
            <a:off x="930676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54" name="Rounded Rectangle 53"/>
          <p:cNvSpPr/>
          <p:nvPr/>
        </p:nvSpPr>
        <p:spPr>
          <a:xfrm>
            <a:off x="948964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57193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19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8736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Praise Bas…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565806"/>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When the teacher asks, turn on your 🎤 mic and answer out loud. (turn it on only when speaking to cut noise)</a:t>
            </a:r>
          </a:p>
          <a:p>
            <a:pPr>
              <a:lnSpc>
                <a:spcPct val="115000"/>
              </a:lnSpc>
              <a:spcAft>
                <a:spcPts val="300"/>
              </a:spcAft>
            </a:pPr>
            <a:r>
              <a:rPr sz="700" b="1">
                <a:solidFill>
                  <a:srgbClr val="7C3AED"/>
                </a:solidFill>
                <a:latin typeface="Malgun Gothic"/>
              </a:rPr>
              <a:t>● </a:t>
            </a:r>
            <a:r>
              <a:rPr sz="900">
                <a:solidFill>
                  <a:srgbClr val="334155"/>
                </a:solidFill>
                <a:latin typeface="Malgun Gothic"/>
              </a:rPr>
              <a:t>If you can't hear or you're curious, ask in 💬 chat. Check unknown words in text too.</a:t>
            </a:r>
          </a:p>
          <a:p>
            <a:pPr>
              <a:lnSpc>
                <a:spcPct val="115000"/>
              </a:lnSpc>
              <a:spcAft>
                <a:spcPts val="300"/>
              </a:spcAft>
            </a:pPr>
            <a:r>
              <a:rPr sz="700" b="1">
                <a:solidFill>
                  <a:srgbClr val="7C3AED"/>
                </a:solidFill>
                <a:latin typeface="Malgun Gothic"/>
              </a:rPr>
              <a:t>● </a:t>
            </a:r>
            <a:r>
              <a:rPr sz="900">
                <a:solidFill>
                  <a:srgbClr val="334155"/>
                </a:solidFill>
                <a:latin typeface="Malgun Gothic"/>
              </a:rPr>
              <a:t>🖊 Write on the board together — with the teacher's OK, use the pen to write or draw answers.</a:t>
            </a:r>
          </a:p>
          <a:p>
            <a:pPr>
              <a:lnSpc>
                <a:spcPct val="115000"/>
              </a:lnSpc>
              <a:spcAft>
                <a:spcPts val="300"/>
              </a:spcAft>
            </a:pPr>
            <a:r>
              <a:rPr sz="700" b="1">
                <a:solidFill>
                  <a:srgbClr val="7C3AED"/>
                </a:solidFill>
                <a:latin typeface="Malgun Gothic"/>
              </a:rPr>
              <a:t>● </a:t>
            </a:r>
            <a:r>
              <a:rPr sz="900">
                <a:solidFill>
                  <a:srgbClr val="334155"/>
                </a:solidFill>
                <a:latin typeface="Malgun Gothic"/>
              </a:rPr>
              <a:t>📄 Turn textbook pages together and follow the page you're on.</a:t>
            </a:r>
          </a:p>
          <a:p>
            <a:pPr>
              <a:lnSpc>
                <a:spcPct val="115000"/>
              </a:lnSpc>
              <a:spcAft>
                <a:spcPts val="300"/>
              </a:spcAft>
            </a:pPr>
            <a:r>
              <a:rPr sz="700" b="1">
                <a:solidFill>
                  <a:srgbClr val="7C3AED"/>
                </a:solidFill>
                <a:latin typeface="Malgun Gothic"/>
              </a:rPr>
              <a:t>● </a:t>
            </a:r>
            <a:r>
              <a:rPr sz="900">
                <a:solidFill>
                  <a:srgbClr val="334155"/>
                </a:solidFill>
                <a:latin typeface="Malgun Gothic"/>
              </a:rPr>
              <a:t>📷 Keep your camera on — the teacher helps more when they can see your face.</a:t>
            </a:r>
          </a:p>
        </p:txBody>
      </p:sp>
      <p:sp>
        <p:nvSpPr>
          <p:cNvPr id="14" name="Rounded Rectangle 13"/>
          <p:cNvSpPr/>
          <p:nvPr/>
        </p:nvSpPr>
        <p:spPr>
          <a:xfrm>
            <a:off x="457200" y="6406286"/>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452006"/>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698894"/>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more you speak, the better. Mistakes are fine!</a:t>
            </a:r>
          </a:p>
          <a:p>
            <a:pPr>
              <a:lnSpc>
                <a:spcPct val="115000"/>
              </a:lnSpc>
              <a:spcAft>
                <a:spcPts val="100"/>
              </a:spcAft>
            </a:pPr>
            <a:r>
              <a:rPr sz="650" b="1">
                <a:solidFill>
                  <a:srgbClr val="7C3AED"/>
                </a:solidFill>
                <a:latin typeface="Malgun Gothic"/>
              </a:rPr>
              <a:t>● </a:t>
            </a:r>
            <a:r>
              <a:rPr sz="850">
                <a:solidFill>
                  <a:srgbClr val="334155"/>
                </a:solidFill>
                <a:latin typeface="Malgun Gothic"/>
              </a:rPr>
              <a:t>Do well and the teacher gives you 🌟 praise points (see earlier page).</a:t>
            </a:r>
          </a:p>
          <a:p>
            <a:pPr>
              <a:lnSpc>
                <a:spcPct val="115000"/>
              </a:lnSpc>
              <a:spcAft>
                <a:spcPts val="100"/>
              </a:spcAft>
            </a:pPr>
            <a:r>
              <a:rPr sz="650" b="1">
                <a:solidFill>
                  <a:srgbClr val="7C3AED"/>
                </a:solidFill>
                <a:latin typeface="Malgun Gothic"/>
              </a:rPr>
              <a:t>● </a:t>
            </a:r>
            <a:r>
              <a:rPr sz="850">
                <a:solidFill>
                  <a:srgbClr val="334155"/>
                </a:solidFill>
                <a:latin typeface="Malgun Gothic"/>
              </a:rPr>
              <a:t>Earphones in a quiet place make the sound clear.</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Memorize phrases like 'One more time, please' to make class easier.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9379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67609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760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197784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mic and an…</a:t>
            </a:r>
          </a:p>
        </p:txBody>
      </p:sp>
      <p:sp>
        <p:nvSpPr>
          <p:cNvPr id="26" name="TextBox 25"/>
          <p:cNvSpPr txBox="1"/>
          <p:nvPr/>
        </p:nvSpPr>
        <p:spPr>
          <a:xfrm>
            <a:off x="325069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433572"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51586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58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81762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ask in 💬 c…</a:t>
            </a:r>
          </a:p>
        </p:txBody>
      </p:sp>
      <p:sp>
        <p:nvSpPr>
          <p:cNvPr id="31" name="TextBox 30"/>
          <p:cNvSpPr txBox="1"/>
          <p:nvPr/>
        </p:nvSpPr>
        <p:spPr>
          <a:xfrm>
            <a:off x="516178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34466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42696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269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72871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Write on t…</a:t>
            </a:r>
          </a:p>
        </p:txBody>
      </p:sp>
      <p:sp>
        <p:nvSpPr>
          <p:cNvPr id="36" name="TextBox 35"/>
          <p:cNvSpPr txBox="1"/>
          <p:nvPr/>
        </p:nvSpPr>
        <p:spPr>
          <a:xfrm>
            <a:off x="700156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18444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26673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667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56848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Turn textb…</a:t>
            </a:r>
          </a:p>
        </p:txBody>
      </p:sp>
      <p:sp>
        <p:nvSpPr>
          <p:cNvPr id="41" name="TextBox 40"/>
          <p:cNvSpPr txBox="1"/>
          <p:nvPr/>
        </p:nvSpPr>
        <p:spPr>
          <a:xfrm>
            <a:off x="884133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9024213"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10650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065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408261"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Keep your…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When class ends, a 'Take the review quiz? Yes / No' popup appears.</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'Yes' and a review quiz matched to today's class appears automatically.</a:t>
            </a:r>
          </a:p>
          <a:p>
            <a:pPr>
              <a:lnSpc>
                <a:spcPct val="115000"/>
              </a:lnSpc>
              <a:spcAft>
                <a:spcPts val="300"/>
              </a:spcAft>
            </a:pPr>
            <a:r>
              <a:rPr sz="700" b="1">
                <a:solidFill>
                  <a:srgbClr val="7C3AED"/>
                </a:solidFill>
                <a:latin typeface="Malgun Gothic"/>
              </a:rPr>
              <a:t>● </a:t>
            </a:r>
            <a:r>
              <a:rPr sz="900">
                <a:solidFill>
                  <a:srgbClr val="334155"/>
                </a:solidFill>
                <a:latin typeface="Malgun Gothic"/>
              </a:rPr>
              <a:t>Leave a star rating (How was today's class? 7 stars) to get +10P.</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Then review today's words once more with a learning game to make it perfect.</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Reviewing right after class stays in memory longest.</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rating helps your teacher, and you get points too.</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You must leave a star rating to exit the class (it's OK to be honest).</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Review quiz → game → vocabulary, in that order, makes today's lesson truly yours.</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2869"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2516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51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2691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'Take the…</a:t>
            </a:r>
          </a:p>
        </p:txBody>
      </p:sp>
      <p:sp>
        <p:nvSpPr>
          <p:cNvPr id="28" name="TextBox 27"/>
          <p:cNvSpPr txBox="1"/>
          <p:nvPr/>
        </p:nvSpPr>
        <p:spPr>
          <a:xfrm>
            <a:off x="441380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596688"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67898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78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980736"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'Yes'</a:t>
            </a:r>
          </a:p>
        </p:txBody>
      </p:sp>
      <p:sp>
        <p:nvSpPr>
          <p:cNvPr id="33" name="TextBox 32"/>
          <p:cNvSpPr txBox="1"/>
          <p:nvPr/>
        </p:nvSpPr>
        <p:spPr>
          <a:xfrm>
            <a:off x="566653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84941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317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317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334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star ratin…</a:t>
            </a:r>
          </a:p>
        </p:txBody>
      </p:sp>
      <p:sp>
        <p:nvSpPr>
          <p:cNvPr id="38" name="TextBox 37"/>
          <p:cNvSpPr txBox="1"/>
          <p:nvPr/>
        </p:nvSpPr>
        <p:spPr>
          <a:xfrm>
            <a:off x="750630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68918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77148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14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07323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learning 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The check screen tests camera, mic, network and lighting all at once.</a:t>
            </a:r>
          </a:p>
          <a:p>
            <a:pPr>
              <a:lnSpc>
                <a:spcPct val="115000"/>
              </a:lnSpc>
              <a:spcAft>
                <a:spcPts val="300"/>
              </a:spcAft>
            </a:pPr>
            <a:r>
              <a:rPr sz="700" b="1">
                <a:solidFill>
                  <a:srgbClr val="7C3AED"/>
                </a:solidFill>
                <a:latin typeface="Malgun Gothic"/>
              </a:rPr>
              <a:t>● </a:t>
            </a:r>
            <a:r>
              <a:rPr sz="900">
                <a:solidFill>
                  <a:srgbClr val="334155"/>
                </a:solidFill>
                <a:latin typeface="Malgun Gothic"/>
              </a:rPr>
              <a:t>Read the overall score and each item's signal (green/yellow/red).</a:t>
            </a:r>
          </a:p>
          <a:p>
            <a:pPr>
              <a:lnSpc>
                <a:spcPct val="115000"/>
              </a:lnSpc>
              <a:spcAft>
                <a:spcPts val="300"/>
              </a:spcAft>
            </a:pPr>
            <a:r>
              <a:rPr sz="700" b="1">
                <a:solidFill>
                  <a:srgbClr val="7C3AED"/>
                </a:solidFill>
                <a:latin typeface="Malgun Gothic"/>
              </a:rPr>
              <a:t>● </a:t>
            </a:r>
            <a:r>
              <a:rPr sz="900">
                <a:solidFill>
                  <a:srgbClr val="334155"/>
                </a:solidFill>
                <a:latin typeface="Malgun Gothic"/>
              </a:rPr>
              <a:t>If red appears, follow the tips to turn on a light or move seats and check again.</a:t>
            </a:r>
          </a:p>
        </p:txBody>
      </p:sp>
      <p:sp>
        <p:nvSpPr>
          <p:cNvPr id="14" name="Rounded Rectangle 13"/>
          <p:cNvSpPr/>
          <p:nvPr/>
        </p:nvSpPr>
        <p:spPr>
          <a:xfrm>
            <a:off x="457200" y="518739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When your face is well-lit, the teacher can read your expression and help more.</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Wi-Fi is weak, moving closer to the router helps.</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Do the check 5 minutes before class — fixing issues early keeps the lesson smooth.</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camera, mi…</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900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overall sc…</a:t>
            </a:r>
          </a:p>
        </p:txBody>
      </p:sp>
      <p:sp>
        <p:nvSpPr>
          <p:cNvPr id="31" name="TextBox 30"/>
          <p:cNvSpPr txBox="1"/>
          <p:nvPr/>
        </p:nvSpPr>
        <p:spPr>
          <a:xfrm>
            <a:off x="696589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48779"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107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1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3282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turn on 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Before class, the AI friend greets you in English — reply casually.</a:t>
            </a:r>
          </a:p>
          <a:p>
            <a:pPr>
              <a:lnSpc>
                <a:spcPct val="115000"/>
              </a:lnSpc>
              <a:spcAft>
                <a:spcPts val="300"/>
              </a:spcAft>
            </a:pPr>
            <a:r>
              <a:rPr sz="700" b="1">
                <a:solidFill>
                  <a:srgbClr val="7C3AED"/>
                </a:solidFill>
                <a:latin typeface="Malgun Gothic"/>
              </a:rPr>
              <a:t>● </a:t>
            </a:r>
            <a:r>
              <a:rPr sz="900">
                <a:solidFill>
                  <a:srgbClr val="334155"/>
                </a:solidFill>
                <a:latin typeface="Malgun Gothic"/>
              </a:rPr>
              <a:t>Questions linked to today's textbook appear so you get a feel in advance.</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the speak/listen buttons to answer by voice or type.</a:t>
            </a:r>
          </a:p>
        </p:txBody>
      </p:sp>
      <p:sp>
        <p:nvSpPr>
          <p:cNvPr id="14" name="Rounded Rectangle 13"/>
          <p:cNvSpPr/>
          <p:nvPr/>
        </p:nvSpPr>
        <p:spPr>
          <a:xfrm>
            <a:off x="457200" y="518739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Your teacher can see your warm-up, so class flows naturally from it.</a:t>
            </a:r>
          </a:p>
          <a:p>
            <a:pPr>
              <a:lnSpc>
                <a:spcPct val="115000"/>
              </a:lnSpc>
              <a:spcAft>
                <a:spcPts val="100"/>
              </a:spcAft>
            </a:pPr>
            <a:r>
              <a:rPr sz="650" b="1">
                <a:solidFill>
                  <a:srgbClr val="7C3AED"/>
                </a:solidFill>
                <a:latin typeface="Malgun Gothic"/>
              </a:rPr>
              <a:t>● </a:t>
            </a:r>
            <a:r>
              <a:rPr sz="850">
                <a:solidFill>
                  <a:srgbClr val="334155"/>
                </a:solidFill>
                <a:latin typeface="Malgun Gothic"/>
              </a:rPr>
              <a:t>Mistakes are fine — it's just a warm-up, so relax!</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Make the warm-up a habit before every class and you'll start speaking sooner.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55187"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3748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37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39235"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friend…</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Questions…</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062825"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answer by…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Pick a level (Phonics, BTS, SIU, etc.) to get sentences at your level.</a:t>
            </a:r>
          </a:p>
          <a:p>
            <a:pPr>
              <a:lnSpc>
                <a:spcPct val="115000"/>
              </a:lnSpc>
              <a:spcAft>
                <a:spcPts val="300"/>
              </a:spcAft>
            </a:pPr>
            <a:r>
              <a:rPr sz="700" b="1">
                <a:solidFill>
                  <a:srgbClr val="7C3AED"/>
                </a:solidFill>
                <a:latin typeface="Malgun Gothic"/>
              </a:rPr>
              <a:t>● </a:t>
            </a:r>
            <a:r>
              <a:rPr sz="900">
                <a:solidFill>
                  <a:srgbClr val="334155"/>
                </a:solidFill>
                <a:latin typeface="Malgun Gothic"/>
              </a:rPr>
              <a:t>Read the sentence on screen and press the red mic button to record.</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AI shows your pronunciation score and what to fix.</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'replay' to hear the native audio and practice once more.</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Start with short sentences, clearly — your score rises faster.</a:t>
            </a:r>
          </a:p>
          <a:p>
            <a:pPr>
              <a:lnSpc>
                <a:spcPct val="115000"/>
              </a:lnSpc>
              <a:spcAft>
                <a:spcPts val="100"/>
              </a:spcAft>
            </a:pPr>
            <a:r>
              <a:rPr sz="650" b="1">
                <a:solidFill>
                  <a:srgbClr val="7C3AED"/>
                </a:solidFill>
                <a:latin typeface="Malgun Gothic"/>
              </a:rPr>
              <a:t>● </a:t>
            </a:r>
            <a:r>
              <a:rPr sz="850">
                <a:solidFill>
                  <a:srgbClr val="334155"/>
                </a:solidFill>
                <a:latin typeface="Malgun Gothic"/>
              </a:rPr>
              <a:t>Repeating sentences from class here makes them stick.</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Five sentences a day and your pronunciation noticeably improves.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 (Pho…</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Read the s…</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pronunciat…</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native aud…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On the level test request screen, pick a method (AI/teacher) and a date/time.</a:t>
            </a:r>
          </a:p>
          <a:p>
            <a:pPr>
              <a:lnSpc>
                <a:spcPct val="115000"/>
              </a:lnSpc>
              <a:spcAft>
                <a:spcPts val="300"/>
              </a:spcAft>
            </a:pPr>
            <a:r>
              <a:rPr sz="700" b="1">
                <a:solidFill>
                  <a:srgbClr val="7C3AED"/>
                </a:solidFill>
                <a:latin typeface="Malgun Gothic"/>
              </a:rPr>
              <a:t>● </a:t>
            </a:r>
            <a:r>
              <a:rPr sz="900">
                <a:solidFill>
                  <a:srgbClr val="334155"/>
                </a:solidFill>
                <a:latin typeface="Malgun Gothic"/>
              </a:rPr>
              <a:t>Follow the guide and answer the speaking and listening questions.</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result is reflected in your curriculum (my level).</a:t>
            </a:r>
          </a:p>
        </p:txBody>
      </p:sp>
      <p:sp>
        <p:nvSpPr>
          <p:cNvPr id="14" name="Rounded Rectangle 13"/>
          <p:cNvSpPr/>
          <p:nvPr/>
        </p:nvSpPr>
        <p:spPr>
          <a:xfrm>
            <a:off x="457200" y="518739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We recommend taking it once when you first start.</a:t>
            </a:r>
          </a:p>
          <a:p>
            <a:pPr>
              <a:lnSpc>
                <a:spcPct val="115000"/>
              </a:lnSpc>
              <a:spcAft>
                <a:spcPts val="100"/>
              </a:spcAft>
            </a:pPr>
            <a:r>
              <a:rPr sz="650" b="1">
                <a:solidFill>
                  <a:srgbClr val="7C3AED"/>
                </a:solidFill>
                <a:latin typeface="Malgun Gothic"/>
              </a:rPr>
              <a:t>● </a:t>
            </a:r>
            <a:r>
              <a:rPr sz="850">
                <a:solidFill>
                  <a:srgbClr val="334155"/>
                </a:solidFill>
                <a:latin typeface="Malgun Gothic"/>
              </a:rPr>
              <a:t>Retake it periodically to see how much you've improved.</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Relax — the goal is just to know your level accurately.</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 test…</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speaking a…</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curriculum…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Check which of Levels 1–10 you're at now.</a:t>
            </a:r>
          </a:p>
          <a:p>
            <a:pPr>
              <a:lnSpc>
                <a:spcPct val="115000"/>
              </a:lnSpc>
              <a:spcAft>
                <a:spcPts val="300"/>
              </a:spcAft>
            </a:pPr>
            <a:r>
              <a:rPr sz="700" b="1">
                <a:solidFill>
                  <a:srgbClr val="7C3AED"/>
                </a:solidFill>
                <a:latin typeface="Malgun Gothic"/>
              </a:rPr>
              <a:t>● </a:t>
            </a:r>
            <a:r>
              <a:rPr sz="900">
                <a:solidFill>
                  <a:srgbClr val="334155"/>
                </a:solidFill>
                <a:latin typeface="Malgun Gothic"/>
              </a:rPr>
              <a:t>Tap a level to see what you learn and the goals.</a:t>
            </a:r>
          </a:p>
          <a:p>
            <a:pPr>
              <a:lnSpc>
                <a:spcPct val="115000"/>
              </a:lnSpc>
              <a:spcAft>
                <a:spcPts val="300"/>
              </a:spcAft>
            </a:pPr>
            <a:r>
              <a:rPr sz="700" b="1">
                <a:solidFill>
                  <a:srgbClr val="7C3AED"/>
                </a:solidFill>
                <a:latin typeface="Malgun Gothic"/>
              </a:rPr>
              <a:t>● </a:t>
            </a:r>
            <a:r>
              <a:rPr sz="900">
                <a:solidFill>
                  <a:srgbClr val="334155"/>
                </a:solidFill>
                <a:latin typeface="Malgun Gothic"/>
              </a:rPr>
              <a:t>Set a target level and keep challenging yourself.</a:t>
            </a:r>
          </a:p>
        </p:txBody>
      </p:sp>
      <p:sp>
        <p:nvSpPr>
          <p:cNvPr id="14" name="Rounded Rectangle 13"/>
          <p:cNvSpPr/>
          <p:nvPr/>
        </p:nvSpPr>
        <p:spPr>
          <a:xfrm>
            <a:off x="457200" y="5026914"/>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As levels rise, the sentences get longer and more practical.</a:t>
            </a:r>
          </a:p>
          <a:p>
            <a:pPr>
              <a:lnSpc>
                <a:spcPct val="115000"/>
              </a:lnSpc>
              <a:spcAft>
                <a:spcPts val="100"/>
              </a:spcAft>
            </a:pPr>
            <a:r>
              <a:rPr sz="650" b="1">
                <a:solidFill>
                  <a:srgbClr val="7C3AED"/>
                </a:solidFill>
                <a:latin typeface="Malgun Gothic"/>
              </a:rPr>
              <a:t>● </a:t>
            </a:r>
            <a:r>
              <a:rPr sz="850">
                <a:solidFill>
                  <a:srgbClr val="334155"/>
                </a:solidFill>
                <a:latin typeface="Malgun Gothic"/>
              </a:rPr>
              <a:t>Setting a goal with your teacher boosts motivation.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Knowing your level means games and reviews use the right words for you.</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0595" y="2670048"/>
            <a:ext cx="1728216"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7289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74643" y="2670048"/>
            <a:ext cx="130759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Levels 1–1…</a:t>
            </a:r>
          </a:p>
        </p:txBody>
      </p:sp>
      <p:sp>
        <p:nvSpPr>
          <p:cNvPr id="26" name="TextBox 25"/>
          <p:cNvSpPr txBox="1"/>
          <p:nvPr/>
        </p:nvSpPr>
        <p:spPr>
          <a:xfrm>
            <a:off x="511881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1691"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8398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839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8573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what you l…</a:t>
            </a:r>
          </a:p>
        </p:txBody>
      </p:sp>
      <p:sp>
        <p:nvSpPr>
          <p:cNvPr id="31" name="TextBox 30"/>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4146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5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255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Set a targ…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In Games, tap a game card to start right away.</a:t>
            </a:r>
          </a:p>
          <a:p>
            <a:pPr>
              <a:lnSpc>
                <a:spcPct val="115000"/>
              </a:lnSpc>
              <a:spcAft>
                <a:spcPts val="300"/>
              </a:spcAft>
            </a:pPr>
            <a:r>
              <a:rPr sz="700" b="1">
                <a:solidFill>
                  <a:srgbClr val="7C3AED"/>
                </a:solidFill>
                <a:latin typeface="Malgun Gothic"/>
              </a:rPr>
              <a:t>● </a:t>
            </a:r>
            <a:r>
              <a:rPr sz="900">
                <a:solidFill>
                  <a:srgbClr val="334155"/>
                </a:solidFill>
                <a:latin typeface="Malgun Gothic"/>
              </a:rPr>
              <a:t>At the top, choose English/Chinese and the game speed.</a:t>
            </a:r>
          </a:p>
          <a:p>
            <a:pPr>
              <a:lnSpc>
                <a:spcPct val="115000"/>
              </a:lnSpc>
              <a:spcAft>
                <a:spcPts val="300"/>
              </a:spcAft>
            </a:pPr>
            <a:r>
              <a:rPr sz="700" b="1">
                <a:solidFill>
                  <a:srgbClr val="7C3AED"/>
                </a:solidFill>
                <a:latin typeface="Malgun Gothic"/>
              </a:rPr>
              <a:t>● </a:t>
            </a:r>
            <a:r>
              <a:rPr sz="900">
                <a:solidFill>
                  <a:srgbClr val="334155"/>
                </a:solidFill>
                <a:latin typeface="Malgun Gothic"/>
              </a:rPr>
              <a:t>Correct answers earn points and keep your learning streak flame going.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Fill 10 correct answers to see your result and highlights.</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Game words are linked to what you learned today.</a:t>
            </a:r>
          </a:p>
          <a:p>
            <a:pPr>
              <a:lnSpc>
                <a:spcPct val="115000"/>
              </a:lnSpc>
              <a:spcAft>
                <a:spcPts val="100"/>
              </a:spcAft>
            </a:pPr>
            <a:r>
              <a:rPr sz="650" b="1">
                <a:solidFill>
                  <a:srgbClr val="7C3AED"/>
                </a:solidFill>
                <a:latin typeface="Malgun Gothic"/>
              </a:rPr>
              <a:t>● </a:t>
            </a:r>
            <a:r>
              <a:rPr sz="850">
                <a:solidFill>
                  <a:srgbClr val="334155"/>
                </a:solidFill>
                <a:latin typeface="Malgun Gothic"/>
              </a:rPr>
              <a:t>Games marked 'speaking' score better when you say the answer aloud.</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Games are review. When class words appear in a game, they stick longer.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050438"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13273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327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434486"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Games</a:t>
            </a:r>
          </a:p>
        </p:txBody>
      </p:sp>
      <p:sp>
        <p:nvSpPr>
          <p:cNvPr id="26" name="TextBox 25"/>
          <p:cNvSpPr txBox="1"/>
          <p:nvPr/>
        </p:nvSpPr>
        <p:spPr>
          <a:xfrm>
            <a:off x="412028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30316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8546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546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8721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English/Ch…</a:t>
            </a:r>
          </a:p>
        </p:txBody>
      </p:sp>
      <p:sp>
        <p:nvSpPr>
          <p:cNvPr id="31" name="TextBox 30"/>
          <p:cNvSpPr txBox="1"/>
          <p:nvPr/>
        </p:nvSpPr>
        <p:spPr>
          <a:xfrm>
            <a:off x="596005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142939"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2523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252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26987"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points</a:t>
            </a:r>
          </a:p>
        </p:txBody>
      </p:sp>
      <p:sp>
        <p:nvSpPr>
          <p:cNvPr id="36" name="TextBox 35"/>
          <p:cNvSpPr txBox="1"/>
          <p:nvPr/>
        </p:nvSpPr>
        <p:spPr>
          <a:xfrm>
            <a:off x="729874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48162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391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39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8656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result 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Enter the lesson boss battle and attack by solving questions.</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more correct answers, the stronger you get and the more badges you earn.</a:t>
            </a:r>
          </a:p>
          <a:p>
            <a:pPr>
              <a:lnSpc>
                <a:spcPct val="115000"/>
              </a:lnSpc>
              <a:spcAft>
                <a:spcPts val="300"/>
              </a:spcAft>
            </a:pPr>
            <a:r>
              <a:rPr sz="700" b="1">
                <a:solidFill>
                  <a:srgbClr val="7C3AED"/>
                </a:solidFill>
                <a:latin typeface="Malgun Gothic"/>
              </a:rPr>
              <a:t>● </a:t>
            </a:r>
            <a:r>
              <a:rPr sz="900">
                <a:solidFill>
                  <a:srgbClr val="334155"/>
                </a:solidFill>
                <a:latin typeface="Malgun Gothic"/>
              </a:rPr>
              <a:t>Wrong is fine — try again and learn the words.</a:t>
            </a:r>
          </a:p>
        </p:txBody>
      </p:sp>
      <p:sp>
        <p:nvSpPr>
          <p:cNvPr id="14" name="Rounded Rectangle 13"/>
          <p:cNvSpPr/>
          <p:nvPr/>
        </p:nvSpPr>
        <p:spPr>
          <a:xfrm>
            <a:off x="457200" y="5187391"/>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Turn on sound for extra excitement with sound effects.</a:t>
            </a:r>
          </a:p>
          <a:p>
            <a:pPr>
              <a:lnSpc>
                <a:spcPct val="115000"/>
              </a:lnSpc>
              <a:spcAft>
                <a:spcPts val="100"/>
              </a:spcAft>
            </a:pPr>
            <a:r>
              <a:rPr sz="650" b="1">
                <a:solidFill>
                  <a:srgbClr val="7C3AED"/>
                </a:solidFill>
                <a:latin typeface="Malgun Gothic"/>
              </a:rPr>
              <a:t>● </a:t>
            </a:r>
            <a:r>
              <a:rPr sz="850">
                <a:solidFill>
                  <a:srgbClr val="334155"/>
                </a:solidFill>
                <a:latin typeface="Malgun Gothic"/>
              </a:rPr>
              <a:t>Beat the boss for a special badge.</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Too hard? Change the game speed to 'slow'.</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76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59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59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0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boss battl…</a:t>
            </a:r>
          </a:p>
        </p:txBody>
      </p:sp>
      <p:sp>
        <p:nvSpPr>
          <p:cNvPr id="26" name="TextBox 25"/>
          <p:cNvSpPr txBox="1"/>
          <p:nvPr/>
        </p:nvSpPr>
        <p:spPr>
          <a:xfrm>
            <a:off x="533369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516575"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9887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988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0623"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badges</a:t>
            </a:r>
          </a:p>
        </p:txBody>
      </p:sp>
      <p:sp>
        <p:nvSpPr>
          <p:cNvPr id="31" name="TextBox 30"/>
          <p:cNvSpPr txBox="1"/>
          <p:nvPr/>
        </p:nvSpPr>
        <p:spPr>
          <a:xfrm>
            <a:off x="66723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855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37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7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39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Wrong is 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Shooting + Speaking: shoot words in order to complete a sentence.</a:t>
            </a:r>
          </a:p>
          <a:p>
            <a:pPr>
              <a:lnSpc>
                <a:spcPct val="115000"/>
              </a:lnSpc>
              <a:spcAft>
                <a:spcPts val="300"/>
              </a:spcAft>
            </a:pPr>
            <a:r>
              <a:rPr sz="700" b="1">
                <a:solidFill>
                  <a:srgbClr val="7C3AED"/>
                </a:solidFill>
                <a:latin typeface="Malgun Gothic"/>
              </a:rPr>
              <a:t>● </a:t>
            </a:r>
            <a:r>
              <a:rPr sz="900">
                <a:solidFill>
                  <a:srgbClr val="334155"/>
                </a:solidFill>
                <a:latin typeface="Malgun Gothic"/>
              </a:rPr>
              <a:t>Mastery (word hunt / sentence fishing): build the target sentence while speaking.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Change difficulty and speed to pick your challenge.</a:t>
            </a:r>
          </a:p>
        </p:txBody>
      </p:sp>
      <p:sp>
        <p:nvSpPr>
          <p:cNvPr id="14" name="Rounded Rectangle 13"/>
          <p:cNvSpPr/>
          <p:nvPr/>
        </p:nvSpPr>
        <p:spPr>
          <a:xfrm>
            <a:off x="457200" y="518739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Speaking games score better when you say answers aloud.</a:t>
            </a:r>
          </a:p>
          <a:p>
            <a:pPr>
              <a:lnSpc>
                <a:spcPct val="115000"/>
              </a:lnSpc>
              <a:spcAft>
                <a:spcPts val="100"/>
              </a:spcAft>
            </a:pPr>
            <a:r>
              <a:rPr sz="650" b="1">
                <a:solidFill>
                  <a:srgbClr val="7C3AED"/>
                </a:solidFill>
                <a:latin typeface="Malgun Gothic"/>
              </a:rPr>
              <a:t>● </a:t>
            </a:r>
            <a:r>
              <a:rPr sz="850">
                <a:solidFill>
                  <a:srgbClr val="334155"/>
                </a:solidFill>
                <a:latin typeface="Malgun Gothic"/>
              </a:rPr>
              <a:t>Reading the target sentence loudly helps memory.</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Start at 'easy/normal' and raise it as you get comfortable.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Shooting +…</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Mastery (w…</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difficulty…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Type or speak to match the word/sentence on screen to stop zombies.</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faster you answer, the higher your score and combo.</a:t>
            </a:r>
          </a:p>
          <a:p>
            <a:pPr>
              <a:lnSpc>
                <a:spcPct val="115000"/>
              </a:lnSpc>
              <a:spcAft>
                <a:spcPts val="300"/>
              </a:spcAft>
            </a:pPr>
            <a:r>
              <a:rPr sz="700" b="1">
                <a:solidFill>
                  <a:srgbClr val="7C3AED"/>
                </a:solidFill>
                <a:latin typeface="Malgun Gothic"/>
              </a:rPr>
              <a:t>● </a:t>
            </a:r>
            <a:r>
              <a:rPr sz="900">
                <a:solidFill>
                  <a:srgbClr val="334155"/>
                </a:solidFill>
                <a:latin typeface="Malgun Gothic"/>
              </a:rPr>
              <a:t>Get as many right as you can before you run out of lives.</a:t>
            </a:r>
          </a:p>
        </p:txBody>
      </p:sp>
      <p:sp>
        <p:nvSpPr>
          <p:cNvPr id="14" name="Rounded Rectangle 13"/>
          <p:cNvSpPr/>
          <p:nvPr/>
        </p:nvSpPr>
        <p:spPr>
          <a:xfrm>
            <a:off x="457200" y="5187391"/>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Great for quick-reaction practice.</a:t>
            </a:r>
          </a:p>
          <a:p>
            <a:pPr>
              <a:lnSpc>
                <a:spcPct val="115000"/>
              </a:lnSpc>
              <a:spcAft>
                <a:spcPts val="100"/>
              </a:spcAft>
            </a:pPr>
            <a:r>
              <a:rPr sz="650" b="1">
                <a:solidFill>
                  <a:srgbClr val="7C3AED"/>
                </a:solidFill>
                <a:latin typeface="Malgun Gothic"/>
              </a:rPr>
              <a:t>● </a:t>
            </a:r>
            <a:r>
              <a:rPr sz="850">
                <a:solidFill>
                  <a:srgbClr val="334155"/>
                </a:solidFill>
                <a:latin typeface="Malgun Gothic"/>
              </a:rPr>
              <a:t>Don't skip unknown words — check their meaning.</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Nervous? Breathe — accuracy matters more than speed.</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 match t…</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score and…</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Get as man…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231011"/>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Press 'Start Class' to begin the case.</a:t>
            </a:r>
          </a:p>
          <a:p>
            <a:pPr>
              <a:lnSpc>
                <a:spcPct val="115000"/>
              </a:lnSpc>
              <a:spcAft>
                <a:spcPts val="300"/>
              </a:spcAft>
            </a:pPr>
            <a:r>
              <a:rPr sz="750" b="1">
                <a:solidFill>
                  <a:srgbClr val="7C3AED"/>
                </a:solidFill>
                <a:latin typeface="Malgun Gothic"/>
              </a:rPr>
              <a:t>● </a:t>
            </a:r>
            <a:r>
              <a:rPr sz="950">
                <a:solidFill>
                  <a:srgbClr val="334155"/>
                </a:solidFill>
                <a:latin typeface="Malgun Gothic"/>
              </a:rPr>
              <a:t>Listen to the English hints and gather clues.</a:t>
            </a:r>
          </a:p>
          <a:p>
            <a:pPr>
              <a:lnSpc>
                <a:spcPct val="115000"/>
              </a:lnSpc>
              <a:spcAft>
                <a:spcPts val="300"/>
              </a:spcAft>
            </a:pPr>
            <a:r>
              <a:rPr sz="750" b="1">
                <a:solidFill>
                  <a:srgbClr val="7C3AED"/>
                </a:solidFill>
                <a:latin typeface="Malgun Gothic"/>
              </a:rPr>
              <a:t>● </a:t>
            </a:r>
            <a:r>
              <a:rPr sz="950">
                <a:solidFill>
                  <a:srgbClr val="334155"/>
                </a:solidFill>
                <a:latin typeface="Malgun Gothic"/>
              </a:rPr>
              <a:t>Pick the culprit and explain your reason in English.</a:t>
            </a:r>
          </a:p>
        </p:txBody>
      </p:sp>
      <p:sp>
        <p:nvSpPr>
          <p:cNvPr id="14" name="Rounded Rectangle 13"/>
          <p:cNvSpPr/>
          <p:nvPr/>
        </p:nvSpPr>
        <p:spPr>
          <a:xfrm>
            <a:off x="457200" y="5071491"/>
            <a:ext cx="5669280" cy="85130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1172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64099"/>
            <a:ext cx="5394960" cy="522122"/>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Improves listening focus.</a:t>
            </a:r>
          </a:p>
          <a:p>
            <a:pPr>
              <a:lnSpc>
                <a:spcPct val="115000"/>
              </a:lnSpc>
              <a:spcAft>
                <a:spcPts val="100"/>
              </a:spcAft>
            </a:pPr>
            <a:r>
              <a:rPr sz="700" b="1">
                <a:solidFill>
                  <a:srgbClr val="7C3AED"/>
                </a:solidFill>
                <a:latin typeface="Malgun Gothic"/>
              </a:rPr>
              <a:t>● </a:t>
            </a:r>
            <a:r>
              <a:rPr sz="900">
                <a:solidFill>
                  <a:srgbClr val="334155"/>
                </a:solidFill>
                <a:latin typeface="Malgun Gothic"/>
              </a:rPr>
              <a:t>Practices giving reasons in English.</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Missed a hint? Use replay to check it.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Start Clas…</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Listen to…</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explain yo…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Press 'Start' to get questions.</a:t>
            </a:r>
          </a:p>
          <a:p>
            <a:pPr>
              <a:lnSpc>
                <a:spcPct val="115000"/>
              </a:lnSpc>
              <a:spcAft>
                <a:spcPts val="300"/>
              </a:spcAft>
            </a:pPr>
            <a:r>
              <a:rPr sz="750" b="1">
                <a:solidFill>
                  <a:srgbClr val="7C3AED"/>
                </a:solidFill>
                <a:latin typeface="Malgun Gothic"/>
              </a:rPr>
              <a:t>● </a:t>
            </a:r>
            <a:r>
              <a:rPr sz="950">
                <a:solidFill>
                  <a:srgbClr val="334155"/>
                </a:solidFill>
                <a:latin typeface="Malgun Gothic"/>
              </a:rPr>
              <a:t>Listen and repeat each sentence.</a:t>
            </a:r>
          </a:p>
          <a:p>
            <a:pPr>
              <a:lnSpc>
                <a:spcPct val="115000"/>
              </a:lnSpc>
              <a:spcAft>
                <a:spcPts val="300"/>
              </a:spcAft>
            </a:pPr>
            <a:r>
              <a:rPr sz="750" b="1">
                <a:solidFill>
                  <a:srgbClr val="7C3AED"/>
                </a:solidFill>
                <a:latin typeface="Malgun Gothic"/>
              </a:rPr>
              <a:t>● </a:t>
            </a:r>
            <a:r>
              <a:rPr sz="950">
                <a:solidFill>
                  <a:srgbClr val="334155"/>
                </a:solidFill>
                <a:latin typeface="Malgun Gothic"/>
              </a:rPr>
              <a:t>Fill 10 correct answers to see your result and pronunciation feedback.</a:t>
            </a:r>
          </a:p>
        </p:txBody>
      </p:sp>
      <p:sp>
        <p:nvSpPr>
          <p:cNvPr id="14" name="Rounded Rectangle 13"/>
          <p:cNvSpPr/>
          <p:nvPr/>
        </p:nvSpPr>
        <p:spPr>
          <a:xfrm>
            <a:off x="457200" y="4902098"/>
            <a:ext cx="5669280" cy="1011783"/>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The more you speak aloud, the more you improve.</a:t>
            </a:r>
          </a:p>
          <a:p>
            <a:pPr>
              <a:lnSpc>
                <a:spcPct val="115000"/>
              </a:lnSpc>
              <a:spcAft>
                <a:spcPts val="100"/>
              </a:spcAft>
            </a:pPr>
            <a:r>
              <a:rPr sz="700" b="1">
                <a:solidFill>
                  <a:srgbClr val="7C3AED"/>
                </a:solidFill>
                <a:latin typeface="Malgun Gothic"/>
              </a:rPr>
              <a:t>● </a:t>
            </a:r>
            <a:r>
              <a:rPr sz="900">
                <a:solidFill>
                  <a:srgbClr val="334155"/>
                </a:solidFill>
                <a:latin typeface="Malgun Gothic"/>
              </a:rPr>
              <a:t>A quiet place helps recognition.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Doing it right after class doubles what you remember.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19779"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0207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02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03827"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Start</a:t>
            </a:r>
          </a:p>
        </p:txBody>
      </p:sp>
      <p:sp>
        <p:nvSpPr>
          <p:cNvPr id="26" name="TextBox 25"/>
          <p:cNvSpPr txBox="1"/>
          <p:nvPr/>
        </p:nvSpPr>
        <p:spPr>
          <a:xfrm>
            <a:off x="478962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97250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5480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548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5655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Listen and…</a:t>
            </a:r>
          </a:p>
        </p:txBody>
      </p:sp>
      <p:sp>
        <p:nvSpPr>
          <p:cNvPr id="31" name="TextBox 30"/>
          <p:cNvSpPr txBox="1"/>
          <p:nvPr/>
        </p:nvSpPr>
        <p:spPr>
          <a:xfrm>
            <a:off x="662940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81228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9457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945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19632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result 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Take the review quiz that pops up after class.</a:t>
            </a:r>
          </a:p>
          <a:p>
            <a:pPr>
              <a:lnSpc>
                <a:spcPct val="115000"/>
              </a:lnSpc>
              <a:spcAft>
                <a:spcPts val="300"/>
              </a:spcAft>
            </a:pPr>
            <a:r>
              <a:rPr sz="700" b="1">
                <a:solidFill>
                  <a:srgbClr val="7C3AED"/>
                </a:solidFill>
                <a:latin typeface="Malgun Gothic"/>
              </a:rPr>
              <a:t>● </a:t>
            </a:r>
            <a:r>
              <a:rPr sz="900">
                <a:solidFill>
                  <a:srgbClr val="334155"/>
                </a:solidFill>
                <a:latin typeface="Malgun Gothic"/>
              </a:rPr>
              <a:t>Recheck wrong questions with the explanation.</a:t>
            </a:r>
          </a:p>
          <a:p>
            <a:pPr>
              <a:lnSpc>
                <a:spcPct val="115000"/>
              </a:lnSpc>
              <a:spcAft>
                <a:spcPts val="300"/>
              </a:spcAft>
            </a:pPr>
            <a:r>
              <a:rPr sz="700" b="1">
                <a:solidFill>
                  <a:srgbClr val="7C3AED"/>
                </a:solidFill>
                <a:latin typeface="Malgun Gothic"/>
              </a:rPr>
              <a:t>● </a:t>
            </a:r>
            <a:r>
              <a:rPr sz="900">
                <a:solidFill>
                  <a:srgbClr val="334155"/>
                </a:solidFill>
                <a:latin typeface="Malgun Gothic"/>
              </a:rPr>
              <a:t>Note the words to review more from your result.</a:t>
            </a:r>
          </a:p>
        </p:txBody>
      </p:sp>
      <p:sp>
        <p:nvSpPr>
          <p:cNvPr id="14" name="Rounded Rectangle 13"/>
          <p:cNvSpPr/>
          <p:nvPr/>
        </p:nvSpPr>
        <p:spPr>
          <a:xfrm>
            <a:off x="457200" y="5026914"/>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It's short, so you can do it every time without pressure.</a:t>
            </a:r>
          </a:p>
          <a:p>
            <a:pPr>
              <a:lnSpc>
                <a:spcPct val="115000"/>
              </a:lnSpc>
              <a:spcAft>
                <a:spcPts val="100"/>
              </a:spcAft>
            </a:pPr>
            <a:r>
              <a:rPr sz="650" b="1">
                <a:solidFill>
                  <a:srgbClr val="7C3AED"/>
                </a:solidFill>
                <a:latin typeface="Malgun Gothic"/>
              </a:rPr>
              <a:t>● </a:t>
            </a:r>
            <a:r>
              <a:rPr sz="850">
                <a:solidFill>
                  <a:srgbClr val="334155"/>
                </a:solidFill>
                <a:latin typeface="Malgun Gothic"/>
              </a:rPr>
              <a:t>Wrong words link to the vocabulary book and games.</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Review quiz → game, in that order, is perfect.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qui…</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explanatio…</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words to 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231011"/>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Flip through your word cards in the vocabulary book.</a:t>
            </a:r>
          </a:p>
          <a:p>
            <a:pPr>
              <a:lnSpc>
                <a:spcPct val="115000"/>
              </a:lnSpc>
              <a:spcAft>
                <a:spcPts val="300"/>
              </a:spcAft>
            </a:pPr>
            <a:r>
              <a:rPr sz="750" b="1">
                <a:solidFill>
                  <a:srgbClr val="7C3AED"/>
                </a:solidFill>
                <a:latin typeface="Malgun Gothic"/>
              </a:rPr>
              <a:t>● </a:t>
            </a:r>
            <a:r>
              <a:rPr sz="950">
                <a:solidFill>
                  <a:srgbClr val="334155"/>
                </a:solidFill>
                <a:latin typeface="Malgun Gothic"/>
              </a:rPr>
              <a:t>Check the meaning and pronunciation on each card.</a:t>
            </a:r>
          </a:p>
          <a:p>
            <a:pPr>
              <a:lnSpc>
                <a:spcPct val="115000"/>
              </a:lnSpc>
              <a:spcAft>
                <a:spcPts val="300"/>
              </a:spcAft>
            </a:pPr>
            <a:r>
              <a:rPr sz="750" b="1">
                <a:solidFill>
                  <a:srgbClr val="7C3AED"/>
                </a:solidFill>
                <a:latin typeface="Malgun Gothic"/>
              </a:rPr>
              <a:t>● </a:t>
            </a:r>
            <a:r>
              <a:rPr sz="950">
                <a:solidFill>
                  <a:srgbClr val="334155"/>
                </a:solidFill>
                <a:latin typeface="Malgun Gothic"/>
              </a:rPr>
              <a:t>Split known and unknown words and repeat.</a:t>
            </a:r>
          </a:p>
        </p:txBody>
      </p:sp>
      <p:sp>
        <p:nvSpPr>
          <p:cNvPr id="14" name="Rounded Rectangle 13"/>
          <p:cNvSpPr/>
          <p:nvPr/>
        </p:nvSpPr>
        <p:spPr>
          <a:xfrm>
            <a:off x="457200" y="5071491"/>
            <a:ext cx="5669280" cy="85130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1172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64099"/>
            <a:ext cx="5394960" cy="522122"/>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Words from games and lessons collect here.</a:t>
            </a:r>
          </a:p>
          <a:p>
            <a:pPr>
              <a:lnSpc>
                <a:spcPct val="115000"/>
              </a:lnSpc>
              <a:spcAft>
                <a:spcPts val="100"/>
              </a:spcAft>
            </a:pPr>
            <a:r>
              <a:rPr sz="700" b="1">
                <a:solidFill>
                  <a:srgbClr val="7C3AED"/>
                </a:solidFill>
                <a:latin typeface="Malgun Gothic"/>
              </a:rPr>
              <a:t>● </a:t>
            </a:r>
            <a:r>
              <a:rPr sz="900">
                <a:solidFill>
                  <a:srgbClr val="334155"/>
                </a:solidFill>
                <a:latin typeface="Malgun Gothic"/>
              </a:rPr>
              <a:t>Perfect for spare moments on the go.</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Just 10 words a day is 300 words in a month.</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your word…</a:t>
            </a:r>
          </a:p>
        </p:txBody>
      </p:sp>
      <p:sp>
        <p:nvSpPr>
          <p:cNvPr id="26" name="TextBox 25"/>
          <p:cNvSpPr txBox="1"/>
          <p:nvPr/>
        </p:nvSpPr>
        <p:spPr>
          <a:xfrm>
            <a:off x="504017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2305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0534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5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0710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meaning an…</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Split know…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32941"/>
          </a:xfrm>
          <a:prstGeom prst="rect">
            <a:avLst/>
          </a:prstGeom>
          <a:noFill/>
        </p:spPr>
        <p:txBody>
          <a:bodyPr wrap="square">
            <a:spAutoFit/>
          </a:bodyPr>
          <a:lstStyle/>
          <a:p>
            <a:pPr>
              <a:lnSpc>
                <a:spcPct val="115000"/>
              </a:lnSpc>
              <a:spcAft>
                <a:spcPts val="300"/>
              </a:spcAft>
            </a:pPr>
            <a:r>
              <a:rPr sz="850" b="1">
                <a:solidFill>
                  <a:srgbClr val="7C3AED"/>
                </a:solidFill>
                <a:latin typeface="Malgun Gothic"/>
              </a:rPr>
              <a:t>● </a:t>
            </a:r>
            <a:r>
              <a:rPr sz="1050">
                <a:solidFill>
                  <a:srgbClr val="334155"/>
                </a:solidFill>
                <a:latin typeface="Malgun Gothic"/>
              </a:rPr>
              <a:t>Open the AI friend screen.</a:t>
            </a:r>
          </a:p>
          <a:p>
            <a:pPr>
              <a:lnSpc>
                <a:spcPct val="115000"/>
              </a:lnSpc>
              <a:spcAft>
                <a:spcPts val="300"/>
              </a:spcAft>
            </a:pPr>
            <a:r>
              <a:rPr sz="850" b="1">
                <a:solidFill>
                  <a:srgbClr val="7C3AED"/>
                </a:solidFill>
                <a:latin typeface="Malgun Gothic"/>
              </a:rPr>
              <a:t>● </a:t>
            </a:r>
            <a:r>
              <a:rPr sz="1050">
                <a:solidFill>
                  <a:srgbClr val="334155"/>
                </a:solidFill>
                <a:latin typeface="Malgun Gothic"/>
              </a:rPr>
              <a:t>Type or say what you want in English.</a:t>
            </a:r>
          </a:p>
          <a:p>
            <a:pPr>
              <a:lnSpc>
                <a:spcPct val="115000"/>
              </a:lnSpc>
              <a:spcAft>
                <a:spcPts val="300"/>
              </a:spcAft>
            </a:pPr>
            <a:r>
              <a:rPr sz="850" b="1">
                <a:solidFill>
                  <a:srgbClr val="7C3AED"/>
                </a:solidFill>
                <a:latin typeface="Malgun Gothic"/>
              </a:rPr>
              <a:t>● </a:t>
            </a:r>
            <a:r>
              <a:rPr sz="1050">
                <a:solidFill>
                  <a:srgbClr val="334155"/>
                </a:solidFill>
                <a:latin typeface="Malgun Gothic"/>
              </a:rPr>
              <a:t>Read Mango's reply and keep the conversation going naturally.</a:t>
            </a:r>
          </a:p>
        </p:txBody>
      </p:sp>
      <p:sp>
        <p:nvSpPr>
          <p:cNvPr id="14" name="Rounded Rectangle 13"/>
          <p:cNvSpPr/>
          <p:nvPr/>
        </p:nvSpPr>
        <p:spPr>
          <a:xfrm>
            <a:off x="457200" y="4973421"/>
            <a:ext cx="5669280" cy="8691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1914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266029"/>
            <a:ext cx="5394960" cy="539953"/>
          </a:xfrm>
          <a:prstGeom prst="rect">
            <a:avLst/>
          </a:prstGeom>
          <a:noFill/>
        </p:spPr>
        <p:txBody>
          <a:bodyPr wrap="square">
            <a:spAutoFit/>
          </a:bodyPr>
          <a:lstStyle/>
          <a:p>
            <a:pPr>
              <a:lnSpc>
                <a:spcPct val="115000"/>
              </a:lnSpc>
              <a:spcAft>
                <a:spcPts val="100"/>
              </a:spcAft>
            </a:pPr>
            <a:r>
              <a:rPr sz="750" b="1">
                <a:solidFill>
                  <a:srgbClr val="7C3AED"/>
                </a:solidFill>
                <a:latin typeface="Malgun Gothic"/>
              </a:rPr>
              <a:t>● </a:t>
            </a:r>
            <a:r>
              <a:rPr sz="950">
                <a:solidFill>
                  <a:srgbClr val="334155"/>
                </a:solidFill>
                <a:latin typeface="Malgun Gothic"/>
              </a:rPr>
              <a:t>Mistakes are fine — practice freely!</a:t>
            </a:r>
          </a:p>
          <a:p>
            <a:pPr>
              <a:lnSpc>
                <a:spcPct val="115000"/>
              </a:lnSpc>
              <a:spcAft>
                <a:spcPts val="100"/>
              </a:spcAft>
            </a:pPr>
            <a:r>
              <a:rPr sz="750" b="1">
                <a:solidFill>
                  <a:srgbClr val="7C3AED"/>
                </a:solidFill>
                <a:latin typeface="Malgun Gothic"/>
              </a:rPr>
              <a:t>● </a:t>
            </a:r>
            <a:r>
              <a:rPr sz="950">
                <a:solidFill>
                  <a:srgbClr val="334155"/>
                </a:solidFill>
                <a:latin typeface="Malgun Gothic"/>
              </a:rPr>
              <a:t>Great for chatting in English when bored.</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Learn by asking things like 'What is …?'</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47871"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3016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301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3192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friend</a:t>
            </a:r>
          </a:p>
        </p:txBody>
      </p:sp>
      <p:sp>
        <p:nvSpPr>
          <p:cNvPr id="26" name="TextBox 25"/>
          <p:cNvSpPr txBox="1"/>
          <p:nvPr/>
        </p:nvSpPr>
        <p:spPr>
          <a:xfrm>
            <a:off x="496153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14441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2671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6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284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Type or sa…</a:t>
            </a:r>
          </a:p>
        </p:txBody>
      </p:sp>
      <p:sp>
        <p:nvSpPr>
          <p:cNvPr id="31" name="TextBox 30"/>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98418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06648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keep the 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Type the sentence you want to write.</a:t>
            </a:r>
          </a:p>
          <a:p>
            <a:pPr>
              <a:lnSpc>
                <a:spcPct val="115000"/>
              </a:lnSpc>
              <a:spcAft>
                <a:spcPts val="300"/>
              </a:spcAft>
            </a:pPr>
            <a:r>
              <a:rPr sz="750" b="1">
                <a:solidFill>
                  <a:srgbClr val="7C3AED"/>
                </a:solidFill>
                <a:latin typeface="Malgun Gothic"/>
              </a:rPr>
              <a:t>● </a:t>
            </a:r>
            <a:r>
              <a:rPr sz="950">
                <a:solidFill>
                  <a:srgbClr val="334155"/>
                </a:solidFill>
                <a:latin typeface="Malgun Gothic"/>
              </a:rPr>
              <a:t>Press the AI Writing button.</a:t>
            </a:r>
          </a:p>
          <a:p>
            <a:pPr>
              <a:lnSpc>
                <a:spcPct val="115000"/>
              </a:lnSpc>
              <a:spcAft>
                <a:spcPts val="300"/>
              </a:spcAft>
            </a:pPr>
            <a:r>
              <a:rPr sz="750" b="1">
                <a:solidFill>
                  <a:srgbClr val="7C3AED"/>
                </a:solidFill>
                <a:latin typeface="Malgun Gothic"/>
              </a:rPr>
              <a:t>● </a:t>
            </a:r>
            <a:r>
              <a:rPr sz="950">
                <a:solidFill>
                  <a:srgbClr val="334155"/>
                </a:solidFill>
                <a:latin typeface="Malgun Gothic"/>
              </a:rPr>
              <a:t>Check the corrected sentence and the reason, then copy it.</a:t>
            </a:r>
          </a:p>
        </p:txBody>
      </p:sp>
      <p:sp>
        <p:nvSpPr>
          <p:cNvPr id="14" name="Rounded Rectangle 13"/>
          <p:cNvSpPr/>
          <p:nvPr/>
        </p:nvSpPr>
        <p:spPr>
          <a:xfrm>
            <a:off x="457200" y="4902098"/>
            <a:ext cx="5669280" cy="1011783"/>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Great for diary and self-introduction practice.</a:t>
            </a:r>
          </a:p>
          <a:p>
            <a:pPr>
              <a:lnSpc>
                <a:spcPct val="115000"/>
              </a:lnSpc>
              <a:spcAft>
                <a:spcPts val="100"/>
              </a:spcAft>
            </a:pPr>
            <a:r>
              <a:rPr sz="700" b="1">
                <a:solidFill>
                  <a:srgbClr val="7C3AED"/>
                </a:solidFill>
                <a:latin typeface="Malgun Gothic"/>
              </a:rPr>
              <a:t>● </a:t>
            </a:r>
            <a:r>
              <a:rPr sz="900">
                <a:solidFill>
                  <a:srgbClr val="334155"/>
                </a:solidFill>
                <a:latin typeface="Malgun Gothic"/>
              </a:rPr>
              <a:t>Memorizing the fixes speeds up your growth.</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Read the corrected sentence aloud — it helps speaking too.</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5544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3773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377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3948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Type the s…</a:t>
            </a:r>
          </a:p>
        </p:txBody>
      </p:sp>
      <p:sp>
        <p:nvSpPr>
          <p:cNvPr id="26" name="TextBox 25"/>
          <p:cNvSpPr txBox="1"/>
          <p:nvPr/>
        </p:nvSpPr>
        <p:spPr>
          <a:xfrm>
            <a:off x="541233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595213"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7750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775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79261"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Writing</a:t>
            </a:r>
          </a:p>
        </p:txBody>
      </p:sp>
      <p:sp>
        <p:nvSpPr>
          <p:cNvPr id="31" name="TextBox 30"/>
          <p:cNvSpPr txBox="1"/>
          <p:nvPr/>
        </p:nvSpPr>
        <p:spPr>
          <a:xfrm>
            <a:off x="709482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277709"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6000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000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61757"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reason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Do 'today's study' every day to keep the flame going.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Skip a day and the flame goes out — so do a little every day.</a:t>
            </a:r>
          </a:p>
          <a:p>
            <a:pPr>
              <a:lnSpc>
                <a:spcPct val="115000"/>
              </a:lnSpc>
              <a:spcAft>
                <a:spcPts val="300"/>
              </a:spcAft>
            </a:pPr>
            <a:r>
              <a:rPr sz="700" b="1">
                <a:solidFill>
                  <a:srgbClr val="7C3AED"/>
                </a:solidFill>
                <a:latin typeface="Malgun Gothic"/>
              </a:rPr>
              <a:t>● </a:t>
            </a:r>
            <a:r>
              <a:rPr sz="900">
                <a:solidFill>
                  <a:srgbClr val="334155"/>
                </a:solidFill>
                <a:latin typeface="Malgun Gothic"/>
              </a:rPr>
              <a:t>Meet the conditions and receive badges automatically.</a:t>
            </a:r>
          </a:p>
        </p:txBody>
      </p:sp>
      <p:sp>
        <p:nvSpPr>
          <p:cNvPr id="14" name="Rounded Rectangle 13"/>
          <p:cNvSpPr/>
          <p:nvPr/>
        </p:nvSpPr>
        <p:spPr>
          <a:xfrm>
            <a:off x="457200" y="5187391"/>
            <a:ext cx="5669280" cy="833475"/>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79999"/>
            <a:ext cx="5394960" cy="504291"/>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Doing a little every day matters most.</a:t>
            </a:r>
          </a:p>
          <a:p>
            <a:pPr>
              <a:lnSpc>
                <a:spcPct val="115000"/>
              </a:lnSpc>
              <a:spcAft>
                <a:spcPts val="100"/>
              </a:spcAft>
            </a:pPr>
            <a:r>
              <a:rPr sz="650" b="1">
                <a:solidFill>
                  <a:srgbClr val="7C3AED"/>
                </a:solidFill>
                <a:latin typeface="Malgun Gothic"/>
              </a:rPr>
              <a:t>● </a:t>
            </a:r>
            <a:r>
              <a:rPr sz="850">
                <a:solidFill>
                  <a:srgbClr val="334155"/>
                </a:solidFill>
                <a:latin typeface="Malgun Gothic"/>
              </a:rPr>
              <a:t>Collecting badges builds the habit for fun.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Just pressing 'today's study' keeps your streak alive.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today's st…</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do a littl…</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receive ba…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231011"/>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Answer the questions casually.</a:t>
            </a:r>
          </a:p>
          <a:p>
            <a:pPr>
              <a:lnSpc>
                <a:spcPct val="115000"/>
              </a:lnSpc>
              <a:spcAft>
                <a:spcPts val="300"/>
              </a:spcAft>
            </a:pPr>
            <a:r>
              <a:rPr sz="750" b="1">
                <a:solidFill>
                  <a:srgbClr val="7C3AED"/>
                </a:solidFill>
                <a:latin typeface="Malgun Gothic"/>
              </a:rPr>
              <a:t>● </a:t>
            </a:r>
            <a:r>
              <a:rPr sz="950">
                <a:solidFill>
                  <a:srgbClr val="334155"/>
                </a:solidFill>
                <a:latin typeface="Malgun Gothic"/>
              </a:rPr>
              <a:t>See your style and study tips in the result.</a:t>
            </a:r>
          </a:p>
          <a:p>
            <a:pPr>
              <a:lnSpc>
                <a:spcPct val="115000"/>
              </a:lnSpc>
              <a:spcAft>
                <a:spcPts val="300"/>
              </a:spcAft>
            </a:pPr>
            <a:r>
              <a:rPr sz="750" b="1">
                <a:solidFill>
                  <a:srgbClr val="7C3AED"/>
                </a:solidFill>
                <a:latin typeface="Malgun Gothic"/>
              </a:rPr>
              <a:t>● </a:t>
            </a:r>
            <a:r>
              <a:rPr sz="950">
                <a:solidFill>
                  <a:srgbClr val="334155"/>
                </a:solidFill>
                <a:latin typeface="Malgun Gothic"/>
              </a:rPr>
              <a:t>Apply the recommended methods to lessons and games.</a:t>
            </a:r>
          </a:p>
        </p:txBody>
      </p:sp>
      <p:sp>
        <p:nvSpPr>
          <p:cNvPr id="14" name="Rounded Rectangle 13"/>
          <p:cNvSpPr/>
          <p:nvPr/>
        </p:nvSpPr>
        <p:spPr>
          <a:xfrm>
            <a:off x="457200" y="5071491"/>
            <a:ext cx="5669280" cy="85130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11721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64099"/>
            <a:ext cx="5394960" cy="522122"/>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Enjoy it and get to know yourself.</a:t>
            </a:r>
          </a:p>
          <a:p>
            <a:pPr>
              <a:lnSpc>
                <a:spcPct val="115000"/>
              </a:lnSpc>
              <a:spcAft>
                <a:spcPts val="100"/>
              </a:spcAft>
            </a:pPr>
            <a:r>
              <a:rPr sz="700" b="1">
                <a:solidFill>
                  <a:srgbClr val="7C3AED"/>
                </a:solidFill>
                <a:latin typeface="Malgun Gothic"/>
              </a:rPr>
              <a:t>● </a:t>
            </a:r>
            <a:r>
              <a:rPr sz="900">
                <a:solidFill>
                  <a:srgbClr val="334155"/>
                </a:solidFill>
                <a:latin typeface="Malgun Gothic"/>
              </a:rPr>
              <a:t>Pick games that fit your style,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Share the result with your teacher for tailored coaching.</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Answer the…</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30900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your style…</a:t>
            </a:r>
          </a:p>
        </p:txBody>
      </p:sp>
      <p:sp>
        <p:nvSpPr>
          <p:cNvPr id="31" name="TextBox 30"/>
          <p:cNvSpPr txBox="1"/>
          <p:nvPr/>
        </p:nvSpPr>
        <p:spPr>
          <a:xfrm>
            <a:off x="696589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48779"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107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1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3282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Apply the…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Pick the lesson type (1:1/group).</a:t>
            </a:r>
          </a:p>
          <a:p>
            <a:pPr>
              <a:lnSpc>
                <a:spcPct val="115000"/>
              </a:lnSpc>
              <a:spcAft>
                <a:spcPts val="300"/>
              </a:spcAft>
            </a:pPr>
            <a:r>
              <a:rPr sz="750" b="1">
                <a:solidFill>
                  <a:srgbClr val="7C3AED"/>
                </a:solidFill>
                <a:latin typeface="Malgun Gothic"/>
              </a:rPr>
              <a:t>● </a:t>
            </a:r>
            <a:r>
              <a:rPr sz="950">
                <a:solidFill>
                  <a:srgbClr val="334155"/>
                </a:solidFill>
                <a:latin typeface="Malgun Gothic"/>
              </a:rPr>
              <a:t>Select the date and time on the calendar.</a:t>
            </a:r>
          </a:p>
          <a:p>
            <a:pPr>
              <a:lnSpc>
                <a:spcPct val="115000"/>
              </a:lnSpc>
              <a:spcAft>
                <a:spcPts val="300"/>
              </a:spcAft>
            </a:pPr>
            <a:r>
              <a:rPr sz="750" b="1">
                <a:solidFill>
                  <a:srgbClr val="7C3AED"/>
                </a:solidFill>
                <a:latin typeface="Malgun Gothic"/>
              </a:rPr>
              <a:t>● </a:t>
            </a:r>
            <a:r>
              <a:rPr sz="950">
                <a:solidFill>
                  <a:srgbClr val="334155"/>
                </a:solidFill>
                <a:latin typeface="Malgun Gothic"/>
              </a:rPr>
              <a:t>Set the weekly count and move to payment/confirm.</a:t>
            </a:r>
          </a:p>
        </p:txBody>
      </p:sp>
      <p:sp>
        <p:nvSpPr>
          <p:cNvPr id="14" name="Rounded Rectangle 13"/>
          <p:cNvSpPr/>
          <p:nvPr/>
        </p:nvSpPr>
        <p:spPr>
          <a:xfrm>
            <a:off x="457200" y="4902098"/>
            <a:ext cx="5669280" cy="1011783"/>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Available times are color-coded for easy picking.</a:t>
            </a:r>
          </a:p>
          <a:p>
            <a:pPr>
              <a:lnSpc>
                <a:spcPct val="115000"/>
              </a:lnSpc>
              <a:spcAft>
                <a:spcPts val="100"/>
              </a:spcAft>
            </a:pPr>
            <a:r>
              <a:rPr sz="700" b="1">
                <a:solidFill>
                  <a:srgbClr val="7C3AED"/>
                </a:solidFill>
                <a:latin typeface="Malgun Gothic"/>
              </a:rPr>
              <a:t>● </a:t>
            </a:r>
            <a:r>
              <a:rPr sz="900">
                <a:solidFill>
                  <a:srgbClr val="334155"/>
                </a:solidFill>
                <a:latin typeface="Malgun Gothic"/>
              </a:rPr>
              <a:t>You can also choose by teacher.</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Popular slots fill fast — book early.</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typ…</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date and t…</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payment/co…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25956"/>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Choose Postpone / Change.</a:t>
            </a:r>
          </a:p>
          <a:p>
            <a:pPr>
              <a:lnSpc>
                <a:spcPct val="115000"/>
              </a:lnSpc>
              <a:spcAft>
                <a:spcPts val="300"/>
              </a:spcAft>
            </a:pPr>
            <a:r>
              <a:rPr sz="700" b="1">
                <a:solidFill>
                  <a:srgbClr val="7C3AED"/>
                </a:solidFill>
                <a:latin typeface="Malgun Gothic"/>
              </a:rPr>
              <a:t>● </a:t>
            </a:r>
            <a:r>
              <a:rPr sz="900">
                <a:solidFill>
                  <a:srgbClr val="334155"/>
                </a:solidFill>
                <a:latin typeface="Malgun Gothic"/>
              </a:rPr>
              <a:t>Set the date and time to move to.</a:t>
            </a:r>
          </a:p>
          <a:p>
            <a:pPr>
              <a:lnSpc>
                <a:spcPct val="115000"/>
              </a:lnSpc>
              <a:spcAft>
                <a:spcPts val="300"/>
              </a:spcAft>
            </a:pPr>
            <a:r>
              <a:rPr sz="700" b="1">
                <a:solidFill>
                  <a:srgbClr val="7C3AED"/>
                </a:solidFill>
                <a:latin typeface="Malgun Gothic"/>
              </a:rPr>
              <a:t>● </a:t>
            </a:r>
            <a:r>
              <a:rPr sz="900">
                <a:solidFill>
                  <a:srgbClr val="334155"/>
                </a:solidFill>
                <a:latin typeface="Malgun Gothic"/>
              </a:rPr>
              <a:t>Confirm and your lesson count stays preserved.</a:t>
            </a:r>
          </a:p>
        </p:txBody>
      </p:sp>
      <p:sp>
        <p:nvSpPr>
          <p:cNvPr id="14" name="Rounded Rectangle 13"/>
          <p:cNvSpPr/>
          <p:nvPr/>
        </p:nvSpPr>
        <p:spPr>
          <a:xfrm>
            <a:off x="457200" y="4866436"/>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12156"/>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59044"/>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Requesting early makes it easier to get the time you want.</a:t>
            </a:r>
          </a:p>
          <a:p>
            <a:pPr>
              <a:lnSpc>
                <a:spcPct val="115000"/>
              </a:lnSpc>
              <a:spcAft>
                <a:spcPts val="100"/>
              </a:spcAft>
            </a:pPr>
            <a:r>
              <a:rPr sz="650" b="1">
                <a:solidFill>
                  <a:srgbClr val="7C3AED"/>
                </a:solidFill>
                <a:latin typeface="Malgun Gothic"/>
              </a:rPr>
              <a:t>● </a:t>
            </a:r>
            <a:r>
              <a:rPr sz="850">
                <a:solidFill>
                  <a:srgbClr val="334155"/>
                </a:solidFill>
                <a:latin typeface="Malgun Gothic"/>
              </a:rPr>
              <a:t>Postponing never removes your lesson count.</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Postponing right before a lesson may not be possible (check the postpone/refund policy).</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If your plans might change, request at least a day ahead.</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Postpone /…</a:t>
            </a:r>
          </a:p>
        </p:txBody>
      </p:sp>
      <p:sp>
        <p:nvSpPr>
          <p:cNvPr id="28" name="TextBox 27"/>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date and t…</a:t>
            </a:r>
          </a:p>
        </p:txBody>
      </p:sp>
      <p:sp>
        <p:nvSpPr>
          <p:cNvPr id="33" name="TextBox 32"/>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cou…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My Page (the parent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Enter the child's student ID and press Look up. (it's saved after one look-up)</a:t>
            </a:r>
          </a:p>
          <a:p>
            <a:pPr>
              <a:lnSpc>
                <a:spcPct val="115000"/>
              </a:lnSpc>
              <a:spcAft>
                <a:spcPts val="300"/>
              </a:spcAft>
            </a:pPr>
            <a:r>
              <a:rPr sz="700" b="1">
                <a:solidFill>
                  <a:srgbClr val="7C3AED"/>
                </a:solidFill>
                <a:latin typeface="Malgun Gothic"/>
              </a:rPr>
              <a:t>● </a:t>
            </a:r>
            <a:r>
              <a:rPr sz="900">
                <a:solidFill>
                  <a:srgbClr val="334155"/>
                </a:solidFill>
                <a:latin typeface="Malgun Gothic"/>
              </a:rPr>
              <a:t>Check the 30-day attendance grid for when they had class, and point flow for accrual/use.</a:t>
            </a:r>
          </a:p>
          <a:p>
            <a:pPr>
              <a:lnSpc>
                <a:spcPct val="115000"/>
              </a:lnSpc>
              <a:spcAft>
                <a:spcPts val="300"/>
              </a:spcAft>
            </a:pPr>
            <a:r>
              <a:rPr sz="700" b="1">
                <a:solidFill>
                  <a:srgbClr val="7C3AED"/>
                </a:solidFill>
                <a:latin typeface="Malgun Gothic"/>
              </a:rPr>
              <a:t>● </a:t>
            </a:r>
            <a:r>
              <a:rPr sz="900">
                <a:solidFill>
                  <a:srgbClr val="334155"/>
                </a:solidFill>
                <a:latin typeface="Malgun Gothic"/>
              </a:rPr>
              <a:t>See the learning report (teacher's latest reviews), AI voice-coaching progress and badge shelf.</a:t>
            </a:r>
          </a:p>
          <a:p>
            <a:pPr>
              <a:lnSpc>
                <a:spcPct val="115000"/>
              </a:lnSpc>
              <a:spcAft>
                <a:spcPts val="300"/>
              </a:spcAft>
            </a:pPr>
            <a:r>
              <a:rPr sz="700" b="1">
                <a:solidFill>
                  <a:srgbClr val="7C3AED"/>
                </a:solidFill>
                <a:latin typeface="Malgun Gothic"/>
              </a:rPr>
              <a:t>● </a:t>
            </a:r>
            <a:r>
              <a:rPr sz="900">
                <a:solidFill>
                  <a:srgbClr val="334155"/>
                </a:solidFill>
                <a:latin typeface="Malgun Gothic"/>
              </a:rPr>
              <a:t>Wrap up the month with AI study recommendations and the monthly report (print/PDF).</a:t>
            </a:r>
          </a:p>
        </p:txBody>
      </p:sp>
      <p:sp>
        <p:nvSpPr>
          <p:cNvPr id="14" name="Rounded Rectangle 13"/>
          <p:cNvSpPr/>
          <p:nvPr/>
        </p:nvSpPr>
        <p:spPr>
          <a:xfrm>
            <a:off x="457200" y="6085332"/>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377940"/>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Attendance, reviews, points and coaching progress are all on one screen.</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monthly report can be printed or saved as PDF.</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you don't know the student ID, ask the teacher/academy.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Manage the student ID like a password — anyone with it can view.</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8648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6878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687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7053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 Page (t…</a:t>
            </a:r>
          </a:p>
        </p:txBody>
      </p:sp>
      <p:sp>
        <p:nvSpPr>
          <p:cNvPr id="28" name="TextBox 27"/>
          <p:cNvSpPr txBox="1"/>
          <p:nvPr/>
        </p:nvSpPr>
        <p:spPr>
          <a:xfrm>
            <a:off x="32433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child's st…</a:t>
            </a:r>
          </a:p>
        </p:txBody>
      </p:sp>
      <p:sp>
        <p:nvSpPr>
          <p:cNvPr id="33" name="TextBox 32"/>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30-day att…</a:t>
            </a:r>
          </a:p>
        </p:txBody>
      </p:sp>
      <p:sp>
        <p:nvSpPr>
          <p:cNvPr id="38" name="TextBox 37"/>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learning r…</a:t>
            </a:r>
          </a:p>
        </p:txBody>
      </p:sp>
      <p:sp>
        <p:nvSpPr>
          <p:cNvPr id="43" name="TextBox 42"/>
          <p:cNvSpPr txBox="1"/>
          <p:nvPr/>
        </p:nvSpPr>
        <p:spPr>
          <a:xfrm>
            <a:off x="876269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94557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2787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278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2962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study 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Book/Pay: choose the lesson type (1:1/group) and count, then pay.</a:t>
            </a:r>
          </a:p>
          <a:p>
            <a:pPr>
              <a:lnSpc>
                <a:spcPct val="115000"/>
              </a:lnSpc>
              <a:spcAft>
                <a:spcPts val="300"/>
              </a:spcAft>
            </a:pPr>
            <a:r>
              <a:rPr sz="700" b="1">
                <a:solidFill>
                  <a:srgbClr val="7C3AED"/>
                </a:solidFill>
                <a:latin typeface="Malgun Gothic"/>
              </a:rPr>
              <a:t>● </a:t>
            </a:r>
            <a:r>
              <a:rPr sz="900">
                <a:solidFill>
                  <a:srgbClr val="334155"/>
                </a:solidFill>
                <a:latin typeface="Malgun Gothic"/>
              </a:rPr>
              <a:t>Postpone/Change: if something comes up, request in advance to move it later. (lesson count is preserved)</a:t>
            </a:r>
          </a:p>
          <a:p>
            <a:pPr>
              <a:lnSpc>
                <a:spcPct val="115000"/>
              </a:lnSpc>
              <a:spcAft>
                <a:spcPts val="300"/>
              </a:spcAft>
            </a:pPr>
            <a:r>
              <a:rPr sz="700" b="1">
                <a:solidFill>
                  <a:srgbClr val="7C3AED"/>
                </a:solidFill>
                <a:latin typeface="Malgun Gothic"/>
              </a:rPr>
              <a:t>● </a:t>
            </a:r>
            <a:r>
              <a:rPr sz="900">
                <a:solidFill>
                  <a:srgbClr val="334155"/>
                </a:solidFill>
                <a:latin typeface="Malgun Gothic"/>
              </a:rPr>
              <a:t>Refund: auto-calculated per the refund table (100% before the lesson starts, etc.).</a:t>
            </a:r>
          </a:p>
          <a:p>
            <a:pPr>
              <a:lnSpc>
                <a:spcPct val="115000"/>
              </a:lnSpc>
              <a:spcAft>
                <a:spcPts val="300"/>
              </a:spcAft>
            </a:pPr>
            <a:r>
              <a:rPr sz="700" b="1">
                <a:solidFill>
                  <a:srgbClr val="7C3AED"/>
                </a:solidFill>
                <a:latin typeface="Malgun Gothic"/>
              </a:rPr>
              <a:t>● </a:t>
            </a:r>
            <a:r>
              <a:rPr sz="900">
                <a:solidFill>
                  <a:srgbClr val="334155"/>
                </a:solidFill>
                <a:latin typeface="Malgun Gothic"/>
              </a:rPr>
              <a:t>Questions? Contact support (phone, email, Kakao).</a:t>
            </a:r>
          </a:p>
        </p:txBody>
      </p:sp>
      <p:sp>
        <p:nvSpPr>
          <p:cNvPr id="14" name="Rounded Rectangle 13"/>
          <p:cNvSpPr/>
          <p:nvPr/>
        </p:nvSpPr>
        <p:spPr>
          <a:xfrm>
            <a:off x="457200" y="5796838"/>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089446"/>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earlier you request a postpone, the easier to get the time you want.</a:t>
            </a:r>
          </a:p>
          <a:p>
            <a:pPr>
              <a:lnSpc>
                <a:spcPct val="115000"/>
              </a:lnSpc>
              <a:spcAft>
                <a:spcPts val="100"/>
              </a:spcAft>
            </a:pPr>
            <a:r>
              <a:rPr sz="650" b="1">
                <a:solidFill>
                  <a:srgbClr val="7C3AED"/>
                </a:solidFill>
                <a:latin typeface="Malgun Gothic"/>
              </a:rPr>
              <a:t>● </a:t>
            </a:r>
            <a:r>
              <a:rPr sz="850">
                <a:solidFill>
                  <a:srgbClr val="334155"/>
                </a:solidFill>
                <a:latin typeface="Malgun Gothic"/>
              </a:rPr>
              <a:t>Refunds on discounted lessons are recalculated at list price.</a:t>
            </a:r>
          </a:p>
          <a:p>
            <a:pPr>
              <a:lnSpc>
                <a:spcPct val="115000"/>
              </a:lnSpc>
              <a:spcAft>
                <a:spcPts val="100"/>
              </a:spcAft>
            </a:pPr>
            <a:r>
              <a:rPr sz="650" b="1">
                <a:solidFill>
                  <a:srgbClr val="7C3AED"/>
                </a:solidFill>
                <a:latin typeface="Malgun Gothic"/>
              </a:rPr>
              <a:t>● </a:t>
            </a:r>
            <a:r>
              <a:rPr sz="850">
                <a:solidFill>
                  <a:srgbClr val="334155"/>
                </a:solidFill>
                <a:latin typeface="Malgun Gothic"/>
              </a:rPr>
              <a:t>Overdue/payment notices can arrive via alert-talk/SMS.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Lessons missed without postponing may be marked absent. Check the policy in advance.</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Checking the postpone/refund policy at signup avoids confusion later.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129076"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21137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113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51312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Book/Pay</a:t>
            </a:r>
          </a:p>
        </p:txBody>
      </p:sp>
      <p:sp>
        <p:nvSpPr>
          <p:cNvPr id="28" name="TextBox 27"/>
          <p:cNvSpPr txBox="1"/>
          <p:nvPr/>
        </p:nvSpPr>
        <p:spPr>
          <a:xfrm>
            <a:off x="445678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63966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2196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19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02371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Postpone/C…</a:t>
            </a:r>
          </a:p>
        </p:txBody>
      </p:sp>
      <p:sp>
        <p:nvSpPr>
          <p:cNvPr id="33" name="TextBox 32"/>
          <p:cNvSpPr txBox="1"/>
          <p:nvPr/>
        </p:nvSpPr>
        <p:spPr>
          <a:xfrm>
            <a:off x="629655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479438"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6173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617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863486"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Refund</a:t>
            </a:r>
          </a:p>
        </p:txBody>
      </p:sp>
      <p:sp>
        <p:nvSpPr>
          <p:cNvPr id="38" name="TextBox 37"/>
          <p:cNvSpPr txBox="1"/>
          <p:nvPr/>
        </p:nvSpPr>
        <p:spPr>
          <a:xfrm>
            <a:off x="763524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818120"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0041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02168"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support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On the on-screen dual clock, see 🇰🇷 Korea and 🇵🇭 Philippines time at once.</a:t>
            </a:r>
          </a:p>
          <a:p>
            <a:pPr>
              <a:lnSpc>
                <a:spcPct val="115000"/>
              </a:lnSpc>
              <a:spcAft>
                <a:spcPts val="300"/>
              </a:spcAft>
            </a:pPr>
            <a:r>
              <a:rPr sz="700" b="1">
                <a:solidFill>
                  <a:srgbClr val="7C3AED"/>
                </a:solidFill>
                <a:latin typeface="Malgun Gothic"/>
              </a:rPr>
              <a:t>● </a:t>
            </a:r>
            <a:r>
              <a:rPr sz="900">
                <a:solidFill>
                  <a:srgbClr val="334155"/>
                </a:solidFill>
                <a:latin typeface="Malgun Gothic"/>
              </a:rPr>
              <a:t>Drag the clock to move it anywhere you like.</a:t>
            </a:r>
          </a:p>
          <a:p>
            <a:pPr>
              <a:lnSpc>
                <a:spcPct val="115000"/>
              </a:lnSpc>
              <a:spcAft>
                <a:spcPts val="300"/>
              </a:spcAft>
            </a:pPr>
            <a:r>
              <a:rPr sz="700" b="1">
                <a:solidFill>
                  <a:srgbClr val="7C3AED"/>
                </a:solidFill>
                <a:latin typeface="Malgun Gothic"/>
              </a:rPr>
              <a:t>● </a:t>
            </a:r>
            <a:r>
              <a:rPr sz="900">
                <a:solidFill>
                  <a:srgbClr val="334155"/>
                </a:solidFill>
                <a:latin typeface="Malgun Gothic"/>
              </a:rPr>
              <a:t>Tap (click) the clock to go to the home screen.</a:t>
            </a:r>
          </a:p>
        </p:txBody>
      </p:sp>
      <p:sp>
        <p:nvSpPr>
          <p:cNvPr id="14" name="Rounded Rectangle 13"/>
          <p:cNvSpPr/>
          <p:nvPr/>
        </p:nvSpPr>
        <p:spPr>
          <a:xfrm>
            <a:off x="457200" y="5026914"/>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Philippines is 1 hour behind Korea (−1 hour).</a:t>
            </a:r>
          </a:p>
          <a:p>
            <a:pPr>
              <a:lnSpc>
                <a:spcPct val="115000"/>
              </a:lnSpc>
              <a:spcAft>
                <a:spcPts val="100"/>
              </a:spcAft>
            </a:pPr>
            <a:r>
              <a:rPr sz="650" b="1">
                <a:solidFill>
                  <a:srgbClr val="7C3AED"/>
                </a:solidFill>
                <a:latin typeface="Malgun Gothic"/>
              </a:rPr>
              <a:t>● </a:t>
            </a:r>
            <a:r>
              <a:rPr sz="850">
                <a:solidFill>
                  <a:srgbClr val="334155"/>
                </a:solidFill>
                <a:latin typeface="Malgun Gothic"/>
              </a:rPr>
              <a:t>You can check booking/entry times in both countries' time.</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842269" y="3255264"/>
            <a:ext cx="4512021"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97133" y="3310128"/>
            <a:ext cx="4402293"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41394"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2369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236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25442"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dual clock</a:t>
            </a:r>
          </a:p>
        </p:txBody>
      </p:sp>
      <p:sp>
        <p:nvSpPr>
          <p:cNvPr id="26" name="TextBox 25"/>
          <p:cNvSpPr txBox="1"/>
          <p:nvPr/>
        </p:nvSpPr>
        <p:spPr>
          <a:xfrm>
            <a:off x="534101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523890"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0618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793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Drag</a:t>
            </a:r>
          </a:p>
        </p:txBody>
      </p:sp>
      <p:sp>
        <p:nvSpPr>
          <p:cNvPr id="31" name="TextBox 30"/>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69066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7296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Tap (click…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In the AI voice coach, pick the CN Chinese level (or go to the Chinese pronunciation coach).</a:t>
            </a:r>
          </a:p>
          <a:p>
            <a:pPr>
              <a:lnSpc>
                <a:spcPct val="115000"/>
              </a:lnSpc>
              <a:spcAft>
                <a:spcPts val="300"/>
              </a:spcAft>
            </a:pPr>
            <a:r>
              <a:rPr sz="700" b="1">
                <a:solidFill>
                  <a:srgbClr val="7C3AED"/>
                </a:solidFill>
                <a:latin typeface="Malgun Gothic"/>
              </a:rPr>
              <a:t>● </a:t>
            </a:r>
            <a:r>
              <a:rPr sz="900">
                <a:solidFill>
                  <a:srgbClr val="334155"/>
                </a:solidFill>
                <a:latin typeface="Malgun Gothic"/>
              </a:rPr>
              <a:t>Choose a Master series (1–6, HSK 1–6) and a unit.</a:t>
            </a:r>
          </a:p>
          <a:p>
            <a:pPr>
              <a:lnSpc>
                <a:spcPct val="115000"/>
              </a:lnSpc>
              <a:spcAft>
                <a:spcPts val="300"/>
              </a:spcAft>
            </a:pPr>
            <a:r>
              <a:rPr sz="700" b="1">
                <a:solidFill>
                  <a:srgbClr val="7C3AED"/>
                </a:solidFill>
                <a:latin typeface="Malgun Gothic"/>
              </a:rPr>
              <a:t>● </a:t>
            </a:r>
            <a:r>
              <a:rPr sz="900">
                <a:solidFill>
                  <a:srgbClr val="334155"/>
                </a:solidFill>
                <a:latin typeface="Malgun Gothic"/>
              </a:rPr>
              <a:t>Read the sentence (characters + pinyin) and compare with 'Play native audio'.</a:t>
            </a:r>
          </a:p>
          <a:p>
            <a:pPr>
              <a:lnSpc>
                <a:spcPct val="115000"/>
              </a:lnSpc>
              <a:spcAft>
                <a:spcPts val="300"/>
              </a:spcAft>
            </a:pPr>
            <a:r>
              <a:rPr sz="700" b="1">
                <a:solidFill>
                  <a:srgbClr val="7C3AED"/>
                </a:solidFill>
                <a:latin typeface="Malgun Gothic"/>
              </a:rPr>
              <a:t>● </a:t>
            </a:r>
            <a:r>
              <a:rPr sz="900">
                <a:solidFill>
                  <a:srgbClr val="334155"/>
                </a:solidFill>
                <a:latin typeface="Malgun Gothic"/>
              </a:rPr>
              <a:t>Practice hard sounds/tones with repeat and slow (0.85x).</a:t>
            </a:r>
          </a:p>
        </p:txBody>
      </p:sp>
      <p:sp>
        <p:nvSpPr>
          <p:cNvPr id="14" name="Rounded Rectangle 13"/>
          <p:cNvSpPr/>
          <p:nvPr/>
        </p:nvSpPr>
        <p:spPr>
          <a:xfrm>
            <a:off x="457200" y="5796838"/>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089446"/>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Characters and pinyin appear together, so it's easy to read.</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AI recognizes your voice and compares it to a native speaker.</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learning games hub supports Chinese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Listen slowly and repeat clearly to nail the four tones.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5008"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6730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6905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Chinese</a:t>
            </a:r>
          </a:p>
        </p:txBody>
      </p:sp>
      <p:sp>
        <p:nvSpPr>
          <p:cNvPr id="26" name="TextBox 25"/>
          <p:cNvSpPr txBox="1"/>
          <p:nvPr/>
        </p:nvSpPr>
        <p:spPr>
          <a:xfrm>
            <a:off x="408462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26750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4980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9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515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Master ser…</a:t>
            </a:r>
          </a:p>
        </p:txBody>
      </p:sp>
      <p:sp>
        <p:nvSpPr>
          <p:cNvPr id="31" name="TextBox 30"/>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10727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8957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9132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characters…</a:t>
            </a:r>
          </a:p>
        </p:txBody>
      </p:sp>
      <p:sp>
        <p:nvSpPr>
          <p:cNvPr id="36" name="TextBox 35"/>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94705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2934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3109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repeat and…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On the home menu, tap the 📔 AI Voice Diary card (next to the English/Chinese pronunciation coach).</a:t>
            </a:r>
          </a:p>
          <a:p>
            <a:pPr>
              <a:lnSpc>
                <a:spcPct val="115000"/>
              </a:lnSpc>
              <a:spcAft>
                <a:spcPts val="300"/>
              </a:spcAft>
            </a:pPr>
            <a:r>
              <a:rPr sz="700" b="1">
                <a:solidFill>
                  <a:srgbClr val="7C3AED"/>
                </a:solidFill>
                <a:latin typeface="Malgun Gothic"/>
              </a:rPr>
              <a:t>● </a:t>
            </a:r>
            <a:r>
              <a:rPr sz="900">
                <a:solidFill>
                  <a:srgbClr val="334155"/>
                </a:solidFill>
                <a:latin typeface="Malgun Gothic"/>
              </a:rPr>
              <a:t>In the 🎤 Record tab, press ‘Start recording’ and talk about your day in English (about 30 seconds is plenty!).</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‘Stop’ and AI automatically does transcribe → correct → score &amp; encourage.</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 Calendar tab lets you revisit past entries by date.</a:t>
            </a:r>
          </a:p>
        </p:txBody>
      </p:sp>
      <p:sp>
        <p:nvSpPr>
          <p:cNvPr id="14" name="Rounded Rectangle 13"/>
          <p:cNvSpPr/>
          <p:nvPr/>
        </p:nvSpPr>
        <p:spPr>
          <a:xfrm>
            <a:off x="457200" y="5957316"/>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249924"/>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Turns your spoken English into text and rewrites awkward sentences naturally.</a:t>
            </a:r>
          </a:p>
          <a:p>
            <a:pPr>
              <a:lnSpc>
                <a:spcPct val="115000"/>
              </a:lnSpc>
              <a:spcAft>
                <a:spcPts val="100"/>
              </a:spcAft>
            </a:pPr>
            <a:r>
              <a:rPr sz="650" b="1">
                <a:solidFill>
                  <a:srgbClr val="7C3AED"/>
                </a:solidFill>
                <a:latin typeface="Malgun Gothic"/>
              </a:rPr>
              <a:t>● </a:t>
            </a:r>
            <a:r>
              <a:rPr sz="850">
                <a:solidFill>
                  <a:srgbClr val="334155"/>
                </a:solidFill>
                <a:latin typeface="Malgun Gothic"/>
              </a:rPr>
              <a:t>A score (0–100) and a word of encouragement keep you motivated daily.</a:t>
            </a:r>
          </a:p>
          <a:p>
            <a:pPr>
              <a:lnSpc>
                <a:spcPct val="115000"/>
              </a:lnSpc>
              <a:spcAft>
                <a:spcPts val="100"/>
              </a:spcAft>
            </a:pPr>
            <a:r>
              <a:rPr sz="650" b="1">
                <a:solidFill>
                  <a:srgbClr val="7C3AED"/>
                </a:solidFill>
                <a:latin typeface="Malgun Gothic"/>
              </a:rPr>
              <a:t>● </a:t>
            </a:r>
            <a:r>
              <a:rPr sz="850">
                <a:solidFill>
                  <a:srgbClr val="334155"/>
                </a:solidFill>
                <a:latin typeface="Malgun Gothic"/>
              </a:rPr>
              <a:t>Doing it daily also connects to attendance streaks and badges.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Recording requires you to be logged in. Speaking clearly in a quiet place makes the transcription more accurate.</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It doesn't have to be perfect. The habit of saying even ‘one sentence’ a day matters most!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21838"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0413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041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05886"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AI Voice…</a:t>
            </a:r>
          </a:p>
        </p:txBody>
      </p:sp>
      <p:sp>
        <p:nvSpPr>
          <p:cNvPr id="28" name="TextBox 27"/>
          <p:cNvSpPr txBox="1"/>
          <p:nvPr/>
        </p:nvSpPr>
        <p:spPr>
          <a:xfrm>
            <a:off x="455005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732934" y="2670048"/>
            <a:ext cx="139903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81523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152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116982" y="2670048"/>
            <a:ext cx="9784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Record</a:t>
            </a:r>
          </a:p>
        </p:txBody>
      </p:sp>
      <p:sp>
        <p:nvSpPr>
          <p:cNvPr id="33" name="TextBox 32"/>
          <p:cNvSpPr txBox="1"/>
          <p:nvPr/>
        </p:nvSpPr>
        <p:spPr>
          <a:xfrm>
            <a:off x="613196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314846" y="2670048"/>
            <a:ext cx="12984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9714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971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698894" y="2670048"/>
            <a:ext cx="8778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‘Stop’</a:t>
            </a:r>
          </a:p>
        </p:txBody>
      </p:sp>
      <p:sp>
        <p:nvSpPr>
          <p:cNvPr id="38" name="TextBox 37"/>
          <p:cNvSpPr txBox="1"/>
          <p:nvPr/>
        </p:nvSpPr>
        <p:spPr>
          <a:xfrm>
            <a:off x="761329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796174"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87847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784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18022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Calendar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Fully complete a warm-up, student game, review quiz, class, or step-by-step pronunciation.</a:t>
            </a:r>
          </a:p>
          <a:p>
            <a:pPr>
              <a:lnSpc>
                <a:spcPct val="115000"/>
              </a:lnSpc>
              <a:spcAft>
                <a:spcPts val="300"/>
              </a:spcAft>
            </a:pPr>
            <a:r>
              <a:rPr sz="700" b="1">
                <a:solidFill>
                  <a:srgbClr val="7C3AED"/>
                </a:solidFill>
                <a:latin typeface="Malgun Gothic"/>
              </a:rPr>
              <a:t>● </a:t>
            </a:r>
            <a:r>
              <a:rPr sz="900">
                <a:solidFill>
                  <a:srgbClr val="334155"/>
                </a:solidFill>
                <a:latin typeface="Malgun Gothic"/>
              </a:rPr>
              <a:t>Look for the ‘🚀 Choose next activity’ button (or the menu that appears automatically).</a:t>
            </a:r>
          </a:p>
          <a:p>
            <a:pPr>
              <a:lnSpc>
                <a:spcPct val="115000"/>
              </a:lnSpc>
              <a:spcAft>
                <a:spcPts val="300"/>
              </a:spcAft>
            </a:pPr>
            <a:r>
              <a:rPr sz="700" b="1">
                <a:solidFill>
                  <a:srgbClr val="7C3AED"/>
                </a:solidFill>
                <a:latin typeface="Malgun Gothic"/>
              </a:rPr>
              <a:t>● </a:t>
            </a:r>
            <a:r>
              <a:rPr sz="900">
                <a:solidFill>
                  <a:srgbClr val="334155"/>
                </a:solidFill>
                <a:latin typeface="Malgun Gothic"/>
              </a:rPr>
              <a:t>Pick from Enter Class · AI Warm-up · Review Quiz · Student Games · Replay Recording · Pronunciation, etc.</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recommended (⭐) item is a good next step for right now.</a:t>
            </a:r>
          </a:p>
        </p:txBody>
      </p:sp>
      <p:sp>
        <p:nvSpPr>
          <p:cNvPr id="14" name="Rounded Rectangle 13"/>
          <p:cNvSpPr/>
          <p:nvPr/>
        </p:nvSpPr>
        <p:spPr>
          <a:xfrm>
            <a:off x="457200" y="5796838"/>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089446"/>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Suggested flow: Warm-up → Game → Class → Review → Pronunciation → Game, naturally connected.</a:t>
            </a:r>
          </a:p>
          <a:p>
            <a:pPr>
              <a:lnSpc>
                <a:spcPct val="115000"/>
              </a:lnSpc>
              <a:spcAft>
                <a:spcPts val="100"/>
              </a:spcAft>
            </a:pPr>
            <a:r>
              <a:rPr sz="650" b="1">
                <a:solidFill>
                  <a:srgbClr val="7C3AED"/>
                </a:solidFill>
                <a:latin typeface="Malgun Gothic"/>
              </a:rPr>
              <a:t>● </a:t>
            </a:r>
            <a:r>
              <a:rPr sz="850">
                <a:solidFill>
                  <a:srgbClr val="334155"/>
                </a:solidFill>
                <a:latin typeface="Malgun Gothic"/>
              </a:rPr>
              <a:t>Choosing ‘Replay Recording’ instantly replays your last class video.</a:t>
            </a:r>
          </a:p>
          <a:p>
            <a:pPr>
              <a:lnSpc>
                <a:spcPct val="115000"/>
              </a:lnSpc>
              <a:spcAft>
                <a:spcPts val="100"/>
              </a:spcAft>
            </a:pPr>
            <a:r>
              <a:rPr sz="650" b="1">
                <a:solidFill>
                  <a:srgbClr val="7C3AED"/>
                </a:solidFill>
                <a:latin typeface="Malgun Gothic"/>
              </a:rPr>
              <a:t>● </a:t>
            </a:r>
            <a:r>
              <a:rPr sz="850">
                <a:solidFill>
                  <a:srgbClr val="334155"/>
                </a:solidFill>
                <a:latin typeface="Malgun Gothic"/>
              </a:rPr>
              <a:t>Even without playing a game/quiz, the list screen's ‘🚀 Go next’ button opens the menu.</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you're unsure what to do, open this menu to keep today's study flowing smoothly.</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47802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6032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603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620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Fully comp…</a:t>
            </a:r>
          </a:p>
        </p:txBody>
      </p:sp>
      <p:sp>
        <p:nvSpPr>
          <p:cNvPr id="26" name="TextBox 25"/>
          <p:cNvSpPr txBox="1"/>
          <p:nvPr/>
        </p:nvSpPr>
        <p:spPr>
          <a:xfrm>
            <a:off x="413491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317796" y="2670048"/>
            <a:ext cx="171358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0009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00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01844" y="2670048"/>
            <a:ext cx="12929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Choose…</a:t>
            </a:r>
          </a:p>
        </p:txBody>
      </p:sp>
      <p:sp>
        <p:nvSpPr>
          <p:cNvPr id="31" name="TextBox 30"/>
          <p:cNvSpPr txBox="1"/>
          <p:nvPr/>
        </p:nvSpPr>
        <p:spPr>
          <a:xfrm>
            <a:off x="603138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21426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9655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65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983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Clas…</a:t>
            </a:r>
          </a:p>
        </p:txBody>
      </p:sp>
      <p:sp>
        <p:nvSpPr>
          <p:cNvPr id="36" name="TextBox 35"/>
          <p:cNvSpPr txBox="1"/>
          <p:nvPr/>
        </p:nvSpPr>
        <p:spPr>
          <a:xfrm>
            <a:off x="787115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805403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3633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363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3808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recommende…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Tap the A.i Assistant icon at the bottom-right of the home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Type your question freely (e.g. “Where do I take the review quiz?”).</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assistant answers and guides you to the right menu.</a:t>
            </a:r>
          </a:p>
          <a:p>
            <a:pPr>
              <a:lnSpc>
                <a:spcPct val="115000"/>
              </a:lnSpc>
              <a:spcAft>
                <a:spcPts val="300"/>
              </a:spcAft>
            </a:pPr>
            <a:r>
              <a:rPr sz="700" b="1">
                <a:solidFill>
                  <a:srgbClr val="7C3AED"/>
                </a:solidFill>
                <a:latin typeface="Malgun Gothic"/>
              </a:rPr>
              <a:t>● </a:t>
            </a:r>
            <a:r>
              <a:rPr sz="900">
                <a:solidFill>
                  <a:srgbClr val="334155"/>
                </a:solidFill>
                <a:latin typeface="Malgun Gothic"/>
              </a:rPr>
              <a:t>You can also speak your question using the 🎤 mic.</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Points you straight to features like student games, pronunciation coach, or voice diary.</a:t>
            </a:r>
          </a:p>
          <a:p>
            <a:pPr>
              <a:lnSpc>
                <a:spcPct val="115000"/>
              </a:lnSpc>
              <a:spcAft>
                <a:spcPts val="100"/>
              </a:spcAft>
            </a:pPr>
            <a:r>
              <a:rPr sz="650" b="1">
                <a:solidFill>
                  <a:srgbClr val="7C3AED"/>
                </a:solidFill>
                <a:latin typeface="Malgun Gothic"/>
              </a:rPr>
              <a:t>● </a:t>
            </a:r>
            <a:r>
              <a:rPr sz="850">
                <a:solidFill>
                  <a:srgbClr val="334155"/>
                </a:solidFill>
                <a:latin typeface="Malgun Gothic"/>
              </a:rPr>
              <a:t>Available anytime (nights &amp; weekends too) so you can use everything on your own.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Requests that need a human — billing, operations — are routed to KakaoTalk chat or customer support.</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Say what you want to do, like “I want to ○○,” and it takes you to that screen.</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17205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25434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34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55610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Assist…</a:t>
            </a:r>
          </a:p>
        </p:txBody>
      </p:sp>
      <p:sp>
        <p:nvSpPr>
          <p:cNvPr id="28" name="TextBox 27"/>
          <p:cNvSpPr txBox="1"/>
          <p:nvPr/>
        </p:nvSpPr>
        <p:spPr>
          <a:xfrm>
            <a:off x="482894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5011826"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09412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941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39587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question</a:t>
            </a:r>
          </a:p>
        </p:txBody>
      </p:sp>
      <p:sp>
        <p:nvSpPr>
          <p:cNvPr id="33" name="TextBox 32"/>
          <p:cNvSpPr txBox="1"/>
          <p:nvPr/>
        </p:nvSpPr>
        <p:spPr>
          <a:xfrm>
            <a:off x="633953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522415"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0471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047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906463"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answers</a:t>
            </a:r>
          </a:p>
        </p:txBody>
      </p:sp>
      <p:sp>
        <p:nvSpPr>
          <p:cNvPr id="38" name="TextBox 37"/>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947050" y="2670048"/>
            <a:ext cx="106984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2934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31098"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speak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 Classroom Comforts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Hide my face · teacher first · mobile tool dock</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lesson screen got more comfortable. A 🙈 button hides your own face for a moment, the teacher's face now appears first and large when you enter, and on phones the bottom tools stay tucked away behind a ⋯ button — so you can focus on the lesson itself.</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Tap the 🙈 button on your own tile to hide your face for a bit. Tap the 🙂 chip to bring it back.</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you enter, the teacher's face is placed on top, large, automatically — no hunting.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On a phone (portrait), the default screen is faces on top and the textbook below.</a:t>
            </a:r>
          </a:p>
          <a:p>
            <a:pPr>
              <a:lnSpc>
                <a:spcPct val="115000"/>
              </a:lnSpc>
              <a:spcAft>
                <a:spcPts val="300"/>
              </a:spcAft>
            </a:pPr>
            <a:r>
              <a:rPr sz="700" b="1">
                <a:solidFill>
                  <a:srgbClr val="7C3AED"/>
                </a:solidFill>
                <a:latin typeface="Malgun Gothic"/>
              </a:rPr>
              <a:t>● </a:t>
            </a:r>
            <a:r>
              <a:rPr sz="900">
                <a:solidFill>
                  <a:srgbClr val="334155"/>
                </a:solidFill>
                <a:latin typeface="Malgun Gothic"/>
              </a:rPr>
              <a:t>The mobile bottom dock opens only when you tap ⋯, keeping the screen roomy.</a:t>
            </a:r>
          </a:p>
        </p:txBody>
      </p:sp>
      <p:sp>
        <p:nvSpPr>
          <p:cNvPr id="14" name="Rounded Rectangle 13"/>
          <p:cNvSpPr/>
          <p:nvPr/>
        </p:nvSpPr>
        <p:spPr>
          <a:xfrm>
            <a:off x="457200" y="5796838"/>
            <a:ext cx="5669280" cy="1288161"/>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089446"/>
            <a:ext cx="5394960" cy="958977"/>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Hiding your face doesn't turn the camera off — it only hides it on screen, so class continues.</a:t>
            </a:r>
          </a:p>
          <a:p>
            <a:pPr>
              <a:lnSpc>
                <a:spcPct val="115000"/>
              </a:lnSpc>
              <a:spcAft>
                <a:spcPts val="100"/>
              </a:spcAft>
            </a:pPr>
            <a:r>
              <a:rPr sz="650" b="1">
                <a:solidFill>
                  <a:srgbClr val="7C3AED"/>
                </a:solidFill>
                <a:latin typeface="Malgun Gothic"/>
              </a:rPr>
              <a:t>● </a:t>
            </a:r>
            <a:r>
              <a:rPr sz="850">
                <a:solidFill>
                  <a:srgbClr val="334155"/>
                </a:solidFill>
                <a:latin typeface="Malgun Gothic"/>
              </a:rPr>
              <a:t>Rotate to landscape and it auto-arranges to faces left · textbook right.</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Hide your face only for a moment when you're shy — lessons are much more fun with eye contact!</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If the screen feels cramped, fold the dock away with the ⋯ button.</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108045" y="2670048"/>
            <a:ext cx="139903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19034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9034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492093" y="2670048"/>
            <a:ext cx="9784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button</a:t>
            </a:r>
          </a:p>
        </p:txBody>
      </p:sp>
      <p:sp>
        <p:nvSpPr>
          <p:cNvPr id="28" name="TextBox 27"/>
          <p:cNvSpPr txBox="1"/>
          <p:nvPr/>
        </p:nvSpPr>
        <p:spPr>
          <a:xfrm>
            <a:off x="450707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689957"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7225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22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074005"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33" name="TextBox 32"/>
          <p:cNvSpPr txBox="1"/>
          <p:nvPr/>
        </p:nvSpPr>
        <p:spPr>
          <a:xfrm>
            <a:off x="626089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44377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2607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60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82782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phone (por…</a:t>
            </a:r>
          </a:p>
        </p:txBody>
      </p:sp>
      <p:sp>
        <p:nvSpPr>
          <p:cNvPr id="38" name="TextBox 37"/>
          <p:cNvSpPr txBox="1"/>
          <p:nvPr/>
        </p:nvSpPr>
        <p:spPr>
          <a:xfrm>
            <a:off x="810066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8283549" y="2670048"/>
            <a:ext cx="797356"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36584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658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667597"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teacher sees + share any file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Class chat now supports 1:1 private messages (DM). Send a message only a specific teacher can see, and share any file — PDF, image, document — through chat; it appears on the other side as a download card.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Chat from the bottom dock.</a:t>
            </a:r>
          </a:p>
          <a:p>
            <a:pPr>
              <a:lnSpc>
                <a:spcPct val="115000"/>
              </a:lnSpc>
              <a:spcAft>
                <a:spcPts val="300"/>
              </a:spcAft>
            </a:pPr>
            <a:r>
              <a:rPr sz="700" b="1">
                <a:solidFill>
                  <a:srgbClr val="7C3AED"/>
                </a:solidFill>
                <a:latin typeface="Malgun Gothic"/>
              </a:rPr>
              <a:t>● </a:t>
            </a:r>
            <a:r>
              <a:rPr sz="900">
                <a:solidFill>
                  <a:srgbClr val="334155"/>
                </a:solidFill>
                <a:latin typeface="Malgun Gothic"/>
              </a:rPr>
              <a:t>Switch the recipient from Everyone to a teacher's name to whisper 1:1.</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the 📎 file button to upload a PDF, photo, or document — a download card appears for them.</a:t>
            </a:r>
          </a:p>
          <a:p>
            <a:pPr>
              <a:lnSpc>
                <a:spcPct val="115000"/>
              </a:lnSpc>
              <a:spcAft>
                <a:spcPts val="300"/>
              </a:spcAft>
            </a:pPr>
            <a:r>
              <a:rPr sz="700" b="1">
                <a:solidFill>
                  <a:srgbClr val="7C3AED"/>
                </a:solidFill>
                <a:latin typeface="Malgun Gothic"/>
              </a:rPr>
              <a:t>● </a:t>
            </a:r>
            <a:r>
              <a:rPr sz="900">
                <a:solidFill>
                  <a:srgbClr val="334155"/>
                </a:solidFill>
                <a:latin typeface="Malgun Gothic"/>
              </a:rPr>
              <a:t>Received files are saved with the card's ⬇ Save button.</a:t>
            </a:r>
          </a:p>
        </p:txBody>
      </p:sp>
      <p:sp>
        <p:nvSpPr>
          <p:cNvPr id="14" name="Rounded Rectangle 13"/>
          <p:cNvSpPr/>
          <p:nvPr/>
        </p:nvSpPr>
        <p:spPr>
          <a:xfrm>
            <a:off x="457200" y="5636361"/>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Private chats are visible only to the two of you.</a:t>
            </a:r>
          </a:p>
          <a:p>
            <a:pPr>
              <a:lnSpc>
                <a:spcPct val="115000"/>
              </a:lnSpc>
              <a:spcAft>
                <a:spcPts val="100"/>
              </a:spcAft>
            </a:pPr>
            <a:r>
              <a:rPr sz="650" b="1">
                <a:solidFill>
                  <a:srgbClr val="7C3AED"/>
                </a:solidFill>
                <a:latin typeface="Malgun Gothic"/>
              </a:rPr>
              <a:t>● </a:t>
            </a:r>
            <a:r>
              <a:rPr sz="850">
                <a:solidFill>
                  <a:srgbClr val="334155"/>
                </a:solidFill>
                <a:latin typeface="Malgun Gothic"/>
              </a:rPr>
              <a:t>Homework files and notes get exchanged in one step during class.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Private chats are not stored on the server and disappear after class. Keep important things as files.</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Perfect for quietly asking a question without interrupting anyone else.</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065068" y="2670048"/>
            <a:ext cx="122712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14736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473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449116"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Chat</a:t>
            </a:r>
          </a:p>
        </p:txBody>
      </p:sp>
      <p:sp>
        <p:nvSpPr>
          <p:cNvPr id="28" name="TextBox 27"/>
          <p:cNvSpPr txBox="1"/>
          <p:nvPr/>
        </p:nvSpPr>
        <p:spPr>
          <a:xfrm>
            <a:off x="429219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475073" y="2670048"/>
            <a:ext cx="132770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736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7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9121"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Everyone</a:t>
            </a:r>
          </a:p>
        </p:txBody>
      </p:sp>
      <p:sp>
        <p:nvSpPr>
          <p:cNvPr id="33" name="TextBox 32"/>
          <p:cNvSpPr txBox="1"/>
          <p:nvPr/>
        </p:nvSpPr>
        <p:spPr>
          <a:xfrm>
            <a:off x="580278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985662"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6795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679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6971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file but…</a:t>
            </a:r>
          </a:p>
        </p:txBody>
      </p:sp>
      <p:sp>
        <p:nvSpPr>
          <p:cNvPr id="38" name="TextBox 37"/>
          <p:cNvSpPr txBox="1"/>
          <p:nvPr/>
        </p:nvSpPr>
        <p:spPr>
          <a:xfrm>
            <a:off x="771387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896758" y="2670048"/>
            <a:ext cx="122712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7905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79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80806"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Save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Home Screen: Bright · Dark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 by time of day, or pick your own</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home screen now switches automatically — bright by day, dark at night. Or use the Bright / Auto / Dark 3-way chip to set the mood yourself, anytime.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Find the 🌗 theme chip at the top of the home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Pick Bright · Auto · Dark.</a:t>
            </a:r>
          </a:p>
          <a:p>
            <a:pPr>
              <a:lnSpc>
                <a:spcPct val="115000"/>
              </a:lnSpc>
              <a:spcAft>
                <a:spcPts val="300"/>
              </a:spcAft>
            </a:pPr>
            <a:r>
              <a:rPr sz="700" b="1">
                <a:solidFill>
                  <a:srgbClr val="7C3AED"/>
                </a:solidFill>
                <a:latin typeface="Malgun Gothic"/>
              </a:rPr>
              <a:t>● </a:t>
            </a:r>
            <a:r>
              <a:rPr sz="900">
                <a:solidFill>
                  <a:srgbClr val="334155"/>
                </a:solidFill>
                <a:latin typeface="Malgun Gothic"/>
              </a:rPr>
              <a:t>Leave it on Auto and it brightens in the morning and dims at night on its own.</a:t>
            </a:r>
          </a:p>
        </p:txBody>
      </p:sp>
      <p:sp>
        <p:nvSpPr>
          <p:cNvPr id="14" name="Rounded Rectangle 13"/>
          <p:cNvSpPr/>
          <p:nvPr/>
        </p:nvSpPr>
        <p:spPr>
          <a:xfrm>
            <a:off x="457200" y="5026914"/>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Late-night studying is easier on the eyes.</a:t>
            </a:r>
          </a:p>
          <a:p>
            <a:pPr>
              <a:lnSpc>
                <a:spcPct val="115000"/>
              </a:lnSpc>
              <a:spcAft>
                <a:spcPts val="100"/>
              </a:spcAft>
            </a:pPr>
            <a:r>
              <a:rPr sz="650" b="1">
                <a:solidFill>
                  <a:srgbClr val="7C3AED"/>
                </a:solidFill>
                <a:latin typeface="Malgun Gothic"/>
              </a:rPr>
              <a:t>● </a:t>
            </a:r>
            <a:r>
              <a:rPr sz="850">
                <a:solidFill>
                  <a:srgbClr val="334155"/>
                </a:solidFill>
                <a:latin typeface="Malgun Gothic"/>
              </a:rPr>
              <a:t>Your chosen theme is remembered next time you sign in.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Dark for bedtime review, bright for a morning warm-up — it changes the mood too!</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27094"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0939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093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111142"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theme ch…</a:t>
            </a:r>
          </a:p>
        </p:txBody>
      </p:sp>
      <p:sp>
        <p:nvSpPr>
          <p:cNvPr id="26" name="TextBox 25"/>
          <p:cNvSpPr txBox="1"/>
          <p:nvPr/>
        </p:nvSpPr>
        <p:spPr>
          <a:xfrm>
            <a:off x="545531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63819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72048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204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02223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Bright · A…</a:t>
            </a:r>
          </a:p>
        </p:txBody>
      </p:sp>
      <p:sp>
        <p:nvSpPr>
          <p:cNvPr id="31" name="TextBox 30"/>
          <p:cNvSpPr txBox="1"/>
          <p:nvPr/>
        </p:nvSpPr>
        <p:spPr>
          <a:xfrm>
            <a:off x="729508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477963" y="2670048"/>
            <a:ext cx="98389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025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2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862011"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Auto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Judgment Training (pick the right words)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Not memorising answers — what fits right now?</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AI creates a situation that could really happen, and you pick the expression that fits that situation best — then write one line saying why you chose it. “Give me that!” works with a friend, but “Could I have that, please?” is right for a teacher. Real English ability isn't how much you know; it's judging which words fit right now.</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On the student home, open AI Learning Tools → 🧠 Judgment Training.</a:t>
            </a:r>
          </a:p>
          <a:p>
            <a:pPr>
              <a:lnSpc>
                <a:spcPct val="115000"/>
              </a:lnSpc>
              <a:spcAft>
                <a:spcPts val="300"/>
              </a:spcAft>
            </a:pPr>
            <a:r>
              <a:rPr sz="700" b="1">
                <a:solidFill>
                  <a:srgbClr val="7C3AED"/>
                </a:solidFill>
                <a:latin typeface="Malgun Gothic"/>
              </a:rPr>
              <a:t>● </a:t>
            </a:r>
            <a:r>
              <a:rPr sz="900">
                <a:solidFill>
                  <a:srgbClr val="334155"/>
                </a:solidFill>
                <a:latin typeface="Malgun Gothic"/>
              </a:rPr>
              <a:t>Read Here's the situation and pick one of A–D.</a:t>
            </a:r>
          </a:p>
          <a:p>
            <a:pPr>
              <a:lnSpc>
                <a:spcPct val="115000"/>
              </a:lnSpc>
              <a:spcAft>
                <a:spcPts val="300"/>
              </a:spcAft>
            </a:pPr>
            <a:r>
              <a:rPr sz="700" b="1">
                <a:solidFill>
                  <a:srgbClr val="7C3AED"/>
                </a:solidFill>
                <a:latin typeface="Malgun Gothic"/>
              </a:rPr>
              <a:t>● </a:t>
            </a:r>
            <a:r>
              <a:rPr sz="900">
                <a:solidFill>
                  <a:srgbClr val="334155"/>
                </a:solidFill>
                <a:latin typeface="Malgun Gothic"/>
              </a:rPr>
              <a:t>In Why did you choose it?, write your reason. Your own language is fine.</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Submit — the AI scores it and explains why another option may fit better.</a:t>
            </a:r>
          </a:p>
          <a:p>
            <a:pPr>
              <a:lnSpc>
                <a:spcPct val="115000"/>
              </a:lnSpc>
              <a:spcAft>
                <a:spcPts val="300"/>
              </a:spcAft>
            </a:pPr>
            <a:r>
              <a:rPr sz="700" b="1">
                <a:solidFill>
                  <a:srgbClr val="7C3AED"/>
                </a:solidFill>
                <a:latin typeface="Malgun Gothic"/>
              </a:rPr>
              <a:t>● </a:t>
            </a:r>
            <a:r>
              <a:rPr sz="900">
                <a:solidFill>
                  <a:srgbClr val="334155"/>
                </a:solidFill>
                <a:latin typeface="Malgun Gothic"/>
              </a:rPr>
              <a:t>Tap 🏅 My Growth (top right) to see your judgment index and its 5 axes.</a:t>
            </a:r>
          </a:p>
        </p:txBody>
      </p:sp>
      <p:sp>
        <p:nvSpPr>
          <p:cNvPr id="14" name="Rounded Rectangle 13"/>
          <p:cNvSpPr/>
          <p:nvPr/>
        </p:nvSpPr>
        <p:spPr>
          <a:xfrm>
            <a:off x="457200" y="6085332"/>
            <a:ext cx="5669280" cy="190743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377940"/>
            <a:ext cx="5394960" cy="157825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Every option carries partial credit — only a clearly wrong choice scores low.</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better you explain your reason, the higher the score — it trains thinking in words.</a:t>
            </a:r>
          </a:p>
          <a:p>
            <a:pPr>
              <a:lnSpc>
                <a:spcPct val="115000"/>
              </a:lnSpc>
              <a:spcAft>
                <a:spcPts val="100"/>
              </a:spcAft>
            </a:pPr>
            <a:r>
              <a:rPr sz="650" b="1">
                <a:solidFill>
                  <a:srgbClr val="7C3AED"/>
                </a:solidFill>
                <a:latin typeface="Malgun Gothic"/>
              </a:rPr>
              <a:t>● </a:t>
            </a:r>
            <a:r>
              <a:rPr sz="850">
                <a:solidFill>
                  <a:srgbClr val="334155"/>
                </a:solidFill>
                <a:latin typeface="Malgun Gothic"/>
              </a:rPr>
              <a:t>Questions are linked to your textbook (e.g. Side by Side 2), so they stay in range.</a:t>
            </a:r>
          </a:p>
          <a:p>
            <a:pPr>
              <a:lnSpc>
                <a:spcPct val="115000"/>
              </a:lnSpc>
              <a:spcAft>
                <a:spcPts val="100"/>
              </a:spcAft>
            </a:pPr>
            <a:r>
              <a:rPr sz="650" b="1">
                <a:solidFill>
                  <a:srgbClr val="7C3AED"/>
                </a:solidFill>
                <a:latin typeface="Malgun Gothic"/>
              </a:rPr>
              <a:t>● </a:t>
            </a:r>
            <a:r>
              <a:rPr sz="850">
                <a:solidFill>
                  <a:srgbClr val="334155"/>
                </a:solidFill>
                <a:latin typeface="Malgun Gothic"/>
              </a:rPr>
              <a:t>Each round comes from a different topic and angle, so questions never repeat.</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 AI needs a few seconds to write a question. The next one is prepared while you answer, so it usually appears instantly.</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Getting it wrong is fine. Writing why you thought so is the whole point of this training.</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80136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8366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836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8541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Learnin…</a:t>
            </a:r>
          </a:p>
        </p:txBody>
      </p:sp>
      <p:sp>
        <p:nvSpPr>
          <p:cNvPr id="28" name="TextBox 27"/>
          <p:cNvSpPr txBox="1"/>
          <p:nvPr/>
        </p:nvSpPr>
        <p:spPr>
          <a:xfrm>
            <a:off x="345826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64114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2343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234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2518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Here's the…</a:t>
            </a:r>
          </a:p>
        </p:txBody>
      </p:sp>
      <p:sp>
        <p:nvSpPr>
          <p:cNvPr id="33" name="TextBox 32"/>
          <p:cNvSpPr txBox="1"/>
          <p:nvPr/>
        </p:nvSpPr>
        <p:spPr>
          <a:xfrm>
            <a:off x="529803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48091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6320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632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6496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Why did yo…</a:t>
            </a:r>
          </a:p>
        </p:txBody>
      </p:sp>
      <p:sp>
        <p:nvSpPr>
          <p:cNvPr id="38" name="TextBox 37"/>
          <p:cNvSpPr txBox="1"/>
          <p:nvPr/>
        </p:nvSpPr>
        <p:spPr>
          <a:xfrm>
            <a:off x="713780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320686" y="2670048"/>
            <a:ext cx="115580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40298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298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704734"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Submit</a:t>
            </a:r>
          </a:p>
        </p:txBody>
      </p:sp>
      <p:sp>
        <p:nvSpPr>
          <p:cNvPr id="43" name="TextBox 42"/>
          <p:cNvSpPr txBox="1"/>
          <p:nvPr/>
        </p:nvSpPr>
        <p:spPr>
          <a:xfrm>
            <a:off x="847648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659367"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74166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416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043415"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My Growt…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Grammar Pizza Master (word order)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Stack the toppings in sentence order</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Words arrive as pizza toppings. Listen to the sentence first, then place the toppings in sentence order to finish the pizza. Subject, verb and object are colour-coded, so English word order sinks in visually.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63420"/>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Grammar Pizza Master in the games hub.</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Listen and start to hear the sentence first.</a:t>
            </a:r>
          </a:p>
          <a:p>
            <a:pPr>
              <a:lnSpc>
                <a:spcPct val="115000"/>
              </a:lnSpc>
              <a:spcAft>
                <a:spcPts val="300"/>
              </a:spcAft>
            </a:pPr>
            <a:r>
              <a:rPr sz="700" b="1">
                <a:solidFill>
                  <a:srgbClr val="7C3AED"/>
                </a:solidFill>
                <a:latin typeface="Malgun Gothic"/>
              </a:rPr>
              <a:t>● </a:t>
            </a:r>
            <a:r>
              <a:rPr sz="900">
                <a:solidFill>
                  <a:srgbClr val="334155"/>
                </a:solidFill>
                <a:latin typeface="Malgun Gothic"/>
              </a:rPr>
              <a:t>Place the toppings below in sentence order onto the pizza.</a:t>
            </a:r>
          </a:p>
          <a:p>
            <a:pPr>
              <a:lnSpc>
                <a:spcPct val="115000"/>
              </a:lnSpc>
              <a:spcAft>
                <a:spcPts val="300"/>
              </a:spcAft>
            </a:pPr>
            <a:r>
              <a:rPr sz="700" b="1">
                <a:solidFill>
                  <a:srgbClr val="7C3AED"/>
                </a:solidFill>
                <a:latin typeface="Malgun Gothic"/>
              </a:rPr>
              <a:t>● </a:t>
            </a:r>
            <a:r>
              <a:rPr sz="900">
                <a:solidFill>
                  <a:srgbClr val="334155"/>
                </a:solidFill>
                <a:latin typeface="Malgun Gothic"/>
              </a:rPr>
              <a:t>Stuck? Tap 💡 Hint! at the top right.</a:t>
            </a:r>
          </a:p>
          <a:p>
            <a:pPr>
              <a:lnSpc>
                <a:spcPct val="115000"/>
              </a:lnSpc>
              <a:spcAft>
                <a:spcPts val="300"/>
              </a:spcAft>
            </a:pPr>
            <a:r>
              <a:rPr sz="700" b="1">
                <a:solidFill>
                  <a:srgbClr val="7C3AED"/>
                </a:solidFill>
                <a:latin typeface="Malgun Gothic"/>
              </a:rPr>
              <a:t>● </a:t>
            </a:r>
            <a:r>
              <a:rPr sz="900">
                <a:solidFill>
                  <a:srgbClr val="334155"/>
                </a:solidFill>
                <a:latin typeface="Malgun Gothic"/>
              </a:rPr>
              <a:t>Sentences grow longer from Level 1 → 2 → 3.</a:t>
            </a:r>
          </a:p>
        </p:txBody>
      </p:sp>
      <p:sp>
        <p:nvSpPr>
          <p:cNvPr id="14" name="Rounded Rectangle 13"/>
          <p:cNvSpPr/>
          <p:nvPr/>
        </p:nvSpPr>
        <p:spPr>
          <a:xfrm>
            <a:off x="457200" y="5603900"/>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49620"/>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896508"/>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Each topping is labelled subject / verb / object, so word order becomes natural.</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a textbook is assigned, sentences come from that book.</a:t>
            </a:r>
          </a:p>
          <a:p>
            <a:pPr>
              <a:lnSpc>
                <a:spcPct val="115000"/>
              </a:lnSpc>
              <a:spcAft>
                <a:spcPts val="100"/>
              </a:spcAft>
            </a:pPr>
            <a:r>
              <a:rPr sz="650" b="1">
                <a:solidFill>
                  <a:srgbClr val="7C3AED"/>
                </a:solidFill>
                <a:latin typeface="Malgun Gothic"/>
              </a:rPr>
              <a:t>● </a:t>
            </a:r>
            <a:r>
              <a:rPr sz="850">
                <a:solidFill>
                  <a:srgbClr val="334155"/>
                </a:solidFill>
                <a:latin typeface="Malgun Gothic"/>
              </a:rPr>
              <a:t>A time limit keeps the drill fast and focused.</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Read each word aloud as you place it — the order sticks far faster.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pizza.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08683" y="2670048"/>
            <a:ext cx="16422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9097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909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192731"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Grammar…</a:t>
            </a:r>
          </a:p>
        </p:txBody>
      </p:sp>
      <p:sp>
        <p:nvSpPr>
          <p:cNvPr id="26" name="TextBox 25"/>
          <p:cNvSpPr txBox="1"/>
          <p:nvPr/>
        </p:nvSpPr>
        <p:spPr>
          <a:xfrm>
            <a:off x="345094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363382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1612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17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Listen and…</a:t>
            </a:r>
          </a:p>
        </p:txBody>
      </p:sp>
      <p:sp>
        <p:nvSpPr>
          <p:cNvPr id="31" name="TextBox 30"/>
          <p:cNvSpPr txBox="1"/>
          <p:nvPr/>
        </p:nvSpPr>
        <p:spPr>
          <a:xfrm>
            <a:off x="529071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547359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55589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55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85764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in sentenc…</a:t>
            </a:r>
          </a:p>
        </p:txBody>
      </p:sp>
      <p:sp>
        <p:nvSpPr>
          <p:cNvPr id="36" name="TextBox 35"/>
          <p:cNvSpPr txBox="1"/>
          <p:nvPr/>
        </p:nvSpPr>
        <p:spPr>
          <a:xfrm>
            <a:off x="713049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313371" y="2670048"/>
            <a:ext cx="1313078"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39566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956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697419" y="2670048"/>
            <a:ext cx="8924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Hint!</a:t>
            </a:r>
          </a:p>
        </p:txBody>
      </p:sp>
      <p:sp>
        <p:nvSpPr>
          <p:cNvPr id="41" name="TextBox 40"/>
          <p:cNvSpPr txBox="1"/>
          <p:nvPr/>
        </p:nvSpPr>
        <p:spPr>
          <a:xfrm>
            <a:off x="86264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2" name="Rounded Rectangle 41"/>
          <p:cNvSpPr/>
          <p:nvPr/>
        </p:nvSpPr>
        <p:spPr>
          <a:xfrm>
            <a:off x="8809329"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916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916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19337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Sentences…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Tetris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Stack word blocks and complete two lines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Classic Tetris with words on top. Words fall one at a time in sentence order — stack them well and clear a line to complete the sentence. Long words are wide blocks, short words are small ones; fitting them together makes the vocabulary stick.</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474927"/>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Word Tetris in the games hub.</a:t>
            </a:r>
          </a:p>
          <a:p>
            <a:pPr>
              <a:lnSpc>
                <a:spcPct val="115000"/>
              </a:lnSpc>
              <a:spcAft>
                <a:spcPts val="300"/>
              </a:spcAft>
            </a:pPr>
            <a:r>
              <a:rPr sz="700" b="1">
                <a:solidFill>
                  <a:srgbClr val="7C3AED"/>
                </a:solidFill>
                <a:latin typeface="Malgun Gothic"/>
              </a:rPr>
              <a:t>● </a:t>
            </a:r>
            <a:r>
              <a:rPr sz="900">
                <a:solidFill>
                  <a:srgbClr val="334155"/>
                </a:solidFill>
                <a:latin typeface="Malgun Gothic"/>
              </a:rPr>
              <a:t>Choose US English mode or CN Chinese mode.</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 ▶ to move, rotate, ▼ to speed up, ↓ to drop instantly.</a:t>
            </a:r>
          </a:p>
          <a:p>
            <a:pPr>
              <a:lnSpc>
                <a:spcPct val="115000"/>
              </a:lnSpc>
              <a:spcAft>
                <a:spcPts val="300"/>
              </a:spcAft>
            </a:pPr>
            <a:r>
              <a:rPr sz="700" b="1">
                <a:solidFill>
                  <a:srgbClr val="7C3AED"/>
                </a:solidFill>
                <a:latin typeface="Malgun Gothic"/>
              </a:rPr>
              <a:t>● </a:t>
            </a:r>
            <a:r>
              <a:rPr sz="900">
                <a:solidFill>
                  <a:srgbClr val="334155"/>
                </a:solidFill>
                <a:latin typeface="Malgun Gothic"/>
              </a:rPr>
              <a:t>Each time a block lands you hear the word — repeat it aloud.</a:t>
            </a:r>
          </a:p>
        </p:txBody>
      </p:sp>
      <p:sp>
        <p:nvSpPr>
          <p:cNvPr id="14" name="Rounded Rectangle 13"/>
          <p:cNvSpPr/>
          <p:nvPr/>
        </p:nvSpPr>
        <p:spPr>
          <a:xfrm>
            <a:off x="457200" y="5315407"/>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61127"/>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608015"/>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English and Chinese modes play exactly the same way.</a:t>
            </a:r>
          </a:p>
          <a:p>
            <a:pPr>
              <a:lnSpc>
                <a:spcPct val="115000"/>
              </a:lnSpc>
              <a:spcAft>
                <a:spcPts val="100"/>
              </a:spcAft>
            </a:pPr>
            <a:r>
              <a:rPr sz="650" b="1">
                <a:solidFill>
                  <a:srgbClr val="7C3AED"/>
                </a:solidFill>
                <a:latin typeface="Malgun Gothic"/>
              </a:rPr>
              <a:t>● </a:t>
            </a:r>
            <a:r>
              <a:rPr sz="850">
                <a:solidFill>
                  <a:srgbClr val="334155"/>
                </a:solidFill>
                <a:latin typeface="Malgun Gothic"/>
              </a:rPr>
              <a:t>Your high score is saved so you can beat it next time.</a:t>
            </a:r>
          </a:p>
          <a:p>
            <a:pPr>
              <a:lnSpc>
                <a:spcPct val="115000"/>
              </a:lnSpc>
              <a:spcAft>
                <a:spcPts val="100"/>
              </a:spcAft>
            </a:pPr>
            <a:r>
              <a:rPr sz="650" b="1">
                <a:solidFill>
                  <a:srgbClr val="7C3AED"/>
                </a:solidFill>
                <a:latin typeface="Malgun Gothic"/>
              </a:rPr>
              <a:t>● </a:t>
            </a:r>
            <a:r>
              <a:rPr sz="850">
                <a:solidFill>
                  <a:srgbClr val="334155"/>
                </a:solidFill>
                <a:latin typeface="Malgun Gothic"/>
              </a:rPr>
              <a:t>Tidied up so nothing is cut off on a phone screen.</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Lay the long words down low first — clearing lines gets much easier.</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tetri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78861"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6115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11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6290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Word Tet…</a:t>
            </a:r>
          </a:p>
        </p:txBody>
      </p:sp>
      <p:sp>
        <p:nvSpPr>
          <p:cNvPr id="26" name="TextBox 25"/>
          <p:cNvSpPr txBox="1"/>
          <p:nvPr/>
        </p:nvSpPr>
        <p:spPr>
          <a:xfrm>
            <a:off x="450707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68995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7225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722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07400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US English…</a:t>
            </a:r>
          </a:p>
        </p:txBody>
      </p:sp>
      <p:sp>
        <p:nvSpPr>
          <p:cNvPr id="31" name="TextBox 30"/>
          <p:cNvSpPr txBox="1"/>
          <p:nvPr/>
        </p:nvSpPr>
        <p:spPr>
          <a:xfrm>
            <a:off x="634685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529730" y="2670048"/>
            <a:ext cx="1040587"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1202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120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913778" y="2670048"/>
            <a:ext cx="6199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t>
            </a:r>
          </a:p>
        </p:txBody>
      </p:sp>
      <p:sp>
        <p:nvSpPr>
          <p:cNvPr id="36" name="TextBox 35"/>
          <p:cNvSpPr txBox="1"/>
          <p:nvPr/>
        </p:nvSpPr>
        <p:spPr>
          <a:xfrm>
            <a:off x="757031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775319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83549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354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13724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hear the 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Tank Battle · Language Ace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Destroy in word order · action learning</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Two new action-style learning games. In Tank Battle you destroy enemy tanks in the sentence's word order; in Language Ace you fly and answer as you go. Hands stay busy, so focus is high and repetition never feels dull.</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Tank Battle or ✈️ Language Ace in the games hub.</a:t>
            </a:r>
          </a:p>
          <a:p>
            <a:pPr>
              <a:lnSpc>
                <a:spcPct val="115000"/>
              </a:lnSpc>
              <a:spcAft>
                <a:spcPts val="300"/>
              </a:spcAft>
            </a:pPr>
            <a:r>
              <a:rPr sz="700" b="1">
                <a:solidFill>
                  <a:srgbClr val="7C3AED"/>
                </a:solidFill>
                <a:latin typeface="Malgun Gothic"/>
              </a:rPr>
              <a:t>● </a:t>
            </a:r>
            <a:r>
              <a:rPr sz="900">
                <a:solidFill>
                  <a:srgbClr val="334155"/>
                </a:solidFill>
                <a:latin typeface="Malgun Gothic"/>
              </a:rPr>
              <a:t>For Tank Battle pick English / 中文, a battlefield (grass · desert · snow) and difficulty 1–7.</a:t>
            </a:r>
          </a:p>
          <a:p>
            <a:pPr>
              <a:lnSpc>
                <a:spcPct val="115000"/>
              </a:lnSpc>
              <a:spcAft>
                <a:spcPts val="300"/>
              </a:spcAft>
            </a:pPr>
            <a:r>
              <a:rPr sz="700" b="1">
                <a:solidFill>
                  <a:srgbClr val="7C3AED"/>
                </a:solidFill>
                <a:latin typeface="Malgun Gothic"/>
              </a:rPr>
              <a:t>● </a:t>
            </a:r>
            <a:r>
              <a:rPr sz="900">
                <a:solidFill>
                  <a:srgbClr val="334155"/>
                </a:solidFill>
                <a:latin typeface="Malgun Gothic"/>
              </a:rPr>
              <a:t>Hold and drag the left button to move; short tap fires in that direction.</a:t>
            </a:r>
          </a:p>
          <a:p>
            <a:pPr>
              <a:lnSpc>
                <a:spcPct val="115000"/>
              </a:lnSpc>
              <a:spcAft>
                <a:spcPts val="300"/>
              </a:spcAft>
            </a:pPr>
            <a:r>
              <a:rPr sz="700" b="1">
                <a:solidFill>
                  <a:srgbClr val="7C3AED"/>
                </a:solidFill>
                <a:latin typeface="Malgun Gothic"/>
              </a:rPr>
              <a:t>● </a:t>
            </a:r>
            <a:r>
              <a:rPr sz="900">
                <a:solidFill>
                  <a:srgbClr val="334155"/>
                </a:solidFill>
                <a:latin typeface="Malgun Gothic"/>
              </a:rPr>
              <a:t>Destroy the tanks carrying the gold words of the sentence above, in order.</a:t>
            </a:r>
          </a:p>
          <a:p>
            <a:pPr>
              <a:lnSpc>
                <a:spcPct val="115000"/>
              </a:lnSpc>
              <a:spcAft>
                <a:spcPts val="300"/>
              </a:spcAft>
            </a:pPr>
            <a:r>
              <a:rPr sz="700" b="1">
                <a:solidFill>
                  <a:srgbClr val="7C3AED"/>
                </a:solidFill>
                <a:latin typeface="Malgun Gothic"/>
              </a:rPr>
              <a:t>● </a:t>
            </a:r>
            <a:r>
              <a:rPr sz="900">
                <a:solidFill>
                  <a:srgbClr val="334155"/>
                </a:solidFill>
                <a:latin typeface="Malgun Gothic"/>
              </a:rPr>
              <a:t>Pick up jelly fuel cans to gain more time.</a:t>
            </a:r>
          </a:p>
        </p:txBody>
      </p:sp>
      <p:sp>
        <p:nvSpPr>
          <p:cNvPr id="14" name="Rounded Rectangle 13"/>
          <p:cNvSpPr/>
          <p:nvPr/>
        </p:nvSpPr>
        <p:spPr>
          <a:xfrm>
            <a:off x="457200" y="6085332"/>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377940"/>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Higher difficulty means faster enemies and faster speech — listening practice included.</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a textbook is assigned, its sentences are used.</a:t>
            </a:r>
          </a:p>
          <a:p>
            <a:pPr>
              <a:lnSpc>
                <a:spcPct val="115000"/>
              </a:lnSpc>
              <a:spcAft>
                <a:spcPts val="100"/>
              </a:spcAft>
            </a:pPr>
            <a:r>
              <a:rPr sz="650" b="1">
                <a:solidFill>
                  <a:srgbClr val="7C3AED"/>
                </a:solidFill>
                <a:latin typeface="Malgun Gothic"/>
              </a:rPr>
              <a:t>● </a:t>
            </a:r>
            <a:r>
              <a:rPr sz="850">
                <a:solidFill>
                  <a:srgbClr val="334155"/>
                </a:solidFill>
                <a:latin typeface="Malgun Gothic"/>
              </a:rPr>
              <a:t>Fully playable by touch on phones and tablets.</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These games are motion-heavy. On a slower device, lower the difficulty.</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Games work best as review after the lesson, not before it.</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tank.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36775" y="2670048"/>
            <a:ext cx="17995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1907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190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20823"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Tank Ba…</a:t>
            </a:r>
          </a:p>
        </p:txBody>
      </p:sp>
      <p:sp>
        <p:nvSpPr>
          <p:cNvPr id="28" name="TextBox 27"/>
          <p:cNvSpPr txBox="1"/>
          <p:nvPr/>
        </p:nvSpPr>
        <p:spPr>
          <a:xfrm>
            <a:off x="343631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619195"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0149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014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0324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English /…</a:t>
            </a:r>
          </a:p>
        </p:txBody>
      </p:sp>
      <p:sp>
        <p:nvSpPr>
          <p:cNvPr id="33" name="TextBox 32"/>
          <p:cNvSpPr txBox="1"/>
          <p:nvPr/>
        </p:nvSpPr>
        <p:spPr>
          <a:xfrm>
            <a:off x="519013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37301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5531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553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570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Hold and d…</a:t>
            </a:r>
          </a:p>
        </p:txBody>
      </p:sp>
      <p:sp>
        <p:nvSpPr>
          <p:cNvPr id="38" name="TextBox 37"/>
          <p:cNvSpPr txBox="1"/>
          <p:nvPr/>
        </p:nvSpPr>
        <p:spPr>
          <a:xfrm>
            <a:off x="702990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212787"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9508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950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596835"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gold words</a:t>
            </a:r>
          </a:p>
        </p:txBody>
      </p:sp>
      <p:sp>
        <p:nvSpPr>
          <p:cNvPr id="43" name="TextBox 42"/>
          <p:cNvSpPr txBox="1"/>
          <p:nvPr/>
        </p:nvSpPr>
        <p:spPr>
          <a:xfrm>
            <a:off x="871240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89528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7757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775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7933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jelly fuel…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Log in with your face or fingerprint (passkey)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password needed in the app</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 can now log in with your face or fingerprint in the Mangoi Android app. Register once and you're in with a glance or a touch — no ID and password to type. Your secret never leaves your phone, so it's safer too.</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Update the app to the latest version (v1.9 or later).</a:t>
            </a:r>
          </a:p>
          <a:p>
            <a:pPr>
              <a:lnSpc>
                <a:spcPct val="115000"/>
              </a:lnSpc>
              <a:spcAft>
                <a:spcPts val="300"/>
              </a:spcAft>
            </a:pPr>
            <a:r>
              <a:rPr sz="700" b="1">
                <a:solidFill>
                  <a:srgbClr val="7C3AED"/>
                </a:solidFill>
                <a:latin typeface="Malgun Gothic"/>
              </a:rPr>
              <a:t>● </a:t>
            </a:r>
            <a:r>
              <a:rPr sz="900">
                <a:solidFill>
                  <a:srgbClr val="334155"/>
                </a:solidFill>
                <a:latin typeface="Malgun Gothic"/>
              </a:rPr>
              <a:t>Log in once with your ID and password as usual.</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prompted, tap Register passkey and enrol your face or fingerprint.</a:t>
            </a:r>
          </a:p>
          <a:p>
            <a:pPr>
              <a:lnSpc>
                <a:spcPct val="115000"/>
              </a:lnSpc>
              <a:spcAft>
                <a:spcPts val="300"/>
              </a:spcAft>
            </a:pPr>
            <a:r>
              <a:rPr sz="700" b="1">
                <a:solidFill>
                  <a:srgbClr val="7C3AED"/>
                </a:solidFill>
                <a:latin typeface="Malgun Gothic"/>
              </a:rPr>
              <a:t>● </a:t>
            </a:r>
            <a:r>
              <a:rPr sz="900">
                <a:solidFill>
                  <a:srgbClr val="334155"/>
                </a:solidFill>
                <a:latin typeface="Malgun Gothic"/>
              </a:rPr>
              <a:t>From then on, log in with your face or fingerprint.</a:t>
            </a:r>
          </a:p>
        </p:txBody>
      </p:sp>
      <p:sp>
        <p:nvSpPr>
          <p:cNvPr id="14" name="Rounded Rectangle 13"/>
          <p:cNvSpPr/>
          <p:nvPr/>
        </p:nvSpPr>
        <p:spPr>
          <a:xfrm>
            <a:off x="457200" y="5636361"/>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credential stays only on your phone and is never sent to the server.</a:t>
            </a:r>
          </a:p>
          <a:p>
            <a:pPr>
              <a:lnSpc>
                <a:spcPct val="115000"/>
              </a:lnSpc>
              <a:spcAft>
                <a:spcPts val="100"/>
              </a:spcAft>
            </a:pPr>
            <a:r>
              <a:rPr sz="650" b="1">
                <a:solidFill>
                  <a:srgbClr val="7C3AED"/>
                </a:solidFill>
                <a:latin typeface="Malgun Gothic"/>
              </a:rPr>
              <a:t>● </a:t>
            </a:r>
            <a:r>
              <a:rPr sz="850">
                <a:solidFill>
                  <a:srgbClr val="334155"/>
                </a:solidFill>
                <a:latin typeface="Malgun Gothic"/>
              </a:rPr>
              <a:t>Changed phones? Just register once more on the new device.</a:t>
            </a:r>
          </a:p>
          <a:p>
            <a:pPr>
              <a:lnSpc>
                <a:spcPct val="115000"/>
              </a:lnSpc>
              <a:spcAft>
                <a:spcPts val="100"/>
              </a:spcAft>
            </a:pPr>
            <a:r>
              <a:rPr sz="650" b="1">
                <a:solidFill>
                  <a:srgbClr val="7C3AED"/>
                </a:solidFill>
                <a:latin typeface="Malgun Gothic"/>
              </a:rPr>
              <a:t>● </a:t>
            </a:r>
            <a:r>
              <a:rPr sz="850">
                <a:solidFill>
                  <a:srgbClr val="334155"/>
                </a:solidFill>
                <a:latin typeface="Malgun Gothic"/>
              </a:rPr>
              <a:t>Devices without passkey support keep working with the usual ID + password.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is an app-only feature. In a web browser, log in the usual way.</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Younger students forget passwords constantly. Registering a passkey cuts those requests dramatically.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4934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3164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31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33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latest ver…</a:t>
            </a:r>
          </a:p>
        </p:txBody>
      </p:sp>
      <p:sp>
        <p:nvSpPr>
          <p:cNvPr id="28" name="TextBox 27"/>
          <p:cNvSpPr txBox="1"/>
          <p:nvPr/>
        </p:nvSpPr>
        <p:spPr>
          <a:xfrm>
            <a:off x="420624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38912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7141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71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731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Log in onc…</a:t>
            </a:r>
          </a:p>
        </p:txBody>
      </p:sp>
      <p:sp>
        <p:nvSpPr>
          <p:cNvPr id="33" name="TextBox 32"/>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22889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1118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61294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Register p…</a:t>
            </a:r>
          </a:p>
        </p:txBody>
      </p:sp>
      <p:sp>
        <p:nvSpPr>
          <p:cNvPr id="38" name="TextBox 37"/>
          <p:cNvSpPr txBox="1"/>
          <p:nvPr/>
        </p:nvSpPr>
        <p:spPr>
          <a:xfrm>
            <a:off x="788578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8068665"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5096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09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5271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with your…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Your speaking isn't cut off any more · a smarter AI friend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It waits even when you speak slowly</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microphone used to shut off while you were still thinking mid-sentence — that's fixed. The waiting time now adapts to the situation, and if your phone kills the microphone by itself it restarts automatically. The AI friend (Mango) no longer repeats itself, asks again when your speech is cut off, and actually slows down when you say “speak slowly”.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Press the 🎤 button in Speech Coach, AI Warm-up or AI Friend and talk.</a:t>
            </a:r>
          </a:p>
          <a:p>
            <a:pPr>
              <a:lnSpc>
                <a:spcPct val="115000"/>
              </a:lnSpc>
              <a:spcAft>
                <a:spcPts val="300"/>
              </a:spcAft>
            </a:pPr>
            <a:r>
              <a:rPr sz="700" b="1">
                <a:solidFill>
                  <a:srgbClr val="7C3AED"/>
                </a:solidFill>
                <a:latin typeface="Malgun Gothic"/>
              </a:rPr>
              <a:t>● </a:t>
            </a:r>
            <a:r>
              <a:rPr sz="900">
                <a:solidFill>
                  <a:srgbClr val="334155"/>
                </a:solidFill>
                <a:latin typeface="Malgun Gothic"/>
              </a:rPr>
              <a:t>Pausing to think is fine — it waits until you're really finished.</a:t>
            </a:r>
          </a:p>
          <a:p>
            <a:pPr>
              <a:lnSpc>
                <a:spcPct val="115000"/>
              </a:lnSpc>
              <a:spcAft>
                <a:spcPts val="300"/>
              </a:spcAft>
            </a:pPr>
            <a:r>
              <a:rPr sz="700" b="1">
                <a:solidFill>
                  <a:srgbClr val="7C3AED"/>
                </a:solidFill>
                <a:latin typeface="Malgun Gothic"/>
              </a:rPr>
              <a:t>● </a:t>
            </a:r>
            <a:r>
              <a:rPr sz="900">
                <a:solidFill>
                  <a:srgbClr val="334155"/>
                </a:solidFill>
                <a:latin typeface="Malgun Gothic"/>
              </a:rPr>
              <a:t>Say “Please speak slowly” to the AI friend and it will slow down.</a:t>
            </a:r>
          </a:p>
          <a:p>
            <a:pPr>
              <a:lnSpc>
                <a:spcPct val="115000"/>
              </a:lnSpc>
              <a:spcAft>
                <a:spcPts val="300"/>
              </a:spcAft>
            </a:pPr>
            <a:r>
              <a:rPr sz="700" b="1">
                <a:solidFill>
                  <a:srgbClr val="7C3AED"/>
                </a:solidFill>
                <a:latin typeface="Malgun Gothic"/>
              </a:rPr>
              <a:t>● </a:t>
            </a:r>
            <a:r>
              <a:rPr sz="900">
                <a:solidFill>
                  <a:srgbClr val="334155"/>
                </a:solidFill>
                <a:latin typeface="Malgun Gothic"/>
              </a:rPr>
              <a:t>Choose the voice: male · female · alternating.</a:t>
            </a:r>
          </a:p>
        </p:txBody>
      </p:sp>
      <p:sp>
        <p:nvSpPr>
          <p:cNvPr id="14" name="Rounded Rectangle 13"/>
          <p:cNvSpPr/>
          <p:nvPr/>
        </p:nvSpPr>
        <p:spPr>
          <a:xfrm>
            <a:off x="457200" y="5636361"/>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Sudden microphone cut-outs on Android phones now recover automatically.</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AI friend never repeats the same sentence.</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your speech is clipped, the AI asks “Did you mean this?”</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Noisy surroundings hurt recognition. Speak clearly in a quiet place.</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Using an earphone microphone raises recognition accuracy noticeably.</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frien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99639" y="2670048"/>
            <a:ext cx="139903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8193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819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83687" y="2670048"/>
            <a:ext cx="9784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button</a:t>
            </a:r>
          </a:p>
        </p:txBody>
      </p:sp>
      <p:sp>
        <p:nvSpPr>
          <p:cNvPr id="28" name="TextBox 27"/>
          <p:cNvSpPr txBox="1"/>
          <p:nvPr/>
        </p:nvSpPr>
        <p:spPr>
          <a:xfrm>
            <a:off x="3998671"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181551"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6384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638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6559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it waits u…</a:t>
            </a:r>
          </a:p>
        </p:txBody>
      </p:sp>
      <p:sp>
        <p:nvSpPr>
          <p:cNvPr id="33" name="TextBox 32"/>
          <p:cNvSpPr txBox="1"/>
          <p:nvPr/>
        </p:nvSpPr>
        <p:spPr>
          <a:xfrm>
            <a:off x="583844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021324"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362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3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05372"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“Please sp…</a:t>
            </a:r>
          </a:p>
        </p:txBody>
      </p:sp>
      <p:sp>
        <p:nvSpPr>
          <p:cNvPr id="38" name="TextBox 37"/>
          <p:cNvSpPr txBox="1"/>
          <p:nvPr/>
        </p:nvSpPr>
        <p:spPr>
          <a:xfrm>
            <a:off x="774954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93241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1471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471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1646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male · fem…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 and pay in one 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Pick teacher, days and time — lessons are scheduled automatically</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 can now choose your teacher, days and time yourself and pay — and your whole schedule is created automatically. No more phoning after payment to arrange a timetable. If a slot already clashes with another lesson, you're told before you pay.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693822"/>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Enrolment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① Choose a teacher.</a:t>
            </a:r>
          </a:p>
          <a:p>
            <a:pPr>
              <a:lnSpc>
                <a:spcPct val="115000"/>
              </a:lnSpc>
              <a:spcAft>
                <a:spcPts val="300"/>
              </a:spcAft>
            </a:pPr>
            <a:r>
              <a:rPr sz="700" b="1">
                <a:solidFill>
                  <a:srgbClr val="7C3AED"/>
                </a:solidFill>
                <a:latin typeface="Malgun Gothic"/>
              </a:rPr>
              <a:t>● </a:t>
            </a:r>
            <a:r>
              <a:rPr sz="900">
                <a:solidFill>
                  <a:srgbClr val="334155"/>
                </a:solidFill>
                <a:latin typeface="Malgun Gothic"/>
              </a:rPr>
              <a:t>② Lesson options — times per week (1–5), term (1 / 3 / 6 / 12 months), length (20 or 40 min).</a:t>
            </a:r>
          </a:p>
          <a:p>
            <a:pPr>
              <a:lnSpc>
                <a:spcPct val="115000"/>
              </a:lnSpc>
              <a:spcAft>
                <a:spcPts val="300"/>
              </a:spcAft>
            </a:pPr>
            <a:r>
              <a:rPr sz="700" b="1">
                <a:solidFill>
                  <a:srgbClr val="7C3AED"/>
                </a:solidFill>
                <a:latin typeface="Malgun Gothic"/>
              </a:rPr>
              <a:t>● </a:t>
            </a:r>
            <a:r>
              <a:rPr sz="900">
                <a:solidFill>
                  <a:srgbClr val="334155"/>
                </a:solidFill>
                <a:latin typeface="Malgun Gothic"/>
              </a:rPr>
              <a:t>③ Days &amp; time — pick as many days as your weekly count, then the start time and start date.</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 Available appears, press Pay at the bottom.</a:t>
            </a:r>
          </a:p>
          <a:p>
            <a:pPr>
              <a:lnSpc>
                <a:spcPct val="115000"/>
              </a:lnSpc>
              <a:spcAft>
                <a:spcPts val="300"/>
              </a:spcAft>
            </a:pPr>
            <a:r>
              <a:rPr sz="700" b="1">
                <a:solidFill>
                  <a:srgbClr val="7C3AED"/>
                </a:solidFill>
                <a:latin typeface="Malgun Gothic"/>
              </a:rPr>
              <a:t>● </a:t>
            </a:r>
            <a:r>
              <a:rPr sz="900">
                <a:solidFill>
                  <a:srgbClr val="334155"/>
                </a:solidFill>
                <a:latin typeface="Malgun Gothic"/>
              </a:rPr>
              <a:t>Once payment completes, every session is created at once. Check it on My Page.</a:t>
            </a:r>
          </a:p>
        </p:txBody>
      </p:sp>
      <p:sp>
        <p:nvSpPr>
          <p:cNvPr id="14" name="Rounded Rectangle 13"/>
          <p:cNvSpPr/>
          <p:nvPr/>
        </p:nvSpPr>
        <p:spPr>
          <a:xfrm>
            <a:off x="457200" y="6534302"/>
            <a:ext cx="5669280" cy="167358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580022"/>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826910"/>
            <a:ext cx="5394960" cy="1344396"/>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Longer terms are cheaper — 6 months −5%, 12 months −10%.</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the slot is taken, an ❌ appears so you can change it before paying.</a:t>
            </a:r>
          </a:p>
          <a:p>
            <a:pPr>
              <a:lnSpc>
                <a:spcPct val="115000"/>
              </a:lnSpc>
              <a:spcAft>
                <a:spcPts val="100"/>
              </a:spcAft>
            </a:pPr>
            <a:r>
              <a:rPr sz="650" b="1">
                <a:solidFill>
                  <a:srgbClr val="7C3AED"/>
                </a:solidFill>
                <a:latin typeface="Malgun Gothic"/>
              </a:rPr>
              <a:t>● </a:t>
            </a:r>
            <a:r>
              <a:rPr sz="850">
                <a:solidFill>
                  <a:srgbClr val="334155"/>
                </a:solidFill>
                <a:latin typeface="Malgun Gothic"/>
              </a:rPr>
              <a:t>Postponing is free up to 30 minutes before the lesson; renewing extends the same day, time and teacher.</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Lessons are created after payment is confirmed. Wait a moment right after paying and the schedule will appear.</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Avoid days with school commitments. Choosing well up front beats rescheduling later.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5566" y="2670048"/>
            <a:ext cx="141366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786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786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029614"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Enrolment</a:t>
            </a:r>
          </a:p>
        </p:txBody>
      </p:sp>
      <p:sp>
        <p:nvSpPr>
          <p:cNvPr id="28" name="TextBox 27"/>
          <p:cNvSpPr txBox="1"/>
          <p:nvPr/>
        </p:nvSpPr>
        <p:spPr>
          <a:xfrm>
            <a:off x="205922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2242108"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32440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244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2626156"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① Choose a…</a:t>
            </a:r>
          </a:p>
        </p:txBody>
      </p:sp>
      <p:sp>
        <p:nvSpPr>
          <p:cNvPr id="33" name="TextBox 32"/>
          <p:cNvSpPr txBox="1"/>
          <p:nvPr/>
        </p:nvSpPr>
        <p:spPr>
          <a:xfrm>
            <a:off x="397032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4153204"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23550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355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537252"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② Lesson o…</a:t>
            </a:r>
          </a:p>
        </p:txBody>
      </p:sp>
      <p:sp>
        <p:nvSpPr>
          <p:cNvPr id="38" name="TextBox 37"/>
          <p:cNvSpPr txBox="1"/>
          <p:nvPr/>
        </p:nvSpPr>
        <p:spPr>
          <a:xfrm>
            <a:off x="588142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6064300"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14659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465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448348"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③ Days &amp; t…</a:t>
            </a:r>
          </a:p>
        </p:txBody>
      </p:sp>
      <p:sp>
        <p:nvSpPr>
          <p:cNvPr id="43" name="TextBox 42"/>
          <p:cNvSpPr txBox="1"/>
          <p:nvPr/>
        </p:nvSpPr>
        <p:spPr>
          <a:xfrm>
            <a:off x="779251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7975396"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05769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57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359444"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Availabl…</a:t>
            </a:r>
          </a:p>
        </p:txBody>
      </p:sp>
      <p:sp>
        <p:nvSpPr>
          <p:cNvPr id="48" name="TextBox 47"/>
          <p:cNvSpPr txBox="1"/>
          <p:nvPr/>
        </p:nvSpPr>
        <p:spPr>
          <a:xfrm>
            <a:off x="970361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9" name="Rounded Rectangle 48"/>
          <p:cNvSpPr/>
          <p:nvPr/>
        </p:nvSpPr>
        <p:spPr>
          <a:xfrm>
            <a:off x="988649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6878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9687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1027054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every sess…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Rescue Voyage (Mango Rescue Voyage)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Rescue sea friends while you learn words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Swept up by a storm, word friends have fallen into the sea — steer your boat and lift them out. Rescue one and its native pronunciation and meaning are revealed; along the way, dodge sea creatures like sharks, turtles and dolphins. After rescuing as many as you can in time, a listen-and-repeat sentence mission follows, built from the words you saved.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63420"/>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Rescue Voyage in the games hub.</a:t>
            </a:r>
          </a:p>
          <a:p>
            <a:pPr>
              <a:lnSpc>
                <a:spcPct val="115000"/>
              </a:lnSpc>
              <a:spcAft>
                <a:spcPts val="300"/>
              </a:spcAft>
            </a:pPr>
            <a:r>
              <a:rPr sz="700" b="1">
                <a:solidFill>
                  <a:srgbClr val="7C3AED"/>
                </a:solidFill>
                <a:latin typeface="Malgun Gothic"/>
              </a:rPr>
              <a:t>● </a:t>
            </a:r>
            <a:r>
              <a:rPr sz="900">
                <a:solidFill>
                  <a:srgbClr val="334155"/>
                </a:solidFill>
                <a:latin typeface="Malgun Gothic"/>
              </a:rPr>
              <a:t>Pick English / 中文 mode and press Start.</a:t>
            </a:r>
          </a:p>
          <a:p>
            <a:pPr>
              <a:lnSpc>
                <a:spcPct val="115000"/>
              </a:lnSpc>
              <a:spcAft>
                <a:spcPts val="300"/>
              </a:spcAft>
            </a:pPr>
            <a:r>
              <a:rPr sz="700" b="1">
                <a:solidFill>
                  <a:srgbClr val="7C3AED"/>
                </a:solidFill>
                <a:latin typeface="Malgun Gothic"/>
              </a:rPr>
              <a:t>● </a:t>
            </a:r>
            <a:r>
              <a:rPr sz="900">
                <a:solidFill>
                  <a:srgbClr val="334155"/>
                </a:solidFill>
                <a:latin typeface="Malgun Gothic"/>
              </a:rPr>
              <a:t>Steer your boat to the word friends in the water and lift them out.</a:t>
            </a:r>
          </a:p>
          <a:p>
            <a:pPr>
              <a:lnSpc>
                <a:spcPct val="115000"/>
              </a:lnSpc>
              <a:spcAft>
                <a:spcPts val="300"/>
              </a:spcAft>
            </a:pPr>
            <a:r>
              <a:rPr sz="700" b="1">
                <a:solidFill>
                  <a:srgbClr val="7C3AED"/>
                </a:solidFill>
                <a:latin typeface="Malgun Gothic"/>
              </a:rPr>
              <a:t>● </a:t>
            </a:r>
            <a:r>
              <a:rPr sz="900">
                <a:solidFill>
                  <a:srgbClr val="334155"/>
                </a:solidFill>
                <a:latin typeface="Malgun Gothic"/>
              </a:rPr>
              <a:t>Avoid the sharks, turtles and dolphins.</a:t>
            </a:r>
          </a:p>
          <a:p>
            <a:pPr>
              <a:lnSpc>
                <a:spcPct val="115000"/>
              </a:lnSpc>
              <a:spcAft>
                <a:spcPts val="300"/>
              </a:spcAft>
            </a:pPr>
            <a:r>
              <a:rPr sz="700" b="1">
                <a:solidFill>
                  <a:srgbClr val="7C3AED"/>
                </a:solidFill>
                <a:latin typeface="Malgun Gothic"/>
              </a:rPr>
              <a:t>● </a:t>
            </a:r>
            <a:r>
              <a:rPr sz="900">
                <a:solidFill>
                  <a:srgbClr val="334155"/>
                </a:solidFill>
                <a:latin typeface="Malgun Gothic"/>
              </a:rPr>
              <a:t>When rescue ends, take on the repeat-the-sentence mission.</a:t>
            </a:r>
          </a:p>
        </p:txBody>
      </p:sp>
      <p:sp>
        <p:nvSpPr>
          <p:cNvPr id="14" name="Rounded Rectangle 13"/>
          <p:cNvSpPr/>
          <p:nvPr/>
        </p:nvSpPr>
        <p:spPr>
          <a:xfrm>
            <a:off x="457200" y="5603900"/>
            <a:ext cx="5669280" cy="1218895"/>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49620"/>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896508"/>
            <a:ext cx="5394960" cy="889711"/>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Each rescue plays the native pronunciation, so it's listening practice too.</a:t>
            </a:r>
          </a:p>
          <a:p>
            <a:pPr>
              <a:lnSpc>
                <a:spcPct val="115000"/>
              </a:lnSpc>
              <a:spcAft>
                <a:spcPts val="100"/>
              </a:spcAft>
            </a:pPr>
            <a:r>
              <a:rPr sz="650" b="1">
                <a:solidFill>
                  <a:srgbClr val="7C3AED"/>
                </a:solidFill>
                <a:latin typeface="Malgun Gothic"/>
              </a:rPr>
              <a:t>● </a:t>
            </a:r>
            <a:r>
              <a:rPr sz="850">
                <a:solidFill>
                  <a:srgbClr val="334155"/>
                </a:solidFill>
                <a:latin typeface="Malgun Gothic"/>
              </a:rPr>
              <a:t>English and Chinese modes play the same way.</a:t>
            </a:r>
          </a:p>
          <a:p>
            <a:pPr>
              <a:lnSpc>
                <a:spcPct val="115000"/>
              </a:lnSpc>
              <a:spcAft>
                <a:spcPts val="100"/>
              </a:spcAft>
            </a:pPr>
            <a:r>
              <a:rPr sz="650" b="1">
                <a:solidFill>
                  <a:srgbClr val="7C3AED"/>
                </a:solidFill>
                <a:latin typeface="Malgun Gothic"/>
              </a:rPr>
              <a:t>● </a:t>
            </a:r>
            <a:r>
              <a:rPr sz="850">
                <a:solidFill>
                  <a:srgbClr val="334155"/>
                </a:solidFill>
                <a:latin typeface="Malgun Gothic"/>
              </a:rPr>
              <a:t>Lifelike sea creatures make it more immersive.</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game is motion-heavy. On a slower device, take a short break if it lags.</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The sentence mission from your rescued words is the real review — repeat it aloud, clearly.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scu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93799"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7609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760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77847"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Rescue V…</a:t>
            </a:r>
          </a:p>
        </p:txBody>
      </p:sp>
      <p:sp>
        <p:nvSpPr>
          <p:cNvPr id="28" name="TextBox 27"/>
          <p:cNvSpPr txBox="1"/>
          <p:nvPr/>
        </p:nvSpPr>
        <p:spPr>
          <a:xfrm>
            <a:off x="332201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504895"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8719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87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88943"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English /…</a:t>
            </a:r>
          </a:p>
        </p:txBody>
      </p:sp>
      <p:sp>
        <p:nvSpPr>
          <p:cNvPr id="33" name="TextBox 32"/>
          <p:cNvSpPr txBox="1"/>
          <p:nvPr/>
        </p:nvSpPr>
        <p:spPr>
          <a:xfrm>
            <a:off x="507583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25871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4101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410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427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word frien…</a:t>
            </a:r>
          </a:p>
        </p:txBody>
      </p:sp>
      <p:sp>
        <p:nvSpPr>
          <p:cNvPr id="38" name="TextBox 37"/>
          <p:cNvSpPr txBox="1"/>
          <p:nvPr/>
        </p:nvSpPr>
        <p:spPr>
          <a:xfrm>
            <a:off x="691560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09848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8078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807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825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sharks, tu…</a:t>
            </a:r>
          </a:p>
        </p:txBody>
      </p:sp>
      <p:sp>
        <p:nvSpPr>
          <p:cNvPr id="43" name="TextBox 42"/>
          <p:cNvSpPr txBox="1"/>
          <p:nvPr/>
        </p:nvSpPr>
        <p:spPr>
          <a:xfrm>
            <a:off x="875538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93825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2055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205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2230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repeat-the…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Pentagon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Five strengths at a glance · print in one tap</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report card that shows your child's month across five axes of a pentagon graph — Pronunciation &amp; Fluency / Vocabulary / Sentence Building / Class Attitude / Participation — followed by attendance, judgment index and a teacher's note. The Print/PDF button up top outputs it as-is or saves a file.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report link you received on KakaoTalk.</a:t>
            </a:r>
          </a:p>
          <a:p>
            <a:pPr>
              <a:lnSpc>
                <a:spcPct val="115000"/>
              </a:lnSpc>
              <a:spcAft>
                <a:spcPts val="300"/>
              </a:spcAft>
            </a:pPr>
            <a:r>
              <a:rPr sz="700" b="1">
                <a:solidFill>
                  <a:srgbClr val="7C3AED"/>
                </a:solidFill>
                <a:latin typeface="Malgun Gothic"/>
              </a:rPr>
              <a:t>● </a:t>
            </a:r>
            <a:r>
              <a:rPr sz="900">
                <a:solidFill>
                  <a:srgbClr val="334155"/>
                </a:solidFill>
                <a:latin typeface="Malgun Gothic"/>
              </a:rPr>
              <a:t>Check the balance of the five strengths in the pentagon graph at the top.</a:t>
            </a:r>
          </a:p>
          <a:p>
            <a:pPr>
              <a:lnSpc>
                <a:spcPct val="115000"/>
              </a:lnSpc>
              <a:spcAft>
                <a:spcPts val="300"/>
              </a:spcAft>
            </a:pPr>
            <a:r>
              <a:rPr sz="700" b="1">
                <a:solidFill>
                  <a:srgbClr val="7C3AED"/>
                </a:solidFill>
                <a:latin typeface="Malgun Gothic"/>
              </a:rPr>
              <a:t>● </a:t>
            </a:r>
            <a:r>
              <a:rPr sz="900">
                <a:solidFill>
                  <a:srgbClr val="334155"/>
                </a:solidFill>
                <a:latin typeface="Malgun Gothic"/>
              </a:rPr>
              <a:t>Read This Period's Status (attendance, judgment) and the Teacher's Note.</a:t>
            </a:r>
          </a:p>
          <a:p>
            <a:pPr>
              <a:lnSpc>
                <a:spcPct val="115000"/>
              </a:lnSpc>
              <a:spcAft>
                <a:spcPts val="300"/>
              </a:spcAft>
            </a:pPr>
            <a:r>
              <a:rPr sz="700" b="1">
                <a:solidFill>
                  <a:srgbClr val="7C3AED"/>
                </a:solidFill>
                <a:latin typeface="Malgun Gothic"/>
              </a:rPr>
              <a:t>● </a:t>
            </a:r>
            <a:r>
              <a:rPr sz="900">
                <a:solidFill>
                  <a:srgbClr val="334155"/>
                </a:solidFill>
                <a:latin typeface="Malgun Gothic"/>
              </a:rPr>
              <a:t>Note the How You Can Help at Home tips.</a:t>
            </a:r>
          </a:p>
          <a:p>
            <a:pPr>
              <a:lnSpc>
                <a:spcPct val="115000"/>
              </a:lnSpc>
              <a:spcAft>
                <a:spcPts val="300"/>
              </a:spcAft>
            </a:pPr>
            <a:r>
              <a:rPr sz="700" b="1">
                <a:solidFill>
                  <a:srgbClr val="7C3AED"/>
                </a:solidFill>
                <a:latin typeface="Malgun Gothic"/>
              </a:rPr>
              <a:t>● </a:t>
            </a:r>
            <a:r>
              <a:rPr sz="900">
                <a:solidFill>
                  <a:srgbClr val="334155"/>
                </a:solidFill>
                <a:latin typeface="Malgun Gothic"/>
              </a:rPr>
              <a:t>To keep a paper copy, press 🖨 Print/PDF at the top.</a:t>
            </a:r>
          </a:p>
        </p:txBody>
      </p:sp>
      <p:sp>
        <p:nvSpPr>
          <p:cNvPr id="14" name="Rounded Rectangle 13"/>
          <p:cNvSpPr/>
          <p:nvPr/>
        </p:nvSpPr>
        <p:spPr>
          <a:xfrm>
            <a:off x="457200" y="5924854"/>
            <a:ext cx="5669280" cy="1522018"/>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217462"/>
            <a:ext cx="5394960" cy="1192834"/>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Only axes with real records are filled in — no invented numbers.</a:t>
            </a:r>
          </a:p>
          <a:p>
            <a:pPr>
              <a:lnSpc>
                <a:spcPct val="115000"/>
              </a:lnSpc>
              <a:spcAft>
                <a:spcPts val="100"/>
              </a:spcAft>
            </a:pPr>
            <a:r>
              <a:rPr sz="650" b="1">
                <a:solidFill>
                  <a:srgbClr val="7C3AED"/>
                </a:solidFill>
                <a:latin typeface="Malgun Gothic"/>
              </a:rPr>
              <a:t>● </a:t>
            </a:r>
            <a:r>
              <a:rPr sz="850">
                <a:solidFill>
                  <a:srgbClr val="334155"/>
                </a:solidFill>
                <a:latin typeface="Malgun Gothic"/>
              </a:rPr>
              <a:t>Compiled every two months, so the trend is easy to read.</a:t>
            </a:r>
          </a:p>
          <a:p>
            <a:pPr>
              <a:lnSpc>
                <a:spcPct val="115000"/>
              </a:lnSpc>
              <a:spcAft>
                <a:spcPts val="100"/>
              </a:spcAft>
            </a:pPr>
            <a:r>
              <a:rPr sz="650" b="1">
                <a:solidFill>
                  <a:srgbClr val="7C3AED"/>
                </a:solidFill>
                <a:latin typeface="Malgun Gothic"/>
              </a:rPr>
              <a:t>● </a:t>
            </a:r>
            <a:r>
              <a:rPr sz="850">
                <a:solidFill>
                  <a:srgbClr val="334155"/>
                </a:solidFill>
                <a:latin typeface="Malgun Gothic"/>
              </a:rPr>
              <a:t>It all fits one screen — a single printed page.</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 report fills in as learning records accumulate. In a low-activity month some axes may look empty.</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An evenly large pentagon means balanced learning. A dented axis is this month's challenge.</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5082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3311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3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348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report lin…</a:t>
            </a:r>
          </a:p>
        </p:txBody>
      </p:sp>
      <p:sp>
        <p:nvSpPr>
          <p:cNvPr id="28" name="TextBox 27"/>
          <p:cNvSpPr txBox="1"/>
          <p:nvPr/>
        </p:nvSpPr>
        <p:spPr>
          <a:xfrm>
            <a:off x="320771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390595"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289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774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pentagon g…</a:t>
            </a:r>
          </a:p>
        </p:txBody>
      </p:sp>
      <p:sp>
        <p:nvSpPr>
          <p:cNvPr id="33" name="TextBox 32"/>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23036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1266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1441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This Perio…</a:t>
            </a:r>
          </a:p>
        </p:txBody>
      </p:sp>
      <p:sp>
        <p:nvSpPr>
          <p:cNvPr id="38" name="TextBox 37"/>
          <p:cNvSpPr txBox="1"/>
          <p:nvPr/>
        </p:nvSpPr>
        <p:spPr>
          <a:xfrm>
            <a:off x="6887260"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07014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5243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524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5418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How You Ca…</a:t>
            </a:r>
          </a:p>
        </p:txBody>
      </p:sp>
      <p:sp>
        <p:nvSpPr>
          <p:cNvPr id="43" name="TextBox 42"/>
          <p:cNvSpPr txBox="1"/>
          <p:nvPr/>
        </p:nvSpPr>
        <p:spPr>
          <a:xfrm>
            <a:off x="872703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909913"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9220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22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93961"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Print/PD…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First Screen Adapts to You</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It looks different before and after you log in</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Mangoi home screen looks different before and after you log in. If you have not logged in yet, Book a Free Trial and Browse Teachers are the big buttons. Once you log in, Enter Class and Chat with AI take their place. The screen changes so you never have to wonder what to do next.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home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If you are not logged in, Book a Free Trial is the biggest button.</a:t>
            </a:r>
          </a:p>
          <a:p>
            <a:pPr>
              <a:lnSpc>
                <a:spcPct val="115000"/>
              </a:lnSpc>
              <a:spcAft>
                <a:spcPts val="300"/>
              </a:spcAft>
            </a:pPr>
            <a:r>
              <a:rPr sz="700" b="1">
                <a:solidFill>
                  <a:srgbClr val="7C3AED"/>
                </a:solidFill>
                <a:latin typeface="Malgun Gothic"/>
              </a:rPr>
              <a:t>● </a:t>
            </a:r>
            <a:r>
              <a:rPr sz="900">
                <a:solidFill>
                  <a:srgbClr val="334155"/>
                </a:solidFill>
                <a:latin typeface="Malgun Gothic"/>
              </a:rPr>
              <a:t>If you are already our student, tap the small 'Already enrolled? Enter Class →' link below it.</a:t>
            </a:r>
          </a:p>
          <a:p>
            <a:pPr>
              <a:lnSpc>
                <a:spcPct val="115000"/>
              </a:lnSpc>
              <a:spcAft>
                <a:spcPts val="300"/>
              </a:spcAft>
            </a:pPr>
            <a:r>
              <a:rPr sz="700" b="1">
                <a:solidFill>
                  <a:srgbClr val="7C3AED"/>
                </a:solidFill>
                <a:latin typeface="Malgun Gothic"/>
              </a:rPr>
              <a:t>● </a:t>
            </a:r>
            <a:r>
              <a:rPr sz="900">
                <a:solidFill>
                  <a:srgbClr val="334155"/>
                </a:solidFill>
                <a:latin typeface="Malgun Gothic"/>
              </a:rPr>
              <a:t>Once you log in, the first screen switches to focus on Enter Class.</a:t>
            </a:r>
          </a:p>
        </p:txBody>
      </p:sp>
      <p:sp>
        <p:nvSpPr>
          <p:cNvPr id="14" name="Rounded Rectangle 13"/>
          <p:cNvSpPr/>
          <p:nvPr/>
        </p:nvSpPr>
        <p:spPr>
          <a:xfrm>
            <a:off x="457200" y="5636361"/>
            <a:ext cx="5669280" cy="137045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928969"/>
            <a:ext cx="5394960" cy="104127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When logged in, the home screen also shows the countdown to your next class.</a:t>
            </a:r>
          </a:p>
          <a:p>
            <a:pPr>
              <a:lnSpc>
                <a:spcPct val="115000"/>
              </a:lnSpc>
              <a:spcAft>
                <a:spcPts val="100"/>
              </a:spcAft>
            </a:pPr>
            <a:r>
              <a:rPr sz="650" b="1">
                <a:solidFill>
                  <a:srgbClr val="7C3AED"/>
                </a:solidFill>
                <a:latin typeface="Malgun Gothic"/>
              </a:rPr>
              <a:t>● </a:t>
            </a:r>
            <a:r>
              <a:rPr sz="850">
                <a:solidFill>
                  <a:srgbClr val="334155"/>
                </a:solidFill>
                <a:latin typeface="Malgun Gothic"/>
              </a:rPr>
              <a:t>Even if your login expired, the small Enter Class link always gets you in.</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screen does not flicker when it switches.</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you have not visited for a long time your login may expire and you will see the guest screen. Just tap the small 'Enter Class' link and log in again.</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When showing Mangoi to a parent, do it logged out — the Free Trial button is large and easy to explain.</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the h…</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Book a Fre…</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'Already e…</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Escape by Voice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buttons here — the room moves when you speak English</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There are no buttons to press in this room. It only moves — and the door only opens — when you say something in English out loud. Look around carefully and clues appear, and each clue tells you what to say next. As time runs down the room gets darker, so hurry!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08437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 Escape in the games hub and press ▶ Enter the room.</a:t>
            </a:r>
          </a:p>
          <a:p>
            <a:pPr>
              <a:lnSpc>
                <a:spcPct val="115000"/>
              </a:lnSpc>
              <a:spcAft>
                <a:spcPts val="300"/>
              </a:spcAft>
            </a:pPr>
            <a:r>
              <a:rPr sz="700" b="1">
                <a:solidFill>
                  <a:srgbClr val="7C3AED"/>
                </a:solidFill>
                <a:latin typeface="Malgun Gothic"/>
              </a:rPr>
              <a:t>● </a:t>
            </a:r>
            <a:r>
              <a:rPr sz="900">
                <a:solidFill>
                  <a:srgbClr val="334155"/>
                </a:solidFill>
                <a:latin typeface="Malgun Gothic"/>
              </a:rPr>
              <a:t>Look around the room — a clue appears.</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 Tap to speak in English and say it clearly.</a:t>
            </a:r>
          </a:p>
          <a:p>
            <a:pPr>
              <a:lnSpc>
                <a:spcPct val="115000"/>
              </a:lnSpc>
              <a:spcAft>
                <a:spcPts val="300"/>
              </a:spcAft>
            </a:pPr>
            <a:r>
              <a:rPr sz="700" b="1">
                <a:solidFill>
                  <a:srgbClr val="7C3AED"/>
                </a:solidFill>
                <a:latin typeface="Malgun Gothic"/>
              </a:rPr>
              <a:t>● </a:t>
            </a:r>
            <a:r>
              <a:rPr sz="900">
                <a:solidFill>
                  <a:srgbClr val="334155"/>
                </a:solidFill>
                <a:latin typeface="Malgun Gothic"/>
              </a:rPr>
              <a:t>If you get it right you'll see 'Perfect!', the room reacts and you move on.</a:t>
            </a:r>
          </a:p>
          <a:p>
            <a:pPr>
              <a:lnSpc>
                <a:spcPct val="115000"/>
              </a:lnSpc>
              <a:spcAft>
                <a:spcPts val="300"/>
              </a:spcAft>
            </a:pPr>
            <a:r>
              <a:rPr sz="700" b="1">
                <a:solidFill>
                  <a:srgbClr val="7C3AED"/>
                </a:solidFill>
                <a:latin typeface="Malgun Gothic"/>
              </a:rPr>
              <a:t>● </a:t>
            </a:r>
            <a:r>
              <a:rPr sz="900">
                <a:solidFill>
                  <a:srgbClr val="334155"/>
                </a:solidFill>
                <a:latin typeface="Malgun Gothic"/>
              </a:rPr>
              <a:t>Stuck? Press 💡 Hint — it does not cost you any points.</a:t>
            </a:r>
          </a:p>
        </p:txBody>
      </p:sp>
      <p:sp>
        <p:nvSpPr>
          <p:cNvPr id="14" name="Rounded Rectangle 13"/>
          <p:cNvSpPr/>
          <p:nvPr/>
        </p:nvSpPr>
        <p:spPr>
          <a:xfrm>
            <a:off x="457200" y="5924854"/>
            <a:ext cx="5669280" cy="205900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7057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217462"/>
            <a:ext cx="5394960" cy="1729816"/>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Clicking will never open it. You have to speak.</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it did not hear you, it says 'Try saying that again' — that is not a failure.</a:t>
            </a:r>
          </a:p>
          <a:p>
            <a:pPr>
              <a:lnSpc>
                <a:spcPct val="115000"/>
              </a:lnSpc>
              <a:spcAft>
                <a:spcPts val="100"/>
              </a:spcAft>
            </a:pPr>
            <a:r>
              <a:rPr sz="650" b="1">
                <a:solidFill>
                  <a:srgbClr val="7C3AED"/>
                </a:solidFill>
                <a:latin typeface="Malgun Gothic"/>
              </a:rPr>
              <a:t>● </a:t>
            </a:r>
            <a:r>
              <a:rPr sz="850">
                <a:solidFill>
                  <a:srgbClr val="334155"/>
                </a:solidFill>
                <a:latin typeface="Malgun Gothic"/>
              </a:rPr>
              <a:t>At the end you see how many times you spoke, how many were right, and how many hints you used.</a:t>
            </a:r>
          </a:p>
          <a:p>
            <a:pPr>
              <a:lnSpc>
                <a:spcPct val="115000"/>
              </a:lnSpc>
              <a:spcAft>
                <a:spcPts val="100"/>
              </a:spcAft>
            </a:pPr>
            <a:r>
              <a:rPr sz="650" b="1">
                <a:solidFill>
                  <a:srgbClr val="7C3AED"/>
                </a:solidFill>
                <a:latin typeface="Malgun Gothic"/>
              </a:rPr>
              <a:t>● </a:t>
            </a:r>
            <a:r>
              <a:rPr sz="850">
                <a:solidFill>
                  <a:srgbClr val="334155"/>
                </a:solidFill>
                <a:latin typeface="Malgun Gothic"/>
              </a:rPr>
              <a:t>Even if you do not escape, it tells you how far you got, so it is easy to try again.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This game uses your microphone. When the browser asks to use it, please press Allow.</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Mumbling quietly is hard to pick up. Speak clearly and a little louder and the room opens much more easily!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escap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73275" y="2670048"/>
            <a:ext cx="1399031"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55571"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555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57323" y="2670048"/>
            <a:ext cx="9784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Escape</a:t>
            </a:r>
          </a:p>
        </p:txBody>
      </p:sp>
      <p:sp>
        <p:nvSpPr>
          <p:cNvPr id="28" name="TextBox 27"/>
          <p:cNvSpPr txBox="1"/>
          <p:nvPr/>
        </p:nvSpPr>
        <p:spPr>
          <a:xfrm>
            <a:off x="337230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55518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3748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37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939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Look aroun…</a:t>
            </a:r>
          </a:p>
        </p:txBody>
      </p:sp>
      <p:sp>
        <p:nvSpPr>
          <p:cNvPr id="33" name="TextBox 32"/>
          <p:cNvSpPr txBox="1"/>
          <p:nvPr/>
        </p:nvSpPr>
        <p:spPr>
          <a:xfrm>
            <a:off x="521207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394959"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7725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772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79007"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Tap to s…</a:t>
            </a:r>
          </a:p>
        </p:txBody>
      </p:sp>
      <p:sp>
        <p:nvSpPr>
          <p:cNvPr id="38" name="TextBox 37"/>
          <p:cNvSpPr txBox="1"/>
          <p:nvPr/>
        </p:nvSpPr>
        <p:spPr>
          <a:xfrm>
            <a:off x="7123175"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306055" y="2670048"/>
            <a:ext cx="14996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883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883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690104"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'Perfect!'</a:t>
            </a:r>
          </a:p>
        </p:txBody>
      </p:sp>
      <p:sp>
        <p:nvSpPr>
          <p:cNvPr id="43" name="TextBox 42"/>
          <p:cNvSpPr txBox="1"/>
          <p:nvPr/>
        </p:nvSpPr>
        <p:spPr>
          <a:xfrm>
            <a:off x="880567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988551" y="2670048"/>
            <a:ext cx="1227124"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7084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708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72599"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Hint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Vocabulary, Redesigned (6 tabs, preview included)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 · memorise · compete · grow</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Your vocabulary page is now a tidy single screen with six tabs: 🔮 Preview · ＋ Add Word · 🃏 Flashcards · 🎮 Review Game · 🏆 Weekly Ranking · 📔 Word Collection. Just tap between them. On your first visit a 30-second guide shows you exactly how it works.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2726283"/>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In 🔮 Preview, hear the sentences from your next lesson and save the words you like.</a:t>
            </a:r>
          </a:p>
          <a:p>
            <a:pPr>
              <a:lnSpc>
                <a:spcPct val="115000"/>
              </a:lnSpc>
              <a:spcAft>
                <a:spcPts val="300"/>
              </a:spcAft>
            </a:pPr>
            <a:r>
              <a:rPr sz="700" b="1">
                <a:solidFill>
                  <a:srgbClr val="7C3AED"/>
                </a:solidFill>
                <a:latin typeface="Malgun Gothic"/>
              </a:rPr>
              <a:t>● </a:t>
            </a:r>
            <a:r>
              <a:rPr sz="900">
                <a:solidFill>
                  <a:srgbClr val="334155"/>
                </a:solidFill>
                <a:latin typeface="Malgun Gothic"/>
              </a:rPr>
              <a:t>In ＋ Add Word, type just the English word and AI creates the meaning and an example for you.</a:t>
            </a:r>
          </a:p>
          <a:p>
            <a:pPr>
              <a:lnSpc>
                <a:spcPct val="115000"/>
              </a:lnSpc>
              <a:spcAft>
                <a:spcPts val="300"/>
              </a:spcAft>
            </a:pPr>
            <a:r>
              <a:rPr sz="700" b="1">
                <a:solidFill>
                  <a:srgbClr val="7C3AED"/>
                </a:solidFill>
                <a:latin typeface="Malgun Gothic"/>
              </a:rPr>
              <a:t>● </a:t>
            </a:r>
            <a:r>
              <a:rPr sz="900">
                <a:solidFill>
                  <a:srgbClr val="334155"/>
                </a:solidFill>
                <a:latin typeface="Malgun Gothic"/>
              </a:rPr>
              <a:t>Memorise with the 🎮 Review Game — +10P for every correct answer, plus a combo bonus for streaks!</a:t>
            </a:r>
          </a:p>
          <a:p>
            <a:pPr>
              <a:lnSpc>
                <a:spcPct val="115000"/>
              </a:lnSpc>
              <a:spcAft>
                <a:spcPts val="300"/>
              </a:spcAft>
            </a:pPr>
            <a:r>
              <a:rPr sz="700" b="1">
                <a:solidFill>
                  <a:srgbClr val="7C3AED"/>
                </a:solidFill>
                <a:latin typeface="Malgun Gothic"/>
              </a:rPr>
              <a:t>● </a:t>
            </a:r>
            <a:r>
              <a:rPr sz="900">
                <a:solidFill>
                  <a:srgbClr val="334155"/>
                </a:solidFill>
                <a:latin typeface="Malgun Gothic"/>
              </a:rPr>
              <a:t>Complete the 10-word daily review mission for +50P; do it every day to build a 🔥 review streak.</a:t>
            </a:r>
          </a:p>
          <a:p>
            <a:pPr>
              <a:lnSpc>
                <a:spcPct val="115000"/>
              </a:lnSpc>
              <a:spcAft>
                <a:spcPts val="300"/>
              </a:spcAft>
            </a:pPr>
            <a:r>
              <a:rPr sz="700" b="1">
                <a:solidFill>
                  <a:srgbClr val="7C3AED"/>
                </a:solidFill>
                <a:latin typeface="Malgun Gothic"/>
              </a:rPr>
              <a:t>● </a:t>
            </a:r>
            <a:r>
              <a:rPr sz="900">
                <a:solidFill>
                  <a:srgbClr val="334155"/>
                </a:solidFill>
                <a:latin typeface="Malgun Gothic"/>
              </a:rPr>
              <a:t>Watch your cards grow Seed → Silver → Gold → Master in the 📔 Word Collection.</a:t>
            </a:r>
          </a:p>
        </p:txBody>
      </p:sp>
      <p:sp>
        <p:nvSpPr>
          <p:cNvPr id="14" name="Rounded Rectangle 13"/>
          <p:cNvSpPr/>
          <p:nvPr/>
        </p:nvSpPr>
        <p:spPr>
          <a:xfrm>
            <a:off x="457200" y="6566763"/>
            <a:ext cx="5669280" cy="205900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612483"/>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6859371"/>
            <a:ext cx="5394960" cy="1729816"/>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Saved words come back right when you are about to forget them (automatic review scheduling).</a:t>
            </a:r>
          </a:p>
          <a:p>
            <a:pPr>
              <a:lnSpc>
                <a:spcPct val="115000"/>
              </a:lnSpc>
              <a:spcAft>
                <a:spcPts val="100"/>
              </a:spcAft>
            </a:pPr>
            <a:r>
              <a:rPr sz="650" b="1">
                <a:solidFill>
                  <a:srgbClr val="7C3AED"/>
                </a:solidFill>
                <a:latin typeface="Malgun Gothic"/>
              </a:rPr>
              <a:t>● </a:t>
            </a:r>
            <a:r>
              <a:rPr sz="850">
                <a:solidFill>
                  <a:srgbClr val="334155"/>
                </a:solidFill>
                <a:latin typeface="Malgun Gothic"/>
              </a:rPr>
              <a:t>You can add many words at once from a file — Excel (.xlsx) and Word (.docx), and a template is downloadable.</a:t>
            </a:r>
          </a:p>
          <a:p>
            <a:pPr>
              <a:lnSpc>
                <a:spcPct val="115000"/>
              </a:lnSpc>
              <a:spcAft>
                <a:spcPts val="100"/>
              </a:spcAft>
            </a:pPr>
            <a:r>
              <a:rPr sz="650" b="1">
                <a:solidFill>
                  <a:srgbClr val="7C3AED"/>
                </a:solidFill>
                <a:latin typeface="Malgun Gothic"/>
              </a:rPr>
              <a:t>● </a:t>
            </a:r>
            <a:r>
              <a:rPr sz="850">
                <a:solidFill>
                  <a:srgbClr val="334155"/>
                </a:solidFill>
                <a:latin typeface="Malgun Gothic"/>
              </a:rPr>
              <a:t>The fuller your Word Collection gets, the bigger your baby mango grows.</a:t>
            </a:r>
          </a:p>
          <a:p>
            <a:pPr>
              <a:lnSpc>
                <a:spcPct val="115000"/>
              </a:lnSpc>
              <a:spcAft>
                <a:spcPts val="100"/>
              </a:spcAft>
            </a:pPr>
            <a:r>
              <a:rPr sz="650" b="1">
                <a:solidFill>
                  <a:srgbClr val="7C3AED"/>
                </a:solidFill>
                <a:latin typeface="Malgun Gothic"/>
              </a:rPr>
              <a:t>● </a:t>
            </a:r>
            <a:r>
              <a:rPr sz="850">
                <a:solidFill>
                  <a:srgbClr val="334155"/>
                </a:solidFill>
                <a:latin typeface="Malgun Gothic"/>
              </a:rPr>
              <a:t>Log in and your points, review streak, ranking and collection are saved to your account.</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You can try it without logging in for 10 minutes a day over 3 days — but nothing is saved.</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Five minutes in the Preview tab before class makes your teacher far easier to follow that day!</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cab.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44091" y="2670048"/>
            <a:ext cx="148498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2638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263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28139"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Preview</a:t>
            </a:r>
          </a:p>
        </p:txBody>
      </p:sp>
      <p:sp>
        <p:nvSpPr>
          <p:cNvPr id="28" name="TextBox 27"/>
          <p:cNvSpPr txBox="1"/>
          <p:nvPr/>
        </p:nvSpPr>
        <p:spPr>
          <a:xfrm>
            <a:off x="31290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3311956"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942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942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69600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Add Word</a:t>
            </a:r>
          </a:p>
        </p:txBody>
      </p:sp>
      <p:sp>
        <p:nvSpPr>
          <p:cNvPr id="33" name="TextBox 32"/>
          <p:cNvSpPr txBox="1"/>
          <p:nvPr/>
        </p:nvSpPr>
        <p:spPr>
          <a:xfrm>
            <a:off x="488289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065776"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4807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80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49824"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Review G…</a:t>
            </a:r>
          </a:p>
        </p:txBody>
      </p:sp>
      <p:sp>
        <p:nvSpPr>
          <p:cNvPr id="38" name="TextBox 37"/>
          <p:cNvSpPr txBox="1"/>
          <p:nvPr/>
        </p:nvSpPr>
        <p:spPr>
          <a:xfrm>
            <a:off x="679399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697687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5916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591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6092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10-word da…</a:t>
            </a:r>
          </a:p>
        </p:txBody>
      </p:sp>
      <p:sp>
        <p:nvSpPr>
          <p:cNvPr id="43" name="TextBox 42"/>
          <p:cNvSpPr txBox="1"/>
          <p:nvPr/>
        </p:nvSpPr>
        <p:spPr>
          <a:xfrm>
            <a:off x="863376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44" name="Rounded Rectangle 43"/>
          <p:cNvSpPr/>
          <p:nvPr/>
        </p:nvSpPr>
        <p:spPr>
          <a:xfrm>
            <a:off x="8816644"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9894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98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00692"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Word Col…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If You Forget Your Password (reset by SMS)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You can change it yourself</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Even if you cannot remember your password, you can change it yourself. Tap 🔑 Forgot your password? — Reset by SMS on the login screen or the report-card screen, and a 6-digit code is sent to your registered phone number.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Tap 🔑 Forgot your password? on the login or report-card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Enter your ID.</a:t>
            </a:r>
          </a:p>
          <a:p>
            <a:pPr>
              <a:lnSpc>
                <a:spcPct val="115000"/>
              </a:lnSpc>
              <a:spcAft>
                <a:spcPts val="300"/>
              </a:spcAft>
            </a:pPr>
            <a:r>
              <a:rPr sz="700" b="1">
                <a:solidFill>
                  <a:srgbClr val="7C3AED"/>
                </a:solidFill>
                <a:latin typeface="Malgun Gothic"/>
              </a:rPr>
              <a:t>● </a:t>
            </a:r>
            <a:r>
              <a:rPr sz="900">
                <a:solidFill>
                  <a:srgbClr val="334155"/>
                </a:solidFill>
                <a:latin typeface="Malgun Gothic"/>
              </a:rPr>
              <a:t>Type in the 6-digit code you receive by text.</a:t>
            </a:r>
          </a:p>
          <a:p>
            <a:pPr>
              <a:lnSpc>
                <a:spcPct val="115000"/>
              </a:lnSpc>
              <a:spcAft>
                <a:spcPts val="300"/>
              </a:spcAft>
            </a:pPr>
            <a:r>
              <a:rPr sz="700" b="1">
                <a:solidFill>
                  <a:srgbClr val="7C3AED"/>
                </a:solidFill>
                <a:latin typeface="Malgun Gothic"/>
              </a:rPr>
              <a:t>● </a:t>
            </a:r>
            <a:r>
              <a:rPr sz="900">
                <a:solidFill>
                  <a:srgbClr val="334155"/>
                </a:solidFill>
                <a:latin typeface="Malgun Gothic"/>
              </a:rPr>
              <a:t>Choose a new password — done.</a:t>
            </a:r>
          </a:p>
        </p:txBody>
      </p:sp>
      <p:sp>
        <p:nvSpPr>
          <p:cNvPr id="14" name="Rounded Rectangle 13"/>
          <p:cNvSpPr/>
          <p:nvPr/>
        </p:nvSpPr>
        <p:spPr>
          <a:xfrm>
            <a:off x="457200" y="5154930"/>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47538"/>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You can also do it right there if you get stuck trying to view a report card.</a:t>
            </a:r>
          </a:p>
          <a:p>
            <a:pPr>
              <a:lnSpc>
                <a:spcPct val="115000"/>
              </a:lnSpc>
              <a:spcAft>
                <a:spcPts val="100"/>
              </a:spcAft>
            </a:pPr>
            <a:r>
              <a:rPr sz="650" b="1">
                <a:solidFill>
                  <a:srgbClr val="7C3AED"/>
                </a:solidFill>
                <a:latin typeface="Malgun Gothic"/>
              </a:rPr>
              <a:t>● </a:t>
            </a:r>
            <a:r>
              <a:rPr sz="850">
                <a:solidFill>
                  <a:srgbClr val="334155"/>
                </a:solidFill>
                <a:latin typeface="Malgun Gothic"/>
              </a:rPr>
              <a:t>If no text arrives, a KakaoTalk enquiry button is right next to it.</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Your phone number must be registered with the academy to receive the text. If it says no number is on file, please contact the academy on KakaoTalk.</a:t>
            </a:r>
          </a:p>
        </p:txBody>
      </p:sp>
      <p:sp>
        <p:nvSpPr>
          <p:cNvPr id="19" name="Rounded Rectangle 18"/>
          <p:cNvSpPr/>
          <p:nvPr/>
        </p:nvSpPr>
        <p:spPr>
          <a:xfrm>
            <a:off x="6176772" y="5870448"/>
            <a:ext cx="5646420" cy="822960"/>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If your number changed, tell the academy in advance — then you can solve this on your own next time.</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93161" y="2670048"/>
            <a:ext cx="172821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75457"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54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77209"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Forgot y…</a:t>
            </a:r>
          </a:p>
        </p:txBody>
      </p:sp>
      <p:sp>
        <p:nvSpPr>
          <p:cNvPr id="28" name="TextBox 27"/>
          <p:cNvSpPr txBox="1"/>
          <p:nvPr/>
        </p:nvSpPr>
        <p:spPr>
          <a:xfrm>
            <a:off x="462137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4804257" y="2670048"/>
            <a:ext cx="811987"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88655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65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188305" y="2670048"/>
            <a:ext cx="3913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ID</a:t>
            </a:r>
          </a:p>
        </p:txBody>
      </p:sp>
      <p:sp>
        <p:nvSpPr>
          <p:cNvPr id="33" name="TextBox 32"/>
          <p:cNvSpPr txBox="1"/>
          <p:nvPr/>
        </p:nvSpPr>
        <p:spPr>
          <a:xfrm>
            <a:off x="5616244"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5799124"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81420"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814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1831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6-digit co…</a:t>
            </a:r>
          </a:p>
        </p:txBody>
      </p:sp>
      <p:sp>
        <p:nvSpPr>
          <p:cNvPr id="38" name="TextBox 37"/>
          <p:cNvSpPr txBox="1"/>
          <p:nvPr/>
        </p:nvSpPr>
        <p:spPr>
          <a:xfrm>
            <a:off x="745601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9" name="Rounded Rectangle 38"/>
          <p:cNvSpPr/>
          <p:nvPr/>
        </p:nvSpPr>
        <p:spPr>
          <a:xfrm>
            <a:off x="7638897"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72119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211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02294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passwo…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Payment Made Simpler (choose who it's for first)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 need to read all 12 at once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sign up for lessons, you pick who is learning first and only the matching products appear. Choose one of Kids · 1:1 · Group · Business · Test Prep · Corporate. No more scanning twelve products at once.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New Payment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Under Who is learning?, choose the audience.</a:t>
            </a:r>
          </a:p>
          <a:p>
            <a:pPr>
              <a:lnSpc>
                <a:spcPct val="115000"/>
              </a:lnSpc>
              <a:spcAft>
                <a:spcPts val="300"/>
              </a:spcAft>
            </a:pPr>
            <a:r>
              <a:rPr sz="700" b="1">
                <a:solidFill>
                  <a:srgbClr val="7C3AED"/>
                </a:solidFill>
                <a:latin typeface="Malgun Gothic"/>
              </a:rPr>
              <a:t>● </a:t>
            </a:r>
            <a:r>
              <a:rPr sz="900">
                <a:solidFill>
                  <a:srgbClr val="334155"/>
                </a:solidFill>
                <a:latin typeface="Malgun Gothic"/>
              </a:rPr>
              <a:t>Only the products for that choice remain.</a:t>
            </a:r>
          </a:p>
          <a:p>
            <a:pPr>
              <a:lnSpc>
                <a:spcPct val="115000"/>
              </a:lnSpc>
              <a:spcAft>
                <a:spcPts val="300"/>
              </a:spcAft>
            </a:pPr>
            <a:r>
              <a:rPr sz="700" b="1">
                <a:solidFill>
                  <a:srgbClr val="7C3AED"/>
                </a:solidFill>
                <a:latin typeface="Malgun Gothic"/>
              </a:rPr>
              <a:t>● </a:t>
            </a:r>
            <a:r>
              <a:rPr sz="900">
                <a:solidFill>
                  <a:srgbClr val="334155"/>
                </a:solidFill>
                <a:latin typeface="Malgun Gothic"/>
              </a:rPr>
              <a:t>Want to compare everything? Press See Full Price List.</a:t>
            </a:r>
          </a:p>
        </p:txBody>
      </p:sp>
      <p:sp>
        <p:nvSpPr>
          <p:cNvPr id="14" name="Rounded Rectangle 13"/>
          <p:cNvSpPr/>
          <p:nvPr/>
        </p:nvSpPr>
        <p:spPr>
          <a:xfrm>
            <a:off x="457200" y="5154930"/>
            <a:ext cx="5669280" cy="985037"/>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447538"/>
            <a:ext cx="5394960" cy="655853"/>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Prices and product contents are exactly the same as before — only the display is grouped.</a:t>
            </a:r>
          </a:p>
          <a:p>
            <a:pPr>
              <a:lnSpc>
                <a:spcPct val="115000"/>
              </a:lnSpc>
              <a:spcAft>
                <a:spcPts val="100"/>
              </a:spcAft>
            </a:pPr>
            <a:r>
              <a:rPr sz="650" b="1">
                <a:solidFill>
                  <a:srgbClr val="7C3AED"/>
                </a:solidFill>
                <a:latin typeface="Malgun Gothic"/>
              </a:rPr>
              <a:t>● </a:t>
            </a:r>
            <a:r>
              <a:rPr sz="850">
                <a:solidFill>
                  <a:srgbClr val="334155"/>
                </a:solidFill>
                <a:latin typeface="Malgun Gothic"/>
              </a:rPr>
              <a:t>See Full Price List is always one tap away.</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If you are new, start with the free trial. You can decide after seeing whether it suits your child.</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Paymen…</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Who is lea…</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Only the p…</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See Full P…</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See a Sample Report Card Without an Account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what your child's report will look like</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Even without an account you can see what a report card looks like. On the report-card screen, press 'No account — view a sample report first' to see how the five scores, teacher comment and AI analysis are presented.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report-card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Press No account — view a sample report first.</a:t>
            </a:r>
          </a:p>
          <a:p>
            <a:pPr>
              <a:lnSpc>
                <a:spcPct val="115000"/>
              </a:lnSpc>
              <a:spcAft>
                <a:spcPts val="300"/>
              </a:spcAft>
            </a:pPr>
            <a:r>
              <a:rPr sz="700" b="1">
                <a:solidFill>
                  <a:srgbClr val="7C3AED"/>
                </a:solidFill>
                <a:latin typeface="Malgun Gothic"/>
              </a:rPr>
              <a:t>● </a:t>
            </a:r>
            <a:r>
              <a:rPr sz="900">
                <a:solidFill>
                  <a:srgbClr val="334155"/>
                </a:solidFill>
                <a:latin typeface="Malgun Gothic"/>
              </a:rPr>
              <a:t>Look through the 5 score axes, teacher comment and AI analysis.</a:t>
            </a:r>
          </a:p>
        </p:txBody>
      </p:sp>
      <p:sp>
        <p:nvSpPr>
          <p:cNvPr id="14" name="Rounded Rectangle 13"/>
          <p:cNvSpPr/>
          <p:nvPr/>
        </p:nvSpPr>
        <p:spPr>
          <a:xfrm>
            <a:off x="457200" y="5026914"/>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The numbers shown are examples (a sample) — not real records.</a:t>
            </a:r>
          </a:p>
          <a:p>
            <a:pPr>
              <a:lnSpc>
                <a:spcPct val="115000"/>
              </a:lnSpc>
              <a:spcAft>
                <a:spcPts val="100"/>
              </a:spcAft>
            </a:pPr>
            <a:r>
              <a:rPr sz="650" b="1">
                <a:solidFill>
                  <a:srgbClr val="7C3AED"/>
                </a:solidFill>
                <a:latin typeface="Malgun Gothic"/>
              </a:rPr>
              <a:t>● </a:t>
            </a:r>
            <a:r>
              <a:rPr sz="850">
                <a:solidFill>
                  <a:srgbClr val="334155"/>
                </a:solidFill>
                <a:latin typeface="Malgun Gothic"/>
              </a:rPr>
              <a:t>A 'Sample' label always appears at the top of the screen.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Your child's real report card becomes available once lesson records build up and you log in.</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Showing this screen makes Mangoi much easier to explain to a parent.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Open the r…</a:t>
            </a:r>
          </a:p>
        </p:txBody>
      </p:sp>
      <p:sp>
        <p:nvSpPr>
          <p:cNvPr id="28" name="TextBox 27"/>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9" name="Rounded Rectangle 28"/>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 account…</a:t>
            </a:r>
          </a:p>
        </p:txBody>
      </p:sp>
      <p:sp>
        <p:nvSpPr>
          <p:cNvPr id="33" name="TextBox 32"/>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4" name="Rounded Rectangle 33"/>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Look throu…</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Parent Menu Is Now in Four Groups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at a glance where to look</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left menu on the parent screen is now organised into four groups: My Child's Learning · Classes · Learning Tools · Payment &amp; Support. The headings tell you straight away which group holds what you are looking for.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7C3AED"/>
                </a:solidFill>
                <a:latin typeface="Malgun Gothic"/>
              </a:rPr>
              <a:t>● </a:t>
            </a:r>
            <a:r>
              <a:rPr sz="950">
                <a:solidFill>
                  <a:srgbClr val="334155"/>
                </a:solidFill>
                <a:latin typeface="Malgun Gothic"/>
              </a:rPr>
              <a:t>Look at the left menu.</a:t>
            </a:r>
          </a:p>
          <a:p>
            <a:pPr>
              <a:lnSpc>
                <a:spcPct val="115000"/>
              </a:lnSpc>
              <a:spcAft>
                <a:spcPts val="300"/>
              </a:spcAft>
            </a:pPr>
            <a:r>
              <a:rPr sz="750" b="1">
                <a:solidFill>
                  <a:srgbClr val="7C3AED"/>
                </a:solidFill>
                <a:latin typeface="Malgun Gothic"/>
              </a:rPr>
              <a:t>● </a:t>
            </a:r>
            <a:r>
              <a:rPr sz="950">
                <a:solidFill>
                  <a:srgbClr val="334155"/>
                </a:solidFill>
                <a:latin typeface="Malgun Gothic"/>
              </a:rPr>
              <a:t>Use the group headings to decide where to look.</a:t>
            </a:r>
          </a:p>
          <a:p>
            <a:pPr>
              <a:lnSpc>
                <a:spcPct val="115000"/>
              </a:lnSpc>
              <a:spcAft>
                <a:spcPts val="300"/>
              </a:spcAft>
            </a:pPr>
            <a:r>
              <a:rPr sz="750" b="1">
                <a:solidFill>
                  <a:srgbClr val="7C3AED"/>
                </a:solidFill>
                <a:latin typeface="Malgun Gothic"/>
              </a:rPr>
              <a:t>● </a:t>
            </a:r>
            <a:r>
              <a:rPr sz="950">
                <a:solidFill>
                  <a:srgbClr val="334155"/>
                </a:solidFill>
                <a:latin typeface="Malgun Gothic"/>
              </a:rPr>
              <a:t>Tap the item you want — still just one tap.</a:t>
            </a:r>
          </a:p>
        </p:txBody>
      </p:sp>
      <p:sp>
        <p:nvSpPr>
          <p:cNvPr id="14" name="Rounded Rectangle 13"/>
          <p:cNvSpPr/>
          <p:nvPr/>
        </p:nvSpPr>
        <p:spPr>
          <a:xfrm>
            <a:off x="457200" y="4902098"/>
            <a:ext cx="5669280" cy="1011783"/>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7C3AED"/>
                </a:solidFill>
                <a:latin typeface="Malgun Gothic"/>
              </a:rPr>
              <a:t>● </a:t>
            </a:r>
            <a:r>
              <a:rPr sz="900">
                <a:solidFill>
                  <a:srgbClr val="334155"/>
                </a:solidFill>
                <a:latin typeface="Malgun Gothic"/>
              </a:rPr>
              <a:t>Grouping did not add any clicks — nothing has to be expanded.</a:t>
            </a:r>
          </a:p>
          <a:p>
            <a:pPr>
              <a:lnSpc>
                <a:spcPct val="115000"/>
              </a:lnSpc>
              <a:spcAft>
                <a:spcPts val="100"/>
              </a:spcAft>
            </a:pPr>
            <a:r>
              <a:rPr sz="700" b="1">
                <a:solidFill>
                  <a:srgbClr val="7C3AED"/>
                </a:solidFill>
                <a:latin typeface="Malgun Gothic"/>
              </a:rPr>
              <a:t>● </a:t>
            </a:r>
            <a:r>
              <a:rPr sz="900">
                <a:solidFill>
                  <a:srgbClr val="334155"/>
                </a:solidFill>
                <a:latin typeface="Malgun Gothic"/>
              </a:rPr>
              <a:t>No menu items were removed.</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Report cards are under My Child's Learning; payments and enquiries are under Payment &amp; Support.</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Look at th…</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group head…</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just one 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60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KakaoTalk Is the Fastest Way to Reach Us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Support 10:00–23:00 · closed weekends &amp; holidays</a:t>
            </a:r>
          </a:p>
        </p:txBody>
      </p:sp>
      <p:sp>
        <p:nvSpPr>
          <p:cNvPr id="10" name="Rounded Rectangle 9"/>
          <p:cNvSpPr/>
          <p:nvPr/>
        </p:nvSpPr>
        <p:spPr>
          <a:xfrm>
            <a:off x="365760" y="1828800"/>
            <a:ext cx="11430000" cy="73152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have a question, KakaoTalk channel is the fastest channel. Support hours are 10:00 to 23:00 (closed weekends and public holidays) — previously different screens showed different hours, now they all say the same thing.</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7C3AED"/>
                </a:solidFill>
                <a:latin typeface="Malgun Gothic"/>
              </a:rPr>
              <a:t>● </a:t>
            </a:r>
            <a:r>
              <a:rPr sz="900">
                <a:solidFill>
                  <a:srgbClr val="334155"/>
                </a:solidFill>
                <a:latin typeface="Malgun Gothic"/>
              </a:rPr>
              <a:t>Open the Contact screen.</a:t>
            </a:r>
          </a:p>
          <a:p>
            <a:pPr>
              <a:lnSpc>
                <a:spcPct val="115000"/>
              </a:lnSpc>
              <a:spcAft>
                <a:spcPts val="300"/>
              </a:spcAft>
            </a:pPr>
            <a:r>
              <a:rPr sz="700" b="1">
                <a:solidFill>
                  <a:srgbClr val="7C3AED"/>
                </a:solidFill>
                <a:latin typeface="Malgun Gothic"/>
              </a:rPr>
              <a:t>● </a:t>
            </a:r>
            <a:r>
              <a:rPr sz="900">
                <a:solidFill>
                  <a:srgbClr val="334155"/>
                </a:solidFill>
                <a:latin typeface="Malgun Gothic"/>
              </a:rPr>
              <a:t>Use the KakaoTalk channel at the top — it is the fastest.</a:t>
            </a:r>
          </a:p>
          <a:p>
            <a:pPr>
              <a:lnSpc>
                <a:spcPct val="115000"/>
              </a:lnSpc>
              <a:spcAft>
                <a:spcPts val="300"/>
              </a:spcAft>
            </a:pPr>
            <a:r>
              <a:rPr sz="700" b="1">
                <a:solidFill>
                  <a:srgbClr val="7C3AED"/>
                </a:solidFill>
                <a:latin typeface="Malgun Gothic"/>
              </a:rPr>
              <a:t>● </a:t>
            </a:r>
            <a:r>
              <a:rPr sz="900">
                <a:solidFill>
                  <a:srgbClr val="334155"/>
                </a:solidFill>
                <a:latin typeface="Malgun Gothic"/>
              </a:rPr>
              <a:t>You can still call the main number, but KakaoTalk is quicker.</a:t>
            </a:r>
          </a:p>
        </p:txBody>
      </p:sp>
      <p:sp>
        <p:nvSpPr>
          <p:cNvPr id="14" name="Rounded Rectangle 13"/>
          <p:cNvSpPr/>
          <p:nvPr/>
        </p:nvSpPr>
        <p:spPr>
          <a:xfrm>
            <a:off x="457200" y="5026914"/>
            <a:ext cx="5669280" cy="1136599"/>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7C3AED"/>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7C3AED"/>
                </a:solidFill>
                <a:latin typeface="Malgun Gothic"/>
              </a:rPr>
              <a:t>● </a:t>
            </a:r>
            <a:r>
              <a:rPr sz="850">
                <a:solidFill>
                  <a:srgbClr val="334155"/>
                </a:solidFill>
                <a:latin typeface="Malgun Gothic"/>
              </a:rPr>
              <a:t>Support hours: 10:00–23:00, closed weekends and public holidays.</a:t>
            </a:r>
          </a:p>
          <a:p>
            <a:pPr>
              <a:lnSpc>
                <a:spcPct val="115000"/>
              </a:lnSpc>
              <a:spcAft>
                <a:spcPts val="100"/>
              </a:spcAft>
            </a:pPr>
            <a:r>
              <a:rPr sz="650" b="1">
                <a:solidFill>
                  <a:srgbClr val="7C3AED"/>
                </a:solidFill>
                <a:latin typeface="Malgun Gothic"/>
              </a:rPr>
              <a:t>● </a:t>
            </a:r>
            <a:r>
              <a:rPr sz="850">
                <a:solidFill>
                  <a:srgbClr val="334155"/>
                </a:solidFill>
                <a:latin typeface="Malgun Gothic"/>
              </a:rPr>
              <a:t>Messages left late at night are answered in the next support window.</a:t>
            </a:r>
          </a:p>
        </p:txBody>
      </p:sp>
      <p:sp>
        <p:nvSpPr>
          <p:cNvPr id="17" name="Rounded Rectangle 16"/>
          <p:cNvSpPr/>
          <p:nvPr/>
        </p:nvSpPr>
        <p:spPr>
          <a:xfrm>
            <a:off x="365760" y="6172200"/>
            <a:ext cx="11457432"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For a problem right before class, include your student ID and class time in the KakaoTalk message — it gets resolved much faster.</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76802" y="2670048"/>
            <a:ext cx="1241755"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59098"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59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0850"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Contact</a:t>
            </a:r>
          </a:p>
        </p:txBody>
      </p:sp>
      <p:sp>
        <p:nvSpPr>
          <p:cNvPr id="26" name="TextBox 25"/>
          <p:cNvSpPr txBox="1"/>
          <p:nvPr/>
        </p:nvSpPr>
        <p:spPr>
          <a:xfrm>
            <a:off x="4918557"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27" name="Rounded Rectangle 26"/>
          <p:cNvSpPr/>
          <p:nvPr/>
        </p:nvSpPr>
        <p:spPr>
          <a:xfrm>
            <a:off x="5101437" y="2670048"/>
            <a:ext cx="1570939"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83733"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37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485485"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KakaoTalk…</a:t>
            </a:r>
          </a:p>
        </p:txBody>
      </p:sp>
      <p:sp>
        <p:nvSpPr>
          <p:cNvPr id="31" name="TextBox 30"/>
          <p:cNvSpPr txBox="1"/>
          <p:nvPr/>
        </p:nvSpPr>
        <p:spPr>
          <a:xfrm>
            <a:off x="6672376" y="2670048"/>
            <a:ext cx="182880" cy="457200"/>
          </a:xfrm>
          <a:prstGeom prst="rect">
            <a:avLst/>
          </a:prstGeom>
          <a:noFill/>
        </p:spPr>
        <p:txBody>
          <a:bodyPr wrap="square" anchor="ctr">
            <a:spAutoFit/>
          </a:bodyPr>
          <a:lstStyle/>
          <a:p>
            <a:pPr algn="ctr">
              <a:lnSpc>
                <a:spcPct val="100000"/>
              </a:lnSpc>
            </a:pPr>
            <a:r>
              <a:rPr sz="1500" b="1">
                <a:solidFill>
                  <a:srgbClr val="7C3AED"/>
                </a:solidFill>
                <a:latin typeface="Malgun Gothic"/>
              </a:rPr>
              <a:t>›</a:t>
            </a:r>
          </a:p>
        </p:txBody>
      </p:sp>
      <p:sp>
        <p:nvSpPr>
          <p:cNvPr id="32" name="Rounded Rectangle 31"/>
          <p:cNvSpPr/>
          <p:nvPr/>
        </p:nvSpPr>
        <p:spPr>
          <a:xfrm>
            <a:off x="6855256" y="2670048"/>
            <a:ext cx="1656892" cy="457200"/>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37552" y="276148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7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39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 can 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61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62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63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64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11" name="Rounded Rectangle 10"/>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3" name="Rounded Rectangle 12"/>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5" name="Rounded Rectangle 14"/>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7" name="Rounded Rectangle 16"/>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9" name="Rounded Rectangle 18"/>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21" name="Rounded Rectangle 20"/>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65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9" name="Rounded Rectangle 8"/>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5" name="Rounded Rectangle 14"/>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8" name="Rounded Rectangle 17"/>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21" name="Rounded Rectangle 20"/>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4" name="Rounded Rectangle 23"/>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31" name="Rounded Rectangle 30"/>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