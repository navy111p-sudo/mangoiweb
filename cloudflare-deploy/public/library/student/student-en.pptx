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304" r:id="rId55"/>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값</c:v>
                </c:pt>
              </c:strCache>
            </c:strRef>
          </c:tx>
          <c:dPt>
            <c:idx val="0"/>
            <c:spPr>
              <a:solidFill>
                <a:srgbClr val="F59E0B"/>
              </a:solidFill>
            </c:spPr>
          </c:dPt>
          <c:dPt>
            <c:idx val="1"/>
            <c:spPr>
              <a:solidFill>
                <a:srgbClr val="7C3AED"/>
              </a:solidFill>
            </c:spPr>
          </c:dPt>
          <c:dPt>
            <c:idx val="2"/>
            <c:spPr>
              <a:solidFill>
                <a:srgbClr val="4F46E5"/>
              </a:solidFill>
            </c:spPr>
          </c:dPt>
          <c:dPt>
            <c:idx val="3"/>
            <c:spPr>
              <a:solidFill>
                <a:srgbClr val="0EA5E9"/>
              </a:solidFill>
            </c:spPr>
          </c:dPt>
          <c:dPt>
            <c:idx val="4"/>
            <c:spPr>
              <a:solidFill>
                <a:srgbClr val="10B981"/>
              </a:solidFill>
            </c:spPr>
          </c:dPt>
          <c:cat>
            <c:strRef>
              <c:f>Sheet1!$A$2:$A$6</c:f>
              <c:strCache>
                <c:ptCount val="5"/>
                <c:pt idx="0">
                  <c:v>AI warm-up</c:v>
                </c:pt>
                <c:pt idx="1">
                  <c:v>Video lesson</c:v>
                </c:pt>
                <c:pt idx="2">
                  <c:v>Review games</c:v>
                </c:pt>
                <c:pt idx="3">
                  <c:v>Vocabulary</c:v>
                </c:pt>
                <c:pt idx="4">
                  <c:v>AI friend</c:v>
                </c:pt>
              </c:strCache>
            </c:strRef>
          </c:cat>
          <c:val>
            <c:numRef>
              <c:f>Sheet1!$B$2:$B$6</c:f>
              <c:numCache>
                <c:formatCode>General</c:formatCode>
                <c:ptCount val="5"/>
                <c:pt idx="0">
                  <c:v>3</c:v>
                </c:pt>
                <c:pt idx="1">
                  <c:v>25</c:v>
                </c:pt>
                <c:pt idx="2">
                  <c:v>10</c:v>
                </c:pt>
                <c:pt idx="3">
                  <c:v>7</c:v>
                </c:pt>
                <c:pt idx="4">
                  <c:v>5</c:v>
                </c:pt>
              </c:numCache>
            </c:numRef>
          </c:val>
        </c:ser>
        <c:dLbls>
          <c:txPr>
            <a:bodyPr/>
            <a:lstStyle/>
            <a:p>
              <a:pPr>
                <a:defRPr sz="1100" b="1">
                  <a:latin typeface="Malgun Gothic"/>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l"/>
        <c:majorTickMark val="out"/>
        <c:minorTickMark val="none"/>
        <c:tickLblPos val="nextTo"/>
        <c:txPr>
          <a:bodyPr/>
          <a:lstStyle/>
          <a:p>
            <a:pPr>
              <a:defRPr sz="1000">
                <a:latin typeface="Malgun Gothic"/>
              </a:defRPr>
            </a:pPr>
          </a:p>
        </c:txPr>
        <c:crossAx val="-2113994440"/>
        <c:crosses val="autoZero"/>
        <c:auto val="1"/>
        <c:lblAlgn val="ctr"/>
        <c:lblOffset val="100"/>
        <c:noMultiLvlLbl val="0"/>
      </c:catAx>
      <c:valAx>
        <c:axId val="-2113994440"/>
        <c:scaling/>
        <c:delete val="0"/>
        <c:axPos val="b"/>
        <c:majorGridlines/>
        <c:majorTickMark val="out"/>
        <c:minorTickMark val="none"/>
        <c:tickLblPos val="nextTo"/>
        <c:txPr>
          <a:bodyPr/>
          <a:lstStyle/>
          <a:p>
            <a:pPr>
              <a:defRPr sz="1000">
                <a:latin typeface="Malgun Gothic"/>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값</c:v>
                </c:pt>
              </c:strCache>
            </c:strRef>
          </c:tx>
          <c:dPt>
            <c:idx val="0"/>
            <c:spPr>
              <a:solidFill>
                <a:srgbClr val="7C3AED"/>
              </a:solidFill>
            </c:spPr>
          </c:dPt>
          <c:dPt>
            <c:idx val="1"/>
            <c:spPr>
              <a:solidFill>
                <a:srgbClr val="0EA5E9"/>
              </a:solidFill>
            </c:spPr>
          </c:dPt>
          <c:dPt>
            <c:idx val="2"/>
            <c:spPr>
              <a:solidFill>
                <a:srgbClr val="F59E0B"/>
              </a:solidFill>
            </c:spPr>
          </c:dPt>
          <c:dPt>
            <c:idx val="3"/>
            <c:spPr>
              <a:solidFill>
                <a:srgbClr val="10B981"/>
              </a:solidFill>
            </c:spPr>
          </c:dPt>
          <c:cat>
            <c:strRef>
              <c:f>Sheet1!$A$2:$A$5</c:f>
              <c:strCache>
                <c:ptCount val="4"/>
                <c:pt idx="0">
                  <c:v>Speaking</c:v>
                </c:pt>
                <c:pt idx="1">
                  <c:v>Listening</c:v>
                </c:pt>
                <c:pt idx="2">
                  <c:v>Words</c:v>
                </c:pt>
                <c:pt idx="3">
                  <c:v>Sentences</c:v>
                </c:pt>
              </c:strCache>
            </c:strRef>
          </c:cat>
          <c:val>
            <c:numRef>
              <c:f>Sheet1!$B$2:$B$5</c:f>
              <c:numCache>
                <c:formatCode>General</c:formatCode>
                <c:ptCount val="4"/>
                <c:pt idx="0">
                  <c:v>9</c:v>
                </c:pt>
                <c:pt idx="1">
                  <c:v>7</c:v>
                </c:pt>
                <c:pt idx="2">
                  <c:v>10</c:v>
                </c:pt>
                <c:pt idx="3">
                  <c:v>8</c:v>
                </c:pt>
              </c:numCache>
            </c:numRef>
          </c:val>
        </c:ser>
        <c:dLbls>
          <c:txPr>
            <a:bodyPr/>
            <a:lstStyle/>
            <a:p>
              <a:pPr>
                <a:defRPr sz="1100" b="1">
                  <a:latin typeface="Malgun Gothic"/>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txPr>
          <a:bodyPr/>
          <a:lstStyle/>
          <a:p>
            <a:pPr>
              <a:defRPr sz="1000">
                <a:latin typeface="Malgun Gothic"/>
              </a:defRPr>
            </a:pPr>
          </a:p>
        </c:txPr>
        <c:crossAx val="-2113994440"/>
        <c:crosses val="autoZero"/>
        <c:auto val="1"/>
        <c:lblAlgn val="ctr"/>
        <c:lblOffset val="100"/>
        <c:noMultiLvlLbl val="0"/>
      </c:catAx>
      <c:valAx>
        <c:axId val="-2113994440"/>
        <c:scaling/>
        <c:delete val="0"/>
        <c:axPos val="l"/>
        <c:majorGridlines/>
        <c:majorTickMark val="out"/>
        <c:minorTickMark val="none"/>
        <c:tickLblPos val="nextTo"/>
        <c:txPr>
          <a:bodyPr/>
          <a:lstStyle/>
          <a:p>
            <a:pPr>
              <a:defRPr sz="1000">
                <a:latin typeface="Malgun Gothic"/>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doughnutChart>
        <c:varyColors val="1"/>
        <c:ser>
          <c:idx val="0"/>
          <c:order val="0"/>
          <c:tx>
            <c:strRef>
              <c:f>Sheet1!$B$1</c:f>
              <c:strCache>
                <c:ptCount val="1"/>
                <c:pt idx="0">
                  <c:v>값</c:v>
                </c:pt>
              </c:strCache>
            </c:strRef>
          </c:tx>
          <c:dPt>
            <c:idx val="0"/>
            <c:spPr>
              <a:solidFill>
                <a:srgbClr val="7C3AED"/>
              </a:solidFill>
            </c:spPr>
          </c:dPt>
          <c:dPt>
            <c:idx val="1"/>
            <c:spPr>
              <a:solidFill>
                <a:srgbClr val="7C3AED"/>
              </a:solidFill>
            </c:spPr>
          </c:dPt>
          <c:dPt>
            <c:idx val="2"/>
            <c:spPr>
              <a:solidFill>
                <a:srgbClr val="7C3AED"/>
              </a:solidFill>
            </c:spPr>
          </c:dPt>
          <c:dPt>
            <c:idx val="3"/>
            <c:spPr>
              <a:solidFill>
                <a:srgbClr val="7C3AED"/>
              </a:solidFill>
            </c:spPr>
          </c:dPt>
          <c:dPt>
            <c:idx val="4"/>
            <c:spPr>
              <a:solidFill>
                <a:srgbClr val="7C3AED"/>
              </a:solidFill>
            </c:spPr>
          </c:dPt>
          <c:dPt>
            <c:idx val="5"/>
            <c:spPr>
              <a:solidFill>
                <a:srgbClr val="7C3AED"/>
              </a:solidFill>
            </c:spPr>
          </c:dPt>
          <c:cat>
            <c:strRef>
              <c:f>Sheet1!$A$2:$A$7</c:f>
              <c:strCache>
                <c:ptCount val="6"/>
                <c:pt idx="0">
                  <c:v>W1</c:v>
                </c:pt>
                <c:pt idx="1">
                  <c:v>W2</c:v>
                </c:pt>
                <c:pt idx="2">
                  <c:v>W3</c:v>
                </c:pt>
                <c:pt idx="3">
                  <c:v>W4</c:v>
                </c:pt>
                <c:pt idx="4">
                  <c:v>W6</c:v>
                </c:pt>
                <c:pt idx="5">
                  <c:v>W8</c:v>
                </c:pt>
              </c:strCache>
            </c:strRef>
          </c:cat>
          <c:val>
            <c:numRef>
              <c:f>Sheet1!$B$2:$B$7</c:f>
              <c:numCache>
                <c:formatCode>General</c:formatCode>
                <c:ptCount val="6"/>
                <c:pt idx="0">
                  <c:v>20</c:v>
                </c:pt>
                <c:pt idx="1">
                  <c:v>45</c:v>
                </c:pt>
                <c:pt idx="2">
                  <c:v>80</c:v>
                </c:pt>
                <c:pt idx="3">
                  <c:v>130</c:v>
                </c:pt>
                <c:pt idx="4">
                  <c:v>210</c:v>
                </c:pt>
                <c:pt idx="5">
                  <c:v>320</c:v>
                </c:pt>
              </c:numCache>
            </c:numRef>
          </c:val>
        </c:ser>
        <c:dLbls>
          <c:txPr>
            <a:bodyPr/>
            <a:lstStyle/>
            <a:p>
              <a:pPr>
                <a:defRPr sz="1100" b="1">
                  <a:latin typeface="Malgun Gothic"/>
                </a:defRPr>
              </a:pPr>
            </a:p>
          </c:txPr>
          <c:showLegendKey val="0"/>
          <c:showVal val="0"/>
          <c:showCatName val="0"/>
          <c:showSerName val="0"/>
          <c:showPercent val="0"/>
          <c:showBubbleSize val="0"/>
          <c:showLeaderLines val="1"/>
        </c:dLbls>
        <c:firstSliceAng val="0"/>
        <c:holeSize val="50"/>
      </c:doughnutChart>
    </c:plotArea>
    <c:legend>
      <c:legendPos/>
      <c:layout/>
      <c:overlay val="0"/>
      <c:txPr>
        <a:bodyPr/>
        <a:lstStyle/>
        <a:p>
          <a:pPr>
            <a:defRPr sz="1100">
              <a:latin typeface="Malgun Gothic"/>
            </a:defRPr>
          </a:pPr>
        </a:p>
      </c:txPr>
    </c:legend>
    <c:plotVisOnly val="1"/>
    <c:dispBlanksAs val="gap"/>
    <c:showDLblsOverMax val="0"/>
  </c:chart>
  <c:txPr>
    <a:bodyPr/>
    <a:lstStyle/>
    <a:p>
      <a:pPr>
        <a:defRPr sz="1800"/>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image" Target="../media/image2.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jp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jp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jp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jp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jp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jp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jp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jp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jp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jp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chart" Target="../charts/chart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7C3AED"/>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607040" y="-1097280"/>
            <a:ext cx="3840480" cy="384048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280160" y="5669280"/>
            <a:ext cx="2926080" cy="292608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914400" y="1097280"/>
            <a:ext cx="1280160" cy="128016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22960" y="822960"/>
            <a:ext cx="2468880" cy="4572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822960"/>
            <a:ext cx="2468880" cy="457200"/>
          </a:xfrm>
          <a:prstGeom prst="rect">
            <a:avLst/>
          </a:prstGeom>
          <a:noFill/>
        </p:spPr>
        <p:txBody>
          <a:bodyPr wrap="square" anchor="ctr">
            <a:spAutoFit/>
          </a:bodyPr>
          <a:lstStyle/>
          <a:p>
            <a:pPr algn="ctr">
              <a:lnSpc>
                <a:spcPct val="100000"/>
              </a:lnSpc>
            </a:pPr>
            <a:r>
              <a:rPr sz="1300" b="1">
                <a:solidFill>
                  <a:srgbClr val="7C3AED"/>
                </a:solidFill>
                <a:latin typeface="Malgun Gothic"/>
              </a:rPr>
              <a:t>🎒 STUDENT GUIDE</a:t>
            </a:r>
          </a:p>
        </p:txBody>
      </p:sp>
      <p:sp>
        <p:nvSpPr>
          <p:cNvPr id="8" name="TextBox 7"/>
          <p:cNvSpPr txBox="1"/>
          <p:nvPr/>
        </p:nvSpPr>
        <p:spPr>
          <a:xfrm>
            <a:off x="822960" y="2286000"/>
            <a:ext cx="7315200" cy="457200"/>
          </a:xfrm>
          <a:prstGeom prst="rect">
            <a:avLst/>
          </a:prstGeom>
          <a:noFill/>
        </p:spPr>
        <p:txBody>
          <a:bodyPr wrap="square" anchor="t">
            <a:spAutoFit/>
          </a:bodyPr>
          <a:lstStyle/>
          <a:p>
            <a:pPr algn="l">
              <a:lnSpc>
                <a:spcPct val="100000"/>
              </a:lnSpc>
            </a:pPr>
            <a:r>
              <a:rPr sz="1600" b="1">
                <a:solidFill>
                  <a:srgbClr val="FFFFFF"/>
                </a:solidFill>
                <a:latin typeface="Malgun Gothic"/>
              </a:rPr>
              <a:t>Mangoi · MANGOI</a:t>
            </a:r>
          </a:p>
        </p:txBody>
      </p:sp>
      <p:sp>
        <p:nvSpPr>
          <p:cNvPr id="9" name="TextBox 8"/>
          <p:cNvSpPr txBox="1"/>
          <p:nvPr/>
        </p:nvSpPr>
        <p:spPr>
          <a:xfrm>
            <a:off x="777240" y="2697480"/>
            <a:ext cx="7772400" cy="1371600"/>
          </a:xfrm>
          <a:prstGeom prst="rect">
            <a:avLst/>
          </a:prstGeom>
          <a:noFill/>
        </p:spPr>
        <p:txBody>
          <a:bodyPr wrap="square" anchor="t">
            <a:spAutoFit/>
          </a:bodyPr>
          <a:lstStyle/>
          <a:p>
            <a:pPr algn="l">
              <a:lnSpc>
                <a:spcPct val="100000"/>
              </a:lnSpc>
            </a:pPr>
            <a:r>
              <a:rPr sz="4600" b="1">
                <a:solidFill>
                  <a:srgbClr val="FFFFFF"/>
                </a:solidFill>
                <a:latin typeface="Malgun Gothic"/>
              </a:rPr>
              <a:t>Student User Guide</a:t>
            </a:r>
          </a:p>
        </p:txBody>
      </p:sp>
      <p:sp>
        <p:nvSpPr>
          <p:cNvPr id="10" name="TextBox 9"/>
          <p:cNvSpPr txBox="1"/>
          <p:nvPr/>
        </p:nvSpPr>
        <p:spPr>
          <a:xfrm>
            <a:off x="822960" y="4114800"/>
            <a:ext cx="7315200" cy="548640"/>
          </a:xfrm>
          <a:prstGeom prst="rect">
            <a:avLst/>
          </a:prstGeom>
          <a:noFill/>
        </p:spPr>
        <p:txBody>
          <a:bodyPr wrap="square" anchor="t">
            <a:spAutoFit/>
          </a:bodyPr>
          <a:lstStyle/>
          <a:p>
            <a:pPr algn="l">
              <a:lnSpc>
                <a:spcPct val="100000"/>
              </a:lnSpc>
            </a:pPr>
            <a:r>
              <a:rPr sz="1900" b="1">
                <a:solidFill>
                  <a:srgbClr val="FFFFFF"/>
                </a:solidFill>
                <a:latin typeface="Malgun Gothic"/>
              </a:rPr>
              <a:t>Easy on your own — the complete Mangoi guide</a:t>
            </a:r>
          </a:p>
        </p:txBody>
      </p:sp>
      <p:sp>
        <p:nvSpPr>
          <p:cNvPr id="11" name="TextBox 10"/>
          <p:cNvSpPr txBox="1"/>
          <p:nvPr/>
        </p:nvSpPr>
        <p:spPr>
          <a:xfrm>
            <a:off x="822960" y="5943600"/>
            <a:ext cx="7315200" cy="457200"/>
          </a:xfrm>
          <a:prstGeom prst="rect">
            <a:avLst/>
          </a:prstGeom>
          <a:noFill/>
        </p:spPr>
        <p:txBody>
          <a:bodyPr wrap="square" anchor="t">
            <a:spAutoFit/>
          </a:bodyPr>
          <a:lstStyle/>
          <a:p>
            <a:pPr algn="l">
              <a:lnSpc>
                <a:spcPct val="100000"/>
              </a:lnSpc>
            </a:pPr>
            <a:r>
              <a:rPr sz="1300" b="0">
                <a:solidFill>
                  <a:srgbClr val="FFFFFF"/>
                </a:solidFill>
                <a:latin typeface="Malgun Gothic"/>
              </a:rPr>
              <a:t>For · Students learning with Mangoi   |   www.mangoi.co.kr</a:t>
            </a:r>
          </a:p>
        </p:txBody>
      </p:sp>
      <p:pic>
        <p:nvPicPr>
          <p:cNvPr id="12" name="Picture 11" descr="mango_char.png"/>
          <p:cNvPicPr>
            <a:picLocks noChangeAspect="1"/>
          </p:cNvPicPr>
          <p:nvPr/>
        </p:nvPicPr>
        <p:blipFill>
          <a:blip r:embed="rId2"/>
          <a:stretch>
            <a:fillRect/>
          </a:stretch>
        </p:blipFill>
        <p:spPr>
          <a:xfrm>
            <a:off x="7477245" y="3108960"/>
            <a:ext cx="4074369" cy="329184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Introduction</a:t>
            </a:r>
          </a:p>
        </p:txBody>
      </p:sp>
      <p:sp>
        <p:nvSpPr>
          <p:cNvPr id="6" name="Rounded Rectangle 5"/>
          <p:cNvSpPr/>
          <p:nvPr/>
        </p:nvSpPr>
        <p:spPr>
          <a:xfrm>
            <a:off x="365760" y="868680"/>
            <a:ext cx="11460175" cy="155448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005840"/>
            <a:ext cx="10881360" cy="457200"/>
          </a:xfrm>
          <a:prstGeom prst="rect">
            <a:avLst/>
          </a:prstGeom>
          <a:noFill/>
        </p:spPr>
        <p:txBody>
          <a:bodyPr wrap="square" anchor="t">
            <a:spAutoFit/>
          </a:bodyPr>
          <a:lstStyle/>
          <a:p>
            <a:pPr algn="l">
              <a:lnSpc>
                <a:spcPct val="100000"/>
              </a:lnSpc>
            </a:pPr>
            <a:r>
              <a:rPr sz="2400" b="1">
                <a:solidFill>
                  <a:srgbClr val="7C3AED"/>
                </a:solidFill>
                <a:latin typeface="Malgun Gothic"/>
              </a:rPr>
              <a:t>What is Mangoi?</a:t>
            </a:r>
          </a:p>
        </p:txBody>
      </p:sp>
      <p:sp>
        <p:nvSpPr>
          <p:cNvPr id="8" name="TextBox 7"/>
          <p:cNvSpPr txBox="1"/>
          <p:nvPr/>
        </p:nvSpPr>
        <p:spPr>
          <a:xfrm>
            <a:off x="640080" y="1481328"/>
            <a:ext cx="10972800" cy="914400"/>
          </a:xfrm>
          <a:prstGeom prst="rect">
            <a:avLst/>
          </a:prstGeom>
          <a:noFill/>
        </p:spPr>
        <p:txBody>
          <a:bodyPr wrap="square" anchor="t">
            <a:spAutoFit/>
          </a:bodyPr>
          <a:lstStyle/>
          <a:p>
            <a:pPr algn="l">
              <a:lnSpc>
                <a:spcPct val="125000"/>
              </a:lnSpc>
            </a:pPr>
            <a:r>
              <a:rPr sz="1300" b="0">
                <a:solidFill>
                  <a:srgbClr val="334155"/>
                </a:solidFill>
                <a:latin typeface="Malgun Gothic"/>
              </a:rPr>
              <a:t>Mangoi brings together live 1:1 video English lessons with a native-speaker teacher and AI learning &amp; games you can do on your own before and after class. Connect right from your web browser (Chrome/Edge) on a phone, tablet or PC — no app install needed. Just follow this guide and even first-timers can use it easily on their own.</a:t>
            </a:r>
          </a:p>
        </p:txBody>
      </p:sp>
      <p:sp>
        <p:nvSpPr>
          <p:cNvPr id="9" name="Rounded Rectangle 8"/>
          <p:cNvSpPr/>
          <p:nvPr/>
        </p:nvSpPr>
        <p:spPr>
          <a:xfrm>
            <a:off x="365760" y="269748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02920" y="2852928"/>
            <a:ext cx="512064" cy="512064"/>
          </a:xfrm>
          <a:prstGeom prst="roundRect">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2852928"/>
            <a:ext cx="512064" cy="512064"/>
          </a:xfrm>
          <a:prstGeom prst="rect">
            <a:avLst/>
          </a:prstGeom>
          <a:noFill/>
        </p:spPr>
        <p:txBody>
          <a:bodyPr wrap="square" anchor="ctr">
            <a:spAutoFit/>
          </a:bodyPr>
          <a:lstStyle/>
          <a:p>
            <a:pPr algn="ctr">
              <a:lnSpc>
                <a:spcPct val="100000"/>
              </a:lnSpc>
            </a:pPr>
            <a:r>
              <a:rPr sz="2000" b="0">
                <a:solidFill>
                  <a:srgbClr val="7C3AED"/>
                </a:solidFill>
                <a:latin typeface="Malgun Gothic"/>
              </a:rPr>
              <a:t>📹</a:t>
            </a:r>
          </a:p>
        </p:txBody>
      </p:sp>
      <p:sp>
        <p:nvSpPr>
          <p:cNvPr id="12" name="TextBox 11"/>
          <p:cNvSpPr txBox="1"/>
          <p:nvPr/>
        </p:nvSpPr>
        <p:spPr>
          <a:xfrm>
            <a:off x="1143000" y="281635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1:1 native video lessons</a:t>
            </a:r>
          </a:p>
        </p:txBody>
      </p:sp>
      <p:sp>
        <p:nvSpPr>
          <p:cNvPr id="13" name="TextBox 12"/>
          <p:cNvSpPr txBox="1"/>
          <p:nvPr/>
        </p:nvSpPr>
        <p:spPr>
          <a:xfrm>
            <a:off x="1143000" y="312724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Meet your teacher face-to-face and talk in English at set times.</a:t>
            </a:r>
          </a:p>
        </p:txBody>
      </p:sp>
      <p:sp>
        <p:nvSpPr>
          <p:cNvPr id="14" name="Rounded Rectangle 13"/>
          <p:cNvSpPr/>
          <p:nvPr/>
        </p:nvSpPr>
        <p:spPr>
          <a:xfrm>
            <a:off x="6301587" y="269748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438747" y="2852928"/>
            <a:ext cx="512064" cy="512064"/>
          </a:xfrm>
          <a:prstGeom prst="roundRect">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38747" y="2852928"/>
            <a:ext cx="512064" cy="512064"/>
          </a:xfrm>
          <a:prstGeom prst="rect">
            <a:avLst/>
          </a:prstGeom>
          <a:noFill/>
        </p:spPr>
        <p:txBody>
          <a:bodyPr wrap="square" anchor="ctr">
            <a:spAutoFit/>
          </a:bodyPr>
          <a:lstStyle/>
          <a:p>
            <a:pPr algn="ctr">
              <a:lnSpc>
                <a:spcPct val="100000"/>
              </a:lnSpc>
            </a:pPr>
            <a:r>
              <a:rPr sz="2000" b="0">
                <a:solidFill>
                  <a:srgbClr val="7C3AED"/>
                </a:solidFill>
                <a:latin typeface="Malgun Gothic"/>
              </a:rPr>
              <a:t>🔥</a:t>
            </a:r>
          </a:p>
        </p:txBody>
      </p:sp>
      <p:sp>
        <p:nvSpPr>
          <p:cNvPr id="17" name="TextBox 16"/>
          <p:cNvSpPr txBox="1"/>
          <p:nvPr/>
        </p:nvSpPr>
        <p:spPr>
          <a:xfrm>
            <a:off x="7078827" y="281635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AI warm-up · pronunciation coach</a:t>
            </a:r>
          </a:p>
        </p:txBody>
      </p:sp>
      <p:sp>
        <p:nvSpPr>
          <p:cNvPr id="18" name="TextBox 17"/>
          <p:cNvSpPr txBox="1"/>
          <p:nvPr/>
        </p:nvSpPr>
        <p:spPr>
          <a:xfrm>
            <a:off x="7078827" y="312724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Warm up before class and get instant pronunciation fixes.</a:t>
            </a:r>
          </a:p>
        </p:txBody>
      </p:sp>
      <p:sp>
        <p:nvSpPr>
          <p:cNvPr id="19" name="Rounded Rectangle 18"/>
          <p:cNvSpPr/>
          <p:nvPr/>
        </p:nvSpPr>
        <p:spPr>
          <a:xfrm>
            <a:off x="365760" y="365760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02920" y="3813048"/>
            <a:ext cx="512064" cy="512064"/>
          </a:xfrm>
          <a:prstGeom prst="roundRect">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2920" y="3813048"/>
            <a:ext cx="512064" cy="512064"/>
          </a:xfrm>
          <a:prstGeom prst="rect">
            <a:avLst/>
          </a:prstGeom>
          <a:noFill/>
        </p:spPr>
        <p:txBody>
          <a:bodyPr wrap="square" anchor="ctr">
            <a:spAutoFit/>
          </a:bodyPr>
          <a:lstStyle/>
          <a:p>
            <a:pPr algn="ctr">
              <a:lnSpc>
                <a:spcPct val="100000"/>
              </a:lnSpc>
            </a:pPr>
            <a:r>
              <a:rPr sz="2000" b="0">
                <a:solidFill>
                  <a:srgbClr val="7C3AED"/>
                </a:solidFill>
                <a:latin typeface="Malgun Gothic"/>
              </a:rPr>
              <a:t>🎮</a:t>
            </a:r>
          </a:p>
        </p:txBody>
      </p:sp>
      <p:sp>
        <p:nvSpPr>
          <p:cNvPr id="22" name="TextBox 21"/>
          <p:cNvSpPr txBox="1"/>
          <p:nvPr/>
        </p:nvSpPr>
        <p:spPr>
          <a:xfrm>
            <a:off x="1143000" y="377647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10 learning games</a:t>
            </a:r>
          </a:p>
        </p:txBody>
      </p:sp>
      <p:sp>
        <p:nvSpPr>
          <p:cNvPr id="23" name="TextBox 22"/>
          <p:cNvSpPr txBox="1"/>
          <p:nvPr/>
        </p:nvSpPr>
        <p:spPr>
          <a:xfrm>
            <a:off x="1143000" y="408736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Review today's words and sentences through fun games.</a:t>
            </a:r>
          </a:p>
        </p:txBody>
      </p:sp>
      <p:sp>
        <p:nvSpPr>
          <p:cNvPr id="24" name="Rounded Rectangle 23"/>
          <p:cNvSpPr/>
          <p:nvPr/>
        </p:nvSpPr>
        <p:spPr>
          <a:xfrm>
            <a:off x="6301587" y="365760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438747" y="3813048"/>
            <a:ext cx="512064" cy="512064"/>
          </a:xfrm>
          <a:prstGeom prst="roundRect">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38747" y="3813048"/>
            <a:ext cx="512064" cy="512064"/>
          </a:xfrm>
          <a:prstGeom prst="rect">
            <a:avLst/>
          </a:prstGeom>
          <a:noFill/>
        </p:spPr>
        <p:txBody>
          <a:bodyPr wrap="square" anchor="ctr">
            <a:spAutoFit/>
          </a:bodyPr>
          <a:lstStyle/>
          <a:p>
            <a:pPr algn="ctr">
              <a:lnSpc>
                <a:spcPct val="100000"/>
              </a:lnSpc>
            </a:pPr>
            <a:r>
              <a:rPr sz="2000" b="0">
                <a:solidFill>
                  <a:srgbClr val="7C3AED"/>
                </a:solidFill>
                <a:latin typeface="Malgun Gothic"/>
              </a:rPr>
              <a:t>🏅</a:t>
            </a:r>
          </a:p>
        </p:txBody>
      </p:sp>
      <p:sp>
        <p:nvSpPr>
          <p:cNvPr id="27" name="TextBox 26"/>
          <p:cNvSpPr txBox="1"/>
          <p:nvPr/>
        </p:nvSpPr>
        <p:spPr>
          <a:xfrm>
            <a:off x="7078827" y="377647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Points · badges · streak</a:t>
            </a:r>
          </a:p>
        </p:txBody>
      </p:sp>
      <p:sp>
        <p:nvSpPr>
          <p:cNvPr id="28" name="TextBox 27"/>
          <p:cNvSpPr txBox="1"/>
          <p:nvPr/>
        </p:nvSpPr>
        <p:spPr>
          <a:xfrm>
            <a:off x="7078827" y="408736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The more you study, the more points and badges you collect.</a:t>
            </a:r>
          </a:p>
        </p:txBody>
      </p:sp>
      <p:sp>
        <p:nvSpPr>
          <p:cNvPr id="29" name="TextBox 28"/>
          <p:cNvSpPr txBox="1"/>
          <p:nvPr/>
        </p:nvSpPr>
        <p:spPr>
          <a:xfrm>
            <a:off x="365760" y="4754880"/>
            <a:ext cx="5486400" cy="365760"/>
          </a:xfrm>
          <a:prstGeom prst="rect">
            <a:avLst/>
          </a:prstGeom>
          <a:noFill/>
        </p:spPr>
        <p:txBody>
          <a:bodyPr wrap="square" anchor="t">
            <a:spAutoFit/>
          </a:bodyPr>
          <a:lstStyle/>
          <a:p>
            <a:pPr algn="l">
              <a:lnSpc>
                <a:spcPct val="100000"/>
              </a:lnSpc>
            </a:pPr>
            <a:r>
              <a:rPr sz="1300" b="1">
                <a:solidFill>
                  <a:srgbClr val="7C3AED"/>
                </a:solidFill>
                <a:latin typeface="Malgun Gothic"/>
              </a:rPr>
              <a:t>Recommended Daily Routine (min)</a:t>
            </a:r>
          </a:p>
        </p:txBody>
      </p:sp>
      <p:graphicFrame>
        <p:nvGraphicFramePr>
          <p:cNvPr id="30" name="Chart 29"/>
          <p:cNvGraphicFramePr>
            <a:graphicFrameLocks noGrp="1"/>
          </p:cNvGraphicFramePr>
          <p:nvPr/>
        </p:nvGraphicFramePr>
        <p:xfrm>
          <a:off x="365760" y="5074920"/>
          <a:ext cx="5669280" cy="1554480"/>
        </p:xfrm>
        <a:graphic>
          <a:graphicData uri="http://schemas.openxmlformats.org/drawingml/2006/chart">
            <c:chart xmlns:c="http://schemas.openxmlformats.org/drawingml/2006/chart" r:id="rId2"/>
          </a:graphicData>
        </a:graphic>
      </p:graphicFrame>
      <p:sp>
        <p:nvSpPr>
          <p:cNvPr id="31" name="Rectangle 30"/>
          <p:cNvSpPr/>
          <p:nvPr/>
        </p:nvSpPr>
        <p:spPr>
          <a:xfrm>
            <a:off x="7470648" y="4654296"/>
            <a:ext cx="3255264" cy="20756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student_home.jpg"/>
          <p:cNvPicPr>
            <a:picLocks noChangeAspect="1"/>
          </p:cNvPicPr>
          <p:nvPr/>
        </p:nvPicPr>
        <p:blipFill>
          <a:blip r:embed="rId3"/>
          <a:stretch>
            <a:fillRect/>
          </a:stretch>
        </p:blipFill>
        <p:spPr>
          <a:xfrm>
            <a:off x="7525512" y="4709160"/>
            <a:ext cx="3145536" cy="196596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01</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Getting Started &amp; Home</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Access · login · screen layout</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Mangoi opens right away when you type the address in Chrome or Edge. After you log in, a space-themed home screen appears, and from here you move to lessons, games and learning menus.</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Go to www.mangoi.co.kr in your browser and log in (social login works too).</a:t>
            </a:r>
          </a:p>
          <a:p>
            <a:pPr>
              <a:lnSpc>
                <a:spcPct val="115000"/>
              </a:lnSpc>
              <a:spcAft>
                <a:spcPts val="600"/>
              </a:spcAft>
            </a:pPr>
            <a:r>
              <a:rPr sz="1050" b="1">
                <a:solidFill>
                  <a:srgbClr val="7C3AED"/>
                </a:solidFill>
                <a:latin typeface="Malgun Gothic"/>
              </a:rPr>
              <a:t>● </a:t>
            </a:r>
            <a:r>
              <a:rPr sz="1250">
                <a:solidFill>
                  <a:srgbClr val="334155"/>
                </a:solidFill>
                <a:latin typeface="Malgun Gothic"/>
              </a:rPr>
              <a:t>Check your name and points (P) at the top-right to confirm you're logged in.</a:t>
            </a:r>
          </a:p>
          <a:p>
            <a:pPr>
              <a:lnSpc>
                <a:spcPct val="115000"/>
              </a:lnSpc>
              <a:spcAft>
                <a:spcPts val="600"/>
              </a:spcAft>
            </a:pPr>
            <a:r>
              <a:rPr sz="1050" b="1">
                <a:solidFill>
                  <a:srgbClr val="7C3AED"/>
                </a:solidFill>
                <a:latin typeface="Malgun Gothic"/>
              </a:rPr>
              <a:t>● </a:t>
            </a:r>
            <a:r>
              <a:rPr sz="1250">
                <a:solidFill>
                  <a:srgbClr val="334155"/>
                </a:solidFill>
                <a:latin typeface="Malgun Gothic"/>
              </a:rPr>
              <a:t>Tap the 'Open' tab on the left to expand the menu sidebar.</a:t>
            </a:r>
          </a:p>
          <a:p>
            <a:pPr>
              <a:lnSpc>
                <a:spcPct val="115000"/>
              </a:lnSpc>
              <a:spcAft>
                <a:spcPts val="600"/>
              </a:spcAft>
            </a:pPr>
            <a:r>
              <a:rPr sz="1050" b="1">
                <a:solidFill>
                  <a:srgbClr val="7C3AED"/>
                </a:solidFill>
                <a:latin typeface="Malgun Gothic"/>
              </a:rPr>
              <a:t>● </a:t>
            </a:r>
            <a:r>
              <a:rPr sz="1250">
                <a:solidFill>
                  <a:srgbClr val="334155"/>
                </a:solidFill>
                <a:latin typeface="Malgun Gothic"/>
              </a:rPr>
              <a:t>Ask the A.i assistant at the bottom-right anything you're curious about.</a:t>
            </a:r>
          </a:p>
          <a:p>
            <a:pPr>
              <a:lnSpc>
                <a:spcPct val="115000"/>
              </a:lnSpc>
              <a:spcAft>
                <a:spcPts val="600"/>
              </a:spcAft>
            </a:pPr>
            <a:r>
              <a:rPr sz="1050" b="1">
                <a:solidFill>
                  <a:srgbClr val="7C3AED"/>
                </a:solidFill>
                <a:latin typeface="Malgun Gothic"/>
              </a:rPr>
              <a:t>● </a:t>
            </a:r>
            <a:r>
              <a:rPr sz="1250">
                <a:solidFill>
                  <a:srgbClr val="334155"/>
                </a:solidFill>
                <a:latin typeface="Malgun Gothic"/>
              </a:rPr>
              <a:t>Use the EN button to switch the on-screen text to English.</a:t>
            </a:r>
          </a:p>
        </p:txBody>
      </p:sp>
      <p:sp>
        <p:nvSpPr>
          <p:cNvPr id="14" name="Rounded Rectangle 13"/>
          <p:cNvSpPr/>
          <p:nvPr/>
        </p:nvSpPr>
        <p:spPr>
          <a:xfrm>
            <a:off x="457200" y="5166360"/>
            <a:ext cx="5669280" cy="1316736"/>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21224"/>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5495544"/>
            <a:ext cx="5394960" cy="950976"/>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No app install — a web browser is all you need.</a:t>
            </a:r>
          </a:p>
          <a:p>
            <a:pPr>
              <a:lnSpc>
                <a:spcPct val="115000"/>
              </a:lnSpc>
              <a:spcAft>
                <a:spcPts val="200"/>
              </a:spcAft>
            </a:pPr>
            <a:r>
              <a:rPr sz="900" b="1">
                <a:solidFill>
                  <a:srgbClr val="7C3AED"/>
                </a:solidFill>
                <a:latin typeface="Malgun Gothic"/>
              </a:rPr>
              <a:t>● </a:t>
            </a:r>
            <a:r>
              <a:rPr sz="1100">
                <a:solidFill>
                  <a:srgbClr val="334155"/>
                </a:solidFill>
                <a:latin typeface="Malgun Gothic"/>
              </a:rPr>
              <a:t>'Add Mangoi app' at the bottom of home creates a home-screen icon.</a:t>
            </a:r>
          </a:p>
          <a:p>
            <a:pPr>
              <a:lnSpc>
                <a:spcPct val="115000"/>
              </a:lnSpc>
              <a:spcAft>
                <a:spcPts val="200"/>
              </a:spcAft>
            </a:pPr>
            <a:r>
              <a:rPr sz="900" b="1">
                <a:solidFill>
                  <a:srgbClr val="7C3AED"/>
                </a:solidFill>
                <a:latin typeface="Malgun Gothic"/>
              </a:rPr>
              <a:t>● </a:t>
            </a:r>
            <a:r>
              <a:rPr sz="1100">
                <a:solidFill>
                  <a:srgbClr val="334155"/>
                </a:solidFill>
                <a:latin typeface="Malgun Gothic"/>
              </a:rPr>
              <a:t>Study on phone, tablet or PC with the same account, anywhere.</a:t>
            </a:r>
          </a:p>
        </p:txBody>
      </p:sp>
      <p:sp>
        <p:nvSpPr>
          <p:cNvPr id="17" name="Rounded Rectangle 16"/>
          <p:cNvSpPr/>
          <p:nvPr/>
        </p:nvSpPr>
        <p:spPr>
          <a:xfrm>
            <a:off x="457200" y="6592824"/>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638544"/>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Turn on auto-login only on your own trusted device so you don't type it every time.</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home.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02</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Enter a Video Lesson</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Meet your teacher 1:1 (30 seconds!)</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When it's lesson time, join the classroom and study face-to-face with your native teacher. It feels new at first, but just follow the steps and you'll be in quickly.</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Tap the invite link you received, or the today's lesson card on the site.</a:t>
            </a:r>
          </a:p>
          <a:p>
            <a:pPr>
              <a:lnSpc>
                <a:spcPct val="115000"/>
              </a:lnSpc>
              <a:spcAft>
                <a:spcPts val="600"/>
              </a:spcAft>
            </a:pPr>
            <a:r>
              <a:rPr sz="1050" b="1">
                <a:solidFill>
                  <a:srgbClr val="7C3AED"/>
                </a:solidFill>
                <a:latin typeface="Malgun Gothic"/>
              </a:rPr>
              <a:t>● </a:t>
            </a:r>
            <a:r>
              <a:rPr sz="1250">
                <a:solidFill>
                  <a:srgbClr val="334155"/>
                </a:solidFill>
                <a:latin typeface="Malgun Gothic"/>
              </a:rPr>
              <a:t>Enter your name (the room code is usually filled in; if empty, you go to the shared room).</a:t>
            </a:r>
          </a:p>
          <a:p>
            <a:pPr>
              <a:lnSpc>
                <a:spcPct val="115000"/>
              </a:lnSpc>
              <a:spcAft>
                <a:spcPts val="600"/>
              </a:spcAft>
            </a:pPr>
            <a:r>
              <a:rPr sz="1050" b="1">
                <a:solidFill>
                  <a:srgbClr val="7C3AED"/>
                </a:solidFill>
                <a:latin typeface="Malgun Gothic"/>
              </a:rPr>
              <a:t>● </a:t>
            </a:r>
            <a:r>
              <a:rPr sz="1250">
                <a:solidFill>
                  <a:srgbClr val="334155"/>
                </a:solidFill>
                <a:latin typeface="Malgun Gothic"/>
              </a:rPr>
              <a:t>Press the Enter button.</a:t>
            </a:r>
          </a:p>
          <a:p>
            <a:pPr>
              <a:lnSpc>
                <a:spcPct val="115000"/>
              </a:lnSpc>
              <a:spcAft>
                <a:spcPts val="600"/>
              </a:spcAft>
            </a:pPr>
            <a:r>
              <a:rPr sz="1050" b="1">
                <a:solidFill>
                  <a:srgbClr val="7C3AED"/>
                </a:solidFill>
                <a:latin typeface="Malgun Gothic"/>
              </a:rPr>
              <a:t>● </a:t>
            </a:r>
            <a:r>
              <a:rPr sz="1250">
                <a:solidFill>
                  <a:srgbClr val="334155"/>
                </a:solidFill>
                <a:latin typeface="Malgun Gothic"/>
              </a:rPr>
              <a:t>When the browser asks, press 'Allow' for camera and mic — that connects your face and voice.</a:t>
            </a:r>
          </a:p>
          <a:p>
            <a:pPr>
              <a:lnSpc>
                <a:spcPct val="115000"/>
              </a:lnSpc>
              <a:spcAft>
                <a:spcPts val="600"/>
              </a:spcAft>
            </a:pPr>
            <a:r>
              <a:rPr sz="1050" b="1">
                <a:solidFill>
                  <a:srgbClr val="7C3AED"/>
                </a:solidFill>
                <a:latin typeface="Malgun Gothic"/>
              </a:rPr>
              <a:t>● </a:t>
            </a:r>
            <a:r>
              <a:rPr sz="1250">
                <a:solidFill>
                  <a:srgbClr val="334155"/>
                </a:solidFill>
                <a:latin typeface="Malgun Gothic"/>
              </a:rPr>
              <a:t>When you see your teacher, say hello and start the lesson!</a:t>
            </a:r>
          </a:p>
        </p:txBody>
      </p:sp>
      <p:sp>
        <p:nvSpPr>
          <p:cNvPr id="14" name="Rounded Rectangle 13"/>
          <p:cNvSpPr/>
          <p:nvPr/>
        </p:nvSpPr>
        <p:spPr>
          <a:xfrm>
            <a:off x="457200" y="5166360"/>
            <a:ext cx="5669280" cy="1316736"/>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21224"/>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5495544"/>
            <a:ext cx="5394960" cy="950976"/>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It works best opened in Chrome or Edge.</a:t>
            </a:r>
          </a:p>
          <a:p>
            <a:pPr>
              <a:lnSpc>
                <a:spcPct val="115000"/>
              </a:lnSpc>
              <a:spcAft>
                <a:spcPts val="200"/>
              </a:spcAft>
            </a:pPr>
            <a:r>
              <a:rPr sz="900" b="1">
                <a:solidFill>
                  <a:srgbClr val="7C3AED"/>
                </a:solidFill>
                <a:latin typeface="Malgun Gothic"/>
              </a:rPr>
              <a:t>● </a:t>
            </a:r>
            <a:r>
              <a:rPr sz="1100">
                <a:solidFill>
                  <a:srgbClr val="334155"/>
                </a:solidFill>
                <a:latin typeface="Malgun Gothic"/>
              </a:rPr>
              <a:t>Opening the link inside KakaoTalk may block the camera → choose 'open in another browser'.</a:t>
            </a:r>
          </a:p>
          <a:p>
            <a:pPr>
              <a:lnSpc>
                <a:spcPct val="115000"/>
              </a:lnSpc>
              <a:spcAft>
                <a:spcPts val="200"/>
              </a:spcAft>
            </a:pPr>
            <a:r>
              <a:rPr sz="900" b="1">
                <a:solidFill>
                  <a:srgbClr val="7C3AED"/>
                </a:solidFill>
                <a:latin typeface="Malgun Gothic"/>
              </a:rPr>
              <a:t>● </a:t>
            </a:r>
            <a:r>
              <a:rPr sz="1100">
                <a:solidFill>
                  <a:srgbClr val="334155"/>
                </a:solidFill>
                <a:latin typeface="Malgun Gothic"/>
              </a:rPr>
              <a:t>A headset makes the sound clearer and cuts noise.</a:t>
            </a:r>
          </a:p>
        </p:txBody>
      </p:sp>
      <p:sp>
        <p:nvSpPr>
          <p:cNvPr id="17" name="Rounded Rectangle 16"/>
          <p:cNvSpPr/>
          <p:nvPr/>
        </p:nvSpPr>
        <p:spPr>
          <a:xfrm>
            <a:off x="457200" y="6592824"/>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638544"/>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If sound/video won't work, refresh the page and 'Allow' camera and mic again.</a:t>
            </a:r>
          </a:p>
        </p:txBody>
      </p:sp>
      <p:sp>
        <p:nvSpPr>
          <p:cNvPr id="19" name="Rounded Rectangle 18"/>
          <p:cNvSpPr/>
          <p:nvPr/>
        </p:nvSpPr>
        <p:spPr>
          <a:xfrm>
            <a:off x="457200" y="7324344"/>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7370064"/>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Enter 5 minutes early to check your face and sound — it puts you at ease.</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lass_room.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03</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The Classroom at a Glance</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What does the lesson screen look like?</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When you enter a lesson, the screen has three main areas: ① the top bar (room info, timer, language, dark mode), ② the large center workspace (where the board, materials, video, etc. open), and ③ the bottom control dock (camera, chat, leave). Your face video and the praise basket sit in a small window at the top-left.</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Top-left: `Room: mangoi-class · Users: 2` — the room name and how many people are connected.</a:t>
            </a:r>
          </a:p>
          <a:p>
            <a:pPr>
              <a:lnSpc>
                <a:spcPct val="115000"/>
              </a:lnSpc>
              <a:spcAft>
                <a:spcPts val="600"/>
              </a:spcAft>
            </a:pPr>
            <a:r>
              <a:rPr sz="1050" b="1">
                <a:solidFill>
                  <a:srgbClr val="7C3AED"/>
                </a:solidFill>
                <a:latin typeface="Malgun Gothic"/>
              </a:rPr>
              <a:t>● </a:t>
            </a:r>
            <a:r>
              <a:rPr sz="1250">
                <a:solidFill>
                  <a:srgbClr val="334155"/>
                </a:solidFill>
                <a:latin typeface="Malgun Gothic"/>
              </a:rPr>
              <a:t>Top-right: ⏰ Timer (lesson time), 🔴 REC (recording indicator), 🌐 EN (switch language), 🌙 Dark (dark screen).</a:t>
            </a:r>
          </a:p>
          <a:p>
            <a:pPr>
              <a:lnSpc>
                <a:spcPct val="115000"/>
              </a:lnSpc>
              <a:spcAft>
                <a:spcPts val="600"/>
              </a:spcAft>
            </a:pPr>
            <a:r>
              <a:rPr sz="1050" b="1">
                <a:solidFill>
                  <a:srgbClr val="7C3AED"/>
                </a:solidFill>
                <a:latin typeface="Malgun Gothic"/>
              </a:rPr>
              <a:t>● </a:t>
            </a:r>
            <a:r>
              <a:rPr sz="1250">
                <a:solidFill>
                  <a:srgbClr val="334155"/>
                </a:solidFill>
                <a:latin typeface="Malgun Gothic"/>
              </a:rPr>
              <a:t>Center: the tool you pick from the top tabs (board, materials, video…) opens here.</a:t>
            </a:r>
          </a:p>
          <a:p>
            <a:pPr>
              <a:lnSpc>
                <a:spcPct val="115000"/>
              </a:lnSpc>
              <a:spcAft>
                <a:spcPts val="600"/>
              </a:spcAft>
            </a:pPr>
            <a:r>
              <a:rPr sz="1050" b="1">
                <a:solidFill>
                  <a:srgbClr val="7C3AED"/>
                </a:solidFill>
                <a:latin typeface="Malgun Gothic"/>
              </a:rPr>
              <a:t>● </a:t>
            </a:r>
            <a:r>
              <a:rPr sz="1250">
                <a:solidFill>
                  <a:srgbClr val="334155"/>
                </a:solidFill>
                <a:latin typeface="Malgun Gothic"/>
              </a:rPr>
              <a:t>Bottom-center: the control dock — camera, screen share, chat and leave buttons.</a:t>
            </a:r>
          </a:p>
          <a:p>
            <a:pPr>
              <a:lnSpc>
                <a:spcPct val="115000"/>
              </a:lnSpc>
              <a:spcAft>
                <a:spcPts val="600"/>
              </a:spcAft>
            </a:pPr>
            <a:r>
              <a:rPr sz="1050" b="1">
                <a:solidFill>
                  <a:srgbClr val="7C3AED"/>
                </a:solidFill>
                <a:latin typeface="Malgun Gothic"/>
              </a:rPr>
              <a:t>● </a:t>
            </a:r>
            <a:r>
              <a:rPr sz="1250">
                <a:solidFill>
                  <a:srgbClr val="334155"/>
                </a:solidFill>
                <a:latin typeface="Malgun Gothic"/>
              </a:rPr>
              <a:t>Small window, top-left: your face video and the 🧺 praise basket (how many praises you received).</a:t>
            </a:r>
          </a:p>
        </p:txBody>
      </p:sp>
      <p:sp>
        <p:nvSpPr>
          <p:cNvPr id="14" name="Rounded Rectangle 13"/>
          <p:cNvSpPr/>
          <p:nvPr/>
        </p:nvSpPr>
        <p:spPr>
          <a:xfrm>
            <a:off x="457200" y="5166360"/>
            <a:ext cx="5669280" cy="1316736"/>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21224"/>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5495544"/>
            <a:ext cx="5394960" cy="950976"/>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Hover over a button to see its name (tooltip).</a:t>
            </a:r>
          </a:p>
          <a:p>
            <a:pPr>
              <a:lnSpc>
                <a:spcPct val="115000"/>
              </a:lnSpc>
              <a:spcAft>
                <a:spcPts val="200"/>
              </a:spcAft>
            </a:pPr>
            <a:r>
              <a:rPr sz="900" b="1">
                <a:solidFill>
                  <a:srgbClr val="7C3AED"/>
                </a:solidFill>
                <a:latin typeface="Malgun Gothic"/>
              </a:rPr>
              <a:t>● </a:t>
            </a:r>
            <a:r>
              <a:rPr sz="1100">
                <a:solidFill>
                  <a:srgbClr val="334155"/>
                </a:solidFill>
                <a:latin typeface="Malgun Gothic"/>
              </a:rPr>
              <a:t>If text looks Korean, press EN at the top-right to switch language.</a:t>
            </a:r>
          </a:p>
          <a:p>
            <a:pPr>
              <a:lnSpc>
                <a:spcPct val="115000"/>
              </a:lnSpc>
              <a:spcAft>
                <a:spcPts val="200"/>
              </a:spcAft>
            </a:pPr>
            <a:r>
              <a:rPr sz="900" b="1">
                <a:solidFill>
                  <a:srgbClr val="7C3AED"/>
                </a:solidFill>
                <a:latin typeface="Malgun Gothic"/>
              </a:rPr>
              <a:t>● </a:t>
            </a:r>
            <a:r>
              <a:rPr sz="1100">
                <a:solidFill>
                  <a:srgbClr val="334155"/>
                </a:solidFill>
                <a:latin typeface="Malgun Gothic"/>
              </a:rPr>
              <a:t>If the screen is too bright, switch to 🌙 Dark.</a:t>
            </a:r>
          </a:p>
        </p:txBody>
      </p:sp>
      <p:sp>
        <p:nvSpPr>
          <p:cNvPr id="17" name="Rounded Rectangle 16"/>
          <p:cNvSpPr/>
          <p:nvPr/>
        </p:nvSpPr>
        <p:spPr>
          <a:xfrm>
            <a:off x="457200" y="6592824"/>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638544"/>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It looks like a lot of buttons at first, but the four you use most are board, materials, camera and chat.</a:t>
            </a:r>
          </a:p>
        </p:txBody>
      </p:sp>
      <p:sp>
        <p:nvSpPr>
          <p:cNvPr id="19" name="Rectangle 18"/>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base.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04</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Switching the 6 Top Tabs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Board · Video · Games · Background · AI Warm-up · Review Quiz</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At the top of the center workspace there are six tab buttons. Click one to switch to that tool. The active tab is highlighted.</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 Board: a whiteboard for writing and drawing while explaining.</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Video: watch a YouTube link or a video file together.</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Games: open learning games during class (may be limited during lesson time).</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Background: change the backdrop behind your video and decorate your face.</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AI Warm-up: an English warm-up before the lesson.</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Review Quiz: an AI-made quiz matched to this lesson's textbook and level.</a:t>
            </a:r>
          </a:p>
        </p:txBody>
      </p:sp>
      <p:sp>
        <p:nvSpPr>
          <p:cNvPr id="14" name="Rounded Rectangle 13"/>
          <p:cNvSpPr/>
          <p:nvPr/>
        </p:nvSpPr>
        <p:spPr>
          <a:xfrm>
            <a:off x="457200" y="5550408"/>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605272"/>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5879592"/>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Your face video stays visible even after switching tabs.</a:t>
            </a:r>
          </a:p>
          <a:p>
            <a:pPr>
              <a:lnSpc>
                <a:spcPct val="115000"/>
              </a:lnSpc>
              <a:spcAft>
                <a:spcPts val="200"/>
              </a:spcAft>
            </a:pPr>
            <a:r>
              <a:rPr sz="900" b="1">
                <a:solidFill>
                  <a:srgbClr val="7C3AED"/>
                </a:solidFill>
                <a:latin typeface="Malgun Gothic"/>
              </a:rPr>
              <a:t>● </a:t>
            </a:r>
            <a:r>
              <a:rPr sz="1100">
                <a:solidFill>
                  <a:srgbClr val="334155"/>
                </a:solidFill>
                <a:latin typeface="Malgun Gothic"/>
              </a:rPr>
              <a:t>At the far right of the tabs there are also 📚 Materials Tools ▾ and ✍️ Writing Tools ▾.</a:t>
            </a:r>
          </a:p>
        </p:txBody>
      </p:sp>
      <p:sp>
        <p:nvSpPr>
          <p:cNvPr id="17" name="Rounded Rectangle 16"/>
          <p:cNvSpPr/>
          <p:nvPr/>
        </p:nvSpPr>
        <p:spPr>
          <a:xfrm>
            <a:off x="457200" y="6665976"/>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711696"/>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Lessons mostly use the 🖊 Board and 📚 Materials the most.</a:t>
            </a:r>
          </a:p>
        </p:txBody>
      </p:sp>
      <p:sp>
        <p:nvSpPr>
          <p:cNvPr id="19" name="Rectangle 18"/>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whiteboard.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05</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Board Tools, One by One</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Pen · eraser · shapes · text · save</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Open the 🖊 Board tab and a row of drawing tools appears at the top. Let's go through each button from left to right.</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 Pen: draw freely. / 🧽 Eraser: erase what you drew.</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Line / ⬜ Rectangle / ⭕ Circle: draw straight lines and shapes.</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Text: type letters with the keyboard.</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Color (color box): pick the pen color. / Thickness (slider): adjust line width.</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AI Shapes: even rough drawings snap into neat shapes automatically.</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AI Text: recognizes handwriting and turns it into clean typed text.</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Clear All: wipe the whole board. / 💾 Save: save the board as an image.</a:t>
            </a:r>
          </a:p>
        </p:txBody>
      </p:sp>
      <p:sp>
        <p:nvSpPr>
          <p:cNvPr id="14" name="Rounded Rectangle 13"/>
          <p:cNvSpPr/>
          <p:nvPr/>
        </p:nvSpPr>
        <p:spPr>
          <a:xfrm>
            <a:off x="457200" y="5934456"/>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989320"/>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6263640"/>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Change color and thickness to highlight key parts so they stick.</a:t>
            </a:r>
          </a:p>
          <a:p>
            <a:pPr>
              <a:lnSpc>
                <a:spcPct val="115000"/>
              </a:lnSpc>
              <a:spcAft>
                <a:spcPts val="200"/>
              </a:spcAft>
            </a:pPr>
            <a:r>
              <a:rPr sz="900" b="1">
                <a:solidFill>
                  <a:srgbClr val="7C3AED"/>
                </a:solidFill>
                <a:latin typeface="Malgun Gothic"/>
              </a:rPr>
              <a:t>● </a:t>
            </a:r>
            <a:r>
              <a:rPr sz="1100">
                <a:solidFill>
                  <a:srgbClr val="334155"/>
                </a:solidFill>
                <a:latin typeface="Malgun Gothic"/>
              </a:rPr>
              <a:t>AI Shapes / AI Text auto-tidy when turned on (experimental).</a:t>
            </a:r>
          </a:p>
        </p:txBody>
      </p:sp>
      <p:sp>
        <p:nvSpPr>
          <p:cNvPr id="17" name="Rounded Rectangle 16"/>
          <p:cNvSpPr/>
          <p:nvPr/>
        </p:nvSpPr>
        <p:spPr>
          <a:xfrm>
            <a:off x="457200" y="7050024"/>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7095744"/>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Pressing Save (💾) downloads the current board as an image you can use for review.</a:t>
            </a:r>
          </a:p>
        </p:txBody>
      </p:sp>
      <p:sp>
        <p:nvSpPr>
          <p:cNvPr id="19" name="Rounded Rectangle 18"/>
          <p:cNvSpPr/>
          <p:nvPr/>
        </p:nvSpPr>
        <p:spPr>
          <a:xfrm>
            <a:off x="457200" y="7781544"/>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7827264"/>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Save (💾) the board before class ends to keep exactly what you learned today.</a:t>
            </a:r>
          </a:p>
        </p:txBody>
      </p:sp>
      <p:sp>
        <p:nvSpPr>
          <p:cNvPr id="21" name="Rectangle 20"/>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room_whiteboard.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06</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Materials Tools (share PDF/photos)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Upload · library · turn pages</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Click 📚 Materials Tools ▾ at the right of the tabs and a menu drops down. This is where you upload textbooks (PDF/photos) to view together.</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 Upload (PDF/JPG/PNG): upload a textbook file from your device to share.</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Library: pick from textbooks the academy (admin) uploaded.</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Download: download the file you're currently viewing.</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Prev / Next ▶: turn textbook pages.</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Fit / 100% / 1:1: fit the page to the screen or view at real size.</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Stop sharing: end textbook sharing.</a:t>
            </a:r>
          </a:p>
        </p:txBody>
      </p:sp>
      <p:sp>
        <p:nvSpPr>
          <p:cNvPr id="14" name="Rounded Rectangle 13"/>
          <p:cNvSpPr/>
          <p:nvPr/>
        </p:nvSpPr>
        <p:spPr>
          <a:xfrm>
            <a:off x="457200" y="5550408"/>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605272"/>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5879592"/>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The moment you upload, the other person sees the exact same page.</a:t>
            </a:r>
          </a:p>
          <a:p>
            <a:pPr>
              <a:lnSpc>
                <a:spcPct val="115000"/>
              </a:lnSpc>
              <a:spcAft>
                <a:spcPts val="200"/>
              </a:spcAft>
            </a:pPr>
            <a:r>
              <a:rPr sz="900" b="1">
                <a:solidFill>
                  <a:srgbClr val="7C3AED"/>
                </a:solidFill>
                <a:latin typeface="Malgun Gothic"/>
              </a:rPr>
              <a:t>● </a:t>
            </a:r>
            <a:r>
              <a:rPr sz="1100">
                <a:solidFill>
                  <a:srgbClr val="334155"/>
                </a:solidFill>
                <a:latin typeface="Malgun Gothic"/>
              </a:rPr>
              <a:t>Not only PDFs — JPG and PNG photos work too.</a:t>
            </a:r>
          </a:p>
        </p:txBody>
      </p:sp>
      <p:sp>
        <p:nvSpPr>
          <p:cNvPr id="17" name="Rounded Rectangle 16"/>
          <p:cNvSpPr/>
          <p:nvPr/>
        </p:nvSpPr>
        <p:spPr>
          <a:xfrm>
            <a:off x="457200" y="6665976"/>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711696"/>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Upload the textbook before class for a smooth start.</a:t>
            </a:r>
          </a:p>
        </p:txBody>
      </p:sp>
      <p:sp>
        <p:nvSpPr>
          <p:cNvPr id="19" name="Rectangle 18"/>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materials_dock.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07</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Writing Tools (annotate on top)</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Pen · highlighter · text · undo</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Click ✍️ Writing Tools ▾ at the right of the tabs and the writing menu drops down. Use it to write directly on top of a textbook or the screen.</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 Pen: write freely on the screen. / 🖍 Highlighter: brightly mark important spots.</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Eraser: erase your writing. / 📝 Text: type letters.</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AI Shapes: tidy your drawn shapes.</a:t>
            </a:r>
          </a:p>
          <a:p>
            <a:pPr>
              <a:lnSpc>
                <a:spcPct val="115000"/>
              </a:lnSpc>
              <a:spcAft>
                <a:spcPts val="600"/>
              </a:spcAft>
            </a:pPr>
            <a:r>
              <a:rPr sz="1050" b="1">
                <a:solidFill>
                  <a:srgbClr val="7C3AED"/>
                </a:solidFill>
                <a:latin typeface="Malgun Gothic"/>
              </a:rPr>
              <a:t>● </a:t>
            </a:r>
            <a:r>
              <a:rPr sz="1250">
                <a:solidFill>
                  <a:srgbClr val="334155"/>
                </a:solidFill>
                <a:latin typeface="Malgun Gothic"/>
              </a:rPr>
              <a:t>Thickness (slider): adjust the pen width.</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Undo: cancel your last mark. / 🗑 Clear: erase all writing.</a:t>
            </a:r>
          </a:p>
        </p:txBody>
      </p:sp>
      <p:sp>
        <p:nvSpPr>
          <p:cNvPr id="14" name="Rounded Rectangle 13"/>
          <p:cNvSpPr/>
          <p:nvPr/>
        </p:nvSpPr>
        <p:spPr>
          <a:xfrm>
            <a:off x="457200" y="5166360"/>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21224"/>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5495544"/>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With a textbook open, your writing appears right on top of it.</a:t>
            </a:r>
          </a:p>
          <a:p>
            <a:pPr>
              <a:lnSpc>
                <a:spcPct val="115000"/>
              </a:lnSpc>
              <a:spcAft>
                <a:spcPts val="200"/>
              </a:spcAft>
            </a:pPr>
            <a:r>
              <a:rPr sz="900" b="1">
                <a:solidFill>
                  <a:srgbClr val="7C3AED"/>
                </a:solidFill>
                <a:latin typeface="Malgun Gothic"/>
              </a:rPr>
              <a:t>● </a:t>
            </a:r>
            <a:r>
              <a:rPr sz="1100">
                <a:solidFill>
                  <a:srgbClr val="334155"/>
                </a:solidFill>
                <a:latin typeface="Malgun Gothic"/>
              </a:rPr>
              <a:t>Highlight key words to make them stand out.</a:t>
            </a:r>
          </a:p>
        </p:txBody>
      </p:sp>
      <p:sp>
        <p:nvSpPr>
          <p:cNvPr id="17" name="Rounded Rectangle 16"/>
          <p:cNvSpPr/>
          <p:nvPr/>
        </p:nvSpPr>
        <p:spPr>
          <a:xfrm>
            <a:off x="457200" y="6281928"/>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327648"/>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Made a mistake? One tap on ↩ Undo cleans it up.</a:t>
            </a:r>
          </a:p>
        </p:txBody>
      </p:sp>
      <p:sp>
        <p:nvSpPr>
          <p:cNvPr id="19" name="Rectangle 18"/>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write_dock.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08</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Watch Video Together</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Share YouTube · video files</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In the 📹 Video tab you can paste a YouTube link or upload a video file to watch together — great for songs and video materials.</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Paste a YouTube link (URL) into the box, or upload a video file.</a:t>
            </a:r>
          </a:p>
          <a:p>
            <a:pPr>
              <a:lnSpc>
                <a:spcPct val="115000"/>
              </a:lnSpc>
              <a:spcAft>
                <a:spcPts val="600"/>
              </a:spcAft>
            </a:pPr>
            <a:r>
              <a:rPr sz="1050" b="1">
                <a:solidFill>
                  <a:srgbClr val="7C3AED"/>
                </a:solidFill>
                <a:latin typeface="Malgun Gothic"/>
              </a:rPr>
              <a:t>● </a:t>
            </a:r>
            <a:r>
              <a:rPr sz="1250">
                <a:solidFill>
                  <a:srgbClr val="334155"/>
                </a:solidFill>
                <a:latin typeface="Malgun Gothic"/>
              </a:rPr>
              <a:t>Press ▶ Play URL / Play to start the video.</a:t>
            </a:r>
          </a:p>
          <a:p>
            <a:pPr>
              <a:lnSpc>
                <a:spcPct val="115000"/>
              </a:lnSpc>
              <a:spcAft>
                <a:spcPts val="600"/>
              </a:spcAft>
            </a:pPr>
            <a:r>
              <a:rPr sz="1050" b="1">
                <a:solidFill>
                  <a:srgbClr val="7C3AED"/>
                </a:solidFill>
                <a:latin typeface="Malgun Gothic"/>
              </a:rPr>
              <a:t>● </a:t>
            </a:r>
            <a:r>
              <a:rPr sz="1250">
                <a:solidFill>
                  <a:srgbClr val="334155"/>
                </a:solidFill>
                <a:latin typeface="Malgun Gothic"/>
              </a:rPr>
              <a:t>Use New video to switch to a different one.</a:t>
            </a:r>
          </a:p>
        </p:txBody>
      </p:sp>
      <p:sp>
        <p:nvSpPr>
          <p:cNvPr id="14" name="Rounded Rectangle 13"/>
          <p:cNvSpPr/>
          <p:nvPr/>
        </p:nvSpPr>
        <p:spPr>
          <a:xfrm>
            <a:off x="457200" y="4398264"/>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The video plays on the other person's screen too.</a:t>
            </a:r>
          </a:p>
          <a:p>
            <a:pPr>
              <a:lnSpc>
                <a:spcPct val="115000"/>
              </a:lnSpc>
              <a:spcAft>
                <a:spcPts val="200"/>
              </a:spcAft>
            </a:pPr>
            <a:r>
              <a:rPr sz="900" b="1">
                <a:solidFill>
                  <a:srgbClr val="7C3AED"/>
                </a:solidFill>
                <a:latin typeface="Malgun Gothic"/>
              </a:rPr>
              <a:t>● </a:t>
            </a:r>
            <a:r>
              <a:rPr sz="1100">
                <a:solidFill>
                  <a:srgbClr val="334155"/>
                </a:solidFill>
                <a:latin typeface="Malgun Gothic"/>
              </a:rPr>
              <a:t>For sound-heavy material, earphones help you hear better.</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Prepare the video link in advance so you can play it instantly in class.</a:t>
            </a:r>
          </a:p>
        </p:txBody>
      </p:sp>
      <p:sp>
        <p:nvSpPr>
          <p:cNvPr id="19" name="Rectangle 18"/>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video.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09</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Background &amp; Face Decorations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Change backdrop · masks · accessories</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In the 🎨 Background tab you can change the backdrop behind your face and add fun decorations. Just click what you want in the grid.</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In the background grid, tap a backdrop (space, desert, forest, cherry blossom, beach, pyramids…).</a:t>
            </a:r>
          </a:p>
          <a:p>
            <a:pPr>
              <a:lnSpc>
                <a:spcPct val="115000"/>
              </a:lnSpc>
              <a:spcAft>
                <a:spcPts val="600"/>
              </a:spcAft>
            </a:pPr>
            <a:r>
              <a:rPr sz="1050" b="1">
                <a:solidFill>
                  <a:srgbClr val="7C3AED"/>
                </a:solidFill>
                <a:latin typeface="Malgun Gothic"/>
              </a:rPr>
              <a:t>● </a:t>
            </a:r>
            <a:r>
              <a:rPr sz="1250">
                <a:solidFill>
                  <a:srgbClr val="334155"/>
                </a:solidFill>
                <a:latin typeface="Malgun Gothic"/>
              </a:rPr>
              <a:t>Tap Background off to return to your normal camera view.</a:t>
            </a:r>
          </a:p>
          <a:p>
            <a:pPr>
              <a:lnSpc>
                <a:spcPct val="115000"/>
              </a:lnSpc>
              <a:spcAft>
                <a:spcPts val="600"/>
              </a:spcAft>
            </a:pPr>
            <a:r>
              <a:rPr sz="1050" b="1">
                <a:solidFill>
                  <a:srgbClr val="7C3AED"/>
                </a:solidFill>
                <a:latin typeface="Malgun Gothic"/>
              </a:rPr>
              <a:t>● </a:t>
            </a:r>
            <a:r>
              <a:rPr sz="1250">
                <a:solidFill>
                  <a:srgbClr val="334155"/>
                </a:solidFill>
                <a:latin typeface="Malgun Gothic"/>
              </a:rPr>
              <a:t>Below, in Face Decorations (masks/accessories), pick glasses, hats, animals and more.</a:t>
            </a:r>
          </a:p>
          <a:p>
            <a:pPr>
              <a:lnSpc>
                <a:spcPct val="115000"/>
              </a:lnSpc>
              <a:spcAft>
                <a:spcPts val="600"/>
              </a:spcAft>
            </a:pPr>
            <a:r>
              <a:rPr sz="1050" b="1">
                <a:solidFill>
                  <a:srgbClr val="7C3AED"/>
                </a:solidFill>
                <a:latin typeface="Malgun Gothic"/>
              </a:rPr>
              <a:t>● </a:t>
            </a:r>
            <a:r>
              <a:rPr sz="1250">
                <a:solidFill>
                  <a:srgbClr val="334155"/>
                </a:solidFill>
                <a:latin typeface="Malgun Gothic"/>
              </a:rPr>
              <a:t>Don't like it? Tap again to turn it off.</a:t>
            </a:r>
          </a:p>
        </p:txBody>
      </p:sp>
      <p:sp>
        <p:nvSpPr>
          <p:cNvPr id="14" name="Rounded Rectangle 13"/>
          <p:cNvSpPr/>
          <p:nvPr/>
        </p:nvSpPr>
        <p:spPr>
          <a:xfrm>
            <a:off x="457200" y="4782312"/>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Changing the background keeps your face visible.</a:t>
            </a:r>
          </a:p>
          <a:p>
            <a:pPr>
              <a:lnSpc>
                <a:spcPct val="115000"/>
              </a:lnSpc>
              <a:spcAft>
                <a:spcPts val="200"/>
              </a:spcAft>
            </a:pPr>
            <a:r>
              <a:rPr sz="900" b="1">
                <a:solidFill>
                  <a:srgbClr val="7C3AED"/>
                </a:solidFill>
                <a:latin typeface="Malgun Gothic"/>
              </a:rPr>
              <a:t>● </a:t>
            </a:r>
            <a:r>
              <a:rPr sz="1100">
                <a:solidFill>
                  <a:srgbClr val="334155"/>
                </a:solidFill>
                <a:latin typeface="Malgun Gothic"/>
              </a:rPr>
              <a:t>Very flashy decorations can distract from the lesson.</a:t>
            </a:r>
          </a:p>
        </p:txBody>
      </p:sp>
      <p:sp>
        <p:nvSpPr>
          <p:cNvPr id="17" name="Rounded Rectangle 16"/>
          <p:cNvSpPr/>
          <p:nvPr/>
        </p:nvSpPr>
        <p:spPr>
          <a:xfrm>
            <a:off x="457200" y="5897879"/>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Use a clean background for class and fun decorations for break time.</a:t>
            </a:r>
          </a:p>
        </p:txBody>
      </p:sp>
      <p:sp>
        <p:nvSpPr>
          <p:cNvPr id="19" name="Rectangle 18"/>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bg.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10</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Resize &amp; Arrange the Screen</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1/4 · 1/2 · 3/4 · Full · PIP · Solo · Free</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The size bar above the video lets you change the size and layout of your face-video window. The current size is shown in blue.</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1/4 · 1/2 · 3/4 · Full: make the video window 1/4 up to full-screen.</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PIP: float the video as a small overlay on top of the board/materials.</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Solo: hide others and see only your own screen larger.</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Free: drag the title bar to move it, drag the bottom-right corner to resize freely.</a:t>
            </a:r>
          </a:p>
        </p:txBody>
      </p:sp>
      <p:sp>
        <p:nvSpPr>
          <p:cNvPr id="14" name="Rounded Rectangle 13"/>
          <p:cNvSpPr/>
          <p:nvPr/>
        </p:nvSpPr>
        <p:spPr>
          <a:xfrm>
            <a:off x="457200" y="4782312"/>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Make the video small (1/4) when reading materials, large (Full) when presenting.</a:t>
            </a:r>
          </a:p>
          <a:p>
            <a:pPr>
              <a:lnSpc>
                <a:spcPct val="115000"/>
              </a:lnSpc>
              <a:spcAft>
                <a:spcPts val="200"/>
              </a:spcAft>
            </a:pPr>
            <a:r>
              <a:rPr sz="900" b="1">
                <a:solidFill>
                  <a:srgbClr val="7C3AED"/>
                </a:solidFill>
                <a:latin typeface="Malgun Gothic"/>
              </a:rPr>
              <a:t>● </a:t>
            </a:r>
            <a:r>
              <a:rPr sz="1100">
                <a:solidFill>
                  <a:srgbClr val="334155"/>
                </a:solidFill>
                <a:latin typeface="Malgun Gothic"/>
              </a:rPr>
              <a:t>📌 PIP is great when you want to see the textbook and faces at once.</a:t>
            </a:r>
          </a:p>
        </p:txBody>
      </p:sp>
      <p:sp>
        <p:nvSpPr>
          <p:cNvPr id="17" name="Rounded Rectangle 16"/>
          <p:cNvSpPr/>
          <p:nvPr/>
        </p:nvSpPr>
        <p:spPr>
          <a:xfrm>
            <a:off x="457200" y="5897879"/>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On a small screen, shrink the video to 1/4 and view the textbook large.</a:t>
            </a:r>
          </a:p>
        </p:txBody>
      </p:sp>
      <p:sp>
        <p:nvSpPr>
          <p:cNvPr id="19" name="Rectangle 18"/>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layout_full.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11</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Praise Points During Class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Teacher gives → +1P in student's basket</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When you do well, the teacher can give praise points on the spot. When the teacher taps the 🌟 'Praise' star button on your video, that student instantly gets +1P, and it piles up in real time in the 🧺 point basket on the student's screen.</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Teacher: tap the 🌟 'Praise' button at the top-left of a student's video → that student gets +1P. (the count builds up next to the star)</a:t>
            </a:r>
          </a:p>
          <a:p>
            <a:pPr>
              <a:lnSpc>
                <a:spcPct val="115000"/>
              </a:lnSpc>
              <a:spcAft>
                <a:spcPts val="600"/>
              </a:spcAft>
            </a:pPr>
            <a:r>
              <a:rPr sz="1050" b="1">
                <a:solidFill>
                  <a:srgbClr val="7C3AED"/>
                </a:solidFill>
                <a:latin typeface="Malgun Gothic"/>
              </a:rPr>
              <a:t>● </a:t>
            </a:r>
            <a:r>
              <a:rPr sz="1250">
                <a:solidFill>
                  <a:srgbClr val="334155"/>
                </a:solidFill>
                <a:latin typeface="Malgun Gothic"/>
              </a:rPr>
              <a:t>With several students, you can also pick a student from the 'Give Praise' bar.</a:t>
            </a:r>
          </a:p>
          <a:p>
            <a:pPr>
              <a:lnSpc>
                <a:spcPct val="115000"/>
              </a:lnSpc>
              <a:spcAft>
                <a:spcPts val="600"/>
              </a:spcAft>
            </a:pPr>
            <a:r>
              <a:rPr sz="1050" b="1">
                <a:solidFill>
                  <a:srgbClr val="7C3AED"/>
                </a:solidFill>
                <a:latin typeface="Malgun Gothic"/>
              </a:rPr>
              <a:t>● </a:t>
            </a:r>
            <a:r>
              <a:rPr sz="1250">
                <a:solidFill>
                  <a:srgbClr val="334155"/>
                </a:solidFill>
                <a:latin typeface="Malgun Gothic"/>
              </a:rPr>
              <a:t>Student: +1P flies into the 🧺 point basket at the top-left of your screen in real time.</a:t>
            </a:r>
          </a:p>
          <a:p>
            <a:pPr>
              <a:lnSpc>
                <a:spcPct val="115000"/>
              </a:lnSpc>
              <a:spcAft>
                <a:spcPts val="600"/>
              </a:spcAft>
            </a:pPr>
            <a:r>
              <a:rPr sz="1050" b="1">
                <a:solidFill>
                  <a:srgbClr val="7C3AED"/>
                </a:solidFill>
                <a:latin typeface="Malgun Gothic"/>
              </a:rPr>
              <a:t>● </a:t>
            </a:r>
            <a:r>
              <a:rPr sz="1250">
                <a:solidFill>
                  <a:srgbClr val="334155"/>
                </a:solidFill>
                <a:latin typeface="Malgun Gothic"/>
              </a:rPr>
              <a:t>When class ends, the student leaves a star rating to get an extra +10P.</a:t>
            </a:r>
          </a:p>
          <a:p>
            <a:pPr>
              <a:lnSpc>
                <a:spcPct val="115000"/>
              </a:lnSpc>
              <a:spcAft>
                <a:spcPts val="600"/>
              </a:spcAft>
            </a:pPr>
            <a:r>
              <a:rPr sz="1050" b="1">
                <a:solidFill>
                  <a:srgbClr val="7C3AED"/>
                </a:solidFill>
                <a:latin typeface="Malgun Gothic"/>
              </a:rPr>
              <a:t>● </a:t>
            </a:r>
            <a:r>
              <a:rPr sz="1250">
                <a:solidFill>
                  <a:srgbClr val="334155"/>
                </a:solidFill>
                <a:latin typeface="Malgun Gothic"/>
              </a:rPr>
              <a:t>Collected points are spent as rewards in the point shop, roulette, etc.</a:t>
            </a:r>
          </a:p>
        </p:txBody>
      </p:sp>
      <p:sp>
        <p:nvSpPr>
          <p:cNvPr id="14" name="Rounded Rectangle 13"/>
          <p:cNvSpPr/>
          <p:nvPr/>
        </p:nvSpPr>
        <p:spPr>
          <a:xfrm>
            <a:off x="457200" y="5166360"/>
            <a:ext cx="5669280" cy="1316736"/>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21224"/>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5495544"/>
            <a:ext cx="5394960" cy="950976"/>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The more praise you get, the faster points pile up.</a:t>
            </a:r>
          </a:p>
          <a:p>
            <a:pPr>
              <a:lnSpc>
                <a:spcPct val="115000"/>
              </a:lnSpc>
              <a:spcAft>
                <a:spcPts val="200"/>
              </a:spcAft>
            </a:pPr>
            <a:r>
              <a:rPr sz="900" b="1">
                <a:solidFill>
                  <a:srgbClr val="7C3AED"/>
                </a:solidFill>
                <a:latin typeface="Malgun Gothic"/>
              </a:rPr>
              <a:t>● </a:t>
            </a:r>
            <a:r>
              <a:rPr sz="1100">
                <a:solidFill>
                  <a:srgbClr val="334155"/>
                </a:solidFill>
                <a:latin typeface="Malgun Gothic"/>
              </a:rPr>
              <a:t>The praise star has an anti-spam cooldown, so it may briefly turn gray.</a:t>
            </a:r>
          </a:p>
          <a:p>
            <a:pPr>
              <a:lnSpc>
                <a:spcPct val="115000"/>
              </a:lnSpc>
              <a:spcAft>
                <a:spcPts val="200"/>
              </a:spcAft>
            </a:pPr>
            <a:r>
              <a:rPr sz="900" b="1">
                <a:solidFill>
                  <a:srgbClr val="7C3AED"/>
                </a:solidFill>
                <a:latin typeface="Malgun Gothic"/>
              </a:rPr>
              <a:t>● </a:t>
            </a:r>
            <a:r>
              <a:rPr sz="1100">
                <a:solidFill>
                  <a:srgbClr val="334155"/>
                </a:solidFill>
                <a:latin typeface="Malgun Gothic"/>
              </a:rPr>
              <a:t>The basket shows points earned this class; your total P (top bar) is the running sum.</a:t>
            </a:r>
          </a:p>
        </p:txBody>
      </p:sp>
      <p:sp>
        <p:nvSpPr>
          <p:cNvPr id="17" name="Rounded Rectangle 16"/>
          <p:cNvSpPr/>
          <p:nvPr/>
        </p:nvSpPr>
        <p:spPr>
          <a:xfrm>
            <a:off x="457200" y="6592824"/>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638544"/>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Praise points are given by the teacher — students can't add them by themselves.</a:t>
            </a:r>
          </a:p>
        </p:txBody>
      </p:sp>
      <p:sp>
        <p:nvSpPr>
          <p:cNvPr id="19" name="Rounded Rectangle 18"/>
          <p:cNvSpPr/>
          <p:nvPr/>
        </p:nvSpPr>
        <p:spPr>
          <a:xfrm>
            <a:off x="457200" y="7324344"/>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7370064"/>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Teachers: praise 🌟 the moment a student does well — instant rewards motivate best.</a:t>
            </a:r>
          </a:p>
        </p:txBody>
      </p:sp>
      <p:sp>
        <p:nvSpPr>
          <p:cNvPr id="21" name="Rectangle 20"/>
          <p:cNvSpPr/>
          <p:nvPr/>
        </p:nvSpPr>
        <p:spPr>
          <a:xfrm>
            <a:off x="6300216" y="3266070"/>
            <a:ext cx="5596128" cy="169745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lass_praise.jpg"/>
          <p:cNvPicPr>
            <a:picLocks noChangeAspect="1"/>
          </p:cNvPicPr>
          <p:nvPr/>
        </p:nvPicPr>
        <p:blipFill>
          <a:blip r:embed="rId2"/>
          <a:stretch>
            <a:fillRect/>
          </a:stretch>
        </p:blipFill>
        <p:spPr>
          <a:xfrm>
            <a:off x="6355080" y="3320934"/>
            <a:ext cx="5486400" cy="158773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12</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Bottom Dock &amp; Praise Basket</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Camera · screen share · chat · leave · praise</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The control dock at the bottom-center holds the buttons you use most during class. Let's also look at the small 🧺 praise basket at the top-left.</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 Settings: pick camera/mic devices and check their status.</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Camera / 🎤 Mic: turn your face and sound on/off.</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Screen Share: show your computer screen to the other person.</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Chat: talk in text (great for words and links).</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Native: call the native-speaker helper / interpreter feature.</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Leave: end the lesson and exit the room.</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Praise Basket (top-left): the praise (stars/stickers) you receive during class collects here.</a:t>
            </a:r>
          </a:p>
        </p:txBody>
      </p:sp>
      <p:sp>
        <p:nvSpPr>
          <p:cNvPr id="14" name="Rounded Rectangle 13"/>
          <p:cNvSpPr/>
          <p:nvPr/>
        </p:nvSpPr>
        <p:spPr>
          <a:xfrm>
            <a:off x="457200" y="5934456"/>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989320"/>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6263640"/>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Before leaving (🚪), make sure you saved the board / notes.</a:t>
            </a:r>
          </a:p>
          <a:p>
            <a:pPr>
              <a:lnSpc>
                <a:spcPct val="115000"/>
              </a:lnSpc>
              <a:spcAft>
                <a:spcPts val="200"/>
              </a:spcAft>
            </a:pPr>
            <a:r>
              <a:rPr sz="900" b="1">
                <a:solidFill>
                  <a:srgbClr val="7C3AED"/>
                </a:solidFill>
                <a:latin typeface="Malgun Gothic"/>
              </a:rPr>
              <a:t>● </a:t>
            </a:r>
            <a:r>
              <a:rPr sz="1100">
                <a:solidFill>
                  <a:srgbClr val="334155"/>
                </a:solidFill>
                <a:latin typeface="Malgun Gothic"/>
              </a:rPr>
              <a:t>No sound? Check the mic/speaker devices in ⚙️ Settings.</a:t>
            </a:r>
          </a:p>
        </p:txBody>
      </p:sp>
      <p:sp>
        <p:nvSpPr>
          <p:cNvPr id="17" name="Rounded Rectangle 16"/>
          <p:cNvSpPr/>
          <p:nvPr/>
        </p:nvSpPr>
        <p:spPr>
          <a:xfrm>
            <a:off x="457200" y="7050024"/>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7095744"/>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Screen share asks the browser which window to share — pick the screen and allow it.</a:t>
            </a:r>
          </a:p>
        </p:txBody>
      </p:sp>
      <p:sp>
        <p:nvSpPr>
          <p:cNvPr id="19" name="Rounded Rectangle 18"/>
          <p:cNvSpPr/>
          <p:nvPr/>
        </p:nvSpPr>
        <p:spPr>
          <a:xfrm>
            <a:off x="457200" y="7781544"/>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7827264"/>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When your praise basket fills up, it means you're doing great!</a:t>
            </a:r>
          </a:p>
        </p:txBody>
      </p:sp>
      <p:sp>
        <p:nvSpPr>
          <p:cNvPr id="21" name="Rectangle 20"/>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room_base.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13</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How to Join In During Class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Speak, ask, write together</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A video lesson isn't a lesson you just watch — it's one you do together. Don't only listen; the more you join in with the ways below, the faster your English grows.</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When the teacher asks, turn on your 🎤 mic and answer out loud. (turn it on only when speaking to cut noise)</a:t>
            </a:r>
          </a:p>
          <a:p>
            <a:pPr>
              <a:lnSpc>
                <a:spcPct val="115000"/>
              </a:lnSpc>
              <a:spcAft>
                <a:spcPts val="600"/>
              </a:spcAft>
            </a:pPr>
            <a:r>
              <a:rPr sz="1050" b="1">
                <a:solidFill>
                  <a:srgbClr val="7C3AED"/>
                </a:solidFill>
                <a:latin typeface="Malgun Gothic"/>
              </a:rPr>
              <a:t>● </a:t>
            </a:r>
            <a:r>
              <a:rPr sz="1250">
                <a:solidFill>
                  <a:srgbClr val="334155"/>
                </a:solidFill>
                <a:latin typeface="Malgun Gothic"/>
              </a:rPr>
              <a:t>If you can't hear or you're curious, ask in 💬 chat. Check unknown words in text too.</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Write on the board together — with the teacher's OK, use the pen to write or draw answers.</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Turn textbook pages together and follow the page you're on.</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Keep your camera on — the teacher helps more when they can see your face.</a:t>
            </a:r>
          </a:p>
        </p:txBody>
      </p:sp>
      <p:sp>
        <p:nvSpPr>
          <p:cNvPr id="14" name="Rounded Rectangle 13"/>
          <p:cNvSpPr/>
          <p:nvPr/>
        </p:nvSpPr>
        <p:spPr>
          <a:xfrm>
            <a:off x="457200" y="5166360"/>
            <a:ext cx="5669280" cy="1316736"/>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21224"/>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5495544"/>
            <a:ext cx="5394960" cy="950976"/>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The more you speak, the better. Mistakes are fine!</a:t>
            </a:r>
          </a:p>
          <a:p>
            <a:pPr>
              <a:lnSpc>
                <a:spcPct val="115000"/>
              </a:lnSpc>
              <a:spcAft>
                <a:spcPts val="200"/>
              </a:spcAft>
            </a:pPr>
            <a:r>
              <a:rPr sz="900" b="1">
                <a:solidFill>
                  <a:srgbClr val="7C3AED"/>
                </a:solidFill>
                <a:latin typeface="Malgun Gothic"/>
              </a:rPr>
              <a:t>● </a:t>
            </a:r>
            <a:r>
              <a:rPr sz="1100">
                <a:solidFill>
                  <a:srgbClr val="334155"/>
                </a:solidFill>
                <a:latin typeface="Malgun Gothic"/>
              </a:rPr>
              <a:t>Do well and the teacher gives you 🌟 praise points (see earlier page).</a:t>
            </a:r>
          </a:p>
          <a:p>
            <a:pPr>
              <a:lnSpc>
                <a:spcPct val="115000"/>
              </a:lnSpc>
              <a:spcAft>
                <a:spcPts val="200"/>
              </a:spcAft>
            </a:pPr>
            <a:r>
              <a:rPr sz="900" b="1">
                <a:solidFill>
                  <a:srgbClr val="7C3AED"/>
                </a:solidFill>
                <a:latin typeface="Malgun Gothic"/>
              </a:rPr>
              <a:t>● </a:t>
            </a:r>
            <a:r>
              <a:rPr sz="1100">
                <a:solidFill>
                  <a:srgbClr val="334155"/>
                </a:solidFill>
                <a:latin typeface="Malgun Gothic"/>
              </a:rPr>
              <a:t>Earphones in a quiet place make the sound clear.</a:t>
            </a:r>
          </a:p>
        </p:txBody>
      </p:sp>
      <p:sp>
        <p:nvSpPr>
          <p:cNvPr id="17" name="Rounded Rectangle 16"/>
          <p:cNvSpPr/>
          <p:nvPr/>
        </p:nvSpPr>
        <p:spPr>
          <a:xfrm>
            <a:off x="457200" y="6592824"/>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638544"/>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Memorize phrases like 'One more time, please' to make class easier.</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lass_video.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14</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After Class — Review &amp; Rating</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Review quiz &amp; rating for +10P</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When class ends, tidy up what you learned right away. A 'Take the review quiz?' popup appears, and leaving a star rating earns you points too.</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When class ends, a 'Take the review quiz? Yes / No' popup appears.</a:t>
            </a:r>
          </a:p>
          <a:p>
            <a:pPr>
              <a:lnSpc>
                <a:spcPct val="115000"/>
              </a:lnSpc>
              <a:spcAft>
                <a:spcPts val="600"/>
              </a:spcAft>
            </a:pPr>
            <a:r>
              <a:rPr sz="1050" b="1">
                <a:solidFill>
                  <a:srgbClr val="7C3AED"/>
                </a:solidFill>
                <a:latin typeface="Malgun Gothic"/>
              </a:rPr>
              <a:t>● </a:t>
            </a:r>
            <a:r>
              <a:rPr sz="1250">
                <a:solidFill>
                  <a:srgbClr val="334155"/>
                </a:solidFill>
                <a:latin typeface="Malgun Gothic"/>
              </a:rPr>
              <a:t>Press 'Yes' and a review quiz matched to today's class appears automatically.</a:t>
            </a:r>
          </a:p>
          <a:p>
            <a:pPr>
              <a:lnSpc>
                <a:spcPct val="115000"/>
              </a:lnSpc>
              <a:spcAft>
                <a:spcPts val="600"/>
              </a:spcAft>
            </a:pPr>
            <a:r>
              <a:rPr sz="1050" b="1">
                <a:solidFill>
                  <a:srgbClr val="7C3AED"/>
                </a:solidFill>
                <a:latin typeface="Malgun Gothic"/>
              </a:rPr>
              <a:t>● </a:t>
            </a:r>
            <a:r>
              <a:rPr sz="1250">
                <a:solidFill>
                  <a:srgbClr val="334155"/>
                </a:solidFill>
                <a:latin typeface="Malgun Gothic"/>
              </a:rPr>
              <a:t>Leave a star rating (How was today's class? 7 stars) to get +10P.</a:t>
            </a:r>
          </a:p>
          <a:p>
            <a:pPr>
              <a:lnSpc>
                <a:spcPct val="115000"/>
              </a:lnSpc>
              <a:spcAft>
                <a:spcPts val="600"/>
              </a:spcAft>
            </a:pPr>
            <a:r>
              <a:rPr sz="1050" b="1">
                <a:solidFill>
                  <a:srgbClr val="7C3AED"/>
                </a:solidFill>
                <a:latin typeface="Malgun Gothic"/>
              </a:rPr>
              <a:t>● </a:t>
            </a:r>
            <a:r>
              <a:rPr sz="1250">
                <a:solidFill>
                  <a:srgbClr val="334155"/>
                </a:solidFill>
                <a:latin typeface="Malgun Gothic"/>
              </a:rPr>
              <a:t>Then review today's words once more with a learning game to make it perfect.</a:t>
            </a:r>
          </a:p>
        </p:txBody>
      </p:sp>
      <p:sp>
        <p:nvSpPr>
          <p:cNvPr id="14" name="Rounded Rectangle 13"/>
          <p:cNvSpPr/>
          <p:nvPr/>
        </p:nvSpPr>
        <p:spPr>
          <a:xfrm>
            <a:off x="457200" y="4782312"/>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Reviewing right after class stays in memory longest.</a:t>
            </a:r>
          </a:p>
          <a:p>
            <a:pPr>
              <a:lnSpc>
                <a:spcPct val="115000"/>
              </a:lnSpc>
              <a:spcAft>
                <a:spcPts val="200"/>
              </a:spcAft>
            </a:pPr>
            <a:r>
              <a:rPr sz="900" b="1">
                <a:solidFill>
                  <a:srgbClr val="7C3AED"/>
                </a:solidFill>
                <a:latin typeface="Malgun Gothic"/>
              </a:rPr>
              <a:t>● </a:t>
            </a:r>
            <a:r>
              <a:rPr sz="1100">
                <a:solidFill>
                  <a:srgbClr val="334155"/>
                </a:solidFill>
                <a:latin typeface="Malgun Gothic"/>
              </a:rPr>
              <a:t>The rating helps your teacher, and you get points too.</a:t>
            </a:r>
          </a:p>
        </p:txBody>
      </p:sp>
      <p:sp>
        <p:nvSpPr>
          <p:cNvPr id="17" name="Rounded Rectangle 16"/>
          <p:cNvSpPr/>
          <p:nvPr/>
        </p:nvSpPr>
        <p:spPr>
          <a:xfrm>
            <a:off x="457200" y="5897879"/>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You must leave a star rating to exit the class (it's OK to be honest).</a:t>
            </a:r>
          </a:p>
        </p:txBody>
      </p:sp>
      <p:sp>
        <p:nvSpPr>
          <p:cNvPr id="19" name="Rounded Rectangle 18"/>
          <p:cNvSpPr/>
          <p:nvPr/>
        </p:nvSpPr>
        <p:spPr>
          <a:xfrm>
            <a:off x="457200" y="6629399"/>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67511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Review quiz → game → vocabulary, in that order, makes today's lesson truly yours.</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student_reviewquiz.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15</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Pre-class Device Check</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Check camera, mic and internet first</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This screen checks your camera, mic, network and lighting before class. A score and traffic-light signals tell you right away whether things are good, preventing drop-outs mid-lesson.</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The check screen tests camera, mic, network and lighting all at once.</a:t>
            </a:r>
          </a:p>
          <a:p>
            <a:pPr>
              <a:lnSpc>
                <a:spcPct val="115000"/>
              </a:lnSpc>
              <a:spcAft>
                <a:spcPts val="600"/>
              </a:spcAft>
            </a:pPr>
            <a:r>
              <a:rPr sz="1050" b="1">
                <a:solidFill>
                  <a:srgbClr val="7C3AED"/>
                </a:solidFill>
                <a:latin typeface="Malgun Gothic"/>
              </a:rPr>
              <a:t>● </a:t>
            </a:r>
            <a:r>
              <a:rPr sz="1250">
                <a:solidFill>
                  <a:srgbClr val="334155"/>
                </a:solidFill>
                <a:latin typeface="Malgun Gothic"/>
              </a:rPr>
              <a:t>Read the overall score and each item's signal (green/yellow/red).</a:t>
            </a:r>
          </a:p>
          <a:p>
            <a:pPr>
              <a:lnSpc>
                <a:spcPct val="115000"/>
              </a:lnSpc>
              <a:spcAft>
                <a:spcPts val="600"/>
              </a:spcAft>
            </a:pPr>
            <a:r>
              <a:rPr sz="1050" b="1">
                <a:solidFill>
                  <a:srgbClr val="7C3AED"/>
                </a:solidFill>
                <a:latin typeface="Malgun Gothic"/>
              </a:rPr>
              <a:t>● </a:t>
            </a:r>
            <a:r>
              <a:rPr sz="1250">
                <a:solidFill>
                  <a:srgbClr val="334155"/>
                </a:solidFill>
                <a:latin typeface="Malgun Gothic"/>
              </a:rPr>
              <a:t>If red appears, follow the tips to turn on a light or move seats and check again.</a:t>
            </a:r>
          </a:p>
        </p:txBody>
      </p:sp>
      <p:sp>
        <p:nvSpPr>
          <p:cNvPr id="14" name="Rounded Rectangle 13"/>
          <p:cNvSpPr/>
          <p:nvPr/>
        </p:nvSpPr>
        <p:spPr>
          <a:xfrm>
            <a:off x="457200" y="4398264"/>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When your face is well-lit, the teacher can read your expression and help more.</a:t>
            </a:r>
          </a:p>
          <a:p>
            <a:pPr>
              <a:lnSpc>
                <a:spcPct val="115000"/>
              </a:lnSpc>
              <a:spcAft>
                <a:spcPts val="200"/>
              </a:spcAft>
            </a:pPr>
            <a:r>
              <a:rPr sz="900" b="1">
                <a:solidFill>
                  <a:srgbClr val="7C3AED"/>
                </a:solidFill>
                <a:latin typeface="Malgun Gothic"/>
              </a:rPr>
              <a:t>● </a:t>
            </a:r>
            <a:r>
              <a:rPr sz="1100">
                <a:solidFill>
                  <a:srgbClr val="334155"/>
                </a:solidFill>
                <a:latin typeface="Malgun Gothic"/>
              </a:rPr>
              <a:t>If Wi-Fi is weak, moving closer to the router helps.</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Do the check 5 minutes before class — fixing issues early keeps the lesson smooth.</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teacher_precheck.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16</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Warm Up with AI</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A 3-minute warm-up before class</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Before class, an AI friend asks English questions tied to today's textbook. Answering casually loosens you up so the first 5 minutes of class feel much easier.</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Before class, the AI friend greets you in English — reply casually.</a:t>
            </a:r>
          </a:p>
          <a:p>
            <a:pPr>
              <a:lnSpc>
                <a:spcPct val="115000"/>
              </a:lnSpc>
              <a:spcAft>
                <a:spcPts val="600"/>
              </a:spcAft>
            </a:pPr>
            <a:r>
              <a:rPr sz="1050" b="1">
                <a:solidFill>
                  <a:srgbClr val="7C3AED"/>
                </a:solidFill>
                <a:latin typeface="Malgun Gothic"/>
              </a:rPr>
              <a:t>● </a:t>
            </a:r>
            <a:r>
              <a:rPr sz="1250">
                <a:solidFill>
                  <a:srgbClr val="334155"/>
                </a:solidFill>
                <a:latin typeface="Malgun Gothic"/>
              </a:rPr>
              <a:t>Questions linked to today's textbook appear so you get a feel in advance.</a:t>
            </a:r>
          </a:p>
          <a:p>
            <a:pPr>
              <a:lnSpc>
                <a:spcPct val="115000"/>
              </a:lnSpc>
              <a:spcAft>
                <a:spcPts val="600"/>
              </a:spcAft>
            </a:pPr>
            <a:r>
              <a:rPr sz="1050" b="1">
                <a:solidFill>
                  <a:srgbClr val="7C3AED"/>
                </a:solidFill>
                <a:latin typeface="Malgun Gothic"/>
              </a:rPr>
              <a:t>● </a:t>
            </a:r>
            <a:r>
              <a:rPr sz="1250">
                <a:solidFill>
                  <a:srgbClr val="334155"/>
                </a:solidFill>
                <a:latin typeface="Malgun Gothic"/>
              </a:rPr>
              <a:t>Use the speak/listen buttons to answer by voice or type.</a:t>
            </a:r>
          </a:p>
        </p:txBody>
      </p:sp>
      <p:sp>
        <p:nvSpPr>
          <p:cNvPr id="14" name="Rounded Rectangle 13"/>
          <p:cNvSpPr/>
          <p:nvPr/>
        </p:nvSpPr>
        <p:spPr>
          <a:xfrm>
            <a:off x="457200" y="4398264"/>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Your teacher can see your warm-up, so class flows naturally from it.</a:t>
            </a:r>
          </a:p>
          <a:p>
            <a:pPr>
              <a:lnSpc>
                <a:spcPct val="115000"/>
              </a:lnSpc>
              <a:spcAft>
                <a:spcPts val="200"/>
              </a:spcAft>
            </a:pPr>
            <a:r>
              <a:rPr sz="900" b="1">
                <a:solidFill>
                  <a:srgbClr val="7C3AED"/>
                </a:solidFill>
                <a:latin typeface="Malgun Gothic"/>
              </a:rPr>
              <a:t>● </a:t>
            </a:r>
            <a:r>
              <a:rPr sz="1100">
                <a:solidFill>
                  <a:srgbClr val="334155"/>
                </a:solidFill>
                <a:latin typeface="Malgun Gothic"/>
              </a:rPr>
              <a:t>Mistakes are fine — it's just a warm-up, so relax!</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Make the warm-up a habit before every class and you'll start speaking sooner.</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warmup.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17</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AI Pronunciation Coach</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Fixes your pronunciation instantly</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Read a sentence at your level, record it with the mic, and the AI tells you a pronunciation score and what to fix. You can also replay the native audio and correct yourself.</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Pick a level (Phonics, BTS, SIU, etc.) to get sentences at your level.</a:t>
            </a:r>
          </a:p>
          <a:p>
            <a:pPr>
              <a:lnSpc>
                <a:spcPct val="115000"/>
              </a:lnSpc>
              <a:spcAft>
                <a:spcPts val="600"/>
              </a:spcAft>
            </a:pPr>
            <a:r>
              <a:rPr sz="1050" b="1">
                <a:solidFill>
                  <a:srgbClr val="7C3AED"/>
                </a:solidFill>
                <a:latin typeface="Malgun Gothic"/>
              </a:rPr>
              <a:t>● </a:t>
            </a:r>
            <a:r>
              <a:rPr sz="1250">
                <a:solidFill>
                  <a:srgbClr val="334155"/>
                </a:solidFill>
                <a:latin typeface="Malgun Gothic"/>
              </a:rPr>
              <a:t>Read the sentence on screen and press the red mic button to record.</a:t>
            </a:r>
          </a:p>
          <a:p>
            <a:pPr>
              <a:lnSpc>
                <a:spcPct val="115000"/>
              </a:lnSpc>
              <a:spcAft>
                <a:spcPts val="600"/>
              </a:spcAft>
            </a:pPr>
            <a:r>
              <a:rPr sz="1050" b="1">
                <a:solidFill>
                  <a:srgbClr val="7C3AED"/>
                </a:solidFill>
                <a:latin typeface="Malgun Gothic"/>
              </a:rPr>
              <a:t>● </a:t>
            </a:r>
            <a:r>
              <a:rPr sz="1250">
                <a:solidFill>
                  <a:srgbClr val="334155"/>
                </a:solidFill>
                <a:latin typeface="Malgun Gothic"/>
              </a:rPr>
              <a:t>The AI shows your pronunciation score and what to fix.</a:t>
            </a:r>
          </a:p>
          <a:p>
            <a:pPr>
              <a:lnSpc>
                <a:spcPct val="115000"/>
              </a:lnSpc>
              <a:spcAft>
                <a:spcPts val="600"/>
              </a:spcAft>
            </a:pPr>
            <a:r>
              <a:rPr sz="1050" b="1">
                <a:solidFill>
                  <a:srgbClr val="7C3AED"/>
                </a:solidFill>
                <a:latin typeface="Malgun Gothic"/>
              </a:rPr>
              <a:t>● </a:t>
            </a:r>
            <a:r>
              <a:rPr sz="1250">
                <a:solidFill>
                  <a:srgbClr val="334155"/>
                </a:solidFill>
                <a:latin typeface="Malgun Gothic"/>
              </a:rPr>
              <a:t>Use 'replay' to hear the native audio and practice once more.</a:t>
            </a:r>
          </a:p>
        </p:txBody>
      </p:sp>
      <p:sp>
        <p:nvSpPr>
          <p:cNvPr id="14" name="Rounded Rectangle 13"/>
          <p:cNvSpPr/>
          <p:nvPr/>
        </p:nvSpPr>
        <p:spPr>
          <a:xfrm>
            <a:off x="457200" y="4782312"/>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Start with short sentences, clearly — your score rises faster.</a:t>
            </a:r>
          </a:p>
          <a:p>
            <a:pPr>
              <a:lnSpc>
                <a:spcPct val="115000"/>
              </a:lnSpc>
              <a:spcAft>
                <a:spcPts val="200"/>
              </a:spcAft>
            </a:pPr>
            <a:r>
              <a:rPr sz="900" b="1">
                <a:solidFill>
                  <a:srgbClr val="7C3AED"/>
                </a:solidFill>
                <a:latin typeface="Malgun Gothic"/>
              </a:rPr>
              <a:t>● </a:t>
            </a:r>
            <a:r>
              <a:rPr sz="1100">
                <a:solidFill>
                  <a:srgbClr val="334155"/>
                </a:solidFill>
                <a:latin typeface="Malgun Gothic"/>
              </a:rPr>
              <a:t>Repeating sentences from class here makes them stick.</a:t>
            </a:r>
          </a:p>
        </p:txBody>
      </p:sp>
      <p:sp>
        <p:nvSpPr>
          <p:cNvPr id="17" name="Rounded Rectangle 16"/>
          <p:cNvSpPr/>
          <p:nvPr/>
        </p:nvSpPr>
        <p:spPr>
          <a:xfrm>
            <a:off x="457200" y="5897879"/>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Five sentences a day and your pronunciation noticeably improves.</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speechcoach.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18</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Take a Level Test</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Find out your English level</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A test that shows your current English level. The result feeds into your curriculum, so you avoid lessons that are too easy or too hard.</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On the level test request screen, pick a method (AI/teacher) and a date/time.</a:t>
            </a:r>
          </a:p>
          <a:p>
            <a:pPr>
              <a:lnSpc>
                <a:spcPct val="115000"/>
              </a:lnSpc>
              <a:spcAft>
                <a:spcPts val="600"/>
              </a:spcAft>
            </a:pPr>
            <a:r>
              <a:rPr sz="1050" b="1">
                <a:solidFill>
                  <a:srgbClr val="7C3AED"/>
                </a:solidFill>
                <a:latin typeface="Malgun Gothic"/>
              </a:rPr>
              <a:t>● </a:t>
            </a:r>
            <a:r>
              <a:rPr sz="1250">
                <a:solidFill>
                  <a:srgbClr val="334155"/>
                </a:solidFill>
                <a:latin typeface="Malgun Gothic"/>
              </a:rPr>
              <a:t>Follow the guide and answer the speaking and listening questions.</a:t>
            </a:r>
          </a:p>
          <a:p>
            <a:pPr>
              <a:lnSpc>
                <a:spcPct val="115000"/>
              </a:lnSpc>
              <a:spcAft>
                <a:spcPts val="600"/>
              </a:spcAft>
            </a:pPr>
            <a:r>
              <a:rPr sz="1050" b="1">
                <a:solidFill>
                  <a:srgbClr val="7C3AED"/>
                </a:solidFill>
                <a:latin typeface="Malgun Gothic"/>
              </a:rPr>
              <a:t>● </a:t>
            </a:r>
            <a:r>
              <a:rPr sz="1250">
                <a:solidFill>
                  <a:srgbClr val="334155"/>
                </a:solidFill>
                <a:latin typeface="Malgun Gothic"/>
              </a:rPr>
              <a:t>The result is reflected in your curriculum (my level).</a:t>
            </a:r>
          </a:p>
        </p:txBody>
      </p:sp>
      <p:sp>
        <p:nvSpPr>
          <p:cNvPr id="14" name="Rounded Rectangle 13"/>
          <p:cNvSpPr/>
          <p:nvPr/>
        </p:nvSpPr>
        <p:spPr>
          <a:xfrm>
            <a:off x="457200" y="4398264"/>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We recommend taking it once when you first start.</a:t>
            </a:r>
          </a:p>
          <a:p>
            <a:pPr>
              <a:lnSpc>
                <a:spcPct val="115000"/>
              </a:lnSpc>
              <a:spcAft>
                <a:spcPts val="200"/>
              </a:spcAft>
            </a:pPr>
            <a:r>
              <a:rPr sz="900" b="1">
                <a:solidFill>
                  <a:srgbClr val="7C3AED"/>
                </a:solidFill>
                <a:latin typeface="Malgun Gothic"/>
              </a:rPr>
              <a:t>● </a:t>
            </a:r>
            <a:r>
              <a:rPr sz="1100">
                <a:solidFill>
                  <a:srgbClr val="334155"/>
                </a:solidFill>
                <a:latin typeface="Malgun Gothic"/>
              </a:rPr>
              <a:t>Retake it periodically to see how much you've improved.</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Relax — the goal is just to know your level accurately.</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leveltest.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19</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My Level · Curriculum</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See how far you've come</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Levels 1–10 show where you are now and what you'll learn next. As you take lessons and play games, you move up to the next level.</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Check which of Levels 1–10 you're at now.</a:t>
            </a:r>
          </a:p>
          <a:p>
            <a:pPr>
              <a:lnSpc>
                <a:spcPct val="115000"/>
              </a:lnSpc>
              <a:spcAft>
                <a:spcPts val="600"/>
              </a:spcAft>
            </a:pPr>
            <a:r>
              <a:rPr sz="1050" b="1">
                <a:solidFill>
                  <a:srgbClr val="7C3AED"/>
                </a:solidFill>
                <a:latin typeface="Malgun Gothic"/>
              </a:rPr>
              <a:t>● </a:t>
            </a:r>
            <a:r>
              <a:rPr sz="1250">
                <a:solidFill>
                  <a:srgbClr val="334155"/>
                </a:solidFill>
                <a:latin typeface="Malgun Gothic"/>
              </a:rPr>
              <a:t>Tap a level to see what you learn and the goals.</a:t>
            </a:r>
          </a:p>
          <a:p>
            <a:pPr>
              <a:lnSpc>
                <a:spcPct val="115000"/>
              </a:lnSpc>
              <a:spcAft>
                <a:spcPts val="600"/>
              </a:spcAft>
            </a:pPr>
            <a:r>
              <a:rPr sz="1050" b="1">
                <a:solidFill>
                  <a:srgbClr val="7C3AED"/>
                </a:solidFill>
                <a:latin typeface="Malgun Gothic"/>
              </a:rPr>
              <a:t>● </a:t>
            </a:r>
            <a:r>
              <a:rPr sz="1250">
                <a:solidFill>
                  <a:srgbClr val="334155"/>
                </a:solidFill>
                <a:latin typeface="Malgun Gothic"/>
              </a:rPr>
              <a:t>Set a target level and keep challenging yourself.</a:t>
            </a:r>
          </a:p>
        </p:txBody>
      </p:sp>
      <p:sp>
        <p:nvSpPr>
          <p:cNvPr id="14" name="Rounded Rectangle 13"/>
          <p:cNvSpPr/>
          <p:nvPr/>
        </p:nvSpPr>
        <p:spPr>
          <a:xfrm>
            <a:off x="457200" y="4398264"/>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As levels rise, the sentences get longer and more practical.</a:t>
            </a:r>
          </a:p>
          <a:p>
            <a:pPr>
              <a:lnSpc>
                <a:spcPct val="115000"/>
              </a:lnSpc>
              <a:spcAft>
                <a:spcPts val="200"/>
              </a:spcAft>
            </a:pPr>
            <a:r>
              <a:rPr sz="900" b="1">
                <a:solidFill>
                  <a:srgbClr val="7C3AED"/>
                </a:solidFill>
                <a:latin typeface="Malgun Gothic"/>
              </a:rPr>
              <a:t>● </a:t>
            </a:r>
            <a:r>
              <a:rPr sz="1100">
                <a:solidFill>
                  <a:srgbClr val="334155"/>
                </a:solidFill>
                <a:latin typeface="Malgun Gothic"/>
              </a:rPr>
              <a:t>Setting a goal with your teacher boosts motivation.</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Knowing your level means games and reviews use the right words for you.</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curriculum.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20</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Learning Games Hub</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Review with 10 games</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The Games menu has 10 games. Today's textbook and level words appear in them, so you review naturally while playing and earn points.</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In Games, tap a game card to start right away.</a:t>
            </a:r>
          </a:p>
          <a:p>
            <a:pPr>
              <a:lnSpc>
                <a:spcPct val="115000"/>
              </a:lnSpc>
              <a:spcAft>
                <a:spcPts val="600"/>
              </a:spcAft>
            </a:pPr>
            <a:r>
              <a:rPr sz="1050" b="1">
                <a:solidFill>
                  <a:srgbClr val="7C3AED"/>
                </a:solidFill>
                <a:latin typeface="Malgun Gothic"/>
              </a:rPr>
              <a:t>● </a:t>
            </a:r>
            <a:r>
              <a:rPr sz="1250">
                <a:solidFill>
                  <a:srgbClr val="334155"/>
                </a:solidFill>
                <a:latin typeface="Malgun Gothic"/>
              </a:rPr>
              <a:t>At the top, choose English/Chinese and the game speed.</a:t>
            </a:r>
          </a:p>
          <a:p>
            <a:pPr>
              <a:lnSpc>
                <a:spcPct val="115000"/>
              </a:lnSpc>
              <a:spcAft>
                <a:spcPts val="600"/>
              </a:spcAft>
            </a:pPr>
            <a:r>
              <a:rPr sz="1050" b="1">
                <a:solidFill>
                  <a:srgbClr val="7C3AED"/>
                </a:solidFill>
                <a:latin typeface="Malgun Gothic"/>
              </a:rPr>
              <a:t>● </a:t>
            </a:r>
            <a:r>
              <a:rPr sz="1250">
                <a:solidFill>
                  <a:srgbClr val="334155"/>
                </a:solidFill>
                <a:latin typeface="Malgun Gothic"/>
              </a:rPr>
              <a:t>Correct answers earn points and keep your learning streak flame going.</a:t>
            </a:r>
          </a:p>
          <a:p>
            <a:pPr>
              <a:lnSpc>
                <a:spcPct val="115000"/>
              </a:lnSpc>
              <a:spcAft>
                <a:spcPts val="600"/>
              </a:spcAft>
            </a:pPr>
            <a:r>
              <a:rPr sz="1050" b="1">
                <a:solidFill>
                  <a:srgbClr val="7C3AED"/>
                </a:solidFill>
                <a:latin typeface="Malgun Gothic"/>
              </a:rPr>
              <a:t>● </a:t>
            </a:r>
            <a:r>
              <a:rPr sz="1250">
                <a:solidFill>
                  <a:srgbClr val="334155"/>
                </a:solidFill>
                <a:latin typeface="Malgun Gothic"/>
              </a:rPr>
              <a:t>Fill 10 correct answers to see your result and highlights.</a:t>
            </a:r>
          </a:p>
        </p:txBody>
      </p:sp>
      <p:sp>
        <p:nvSpPr>
          <p:cNvPr id="14" name="Rounded Rectangle 13"/>
          <p:cNvSpPr/>
          <p:nvPr/>
        </p:nvSpPr>
        <p:spPr>
          <a:xfrm>
            <a:off x="457200" y="4782312"/>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Game words are linked to what you learned today.</a:t>
            </a:r>
          </a:p>
          <a:p>
            <a:pPr>
              <a:lnSpc>
                <a:spcPct val="115000"/>
              </a:lnSpc>
              <a:spcAft>
                <a:spcPts val="200"/>
              </a:spcAft>
            </a:pPr>
            <a:r>
              <a:rPr sz="900" b="1">
                <a:solidFill>
                  <a:srgbClr val="7C3AED"/>
                </a:solidFill>
                <a:latin typeface="Malgun Gothic"/>
              </a:rPr>
              <a:t>● </a:t>
            </a:r>
            <a:r>
              <a:rPr sz="1100">
                <a:solidFill>
                  <a:srgbClr val="334155"/>
                </a:solidFill>
                <a:latin typeface="Malgun Gothic"/>
              </a:rPr>
              <a:t>Games marked 'speaking' score better when you say the answer aloud.</a:t>
            </a:r>
          </a:p>
        </p:txBody>
      </p:sp>
      <p:sp>
        <p:nvSpPr>
          <p:cNvPr id="17" name="Rounded Rectangle 16"/>
          <p:cNvSpPr/>
          <p:nvPr/>
        </p:nvSpPr>
        <p:spPr>
          <a:xfrm>
            <a:off x="457200" y="5897879"/>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Games are review. When class words appear in a game, they stick longer.</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games.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21</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3D Battle</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Quiz duel with a boss!</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A boss-battle game where you attack with a 3D character by answering questions. The more you get right, the stronger you get and the more badges you earn.</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Enter the lesson boss battle and attack by solving questions.</a:t>
            </a:r>
          </a:p>
          <a:p>
            <a:pPr>
              <a:lnSpc>
                <a:spcPct val="115000"/>
              </a:lnSpc>
              <a:spcAft>
                <a:spcPts val="600"/>
              </a:spcAft>
            </a:pPr>
            <a:r>
              <a:rPr sz="1050" b="1">
                <a:solidFill>
                  <a:srgbClr val="7C3AED"/>
                </a:solidFill>
                <a:latin typeface="Malgun Gothic"/>
              </a:rPr>
              <a:t>● </a:t>
            </a:r>
            <a:r>
              <a:rPr sz="1250">
                <a:solidFill>
                  <a:srgbClr val="334155"/>
                </a:solidFill>
                <a:latin typeface="Malgun Gothic"/>
              </a:rPr>
              <a:t>The more correct answers, the stronger you get and the more badges you earn.</a:t>
            </a:r>
          </a:p>
          <a:p>
            <a:pPr>
              <a:lnSpc>
                <a:spcPct val="115000"/>
              </a:lnSpc>
              <a:spcAft>
                <a:spcPts val="600"/>
              </a:spcAft>
            </a:pPr>
            <a:r>
              <a:rPr sz="1050" b="1">
                <a:solidFill>
                  <a:srgbClr val="7C3AED"/>
                </a:solidFill>
                <a:latin typeface="Malgun Gothic"/>
              </a:rPr>
              <a:t>● </a:t>
            </a:r>
            <a:r>
              <a:rPr sz="1250">
                <a:solidFill>
                  <a:srgbClr val="334155"/>
                </a:solidFill>
                <a:latin typeface="Malgun Gothic"/>
              </a:rPr>
              <a:t>Wrong is fine — try again and learn the words.</a:t>
            </a:r>
          </a:p>
        </p:txBody>
      </p:sp>
      <p:sp>
        <p:nvSpPr>
          <p:cNvPr id="14" name="Rounded Rectangle 13"/>
          <p:cNvSpPr/>
          <p:nvPr/>
        </p:nvSpPr>
        <p:spPr>
          <a:xfrm>
            <a:off x="457200" y="4398264"/>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Turn on sound for extra excitement with sound effects.</a:t>
            </a:r>
          </a:p>
          <a:p>
            <a:pPr>
              <a:lnSpc>
                <a:spcPct val="115000"/>
              </a:lnSpc>
              <a:spcAft>
                <a:spcPts val="200"/>
              </a:spcAft>
            </a:pPr>
            <a:r>
              <a:rPr sz="900" b="1">
                <a:solidFill>
                  <a:srgbClr val="7C3AED"/>
                </a:solidFill>
                <a:latin typeface="Malgun Gothic"/>
              </a:rPr>
              <a:t>● </a:t>
            </a:r>
            <a:r>
              <a:rPr sz="1100">
                <a:solidFill>
                  <a:srgbClr val="334155"/>
                </a:solidFill>
                <a:latin typeface="Malgun Gothic"/>
              </a:rPr>
              <a:t>Beat the boss for a special badge.</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Too hard? Change the game speed to 'slow'.</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battle3d.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22</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Shooting · Mastery Games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Shoot and fish while speaking</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Shoot words in space (Shooting + Speaking) or build target sentences by hunting and fishing words (Mastery). Pick a difficulty and speed to suit you.</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Shooting + Speaking: shoot words in order to complete a sentence.</a:t>
            </a:r>
          </a:p>
          <a:p>
            <a:pPr>
              <a:lnSpc>
                <a:spcPct val="115000"/>
              </a:lnSpc>
              <a:spcAft>
                <a:spcPts val="600"/>
              </a:spcAft>
            </a:pPr>
            <a:r>
              <a:rPr sz="1050" b="1">
                <a:solidFill>
                  <a:srgbClr val="7C3AED"/>
                </a:solidFill>
                <a:latin typeface="Malgun Gothic"/>
              </a:rPr>
              <a:t>● </a:t>
            </a:r>
            <a:r>
              <a:rPr sz="1250">
                <a:solidFill>
                  <a:srgbClr val="334155"/>
                </a:solidFill>
                <a:latin typeface="Malgun Gothic"/>
              </a:rPr>
              <a:t>Mastery (word hunt / sentence fishing): build the target sentence while speaking.</a:t>
            </a:r>
          </a:p>
          <a:p>
            <a:pPr>
              <a:lnSpc>
                <a:spcPct val="115000"/>
              </a:lnSpc>
              <a:spcAft>
                <a:spcPts val="600"/>
              </a:spcAft>
            </a:pPr>
            <a:r>
              <a:rPr sz="1050" b="1">
                <a:solidFill>
                  <a:srgbClr val="7C3AED"/>
                </a:solidFill>
                <a:latin typeface="Malgun Gothic"/>
              </a:rPr>
              <a:t>● </a:t>
            </a:r>
            <a:r>
              <a:rPr sz="1250">
                <a:solidFill>
                  <a:srgbClr val="334155"/>
                </a:solidFill>
                <a:latin typeface="Malgun Gothic"/>
              </a:rPr>
              <a:t>Change difficulty and speed to pick your challenge.</a:t>
            </a:r>
          </a:p>
        </p:txBody>
      </p:sp>
      <p:sp>
        <p:nvSpPr>
          <p:cNvPr id="14" name="Rounded Rectangle 13"/>
          <p:cNvSpPr/>
          <p:nvPr/>
        </p:nvSpPr>
        <p:spPr>
          <a:xfrm>
            <a:off x="457200" y="4398264"/>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Speaking games score better when you say answers aloud.</a:t>
            </a:r>
          </a:p>
          <a:p>
            <a:pPr>
              <a:lnSpc>
                <a:spcPct val="115000"/>
              </a:lnSpc>
              <a:spcAft>
                <a:spcPts val="200"/>
              </a:spcAft>
            </a:pPr>
            <a:r>
              <a:rPr sz="900" b="1">
                <a:solidFill>
                  <a:srgbClr val="7C3AED"/>
                </a:solidFill>
                <a:latin typeface="Malgun Gothic"/>
              </a:rPr>
              <a:t>● </a:t>
            </a:r>
            <a:r>
              <a:rPr sz="1100">
                <a:solidFill>
                  <a:srgbClr val="334155"/>
                </a:solidFill>
                <a:latin typeface="Malgun Gothic"/>
              </a:rPr>
              <a:t>Reading the target sentence loudly helps memory.</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Start at 'easy/normal' and raise it as you get comfortable.</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mastery.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23</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Word Fighter (zombies)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Beat zombies with words</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An action game where you fend off oncoming zombies with words and sentences. It trains you to recall words quickly under pressure.</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Type or speak to match the word/sentence on screen to stop zombies.</a:t>
            </a:r>
          </a:p>
          <a:p>
            <a:pPr>
              <a:lnSpc>
                <a:spcPct val="115000"/>
              </a:lnSpc>
              <a:spcAft>
                <a:spcPts val="600"/>
              </a:spcAft>
            </a:pPr>
            <a:r>
              <a:rPr sz="1050" b="1">
                <a:solidFill>
                  <a:srgbClr val="7C3AED"/>
                </a:solidFill>
                <a:latin typeface="Malgun Gothic"/>
              </a:rPr>
              <a:t>● </a:t>
            </a:r>
            <a:r>
              <a:rPr sz="1250">
                <a:solidFill>
                  <a:srgbClr val="334155"/>
                </a:solidFill>
                <a:latin typeface="Malgun Gothic"/>
              </a:rPr>
              <a:t>The faster you answer, the higher your score and combo.</a:t>
            </a:r>
          </a:p>
          <a:p>
            <a:pPr>
              <a:lnSpc>
                <a:spcPct val="115000"/>
              </a:lnSpc>
              <a:spcAft>
                <a:spcPts val="600"/>
              </a:spcAft>
            </a:pPr>
            <a:r>
              <a:rPr sz="1050" b="1">
                <a:solidFill>
                  <a:srgbClr val="7C3AED"/>
                </a:solidFill>
                <a:latin typeface="Malgun Gothic"/>
              </a:rPr>
              <a:t>● </a:t>
            </a:r>
            <a:r>
              <a:rPr sz="1250">
                <a:solidFill>
                  <a:srgbClr val="334155"/>
                </a:solidFill>
                <a:latin typeface="Malgun Gothic"/>
              </a:rPr>
              <a:t>Get as many right as you can before you run out of lives.</a:t>
            </a:r>
          </a:p>
        </p:txBody>
      </p:sp>
      <p:sp>
        <p:nvSpPr>
          <p:cNvPr id="14" name="Rounded Rectangle 13"/>
          <p:cNvSpPr/>
          <p:nvPr/>
        </p:nvSpPr>
        <p:spPr>
          <a:xfrm>
            <a:off x="457200" y="4398264"/>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Great for quick-reaction practice.</a:t>
            </a:r>
          </a:p>
          <a:p>
            <a:pPr>
              <a:lnSpc>
                <a:spcPct val="115000"/>
              </a:lnSpc>
              <a:spcAft>
                <a:spcPts val="200"/>
              </a:spcAft>
            </a:pPr>
            <a:r>
              <a:rPr sz="900" b="1">
                <a:solidFill>
                  <a:srgbClr val="7C3AED"/>
                </a:solidFill>
                <a:latin typeface="Malgun Gothic"/>
              </a:rPr>
              <a:t>● </a:t>
            </a:r>
            <a:r>
              <a:rPr sz="1100">
                <a:solidFill>
                  <a:srgbClr val="334155"/>
                </a:solidFill>
                <a:latin typeface="Malgun Gothic"/>
              </a:rPr>
              <a:t>Don't skip unknown words — check their meaning.</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Nervous? Breathe — accuracy matters more than speed.</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wordfighter.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24</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Suspect Mystery</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Listening &amp; speaking through story</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A mystery game where you listen to the teacher's (AI) English hints, find the culprit, and explain in English. You practice listening and speaking at the same time inside a story.</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Press 'Start Class' to begin the case.</a:t>
            </a:r>
          </a:p>
          <a:p>
            <a:pPr>
              <a:lnSpc>
                <a:spcPct val="115000"/>
              </a:lnSpc>
              <a:spcAft>
                <a:spcPts val="600"/>
              </a:spcAft>
            </a:pPr>
            <a:r>
              <a:rPr sz="1050" b="1">
                <a:solidFill>
                  <a:srgbClr val="7C3AED"/>
                </a:solidFill>
                <a:latin typeface="Malgun Gothic"/>
              </a:rPr>
              <a:t>● </a:t>
            </a:r>
            <a:r>
              <a:rPr sz="1250">
                <a:solidFill>
                  <a:srgbClr val="334155"/>
                </a:solidFill>
                <a:latin typeface="Malgun Gothic"/>
              </a:rPr>
              <a:t>Listen to the English hints and gather clues.</a:t>
            </a:r>
          </a:p>
          <a:p>
            <a:pPr>
              <a:lnSpc>
                <a:spcPct val="115000"/>
              </a:lnSpc>
              <a:spcAft>
                <a:spcPts val="600"/>
              </a:spcAft>
            </a:pPr>
            <a:r>
              <a:rPr sz="1050" b="1">
                <a:solidFill>
                  <a:srgbClr val="7C3AED"/>
                </a:solidFill>
                <a:latin typeface="Malgun Gothic"/>
              </a:rPr>
              <a:t>● </a:t>
            </a:r>
            <a:r>
              <a:rPr sz="1250">
                <a:solidFill>
                  <a:srgbClr val="334155"/>
                </a:solidFill>
                <a:latin typeface="Malgun Gothic"/>
              </a:rPr>
              <a:t>Pick the culprit and explain your reason in English.</a:t>
            </a:r>
          </a:p>
        </p:txBody>
      </p:sp>
      <p:sp>
        <p:nvSpPr>
          <p:cNvPr id="14" name="Rounded Rectangle 13"/>
          <p:cNvSpPr/>
          <p:nvPr/>
        </p:nvSpPr>
        <p:spPr>
          <a:xfrm>
            <a:off x="457200" y="4398264"/>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Improves listening focus.</a:t>
            </a:r>
          </a:p>
          <a:p>
            <a:pPr>
              <a:lnSpc>
                <a:spcPct val="115000"/>
              </a:lnSpc>
              <a:spcAft>
                <a:spcPts val="200"/>
              </a:spcAft>
            </a:pPr>
            <a:r>
              <a:rPr sz="900" b="1">
                <a:solidFill>
                  <a:srgbClr val="7C3AED"/>
                </a:solidFill>
                <a:latin typeface="Malgun Gothic"/>
              </a:rPr>
              <a:t>● </a:t>
            </a:r>
            <a:r>
              <a:rPr sz="1100">
                <a:solidFill>
                  <a:srgbClr val="334155"/>
                </a:solidFill>
                <a:latin typeface="Malgun Gothic"/>
              </a:rPr>
              <a:t>Practices giving reasons in English.</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Missed a hint? Use replay to check it.</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suspect.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25</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Speaking Quiz</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Listen and repeat</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A quiz where you listen to a sentence and repeat it to check pronunciation and sentences. A great way to review today's lesson out loud.</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Press 'Start' to get questions.</a:t>
            </a:r>
          </a:p>
          <a:p>
            <a:pPr>
              <a:lnSpc>
                <a:spcPct val="115000"/>
              </a:lnSpc>
              <a:spcAft>
                <a:spcPts val="600"/>
              </a:spcAft>
            </a:pPr>
            <a:r>
              <a:rPr sz="1050" b="1">
                <a:solidFill>
                  <a:srgbClr val="7C3AED"/>
                </a:solidFill>
                <a:latin typeface="Malgun Gothic"/>
              </a:rPr>
              <a:t>● </a:t>
            </a:r>
            <a:r>
              <a:rPr sz="1250">
                <a:solidFill>
                  <a:srgbClr val="334155"/>
                </a:solidFill>
                <a:latin typeface="Malgun Gothic"/>
              </a:rPr>
              <a:t>Listen and repeat each sentence.</a:t>
            </a:r>
          </a:p>
          <a:p>
            <a:pPr>
              <a:lnSpc>
                <a:spcPct val="115000"/>
              </a:lnSpc>
              <a:spcAft>
                <a:spcPts val="600"/>
              </a:spcAft>
            </a:pPr>
            <a:r>
              <a:rPr sz="1050" b="1">
                <a:solidFill>
                  <a:srgbClr val="7C3AED"/>
                </a:solidFill>
                <a:latin typeface="Malgun Gothic"/>
              </a:rPr>
              <a:t>● </a:t>
            </a:r>
            <a:r>
              <a:rPr sz="1250">
                <a:solidFill>
                  <a:srgbClr val="334155"/>
                </a:solidFill>
                <a:latin typeface="Malgun Gothic"/>
              </a:rPr>
              <a:t>Fill 10 correct answers to see your result and pronunciation feedback.</a:t>
            </a:r>
          </a:p>
        </p:txBody>
      </p:sp>
      <p:sp>
        <p:nvSpPr>
          <p:cNvPr id="14" name="Rounded Rectangle 13"/>
          <p:cNvSpPr/>
          <p:nvPr/>
        </p:nvSpPr>
        <p:spPr>
          <a:xfrm>
            <a:off x="457200" y="4398264"/>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The more you speak aloud, the more you improve.</a:t>
            </a:r>
          </a:p>
          <a:p>
            <a:pPr>
              <a:lnSpc>
                <a:spcPct val="115000"/>
              </a:lnSpc>
              <a:spcAft>
                <a:spcPts val="200"/>
              </a:spcAft>
            </a:pPr>
            <a:r>
              <a:rPr sz="900" b="1">
                <a:solidFill>
                  <a:srgbClr val="7C3AED"/>
                </a:solidFill>
                <a:latin typeface="Malgun Gothic"/>
              </a:rPr>
              <a:t>● </a:t>
            </a:r>
            <a:r>
              <a:rPr sz="1100">
                <a:solidFill>
                  <a:srgbClr val="334155"/>
                </a:solidFill>
                <a:latin typeface="Malgun Gothic"/>
              </a:rPr>
              <a:t>A quiet place helps recognition.</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Doing it right after class doubles what you remember.</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speaking.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26</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Review Quiz</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A quick check of the lesson</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After class, a short quiz checks today's content. It tells you what you did well and what to review more.</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Take the review quiz that pops up after class.</a:t>
            </a:r>
          </a:p>
          <a:p>
            <a:pPr>
              <a:lnSpc>
                <a:spcPct val="115000"/>
              </a:lnSpc>
              <a:spcAft>
                <a:spcPts val="600"/>
              </a:spcAft>
            </a:pPr>
            <a:r>
              <a:rPr sz="1050" b="1">
                <a:solidFill>
                  <a:srgbClr val="7C3AED"/>
                </a:solidFill>
                <a:latin typeface="Malgun Gothic"/>
              </a:rPr>
              <a:t>● </a:t>
            </a:r>
            <a:r>
              <a:rPr sz="1250">
                <a:solidFill>
                  <a:srgbClr val="334155"/>
                </a:solidFill>
                <a:latin typeface="Malgun Gothic"/>
              </a:rPr>
              <a:t>Recheck wrong questions with the explanation.</a:t>
            </a:r>
          </a:p>
          <a:p>
            <a:pPr>
              <a:lnSpc>
                <a:spcPct val="115000"/>
              </a:lnSpc>
              <a:spcAft>
                <a:spcPts val="600"/>
              </a:spcAft>
            </a:pPr>
            <a:r>
              <a:rPr sz="1050" b="1">
                <a:solidFill>
                  <a:srgbClr val="7C3AED"/>
                </a:solidFill>
                <a:latin typeface="Malgun Gothic"/>
              </a:rPr>
              <a:t>● </a:t>
            </a:r>
            <a:r>
              <a:rPr sz="1250">
                <a:solidFill>
                  <a:srgbClr val="334155"/>
                </a:solidFill>
                <a:latin typeface="Malgun Gothic"/>
              </a:rPr>
              <a:t>Note the words to review more from your result.</a:t>
            </a:r>
          </a:p>
        </p:txBody>
      </p:sp>
      <p:sp>
        <p:nvSpPr>
          <p:cNvPr id="14" name="Rounded Rectangle 13"/>
          <p:cNvSpPr/>
          <p:nvPr/>
        </p:nvSpPr>
        <p:spPr>
          <a:xfrm>
            <a:off x="457200" y="4398264"/>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It's short, so you can do it every time without pressure.</a:t>
            </a:r>
          </a:p>
          <a:p>
            <a:pPr>
              <a:lnSpc>
                <a:spcPct val="115000"/>
              </a:lnSpc>
              <a:spcAft>
                <a:spcPts val="200"/>
              </a:spcAft>
            </a:pPr>
            <a:r>
              <a:rPr sz="900" b="1">
                <a:solidFill>
                  <a:srgbClr val="7C3AED"/>
                </a:solidFill>
                <a:latin typeface="Malgun Gothic"/>
              </a:rPr>
              <a:t>● </a:t>
            </a:r>
            <a:r>
              <a:rPr sz="1100">
                <a:solidFill>
                  <a:srgbClr val="334155"/>
                </a:solidFill>
                <a:latin typeface="Malgun Gothic"/>
              </a:rPr>
              <a:t>Wrong words link to the vocabulary book and games.</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Review quiz → game, in that order, is perfect.</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reviewquiz.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27</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My Vocab</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Memorize with word cards</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Your own vocabulary book to memorize collected words as cards. Check meanings and pronunciation and review even on the go.</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Flip through your word cards in the vocabulary book.</a:t>
            </a:r>
          </a:p>
          <a:p>
            <a:pPr>
              <a:lnSpc>
                <a:spcPct val="115000"/>
              </a:lnSpc>
              <a:spcAft>
                <a:spcPts val="600"/>
              </a:spcAft>
            </a:pPr>
            <a:r>
              <a:rPr sz="1050" b="1">
                <a:solidFill>
                  <a:srgbClr val="7C3AED"/>
                </a:solidFill>
                <a:latin typeface="Malgun Gothic"/>
              </a:rPr>
              <a:t>● </a:t>
            </a:r>
            <a:r>
              <a:rPr sz="1250">
                <a:solidFill>
                  <a:srgbClr val="334155"/>
                </a:solidFill>
                <a:latin typeface="Malgun Gothic"/>
              </a:rPr>
              <a:t>Check the meaning and pronunciation on each card.</a:t>
            </a:r>
          </a:p>
          <a:p>
            <a:pPr>
              <a:lnSpc>
                <a:spcPct val="115000"/>
              </a:lnSpc>
              <a:spcAft>
                <a:spcPts val="600"/>
              </a:spcAft>
            </a:pPr>
            <a:r>
              <a:rPr sz="1050" b="1">
                <a:solidFill>
                  <a:srgbClr val="7C3AED"/>
                </a:solidFill>
                <a:latin typeface="Malgun Gothic"/>
              </a:rPr>
              <a:t>● </a:t>
            </a:r>
            <a:r>
              <a:rPr sz="1250">
                <a:solidFill>
                  <a:srgbClr val="334155"/>
                </a:solidFill>
                <a:latin typeface="Malgun Gothic"/>
              </a:rPr>
              <a:t>Split known and unknown words and repeat.</a:t>
            </a:r>
          </a:p>
        </p:txBody>
      </p:sp>
      <p:sp>
        <p:nvSpPr>
          <p:cNvPr id="14" name="Rounded Rectangle 13"/>
          <p:cNvSpPr/>
          <p:nvPr/>
        </p:nvSpPr>
        <p:spPr>
          <a:xfrm>
            <a:off x="457200" y="4398264"/>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Words from games and lessons collect here.</a:t>
            </a:r>
          </a:p>
          <a:p>
            <a:pPr>
              <a:lnSpc>
                <a:spcPct val="115000"/>
              </a:lnSpc>
              <a:spcAft>
                <a:spcPts val="200"/>
              </a:spcAft>
            </a:pPr>
            <a:r>
              <a:rPr sz="900" b="1">
                <a:solidFill>
                  <a:srgbClr val="7C3AED"/>
                </a:solidFill>
                <a:latin typeface="Malgun Gothic"/>
              </a:rPr>
              <a:t>● </a:t>
            </a:r>
            <a:r>
              <a:rPr sz="1100">
                <a:solidFill>
                  <a:srgbClr val="334155"/>
                </a:solidFill>
                <a:latin typeface="Malgun Gothic"/>
              </a:rPr>
              <a:t>Perfect for spare moments on the go.</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Just 10 words a day is 300 words in a month.</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vocab.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28</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AI Friend (Mango)</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Free English chat</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Chat freely in English with your AI friend Mango to practice conversation. Mistakes aren't embarrassing, so you can speak as much as you like.</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Open the AI friend screen.</a:t>
            </a:r>
          </a:p>
          <a:p>
            <a:pPr>
              <a:lnSpc>
                <a:spcPct val="115000"/>
              </a:lnSpc>
              <a:spcAft>
                <a:spcPts val="600"/>
              </a:spcAft>
            </a:pPr>
            <a:r>
              <a:rPr sz="1050" b="1">
                <a:solidFill>
                  <a:srgbClr val="7C3AED"/>
                </a:solidFill>
                <a:latin typeface="Malgun Gothic"/>
              </a:rPr>
              <a:t>● </a:t>
            </a:r>
            <a:r>
              <a:rPr sz="1250">
                <a:solidFill>
                  <a:srgbClr val="334155"/>
                </a:solidFill>
                <a:latin typeface="Malgun Gothic"/>
              </a:rPr>
              <a:t>Type or say what you want in English.</a:t>
            </a:r>
          </a:p>
          <a:p>
            <a:pPr>
              <a:lnSpc>
                <a:spcPct val="115000"/>
              </a:lnSpc>
              <a:spcAft>
                <a:spcPts val="600"/>
              </a:spcAft>
            </a:pPr>
            <a:r>
              <a:rPr sz="1050" b="1">
                <a:solidFill>
                  <a:srgbClr val="7C3AED"/>
                </a:solidFill>
                <a:latin typeface="Malgun Gothic"/>
              </a:rPr>
              <a:t>● </a:t>
            </a:r>
            <a:r>
              <a:rPr sz="1250">
                <a:solidFill>
                  <a:srgbClr val="334155"/>
                </a:solidFill>
                <a:latin typeface="Malgun Gothic"/>
              </a:rPr>
              <a:t>Read Mango's reply and keep the conversation going naturally.</a:t>
            </a:r>
          </a:p>
        </p:txBody>
      </p:sp>
      <p:sp>
        <p:nvSpPr>
          <p:cNvPr id="14" name="Rounded Rectangle 13"/>
          <p:cNvSpPr/>
          <p:nvPr/>
        </p:nvSpPr>
        <p:spPr>
          <a:xfrm>
            <a:off x="457200" y="4398264"/>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Mistakes are fine — practice freely!</a:t>
            </a:r>
          </a:p>
          <a:p>
            <a:pPr>
              <a:lnSpc>
                <a:spcPct val="115000"/>
              </a:lnSpc>
              <a:spcAft>
                <a:spcPts val="200"/>
              </a:spcAft>
            </a:pPr>
            <a:r>
              <a:rPr sz="900" b="1">
                <a:solidFill>
                  <a:srgbClr val="7C3AED"/>
                </a:solidFill>
                <a:latin typeface="Malgun Gothic"/>
              </a:rPr>
              <a:t>● </a:t>
            </a:r>
            <a:r>
              <a:rPr sz="1100">
                <a:solidFill>
                  <a:srgbClr val="334155"/>
                </a:solidFill>
                <a:latin typeface="Malgun Gothic"/>
              </a:rPr>
              <a:t>Great for chatting in English when bored.</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Learn by asking things like 'What is …?'</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aifriend.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29</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AI Writing</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Make your sentences natural</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Enter a sentence you want to write and the AI rewrites it into natural English. Learn why it changes and build your writing skills.</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Type the sentence you want to write.</a:t>
            </a:r>
          </a:p>
          <a:p>
            <a:pPr>
              <a:lnSpc>
                <a:spcPct val="115000"/>
              </a:lnSpc>
              <a:spcAft>
                <a:spcPts val="600"/>
              </a:spcAft>
            </a:pPr>
            <a:r>
              <a:rPr sz="1050" b="1">
                <a:solidFill>
                  <a:srgbClr val="7C3AED"/>
                </a:solidFill>
                <a:latin typeface="Malgun Gothic"/>
              </a:rPr>
              <a:t>● </a:t>
            </a:r>
            <a:r>
              <a:rPr sz="1250">
                <a:solidFill>
                  <a:srgbClr val="334155"/>
                </a:solidFill>
                <a:latin typeface="Malgun Gothic"/>
              </a:rPr>
              <a:t>Press the AI Writing button.</a:t>
            </a:r>
          </a:p>
          <a:p>
            <a:pPr>
              <a:lnSpc>
                <a:spcPct val="115000"/>
              </a:lnSpc>
              <a:spcAft>
                <a:spcPts val="600"/>
              </a:spcAft>
            </a:pPr>
            <a:r>
              <a:rPr sz="1050" b="1">
                <a:solidFill>
                  <a:srgbClr val="7C3AED"/>
                </a:solidFill>
                <a:latin typeface="Malgun Gothic"/>
              </a:rPr>
              <a:t>● </a:t>
            </a:r>
            <a:r>
              <a:rPr sz="1250">
                <a:solidFill>
                  <a:srgbClr val="334155"/>
                </a:solidFill>
                <a:latin typeface="Malgun Gothic"/>
              </a:rPr>
              <a:t>Check the corrected sentence and the reason, then copy it.</a:t>
            </a:r>
          </a:p>
        </p:txBody>
      </p:sp>
      <p:sp>
        <p:nvSpPr>
          <p:cNvPr id="14" name="Rounded Rectangle 13"/>
          <p:cNvSpPr/>
          <p:nvPr/>
        </p:nvSpPr>
        <p:spPr>
          <a:xfrm>
            <a:off x="457200" y="4398264"/>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Great for diary and self-introduction practice.</a:t>
            </a:r>
          </a:p>
          <a:p>
            <a:pPr>
              <a:lnSpc>
                <a:spcPct val="115000"/>
              </a:lnSpc>
              <a:spcAft>
                <a:spcPts val="200"/>
              </a:spcAft>
            </a:pPr>
            <a:r>
              <a:rPr sz="900" b="1">
                <a:solidFill>
                  <a:srgbClr val="7C3AED"/>
                </a:solidFill>
                <a:latin typeface="Malgun Gothic"/>
              </a:rPr>
              <a:t>● </a:t>
            </a:r>
            <a:r>
              <a:rPr sz="1100">
                <a:solidFill>
                  <a:srgbClr val="334155"/>
                </a:solidFill>
                <a:latin typeface="Malgun Gothic"/>
              </a:rPr>
              <a:t>Memorizing the fixes speeds up your growth.</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Read the corrected sentence aloud — it helps speaking too.</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aiwrite.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30</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Attendance Streak · Badges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Consistency is skill!</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Study every day to keep the flame (streak) going, and meet conditions to auto-collect 10 kinds of badges. Consistency adds up to real skill.</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Do 'today's study' every day to keep the flame going.</a:t>
            </a:r>
          </a:p>
          <a:p>
            <a:pPr>
              <a:lnSpc>
                <a:spcPct val="115000"/>
              </a:lnSpc>
              <a:spcAft>
                <a:spcPts val="600"/>
              </a:spcAft>
            </a:pPr>
            <a:r>
              <a:rPr sz="1050" b="1">
                <a:solidFill>
                  <a:srgbClr val="7C3AED"/>
                </a:solidFill>
                <a:latin typeface="Malgun Gothic"/>
              </a:rPr>
              <a:t>● </a:t>
            </a:r>
            <a:r>
              <a:rPr sz="1250">
                <a:solidFill>
                  <a:srgbClr val="334155"/>
                </a:solidFill>
                <a:latin typeface="Malgun Gothic"/>
              </a:rPr>
              <a:t>Skip a day and the flame goes out — so do a little every day.</a:t>
            </a:r>
          </a:p>
          <a:p>
            <a:pPr>
              <a:lnSpc>
                <a:spcPct val="115000"/>
              </a:lnSpc>
              <a:spcAft>
                <a:spcPts val="600"/>
              </a:spcAft>
            </a:pPr>
            <a:r>
              <a:rPr sz="1050" b="1">
                <a:solidFill>
                  <a:srgbClr val="7C3AED"/>
                </a:solidFill>
                <a:latin typeface="Malgun Gothic"/>
              </a:rPr>
              <a:t>● </a:t>
            </a:r>
            <a:r>
              <a:rPr sz="1250">
                <a:solidFill>
                  <a:srgbClr val="334155"/>
                </a:solidFill>
                <a:latin typeface="Malgun Gothic"/>
              </a:rPr>
              <a:t>Meet the conditions and receive badges automatically.</a:t>
            </a:r>
          </a:p>
        </p:txBody>
      </p:sp>
      <p:sp>
        <p:nvSpPr>
          <p:cNvPr id="14" name="Rounded Rectangle 13"/>
          <p:cNvSpPr/>
          <p:nvPr/>
        </p:nvSpPr>
        <p:spPr>
          <a:xfrm>
            <a:off x="457200" y="4398264"/>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Doing a little every day matters most.</a:t>
            </a:r>
          </a:p>
          <a:p>
            <a:pPr>
              <a:lnSpc>
                <a:spcPct val="115000"/>
              </a:lnSpc>
              <a:spcAft>
                <a:spcPts val="200"/>
              </a:spcAft>
            </a:pPr>
            <a:r>
              <a:rPr sz="900" b="1">
                <a:solidFill>
                  <a:srgbClr val="7C3AED"/>
                </a:solidFill>
                <a:latin typeface="Malgun Gothic"/>
              </a:rPr>
              <a:t>● </a:t>
            </a:r>
            <a:r>
              <a:rPr sz="1100">
                <a:solidFill>
                  <a:srgbClr val="334155"/>
                </a:solidFill>
                <a:latin typeface="Malgun Gothic"/>
              </a:rPr>
              <a:t>Collecting badges builds the habit for fun.</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Just pressing 'today's study' keeps your streak alive.</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streak.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31</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MBTI Style Test</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Know your learning style</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A short quiz to learn your learning style. It helps you find study methods that suit you.</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Answer the questions casually.</a:t>
            </a:r>
          </a:p>
          <a:p>
            <a:pPr>
              <a:lnSpc>
                <a:spcPct val="115000"/>
              </a:lnSpc>
              <a:spcAft>
                <a:spcPts val="600"/>
              </a:spcAft>
            </a:pPr>
            <a:r>
              <a:rPr sz="1050" b="1">
                <a:solidFill>
                  <a:srgbClr val="7C3AED"/>
                </a:solidFill>
                <a:latin typeface="Malgun Gothic"/>
              </a:rPr>
              <a:t>● </a:t>
            </a:r>
            <a:r>
              <a:rPr sz="1250">
                <a:solidFill>
                  <a:srgbClr val="334155"/>
                </a:solidFill>
                <a:latin typeface="Malgun Gothic"/>
              </a:rPr>
              <a:t>See your style and study tips in the result.</a:t>
            </a:r>
          </a:p>
          <a:p>
            <a:pPr>
              <a:lnSpc>
                <a:spcPct val="115000"/>
              </a:lnSpc>
              <a:spcAft>
                <a:spcPts val="600"/>
              </a:spcAft>
            </a:pPr>
            <a:r>
              <a:rPr sz="1050" b="1">
                <a:solidFill>
                  <a:srgbClr val="7C3AED"/>
                </a:solidFill>
                <a:latin typeface="Malgun Gothic"/>
              </a:rPr>
              <a:t>● </a:t>
            </a:r>
            <a:r>
              <a:rPr sz="1250">
                <a:solidFill>
                  <a:srgbClr val="334155"/>
                </a:solidFill>
                <a:latin typeface="Malgun Gothic"/>
              </a:rPr>
              <a:t>Apply the recommended methods to lessons and games.</a:t>
            </a:r>
          </a:p>
        </p:txBody>
      </p:sp>
      <p:sp>
        <p:nvSpPr>
          <p:cNvPr id="14" name="Rounded Rectangle 13"/>
          <p:cNvSpPr/>
          <p:nvPr/>
        </p:nvSpPr>
        <p:spPr>
          <a:xfrm>
            <a:off x="457200" y="4398264"/>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Enjoy it and get to know yourself.</a:t>
            </a:r>
          </a:p>
          <a:p>
            <a:pPr>
              <a:lnSpc>
                <a:spcPct val="115000"/>
              </a:lnSpc>
              <a:spcAft>
                <a:spcPts val="200"/>
              </a:spcAft>
            </a:pPr>
            <a:r>
              <a:rPr sz="900" b="1">
                <a:solidFill>
                  <a:srgbClr val="7C3AED"/>
                </a:solidFill>
                <a:latin typeface="Malgun Gothic"/>
              </a:rPr>
              <a:t>● </a:t>
            </a:r>
            <a:r>
              <a:rPr sz="1100">
                <a:solidFill>
                  <a:srgbClr val="334155"/>
                </a:solidFill>
                <a:latin typeface="Malgun Gothic"/>
              </a:rPr>
              <a:t>Pick games that fit your style, too.</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Share the result with your teacher for tailored coaching.</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mbti.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32</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Book a Lesson</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Set your own schedule</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A screen to book by choosing lesson type (1:1/group), date and time on a calendar. Once booked, your remaining count and next lesson are organized automatically.</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Pick the lesson type (1:1/group).</a:t>
            </a:r>
          </a:p>
          <a:p>
            <a:pPr>
              <a:lnSpc>
                <a:spcPct val="115000"/>
              </a:lnSpc>
              <a:spcAft>
                <a:spcPts val="600"/>
              </a:spcAft>
            </a:pPr>
            <a:r>
              <a:rPr sz="1050" b="1">
                <a:solidFill>
                  <a:srgbClr val="7C3AED"/>
                </a:solidFill>
                <a:latin typeface="Malgun Gothic"/>
              </a:rPr>
              <a:t>● </a:t>
            </a:r>
            <a:r>
              <a:rPr sz="1250">
                <a:solidFill>
                  <a:srgbClr val="334155"/>
                </a:solidFill>
                <a:latin typeface="Malgun Gothic"/>
              </a:rPr>
              <a:t>Select the date and time on the calendar.</a:t>
            </a:r>
          </a:p>
          <a:p>
            <a:pPr>
              <a:lnSpc>
                <a:spcPct val="115000"/>
              </a:lnSpc>
              <a:spcAft>
                <a:spcPts val="600"/>
              </a:spcAft>
            </a:pPr>
            <a:r>
              <a:rPr sz="1050" b="1">
                <a:solidFill>
                  <a:srgbClr val="7C3AED"/>
                </a:solidFill>
                <a:latin typeface="Malgun Gothic"/>
              </a:rPr>
              <a:t>● </a:t>
            </a:r>
            <a:r>
              <a:rPr sz="1250">
                <a:solidFill>
                  <a:srgbClr val="334155"/>
                </a:solidFill>
                <a:latin typeface="Malgun Gothic"/>
              </a:rPr>
              <a:t>Set the weekly count and move to payment/confirm.</a:t>
            </a:r>
          </a:p>
        </p:txBody>
      </p:sp>
      <p:sp>
        <p:nvSpPr>
          <p:cNvPr id="14" name="Rounded Rectangle 13"/>
          <p:cNvSpPr/>
          <p:nvPr/>
        </p:nvSpPr>
        <p:spPr>
          <a:xfrm>
            <a:off x="457200" y="4398264"/>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Available times are color-coded for easy picking.</a:t>
            </a:r>
          </a:p>
          <a:p>
            <a:pPr>
              <a:lnSpc>
                <a:spcPct val="115000"/>
              </a:lnSpc>
              <a:spcAft>
                <a:spcPts val="200"/>
              </a:spcAft>
            </a:pPr>
            <a:r>
              <a:rPr sz="900" b="1">
                <a:solidFill>
                  <a:srgbClr val="7C3AED"/>
                </a:solidFill>
                <a:latin typeface="Malgun Gothic"/>
              </a:rPr>
              <a:t>● </a:t>
            </a:r>
            <a:r>
              <a:rPr sz="1100">
                <a:solidFill>
                  <a:srgbClr val="334155"/>
                </a:solidFill>
                <a:latin typeface="Malgun Gothic"/>
              </a:rPr>
              <a:t>You can also choose by teacher.</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Popular slots fill fast — book early.</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ommon_booking.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33</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Postpone · Change a Lesson</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When something comes up</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A screen to push a lesson to later or change its time when something comes up. The changed schedule is announced automatically.</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Choose Postpone / Change.</a:t>
            </a:r>
          </a:p>
          <a:p>
            <a:pPr>
              <a:lnSpc>
                <a:spcPct val="115000"/>
              </a:lnSpc>
              <a:spcAft>
                <a:spcPts val="600"/>
              </a:spcAft>
            </a:pPr>
            <a:r>
              <a:rPr sz="1050" b="1">
                <a:solidFill>
                  <a:srgbClr val="7C3AED"/>
                </a:solidFill>
                <a:latin typeface="Malgun Gothic"/>
              </a:rPr>
              <a:t>● </a:t>
            </a:r>
            <a:r>
              <a:rPr sz="1250">
                <a:solidFill>
                  <a:srgbClr val="334155"/>
                </a:solidFill>
                <a:latin typeface="Malgun Gothic"/>
              </a:rPr>
              <a:t>Set the date and time to move to.</a:t>
            </a:r>
          </a:p>
          <a:p>
            <a:pPr>
              <a:lnSpc>
                <a:spcPct val="115000"/>
              </a:lnSpc>
              <a:spcAft>
                <a:spcPts val="600"/>
              </a:spcAft>
            </a:pPr>
            <a:r>
              <a:rPr sz="1050" b="1">
                <a:solidFill>
                  <a:srgbClr val="7C3AED"/>
                </a:solidFill>
                <a:latin typeface="Malgun Gothic"/>
              </a:rPr>
              <a:t>● </a:t>
            </a:r>
            <a:r>
              <a:rPr sz="1250">
                <a:solidFill>
                  <a:srgbClr val="334155"/>
                </a:solidFill>
                <a:latin typeface="Malgun Gothic"/>
              </a:rPr>
              <a:t>Confirm and your lesson count stays preserved.</a:t>
            </a:r>
          </a:p>
        </p:txBody>
      </p:sp>
      <p:sp>
        <p:nvSpPr>
          <p:cNvPr id="14" name="Rounded Rectangle 13"/>
          <p:cNvSpPr/>
          <p:nvPr/>
        </p:nvSpPr>
        <p:spPr>
          <a:xfrm>
            <a:off x="457200" y="4398264"/>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Requesting early makes it easier to get the time you want.</a:t>
            </a:r>
          </a:p>
          <a:p>
            <a:pPr>
              <a:lnSpc>
                <a:spcPct val="115000"/>
              </a:lnSpc>
              <a:spcAft>
                <a:spcPts val="200"/>
              </a:spcAft>
            </a:pPr>
            <a:r>
              <a:rPr sz="900" b="1">
                <a:solidFill>
                  <a:srgbClr val="7C3AED"/>
                </a:solidFill>
                <a:latin typeface="Malgun Gothic"/>
              </a:rPr>
              <a:t>● </a:t>
            </a:r>
            <a:r>
              <a:rPr sz="1100">
                <a:solidFill>
                  <a:srgbClr val="334155"/>
                </a:solidFill>
                <a:latin typeface="Malgun Gothic"/>
              </a:rPr>
              <a:t>Postponing never removes your lesson count.</a:t>
            </a:r>
          </a:p>
        </p:txBody>
      </p:sp>
      <p:sp>
        <p:nvSpPr>
          <p:cNvPr id="17" name="Rounded Rectangle 16"/>
          <p:cNvSpPr/>
          <p:nvPr/>
        </p:nvSpPr>
        <p:spPr>
          <a:xfrm>
            <a:off x="457200" y="5513831"/>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Postponing right before a lesson may not be possible (check the postpone/refund policy).</a:t>
            </a:r>
          </a:p>
        </p:txBody>
      </p:sp>
      <p:sp>
        <p:nvSpPr>
          <p:cNvPr id="19" name="Rounded Rectangle 18"/>
          <p:cNvSpPr/>
          <p:nvPr/>
        </p:nvSpPr>
        <p:spPr>
          <a:xfrm>
            <a:off x="457200" y="624535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29107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If your plans might change, request at least a day ahead.</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ommon_postpone.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34</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[Parents] See Your Child's Learning</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Just a student ID</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Parents can see how well their child is doing on one screen in 'My Page' just by entering the child's student ID. No app install — check it right from the web.</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Open My Page (the parent screen).</a:t>
            </a:r>
          </a:p>
          <a:p>
            <a:pPr>
              <a:lnSpc>
                <a:spcPct val="115000"/>
              </a:lnSpc>
              <a:spcAft>
                <a:spcPts val="600"/>
              </a:spcAft>
            </a:pPr>
            <a:r>
              <a:rPr sz="1050" b="1">
                <a:solidFill>
                  <a:srgbClr val="7C3AED"/>
                </a:solidFill>
                <a:latin typeface="Malgun Gothic"/>
              </a:rPr>
              <a:t>● </a:t>
            </a:r>
            <a:r>
              <a:rPr sz="1250">
                <a:solidFill>
                  <a:srgbClr val="334155"/>
                </a:solidFill>
                <a:latin typeface="Malgun Gothic"/>
              </a:rPr>
              <a:t>Enter the child's student ID and press Look up. (it's saved after one look-up)</a:t>
            </a:r>
          </a:p>
          <a:p>
            <a:pPr>
              <a:lnSpc>
                <a:spcPct val="115000"/>
              </a:lnSpc>
              <a:spcAft>
                <a:spcPts val="600"/>
              </a:spcAft>
            </a:pPr>
            <a:r>
              <a:rPr sz="1050" b="1">
                <a:solidFill>
                  <a:srgbClr val="7C3AED"/>
                </a:solidFill>
                <a:latin typeface="Malgun Gothic"/>
              </a:rPr>
              <a:t>● </a:t>
            </a:r>
            <a:r>
              <a:rPr sz="1250">
                <a:solidFill>
                  <a:srgbClr val="334155"/>
                </a:solidFill>
                <a:latin typeface="Malgun Gothic"/>
              </a:rPr>
              <a:t>Check the 30-day attendance grid for when they had class, and point flow for accrual/use.</a:t>
            </a:r>
          </a:p>
          <a:p>
            <a:pPr>
              <a:lnSpc>
                <a:spcPct val="115000"/>
              </a:lnSpc>
              <a:spcAft>
                <a:spcPts val="600"/>
              </a:spcAft>
            </a:pPr>
            <a:r>
              <a:rPr sz="1050" b="1">
                <a:solidFill>
                  <a:srgbClr val="7C3AED"/>
                </a:solidFill>
                <a:latin typeface="Malgun Gothic"/>
              </a:rPr>
              <a:t>● </a:t>
            </a:r>
            <a:r>
              <a:rPr sz="1250">
                <a:solidFill>
                  <a:srgbClr val="334155"/>
                </a:solidFill>
                <a:latin typeface="Malgun Gothic"/>
              </a:rPr>
              <a:t>See the learning report (teacher's latest reviews), AI voice-coaching progress and badge shelf.</a:t>
            </a:r>
          </a:p>
          <a:p>
            <a:pPr>
              <a:lnSpc>
                <a:spcPct val="115000"/>
              </a:lnSpc>
              <a:spcAft>
                <a:spcPts val="600"/>
              </a:spcAft>
            </a:pPr>
            <a:r>
              <a:rPr sz="1050" b="1">
                <a:solidFill>
                  <a:srgbClr val="7C3AED"/>
                </a:solidFill>
                <a:latin typeface="Malgun Gothic"/>
              </a:rPr>
              <a:t>● </a:t>
            </a:r>
            <a:r>
              <a:rPr sz="1250">
                <a:solidFill>
                  <a:srgbClr val="334155"/>
                </a:solidFill>
                <a:latin typeface="Malgun Gothic"/>
              </a:rPr>
              <a:t>Wrap up the month with AI study recommendations and the monthly report (print/PDF).</a:t>
            </a:r>
          </a:p>
        </p:txBody>
      </p:sp>
      <p:sp>
        <p:nvSpPr>
          <p:cNvPr id="14" name="Rounded Rectangle 13"/>
          <p:cNvSpPr/>
          <p:nvPr/>
        </p:nvSpPr>
        <p:spPr>
          <a:xfrm>
            <a:off x="457200" y="5166360"/>
            <a:ext cx="5669280" cy="1316736"/>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21224"/>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5495544"/>
            <a:ext cx="5394960" cy="950976"/>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Attendance, reviews, points and coaching progress are all on one screen.</a:t>
            </a:r>
          </a:p>
          <a:p>
            <a:pPr>
              <a:lnSpc>
                <a:spcPct val="115000"/>
              </a:lnSpc>
              <a:spcAft>
                <a:spcPts val="200"/>
              </a:spcAft>
            </a:pPr>
            <a:r>
              <a:rPr sz="900" b="1">
                <a:solidFill>
                  <a:srgbClr val="7C3AED"/>
                </a:solidFill>
                <a:latin typeface="Malgun Gothic"/>
              </a:rPr>
              <a:t>● </a:t>
            </a:r>
            <a:r>
              <a:rPr sz="1100">
                <a:solidFill>
                  <a:srgbClr val="334155"/>
                </a:solidFill>
                <a:latin typeface="Malgun Gothic"/>
              </a:rPr>
              <a:t>The monthly report can be printed or saved as PDF.</a:t>
            </a:r>
          </a:p>
          <a:p>
            <a:pPr>
              <a:lnSpc>
                <a:spcPct val="115000"/>
              </a:lnSpc>
              <a:spcAft>
                <a:spcPts val="200"/>
              </a:spcAft>
            </a:pPr>
            <a:r>
              <a:rPr sz="900" b="1">
                <a:solidFill>
                  <a:srgbClr val="7C3AED"/>
                </a:solidFill>
                <a:latin typeface="Malgun Gothic"/>
              </a:rPr>
              <a:t>● </a:t>
            </a:r>
            <a:r>
              <a:rPr sz="1100">
                <a:solidFill>
                  <a:srgbClr val="334155"/>
                </a:solidFill>
                <a:latin typeface="Malgun Gothic"/>
              </a:rPr>
              <a:t>If you don't know the student ID, ask the teacher/academy.</a:t>
            </a:r>
          </a:p>
        </p:txBody>
      </p:sp>
      <p:sp>
        <p:nvSpPr>
          <p:cNvPr id="17" name="Rounded Rectangle 16"/>
          <p:cNvSpPr/>
          <p:nvPr/>
        </p:nvSpPr>
        <p:spPr>
          <a:xfrm>
            <a:off x="457200" y="6592824"/>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638544"/>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Manage the student ID like a password — anyone with it can view.</a:t>
            </a:r>
          </a:p>
        </p:txBody>
      </p:sp>
      <p:sp>
        <p:nvSpPr>
          <p:cNvPr id="19" name="Rounded Rectangle 18"/>
          <p:cNvSpPr/>
          <p:nvPr/>
        </p:nvSpPr>
        <p:spPr>
          <a:xfrm>
            <a:off x="457200" y="7324344"/>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7370064"/>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Reading the review together the day after class and praising your child boosts their motivation a lot.</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admin_parent.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35</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[Parents] Payment · Postpone · Refund</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Tuition and schedule</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Tuition payment, postponing/changing a lesson when something comes up, and the refund policy — useful things for parents to know. It's all handled on the web and auto-calculated by policy.</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Book/Pay: choose the lesson type (1:1/group) and count, then pay.</a:t>
            </a:r>
          </a:p>
          <a:p>
            <a:pPr>
              <a:lnSpc>
                <a:spcPct val="115000"/>
              </a:lnSpc>
              <a:spcAft>
                <a:spcPts val="600"/>
              </a:spcAft>
            </a:pPr>
            <a:r>
              <a:rPr sz="1050" b="1">
                <a:solidFill>
                  <a:srgbClr val="7C3AED"/>
                </a:solidFill>
                <a:latin typeface="Malgun Gothic"/>
              </a:rPr>
              <a:t>● </a:t>
            </a:r>
            <a:r>
              <a:rPr sz="1250">
                <a:solidFill>
                  <a:srgbClr val="334155"/>
                </a:solidFill>
                <a:latin typeface="Malgun Gothic"/>
              </a:rPr>
              <a:t>Postpone/Change: if something comes up, request in advance to move it later. (lesson count is preserved)</a:t>
            </a:r>
          </a:p>
          <a:p>
            <a:pPr>
              <a:lnSpc>
                <a:spcPct val="115000"/>
              </a:lnSpc>
              <a:spcAft>
                <a:spcPts val="600"/>
              </a:spcAft>
            </a:pPr>
            <a:r>
              <a:rPr sz="1050" b="1">
                <a:solidFill>
                  <a:srgbClr val="7C3AED"/>
                </a:solidFill>
                <a:latin typeface="Malgun Gothic"/>
              </a:rPr>
              <a:t>● </a:t>
            </a:r>
            <a:r>
              <a:rPr sz="1250">
                <a:solidFill>
                  <a:srgbClr val="334155"/>
                </a:solidFill>
                <a:latin typeface="Malgun Gothic"/>
              </a:rPr>
              <a:t>Refund: auto-calculated per the refund table (100% before the lesson starts, etc.).</a:t>
            </a:r>
          </a:p>
          <a:p>
            <a:pPr>
              <a:lnSpc>
                <a:spcPct val="115000"/>
              </a:lnSpc>
              <a:spcAft>
                <a:spcPts val="600"/>
              </a:spcAft>
            </a:pPr>
            <a:r>
              <a:rPr sz="1050" b="1">
                <a:solidFill>
                  <a:srgbClr val="7C3AED"/>
                </a:solidFill>
                <a:latin typeface="Malgun Gothic"/>
              </a:rPr>
              <a:t>● </a:t>
            </a:r>
            <a:r>
              <a:rPr sz="1250">
                <a:solidFill>
                  <a:srgbClr val="334155"/>
                </a:solidFill>
                <a:latin typeface="Malgun Gothic"/>
              </a:rPr>
              <a:t>Questions? Contact support (phone, email, Kakao).</a:t>
            </a:r>
          </a:p>
        </p:txBody>
      </p:sp>
      <p:sp>
        <p:nvSpPr>
          <p:cNvPr id="14" name="Rounded Rectangle 13"/>
          <p:cNvSpPr/>
          <p:nvPr/>
        </p:nvSpPr>
        <p:spPr>
          <a:xfrm>
            <a:off x="457200" y="4782312"/>
            <a:ext cx="5669280" cy="1316736"/>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5111496"/>
            <a:ext cx="5394960" cy="950976"/>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The earlier you request a postpone, the easier to get the time you want.</a:t>
            </a:r>
          </a:p>
          <a:p>
            <a:pPr>
              <a:lnSpc>
                <a:spcPct val="115000"/>
              </a:lnSpc>
              <a:spcAft>
                <a:spcPts val="200"/>
              </a:spcAft>
            </a:pPr>
            <a:r>
              <a:rPr sz="900" b="1">
                <a:solidFill>
                  <a:srgbClr val="7C3AED"/>
                </a:solidFill>
                <a:latin typeface="Malgun Gothic"/>
              </a:rPr>
              <a:t>● </a:t>
            </a:r>
            <a:r>
              <a:rPr sz="1100">
                <a:solidFill>
                  <a:srgbClr val="334155"/>
                </a:solidFill>
                <a:latin typeface="Malgun Gothic"/>
              </a:rPr>
              <a:t>Refunds on discounted lessons are recalculated at list price.</a:t>
            </a:r>
          </a:p>
          <a:p>
            <a:pPr>
              <a:lnSpc>
                <a:spcPct val="115000"/>
              </a:lnSpc>
              <a:spcAft>
                <a:spcPts val="200"/>
              </a:spcAft>
            </a:pPr>
            <a:r>
              <a:rPr sz="900" b="1">
                <a:solidFill>
                  <a:srgbClr val="7C3AED"/>
                </a:solidFill>
                <a:latin typeface="Malgun Gothic"/>
              </a:rPr>
              <a:t>● </a:t>
            </a:r>
            <a:r>
              <a:rPr sz="1100">
                <a:solidFill>
                  <a:srgbClr val="334155"/>
                </a:solidFill>
                <a:latin typeface="Malgun Gothic"/>
              </a:rPr>
              <a:t>Overdue/payment notices can arrive via alert-talk/SMS.</a:t>
            </a:r>
          </a:p>
        </p:txBody>
      </p:sp>
      <p:sp>
        <p:nvSpPr>
          <p:cNvPr id="17" name="Rounded Rectangle 16"/>
          <p:cNvSpPr/>
          <p:nvPr/>
        </p:nvSpPr>
        <p:spPr>
          <a:xfrm>
            <a:off x="457200" y="6208775"/>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254495"/>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Lessons missed without postponing may be marked absent. Check the policy in advance.</a:t>
            </a:r>
          </a:p>
        </p:txBody>
      </p:sp>
      <p:sp>
        <p:nvSpPr>
          <p:cNvPr id="19" name="Rounded Rectangle 18"/>
          <p:cNvSpPr/>
          <p:nvPr/>
        </p:nvSpPr>
        <p:spPr>
          <a:xfrm>
            <a:off x="457200" y="6940295"/>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986015"/>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Checking the postpone/refund policy at signup avoids confusion later.</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ommon_booking.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36</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Korea·Philippines Dual Clock</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Two countries' time on screen</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A small clock on screen shows 🇰🇷 Korea time and 🇵🇭 Philippines time together. Our native teachers are in the Philippines, so seeing both times keeps you from mixing up lesson times.</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On the on-screen dual clock, see 🇰🇷 Korea and 🇵🇭 Philippines time at once.</a:t>
            </a:r>
          </a:p>
          <a:p>
            <a:pPr>
              <a:lnSpc>
                <a:spcPct val="115000"/>
              </a:lnSpc>
              <a:spcAft>
                <a:spcPts val="600"/>
              </a:spcAft>
            </a:pPr>
            <a:r>
              <a:rPr sz="1050" b="1">
                <a:solidFill>
                  <a:srgbClr val="7C3AED"/>
                </a:solidFill>
                <a:latin typeface="Malgun Gothic"/>
              </a:rPr>
              <a:t>● </a:t>
            </a:r>
            <a:r>
              <a:rPr sz="1250">
                <a:solidFill>
                  <a:srgbClr val="334155"/>
                </a:solidFill>
                <a:latin typeface="Malgun Gothic"/>
              </a:rPr>
              <a:t>Drag the clock to move it anywhere you like.</a:t>
            </a:r>
          </a:p>
          <a:p>
            <a:pPr>
              <a:lnSpc>
                <a:spcPct val="115000"/>
              </a:lnSpc>
              <a:spcAft>
                <a:spcPts val="600"/>
              </a:spcAft>
            </a:pPr>
            <a:r>
              <a:rPr sz="1050" b="1">
                <a:solidFill>
                  <a:srgbClr val="7C3AED"/>
                </a:solidFill>
                <a:latin typeface="Malgun Gothic"/>
              </a:rPr>
              <a:t>● </a:t>
            </a:r>
            <a:r>
              <a:rPr sz="1250">
                <a:solidFill>
                  <a:srgbClr val="334155"/>
                </a:solidFill>
                <a:latin typeface="Malgun Gothic"/>
              </a:rPr>
              <a:t>Tap (click) the clock to go to the home screen.</a:t>
            </a:r>
          </a:p>
        </p:txBody>
      </p:sp>
      <p:sp>
        <p:nvSpPr>
          <p:cNvPr id="14" name="Rounded Rectangle 13"/>
          <p:cNvSpPr/>
          <p:nvPr/>
        </p:nvSpPr>
        <p:spPr>
          <a:xfrm>
            <a:off x="457200" y="4398264"/>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The Philippines is 1 hour behind Korea (−1 hour).</a:t>
            </a:r>
          </a:p>
          <a:p>
            <a:pPr>
              <a:lnSpc>
                <a:spcPct val="115000"/>
              </a:lnSpc>
              <a:spcAft>
                <a:spcPts val="200"/>
              </a:spcAft>
            </a:pPr>
            <a:r>
              <a:rPr sz="900" b="1">
                <a:solidFill>
                  <a:srgbClr val="7C3AED"/>
                </a:solidFill>
                <a:latin typeface="Malgun Gothic"/>
              </a:rPr>
              <a:t>● </a:t>
            </a:r>
            <a:r>
              <a:rPr sz="1100">
                <a:solidFill>
                  <a:srgbClr val="334155"/>
                </a:solidFill>
                <a:latin typeface="Malgun Gothic"/>
              </a:rPr>
              <a:t>You can check booking/entry times in both countries' time.</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When a lesson time is confusing due to the time difference, this clock clears it up instantly.</a:t>
            </a:r>
          </a:p>
        </p:txBody>
      </p:sp>
      <p:sp>
        <p:nvSpPr>
          <p:cNvPr id="19" name="Rectangle 18"/>
          <p:cNvSpPr/>
          <p:nvPr/>
        </p:nvSpPr>
        <p:spPr>
          <a:xfrm>
            <a:off x="6300216" y="2356264"/>
            <a:ext cx="5596128" cy="3517071"/>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world_clock.jpg"/>
          <p:cNvPicPr>
            <a:picLocks noChangeAspect="1"/>
          </p:cNvPicPr>
          <p:nvPr/>
        </p:nvPicPr>
        <p:blipFill>
          <a:blip r:embed="rId2"/>
          <a:stretch>
            <a:fillRect/>
          </a:stretch>
        </p:blipFill>
        <p:spPr>
          <a:xfrm>
            <a:off x="6355080" y="2411128"/>
            <a:ext cx="5486400" cy="3407343"/>
          </a:xfrm>
          <a:prstGeom prst="rect">
            <a:avLst/>
          </a:prstGeom>
        </p:spPr>
      </p:pic>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37</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Chinese Pronunciation Coach</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Darakwon Chinese Master Lv1–20</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You can get coaching not just in English but in Chinese pronunciation too! Read sentences along the 'Darakwon Chinese Master' textbook (Lv 1–20) and the AI recognizes your voice and compares it to a native speaker. Characters and pinyin (pronunciation) appear together.</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In the AI voice coach, pick the CN Chinese level (or go to the Chinese pronunciation coach).</a:t>
            </a:r>
          </a:p>
          <a:p>
            <a:pPr>
              <a:lnSpc>
                <a:spcPct val="115000"/>
              </a:lnSpc>
              <a:spcAft>
                <a:spcPts val="600"/>
              </a:spcAft>
            </a:pPr>
            <a:r>
              <a:rPr sz="1050" b="1">
                <a:solidFill>
                  <a:srgbClr val="7C3AED"/>
                </a:solidFill>
                <a:latin typeface="Malgun Gothic"/>
              </a:rPr>
              <a:t>● </a:t>
            </a:r>
            <a:r>
              <a:rPr sz="1250">
                <a:solidFill>
                  <a:srgbClr val="334155"/>
                </a:solidFill>
                <a:latin typeface="Malgun Gothic"/>
              </a:rPr>
              <a:t>Choose a Master series (1–6, HSK 1–6) and a unit.</a:t>
            </a:r>
          </a:p>
          <a:p>
            <a:pPr>
              <a:lnSpc>
                <a:spcPct val="115000"/>
              </a:lnSpc>
              <a:spcAft>
                <a:spcPts val="600"/>
              </a:spcAft>
            </a:pPr>
            <a:r>
              <a:rPr sz="1050" b="1">
                <a:solidFill>
                  <a:srgbClr val="7C3AED"/>
                </a:solidFill>
                <a:latin typeface="Malgun Gothic"/>
              </a:rPr>
              <a:t>● </a:t>
            </a:r>
            <a:r>
              <a:rPr sz="1250">
                <a:solidFill>
                  <a:srgbClr val="334155"/>
                </a:solidFill>
                <a:latin typeface="Malgun Gothic"/>
              </a:rPr>
              <a:t>Read the sentence (characters + pinyin) and compare with 'Play native audio'.</a:t>
            </a:r>
          </a:p>
          <a:p>
            <a:pPr>
              <a:lnSpc>
                <a:spcPct val="115000"/>
              </a:lnSpc>
              <a:spcAft>
                <a:spcPts val="600"/>
              </a:spcAft>
            </a:pPr>
            <a:r>
              <a:rPr sz="1050" b="1">
                <a:solidFill>
                  <a:srgbClr val="7C3AED"/>
                </a:solidFill>
                <a:latin typeface="Malgun Gothic"/>
              </a:rPr>
              <a:t>● </a:t>
            </a:r>
            <a:r>
              <a:rPr sz="1250">
                <a:solidFill>
                  <a:srgbClr val="334155"/>
                </a:solidFill>
                <a:latin typeface="Malgun Gothic"/>
              </a:rPr>
              <a:t>Practice hard sounds/tones with repeat and slow (0.85x).</a:t>
            </a:r>
          </a:p>
        </p:txBody>
      </p:sp>
      <p:sp>
        <p:nvSpPr>
          <p:cNvPr id="14" name="Rounded Rectangle 13"/>
          <p:cNvSpPr/>
          <p:nvPr/>
        </p:nvSpPr>
        <p:spPr>
          <a:xfrm>
            <a:off x="457200" y="4782312"/>
            <a:ext cx="5669280" cy="1316736"/>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5111496"/>
            <a:ext cx="5394960" cy="950976"/>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Characters and pinyin appear together, so it's easy to read.</a:t>
            </a:r>
          </a:p>
          <a:p>
            <a:pPr>
              <a:lnSpc>
                <a:spcPct val="115000"/>
              </a:lnSpc>
              <a:spcAft>
                <a:spcPts val="200"/>
              </a:spcAft>
            </a:pPr>
            <a:r>
              <a:rPr sz="900" b="1">
                <a:solidFill>
                  <a:srgbClr val="7C3AED"/>
                </a:solidFill>
                <a:latin typeface="Malgun Gothic"/>
              </a:rPr>
              <a:t>● </a:t>
            </a:r>
            <a:r>
              <a:rPr sz="1100">
                <a:solidFill>
                  <a:srgbClr val="334155"/>
                </a:solidFill>
                <a:latin typeface="Malgun Gothic"/>
              </a:rPr>
              <a:t>The AI recognizes your voice and compares it to a native speaker.</a:t>
            </a:r>
          </a:p>
          <a:p>
            <a:pPr>
              <a:lnSpc>
                <a:spcPct val="115000"/>
              </a:lnSpc>
              <a:spcAft>
                <a:spcPts val="200"/>
              </a:spcAft>
            </a:pPr>
            <a:r>
              <a:rPr sz="900" b="1">
                <a:solidFill>
                  <a:srgbClr val="7C3AED"/>
                </a:solidFill>
                <a:latin typeface="Malgun Gothic"/>
              </a:rPr>
              <a:t>● </a:t>
            </a:r>
            <a:r>
              <a:rPr sz="1100">
                <a:solidFill>
                  <a:srgbClr val="334155"/>
                </a:solidFill>
                <a:latin typeface="Malgun Gothic"/>
              </a:rPr>
              <a:t>The learning games hub supports Chinese too.</a:t>
            </a:r>
          </a:p>
        </p:txBody>
      </p:sp>
      <p:sp>
        <p:nvSpPr>
          <p:cNvPr id="17" name="Rounded Rectangle 16"/>
          <p:cNvSpPr/>
          <p:nvPr/>
        </p:nvSpPr>
        <p:spPr>
          <a:xfrm>
            <a:off x="457200" y="6208775"/>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254495"/>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Listen slowly and repeat clearly to nail the four tones.</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speechcoach_cn.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38</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AI Voice Diary</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Speak about your day in English and AI corrects it</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Say what happened today in English, and AI transcribes your speech, polishes the sentences, and leaves a score and encouragement. A little every day builds your own English diary!</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On the home menu, tap the 📔 AI Voice Diary card (next to the English/Chinese pronunciation coach).</a:t>
            </a:r>
          </a:p>
          <a:p>
            <a:pPr>
              <a:lnSpc>
                <a:spcPct val="115000"/>
              </a:lnSpc>
              <a:spcAft>
                <a:spcPts val="600"/>
              </a:spcAft>
            </a:pPr>
            <a:r>
              <a:rPr sz="1050" b="1">
                <a:solidFill>
                  <a:srgbClr val="7C3AED"/>
                </a:solidFill>
                <a:latin typeface="Malgun Gothic"/>
              </a:rPr>
              <a:t>● </a:t>
            </a:r>
            <a:r>
              <a:rPr sz="1250">
                <a:solidFill>
                  <a:srgbClr val="334155"/>
                </a:solidFill>
                <a:latin typeface="Malgun Gothic"/>
              </a:rPr>
              <a:t>In the 🎤 Record tab, press ‘Start recording’ and talk about your day in English (about 30 seconds is plenty!).</a:t>
            </a:r>
          </a:p>
          <a:p>
            <a:pPr>
              <a:lnSpc>
                <a:spcPct val="115000"/>
              </a:lnSpc>
              <a:spcAft>
                <a:spcPts val="600"/>
              </a:spcAft>
            </a:pPr>
            <a:r>
              <a:rPr sz="1050" b="1">
                <a:solidFill>
                  <a:srgbClr val="7C3AED"/>
                </a:solidFill>
                <a:latin typeface="Malgun Gothic"/>
              </a:rPr>
              <a:t>● </a:t>
            </a:r>
            <a:r>
              <a:rPr sz="1250">
                <a:solidFill>
                  <a:srgbClr val="334155"/>
                </a:solidFill>
                <a:latin typeface="Malgun Gothic"/>
              </a:rPr>
              <a:t>Press ‘Stop’ and AI automatically does transcribe → correct → score &amp; encourage.</a:t>
            </a:r>
          </a:p>
          <a:p>
            <a:pPr>
              <a:lnSpc>
                <a:spcPct val="115000"/>
              </a:lnSpc>
              <a:spcAft>
                <a:spcPts val="600"/>
              </a:spcAft>
            </a:pPr>
            <a:r>
              <a:rPr sz="1050" b="1">
                <a:solidFill>
                  <a:srgbClr val="7C3AED"/>
                </a:solidFill>
                <a:latin typeface="Malgun Gothic"/>
              </a:rPr>
              <a:t>● </a:t>
            </a:r>
            <a:r>
              <a:rPr sz="1250">
                <a:solidFill>
                  <a:srgbClr val="334155"/>
                </a:solidFill>
                <a:latin typeface="Malgun Gothic"/>
              </a:rPr>
              <a:t>The 📅 Calendar tab lets you revisit past entries by date.</a:t>
            </a:r>
          </a:p>
        </p:txBody>
      </p:sp>
      <p:sp>
        <p:nvSpPr>
          <p:cNvPr id="14" name="Rounded Rectangle 13"/>
          <p:cNvSpPr/>
          <p:nvPr/>
        </p:nvSpPr>
        <p:spPr>
          <a:xfrm>
            <a:off x="457200" y="4782312"/>
            <a:ext cx="5669280" cy="1316736"/>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5111496"/>
            <a:ext cx="5394960" cy="950976"/>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Turns your spoken English into text and rewrites awkward sentences naturally.</a:t>
            </a:r>
          </a:p>
          <a:p>
            <a:pPr>
              <a:lnSpc>
                <a:spcPct val="115000"/>
              </a:lnSpc>
              <a:spcAft>
                <a:spcPts val="200"/>
              </a:spcAft>
            </a:pPr>
            <a:r>
              <a:rPr sz="900" b="1">
                <a:solidFill>
                  <a:srgbClr val="7C3AED"/>
                </a:solidFill>
                <a:latin typeface="Malgun Gothic"/>
              </a:rPr>
              <a:t>● </a:t>
            </a:r>
            <a:r>
              <a:rPr sz="1100">
                <a:solidFill>
                  <a:srgbClr val="334155"/>
                </a:solidFill>
                <a:latin typeface="Malgun Gothic"/>
              </a:rPr>
              <a:t>A score (0–100) and a word of encouragement keep you motivated daily.</a:t>
            </a:r>
          </a:p>
          <a:p>
            <a:pPr>
              <a:lnSpc>
                <a:spcPct val="115000"/>
              </a:lnSpc>
              <a:spcAft>
                <a:spcPts val="200"/>
              </a:spcAft>
            </a:pPr>
            <a:r>
              <a:rPr sz="900" b="1">
                <a:solidFill>
                  <a:srgbClr val="7C3AED"/>
                </a:solidFill>
                <a:latin typeface="Malgun Gothic"/>
              </a:rPr>
              <a:t>● </a:t>
            </a:r>
            <a:r>
              <a:rPr sz="1100">
                <a:solidFill>
                  <a:srgbClr val="334155"/>
                </a:solidFill>
                <a:latin typeface="Malgun Gothic"/>
              </a:rPr>
              <a:t>Doing it daily also connects to attendance streaks and badges.</a:t>
            </a:r>
          </a:p>
        </p:txBody>
      </p:sp>
      <p:sp>
        <p:nvSpPr>
          <p:cNvPr id="17" name="Rounded Rectangle 16"/>
          <p:cNvSpPr/>
          <p:nvPr/>
        </p:nvSpPr>
        <p:spPr>
          <a:xfrm>
            <a:off x="457200" y="6208775"/>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254495"/>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Recording requires you to be logged in. Speaking clearly in a quiet place makes the transcription more accurate.</a:t>
            </a:r>
          </a:p>
        </p:txBody>
      </p:sp>
      <p:sp>
        <p:nvSpPr>
          <p:cNvPr id="19" name="Rounded Rectangle 18"/>
          <p:cNvSpPr/>
          <p:nvPr/>
        </p:nvSpPr>
        <p:spPr>
          <a:xfrm>
            <a:off x="457200" y="6940295"/>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986015"/>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It doesn't have to be perfect. The habit of saying even ‘one sentence’ a day matters most!</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student_voicediary.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39</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Where to next? (Learning-flow guide)</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Finish one activity and get the next one suggested</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When you finish an activity — warm-up, game, class, review, pronunciation — a ‘🚀 Where would you like to go next?’ menu pops up. No need to hunt for menus again; just follow the recommended (⭐) item to flow into your next activity.</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Fully complete a warm-up, student game, review quiz, class, or step-by-step pronunciation.</a:t>
            </a:r>
          </a:p>
          <a:p>
            <a:pPr>
              <a:lnSpc>
                <a:spcPct val="115000"/>
              </a:lnSpc>
              <a:spcAft>
                <a:spcPts val="600"/>
              </a:spcAft>
            </a:pPr>
            <a:r>
              <a:rPr sz="1050" b="1">
                <a:solidFill>
                  <a:srgbClr val="7C3AED"/>
                </a:solidFill>
                <a:latin typeface="Malgun Gothic"/>
              </a:rPr>
              <a:t>● </a:t>
            </a:r>
            <a:r>
              <a:rPr sz="1250">
                <a:solidFill>
                  <a:srgbClr val="334155"/>
                </a:solidFill>
                <a:latin typeface="Malgun Gothic"/>
              </a:rPr>
              <a:t>Look for the ‘🚀 Choose next activity’ button (or the menu that appears automatically).</a:t>
            </a:r>
          </a:p>
          <a:p>
            <a:pPr>
              <a:lnSpc>
                <a:spcPct val="115000"/>
              </a:lnSpc>
              <a:spcAft>
                <a:spcPts val="600"/>
              </a:spcAft>
            </a:pPr>
            <a:r>
              <a:rPr sz="1050" b="1">
                <a:solidFill>
                  <a:srgbClr val="7C3AED"/>
                </a:solidFill>
                <a:latin typeface="Malgun Gothic"/>
              </a:rPr>
              <a:t>● </a:t>
            </a:r>
            <a:r>
              <a:rPr sz="1250">
                <a:solidFill>
                  <a:srgbClr val="334155"/>
                </a:solidFill>
                <a:latin typeface="Malgun Gothic"/>
              </a:rPr>
              <a:t>Pick from Enter Class · AI Warm-up · Review Quiz · Student Games · Replay Recording · Pronunciation, etc.</a:t>
            </a:r>
          </a:p>
          <a:p>
            <a:pPr>
              <a:lnSpc>
                <a:spcPct val="115000"/>
              </a:lnSpc>
              <a:spcAft>
                <a:spcPts val="600"/>
              </a:spcAft>
            </a:pPr>
            <a:r>
              <a:rPr sz="1050" b="1">
                <a:solidFill>
                  <a:srgbClr val="7C3AED"/>
                </a:solidFill>
                <a:latin typeface="Malgun Gothic"/>
              </a:rPr>
              <a:t>● </a:t>
            </a:r>
            <a:r>
              <a:rPr sz="1250">
                <a:solidFill>
                  <a:srgbClr val="334155"/>
                </a:solidFill>
                <a:latin typeface="Malgun Gothic"/>
              </a:rPr>
              <a:t>The recommended (⭐) item is a good next step for right now.</a:t>
            </a:r>
          </a:p>
        </p:txBody>
      </p:sp>
      <p:sp>
        <p:nvSpPr>
          <p:cNvPr id="14" name="Rounded Rectangle 13"/>
          <p:cNvSpPr/>
          <p:nvPr/>
        </p:nvSpPr>
        <p:spPr>
          <a:xfrm>
            <a:off x="457200" y="4782312"/>
            <a:ext cx="5669280" cy="1316736"/>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5111496"/>
            <a:ext cx="5394960" cy="950976"/>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Suggested flow: Warm-up → Game → Class → Review → Pronunciation → Game, naturally connected.</a:t>
            </a:r>
          </a:p>
          <a:p>
            <a:pPr>
              <a:lnSpc>
                <a:spcPct val="115000"/>
              </a:lnSpc>
              <a:spcAft>
                <a:spcPts val="200"/>
              </a:spcAft>
            </a:pPr>
            <a:r>
              <a:rPr sz="900" b="1">
                <a:solidFill>
                  <a:srgbClr val="7C3AED"/>
                </a:solidFill>
                <a:latin typeface="Malgun Gothic"/>
              </a:rPr>
              <a:t>● </a:t>
            </a:r>
            <a:r>
              <a:rPr sz="1100">
                <a:solidFill>
                  <a:srgbClr val="334155"/>
                </a:solidFill>
                <a:latin typeface="Malgun Gothic"/>
              </a:rPr>
              <a:t>Choosing ‘Replay Recording’ instantly replays your last class video.</a:t>
            </a:r>
          </a:p>
          <a:p>
            <a:pPr>
              <a:lnSpc>
                <a:spcPct val="115000"/>
              </a:lnSpc>
              <a:spcAft>
                <a:spcPts val="200"/>
              </a:spcAft>
            </a:pPr>
            <a:r>
              <a:rPr sz="900" b="1">
                <a:solidFill>
                  <a:srgbClr val="7C3AED"/>
                </a:solidFill>
                <a:latin typeface="Malgun Gothic"/>
              </a:rPr>
              <a:t>● </a:t>
            </a:r>
            <a:r>
              <a:rPr sz="1100">
                <a:solidFill>
                  <a:srgbClr val="334155"/>
                </a:solidFill>
                <a:latin typeface="Malgun Gothic"/>
              </a:rPr>
              <a:t>Even without playing a game/quiz, the list screen's ‘🚀 Go next’ button opens the menu.</a:t>
            </a:r>
          </a:p>
        </p:txBody>
      </p:sp>
      <p:sp>
        <p:nvSpPr>
          <p:cNvPr id="17" name="Rounded Rectangle 16"/>
          <p:cNvSpPr/>
          <p:nvPr/>
        </p:nvSpPr>
        <p:spPr>
          <a:xfrm>
            <a:off x="457200" y="6208775"/>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254495"/>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When you're unsure what to do, open this menu to keep today's study flowing smoothly.</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flow.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40</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Ask the A.i Assistant</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The consultant avatar at the bottom-right</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Tap the ‘A.i Assistant’ at the bottom-right of the screen to ask anything, anytime. It explains how to use features and where they are, and can take you straight to the right menu.</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Tap the A.i Assistant icon at the bottom-right of the home screen.</a:t>
            </a:r>
          </a:p>
          <a:p>
            <a:pPr>
              <a:lnSpc>
                <a:spcPct val="115000"/>
              </a:lnSpc>
              <a:spcAft>
                <a:spcPts val="600"/>
              </a:spcAft>
            </a:pPr>
            <a:r>
              <a:rPr sz="1050" b="1">
                <a:solidFill>
                  <a:srgbClr val="7C3AED"/>
                </a:solidFill>
                <a:latin typeface="Malgun Gothic"/>
              </a:rPr>
              <a:t>● </a:t>
            </a:r>
            <a:r>
              <a:rPr sz="1250">
                <a:solidFill>
                  <a:srgbClr val="334155"/>
                </a:solidFill>
                <a:latin typeface="Malgun Gothic"/>
              </a:rPr>
              <a:t>Type your question freely (e.g. “Where do I take the review quiz?”).</a:t>
            </a:r>
          </a:p>
          <a:p>
            <a:pPr>
              <a:lnSpc>
                <a:spcPct val="115000"/>
              </a:lnSpc>
              <a:spcAft>
                <a:spcPts val="600"/>
              </a:spcAft>
            </a:pPr>
            <a:r>
              <a:rPr sz="1050" b="1">
                <a:solidFill>
                  <a:srgbClr val="7C3AED"/>
                </a:solidFill>
                <a:latin typeface="Malgun Gothic"/>
              </a:rPr>
              <a:t>● </a:t>
            </a:r>
            <a:r>
              <a:rPr sz="1250">
                <a:solidFill>
                  <a:srgbClr val="334155"/>
                </a:solidFill>
                <a:latin typeface="Malgun Gothic"/>
              </a:rPr>
              <a:t>The assistant answers and guides you to the right menu.</a:t>
            </a:r>
          </a:p>
          <a:p>
            <a:pPr>
              <a:lnSpc>
                <a:spcPct val="115000"/>
              </a:lnSpc>
              <a:spcAft>
                <a:spcPts val="600"/>
              </a:spcAft>
            </a:pPr>
            <a:r>
              <a:rPr sz="1050" b="1">
                <a:solidFill>
                  <a:srgbClr val="7C3AED"/>
                </a:solidFill>
                <a:latin typeface="Malgun Gothic"/>
              </a:rPr>
              <a:t>● </a:t>
            </a:r>
            <a:r>
              <a:rPr sz="1250">
                <a:solidFill>
                  <a:srgbClr val="334155"/>
                </a:solidFill>
                <a:latin typeface="Malgun Gothic"/>
              </a:rPr>
              <a:t>You can also speak your question using the 🎤 mic.</a:t>
            </a:r>
          </a:p>
        </p:txBody>
      </p:sp>
      <p:sp>
        <p:nvSpPr>
          <p:cNvPr id="14" name="Rounded Rectangle 13"/>
          <p:cNvSpPr/>
          <p:nvPr/>
        </p:nvSpPr>
        <p:spPr>
          <a:xfrm>
            <a:off x="457200" y="4782312"/>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Points you straight to features like student games, pronunciation coach, or voice diary.</a:t>
            </a:r>
          </a:p>
          <a:p>
            <a:pPr>
              <a:lnSpc>
                <a:spcPct val="115000"/>
              </a:lnSpc>
              <a:spcAft>
                <a:spcPts val="200"/>
              </a:spcAft>
            </a:pPr>
            <a:r>
              <a:rPr sz="900" b="1">
                <a:solidFill>
                  <a:srgbClr val="7C3AED"/>
                </a:solidFill>
                <a:latin typeface="Malgun Gothic"/>
              </a:rPr>
              <a:t>● </a:t>
            </a:r>
            <a:r>
              <a:rPr sz="1100">
                <a:solidFill>
                  <a:srgbClr val="334155"/>
                </a:solidFill>
                <a:latin typeface="Malgun Gothic"/>
              </a:rPr>
              <a:t>Available anytime (nights &amp; weekends too) so you can use everything on your own.</a:t>
            </a:r>
          </a:p>
        </p:txBody>
      </p:sp>
      <p:sp>
        <p:nvSpPr>
          <p:cNvPr id="17" name="Rounded Rectangle 16"/>
          <p:cNvSpPr/>
          <p:nvPr/>
        </p:nvSpPr>
        <p:spPr>
          <a:xfrm>
            <a:off x="457200" y="5897879"/>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Requests that need a human — billing, operations — are routed to KakaoTalk chat or customer support.</a:t>
            </a:r>
          </a:p>
        </p:txBody>
      </p:sp>
      <p:sp>
        <p:nvSpPr>
          <p:cNvPr id="19" name="Rounded Rectangle 18"/>
          <p:cNvSpPr/>
          <p:nvPr/>
        </p:nvSpPr>
        <p:spPr>
          <a:xfrm>
            <a:off x="457200" y="6629399"/>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67511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Say what you want to do, like “I want to ○○,” and it takes you to that screen.</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student_aiavatar.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Feature Summary · Data</a:t>
            </a:r>
          </a:p>
        </p:txBody>
      </p:sp>
      <p:sp>
        <p:nvSpPr>
          <p:cNvPr id="6" name="TextBox 5"/>
          <p:cNvSpPr txBox="1"/>
          <p:nvPr/>
        </p:nvSpPr>
        <p:spPr>
          <a:xfrm>
            <a:off x="987552" y="868680"/>
            <a:ext cx="9144000" cy="457200"/>
          </a:xfrm>
          <a:prstGeom prst="rect">
            <a:avLst/>
          </a:prstGeom>
          <a:noFill/>
        </p:spPr>
        <p:txBody>
          <a:bodyPr wrap="square" anchor="t">
            <a:spAutoFit/>
          </a:bodyPr>
          <a:lstStyle/>
          <a:p>
            <a:pPr algn="l">
              <a:lnSpc>
                <a:spcPct val="100000"/>
              </a:lnSpc>
            </a:pPr>
            <a:r>
              <a:rPr sz="2200" b="1">
                <a:solidFill>
                  <a:srgbClr val="7C3AED"/>
                </a:solidFill>
                <a:latin typeface="Malgun Gothic"/>
              </a:rPr>
              <a:t>📋 Student Features at a Glance</a:t>
            </a:r>
          </a:p>
        </p:txBody>
      </p:sp>
      <p:graphicFrame>
        <p:nvGraphicFramePr>
          <p:cNvPr id="7" name="Table 6"/>
          <p:cNvGraphicFramePr>
            <a:graphicFrameLocks noGrp="1"/>
          </p:cNvGraphicFramePr>
          <p:nvPr/>
        </p:nvGraphicFramePr>
        <p:xfrm>
          <a:off x="365760" y="1463040"/>
          <a:ext cx="11460175" cy="5029200"/>
        </p:xfrm>
        <a:graphic>
          <a:graphicData uri="http://schemas.openxmlformats.org/drawingml/2006/table">
            <a:tbl>
              <a:tblPr firstRow="1" bandRow="1">
                <a:tableStyleId>{5C22544A-7EE6-4342-B048-85BDC9FD1C3A}</a:tableStyleId>
              </a:tblPr>
              <a:tblGrid>
                <a:gridCol w="2865043"/>
                <a:gridCol w="2865043"/>
                <a:gridCol w="2865043"/>
                <a:gridCol w="2865046"/>
              </a:tblGrid>
              <a:tr h="502920">
                <a:tc>
                  <a:txBody>
                    <a:bodyPr/>
                    <a:lstStyle/>
                    <a:p>
                      <a:pPr algn="ctr"/>
                      <a:r>
                        <a:rPr sz="1300" b="1">
                          <a:solidFill>
                            <a:srgbClr val="FFFFFF"/>
                          </a:solidFill>
                          <a:latin typeface="Malgun Gothic"/>
                        </a:rPr>
                        <a:t>Menu</a:t>
                      </a:r>
                    </a:p>
                  </a:txBody>
                  <a:tcPr>
                    <a:solidFill>
                      <a:srgbClr val="7C3AED"/>
                    </a:solidFill>
                  </a:tcPr>
                </a:tc>
                <a:tc>
                  <a:txBody>
                    <a:bodyPr/>
                    <a:lstStyle/>
                    <a:p>
                      <a:pPr algn="ctr"/>
                      <a:r>
                        <a:rPr sz="1300" b="1">
                          <a:solidFill>
                            <a:srgbClr val="FFFFFF"/>
                          </a:solidFill>
                          <a:latin typeface="Malgun Gothic"/>
                        </a:rPr>
                        <a:t>What it does</a:t>
                      </a:r>
                    </a:p>
                  </a:txBody>
                  <a:tcPr>
                    <a:solidFill>
                      <a:srgbClr val="7C3AED"/>
                    </a:solidFill>
                  </a:tcPr>
                </a:tc>
                <a:tc>
                  <a:txBody>
                    <a:bodyPr/>
                    <a:lstStyle/>
                    <a:p>
                      <a:pPr algn="ctr"/>
                      <a:r>
                        <a:rPr sz="1300" b="1">
                          <a:solidFill>
                            <a:srgbClr val="FFFFFF"/>
                          </a:solidFill>
                          <a:latin typeface="Malgun Gothic"/>
                        </a:rPr>
                        <a:t>When to use</a:t>
                      </a:r>
                    </a:p>
                  </a:txBody>
                  <a:tcPr>
                    <a:solidFill>
                      <a:srgbClr val="7C3AED"/>
                    </a:solidFill>
                  </a:tcPr>
                </a:tc>
                <a:tc>
                  <a:txBody>
                    <a:bodyPr/>
                    <a:lstStyle/>
                    <a:p>
                      <a:pPr algn="ctr"/>
                      <a:r>
                        <a:rPr sz="1300" b="1">
                          <a:solidFill>
                            <a:srgbClr val="FFFFFF"/>
                          </a:solidFill>
                          <a:latin typeface="Malgun Gothic"/>
                        </a:rPr>
                        <a:t>What you gain</a:t>
                      </a:r>
                    </a:p>
                  </a:txBody>
                  <a:tcPr>
                    <a:solidFill>
                      <a:srgbClr val="7C3AED"/>
                    </a:solidFill>
                  </a:tcPr>
                </a:tc>
              </a:tr>
              <a:tr h="502920">
                <a:tc>
                  <a:txBody>
                    <a:bodyPr/>
                    <a:lstStyle/>
                    <a:p>
                      <a:pPr algn="l"/>
                      <a:r>
                        <a:rPr sz="1200" b="1">
                          <a:solidFill>
                            <a:srgbClr val="334155"/>
                          </a:solidFill>
                          <a:latin typeface="Malgun Gothic"/>
                        </a:rPr>
                        <a:t>Video lesson</a:t>
                      </a:r>
                    </a:p>
                  </a:txBody>
                  <a:tcPr>
                    <a:solidFill>
                      <a:srgbClr val="FFFFFF"/>
                    </a:solidFill>
                  </a:tcPr>
                </a:tc>
                <a:tc>
                  <a:txBody>
                    <a:bodyPr/>
                    <a:lstStyle/>
                    <a:p>
                      <a:pPr algn="ctr"/>
                      <a:r>
                        <a:rPr sz="1200">
                          <a:solidFill>
                            <a:srgbClr val="334155"/>
                          </a:solidFill>
                          <a:latin typeface="Malgun Gothic"/>
                        </a:rPr>
                        <a:t>1:1 native lesson</a:t>
                      </a:r>
                    </a:p>
                  </a:txBody>
                  <a:tcPr>
                    <a:solidFill>
                      <a:srgbClr val="FFFFFF"/>
                    </a:solidFill>
                  </a:tcPr>
                </a:tc>
                <a:tc>
                  <a:txBody>
                    <a:bodyPr/>
                    <a:lstStyle/>
                    <a:p>
                      <a:pPr algn="ctr"/>
                      <a:r>
                        <a:rPr sz="1200">
                          <a:solidFill>
                            <a:srgbClr val="334155"/>
                          </a:solidFill>
                          <a:latin typeface="Malgun Gothic"/>
                        </a:rPr>
                        <a:t>At set lesson times</a:t>
                      </a:r>
                    </a:p>
                  </a:txBody>
                  <a:tcPr>
                    <a:solidFill>
                      <a:srgbClr val="FFFFFF"/>
                    </a:solidFill>
                  </a:tcPr>
                </a:tc>
                <a:tc>
                  <a:txBody>
                    <a:bodyPr/>
                    <a:lstStyle/>
                    <a:p>
                      <a:pPr algn="ctr"/>
                      <a:r>
                        <a:rPr sz="1200">
                          <a:solidFill>
                            <a:srgbClr val="334155"/>
                          </a:solidFill>
                          <a:latin typeface="Malgun Gothic"/>
                        </a:rPr>
                        <a:t>Speaking skill ↑</a:t>
                      </a:r>
                    </a:p>
                  </a:txBody>
                  <a:tcPr>
                    <a:solidFill>
                      <a:srgbClr val="FFFFFF"/>
                    </a:solidFill>
                  </a:tcPr>
                </a:tc>
              </a:tr>
              <a:tr h="502920">
                <a:tc>
                  <a:txBody>
                    <a:bodyPr/>
                    <a:lstStyle/>
                    <a:p>
                      <a:pPr algn="l"/>
                      <a:r>
                        <a:rPr sz="1200" b="1">
                          <a:solidFill>
                            <a:srgbClr val="334155"/>
                          </a:solidFill>
                          <a:latin typeface="Malgun Gothic"/>
                        </a:rPr>
                        <a:t>Class toolbar</a:t>
                      </a:r>
                    </a:p>
                  </a:txBody>
                  <a:tcPr>
                    <a:solidFill>
                      <a:srgbClr val="F8FAFC"/>
                    </a:solidFill>
                  </a:tcPr>
                </a:tc>
                <a:tc>
                  <a:txBody>
                    <a:bodyPr/>
                    <a:lstStyle/>
                    <a:p>
                      <a:pPr algn="ctr"/>
                      <a:r>
                        <a:rPr sz="1200">
                          <a:solidFill>
                            <a:srgbClr val="334155"/>
                          </a:solidFill>
                          <a:latin typeface="Malgun Gothic"/>
                        </a:rPr>
                        <a:t>Video·materials·board·chat</a:t>
                      </a:r>
                    </a:p>
                  </a:txBody>
                  <a:tcPr>
                    <a:solidFill>
                      <a:srgbClr val="F8FAFC"/>
                    </a:solidFill>
                  </a:tcPr>
                </a:tc>
                <a:tc>
                  <a:txBody>
                    <a:bodyPr/>
                    <a:lstStyle/>
                    <a:p>
                      <a:pPr algn="ctr"/>
                      <a:r>
                        <a:rPr sz="1200">
                          <a:solidFill>
                            <a:srgbClr val="334155"/>
                          </a:solidFill>
                          <a:latin typeface="Malgun Gothic"/>
                        </a:rPr>
                        <a:t>During class</a:t>
                      </a:r>
                    </a:p>
                  </a:txBody>
                  <a:tcPr>
                    <a:solidFill>
                      <a:srgbClr val="F8FAFC"/>
                    </a:solidFill>
                  </a:tcPr>
                </a:tc>
                <a:tc>
                  <a:txBody>
                    <a:bodyPr/>
                    <a:lstStyle/>
                    <a:p>
                      <a:pPr algn="ctr"/>
                      <a:r>
                        <a:rPr sz="1200">
                          <a:solidFill>
                            <a:srgbClr val="334155"/>
                          </a:solidFill>
                          <a:latin typeface="Malgun Gothic"/>
                        </a:rPr>
                        <a:t>Tool mastery</a:t>
                      </a:r>
                    </a:p>
                  </a:txBody>
                  <a:tcPr>
                    <a:solidFill>
                      <a:srgbClr val="F8FAFC"/>
                    </a:solidFill>
                  </a:tcPr>
                </a:tc>
              </a:tr>
              <a:tr h="502920">
                <a:tc>
                  <a:txBody>
                    <a:bodyPr/>
                    <a:lstStyle/>
                    <a:p>
                      <a:pPr algn="l"/>
                      <a:r>
                        <a:rPr sz="1200" b="1">
                          <a:solidFill>
                            <a:srgbClr val="334155"/>
                          </a:solidFill>
                          <a:latin typeface="Malgun Gothic"/>
                        </a:rPr>
                        <a:t>AI warm-up</a:t>
                      </a:r>
                    </a:p>
                  </a:txBody>
                  <a:tcPr>
                    <a:solidFill>
                      <a:srgbClr val="FFFFFF"/>
                    </a:solidFill>
                  </a:tcPr>
                </a:tc>
                <a:tc>
                  <a:txBody>
                    <a:bodyPr/>
                    <a:lstStyle/>
                    <a:p>
                      <a:pPr algn="ctr"/>
                      <a:r>
                        <a:rPr sz="1200">
                          <a:solidFill>
                            <a:srgbClr val="334155"/>
                          </a:solidFill>
                          <a:latin typeface="Malgun Gothic"/>
                        </a:rPr>
                        <a:t>Pre-class warm-up</a:t>
                      </a:r>
                    </a:p>
                  </a:txBody>
                  <a:tcPr>
                    <a:solidFill>
                      <a:srgbClr val="FFFFFF"/>
                    </a:solidFill>
                  </a:tcPr>
                </a:tc>
                <a:tc>
                  <a:txBody>
                    <a:bodyPr/>
                    <a:lstStyle/>
                    <a:p>
                      <a:pPr algn="ctr"/>
                      <a:r>
                        <a:rPr sz="1200">
                          <a:solidFill>
                            <a:srgbClr val="334155"/>
                          </a:solidFill>
                          <a:latin typeface="Malgun Gothic"/>
                        </a:rPr>
                        <a:t>5 min before class</a:t>
                      </a:r>
                    </a:p>
                  </a:txBody>
                  <a:tcPr>
                    <a:solidFill>
                      <a:srgbClr val="FFFFFF"/>
                    </a:solidFill>
                  </a:tcPr>
                </a:tc>
                <a:tc>
                  <a:txBody>
                    <a:bodyPr/>
                    <a:lstStyle/>
                    <a:p>
                      <a:pPr algn="ctr"/>
                      <a:r>
                        <a:rPr sz="1200">
                          <a:solidFill>
                            <a:srgbClr val="334155"/>
                          </a:solidFill>
                          <a:latin typeface="Malgun Gothic"/>
                        </a:rPr>
                        <a:t>An easy start</a:t>
                      </a:r>
                    </a:p>
                  </a:txBody>
                  <a:tcPr>
                    <a:solidFill>
                      <a:srgbClr val="FFFFFF"/>
                    </a:solidFill>
                  </a:tcPr>
                </a:tc>
              </a:tr>
              <a:tr h="502920">
                <a:tc>
                  <a:txBody>
                    <a:bodyPr/>
                    <a:lstStyle/>
                    <a:p>
                      <a:pPr algn="l"/>
                      <a:r>
                        <a:rPr sz="1200" b="1">
                          <a:solidFill>
                            <a:srgbClr val="334155"/>
                          </a:solidFill>
                          <a:latin typeface="Malgun Gothic"/>
                        </a:rPr>
                        <a:t>AI voice coach</a:t>
                      </a:r>
                    </a:p>
                  </a:txBody>
                  <a:tcPr>
                    <a:solidFill>
                      <a:srgbClr val="F8FAFC"/>
                    </a:solidFill>
                  </a:tcPr>
                </a:tc>
                <a:tc>
                  <a:txBody>
                    <a:bodyPr/>
                    <a:lstStyle/>
                    <a:p>
                      <a:pPr algn="ctr"/>
                      <a:r>
                        <a:rPr sz="1200">
                          <a:solidFill>
                            <a:srgbClr val="334155"/>
                          </a:solidFill>
                          <a:latin typeface="Malgun Gothic"/>
                        </a:rPr>
                        <a:t>Record &amp; fix pronunciation</a:t>
                      </a:r>
                    </a:p>
                  </a:txBody>
                  <a:tcPr>
                    <a:solidFill>
                      <a:srgbClr val="F8FAFC"/>
                    </a:solidFill>
                  </a:tcPr>
                </a:tc>
                <a:tc>
                  <a:txBody>
                    <a:bodyPr/>
                    <a:lstStyle/>
                    <a:p>
                      <a:pPr algn="ctr"/>
                      <a:r>
                        <a:rPr sz="1200">
                          <a:solidFill>
                            <a:srgbClr val="334155"/>
                          </a:solidFill>
                          <a:latin typeface="Malgun Gothic"/>
                        </a:rPr>
                        <a:t>Daily self-study</a:t>
                      </a:r>
                    </a:p>
                  </a:txBody>
                  <a:tcPr>
                    <a:solidFill>
                      <a:srgbClr val="F8FAFC"/>
                    </a:solidFill>
                  </a:tcPr>
                </a:tc>
                <a:tc>
                  <a:txBody>
                    <a:bodyPr/>
                    <a:lstStyle/>
                    <a:p>
                      <a:pPr algn="ctr"/>
                      <a:r>
                        <a:rPr sz="1200">
                          <a:solidFill>
                            <a:srgbClr val="334155"/>
                          </a:solidFill>
                          <a:latin typeface="Malgun Gothic"/>
                        </a:rPr>
                        <a:t>Accurate sounds</a:t>
                      </a:r>
                    </a:p>
                  </a:txBody>
                  <a:tcPr>
                    <a:solidFill>
                      <a:srgbClr val="F8FAFC"/>
                    </a:solidFill>
                  </a:tcPr>
                </a:tc>
              </a:tr>
              <a:tr h="502920">
                <a:tc>
                  <a:txBody>
                    <a:bodyPr/>
                    <a:lstStyle/>
                    <a:p>
                      <a:pPr algn="l"/>
                      <a:r>
                        <a:rPr sz="1200" b="1">
                          <a:solidFill>
                            <a:srgbClr val="334155"/>
                          </a:solidFill>
                          <a:latin typeface="Malgun Gothic"/>
                        </a:rPr>
                        <a:t>Games</a:t>
                      </a:r>
                    </a:p>
                  </a:txBody>
                  <a:tcPr>
                    <a:solidFill>
                      <a:srgbClr val="FFFFFF"/>
                    </a:solidFill>
                  </a:tcPr>
                </a:tc>
                <a:tc>
                  <a:txBody>
                    <a:bodyPr/>
                    <a:lstStyle/>
                    <a:p>
                      <a:pPr algn="ctr"/>
                      <a:r>
                        <a:rPr sz="1200">
                          <a:solidFill>
                            <a:srgbClr val="334155"/>
                          </a:solidFill>
                          <a:latin typeface="Malgun Gothic"/>
                        </a:rPr>
                        <a:t>Review by playing</a:t>
                      </a:r>
                    </a:p>
                  </a:txBody>
                  <a:tcPr>
                    <a:solidFill>
                      <a:srgbClr val="FFFFFF"/>
                    </a:solidFill>
                  </a:tcPr>
                </a:tc>
                <a:tc>
                  <a:txBody>
                    <a:bodyPr/>
                    <a:lstStyle/>
                    <a:p>
                      <a:pPr algn="ctr"/>
                      <a:r>
                        <a:rPr sz="1200">
                          <a:solidFill>
                            <a:srgbClr val="334155"/>
                          </a:solidFill>
                          <a:latin typeface="Malgun Gothic"/>
                        </a:rPr>
                        <a:t>After class</a:t>
                      </a:r>
                    </a:p>
                  </a:txBody>
                  <a:tcPr>
                    <a:solidFill>
                      <a:srgbClr val="FFFFFF"/>
                    </a:solidFill>
                  </a:tcPr>
                </a:tc>
                <a:tc>
                  <a:txBody>
                    <a:bodyPr/>
                    <a:lstStyle/>
                    <a:p>
                      <a:pPr algn="ctr"/>
                      <a:r>
                        <a:rPr sz="1200">
                          <a:solidFill>
                            <a:srgbClr val="334155"/>
                          </a:solidFill>
                          <a:latin typeface="Malgun Gothic"/>
                        </a:rPr>
                        <a:t>Points·memory</a:t>
                      </a:r>
                    </a:p>
                  </a:txBody>
                  <a:tcPr>
                    <a:solidFill>
                      <a:srgbClr val="FFFFFF"/>
                    </a:solidFill>
                  </a:tcPr>
                </a:tc>
              </a:tr>
              <a:tr h="502920">
                <a:tc>
                  <a:txBody>
                    <a:bodyPr/>
                    <a:lstStyle/>
                    <a:p>
                      <a:pPr algn="l"/>
                      <a:r>
                        <a:rPr sz="1200" b="1">
                          <a:solidFill>
                            <a:srgbClr val="334155"/>
                          </a:solidFill>
                          <a:latin typeface="Malgun Gothic"/>
                        </a:rPr>
                        <a:t>Vocabulary</a:t>
                      </a:r>
                    </a:p>
                  </a:txBody>
                  <a:tcPr>
                    <a:solidFill>
                      <a:srgbClr val="F8FAFC"/>
                    </a:solidFill>
                  </a:tcPr>
                </a:tc>
                <a:tc>
                  <a:txBody>
                    <a:bodyPr/>
                    <a:lstStyle/>
                    <a:p>
                      <a:pPr algn="ctr"/>
                      <a:r>
                        <a:rPr sz="1200">
                          <a:solidFill>
                            <a:srgbClr val="334155"/>
                          </a:solidFill>
                          <a:latin typeface="Malgun Gothic"/>
                        </a:rPr>
                        <a:t>Memorize word cards</a:t>
                      </a:r>
                    </a:p>
                  </a:txBody>
                  <a:tcPr>
                    <a:solidFill>
                      <a:srgbClr val="F8FAFC"/>
                    </a:solidFill>
                  </a:tcPr>
                </a:tc>
                <a:tc>
                  <a:txBody>
                    <a:bodyPr/>
                    <a:lstStyle/>
                    <a:p>
                      <a:pPr algn="ctr"/>
                      <a:r>
                        <a:rPr sz="1200">
                          <a:solidFill>
                            <a:srgbClr val="334155"/>
                          </a:solidFill>
                          <a:latin typeface="Malgun Gothic"/>
                        </a:rPr>
                        <a:t>On the go</a:t>
                      </a:r>
                    </a:p>
                  </a:txBody>
                  <a:tcPr>
                    <a:solidFill>
                      <a:srgbClr val="F8FAFC"/>
                    </a:solidFill>
                  </a:tcPr>
                </a:tc>
                <a:tc>
                  <a:txBody>
                    <a:bodyPr/>
                    <a:lstStyle/>
                    <a:p>
                      <a:pPr algn="ctr"/>
                      <a:r>
                        <a:rPr sz="1200">
                          <a:solidFill>
                            <a:srgbClr val="334155"/>
                          </a:solidFill>
                          <a:latin typeface="Malgun Gothic"/>
                        </a:rPr>
                        <a:t>Vocabulary ↑</a:t>
                      </a:r>
                    </a:p>
                  </a:txBody>
                  <a:tcPr>
                    <a:solidFill>
                      <a:srgbClr val="F8FAFC"/>
                    </a:solidFill>
                  </a:tcPr>
                </a:tc>
              </a:tr>
              <a:tr h="502920">
                <a:tc>
                  <a:txBody>
                    <a:bodyPr/>
                    <a:lstStyle/>
                    <a:p>
                      <a:pPr algn="l"/>
                      <a:r>
                        <a:rPr sz="1200" b="1">
                          <a:solidFill>
                            <a:srgbClr val="334155"/>
                          </a:solidFill>
                          <a:latin typeface="Malgun Gothic"/>
                        </a:rPr>
                        <a:t>AI friend</a:t>
                      </a:r>
                    </a:p>
                  </a:txBody>
                  <a:tcPr>
                    <a:solidFill>
                      <a:srgbClr val="FFFFFF"/>
                    </a:solidFill>
                  </a:tcPr>
                </a:tc>
                <a:tc>
                  <a:txBody>
                    <a:bodyPr/>
                    <a:lstStyle/>
                    <a:p>
                      <a:pPr algn="ctr"/>
                      <a:r>
                        <a:rPr sz="1200">
                          <a:solidFill>
                            <a:srgbClr val="334155"/>
                          </a:solidFill>
                          <a:latin typeface="Malgun Gothic"/>
                        </a:rPr>
                        <a:t>Free English chat</a:t>
                      </a:r>
                    </a:p>
                  </a:txBody>
                  <a:tcPr>
                    <a:solidFill>
                      <a:srgbClr val="FFFFFF"/>
                    </a:solidFill>
                  </a:tcPr>
                </a:tc>
                <a:tc>
                  <a:txBody>
                    <a:bodyPr/>
                    <a:lstStyle/>
                    <a:p>
                      <a:pPr algn="ctr"/>
                      <a:r>
                        <a:rPr sz="1200">
                          <a:solidFill>
                            <a:srgbClr val="334155"/>
                          </a:solidFill>
                          <a:latin typeface="Malgun Gothic"/>
                        </a:rPr>
                        <a:t>When bored</a:t>
                      </a:r>
                    </a:p>
                  </a:txBody>
                  <a:tcPr>
                    <a:solidFill>
                      <a:srgbClr val="FFFFFF"/>
                    </a:solidFill>
                  </a:tcPr>
                </a:tc>
                <a:tc>
                  <a:txBody>
                    <a:bodyPr/>
                    <a:lstStyle/>
                    <a:p>
                      <a:pPr algn="ctr"/>
                      <a:r>
                        <a:rPr sz="1200">
                          <a:solidFill>
                            <a:srgbClr val="334155"/>
                          </a:solidFill>
                          <a:latin typeface="Malgun Gothic"/>
                        </a:rPr>
                        <a:t>Speaking confidence</a:t>
                      </a:r>
                    </a:p>
                  </a:txBody>
                  <a:tcPr>
                    <a:solidFill>
                      <a:srgbClr val="FFFFFF"/>
                    </a:solidFill>
                  </a:tcPr>
                </a:tc>
              </a:tr>
              <a:tr h="502920">
                <a:tc>
                  <a:txBody>
                    <a:bodyPr/>
                    <a:lstStyle/>
                    <a:p>
                      <a:pPr algn="l"/>
                      <a:r>
                        <a:rPr sz="1200" b="1">
                          <a:solidFill>
                            <a:srgbClr val="334155"/>
                          </a:solidFill>
                          <a:latin typeface="Malgun Gothic"/>
                        </a:rPr>
                        <a:t>Streak</a:t>
                      </a:r>
                    </a:p>
                  </a:txBody>
                  <a:tcPr>
                    <a:solidFill>
                      <a:srgbClr val="F8FAFC"/>
                    </a:solidFill>
                  </a:tcPr>
                </a:tc>
                <a:tc>
                  <a:txBody>
                    <a:bodyPr/>
                    <a:lstStyle/>
                    <a:p>
                      <a:pPr algn="ctr"/>
                      <a:r>
                        <a:rPr sz="1200">
                          <a:solidFill>
                            <a:srgbClr val="334155"/>
                          </a:solidFill>
                          <a:latin typeface="Malgun Gothic"/>
                        </a:rPr>
                        <a:t>Daily study flame</a:t>
                      </a:r>
                    </a:p>
                  </a:txBody>
                  <a:tcPr>
                    <a:solidFill>
                      <a:srgbClr val="F8FAFC"/>
                    </a:solidFill>
                  </a:tcPr>
                </a:tc>
                <a:tc>
                  <a:txBody>
                    <a:bodyPr/>
                    <a:lstStyle/>
                    <a:p>
                      <a:pPr algn="ctr"/>
                      <a:r>
                        <a:rPr sz="1200">
                          <a:solidFill>
                            <a:srgbClr val="334155"/>
                          </a:solidFill>
                          <a:latin typeface="Malgun Gothic"/>
                        </a:rPr>
                        <a:t>Every day</a:t>
                      </a:r>
                    </a:p>
                  </a:txBody>
                  <a:tcPr>
                    <a:solidFill>
                      <a:srgbClr val="F8FAFC"/>
                    </a:solidFill>
                  </a:tcPr>
                </a:tc>
                <a:tc>
                  <a:txBody>
                    <a:bodyPr/>
                    <a:lstStyle/>
                    <a:p>
                      <a:pPr algn="ctr"/>
                      <a:r>
                        <a:rPr sz="1200">
                          <a:solidFill>
                            <a:srgbClr val="334155"/>
                          </a:solidFill>
                          <a:latin typeface="Malgun Gothic"/>
                        </a:rPr>
                        <a:t>Badges·habit</a:t>
                      </a:r>
                    </a:p>
                  </a:txBody>
                  <a:tcPr>
                    <a:solidFill>
                      <a:srgbClr val="F8FAFC"/>
                    </a:solidFill>
                  </a:tcPr>
                </a:tc>
              </a:tr>
              <a:tr h="502920">
                <a:tc>
                  <a:txBody>
                    <a:bodyPr/>
                    <a:lstStyle/>
                    <a:p>
                      <a:pPr algn="l"/>
                      <a:r>
                        <a:rPr sz="1200" b="1">
                          <a:solidFill>
                            <a:srgbClr val="334155"/>
                          </a:solidFill>
                          <a:latin typeface="Malgun Gothic"/>
                        </a:rPr>
                        <a:t>Level test</a:t>
                      </a:r>
                    </a:p>
                  </a:txBody>
                  <a:tcPr>
                    <a:solidFill>
                      <a:srgbClr val="FFFFFF"/>
                    </a:solidFill>
                  </a:tcPr>
                </a:tc>
                <a:tc>
                  <a:txBody>
                    <a:bodyPr/>
                    <a:lstStyle/>
                    <a:p>
                      <a:pPr algn="ctr"/>
                      <a:r>
                        <a:rPr sz="1200">
                          <a:solidFill>
                            <a:srgbClr val="334155"/>
                          </a:solidFill>
                          <a:latin typeface="Malgun Gothic"/>
                        </a:rPr>
                        <a:t>Assess your level</a:t>
                      </a:r>
                    </a:p>
                  </a:txBody>
                  <a:tcPr>
                    <a:solidFill>
                      <a:srgbClr val="FFFFFF"/>
                    </a:solidFill>
                  </a:tcPr>
                </a:tc>
                <a:tc>
                  <a:txBody>
                    <a:bodyPr/>
                    <a:lstStyle/>
                    <a:p>
                      <a:pPr algn="ctr"/>
                      <a:r>
                        <a:rPr sz="1200">
                          <a:solidFill>
                            <a:srgbClr val="334155"/>
                          </a:solidFill>
                          <a:latin typeface="Malgun Gothic"/>
                        </a:rPr>
                        <a:t>Start &amp; periodically</a:t>
                      </a:r>
                    </a:p>
                  </a:txBody>
                  <a:tcPr>
                    <a:solidFill>
                      <a:srgbClr val="FFFFFF"/>
                    </a:solidFill>
                  </a:tcPr>
                </a:tc>
                <a:tc>
                  <a:txBody>
                    <a:bodyPr/>
                    <a:lstStyle/>
                    <a:p>
                      <a:pPr algn="ctr"/>
                      <a:r>
                        <a:rPr sz="1200">
                          <a:solidFill>
                            <a:srgbClr val="334155"/>
                          </a:solidFill>
                          <a:latin typeface="Malgun Gothic"/>
                        </a:rPr>
                        <a:t>Tailored lessons</a:t>
                      </a:r>
                    </a:p>
                  </a:txBody>
                  <a:tcPr>
                    <a:solidFill>
                      <a:srgbClr val="FFFFFF"/>
                    </a:solidFill>
                  </a:tcPr>
                </a:tc>
              </a:tr>
            </a:tbl>
          </a:graphicData>
        </a:graphic>
      </p:graphicFrame>
      <p:sp>
        <p:nvSpPr>
          <p:cNvPr id="6" name="Rounded Rectangle 5"/>
          <p:cNvSpPr/>
          <p:nvPr/>
        </p:nvSpPr>
        <p:spPr>
          <a:xfrm>
            <a:off x="365760" y="841247"/>
            <a:ext cx="475488" cy="475488"/>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41247"/>
            <a:ext cx="475488" cy="475488"/>
          </a:xfrm>
          <a:prstGeom prst="rect">
            <a:avLst/>
          </a:prstGeom>
          <a:noFill/>
        </p:spPr>
        <p:txBody>
          <a:bodyPr wrap="square" anchor="ctr">
            <a:spAutoFit/>
          </a:bodyPr>
          <a:lstStyle/>
          <a:p>
            <a:pPr algn="ctr">
              <a:lnSpc>
                <a:spcPct val="100000"/>
              </a:lnSpc>
            </a:pPr>
            <a:r>
              <a:rPr sz="1500" b="1">
                <a:solidFill>
                  <a:srgbClr val="FFFFFF"/>
                </a:solidFill>
                <a:latin typeface="Malgun Gothic"/>
              </a:rPr>
              <a:t>41</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Data at a Glance</a:t>
            </a:r>
          </a:p>
        </p:txBody>
      </p:sp>
      <p:sp>
        <p:nvSpPr>
          <p:cNvPr id="6" name="TextBox 5"/>
          <p:cNvSpPr txBox="1"/>
          <p:nvPr/>
        </p:nvSpPr>
        <p:spPr>
          <a:xfrm>
            <a:off x="987552" y="868680"/>
            <a:ext cx="9144000" cy="457200"/>
          </a:xfrm>
          <a:prstGeom prst="rect">
            <a:avLst/>
          </a:prstGeom>
          <a:noFill/>
        </p:spPr>
        <p:txBody>
          <a:bodyPr wrap="square" anchor="t">
            <a:spAutoFit/>
          </a:bodyPr>
          <a:lstStyle/>
          <a:p>
            <a:pPr algn="l">
              <a:lnSpc>
                <a:spcPct val="100000"/>
              </a:lnSpc>
            </a:pPr>
            <a:r>
              <a:rPr sz="2200" b="1">
                <a:solidFill>
                  <a:srgbClr val="7C3AED"/>
                </a:solidFill>
                <a:latin typeface="Malgun Gothic"/>
              </a:rPr>
              <a:t>📊 Data at a Glance</a:t>
            </a:r>
          </a:p>
        </p:txBody>
      </p:sp>
      <p:sp>
        <p:nvSpPr>
          <p:cNvPr id="7" name="TextBox 6"/>
          <p:cNvSpPr txBox="1"/>
          <p:nvPr/>
        </p:nvSpPr>
        <p:spPr>
          <a:xfrm>
            <a:off x="457200" y="1554480"/>
            <a:ext cx="5486400" cy="365760"/>
          </a:xfrm>
          <a:prstGeom prst="rect">
            <a:avLst/>
          </a:prstGeom>
          <a:noFill/>
        </p:spPr>
        <p:txBody>
          <a:bodyPr wrap="square" anchor="t">
            <a:spAutoFit/>
          </a:bodyPr>
          <a:lstStyle/>
          <a:p>
            <a:pPr algn="l">
              <a:lnSpc>
                <a:spcPct val="100000"/>
              </a:lnSpc>
            </a:pPr>
            <a:r>
              <a:rPr sz="1400" b="1">
                <a:solidFill>
                  <a:srgbClr val="1E2340"/>
                </a:solidFill>
                <a:latin typeface="Malgun Gothic"/>
              </a:rPr>
              <a:t>Skills Each Game Practices</a:t>
            </a:r>
          </a:p>
        </p:txBody>
      </p:sp>
      <p:graphicFrame>
        <p:nvGraphicFramePr>
          <p:cNvPr id="8" name="Chart 7"/>
          <p:cNvGraphicFramePr>
            <a:graphicFrameLocks noGrp="1"/>
          </p:cNvGraphicFramePr>
          <p:nvPr/>
        </p:nvGraphicFramePr>
        <p:xfrm>
          <a:off x="457200" y="1920240"/>
          <a:ext cx="5486400" cy="4206240"/>
        </p:xfrm>
        <a:graphic>
          <a:graphicData uri="http://schemas.openxmlformats.org/drawingml/2006/chart">
            <c:chart xmlns:c="http://schemas.openxmlformats.org/drawingml/2006/chart" r:id="rId2"/>
          </a:graphicData>
        </a:graphic>
      </p:graphicFrame>
      <p:sp>
        <p:nvSpPr>
          <p:cNvPr id="9" name="TextBox 8"/>
          <p:cNvSpPr txBox="1"/>
          <p:nvPr/>
        </p:nvSpPr>
        <p:spPr>
          <a:xfrm>
            <a:off x="6309360" y="1554480"/>
            <a:ext cx="5486400" cy="365760"/>
          </a:xfrm>
          <a:prstGeom prst="rect">
            <a:avLst/>
          </a:prstGeom>
          <a:noFill/>
        </p:spPr>
        <p:txBody>
          <a:bodyPr wrap="square" anchor="t">
            <a:spAutoFit/>
          </a:bodyPr>
          <a:lstStyle/>
          <a:p>
            <a:pPr algn="l">
              <a:lnSpc>
                <a:spcPct val="100000"/>
              </a:lnSpc>
            </a:pPr>
            <a:r>
              <a:rPr sz="1400" b="1">
                <a:solidFill>
                  <a:srgbClr val="1E2340"/>
                </a:solidFill>
                <a:latin typeface="Malgun Gothic"/>
              </a:rPr>
              <a:t>Keep it up and… (example points)</a:t>
            </a:r>
          </a:p>
        </p:txBody>
      </p:sp>
      <p:graphicFrame>
        <p:nvGraphicFramePr>
          <p:cNvPr id="10" name="Chart 9"/>
          <p:cNvGraphicFramePr>
            <a:graphicFrameLocks noGrp="1"/>
          </p:cNvGraphicFramePr>
          <p:nvPr/>
        </p:nvGraphicFramePr>
        <p:xfrm>
          <a:off x="6309360" y="1920240"/>
          <a:ext cx="5486400" cy="4206240"/>
        </p:xfrm>
        <a:graphic>
          <a:graphicData uri="http://schemas.openxmlformats.org/drawingml/2006/chart">
            <c:chart xmlns:c="http://schemas.openxmlformats.org/drawingml/2006/chart" r:id="rId3"/>
          </a:graphicData>
        </a:graphic>
      </p:graphicFrame>
      <p:sp>
        <p:nvSpPr>
          <p:cNvPr id="6" name="Rounded Rectangle 5"/>
          <p:cNvSpPr/>
          <p:nvPr/>
        </p:nvSpPr>
        <p:spPr>
          <a:xfrm>
            <a:off x="365760" y="841247"/>
            <a:ext cx="475488" cy="475488"/>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41247"/>
            <a:ext cx="475488" cy="475488"/>
          </a:xfrm>
          <a:prstGeom prst="rect">
            <a:avLst/>
          </a:prstGeom>
          <a:noFill/>
        </p:spPr>
        <p:txBody>
          <a:bodyPr wrap="square" anchor="ctr">
            <a:spAutoFit/>
          </a:bodyPr>
          <a:lstStyle/>
          <a:p>
            <a:pPr algn="ctr">
              <a:lnSpc>
                <a:spcPct val="100000"/>
              </a:lnSpc>
            </a:pPr>
            <a:r>
              <a:rPr sz="1500" b="1">
                <a:solidFill>
                  <a:srgbClr val="FFFFFF"/>
                </a:solidFill>
                <a:latin typeface="Malgun Gothic"/>
              </a:rPr>
              <a:t>42</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Frequently Asked Questions (FAQ)</a:t>
            </a:r>
          </a:p>
        </p:txBody>
      </p:sp>
      <p:sp>
        <p:nvSpPr>
          <p:cNvPr id="6" name="TextBox 5"/>
          <p:cNvSpPr txBox="1"/>
          <p:nvPr/>
        </p:nvSpPr>
        <p:spPr>
          <a:xfrm>
            <a:off x="987552" y="868680"/>
            <a:ext cx="9144000" cy="457200"/>
          </a:xfrm>
          <a:prstGeom prst="rect">
            <a:avLst/>
          </a:prstGeom>
          <a:noFill/>
        </p:spPr>
        <p:txBody>
          <a:bodyPr wrap="square" anchor="t">
            <a:spAutoFit/>
          </a:bodyPr>
          <a:lstStyle/>
          <a:p>
            <a:pPr algn="l">
              <a:lnSpc>
                <a:spcPct val="100000"/>
              </a:lnSpc>
            </a:pPr>
            <a:r>
              <a:rPr sz="2200" b="1">
                <a:solidFill>
                  <a:srgbClr val="7C3AED"/>
                </a:solidFill>
                <a:latin typeface="Malgun Gothic"/>
              </a:rPr>
              <a:t>❓ Frequently Asked Questions (FAQ)</a:t>
            </a:r>
          </a:p>
        </p:txBody>
      </p:sp>
      <p:sp>
        <p:nvSpPr>
          <p:cNvPr id="7" name="Rounded Rectangle 6"/>
          <p:cNvSpPr/>
          <p:nvPr/>
        </p:nvSpPr>
        <p:spPr>
          <a:xfrm>
            <a:off x="365760" y="1554480"/>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627632"/>
            <a:ext cx="11094415" cy="365760"/>
          </a:xfrm>
          <a:prstGeom prst="rect">
            <a:avLst/>
          </a:prstGeom>
          <a:noFill/>
        </p:spPr>
        <p:txBody>
          <a:bodyPr wrap="square" anchor="t">
            <a:spAutoFit/>
          </a:bodyPr>
          <a:lstStyle/>
          <a:p>
            <a:pPr algn="l">
              <a:lnSpc>
                <a:spcPct val="100000"/>
              </a:lnSpc>
            </a:pPr>
            <a:r>
              <a:rPr sz="1350" b="1">
                <a:solidFill>
                  <a:srgbClr val="7C3AED"/>
                </a:solidFill>
                <a:latin typeface="Malgun Gothic"/>
              </a:rPr>
              <a:t>Q. What do I use to connect?</a:t>
            </a:r>
          </a:p>
        </p:txBody>
      </p:sp>
      <p:sp>
        <p:nvSpPr>
          <p:cNvPr id="9" name="TextBox 8"/>
          <p:cNvSpPr txBox="1"/>
          <p:nvPr/>
        </p:nvSpPr>
        <p:spPr>
          <a:xfrm>
            <a:off x="548640" y="1965960"/>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Phone, tablet and PC all work. We recommend Chrome or Edge. No app install needed.</a:t>
            </a:r>
          </a:p>
        </p:txBody>
      </p:sp>
      <p:sp>
        <p:nvSpPr>
          <p:cNvPr id="10" name="Rounded Rectangle 9"/>
          <p:cNvSpPr/>
          <p:nvPr/>
        </p:nvSpPr>
        <p:spPr>
          <a:xfrm>
            <a:off x="365760" y="2542032"/>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615184"/>
            <a:ext cx="11094415" cy="365760"/>
          </a:xfrm>
          <a:prstGeom prst="rect">
            <a:avLst/>
          </a:prstGeom>
          <a:noFill/>
        </p:spPr>
        <p:txBody>
          <a:bodyPr wrap="square" anchor="t">
            <a:spAutoFit/>
          </a:bodyPr>
          <a:lstStyle/>
          <a:p>
            <a:pPr algn="l">
              <a:lnSpc>
                <a:spcPct val="100000"/>
              </a:lnSpc>
            </a:pPr>
            <a:r>
              <a:rPr sz="1350" b="1">
                <a:solidFill>
                  <a:srgbClr val="7C3AED"/>
                </a:solidFill>
                <a:latin typeface="Malgun Gothic"/>
              </a:rPr>
              <a:t>Q. How do I enter a lesson?</a:t>
            </a:r>
          </a:p>
        </p:txBody>
      </p:sp>
      <p:sp>
        <p:nvSpPr>
          <p:cNvPr id="12" name="TextBox 11"/>
          <p:cNvSpPr txBox="1"/>
          <p:nvPr/>
        </p:nvSpPr>
        <p:spPr>
          <a:xfrm>
            <a:off x="548640" y="2953512"/>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Tap the invite link or lesson card, enter your name, press 'Enter', then 'Allow' camera and mic.</a:t>
            </a:r>
          </a:p>
        </p:txBody>
      </p:sp>
      <p:sp>
        <p:nvSpPr>
          <p:cNvPr id="13" name="Rounded Rectangle 12"/>
          <p:cNvSpPr/>
          <p:nvPr/>
        </p:nvSpPr>
        <p:spPr>
          <a:xfrm>
            <a:off x="365760" y="3529584"/>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3602736"/>
            <a:ext cx="11094415" cy="365760"/>
          </a:xfrm>
          <a:prstGeom prst="rect">
            <a:avLst/>
          </a:prstGeom>
          <a:noFill/>
        </p:spPr>
        <p:txBody>
          <a:bodyPr wrap="square" anchor="t">
            <a:spAutoFit/>
          </a:bodyPr>
          <a:lstStyle/>
          <a:p>
            <a:pPr algn="l">
              <a:lnSpc>
                <a:spcPct val="100000"/>
              </a:lnSpc>
            </a:pPr>
            <a:r>
              <a:rPr sz="1350" b="1">
                <a:solidFill>
                  <a:srgbClr val="7C3AED"/>
                </a:solidFill>
                <a:latin typeface="Malgun Gothic"/>
              </a:rPr>
              <a:t>Q. No sound or video.</a:t>
            </a:r>
          </a:p>
        </p:txBody>
      </p:sp>
      <p:sp>
        <p:nvSpPr>
          <p:cNvPr id="15" name="TextBox 14"/>
          <p:cNvSpPr txBox="1"/>
          <p:nvPr/>
        </p:nvSpPr>
        <p:spPr>
          <a:xfrm>
            <a:off x="548640" y="3941064"/>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Check that you pressed 'Allow' for camera/mic, and reopen in Chrome/Edge. Inside KakaoTalk, choose 'open in another browser'.</a:t>
            </a:r>
          </a:p>
        </p:txBody>
      </p:sp>
      <p:sp>
        <p:nvSpPr>
          <p:cNvPr id="16" name="Rounded Rectangle 15"/>
          <p:cNvSpPr/>
          <p:nvPr/>
        </p:nvSpPr>
        <p:spPr>
          <a:xfrm>
            <a:off x="365760" y="4517136"/>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4590288"/>
            <a:ext cx="11094415" cy="365760"/>
          </a:xfrm>
          <a:prstGeom prst="rect">
            <a:avLst/>
          </a:prstGeom>
          <a:noFill/>
        </p:spPr>
        <p:txBody>
          <a:bodyPr wrap="square" anchor="t">
            <a:spAutoFit/>
          </a:bodyPr>
          <a:lstStyle/>
          <a:p>
            <a:pPr algn="l">
              <a:lnSpc>
                <a:spcPct val="100000"/>
              </a:lnSpc>
            </a:pPr>
            <a:r>
              <a:rPr sz="1350" b="1">
                <a:solidFill>
                  <a:srgbClr val="7C3AED"/>
                </a:solidFill>
                <a:latin typeface="Malgun Gothic"/>
              </a:rPr>
              <a:t>Q. How do I see the textbook in class?</a:t>
            </a:r>
          </a:p>
        </p:txBody>
      </p:sp>
      <p:sp>
        <p:nvSpPr>
          <p:cNvPr id="18" name="TextBox 17"/>
          <p:cNvSpPr txBox="1"/>
          <p:nvPr/>
        </p:nvSpPr>
        <p:spPr>
          <a:xfrm>
            <a:off x="548640" y="4928616"/>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Press the 'Materials' tab at the top to see what the teacher uploaded. Switch board/chat with tabs too.</a:t>
            </a:r>
          </a:p>
        </p:txBody>
      </p:sp>
      <p:sp>
        <p:nvSpPr>
          <p:cNvPr id="19" name="Rounded Rectangle 18"/>
          <p:cNvSpPr/>
          <p:nvPr/>
        </p:nvSpPr>
        <p:spPr>
          <a:xfrm>
            <a:off x="365760" y="5504688"/>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5577840"/>
            <a:ext cx="11094415" cy="365760"/>
          </a:xfrm>
          <a:prstGeom prst="rect">
            <a:avLst/>
          </a:prstGeom>
          <a:noFill/>
        </p:spPr>
        <p:txBody>
          <a:bodyPr wrap="square" anchor="t">
            <a:spAutoFit/>
          </a:bodyPr>
          <a:lstStyle/>
          <a:p>
            <a:pPr algn="l">
              <a:lnSpc>
                <a:spcPct val="100000"/>
              </a:lnSpc>
            </a:pPr>
            <a:r>
              <a:rPr sz="1350" b="1">
                <a:solidFill>
                  <a:srgbClr val="7C3AED"/>
                </a:solidFill>
                <a:latin typeface="Malgun Gothic"/>
              </a:rPr>
              <a:t>Q. What are points for?</a:t>
            </a:r>
          </a:p>
        </p:txBody>
      </p:sp>
      <p:sp>
        <p:nvSpPr>
          <p:cNvPr id="21" name="TextBox 20"/>
          <p:cNvSpPr txBox="1"/>
          <p:nvPr/>
        </p:nvSpPr>
        <p:spPr>
          <a:xfrm>
            <a:off x="548640" y="5916168"/>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Use points earned from studying and games to get rewards in the shop, roulette, etc.</a:t>
            </a:r>
          </a:p>
        </p:txBody>
      </p:sp>
      <p:sp>
        <p:nvSpPr>
          <p:cNvPr id="22" name="Rounded Rectangle 21"/>
          <p:cNvSpPr/>
          <p:nvPr/>
        </p:nvSpPr>
        <p:spPr>
          <a:xfrm>
            <a:off x="365760" y="6492240"/>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6565392"/>
            <a:ext cx="11094415" cy="365760"/>
          </a:xfrm>
          <a:prstGeom prst="rect">
            <a:avLst/>
          </a:prstGeom>
          <a:noFill/>
        </p:spPr>
        <p:txBody>
          <a:bodyPr wrap="square" anchor="t">
            <a:spAutoFit/>
          </a:bodyPr>
          <a:lstStyle/>
          <a:p>
            <a:pPr algn="l">
              <a:lnSpc>
                <a:spcPct val="100000"/>
              </a:lnSpc>
            </a:pPr>
            <a:r>
              <a:rPr sz="1350" b="1">
                <a:solidFill>
                  <a:srgbClr val="7C3AED"/>
                </a:solidFill>
                <a:latin typeface="Malgun Gothic"/>
              </a:rPr>
              <a:t>Q. English feels hard.</a:t>
            </a:r>
          </a:p>
        </p:txBody>
      </p:sp>
      <p:sp>
        <p:nvSpPr>
          <p:cNvPr id="24" name="TextBox 23"/>
          <p:cNvSpPr txBox="1"/>
          <p:nvPr/>
        </p:nvSpPr>
        <p:spPr>
          <a:xfrm>
            <a:off x="548640" y="6903720"/>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The AI friend and voice coach are fine with mistakes. A level test matches your level so it gets easier.</a:t>
            </a:r>
          </a:p>
        </p:txBody>
      </p:sp>
      <p:sp>
        <p:nvSpPr>
          <p:cNvPr id="6" name="Rounded Rectangle 5"/>
          <p:cNvSpPr/>
          <p:nvPr/>
        </p:nvSpPr>
        <p:spPr>
          <a:xfrm>
            <a:off x="365760" y="841247"/>
            <a:ext cx="475488" cy="475488"/>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41247"/>
            <a:ext cx="475488" cy="475488"/>
          </a:xfrm>
          <a:prstGeom prst="rect">
            <a:avLst/>
          </a:prstGeom>
          <a:noFill/>
        </p:spPr>
        <p:txBody>
          <a:bodyPr wrap="square" anchor="ctr">
            <a:spAutoFit/>
          </a:bodyPr>
          <a:lstStyle/>
          <a:p>
            <a:pPr algn="ctr">
              <a:lnSpc>
                <a:spcPct val="100000"/>
              </a:lnSpc>
            </a:pPr>
            <a:r>
              <a:rPr sz="1500" b="1">
                <a:solidFill>
                  <a:srgbClr val="FFFFFF"/>
                </a:solidFill>
                <a:latin typeface="Malgun Gothic"/>
              </a:rPr>
              <a:t>43</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3F0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Checklist</a:t>
            </a:r>
          </a:p>
        </p:txBody>
      </p:sp>
      <p:sp>
        <p:nvSpPr>
          <p:cNvPr id="6" name="TextBox 5"/>
          <p:cNvSpPr txBox="1"/>
          <p:nvPr/>
        </p:nvSpPr>
        <p:spPr>
          <a:xfrm>
            <a:off x="987552" y="868680"/>
            <a:ext cx="9144000" cy="457200"/>
          </a:xfrm>
          <a:prstGeom prst="rect">
            <a:avLst/>
          </a:prstGeom>
          <a:noFill/>
        </p:spPr>
        <p:txBody>
          <a:bodyPr wrap="square" anchor="t">
            <a:spAutoFit/>
          </a:bodyPr>
          <a:lstStyle/>
          <a:p>
            <a:pPr algn="l">
              <a:lnSpc>
                <a:spcPct val="100000"/>
              </a:lnSpc>
            </a:pPr>
            <a:r>
              <a:rPr sz="2200" b="1">
                <a:solidFill>
                  <a:srgbClr val="7C3AED"/>
                </a:solidFill>
                <a:latin typeface="Malgun Gothic"/>
              </a:rPr>
              <a:t>✅ Pre-class Checklist</a:t>
            </a:r>
          </a:p>
        </p:txBody>
      </p:sp>
      <p:sp>
        <p:nvSpPr>
          <p:cNvPr id="7" name="Rounded Rectangle 6"/>
          <p:cNvSpPr/>
          <p:nvPr/>
        </p:nvSpPr>
        <p:spPr>
          <a:xfrm>
            <a:off x="457200" y="1645920"/>
            <a:ext cx="292608" cy="292608"/>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581912"/>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connect with Chrome/Edge?</a:t>
            </a:r>
          </a:p>
        </p:txBody>
      </p:sp>
      <p:sp>
        <p:nvSpPr>
          <p:cNvPr id="9" name="Rounded Rectangle 8"/>
          <p:cNvSpPr/>
          <p:nvPr/>
        </p:nvSpPr>
        <p:spPr>
          <a:xfrm>
            <a:off x="457200" y="2212848"/>
            <a:ext cx="292608" cy="292608"/>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148840"/>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'Allow' the camera and mic?</a:t>
            </a:r>
          </a:p>
        </p:txBody>
      </p:sp>
      <p:sp>
        <p:nvSpPr>
          <p:cNvPr id="11" name="Rounded Rectangle 10"/>
          <p:cNvSpPr/>
          <p:nvPr/>
        </p:nvSpPr>
        <p:spPr>
          <a:xfrm>
            <a:off x="457200" y="2779776"/>
            <a:ext cx="292608" cy="292608"/>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2715768"/>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Is your face well-lit and visible?</a:t>
            </a:r>
          </a:p>
        </p:txBody>
      </p:sp>
      <p:sp>
        <p:nvSpPr>
          <p:cNvPr id="13" name="Rounded Rectangle 12"/>
          <p:cNvSpPr/>
          <p:nvPr/>
        </p:nvSpPr>
        <p:spPr>
          <a:xfrm>
            <a:off x="457200" y="3346704"/>
            <a:ext cx="292608" cy="292608"/>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3282696"/>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connect earphones (a headset)?</a:t>
            </a:r>
          </a:p>
        </p:txBody>
      </p:sp>
      <p:sp>
        <p:nvSpPr>
          <p:cNvPr id="15" name="Rounded Rectangle 14"/>
          <p:cNvSpPr/>
          <p:nvPr/>
        </p:nvSpPr>
        <p:spPr>
          <a:xfrm>
            <a:off x="457200" y="3913632"/>
            <a:ext cx="292608" cy="292608"/>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3849624"/>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warm up with the AI before class?</a:t>
            </a:r>
          </a:p>
        </p:txBody>
      </p:sp>
      <p:sp>
        <p:nvSpPr>
          <p:cNvPr id="17" name="Rounded Rectangle 16"/>
          <p:cNvSpPr/>
          <p:nvPr/>
        </p:nvSpPr>
        <p:spPr>
          <a:xfrm>
            <a:off x="457200" y="4480560"/>
            <a:ext cx="292608" cy="292608"/>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416552"/>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Are your textbook and pen ready?</a:t>
            </a:r>
          </a:p>
        </p:txBody>
      </p:sp>
      <p:sp>
        <p:nvSpPr>
          <p:cNvPr id="19" name="Rounded Rectangle 18"/>
          <p:cNvSpPr/>
          <p:nvPr/>
        </p:nvSpPr>
        <p:spPr>
          <a:xfrm>
            <a:off x="457200" y="5047488"/>
            <a:ext cx="292608" cy="292608"/>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4983480"/>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enter 5 minutes before class?</a:t>
            </a:r>
          </a:p>
        </p:txBody>
      </p:sp>
      <p:pic>
        <p:nvPicPr>
          <p:cNvPr id="21" name="Picture 20" descr="mango_char.png"/>
          <p:cNvPicPr>
            <a:picLocks noChangeAspect="1"/>
          </p:cNvPicPr>
          <p:nvPr/>
        </p:nvPicPr>
        <p:blipFill>
          <a:blip r:embed="rId2"/>
          <a:stretch>
            <a:fillRect/>
          </a:stretch>
        </p:blipFill>
        <p:spPr>
          <a:xfrm>
            <a:off x="9153162" y="4480559"/>
            <a:ext cx="2489892" cy="2011680"/>
          </a:xfrm>
          <a:prstGeom prst="rect">
            <a:avLst/>
          </a:prstGeom>
        </p:spPr>
      </p:pic>
      <p:sp>
        <p:nvSpPr>
          <p:cNvPr id="6" name="Rounded Rectangle 5"/>
          <p:cNvSpPr/>
          <p:nvPr/>
        </p:nvSpPr>
        <p:spPr>
          <a:xfrm>
            <a:off x="365760" y="841247"/>
            <a:ext cx="475488" cy="475488"/>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41247"/>
            <a:ext cx="475488" cy="475488"/>
          </a:xfrm>
          <a:prstGeom prst="rect">
            <a:avLst/>
          </a:prstGeom>
          <a:noFill/>
        </p:spPr>
        <p:txBody>
          <a:bodyPr wrap="square" anchor="ctr">
            <a:spAutoFit/>
          </a:bodyPr>
          <a:lstStyle/>
          <a:p>
            <a:pPr algn="ctr">
              <a:lnSpc>
                <a:spcPct val="100000"/>
              </a:lnSpc>
            </a:pPr>
            <a:r>
              <a:rPr sz="1500" b="1">
                <a:solidFill>
                  <a:srgbClr val="FFFFFF"/>
                </a:solidFill>
                <a:latin typeface="Malgun Gothic"/>
              </a:rPr>
              <a:t>44</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Conclusion</a:t>
            </a:r>
          </a:p>
        </p:txBody>
      </p:sp>
      <p:sp>
        <p:nvSpPr>
          <p:cNvPr id="6" name="TextBox 5"/>
          <p:cNvSpPr txBox="1"/>
          <p:nvPr/>
        </p:nvSpPr>
        <p:spPr>
          <a:xfrm>
            <a:off x="987552" y="822960"/>
            <a:ext cx="11430000" cy="457200"/>
          </a:xfrm>
          <a:prstGeom prst="rect">
            <a:avLst/>
          </a:prstGeom>
          <a:noFill/>
        </p:spPr>
        <p:txBody>
          <a:bodyPr wrap="square" anchor="t">
            <a:spAutoFit/>
          </a:bodyPr>
          <a:lstStyle/>
          <a:p>
            <a:pPr algn="l">
              <a:lnSpc>
                <a:spcPct val="100000"/>
              </a:lnSpc>
            </a:pPr>
            <a:r>
              <a:rPr sz="2100" b="1">
                <a:solidFill>
                  <a:srgbClr val="7C3AED"/>
                </a:solidFill>
                <a:latin typeface="Malgun Gothic"/>
              </a:rPr>
              <a:t>🏁 Conclusion · Your Mangoi Routine — Easy on Your Own!</a:t>
            </a:r>
          </a:p>
        </p:txBody>
      </p:sp>
      <p:sp>
        <p:nvSpPr>
          <p:cNvPr id="7" name="Rounded Rectangle 6"/>
          <p:cNvSpPr/>
          <p:nvPr/>
        </p:nvSpPr>
        <p:spPr>
          <a:xfrm>
            <a:off x="365760" y="1371600"/>
            <a:ext cx="11430000" cy="86868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426464"/>
            <a:ext cx="11064240" cy="777240"/>
          </a:xfrm>
          <a:prstGeom prst="rect">
            <a:avLst/>
          </a:prstGeom>
          <a:noFill/>
        </p:spPr>
        <p:txBody>
          <a:bodyPr wrap="square" anchor="t">
            <a:spAutoFit/>
          </a:bodyPr>
          <a:lstStyle/>
          <a:p>
            <a:pPr algn="l">
              <a:lnSpc>
                <a:spcPct val="115000"/>
              </a:lnSpc>
            </a:pPr>
            <a:r>
              <a:rPr sz="1150" b="0">
                <a:solidFill>
                  <a:srgbClr val="334155"/>
                </a:solidFill>
                <a:latin typeface="Malgun Gothic"/>
              </a:rPr>
              <a:t>Now you know how to use Mangoi! Finally, here's one page on how to study through the day and the habits that make you improve fast. Keep just this page in mind and you can study on your own with ease.</a:t>
            </a:r>
          </a:p>
        </p:txBody>
      </p:sp>
      <p:sp>
        <p:nvSpPr>
          <p:cNvPr id="9" name="TextBox 8"/>
          <p:cNvSpPr txBox="1"/>
          <p:nvPr/>
        </p:nvSpPr>
        <p:spPr>
          <a:xfrm>
            <a:off x="457200" y="2423160"/>
            <a:ext cx="5760720" cy="320040"/>
          </a:xfrm>
          <a:prstGeom prst="rect">
            <a:avLst/>
          </a:prstGeom>
          <a:noFill/>
        </p:spPr>
        <p:txBody>
          <a:bodyPr wrap="square" anchor="t">
            <a:spAutoFit/>
          </a:bodyPr>
          <a:lstStyle/>
          <a:p>
            <a:pPr algn="l">
              <a:lnSpc>
                <a:spcPct val="100000"/>
              </a:lnSpc>
            </a:pPr>
            <a:r>
              <a:rPr sz="1350" b="1">
                <a:solidFill>
                  <a:srgbClr val="7C3AED"/>
                </a:solidFill>
                <a:latin typeface="Malgun Gothic"/>
              </a:rPr>
              <a:t>🔄 The Flow at a Glance</a:t>
            </a:r>
          </a:p>
        </p:txBody>
      </p:sp>
      <p:sp>
        <p:nvSpPr>
          <p:cNvPr id="10" name="Rounded Rectangle 9"/>
          <p:cNvSpPr/>
          <p:nvPr/>
        </p:nvSpPr>
        <p:spPr>
          <a:xfrm>
            <a:off x="457200" y="2788920"/>
            <a:ext cx="1600200" cy="384048"/>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27889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Before class (5–10 min)</a:t>
            </a:r>
          </a:p>
        </p:txBody>
      </p:sp>
      <p:sp>
        <p:nvSpPr>
          <p:cNvPr id="12" name="TextBox 11"/>
          <p:cNvSpPr txBox="1"/>
          <p:nvPr/>
        </p:nvSpPr>
        <p:spPr>
          <a:xfrm>
            <a:off x="2148840" y="27706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My Page → 🎥 Pre-check camera/mic, warm up with the 🔥 AI warm-up</a:t>
            </a:r>
          </a:p>
        </p:txBody>
      </p:sp>
      <p:sp>
        <p:nvSpPr>
          <p:cNvPr id="13" name="Rounded Rectangle 12"/>
          <p:cNvSpPr/>
          <p:nvPr/>
        </p:nvSpPr>
        <p:spPr>
          <a:xfrm>
            <a:off x="457200" y="3246120"/>
            <a:ext cx="1600200" cy="384048"/>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32461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Enter class</a:t>
            </a:r>
          </a:p>
        </p:txBody>
      </p:sp>
      <p:sp>
        <p:nvSpPr>
          <p:cNvPr id="15" name="TextBox 14"/>
          <p:cNvSpPr txBox="1"/>
          <p:nvPr/>
        </p:nvSpPr>
        <p:spPr>
          <a:xfrm>
            <a:off x="2148840" y="32278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 Enter Class button → type your name → 'Allow' camera and mic</a:t>
            </a:r>
          </a:p>
        </p:txBody>
      </p:sp>
      <p:sp>
        <p:nvSpPr>
          <p:cNvPr id="16" name="Rounded Rectangle 15"/>
          <p:cNvSpPr/>
          <p:nvPr/>
        </p:nvSpPr>
        <p:spPr>
          <a:xfrm>
            <a:off x="457200" y="3703320"/>
            <a:ext cx="1600200" cy="384048"/>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 y="37033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During class</a:t>
            </a:r>
          </a:p>
        </p:txBody>
      </p:sp>
      <p:sp>
        <p:nvSpPr>
          <p:cNvPr id="18" name="TextBox 17"/>
          <p:cNvSpPr txBox="1"/>
          <p:nvPr/>
        </p:nvSpPr>
        <p:spPr>
          <a:xfrm>
            <a:off x="2148840" y="36850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 Answer with your mic · 💬 ask in chat · 🖊 write on the board together · 🌟 earn praise points</a:t>
            </a:r>
          </a:p>
        </p:txBody>
      </p:sp>
      <p:sp>
        <p:nvSpPr>
          <p:cNvPr id="19" name="Rounded Rectangle 18"/>
          <p:cNvSpPr/>
          <p:nvPr/>
        </p:nvSpPr>
        <p:spPr>
          <a:xfrm>
            <a:off x="457200" y="4160520"/>
            <a:ext cx="1600200" cy="384048"/>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41605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After class</a:t>
            </a:r>
          </a:p>
        </p:txBody>
      </p:sp>
      <p:sp>
        <p:nvSpPr>
          <p:cNvPr id="21" name="TextBox 20"/>
          <p:cNvSpPr txBox="1"/>
          <p:nvPr/>
        </p:nvSpPr>
        <p:spPr>
          <a:xfrm>
            <a:off x="2148840" y="41422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 Review quiz 'Yes' → ⭐ star rating (+10P) → 🎮 review today's words with a game</a:t>
            </a:r>
          </a:p>
        </p:txBody>
      </p:sp>
      <p:sp>
        <p:nvSpPr>
          <p:cNvPr id="22" name="Rounded Rectangle 21"/>
          <p:cNvSpPr/>
          <p:nvPr/>
        </p:nvSpPr>
        <p:spPr>
          <a:xfrm>
            <a:off x="457200" y="4617720"/>
            <a:ext cx="1600200" cy="384048"/>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46177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A little every day</a:t>
            </a:r>
          </a:p>
        </p:txBody>
      </p:sp>
      <p:sp>
        <p:nvSpPr>
          <p:cNvPr id="24" name="TextBox 23"/>
          <p:cNvSpPr txBox="1"/>
          <p:nvPr/>
        </p:nvSpPr>
        <p:spPr>
          <a:xfrm>
            <a:off x="2148840" y="45994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 Keep your attendance flame · 📚 vocabulary · 🤖 AI friend · 🎙️ voice-coach pronunciation</a:t>
            </a:r>
          </a:p>
        </p:txBody>
      </p:sp>
      <p:sp>
        <p:nvSpPr>
          <p:cNvPr id="25" name="TextBox 24"/>
          <p:cNvSpPr txBox="1"/>
          <p:nvPr/>
        </p:nvSpPr>
        <p:spPr>
          <a:xfrm>
            <a:off x="6400800" y="2423160"/>
            <a:ext cx="5486400" cy="320040"/>
          </a:xfrm>
          <a:prstGeom prst="rect">
            <a:avLst/>
          </a:prstGeom>
          <a:noFill/>
        </p:spPr>
        <p:txBody>
          <a:bodyPr wrap="square" anchor="t">
            <a:spAutoFit/>
          </a:bodyPr>
          <a:lstStyle/>
          <a:p>
            <a:pPr algn="l">
              <a:lnSpc>
                <a:spcPct val="100000"/>
              </a:lnSpc>
            </a:pPr>
            <a:r>
              <a:rPr sz="1350" b="1">
                <a:solidFill>
                  <a:srgbClr val="7C3AED"/>
                </a:solidFill>
                <a:latin typeface="Malgun Gothic"/>
              </a:rPr>
              <a:t>⭐ Key Principles</a:t>
            </a:r>
          </a:p>
        </p:txBody>
      </p:sp>
      <p:sp>
        <p:nvSpPr>
          <p:cNvPr id="26" name="TextBox 25"/>
          <p:cNvSpPr txBox="1"/>
          <p:nvPr/>
        </p:nvSpPr>
        <p:spPr>
          <a:xfrm>
            <a:off x="6400800" y="2788920"/>
            <a:ext cx="5394960" cy="2103120"/>
          </a:xfrm>
          <a:prstGeom prst="rect">
            <a:avLst/>
          </a:prstGeom>
          <a:noFill/>
        </p:spPr>
        <p:txBody>
          <a:bodyPr wrap="square">
            <a:spAutoFit/>
          </a:bodyPr>
          <a:lstStyle/>
          <a:p>
            <a:pPr>
              <a:lnSpc>
                <a:spcPct val="115000"/>
              </a:lnSpc>
              <a:spcAft>
                <a:spcPts val="500"/>
              </a:spcAft>
            </a:pPr>
            <a:r>
              <a:rPr sz="900" b="1">
                <a:solidFill>
                  <a:srgbClr val="7C3AED"/>
                </a:solidFill>
                <a:latin typeface="Malgun Gothic"/>
              </a:rPr>
              <a:t>● </a:t>
            </a:r>
            <a:r>
              <a:rPr sz="1100">
                <a:solidFill>
                  <a:srgbClr val="334155"/>
                </a:solidFill>
                <a:latin typeface="Malgun Gothic"/>
              </a:rPr>
              <a:t>A little every day — even short, daily practice keeps your attendance flame alive.</a:t>
            </a:r>
          </a:p>
          <a:p>
            <a:pPr>
              <a:lnSpc>
                <a:spcPct val="115000"/>
              </a:lnSpc>
              <a:spcAft>
                <a:spcPts val="500"/>
              </a:spcAft>
            </a:pPr>
            <a:r>
              <a:rPr sz="900" b="1">
                <a:solidFill>
                  <a:srgbClr val="7C3AED"/>
                </a:solidFill>
                <a:latin typeface="Malgun Gothic"/>
              </a:rPr>
              <a:t>● </a:t>
            </a:r>
            <a:r>
              <a:rPr sz="1100">
                <a:solidFill>
                  <a:srgbClr val="334155"/>
                </a:solidFill>
                <a:latin typeface="Malgun Gothic"/>
              </a:rPr>
              <a:t>Speak a lot — mistakes are fine! The more you say aloud, the faster you grow.</a:t>
            </a:r>
          </a:p>
          <a:p>
            <a:pPr>
              <a:lnSpc>
                <a:spcPct val="115000"/>
              </a:lnSpc>
              <a:spcAft>
                <a:spcPts val="500"/>
              </a:spcAft>
            </a:pPr>
            <a:r>
              <a:rPr sz="900" b="1">
                <a:solidFill>
                  <a:srgbClr val="7C3AED"/>
                </a:solidFill>
                <a:latin typeface="Malgun Gothic"/>
              </a:rPr>
              <a:t>● </a:t>
            </a:r>
            <a:r>
              <a:rPr sz="1100">
                <a:solidFill>
                  <a:srgbClr val="334155"/>
                </a:solidFill>
                <a:latin typeface="Malgun Gothic"/>
              </a:rPr>
              <a:t>Review right after class — a quiz/game right away doubles what you remember.</a:t>
            </a:r>
          </a:p>
          <a:p>
            <a:pPr>
              <a:lnSpc>
                <a:spcPct val="115000"/>
              </a:lnSpc>
              <a:spcAft>
                <a:spcPts val="500"/>
              </a:spcAft>
            </a:pPr>
            <a:r>
              <a:rPr sz="900" b="1">
                <a:solidFill>
                  <a:srgbClr val="7C3AED"/>
                </a:solidFill>
                <a:latin typeface="Malgun Gothic"/>
              </a:rPr>
              <a:t>● </a:t>
            </a:r>
            <a:r>
              <a:rPr sz="1100">
                <a:solidFill>
                  <a:srgbClr val="334155"/>
                </a:solidFill>
                <a:latin typeface="Malgun Gothic"/>
              </a:rPr>
              <a:t>Have fun with games — today's words appear in games, so you review while playing.</a:t>
            </a:r>
          </a:p>
          <a:p>
            <a:pPr>
              <a:lnSpc>
                <a:spcPct val="115000"/>
              </a:lnSpc>
              <a:spcAft>
                <a:spcPts val="500"/>
              </a:spcAft>
            </a:pPr>
            <a:r>
              <a:rPr sz="900" b="1">
                <a:solidFill>
                  <a:srgbClr val="7C3AED"/>
                </a:solidFill>
                <a:latin typeface="Malgun Gothic"/>
              </a:rPr>
              <a:t>● </a:t>
            </a:r>
            <a:r>
              <a:rPr sz="1100">
                <a:solidFill>
                  <a:srgbClr val="334155"/>
                </a:solidFill>
                <a:latin typeface="Malgun Gothic"/>
              </a:rPr>
              <a:t>Check what you don't know — don't skip unknown words; check meaning and pronunciation.</a:t>
            </a:r>
          </a:p>
        </p:txBody>
      </p:sp>
      <p:sp>
        <p:nvSpPr>
          <p:cNvPr id="27" name="TextBox 26"/>
          <p:cNvSpPr txBox="1"/>
          <p:nvPr/>
        </p:nvSpPr>
        <p:spPr>
          <a:xfrm>
            <a:off x="6400800" y="4892040"/>
            <a:ext cx="5486400" cy="320040"/>
          </a:xfrm>
          <a:prstGeom prst="rect">
            <a:avLst/>
          </a:prstGeom>
          <a:noFill/>
        </p:spPr>
        <p:txBody>
          <a:bodyPr wrap="square" anchor="t">
            <a:spAutoFit/>
          </a:bodyPr>
          <a:lstStyle/>
          <a:p>
            <a:pPr algn="l">
              <a:lnSpc>
                <a:spcPct val="100000"/>
              </a:lnSpc>
            </a:pPr>
            <a:r>
              <a:rPr sz="1350" b="1">
                <a:solidFill>
                  <a:srgbClr val="7C3AED"/>
                </a:solidFill>
                <a:latin typeface="Malgun Gothic"/>
              </a:rPr>
              <a:t>📌 Remember</a:t>
            </a:r>
          </a:p>
        </p:txBody>
      </p:sp>
      <p:sp>
        <p:nvSpPr>
          <p:cNvPr id="28" name="TextBox 27"/>
          <p:cNvSpPr txBox="1"/>
          <p:nvPr/>
        </p:nvSpPr>
        <p:spPr>
          <a:xfrm>
            <a:off x="6400800" y="5257800"/>
            <a:ext cx="5394960" cy="1645920"/>
          </a:xfrm>
          <a:prstGeom prst="rect">
            <a:avLst/>
          </a:prstGeom>
          <a:noFill/>
        </p:spPr>
        <p:txBody>
          <a:bodyPr wrap="square">
            <a:spAutoFit/>
          </a:bodyPr>
          <a:lstStyle/>
          <a:p>
            <a:pPr>
              <a:lnSpc>
                <a:spcPct val="115000"/>
              </a:lnSpc>
              <a:spcAft>
                <a:spcPts val="400"/>
              </a:spcAft>
            </a:pPr>
            <a:r>
              <a:rPr sz="850" b="1">
                <a:solidFill>
                  <a:srgbClr val="FF9F1C"/>
                </a:solidFill>
                <a:latin typeface="Malgun Gothic"/>
              </a:rPr>
              <a:t>● </a:t>
            </a:r>
            <a:r>
              <a:rPr sz="1050">
                <a:solidFill>
                  <a:srgbClr val="334155"/>
                </a:solidFill>
                <a:latin typeface="Malgun Gothic"/>
              </a:rPr>
              <a:t>Connect in Chrome/Edge and be sure to 'Allow' camera·mic (inside KakaoTalk, open another browser)</a:t>
            </a:r>
          </a:p>
          <a:p>
            <a:pPr>
              <a:lnSpc>
                <a:spcPct val="115000"/>
              </a:lnSpc>
              <a:spcAft>
                <a:spcPts val="400"/>
              </a:spcAft>
            </a:pPr>
            <a:r>
              <a:rPr sz="850" b="1">
                <a:solidFill>
                  <a:srgbClr val="FF9F1C"/>
                </a:solidFill>
                <a:latin typeface="Malgun Gothic"/>
              </a:rPr>
              <a:t>● </a:t>
            </a:r>
            <a:r>
              <a:rPr sz="1050">
                <a:solidFill>
                  <a:srgbClr val="334155"/>
                </a:solidFill>
                <a:latin typeface="Malgun Gothic"/>
              </a:rPr>
              <a:t>Points build from study, games and in-class 🌟 praise — spend them in the shop/roulette</a:t>
            </a:r>
          </a:p>
          <a:p>
            <a:pPr>
              <a:lnSpc>
                <a:spcPct val="115000"/>
              </a:lnSpc>
              <a:spcAft>
                <a:spcPts val="400"/>
              </a:spcAft>
            </a:pPr>
            <a:r>
              <a:rPr sz="850" b="1">
                <a:solidFill>
                  <a:srgbClr val="FF9F1C"/>
                </a:solidFill>
                <a:latin typeface="Malgun Gothic"/>
              </a:rPr>
              <a:t>● </a:t>
            </a:r>
            <a:r>
              <a:rPr sz="1050">
                <a:solidFill>
                  <a:srgbClr val="334155"/>
                </a:solidFill>
                <a:latin typeface="Malgun Gothic"/>
              </a:rPr>
              <a:t>If English is hard, the AI friend/voice-coach are fine with mistakes; use the level test to match your level</a:t>
            </a:r>
          </a:p>
          <a:p>
            <a:pPr>
              <a:lnSpc>
                <a:spcPct val="115000"/>
              </a:lnSpc>
              <a:spcAft>
                <a:spcPts val="400"/>
              </a:spcAft>
            </a:pPr>
            <a:r>
              <a:rPr sz="850" b="1">
                <a:solidFill>
                  <a:srgbClr val="FF9F1C"/>
                </a:solidFill>
                <a:latin typeface="Malgun Gothic"/>
              </a:rPr>
              <a:t>● </a:t>
            </a:r>
            <a:r>
              <a:rPr sz="1050">
                <a:solidFill>
                  <a:srgbClr val="334155"/>
                </a:solidFill>
                <a:latin typeface="Malgun Gothic"/>
              </a:rPr>
              <a:t>Study rhythm: 'Warm-up → Class → Praise → Review'!</a:t>
            </a:r>
          </a:p>
        </p:txBody>
      </p:sp>
      <p:sp>
        <p:nvSpPr>
          <p:cNvPr id="29" name="Rounded Rectangle 28"/>
          <p:cNvSpPr/>
          <p:nvPr/>
        </p:nvSpPr>
        <p:spPr>
          <a:xfrm>
            <a:off x="457200" y="6172200"/>
            <a:ext cx="11338560" cy="566928"/>
          </a:xfrm>
          <a:prstGeom prst="roundRect">
            <a:avLst/>
          </a:prstGeom>
          <a:solidFill>
            <a:srgbClr val="F3F0FF"/>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6208776"/>
            <a:ext cx="10972800" cy="502920"/>
          </a:xfrm>
          <a:prstGeom prst="rect">
            <a:avLst/>
          </a:prstGeom>
          <a:noFill/>
        </p:spPr>
        <p:txBody>
          <a:bodyPr wrap="square" anchor="t">
            <a:spAutoFit/>
          </a:bodyPr>
          <a:lstStyle/>
          <a:p>
            <a:pPr algn="l">
              <a:lnSpc>
                <a:spcPct val="102000"/>
              </a:lnSpc>
            </a:pPr>
            <a:r>
              <a:rPr sz="1000" b="0">
                <a:solidFill>
                  <a:srgbClr val="5B4A2A"/>
                </a:solidFill>
                <a:latin typeface="Malgun Gothic"/>
              </a:rPr>
              <a:t>🍊 The friend who keeps at it a little every day ends up best at English. Don't fear mistakes — speak all you want. Your Mangoi friends are always cheering for you. You've got this today too! 🍊</a:t>
            </a:r>
          </a:p>
        </p:txBody>
      </p:sp>
      <p:sp>
        <p:nvSpPr>
          <p:cNvPr id="6" name="Rounded Rectangle 5"/>
          <p:cNvSpPr/>
          <p:nvPr/>
        </p:nvSpPr>
        <p:spPr>
          <a:xfrm>
            <a:off x="365760" y="795528"/>
            <a:ext cx="475488" cy="475488"/>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795528"/>
            <a:ext cx="475488" cy="475488"/>
          </a:xfrm>
          <a:prstGeom prst="rect">
            <a:avLst/>
          </a:prstGeom>
          <a:noFill/>
        </p:spPr>
        <p:txBody>
          <a:bodyPr wrap="square" anchor="ctr">
            <a:spAutoFit/>
          </a:bodyPr>
          <a:lstStyle/>
          <a:p>
            <a:pPr algn="ctr">
              <a:lnSpc>
                <a:spcPct val="100000"/>
              </a:lnSpc>
            </a:pPr>
            <a:r>
              <a:rPr sz="1500" b="1">
                <a:solidFill>
                  <a:srgbClr val="FFFFFF"/>
                </a:solidFill>
                <a:latin typeface="Malgun Gothic"/>
              </a:rPr>
              <a:t>45</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4F46E5"/>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371600" y="-1371600"/>
            <a:ext cx="3657600" cy="36576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515600" y="4572000"/>
            <a:ext cx="3657600" cy="36576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2194560"/>
            <a:ext cx="12191695" cy="914400"/>
          </a:xfrm>
          <a:prstGeom prst="rect">
            <a:avLst/>
          </a:prstGeom>
          <a:noFill/>
        </p:spPr>
        <p:txBody>
          <a:bodyPr wrap="square" anchor="t">
            <a:spAutoFit/>
          </a:bodyPr>
          <a:lstStyle/>
          <a:p>
            <a:pPr algn="ctr">
              <a:lnSpc>
                <a:spcPct val="100000"/>
              </a:lnSpc>
            </a:pPr>
            <a:r>
              <a:rPr sz="3400" b="1">
                <a:solidFill>
                  <a:srgbClr val="FFFFFF"/>
                </a:solidFill>
                <a:latin typeface="Malgun Gothic"/>
              </a:rPr>
              <a:t>Let's grow together with Mangoi!</a:t>
            </a:r>
          </a:p>
        </p:txBody>
      </p:sp>
      <p:sp>
        <p:nvSpPr>
          <p:cNvPr id="6" name="TextBox 5"/>
          <p:cNvSpPr txBox="1"/>
          <p:nvPr/>
        </p:nvSpPr>
        <p:spPr>
          <a:xfrm>
            <a:off x="0" y="3291840"/>
            <a:ext cx="12191695" cy="548640"/>
          </a:xfrm>
          <a:prstGeom prst="rect">
            <a:avLst/>
          </a:prstGeom>
          <a:noFill/>
        </p:spPr>
        <p:txBody>
          <a:bodyPr wrap="square" anchor="t">
            <a:spAutoFit/>
          </a:bodyPr>
          <a:lstStyle/>
          <a:p>
            <a:pPr algn="ctr">
              <a:lnSpc>
                <a:spcPct val="100000"/>
              </a:lnSpc>
            </a:pPr>
            <a:r>
              <a:rPr sz="1600" b="0">
                <a:solidFill>
                  <a:srgbClr val="FFFFFF"/>
                </a:solidFill>
                <a:latin typeface="Malgun Gothic"/>
              </a:rPr>
              <a:t>Questions? Ask the on-site A.i assistant or contact customer support.</a:t>
            </a:r>
          </a:p>
        </p:txBody>
      </p:sp>
      <p:sp>
        <p:nvSpPr>
          <p:cNvPr id="7" name="TextBox 6"/>
          <p:cNvSpPr txBox="1"/>
          <p:nvPr/>
        </p:nvSpPr>
        <p:spPr>
          <a:xfrm>
            <a:off x="0" y="4114800"/>
            <a:ext cx="12191695" cy="457200"/>
          </a:xfrm>
          <a:prstGeom prst="rect">
            <a:avLst/>
          </a:prstGeom>
          <a:noFill/>
        </p:spPr>
        <p:txBody>
          <a:bodyPr wrap="square" anchor="t">
            <a:spAutoFit/>
          </a:bodyPr>
          <a:lstStyle/>
          <a:p>
            <a:pPr algn="ctr">
              <a:lnSpc>
                <a:spcPct val="100000"/>
              </a:lnSpc>
            </a:pPr>
            <a:r>
              <a:rPr sz="1400" b="0">
                <a:solidFill>
                  <a:srgbClr val="FFFFFF"/>
                </a:solidFill>
                <a:latin typeface="Malgun Gothic"/>
              </a:rPr>
              <a:t>🌐 www.mangoi.co.kr    📞 1644-0561    ✉ support@mangoi.co.kr</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Contents</a:t>
            </a:r>
          </a:p>
        </p:txBody>
      </p:sp>
      <p:sp>
        <p:nvSpPr>
          <p:cNvPr id="6" name="TextBox 5"/>
          <p:cNvSpPr txBox="1"/>
          <p:nvPr/>
        </p:nvSpPr>
        <p:spPr>
          <a:xfrm>
            <a:off x="365760" y="749808"/>
            <a:ext cx="7315200" cy="502920"/>
          </a:xfrm>
          <a:prstGeom prst="rect">
            <a:avLst/>
          </a:prstGeom>
          <a:noFill/>
        </p:spPr>
        <p:txBody>
          <a:bodyPr wrap="none">
            <a:spAutoFit/>
          </a:bodyPr>
          <a:lstStyle/>
          <a:p>
            <a:r>
              <a:rPr sz="2200" b="1">
                <a:solidFill>
                  <a:srgbClr val="1E2340"/>
                </a:solidFill>
                <a:latin typeface="Malgun Gothic"/>
              </a:rPr>
              <a:t>📑 Contents</a:t>
            </a:r>
          </a:p>
        </p:txBody>
      </p:sp>
      <p:sp>
        <p:nvSpPr>
          <p:cNvPr id="7" name="TextBox 6"/>
          <p:cNvSpPr txBox="1"/>
          <p:nvPr/>
        </p:nvSpPr>
        <p:spPr>
          <a:xfrm>
            <a:off x="365760" y="1417320"/>
            <a:ext cx="5500116" cy="5212080"/>
          </a:xfrm>
          <a:prstGeom prst="rect">
            <a:avLst/>
          </a:prstGeom>
          <a:noFill/>
        </p:spPr>
        <p:txBody>
          <a:bodyPr wrap="none">
            <a:spAutoFit/>
          </a:bodyPr>
          <a:lstStyle/>
          <a:p>
            <a:pPr>
              <a:spcAft>
                <a:spcPts val="557"/>
              </a:spcAft>
            </a:pPr>
            <a:r>
              <a:rPr sz="908" b="1">
                <a:solidFill>
                  <a:srgbClr val="4F46E5"/>
                </a:solidFill>
                <a:latin typeface="Malgun Gothic"/>
              </a:rPr>
              <a:t>·   </a:t>
            </a:r>
            <a:r>
              <a:rPr sz="908">
                <a:solidFill>
                  <a:srgbClr val="334155"/>
                </a:solidFill>
                <a:latin typeface="Malgun Gothic"/>
              </a:rPr>
              <a:t>Introduction</a:t>
            </a:r>
            <a:r>
              <a:rPr sz="758">
                <a:solidFill>
                  <a:srgbClr val="94A3B8"/>
                </a:solidFill>
                <a:latin typeface="Malgun Gothic"/>
              </a:rPr>
              <a:t>   ·  p.3</a:t>
            </a:r>
          </a:p>
          <a:p>
            <a:pPr>
              <a:spcAft>
                <a:spcPts val="557"/>
              </a:spcAft>
            </a:pPr>
            <a:r>
              <a:rPr sz="908" b="1">
                <a:solidFill>
                  <a:srgbClr val="4F46E5"/>
                </a:solidFill>
                <a:latin typeface="Malgun Gothic"/>
              </a:rPr>
              <a:t>01  </a:t>
            </a:r>
            <a:r>
              <a:rPr sz="908">
                <a:solidFill>
                  <a:srgbClr val="334155"/>
                </a:solidFill>
                <a:latin typeface="Malgun Gothic"/>
              </a:rPr>
              <a:t>🚀 Getting Started &amp; Home</a:t>
            </a:r>
            <a:r>
              <a:rPr sz="758">
                <a:solidFill>
                  <a:srgbClr val="94A3B8"/>
                </a:solidFill>
                <a:latin typeface="Malgun Gothic"/>
              </a:rPr>
              <a:t>   ·  p.4</a:t>
            </a:r>
          </a:p>
          <a:p>
            <a:pPr>
              <a:spcAft>
                <a:spcPts val="557"/>
              </a:spcAft>
            </a:pPr>
            <a:r>
              <a:rPr sz="908" b="1">
                <a:solidFill>
                  <a:srgbClr val="4F46E5"/>
                </a:solidFill>
                <a:latin typeface="Malgun Gothic"/>
              </a:rPr>
              <a:t>02  </a:t>
            </a:r>
            <a:r>
              <a:rPr sz="908">
                <a:solidFill>
                  <a:srgbClr val="334155"/>
                </a:solidFill>
                <a:latin typeface="Malgun Gothic"/>
              </a:rPr>
              <a:t>🎥 Enter a Video Lesson</a:t>
            </a:r>
            <a:r>
              <a:rPr sz="758">
                <a:solidFill>
                  <a:srgbClr val="94A3B8"/>
                </a:solidFill>
                <a:latin typeface="Malgun Gothic"/>
              </a:rPr>
              <a:t>   ·  p.5</a:t>
            </a:r>
          </a:p>
          <a:p>
            <a:pPr>
              <a:spcAft>
                <a:spcPts val="557"/>
              </a:spcAft>
            </a:pPr>
            <a:r>
              <a:rPr sz="908" b="1">
                <a:solidFill>
                  <a:srgbClr val="4F46E5"/>
                </a:solidFill>
                <a:latin typeface="Malgun Gothic"/>
              </a:rPr>
              <a:t>03  </a:t>
            </a:r>
            <a:r>
              <a:rPr sz="908">
                <a:solidFill>
                  <a:srgbClr val="334155"/>
                </a:solidFill>
                <a:latin typeface="Malgun Gothic"/>
              </a:rPr>
              <a:t>🖥️ The Classroom at a Glance</a:t>
            </a:r>
            <a:r>
              <a:rPr sz="758">
                <a:solidFill>
                  <a:srgbClr val="94A3B8"/>
                </a:solidFill>
                <a:latin typeface="Malgun Gothic"/>
              </a:rPr>
              <a:t>   ·  p.6</a:t>
            </a:r>
          </a:p>
          <a:p>
            <a:pPr>
              <a:spcAft>
                <a:spcPts val="557"/>
              </a:spcAft>
            </a:pPr>
            <a:r>
              <a:rPr sz="908" b="1">
                <a:solidFill>
                  <a:srgbClr val="4F46E5"/>
                </a:solidFill>
                <a:latin typeface="Malgun Gothic"/>
              </a:rPr>
              <a:t>04  </a:t>
            </a:r>
            <a:r>
              <a:rPr sz="908">
                <a:solidFill>
                  <a:srgbClr val="334155"/>
                </a:solidFill>
                <a:latin typeface="Malgun Gothic"/>
              </a:rPr>
              <a:t>🗂️ Switching the 6 Top Tabs</a:t>
            </a:r>
            <a:r>
              <a:rPr sz="758">
                <a:solidFill>
                  <a:srgbClr val="94A3B8"/>
                </a:solidFill>
                <a:latin typeface="Malgun Gothic"/>
              </a:rPr>
              <a:t>   ·  p.7</a:t>
            </a:r>
          </a:p>
          <a:p>
            <a:pPr>
              <a:spcAft>
                <a:spcPts val="557"/>
              </a:spcAft>
            </a:pPr>
            <a:r>
              <a:rPr sz="908" b="1">
                <a:solidFill>
                  <a:srgbClr val="4F46E5"/>
                </a:solidFill>
                <a:latin typeface="Malgun Gothic"/>
              </a:rPr>
              <a:t>05  </a:t>
            </a:r>
            <a:r>
              <a:rPr sz="908">
                <a:solidFill>
                  <a:srgbClr val="334155"/>
                </a:solidFill>
                <a:latin typeface="Malgun Gothic"/>
              </a:rPr>
              <a:t>🖊️ Board Tools, One by One</a:t>
            </a:r>
            <a:r>
              <a:rPr sz="758">
                <a:solidFill>
                  <a:srgbClr val="94A3B8"/>
                </a:solidFill>
                <a:latin typeface="Malgun Gothic"/>
              </a:rPr>
              <a:t>   ·  p.8</a:t>
            </a:r>
          </a:p>
          <a:p>
            <a:pPr>
              <a:spcAft>
                <a:spcPts val="557"/>
              </a:spcAft>
            </a:pPr>
            <a:r>
              <a:rPr sz="908" b="1">
                <a:solidFill>
                  <a:srgbClr val="4F46E5"/>
                </a:solidFill>
                <a:latin typeface="Malgun Gothic"/>
              </a:rPr>
              <a:t>06  </a:t>
            </a:r>
            <a:r>
              <a:rPr sz="908">
                <a:solidFill>
                  <a:srgbClr val="334155"/>
                </a:solidFill>
                <a:latin typeface="Malgun Gothic"/>
              </a:rPr>
              <a:t>📚 Materials Tools (share PDF/photo…</a:t>
            </a:r>
            <a:r>
              <a:rPr sz="758">
                <a:solidFill>
                  <a:srgbClr val="94A3B8"/>
                </a:solidFill>
                <a:latin typeface="Malgun Gothic"/>
              </a:rPr>
              <a:t>   ·  p.9</a:t>
            </a:r>
          </a:p>
          <a:p>
            <a:pPr>
              <a:spcAft>
                <a:spcPts val="557"/>
              </a:spcAft>
            </a:pPr>
            <a:r>
              <a:rPr sz="908" b="1">
                <a:solidFill>
                  <a:srgbClr val="4F46E5"/>
                </a:solidFill>
                <a:latin typeface="Malgun Gothic"/>
              </a:rPr>
              <a:t>07  </a:t>
            </a:r>
            <a:r>
              <a:rPr sz="908">
                <a:solidFill>
                  <a:srgbClr val="334155"/>
                </a:solidFill>
                <a:latin typeface="Malgun Gothic"/>
              </a:rPr>
              <a:t>✍️ Writing Tools (annotate on top)</a:t>
            </a:r>
            <a:r>
              <a:rPr sz="758">
                <a:solidFill>
                  <a:srgbClr val="94A3B8"/>
                </a:solidFill>
                <a:latin typeface="Malgun Gothic"/>
              </a:rPr>
              <a:t>   ·  p.10</a:t>
            </a:r>
          </a:p>
          <a:p>
            <a:pPr>
              <a:spcAft>
                <a:spcPts val="557"/>
              </a:spcAft>
            </a:pPr>
            <a:r>
              <a:rPr sz="908" b="1">
                <a:solidFill>
                  <a:srgbClr val="4F46E5"/>
                </a:solidFill>
                <a:latin typeface="Malgun Gothic"/>
              </a:rPr>
              <a:t>08  </a:t>
            </a:r>
            <a:r>
              <a:rPr sz="908">
                <a:solidFill>
                  <a:srgbClr val="334155"/>
                </a:solidFill>
                <a:latin typeface="Malgun Gothic"/>
              </a:rPr>
              <a:t>📹 Watch Video Together</a:t>
            </a:r>
            <a:r>
              <a:rPr sz="758">
                <a:solidFill>
                  <a:srgbClr val="94A3B8"/>
                </a:solidFill>
                <a:latin typeface="Malgun Gothic"/>
              </a:rPr>
              <a:t>   ·  p.11</a:t>
            </a:r>
          </a:p>
          <a:p>
            <a:pPr>
              <a:spcAft>
                <a:spcPts val="557"/>
              </a:spcAft>
            </a:pPr>
            <a:r>
              <a:rPr sz="908" b="1">
                <a:solidFill>
                  <a:srgbClr val="4F46E5"/>
                </a:solidFill>
                <a:latin typeface="Malgun Gothic"/>
              </a:rPr>
              <a:t>09  </a:t>
            </a:r>
            <a:r>
              <a:rPr sz="908">
                <a:solidFill>
                  <a:srgbClr val="334155"/>
                </a:solidFill>
                <a:latin typeface="Malgun Gothic"/>
              </a:rPr>
              <a:t>🎨 Background &amp; Face Decorations</a:t>
            </a:r>
            <a:r>
              <a:rPr sz="758">
                <a:solidFill>
                  <a:srgbClr val="94A3B8"/>
                </a:solidFill>
                <a:latin typeface="Malgun Gothic"/>
              </a:rPr>
              <a:t>   ·  p.12</a:t>
            </a:r>
          </a:p>
          <a:p>
            <a:pPr>
              <a:spcAft>
                <a:spcPts val="557"/>
              </a:spcAft>
            </a:pPr>
            <a:r>
              <a:rPr sz="908" b="1">
                <a:solidFill>
                  <a:srgbClr val="4F46E5"/>
                </a:solidFill>
                <a:latin typeface="Malgun Gothic"/>
              </a:rPr>
              <a:t>10  </a:t>
            </a:r>
            <a:r>
              <a:rPr sz="908">
                <a:solidFill>
                  <a:srgbClr val="334155"/>
                </a:solidFill>
                <a:latin typeface="Malgun Gothic"/>
              </a:rPr>
              <a:t>🔲 Resize &amp; Arrange the Screen</a:t>
            </a:r>
            <a:r>
              <a:rPr sz="758">
                <a:solidFill>
                  <a:srgbClr val="94A3B8"/>
                </a:solidFill>
                <a:latin typeface="Malgun Gothic"/>
              </a:rPr>
              <a:t>   ·  p.13</a:t>
            </a:r>
          </a:p>
          <a:p>
            <a:pPr>
              <a:spcAft>
                <a:spcPts val="557"/>
              </a:spcAft>
            </a:pPr>
            <a:r>
              <a:rPr sz="908" b="1">
                <a:solidFill>
                  <a:srgbClr val="4F46E5"/>
                </a:solidFill>
                <a:latin typeface="Malgun Gothic"/>
              </a:rPr>
              <a:t>11  </a:t>
            </a:r>
            <a:r>
              <a:rPr sz="908">
                <a:solidFill>
                  <a:srgbClr val="334155"/>
                </a:solidFill>
                <a:latin typeface="Malgun Gothic"/>
              </a:rPr>
              <a:t>🌟 Praise Points During Class</a:t>
            </a:r>
            <a:r>
              <a:rPr sz="758">
                <a:solidFill>
                  <a:srgbClr val="94A3B8"/>
                </a:solidFill>
                <a:latin typeface="Malgun Gothic"/>
              </a:rPr>
              <a:t>   ·  p.14</a:t>
            </a:r>
          </a:p>
          <a:p>
            <a:pPr>
              <a:spcAft>
                <a:spcPts val="557"/>
              </a:spcAft>
            </a:pPr>
            <a:r>
              <a:rPr sz="908" b="1">
                <a:solidFill>
                  <a:srgbClr val="4F46E5"/>
                </a:solidFill>
                <a:latin typeface="Malgun Gothic"/>
              </a:rPr>
              <a:t>12  </a:t>
            </a:r>
            <a:r>
              <a:rPr sz="908">
                <a:solidFill>
                  <a:srgbClr val="334155"/>
                </a:solidFill>
                <a:latin typeface="Malgun Gothic"/>
              </a:rPr>
              <a:t>🎛️ Bottom Dock &amp; Praise Basket</a:t>
            </a:r>
            <a:r>
              <a:rPr sz="758">
                <a:solidFill>
                  <a:srgbClr val="94A3B8"/>
                </a:solidFill>
                <a:latin typeface="Malgun Gothic"/>
              </a:rPr>
              <a:t>   ·  p.15</a:t>
            </a:r>
          </a:p>
          <a:p>
            <a:pPr>
              <a:spcAft>
                <a:spcPts val="557"/>
              </a:spcAft>
            </a:pPr>
            <a:r>
              <a:rPr sz="908" b="1">
                <a:solidFill>
                  <a:srgbClr val="4F46E5"/>
                </a:solidFill>
                <a:latin typeface="Malgun Gothic"/>
              </a:rPr>
              <a:t>13  </a:t>
            </a:r>
            <a:r>
              <a:rPr sz="908">
                <a:solidFill>
                  <a:srgbClr val="334155"/>
                </a:solidFill>
                <a:latin typeface="Malgun Gothic"/>
              </a:rPr>
              <a:t>🙋 How to Join In During Class</a:t>
            </a:r>
            <a:r>
              <a:rPr sz="758">
                <a:solidFill>
                  <a:srgbClr val="94A3B8"/>
                </a:solidFill>
                <a:latin typeface="Malgun Gothic"/>
              </a:rPr>
              <a:t>   ·  p.16</a:t>
            </a:r>
          </a:p>
          <a:p>
            <a:pPr>
              <a:spcAft>
                <a:spcPts val="557"/>
              </a:spcAft>
            </a:pPr>
            <a:r>
              <a:rPr sz="908" b="1">
                <a:solidFill>
                  <a:srgbClr val="4F46E5"/>
                </a:solidFill>
                <a:latin typeface="Malgun Gothic"/>
              </a:rPr>
              <a:t>14  </a:t>
            </a:r>
            <a:r>
              <a:rPr sz="908">
                <a:solidFill>
                  <a:srgbClr val="334155"/>
                </a:solidFill>
                <a:latin typeface="Malgun Gothic"/>
              </a:rPr>
              <a:t>🏁 After Class — Review &amp; Rating</a:t>
            </a:r>
            <a:r>
              <a:rPr sz="758">
                <a:solidFill>
                  <a:srgbClr val="94A3B8"/>
                </a:solidFill>
                <a:latin typeface="Malgun Gothic"/>
              </a:rPr>
              <a:t>   ·  p.17</a:t>
            </a:r>
          </a:p>
          <a:p>
            <a:pPr>
              <a:spcAft>
                <a:spcPts val="557"/>
              </a:spcAft>
            </a:pPr>
            <a:r>
              <a:rPr sz="908" b="1">
                <a:solidFill>
                  <a:srgbClr val="4F46E5"/>
                </a:solidFill>
                <a:latin typeface="Malgun Gothic"/>
              </a:rPr>
              <a:t>15  </a:t>
            </a:r>
            <a:r>
              <a:rPr sz="908">
                <a:solidFill>
                  <a:srgbClr val="334155"/>
                </a:solidFill>
                <a:latin typeface="Malgun Gothic"/>
              </a:rPr>
              <a:t>🩺 Pre-class Device Check</a:t>
            </a:r>
            <a:r>
              <a:rPr sz="758">
                <a:solidFill>
                  <a:srgbClr val="94A3B8"/>
                </a:solidFill>
                <a:latin typeface="Malgun Gothic"/>
              </a:rPr>
              <a:t>   ·  p.18</a:t>
            </a:r>
          </a:p>
          <a:p>
            <a:pPr>
              <a:spcAft>
                <a:spcPts val="557"/>
              </a:spcAft>
            </a:pPr>
            <a:r>
              <a:rPr sz="908" b="1">
                <a:solidFill>
                  <a:srgbClr val="4F46E5"/>
                </a:solidFill>
                <a:latin typeface="Malgun Gothic"/>
              </a:rPr>
              <a:t>16  </a:t>
            </a:r>
            <a:r>
              <a:rPr sz="908">
                <a:solidFill>
                  <a:srgbClr val="334155"/>
                </a:solidFill>
                <a:latin typeface="Malgun Gothic"/>
              </a:rPr>
              <a:t>🔥 Warm Up with AI</a:t>
            </a:r>
            <a:r>
              <a:rPr sz="758">
                <a:solidFill>
                  <a:srgbClr val="94A3B8"/>
                </a:solidFill>
                <a:latin typeface="Malgun Gothic"/>
              </a:rPr>
              <a:t>   ·  p.19</a:t>
            </a:r>
          </a:p>
          <a:p>
            <a:pPr>
              <a:spcAft>
                <a:spcPts val="557"/>
              </a:spcAft>
            </a:pPr>
            <a:r>
              <a:rPr sz="908" b="1">
                <a:solidFill>
                  <a:srgbClr val="4F46E5"/>
                </a:solidFill>
                <a:latin typeface="Malgun Gothic"/>
              </a:rPr>
              <a:t>17  </a:t>
            </a:r>
            <a:r>
              <a:rPr sz="908">
                <a:solidFill>
                  <a:srgbClr val="334155"/>
                </a:solidFill>
                <a:latin typeface="Malgun Gothic"/>
              </a:rPr>
              <a:t>🎙️ AI Pronunciation Coach</a:t>
            </a:r>
            <a:r>
              <a:rPr sz="758">
                <a:solidFill>
                  <a:srgbClr val="94A3B8"/>
                </a:solidFill>
                <a:latin typeface="Malgun Gothic"/>
              </a:rPr>
              <a:t>   ·  p.20</a:t>
            </a:r>
          </a:p>
          <a:p>
            <a:pPr>
              <a:spcAft>
                <a:spcPts val="557"/>
              </a:spcAft>
            </a:pPr>
            <a:r>
              <a:rPr sz="908" b="1">
                <a:solidFill>
                  <a:srgbClr val="4F46E5"/>
                </a:solidFill>
                <a:latin typeface="Malgun Gothic"/>
              </a:rPr>
              <a:t>18  </a:t>
            </a:r>
            <a:r>
              <a:rPr sz="908">
                <a:solidFill>
                  <a:srgbClr val="334155"/>
                </a:solidFill>
                <a:latin typeface="Malgun Gothic"/>
              </a:rPr>
              <a:t>📈 Take a Level Test</a:t>
            </a:r>
            <a:r>
              <a:rPr sz="758">
                <a:solidFill>
                  <a:srgbClr val="94A3B8"/>
                </a:solidFill>
                <a:latin typeface="Malgun Gothic"/>
              </a:rPr>
              <a:t>   ·  p.21</a:t>
            </a:r>
          </a:p>
          <a:p>
            <a:pPr>
              <a:spcAft>
                <a:spcPts val="557"/>
              </a:spcAft>
            </a:pPr>
            <a:r>
              <a:rPr sz="908" b="1">
                <a:solidFill>
                  <a:srgbClr val="4F46E5"/>
                </a:solidFill>
                <a:latin typeface="Malgun Gothic"/>
              </a:rPr>
              <a:t>19  </a:t>
            </a:r>
            <a:r>
              <a:rPr sz="908">
                <a:solidFill>
                  <a:srgbClr val="334155"/>
                </a:solidFill>
                <a:latin typeface="Malgun Gothic"/>
              </a:rPr>
              <a:t>🗺️ My Level · Curriculum</a:t>
            </a:r>
            <a:r>
              <a:rPr sz="758">
                <a:solidFill>
                  <a:srgbClr val="94A3B8"/>
                </a:solidFill>
                <a:latin typeface="Malgun Gothic"/>
              </a:rPr>
              <a:t>   ·  p.22</a:t>
            </a:r>
          </a:p>
          <a:p>
            <a:pPr>
              <a:spcAft>
                <a:spcPts val="557"/>
              </a:spcAft>
            </a:pPr>
            <a:r>
              <a:rPr sz="908" b="1">
                <a:solidFill>
                  <a:srgbClr val="4F46E5"/>
                </a:solidFill>
                <a:latin typeface="Malgun Gothic"/>
              </a:rPr>
              <a:t>20  </a:t>
            </a:r>
            <a:r>
              <a:rPr sz="908">
                <a:solidFill>
                  <a:srgbClr val="334155"/>
                </a:solidFill>
                <a:latin typeface="Malgun Gothic"/>
              </a:rPr>
              <a:t>🎮 Learning Games Hub</a:t>
            </a:r>
            <a:r>
              <a:rPr sz="758">
                <a:solidFill>
                  <a:srgbClr val="94A3B8"/>
                </a:solidFill>
                <a:latin typeface="Malgun Gothic"/>
              </a:rPr>
              <a:t>   ·  p.23</a:t>
            </a:r>
          </a:p>
          <a:p>
            <a:pPr>
              <a:spcAft>
                <a:spcPts val="557"/>
              </a:spcAft>
            </a:pPr>
            <a:r>
              <a:rPr sz="908" b="1">
                <a:solidFill>
                  <a:srgbClr val="4F46E5"/>
                </a:solidFill>
                <a:latin typeface="Malgun Gothic"/>
              </a:rPr>
              <a:t>21  </a:t>
            </a:r>
            <a:r>
              <a:rPr sz="908">
                <a:solidFill>
                  <a:srgbClr val="334155"/>
                </a:solidFill>
                <a:latin typeface="Malgun Gothic"/>
              </a:rPr>
              <a:t>⚔️ 3D Battle</a:t>
            </a:r>
            <a:r>
              <a:rPr sz="758">
                <a:solidFill>
                  <a:srgbClr val="94A3B8"/>
                </a:solidFill>
                <a:latin typeface="Malgun Gothic"/>
              </a:rPr>
              <a:t>   ·  p.24</a:t>
            </a:r>
          </a:p>
          <a:p>
            <a:pPr>
              <a:spcAft>
                <a:spcPts val="557"/>
              </a:spcAft>
            </a:pPr>
            <a:r>
              <a:rPr sz="908" b="1">
                <a:solidFill>
                  <a:srgbClr val="4F46E5"/>
                </a:solidFill>
                <a:latin typeface="Malgun Gothic"/>
              </a:rPr>
              <a:t>22  </a:t>
            </a:r>
            <a:r>
              <a:rPr sz="908">
                <a:solidFill>
                  <a:srgbClr val="334155"/>
                </a:solidFill>
                <a:latin typeface="Malgun Gothic"/>
              </a:rPr>
              <a:t>🚀 Shooting · Mastery Games</a:t>
            </a:r>
            <a:r>
              <a:rPr sz="758">
                <a:solidFill>
                  <a:srgbClr val="94A3B8"/>
                </a:solidFill>
                <a:latin typeface="Malgun Gothic"/>
              </a:rPr>
              <a:t>   ·  p.25</a:t>
            </a:r>
          </a:p>
        </p:txBody>
      </p:sp>
      <p:sp>
        <p:nvSpPr>
          <p:cNvPr id="8" name="TextBox 7"/>
          <p:cNvSpPr txBox="1"/>
          <p:nvPr/>
        </p:nvSpPr>
        <p:spPr>
          <a:xfrm>
            <a:off x="6094476" y="1417320"/>
            <a:ext cx="5500116" cy="5212080"/>
          </a:xfrm>
          <a:prstGeom prst="rect">
            <a:avLst/>
          </a:prstGeom>
          <a:noFill/>
        </p:spPr>
        <p:txBody>
          <a:bodyPr wrap="none">
            <a:spAutoFit/>
          </a:bodyPr>
          <a:lstStyle/>
          <a:p>
            <a:pPr>
              <a:spcAft>
                <a:spcPts val="557"/>
              </a:spcAft>
            </a:pPr>
            <a:r>
              <a:rPr sz="908" b="1">
                <a:solidFill>
                  <a:srgbClr val="4F46E5"/>
                </a:solidFill>
                <a:latin typeface="Malgun Gothic"/>
              </a:rPr>
              <a:t>23  </a:t>
            </a:r>
            <a:r>
              <a:rPr sz="908">
                <a:solidFill>
                  <a:srgbClr val="334155"/>
                </a:solidFill>
                <a:latin typeface="Malgun Gothic"/>
              </a:rPr>
              <a:t>🧟 Word Fighter (zombies)</a:t>
            </a:r>
            <a:r>
              <a:rPr sz="758">
                <a:solidFill>
                  <a:srgbClr val="94A3B8"/>
                </a:solidFill>
                <a:latin typeface="Malgun Gothic"/>
              </a:rPr>
              <a:t>   ·  p.26</a:t>
            </a:r>
          </a:p>
          <a:p>
            <a:pPr>
              <a:spcAft>
                <a:spcPts val="557"/>
              </a:spcAft>
            </a:pPr>
            <a:r>
              <a:rPr sz="908" b="1">
                <a:solidFill>
                  <a:srgbClr val="4F46E5"/>
                </a:solidFill>
                <a:latin typeface="Malgun Gothic"/>
              </a:rPr>
              <a:t>24  </a:t>
            </a:r>
            <a:r>
              <a:rPr sz="908">
                <a:solidFill>
                  <a:srgbClr val="334155"/>
                </a:solidFill>
                <a:latin typeface="Malgun Gothic"/>
              </a:rPr>
              <a:t>🕵️ Suspect Mystery</a:t>
            </a:r>
            <a:r>
              <a:rPr sz="758">
                <a:solidFill>
                  <a:srgbClr val="94A3B8"/>
                </a:solidFill>
                <a:latin typeface="Malgun Gothic"/>
              </a:rPr>
              <a:t>   ·  p.27</a:t>
            </a:r>
          </a:p>
          <a:p>
            <a:pPr>
              <a:spcAft>
                <a:spcPts val="557"/>
              </a:spcAft>
            </a:pPr>
            <a:r>
              <a:rPr sz="908" b="1">
                <a:solidFill>
                  <a:srgbClr val="4F46E5"/>
                </a:solidFill>
                <a:latin typeface="Malgun Gothic"/>
              </a:rPr>
              <a:t>25  </a:t>
            </a:r>
            <a:r>
              <a:rPr sz="908">
                <a:solidFill>
                  <a:srgbClr val="334155"/>
                </a:solidFill>
                <a:latin typeface="Malgun Gothic"/>
              </a:rPr>
              <a:t>🗣️ Speaking Quiz</a:t>
            </a:r>
            <a:r>
              <a:rPr sz="758">
                <a:solidFill>
                  <a:srgbClr val="94A3B8"/>
                </a:solidFill>
                <a:latin typeface="Malgun Gothic"/>
              </a:rPr>
              <a:t>   ·  p.28</a:t>
            </a:r>
          </a:p>
          <a:p>
            <a:pPr>
              <a:spcAft>
                <a:spcPts val="557"/>
              </a:spcAft>
            </a:pPr>
            <a:r>
              <a:rPr sz="908" b="1">
                <a:solidFill>
                  <a:srgbClr val="4F46E5"/>
                </a:solidFill>
                <a:latin typeface="Malgun Gothic"/>
              </a:rPr>
              <a:t>26  </a:t>
            </a:r>
            <a:r>
              <a:rPr sz="908">
                <a:solidFill>
                  <a:srgbClr val="334155"/>
                </a:solidFill>
                <a:latin typeface="Malgun Gothic"/>
              </a:rPr>
              <a:t>✅ Review Quiz</a:t>
            </a:r>
            <a:r>
              <a:rPr sz="758">
                <a:solidFill>
                  <a:srgbClr val="94A3B8"/>
                </a:solidFill>
                <a:latin typeface="Malgun Gothic"/>
              </a:rPr>
              <a:t>   ·  p.29</a:t>
            </a:r>
          </a:p>
          <a:p>
            <a:pPr>
              <a:spcAft>
                <a:spcPts val="557"/>
              </a:spcAft>
            </a:pPr>
            <a:r>
              <a:rPr sz="908" b="1">
                <a:solidFill>
                  <a:srgbClr val="4F46E5"/>
                </a:solidFill>
                <a:latin typeface="Malgun Gothic"/>
              </a:rPr>
              <a:t>27  </a:t>
            </a:r>
            <a:r>
              <a:rPr sz="908">
                <a:solidFill>
                  <a:srgbClr val="334155"/>
                </a:solidFill>
                <a:latin typeface="Malgun Gothic"/>
              </a:rPr>
              <a:t>📚 My Vocab</a:t>
            </a:r>
            <a:r>
              <a:rPr sz="758">
                <a:solidFill>
                  <a:srgbClr val="94A3B8"/>
                </a:solidFill>
                <a:latin typeface="Malgun Gothic"/>
              </a:rPr>
              <a:t>   ·  p.30</a:t>
            </a:r>
          </a:p>
          <a:p>
            <a:pPr>
              <a:spcAft>
                <a:spcPts val="557"/>
              </a:spcAft>
            </a:pPr>
            <a:r>
              <a:rPr sz="908" b="1">
                <a:solidFill>
                  <a:srgbClr val="4F46E5"/>
                </a:solidFill>
                <a:latin typeface="Malgun Gothic"/>
              </a:rPr>
              <a:t>28  </a:t>
            </a:r>
            <a:r>
              <a:rPr sz="908">
                <a:solidFill>
                  <a:srgbClr val="334155"/>
                </a:solidFill>
                <a:latin typeface="Malgun Gothic"/>
              </a:rPr>
              <a:t>🤖 AI Friend (Mango)</a:t>
            </a:r>
            <a:r>
              <a:rPr sz="758">
                <a:solidFill>
                  <a:srgbClr val="94A3B8"/>
                </a:solidFill>
                <a:latin typeface="Malgun Gothic"/>
              </a:rPr>
              <a:t>   ·  p.31</a:t>
            </a:r>
          </a:p>
          <a:p>
            <a:pPr>
              <a:spcAft>
                <a:spcPts val="557"/>
              </a:spcAft>
            </a:pPr>
            <a:r>
              <a:rPr sz="908" b="1">
                <a:solidFill>
                  <a:srgbClr val="4F46E5"/>
                </a:solidFill>
                <a:latin typeface="Malgun Gothic"/>
              </a:rPr>
              <a:t>29  </a:t>
            </a:r>
            <a:r>
              <a:rPr sz="908">
                <a:solidFill>
                  <a:srgbClr val="334155"/>
                </a:solidFill>
                <a:latin typeface="Malgun Gothic"/>
              </a:rPr>
              <a:t>✍️ AI Writing</a:t>
            </a:r>
            <a:r>
              <a:rPr sz="758">
                <a:solidFill>
                  <a:srgbClr val="94A3B8"/>
                </a:solidFill>
                <a:latin typeface="Malgun Gothic"/>
              </a:rPr>
              <a:t>   ·  p.32</a:t>
            </a:r>
          </a:p>
          <a:p>
            <a:pPr>
              <a:spcAft>
                <a:spcPts val="557"/>
              </a:spcAft>
            </a:pPr>
            <a:r>
              <a:rPr sz="908" b="1">
                <a:solidFill>
                  <a:srgbClr val="4F46E5"/>
                </a:solidFill>
                <a:latin typeface="Malgun Gothic"/>
              </a:rPr>
              <a:t>30  </a:t>
            </a:r>
            <a:r>
              <a:rPr sz="908">
                <a:solidFill>
                  <a:srgbClr val="334155"/>
                </a:solidFill>
                <a:latin typeface="Malgun Gothic"/>
              </a:rPr>
              <a:t>🔥 Attendance Streak · Badges</a:t>
            </a:r>
            <a:r>
              <a:rPr sz="758">
                <a:solidFill>
                  <a:srgbClr val="94A3B8"/>
                </a:solidFill>
                <a:latin typeface="Malgun Gothic"/>
              </a:rPr>
              <a:t>   ·  p.33</a:t>
            </a:r>
          </a:p>
          <a:p>
            <a:pPr>
              <a:spcAft>
                <a:spcPts val="557"/>
              </a:spcAft>
            </a:pPr>
            <a:r>
              <a:rPr sz="908" b="1">
                <a:solidFill>
                  <a:srgbClr val="4F46E5"/>
                </a:solidFill>
                <a:latin typeface="Malgun Gothic"/>
              </a:rPr>
              <a:t>31  </a:t>
            </a:r>
            <a:r>
              <a:rPr sz="908">
                <a:solidFill>
                  <a:srgbClr val="334155"/>
                </a:solidFill>
                <a:latin typeface="Malgun Gothic"/>
              </a:rPr>
              <a:t>🧭 MBTI Style Test</a:t>
            </a:r>
            <a:r>
              <a:rPr sz="758">
                <a:solidFill>
                  <a:srgbClr val="94A3B8"/>
                </a:solidFill>
                <a:latin typeface="Malgun Gothic"/>
              </a:rPr>
              <a:t>   ·  p.34</a:t>
            </a:r>
          </a:p>
          <a:p>
            <a:pPr>
              <a:spcAft>
                <a:spcPts val="557"/>
              </a:spcAft>
            </a:pPr>
            <a:r>
              <a:rPr sz="908" b="1">
                <a:solidFill>
                  <a:srgbClr val="4F46E5"/>
                </a:solidFill>
                <a:latin typeface="Malgun Gothic"/>
              </a:rPr>
              <a:t>32  </a:t>
            </a:r>
            <a:r>
              <a:rPr sz="908">
                <a:solidFill>
                  <a:srgbClr val="334155"/>
                </a:solidFill>
                <a:latin typeface="Malgun Gothic"/>
              </a:rPr>
              <a:t>📅 Book a Lesson</a:t>
            </a:r>
            <a:r>
              <a:rPr sz="758">
                <a:solidFill>
                  <a:srgbClr val="94A3B8"/>
                </a:solidFill>
                <a:latin typeface="Malgun Gothic"/>
              </a:rPr>
              <a:t>   ·  p.35</a:t>
            </a:r>
          </a:p>
          <a:p>
            <a:pPr>
              <a:spcAft>
                <a:spcPts val="557"/>
              </a:spcAft>
            </a:pPr>
            <a:r>
              <a:rPr sz="908" b="1">
                <a:solidFill>
                  <a:srgbClr val="4F46E5"/>
                </a:solidFill>
                <a:latin typeface="Malgun Gothic"/>
              </a:rPr>
              <a:t>33  </a:t>
            </a:r>
            <a:r>
              <a:rPr sz="908">
                <a:solidFill>
                  <a:srgbClr val="334155"/>
                </a:solidFill>
                <a:latin typeface="Malgun Gothic"/>
              </a:rPr>
              <a:t>🔄 Postpone · Change a Lesson</a:t>
            </a:r>
            <a:r>
              <a:rPr sz="758">
                <a:solidFill>
                  <a:srgbClr val="94A3B8"/>
                </a:solidFill>
                <a:latin typeface="Malgun Gothic"/>
              </a:rPr>
              <a:t>   ·  p.36</a:t>
            </a:r>
          </a:p>
          <a:p>
            <a:pPr>
              <a:spcAft>
                <a:spcPts val="557"/>
              </a:spcAft>
            </a:pPr>
            <a:r>
              <a:rPr sz="908" b="1">
                <a:solidFill>
                  <a:srgbClr val="4F46E5"/>
                </a:solidFill>
                <a:latin typeface="Malgun Gothic"/>
              </a:rPr>
              <a:t>34  </a:t>
            </a:r>
            <a:r>
              <a:rPr sz="908">
                <a:solidFill>
                  <a:srgbClr val="334155"/>
                </a:solidFill>
                <a:latin typeface="Malgun Gothic"/>
              </a:rPr>
              <a:t>👨‍👩‍👧 [Parents] See Your Child's L…</a:t>
            </a:r>
            <a:r>
              <a:rPr sz="758">
                <a:solidFill>
                  <a:srgbClr val="94A3B8"/>
                </a:solidFill>
                <a:latin typeface="Malgun Gothic"/>
              </a:rPr>
              <a:t>   ·  p.37</a:t>
            </a:r>
          </a:p>
          <a:p>
            <a:pPr>
              <a:spcAft>
                <a:spcPts val="557"/>
              </a:spcAft>
            </a:pPr>
            <a:r>
              <a:rPr sz="908" b="1">
                <a:solidFill>
                  <a:srgbClr val="4F46E5"/>
                </a:solidFill>
                <a:latin typeface="Malgun Gothic"/>
              </a:rPr>
              <a:t>35  </a:t>
            </a:r>
            <a:r>
              <a:rPr sz="908">
                <a:solidFill>
                  <a:srgbClr val="334155"/>
                </a:solidFill>
                <a:latin typeface="Malgun Gothic"/>
              </a:rPr>
              <a:t>💳 [Parents] Payment · Postpone · R…</a:t>
            </a:r>
            <a:r>
              <a:rPr sz="758">
                <a:solidFill>
                  <a:srgbClr val="94A3B8"/>
                </a:solidFill>
                <a:latin typeface="Malgun Gothic"/>
              </a:rPr>
              <a:t>   ·  p.38</a:t>
            </a:r>
          </a:p>
          <a:p>
            <a:pPr>
              <a:spcAft>
                <a:spcPts val="557"/>
              </a:spcAft>
            </a:pPr>
            <a:r>
              <a:rPr sz="908" b="1">
                <a:solidFill>
                  <a:srgbClr val="4F46E5"/>
                </a:solidFill>
                <a:latin typeface="Malgun Gothic"/>
              </a:rPr>
              <a:t>36  </a:t>
            </a:r>
            <a:r>
              <a:rPr sz="908">
                <a:solidFill>
                  <a:srgbClr val="334155"/>
                </a:solidFill>
                <a:latin typeface="Malgun Gothic"/>
              </a:rPr>
              <a:t>🕐 Korea·Philippines Dual Clock</a:t>
            </a:r>
            <a:r>
              <a:rPr sz="758">
                <a:solidFill>
                  <a:srgbClr val="94A3B8"/>
                </a:solidFill>
                <a:latin typeface="Malgun Gothic"/>
              </a:rPr>
              <a:t>   ·  p.39</a:t>
            </a:r>
          </a:p>
          <a:p>
            <a:pPr>
              <a:spcAft>
                <a:spcPts val="557"/>
              </a:spcAft>
            </a:pPr>
            <a:r>
              <a:rPr sz="908" b="1">
                <a:solidFill>
                  <a:srgbClr val="4F46E5"/>
                </a:solidFill>
                <a:latin typeface="Malgun Gothic"/>
              </a:rPr>
              <a:t>37  </a:t>
            </a:r>
            <a:r>
              <a:rPr sz="908">
                <a:solidFill>
                  <a:srgbClr val="334155"/>
                </a:solidFill>
                <a:latin typeface="Malgun Gothic"/>
              </a:rPr>
              <a:t>🇨🇳 Chinese Pronunciation Coach</a:t>
            </a:r>
            <a:r>
              <a:rPr sz="758">
                <a:solidFill>
                  <a:srgbClr val="94A3B8"/>
                </a:solidFill>
                <a:latin typeface="Malgun Gothic"/>
              </a:rPr>
              <a:t>   ·  p.40</a:t>
            </a:r>
          </a:p>
          <a:p>
            <a:pPr>
              <a:spcAft>
                <a:spcPts val="557"/>
              </a:spcAft>
            </a:pPr>
            <a:r>
              <a:rPr sz="908" b="1">
                <a:solidFill>
                  <a:srgbClr val="4F46E5"/>
                </a:solidFill>
                <a:latin typeface="Malgun Gothic"/>
              </a:rPr>
              <a:t>38  </a:t>
            </a:r>
            <a:r>
              <a:rPr sz="908">
                <a:solidFill>
                  <a:srgbClr val="334155"/>
                </a:solidFill>
                <a:latin typeface="Malgun Gothic"/>
              </a:rPr>
              <a:t>📔 AI Voice Diary</a:t>
            </a:r>
            <a:r>
              <a:rPr sz="758">
                <a:solidFill>
                  <a:srgbClr val="94A3B8"/>
                </a:solidFill>
                <a:latin typeface="Malgun Gothic"/>
              </a:rPr>
              <a:t>   ·  p.41</a:t>
            </a:r>
          </a:p>
          <a:p>
            <a:pPr>
              <a:spcAft>
                <a:spcPts val="557"/>
              </a:spcAft>
            </a:pPr>
            <a:r>
              <a:rPr sz="908" b="1">
                <a:solidFill>
                  <a:srgbClr val="4F46E5"/>
                </a:solidFill>
                <a:latin typeface="Malgun Gothic"/>
              </a:rPr>
              <a:t>39  </a:t>
            </a:r>
            <a:r>
              <a:rPr sz="908">
                <a:solidFill>
                  <a:srgbClr val="334155"/>
                </a:solidFill>
                <a:latin typeface="Malgun Gothic"/>
              </a:rPr>
              <a:t>🚀 Where to next? (Learning-flow gu…</a:t>
            </a:r>
            <a:r>
              <a:rPr sz="758">
                <a:solidFill>
                  <a:srgbClr val="94A3B8"/>
                </a:solidFill>
                <a:latin typeface="Malgun Gothic"/>
              </a:rPr>
              <a:t>   ·  p.42</a:t>
            </a:r>
          </a:p>
          <a:p>
            <a:pPr>
              <a:spcAft>
                <a:spcPts val="557"/>
              </a:spcAft>
            </a:pPr>
            <a:r>
              <a:rPr sz="908" b="1">
                <a:solidFill>
                  <a:srgbClr val="4F46E5"/>
                </a:solidFill>
                <a:latin typeface="Malgun Gothic"/>
              </a:rPr>
              <a:t>40  </a:t>
            </a:r>
            <a:r>
              <a:rPr sz="908">
                <a:solidFill>
                  <a:srgbClr val="334155"/>
                </a:solidFill>
                <a:latin typeface="Malgun Gothic"/>
              </a:rPr>
              <a:t>🤖 Ask the A.i Assistant</a:t>
            </a:r>
            <a:r>
              <a:rPr sz="758">
                <a:solidFill>
                  <a:srgbClr val="94A3B8"/>
                </a:solidFill>
                <a:latin typeface="Malgun Gothic"/>
              </a:rPr>
              <a:t>   ·  p.43</a:t>
            </a:r>
          </a:p>
          <a:p>
            <a:pPr>
              <a:spcAft>
                <a:spcPts val="557"/>
              </a:spcAft>
            </a:pPr>
            <a:r>
              <a:rPr sz="908" b="1">
                <a:solidFill>
                  <a:srgbClr val="4F46E5"/>
                </a:solidFill>
                <a:latin typeface="Malgun Gothic"/>
              </a:rPr>
              <a:t>41  </a:t>
            </a:r>
            <a:r>
              <a:rPr sz="908">
                <a:solidFill>
                  <a:srgbClr val="334155"/>
                </a:solidFill>
                <a:latin typeface="Malgun Gothic"/>
              </a:rPr>
              <a:t>Student Features at a Glance</a:t>
            </a:r>
            <a:r>
              <a:rPr sz="758">
                <a:solidFill>
                  <a:srgbClr val="94A3B8"/>
                </a:solidFill>
                <a:latin typeface="Malgun Gothic"/>
              </a:rPr>
              <a:t>   ·  p.44</a:t>
            </a:r>
          </a:p>
          <a:p>
            <a:pPr>
              <a:spcAft>
                <a:spcPts val="557"/>
              </a:spcAft>
            </a:pPr>
            <a:r>
              <a:rPr sz="908" b="1">
                <a:solidFill>
                  <a:srgbClr val="4F46E5"/>
                </a:solidFill>
                <a:latin typeface="Malgun Gothic"/>
              </a:rPr>
              <a:t>42  </a:t>
            </a:r>
            <a:r>
              <a:rPr sz="908">
                <a:solidFill>
                  <a:srgbClr val="334155"/>
                </a:solidFill>
                <a:latin typeface="Malgun Gothic"/>
              </a:rPr>
              <a:t>Data at a Glance</a:t>
            </a:r>
            <a:r>
              <a:rPr sz="758">
                <a:solidFill>
                  <a:srgbClr val="94A3B8"/>
                </a:solidFill>
                <a:latin typeface="Malgun Gothic"/>
              </a:rPr>
              <a:t>   ·  p.45</a:t>
            </a:r>
          </a:p>
          <a:p>
            <a:pPr>
              <a:spcAft>
                <a:spcPts val="557"/>
              </a:spcAft>
            </a:pPr>
            <a:r>
              <a:rPr sz="908" b="1">
                <a:solidFill>
                  <a:srgbClr val="4F46E5"/>
                </a:solidFill>
                <a:latin typeface="Malgun Gothic"/>
              </a:rPr>
              <a:t>43  </a:t>
            </a:r>
            <a:r>
              <a:rPr sz="908">
                <a:solidFill>
                  <a:srgbClr val="334155"/>
                </a:solidFill>
                <a:latin typeface="Malgun Gothic"/>
              </a:rPr>
              <a:t>Frequently Asked Questions (FAQ)</a:t>
            </a:r>
            <a:r>
              <a:rPr sz="758">
                <a:solidFill>
                  <a:srgbClr val="94A3B8"/>
                </a:solidFill>
                <a:latin typeface="Malgun Gothic"/>
              </a:rPr>
              <a:t>   ·  p.46</a:t>
            </a:r>
          </a:p>
          <a:p>
            <a:pPr>
              <a:spcAft>
                <a:spcPts val="557"/>
              </a:spcAft>
            </a:pPr>
            <a:r>
              <a:rPr sz="908" b="1">
                <a:solidFill>
                  <a:srgbClr val="4F46E5"/>
                </a:solidFill>
                <a:latin typeface="Malgun Gothic"/>
              </a:rPr>
              <a:t>44  </a:t>
            </a:r>
            <a:r>
              <a:rPr sz="908">
                <a:solidFill>
                  <a:srgbClr val="334155"/>
                </a:solidFill>
                <a:latin typeface="Malgun Gothic"/>
              </a:rPr>
              <a:t>Pre-class Checklist</a:t>
            </a:r>
            <a:r>
              <a:rPr sz="758">
                <a:solidFill>
                  <a:srgbClr val="94A3B8"/>
                </a:solidFill>
                <a:latin typeface="Malgun Gothic"/>
              </a:rPr>
              <a:t>   ·  p.47</a:t>
            </a:r>
          </a:p>
          <a:p>
            <a:pPr>
              <a:spcAft>
                <a:spcPts val="557"/>
              </a:spcAft>
            </a:pPr>
            <a:r>
              <a:rPr sz="908" b="1">
                <a:solidFill>
                  <a:srgbClr val="4F46E5"/>
                </a:solidFill>
                <a:latin typeface="Malgun Gothic"/>
              </a:rPr>
              <a:t>45  </a:t>
            </a:r>
            <a:r>
              <a:rPr sz="908">
                <a:solidFill>
                  <a:srgbClr val="334155"/>
                </a:solidFill>
                <a:latin typeface="Malgun Gothic"/>
              </a:rPr>
              <a:t>Conclusion · Your Mangoi Routine —…</a:t>
            </a:r>
            <a:r>
              <a:rPr sz="758">
                <a:solidFill>
                  <a:srgbClr val="94A3B8"/>
                </a:solidFill>
                <a:latin typeface="Malgun Gothic"/>
              </a:rPr>
              <a:t>   ·  p.48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