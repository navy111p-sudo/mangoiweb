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7C3AED"/>
              </a:solidFill>
            </c:spPr>
          </c:dPt>
          <c:dPt>
            <c:idx val="2"/>
            <c:spPr>
              <a:solidFill>
                <a:srgbClr val="4F46E5"/>
              </a:solidFill>
            </c:spPr>
          </c:dPt>
          <c:dPt>
            <c:idx val="3"/>
            <c:spPr>
              <a:solidFill>
                <a:srgbClr val="0EA5E9"/>
              </a:solidFill>
            </c:spPr>
          </c:dPt>
          <c:dPt>
            <c:idx val="4"/>
            <c:spPr>
              <a:solidFill>
                <a:srgbClr val="10B981"/>
              </a:solidFill>
            </c:spPr>
          </c:dPt>
          <c:cat>
            <c:strRef>
              <c:f>Sheet1!$A$2:$A$6</c:f>
              <c:strCache>
                <c:ptCount val="5"/>
                <c:pt idx="0">
                  <c:v>AI warm-up</c:v>
                </c:pt>
                <c:pt idx="1">
                  <c:v>Video lesson</c:v>
                </c:pt>
                <c:pt idx="2">
                  <c:v>Review games</c:v>
                </c:pt>
                <c:pt idx="3">
                  <c:v>Vocabulary</c:v>
                </c:pt>
                <c:pt idx="4">
                  <c:v>AI friend</c:v>
                </c:pt>
              </c:strCache>
            </c:strRef>
          </c:cat>
          <c:val>
            <c:numRef>
              <c:f>Sheet1!$B$2:$B$6</c:f>
              <c:numCache>
                <c:formatCode>General</c:formatCode>
                <c:ptCount val="5"/>
                <c:pt idx="0">
                  <c:v>3</c:v>
                </c:pt>
                <c:pt idx="1">
                  <c:v>25</c:v>
                </c:pt>
                <c:pt idx="2">
                  <c:v>10</c:v>
                </c:pt>
                <c:pt idx="3">
                  <c:v>7</c:v>
                </c:pt>
                <c:pt idx="4">
                  <c:v>5</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7C3AED"/>
              </a:solidFill>
            </c:spPr>
          </c:dPt>
          <c:dPt>
            <c:idx val="1"/>
            <c:spPr>
              <a:solidFill>
                <a:srgbClr val="0EA5E9"/>
              </a:solidFill>
            </c:spPr>
          </c:dPt>
          <c:dPt>
            <c:idx val="2"/>
            <c:spPr>
              <a:solidFill>
                <a:srgbClr val="F59E0B"/>
              </a:solidFill>
            </c:spPr>
          </c:dPt>
          <c:dPt>
            <c:idx val="3"/>
            <c:spPr>
              <a:solidFill>
                <a:srgbClr val="10B981"/>
              </a:solidFill>
            </c:spPr>
          </c:dPt>
          <c:cat>
            <c:strRef>
              <c:f>Sheet1!$A$2:$A$5</c:f>
              <c:strCache>
                <c:ptCount val="4"/>
                <c:pt idx="0">
                  <c:v>Speaking</c:v>
                </c:pt>
                <c:pt idx="1">
                  <c:v>Listening</c:v>
                </c:pt>
                <c:pt idx="2">
                  <c:v>Words</c:v>
                </c:pt>
                <c:pt idx="3">
                  <c:v>Sentences</c:v>
                </c:pt>
              </c:strCache>
            </c:strRef>
          </c:cat>
          <c:val>
            <c:numRef>
              <c:f>Sheet1!$B$2:$B$5</c:f>
              <c:numCache>
                <c:formatCode>General</c:formatCode>
                <c:ptCount val="4"/>
                <c:pt idx="0">
                  <c:v>9</c:v>
                </c:pt>
                <c:pt idx="1">
                  <c:v>7</c:v>
                </c:pt>
                <c:pt idx="2">
                  <c:v>10</c:v>
                </c:pt>
                <c:pt idx="3">
                  <c:v>8</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7C3AED"/>
              </a:solidFill>
            </c:spPr>
          </c:dPt>
          <c:dPt>
            <c:idx val="1"/>
            <c:spPr>
              <a:solidFill>
                <a:srgbClr val="7C3AED"/>
              </a:solidFill>
            </c:spPr>
          </c:dPt>
          <c:dPt>
            <c:idx val="2"/>
            <c:spPr>
              <a:solidFill>
                <a:srgbClr val="7C3AED"/>
              </a:solidFill>
            </c:spPr>
          </c:dPt>
          <c:dPt>
            <c:idx val="3"/>
            <c:spPr>
              <a:solidFill>
                <a:srgbClr val="7C3AED"/>
              </a:solidFill>
            </c:spPr>
          </c:dPt>
          <c:dPt>
            <c:idx val="4"/>
            <c:spPr>
              <a:solidFill>
                <a:srgbClr val="7C3AED"/>
              </a:solidFill>
            </c:spPr>
          </c:dPt>
          <c:dPt>
            <c:idx val="5"/>
            <c:spPr>
              <a:solidFill>
                <a:srgbClr val="7C3AED"/>
              </a:solidFill>
            </c:spPr>
          </c:dPt>
          <c:cat>
            <c:strRef>
              <c:f>Sheet1!$A$2:$A$7</c:f>
              <c:strCache>
                <c:ptCount val="6"/>
                <c:pt idx="0">
                  <c:v>W1</c:v>
                </c:pt>
                <c:pt idx="1">
                  <c:v>W2</c:v>
                </c:pt>
                <c:pt idx="2">
                  <c:v>W3</c:v>
                </c:pt>
                <c:pt idx="3">
                  <c:v>W4</c:v>
                </c:pt>
                <c:pt idx="4">
                  <c:v>W6</c:v>
                </c:pt>
                <c:pt idx="5">
                  <c:v>W8</c:v>
                </c:pt>
              </c:strCache>
            </c:strRef>
          </c:cat>
          <c:val>
            <c:numRef>
              <c:f>Sheet1!$B$2:$B$7</c:f>
              <c:numCache>
                <c:formatCode>General</c:formatCode>
                <c:ptCount val="6"/>
                <c:pt idx="0">
                  <c:v>20</c:v>
                </c:pt>
                <c:pt idx="1">
                  <c:v>45</c:v>
                </c:pt>
                <c:pt idx="2">
                  <c:v>80</c:v>
                </c:pt>
                <c:pt idx="3">
                  <c:v>130</c:v>
                </c:pt>
                <c:pt idx="4">
                  <c:v>210</c:v>
                </c:pt>
                <c:pt idx="5">
                  <c:v>320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7C3AED"/>
                </a:solidFill>
                <a:latin typeface="Malgun Gothic"/>
              </a:rPr>
              <a:t>🎒 STUDENT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Student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Easy on your own — the complete Mangoi guide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Students learning with Mangoi   |   test.mangoi.co.kr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7C3AED"/>
                </a:solidFill>
                <a:latin typeface="Malgun Gothic"/>
              </a:rPr>
              <a:t>What is Mangoi?</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Mangoi brings together live 1:1 video English lessons with a native-speaker teacher and AI learning &amp; games you can do on your own before and after class. Connect right from your web browser (Chrome/Edge) on a phone, tablet or PC — no app install needed. Just follow this guide and even first-timers can use it easily on their own.</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1:1 native video lessons</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Meet your teacher face-to-face and talk in English at set times.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warm-up · pronunciation coach</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Warm up before class and get instant pronunciation fixes.</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10 learning games</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Review today's words and sentences through fun games.</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Points · badges · streak</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The more you study, the more points and badges you collect.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7C3AED"/>
                </a:solidFill>
                <a:latin typeface="Malgun Gothic"/>
              </a:rPr>
              <a:t>Recommended Daily Routine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tudent_home.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Getting Started &amp; Home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Access · login · screen layout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opens right away when you type the address in Chrome or Edge. After you log in, a space-themed home screen appears, and from here you move to lessons, games and learning menus.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Go to test.mangoi.co.kr in your browser and log in (social login works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your name and points (P) at the top-right to confirm you're logged in.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the 'Open' tab on the left to expand the menu sidebar.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Ask the A.i assistant at the bottom-right anything you're curious about.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EN button to switch the on-screen text to English.</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No app install — a web browser is all you need.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'Add Mangoi app' at the bottom of home creates a home-screen icon.</a:t>
            </a:r>
          </a:p>
          <a:p>
            <a:pPr>
              <a:lnSpc>
                <a:spcPct val="115000"/>
              </a:lnSpc>
              <a:spcAft>
                <a:spcPts val="200"/>
              </a:spcAft>
            </a:pPr>
            <a:r>
              <a:rPr sz="900" b="1">
                <a:solidFill>
                  <a:srgbClr val="7C3AED"/>
                </a:solidFill>
                <a:latin typeface="Malgun Gothic"/>
              </a:rPr>
              <a:t>● </a:t>
            </a:r>
            <a:r>
              <a:rPr sz="1100">
                <a:solidFill>
                  <a:srgbClr val="334155"/>
                </a:solidFill>
                <a:latin typeface="Malgun Gothic"/>
              </a:rPr>
              <a:t>Study on phone, tablet or PC with the same account, anywhere.</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on auto-login only on your own trusted device so you don't type it every time.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Video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Meet your teacher 1:1 (30 seconds!)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it's lesson time, join the classroom and study face-to-face with your native teacher. It feels new at first, but just follow the steps and you'll be in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invite link you received, or the today's lesson card on the site.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your name (the room code is usually filled in; if empty, you go to the shared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Enter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browser asks, press 'Allow' for camera and mic — that connects your face and voice.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you see your teacher, say hello and start the lesson!</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 works best opened in Chrome or Edge.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Opening the link inside KakaoTalk may block the camera → choose 'open in another browser'.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headset makes the sound clearer and cuts noise.</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sound/video won't work, refresh the page and 'Allow' camera and mic again.</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5 minutes early to check your face and sound — it puts you at ease.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7C3AED"/>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7C3AED"/>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7C3AED"/>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7C3AED"/>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How to Join In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ask, write together</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video lesson isn't a lesson you just watch — it's one you do together. Don't only listen; the more you join in with the ways below, the faster your English grows.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teacher asks, turn on your 🎤 mic and answer out loud. (turn it on only when speaking to cut noise)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you can't hear or you're curious, ask in 💬 chat. Check unknown words in text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Write on the board together — with the teacher's OK, use the pen to write or draw answers.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Turn textbook pages together and follow the page you're 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Keep your camera on — the teacher helps more when they can see your face.</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the better. Mistakes are fine!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 well and the teacher gives you 🌟 praise points (see earlier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Earphones in a quiet place make the sound clear.</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Memorize phrases like 'One more time, please' to make class easier.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ass_vide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After Class — Review &amp; Rating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quiz &amp; rating for +10P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class ends, tidy up what you learned right away. A 'Take the review quiz?' popup appears, and leaving a star rating earns you points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a 'Take the review quiz? Yes / No' popup appears.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'Yes' and a review quiz matched to today's class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Leave a star rating (How was today's class? 7 stars) to get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Then review today's words once more with a learning game to make it perfect.</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Reviewing right after class stays in memory longest.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rating helps your teacher, and you get points too.</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You must leave a star rating to exit the class (it's OK to be honest).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 vocabulary, in that order, makes today's lesson truly yours.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Device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camera, mic and internet first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screen checks your camera, mic, network and lighting before class. A score and traffic-light signals tell you right away whether things are good, preventing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The check screen tests camera, mic, network and lighting all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overall score and each item's signal (green/yellow/red).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red appears, follow the tips to turn on a light or move seats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When your face is well-lit, the teacher can read your expression and help more.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Wi-Fi is weak, moving closer to the router helps.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 the check 5 minutes before class — fixing issues early keeps the lesson smooth.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Warm Up with AI</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warm-up before class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Before class, an AI friend asks English questions tied to today's textbook. Answering casually loosens you up so the first 5 minutes of class feel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Before class, the AI friend greets you in English — reply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linked to today's textbook appear so you get a feel in advance.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speak/listen buttons to answer by voice or type.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teacher can see your warm-up, so class flows naturally from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it's just a warm-up, so relax!</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Make the warm-up a habit before every class and you'll start speaking sooner.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Fixes your pronunciation instantly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Read a sentence at your level, record it with the mic, and the AI tells you a pronunciation score and what to fix. You can also replay the native audio and correct yourself.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a level (Phonics, BTS, SIU, etc.) to get sentences at your level.</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on screen and press the red mic button to record.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AI shows your pronunciation score and what to fix.</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'replay' to hear the native audio and practice once more.</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Start with short sentences, clearly — your score rises faster.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Repeating sentences from class here makes them stick.</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Five sentences a day and your pronunciation noticeably improves.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Take a Level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Find out your English level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test that shows your current English level. The result feeds into your curriculum, so you avoid lessons that are too easy or too hard.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level test request screen, pick a method (AI/teacher) and a date/time.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Follow the guide and answer the speaking and listening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result is reflected in your curriculum (my level).</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We recommend taking it once when you first start.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Retake it periodically to see how much you've improved.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Relax — the goal is just to know your level accurately.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leveltes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Level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how far you've come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Levels 1–10 show where you are now and what you'll learn next. As you take lessons and play games, you move up to the next level.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Check which of Levels 1–10 you're at now.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a level to see what you learn and the goals.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a target level and keep challenging yourself.</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As levels rise, the sentences get longer and more practical.</a:t>
            </a:r>
          </a:p>
          <a:p>
            <a:pPr>
              <a:lnSpc>
                <a:spcPct val="115000"/>
              </a:lnSpc>
              <a:spcAft>
                <a:spcPts val="200"/>
              </a:spcAft>
            </a:pPr>
            <a:r>
              <a:rPr sz="900" b="1">
                <a:solidFill>
                  <a:srgbClr val="7C3AED"/>
                </a:solidFill>
                <a:latin typeface="Malgun Gothic"/>
              </a:rPr>
              <a:t>● </a:t>
            </a:r>
            <a:r>
              <a:rPr sz="1100">
                <a:solidFill>
                  <a:srgbClr val="334155"/>
                </a:solidFill>
                <a:latin typeface="Malgun Gothic"/>
              </a:rPr>
              <a:t>Setting a goal with your teacher boosts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Knowing your level means games and reviews use the right words for you.</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Learning Games Hub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with 10 games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Games menu has 10 games. Today's textbook and level words appear in them, so you review naturally while playing and earn points.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Games, tap a game card to start right away.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At the top, choose English/Chinese and the game speed.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Correct answers earn points and keep your learning streak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highlights.</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Game words are linked to what you learned today.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Games marked 'speaking' score better when you say the answer aloud.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Games are review. When class words appear in a game, they stick longer.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game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3D Battle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Quiz duel with a boss!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boss-battle game where you attack with a 3D character by answering questions. The more you get right, the stronger you get and the more badges you earn.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lesson boss battle and attack by solving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more correct answers, the stronger you get and the more badges you earn.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Wrong is fine — try again and learn the words.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 on sound for extra excitement with sound effects.</a:t>
            </a:r>
          </a:p>
          <a:p>
            <a:pPr>
              <a:lnSpc>
                <a:spcPct val="115000"/>
              </a:lnSpc>
              <a:spcAft>
                <a:spcPts val="200"/>
              </a:spcAft>
            </a:pPr>
            <a:r>
              <a:rPr sz="900" b="1">
                <a:solidFill>
                  <a:srgbClr val="7C3AED"/>
                </a:solidFill>
                <a:latin typeface="Malgun Gothic"/>
              </a:rPr>
              <a:t>● </a:t>
            </a:r>
            <a:r>
              <a:rPr sz="1100">
                <a:solidFill>
                  <a:srgbClr val="334155"/>
                </a:solidFill>
                <a:latin typeface="Malgun Gothic"/>
              </a:rPr>
              <a:t>Beat the boss for a special badge.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Too hard? Change the game speed to 'slow'.</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battle3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Shooting · Mastery Games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Shoot and fish while speaking</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Shoot words in space (Shooting + Speaking) or build target sentences by hunting and fishing words (Mastery). Pick a difficulty and speed to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Shooting + Speaking: shoot words in order to complete a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Mastery (word hunt / sentence fishing): build the target sentence while speaking.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Change difficulty and speed to pick your challenge.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Speaking games score better when you say answers aloud.</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Reading the target sentence loudly helps memory.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Start at 'easy/normal' and raise it as you get comfortable.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aste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Word Fighter (zombies)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Beat zombies with words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An action game where you fend off oncoming zombies with words and sentences. It trains you to recall words quickly under pressure.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speak to match the word/sentence on screen to stop zombies.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faster you answer, the higher your score and combo.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Get as many right as you can before you run out of lives.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quick-reaction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Don't skip unknown words — check their meaning.</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Nervous? Breathe — accuracy matters more than speed.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ordfighte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Suspect Mystery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Listening &amp; speaking through story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mystery game where you listen to the teacher's (AI) English hints, find the culprit, and explain in English. You practice listening and speaking at the same time inside a story.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Class' to begin the case.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to the English hints and gather clues.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culprit and explain your reason in English.</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Improves listening focus.</a:t>
            </a:r>
          </a:p>
          <a:p>
            <a:pPr>
              <a:lnSpc>
                <a:spcPct val="115000"/>
              </a:lnSpc>
              <a:spcAft>
                <a:spcPts val="200"/>
              </a:spcAft>
            </a:pPr>
            <a:r>
              <a:rPr sz="900" b="1">
                <a:solidFill>
                  <a:srgbClr val="7C3AED"/>
                </a:solidFill>
                <a:latin typeface="Malgun Gothic"/>
              </a:rPr>
              <a:t>● </a:t>
            </a:r>
            <a:r>
              <a:rPr sz="1100">
                <a:solidFill>
                  <a:srgbClr val="334155"/>
                </a:solidFill>
                <a:latin typeface="Malgun Gothic"/>
              </a:rPr>
              <a:t>Practices giving reasons in English.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Missed a hint? Use replay to check it.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uspe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Speaking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 and repeat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quiz where you listen to a sentence and repeat it to check pronunciation and sentences. A great way to review today's lesson out loud.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to get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and repeat each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pronunciation feedback.</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aloud, the more you improve.</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quiet place helps recognition.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Doing it right after class doubles what you remember.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a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Review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quick check of the lesson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a short quiz checks today's content. It tells you what you did well and what to review more.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Take the review quiz that pops up after class.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Recheck wrong questions with the explanation.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Note the words to review more from your result.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It's short, so you can do it every time without pressure.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Wrong words link to the vocabulary book and games.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in that order, is perfect.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Vocab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Memorize with word cards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Your own vocabulary book to memorize collected words as cards. Check meanings and pronunciation and review even on the go.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Flip through your word cards in the vocabulary book.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meaning and pronunciation on each card.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Split known and unknown words and repeat.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Words from games and lessons collect here.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Perfect for spare moments on the go.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10 words a day is 300 words in a month.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vocab.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Friend (Mango)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Free English chat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Chat freely in English with your AI friend Mango to practice conversation. Mistakes aren't embarrassing, so you can speak as much as you like.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the AI friend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say what you want in English.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Mango's reply and keep the conversation going naturally.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practice freely!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chatting in English when bored.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Learn by asking things like 'What is …?'</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frie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Writing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Make your sentences natural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Enter a sentence you want to write and the AI rewrites it into natural English. Learn why it changes and build your writing skills.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the sentence you want to write.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AI Writing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corrected sentence and the reason, then copy it.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diary and self-introduction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Memorizing the fixes speeds up your growth.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 the corrected sentence aloud — it helps speaking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writ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Attendance Streak · Badges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Consistency is skill!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Study every day to keep the flame (streak) going, and meet conditions to auto-collect 10 kinds of badges. Consistency adds up to real skill.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Do 'today's study' every day to keep the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Skip a day and the flame goes out — so do a little every day.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Meet the conditions and receive badges automatically.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Doing a little every day matters most.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Collecting badges builds the habit for fun.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pressing 'today's study' keeps your streak alive.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trea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MBTI Style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Know your learning style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short quiz to learn your learning style. It helps you find study methods that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Answer the questions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your style and study tips in the result.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Apply the recommended methods to lessons and games.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Enjoy it and get to know yourself.</a:t>
            </a:r>
          </a:p>
          <a:p>
            <a:pPr>
              <a:lnSpc>
                <a:spcPct val="115000"/>
              </a:lnSpc>
              <a:spcAft>
                <a:spcPts val="200"/>
              </a:spcAft>
            </a:pPr>
            <a:r>
              <a:rPr sz="900" b="1">
                <a:solidFill>
                  <a:srgbClr val="7C3AED"/>
                </a:solidFill>
                <a:latin typeface="Malgun Gothic"/>
              </a:rPr>
              <a:t>● </a:t>
            </a:r>
            <a:r>
              <a:rPr sz="1100">
                <a:solidFill>
                  <a:srgbClr val="334155"/>
                </a:solidFill>
                <a:latin typeface="Malgun Gothic"/>
              </a:rPr>
              <a:t>Pick games that fit your style, too.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Share the result with your teacher for tailored coaching.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bti.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Set your own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book by choosing lesson type (1:1/group), date and time on a calendar. Once booked, your remaining count and next lesson are organized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lesson type (1:1/group).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Select the date and time on the calendar.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weekly count and move to payment/confirm.</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times are color-coded for easy picking.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also choose by teacher.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Popular slots fill fast — book early.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 Change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comes up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push a lesson to later or change its time when something comes up. The changed schedule is announced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Choose Postpone / Change.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date and time to move to.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Confirm and your lesson count stays preserved.</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Requesting early makes it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Postponing never removes your lesson count.</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Postponing right before a lesson may not be possible (check the postpone/refund policy).</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If your plans might change, request at least a day ahead.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See Your Child's Learning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Just a student ID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how well their child is doing on one screen in 'My Page' just by entering the child's student ID. No app install — check it right from the web.</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My Page (the parent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child's student ID and press Look up. (it's saved after one look-up)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30-day attendance grid for when they had class, and point flow for accrual/use.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the learning report (teacher's latest reviews), AI voice-coaching progress and badge shelf.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Wrap up the month with AI study recommendations and the monthly report (print/PDF).</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Attendance, reviews, points and coaching progress are all on one screen.</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monthly report can be printed or saved as PDF.</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you don't know the student ID, ask the teacher/academy.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Manage the student ID like a password — anyone with it can view.</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Reading the review together the day after class and praising your child boosts their motivation a lot.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Payment · Postpone · Refund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Tuition and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Tuition payment, postponing/changing a lesson when something comes up, and the refund policy — useful things for parents to know. It's all handled on the web and auto-calculated by policy.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Book/Pay: choose the lesson type (1:1/group) and count, then pay.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Postpone/Change: if something comes up, request in advance to move it later. (lesson count is preserved)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Refund: auto-calculated per the refund table (100% before the lesson starts,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Contact support (phone, email, Kakao).</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earlier you request a postpone, the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Refunds on discounted lessons are recalculated at list price.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Overdue/payment notices can arrive via alert-talk/SMS.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Lessons missed without postponing may be marked absent. Check the policy in advance.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Checking the postpone/refund policy at signup avoids confusion later.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small clock on screen shows 🇰🇷 Korea time and 🇵🇭 Philippines time together. Our native teachers are in the Philippines, so seeing both times keeps you from mixing up lesson times.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get coaching not just in English but in Chinese pronunciation too! Read sentences along the 'Darakwon Chinese Master' textbook (Lv 1–20) and the AI recognizes your voice and compares it to a native speaker. Characters and pinyin (pronunciation) appear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Student Features at a Glance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Menu</a:t>
                      </a:r>
                    </a:p>
                  </a:txBody>
                  <a:tcPr>
                    <a:solidFill>
                      <a:srgbClr val="7C3AED"/>
                    </a:solidFill>
                  </a:tcPr>
                </a:tc>
                <a:tc>
                  <a:txBody>
                    <a:bodyPr/>
                    <a:lstStyle/>
                    <a:p>
                      <a:pPr algn="ctr"/>
                      <a:r>
                        <a:rPr sz="1300" b="1">
                          <a:solidFill>
                            <a:srgbClr val="FFFFFF"/>
                          </a:solidFill>
                          <a:latin typeface="Malgun Gothic"/>
                        </a:rPr>
                        <a:t>What it does</a:t>
                      </a:r>
                    </a:p>
                  </a:txBody>
                  <a:tcPr>
                    <a:solidFill>
                      <a:srgbClr val="7C3AED"/>
                    </a:solidFill>
                  </a:tcPr>
                </a:tc>
                <a:tc>
                  <a:txBody>
                    <a:bodyPr/>
                    <a:lstStyle/>
                    <a:p>
                      <a:pPr algn="ctr"/>
                      <a:r>
                        <a:rPr sz="1300" b="1">
                          <a:solidFill>
                            <a:srgbClr val="FFFFFF"/>
                          </a:solidFill>
                          <a:latin typeface="Malgun Gothic"/>
                        </a:rPr>
                        <a:t>When to use</a:t>
                      </a:r>
                    </a:p>
                  </a:txBody>
                  <a:tcPr>
                    <a:solidFill>
                      <a:srgbClr val="7C3AED"/>
                    </a:solidFill>
                  </a:tcPr>
                </a:tc>
                <a:tc>
                  <a:txBody>
                    <a:bodyPr/>
                    <a:lstStyle/>
                    <a:p>
                      <a:pPr algn="ctr"/>
                      <a:r>
                        <a:rPr sz="1300" b="1">
                          <a:solidFill>
                            <a:srgbClr val="FFFFFF"/>
                          </a:solidFill>
                          <a:latin typeface="Malgun Gothic"/>
                        </a:rPr>
                        <a:t>What you gain</a:t>
                      </a:r>
                    </a:p>
                  </a:txBody>
                  <a:tcPr>
                    <a:solidFill>
                      <a:srgbClr val="7C3AED"/>
                    </a:solidFill>
                  </a:tcPr>
                </a:tc>
              </a:tr>
              <a:tr h="502920">
                <a:tc>
                  <a:txBody>
                    <a:bodyPr/>
                    <a:lstStyle/>
                    <a:p>
                      <a:pPr algn="l"/>
                      <a:r>
                        <a:rPr sz="1200" b="1">
                          <a:solidFill>
                            <a:srgbClr val="334155"/>
                          </a:solidFill>
                          <a:latin typeface="Malgun Gothic"/>
                        </a:rPr>
                        <a:t>Video lesson</a:t>
                      </a:r>
                    </a:p>
                  </a:txBody>
                  <a:tcPr>
                    <a:solidFill>
                      <a:srgbClr val="FFFFFF"/>
                    </a:solidFill>
                  </a:tcPr>
                </a:tc>
                <a:tc>
                  <a:txBody>
                    <a:bodyPr/>
                    <a:lstStyle/>
                    <a:p>
                      <a:pPr algn="ctr"/>
                      <a:r>
                        <a:rPr sz="1200">
                          <a:solidFill>
                            <a:srgbClr val="334155"/>
                          </a:solidFill>
                          <a:latin typeface="Malgun Gothic"/>
                        </a:rPr>
                        <a:t>1:1 native lesson</a:t>
                      </a:r>
                    </a:p>
                  </a:txBody>
                  <a:tcPr>
                    <a:solidFill>
                      <a:srgbClr val="FFFFFF"/>
                    </a:solidFill>
                  </a:tcPr>
                </a:tc>
                <a:tc>
                  <a:txBody>
                    <a:bodyPr/>
                    <a:lstStyle/>
                    <a:p>
                      <a:pPr algn="ctr"/>
                      <a:r>
                        <a:rPr sz="1200">
                          <a:solidFill>
                            <a:srgbClr val="334155"/>
                          </a:solidFill>
                          <a:latin typeface="Malgun Gothic"/>
                        </a:rPr>
                        <a:t>At set lesson times</a:t>
                      </a:r>
                    </a:p>
                  </a:txBody>
                  <a:tcPr>
                    <a:solidFill>
                      <a:srgbClr val="FFFFFF"/>
                    </a:solidFill>
                  </a:tcPr>
                </a:tc>
                <a:tc>
                  <a:txBody>
                    <a:bodyPr/>
                    <a:lstStyle/>
                    <a:p>
                      <a:pPr algn="ctr"/>
                      <a:r>
                        <a:rPr sz="1200">
                          <a:solidFill>
                            <a:srgbClr val="334155"/>
                          </a:solidFill>
                          <a:latin typeface="Malgun Gothic"/>
                        </a:rPr>
                        <a:t>Speaking skill ↑</a:t>
                      </a:r>
                    </a:p>
                  </a:txBody>
                  <a:tcPr>
                    <a:solidFill>
                      <a:srgbClr val="FFFFFF"/>
                    </a:solidFill>
                  </a:tcPr>
                </a:tc>
              </a:tr>
              <a:tr h="502920">
                <a:tc>
                  <a:txBody>
                    <a:bodyPr/>
                    <a:lstStyle/>
                    <a:p>
                      <a:pPr algn="l"/>
                      <a:r>
                        <a:rPr sz="1200" b="1">
                          <a:solidFill>
                            <a:srgbClr val="334155"/>
                          </a:solidFill>
                          <a:latin typeface="Malgun Gothic"/>
                        </a:rPr>
                        <a:t>Class toolbar</a:t>
                      </a:r>
                    </a:p>
                  </a:txBody>
                  <a:tcPr>
                    <a:solidFill>
                      <a:srgbClr val="F8FAFC"/>
                    </a:solidFill>
                  </a:tcPr>
                </a:tc>
                <a:tc>
                  <a:txBody>
                    <a:bodyPr/>
                    <a:lstStyle/>
                    <a:p>
                      <a:pPr algn="ctr"/>
                      <a:r>
                        <a:rPr sz="1200">
                          <a:solidFill>
                            <a:srgbClr val="334155"/>
                          </a:solidFill>
                          <a:latin typeface="Malgun Gothic"/>
                        </a:rPr>
                        <a:t>Video·materials·board·chat</a:t>
                      </a:r>
                    </a:p>
                  </a:txBody>
                  <a:tcPr>
                    <a:solidFill>
                      <a:srgbClr val="F8FAFC"/>
                    </a:solidFill>
                  </a:tcPr>
                </a:tc>
                <a:tc>
                  <a:txBody>
                    <a:bodyPr/>
                    <a:lstStyle/>
                    <a:p>
                      <a:pPr algn="ctr"/>
                      <a:r>
                        <a:rPr sz="1200">
                          <a:solidFill>
                            <a:srgbClr val="334155"/>
                          </a:solidFill>
                          <a:latin typeface="Malgun Gothic"/>
                        </a:rPr>
                        <a:t>During class</a:t>
                      </a:r>
                    </a:p>
                  </a:txBody>
                  <a:tcPr>
                    <a:solidFill>
                      <a:srgbClr val="F8FAFC"/>
                    </a:solidFill>
                  </a:tcPr>
                </a:tc>
                <a:tc>
                  <a:txBody>
                    <a:bodyPr/>
                    <a:lstStyle/>
                    <a:p>
                      <a:pPr algn="ctr"/>
                      <a:r>
                        <a:rPr sz="1200">
                          <a:solidFill>
                            <a:srgbClr val="334155"/>
                          </a:solidFill>
                          <a:latin typeface="Malgun Gothic"/>
                        </a:rPr>
                        <a:t>Tool mastery</a:t>
                      </a:r>
                    </a:p>
                  </a:txBody>
                  <a:tcPr>
                    <a:solidFill>
                      <a:srgbClr val="F8FAFC"/>
                    </a:solidFill>
                  </a:tcPr>
                </a:tc>
              </a:tr>
              <a:tr h="502920">
                <a:tc>
                  <a:txBody>
                    <a:bodyPr/>
                    <a:lstStyle/>
                    <a:p>
                      <a:pPr algn="l"/>
                      <a:r>
                        <a:rPr sz="1200" b="1">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Pre-class warm-up</a:t>
                      </a:r>
                    </a:p>
                  </a:txBody>
                  <a:tcPr>
                    <a:solidFill>
                      <a:srgbClr val="FFFFFF"/>
                    </a:solidFill>
                  </a:tcPr>
                </a:tc>
                <a:tc>
                  <a:txBody>
                    <a:bodyPr/>
                    <a:lstStyle/>
                    <a:p>
                      <a:pPr algn="ctr"/>
                      <a:r>
                        <a:rPr sz="1200">
                          <a:solidFill>
                            <a:srgbClr val="334155"/>
                          </a:solidFill>
                          <a:latin typeface="Malgun Gothic"/>
                        </a:rPr>
                        <a:t>5 min before class</a:t>
                      </a:r>
                    </a:p>
                  </a:txBody>
                  <a:tcPr>
                    <a:solidFill>
                      <a:srgbClr val="FFFFFF"/>
                    </a:solidFill>
                  </a:tcPr>
                </a:tc>
                <a:tc>
                  <a:txBody>
                    <a:bodyPr/>
                    <a:lstStyle/>
                    <a:p>
                      <a:pPr algn="ctr"/>
                      <a:r>
                        <a:rPr sz="1200">
                          <a:solidFill>
                            <a:srgbClr val="334155"/>
                          </a:solidFill>
                          <a:latin typeface="Malgun Gothic"/>
                        </a:rPr>
                        <a:t>An easy start</a:t>
                      </a:r>
                    </a:p>
                  </a:txBody>
                  <a:tcPr>
                    <a:solidFill>
                      <a:srgbClr val="FFFFFF"/>
                    </a:solidFill>
                  </a:tcPr>
                </a:tc>
              </a:tr>
              <a:tr h="502920">
                <a:tc>
                  <a:txBody>
                    <a:bodyPr/>
                    <a:lstStyle/>
                    <a:p>
                      <a:pPr algn="l"/>
                      <a:r>
                        <a:rPr sz="1200" b="1">
                          <a:solidFill>
                            <a:srgbClr val="334155"/>
                          </a:solidFill>
                          <a:latin typeface="Malgun Gothic"/>
                        </a:rPr>
                        <a:t>AI voice coach</a:t>
                      </a:r>
                    </a:p>
                  </a:txBody>
                  <a:tcPr>
                    <a:solidFill>
                      <a:srgbClr val="F8FAFC"/>
                    </a:solidFill>
                  </a:tcPr>
                </a:tc>
                <a:tc>
                  <a:txBody>
                    <a:bodyPr/>
                    <a:lstStyle/>
                    <a:p>
                      <a:pPr algn="ctr"/>
                      <a:r>
                        <a:rPr sz="1200">
                          <a:solidFill>
                            <a:srgbClr val="334155"/>
                          </a:solidFill>
                          <a:latin typeface="Malgun Gothic"/>
                        </a:rPr>
                        <a:t>Record &amp; fix pronunciation</a:t>
                      </a:r>
                    </a:p>
                  </a:txBody>
                  <a:tcPr>
                    <a:solidFill>
                      <a:srgbClr val="F8FAFC"/>
                    </a:solidFill>
                  </a:tcPr>
                </a:tc>
                <a:tc>
                  <a:txBody>
                    <a:bodyPr/>
                    <a:lstStyle/>
                    <a:p>
                      <a:pPr algn="ctr"/>
                      <a:r>
                        <a:rPr sz="1200">
                          <a:solidFill>
                            <a:srgbClr val="334155"/>
                          </a:solidFill>
                          <a:latin typeface="Malgun Gothic"/>
                        </a:rPr>
                        <a:t>Daily self-study</a:t>
                      </a:r>
                    </a:p>
                  </a:txBody>
                  <a:tcPr>
                    <a:solidFill>
                      <a:srgbClr val="F8FAFC"/>
                    </a:solidFill>
                  </a:tcPr>
                </a:tc>
                <a:tc>
                  <a:txBody>
                    <a:bodyPr/>
                    <a:lstStyle/>
                    <a:p>
                      <a:pPr algn="ctr"/>
                      <a:r>
                        <a:rPr sz="1200">
                          <a:solidFill>
                            <a:srgbClr val="334155"/>
                          </a:solidFill>
                          <a:latin typeface="Malgun Gothic"/>
                        </a:rPr>
                        <a:t>Accurate sounds</a:t>
                      </a:r>
                    </a:p>
                  </a:txBody>
                  <a:tcPr>
                    <a:solidFill>
                      <a:srgbClr val="F8FAFC"/>
                    </a:solidFill>
                  </a:tcPr>
                </a:tc>
              </a:tr>
              <a:tr h="502920">
                <a:tc>
                  <a:txBody>
                    <a:bodyPr/>
                    <a:lstStyle/>
                    <a:p>
                      <a:pPr algn="l"/>
                      <a:r>
                        <a:rPr sz="1200" b="1">
                          <a:solidFill>
                            <a:srgbClr val="334155"/>
                          </a:solidFill>
                          <a:latin typeface="Malgun Gothic"/>
                        </a:rPr>
                        <a:t>Games</a:t>
                      </a:r>
                    </a:p>
                  </a:txBody>
                  <a:tcPr>
                    <a:solidFill>
                      <a:srgbClr val="FFFFFF"/>
                    </a:solidFill>
                  </a:tcPr>
                </a:tc>
                <a:tc>
                  <a:txBody>
                    <a:bodyPr/>
                    <a:lstStyle/>
                    <a:p>
                      <a:pPr algn="ctr"/>
                      <a:r>
                        <a:rPr sz="1200">
                          <a:solidFill>
                            <a:srgbClr val="334155"/>
                          </a:solidFill>
                          <a:latin typeface="Malgun Gothic"/>
                        </a:rPr>
                        <a:t>Review by playing</a:t>
                      </a:r>
                    </a:p>
                  </a:txBody>
                  <a:tcPr>
                    <a:solidFill>
                      <a:srgbClr val="FFFFFF"/>
                    </a:solidFill>
                  </a:tcPr>
                </a:tc>
                <a:tc>
                  <a:txBody>
                    <a:bodyPr/>
                    <a:lstStyle/>
                    <a:p>
                      <a:pPr algn="ctr"/>
                      <a:r>
                        <a:rPr sz="1200">
                          <a:solidFill>
                            <a:srgbClr val="334155"/>
                          </a:solidFill>
                          <a:latin typeface="Malgun Gothic"/>
                        </a:rPr>
                        <a:t>After class</a:t>
                      </a:r>
                    </a:p>
                  </a:txBody>
                  <a:tcPr>
                    <a:solidFill>
                      <a:srgbClr val="FFFFFF"/>
                    </a:solidFill>
                  </a:tcPr>
                </a:tc>
                <a:tc>
                  <a:txBody>
                    <a:bodyPr/>
                    <a:lstStyle/>
                    <a:p>
                      <a:pPr algn="ctr"/>
                      <a:r>
                        <a:rPr sz="1200">
                          <a:solidFill>
                            <a:srgbClr val="334155"/>
                          </a:solidFill>
                          <a:latin typeface="Malgun Gothic"/>
                        </a:rPr>
                        <a:t>Points·memory</a:t>
                      </a:r>
                    </a:p>
                  </a:txBody>
                  <a:tcPr>
                    <a:solidFill>
                      <a:srgbClr val="FFFFFF"/>
                    </a:solidFill>
                  </a:tcPr>
                </a:tc>
              </a:tr>
              <a:tr h="502920">
                <a:tc>
                  <a:txBody>
                    <a:bodyPr/>
                    <a:lstStyle/>
                    <a:p>
                      <a:pPr algn="l"/>
                      <a:r>
                        <a:rPr sz="1200" b="1">
                          <a:solidFill>
                            <a:srgbClr val="334155"/>
                          </a:solidFill>
                          <a:latin typeface="Malgun Gothic"/>
                        </a:rPr>
                        <a:t>Vocabulary</a:t>
                      </a:r>
                    </a:p>
                  </a:txBody>
                  <a:tcPr>
                    <a:solidFill>
                      <a:srgbClr val="F8FAFC"/>
                    </a:solidFill>
                  </a:tcPr>
                </a:tc>
                <a:tc>
                  <a:txBody>
                    <a:bodyPr/>
                    <a:lstStyle/>
                    <a:p>
                      <a:pPr algn="ctr"/>
                      <a:r>
                        <a:rPr sz="1200">
                          <a:solidFill>
                            <a:srgbClr val="334155"/>
                          </a:solidFill>
                          <a:latin typeface="Malgun Gothic"/>
                        </a:rPr>
                        <a:t>Memorize word cards</a:t>
                      </a:r>
                    </a:p>
                  </a:txBody>
                  <a:tcPr>
                    <a:solidFill>
                      <a:srgbClr val="F8FAFC"/>
                    </a:solidFill>
                  </a:tcPr>
                </a:tc>
                <a:tc>
                  <a:txBody>
                    <a:bodyPr/>
                    <a:lstStyle/>
                    <a:p>
                      <a:pPr algn="ctr"/>
                      <a:r>
                        <a:rPr sz="1200">
                          <a:solidFill>
                            <a:srgbClr val="334155"/>
                          </a:solidFill>
                          <a:latin typeface="Malgun Gothic"/>
                        </a:rPr>
                        <a:t>On the go</a:t>
                      </a:r>
                    </a:p>
                  </a:txBody>
                  <a:tcPr>
                    <a:solidFill>
                      <a:srgbClr val="F8FAFC"/>
                    </a:solidFill>
                  </a:tcPr>
                </a:tc>
                <a:tc>
                  <a:txBody>
                    <a:bodyPr/>
                    <a:lstStyle/>
                    <a:p>
                      <a:pPr algn="ctr"/>
                      <a:r>
                        <a:rPr sz="1200">
                          <a:solidFill>
                            <a:srgbClr val="334155"/>
                          </a:solidFill>
                          <a:latin typeface="Malgun Gothic"/>
                        </a:rPr>
                        <a:t>Vocabulary ↑</a:t>
                      </a:r>
                    </a:p>
                  </a:txBody>
                  <a:tcPr>
                    <a:solidFill>
                      <a:srgbClr val="F8FAFC"/>
                    </a:solidFill>
                  </a:tcPr>
                </a:tc>
              </a:tr>
              <a:tr h="502920">
                <a:tc>
                  <a:txBody>
                    <a:bodyPr/>
                    <a:lstStyle/>
                    <a:p>
                      <a:pPr algn="l"/>
                      <a:r>
                        <a:rPr sz="1200" b="1">
                          <a:solidFill>
                            <a:srgbClr val="334155"/>
                          </a:solidFill>
                          <a:latin typeface="Malgun Gothic"/>
                        </a:rPr>
                        <a:t>AI friend</a:t>
                      </a:r>
                    </a:p>
                  </a:txBody>
                  <a:tcPr>
                    <a:solidFill>
                      <a:srgbClr val="FFFFFF"/>
                    </a:solidFill>
                  </a:tcPr>
                </a:tc>
                <a:tc>
                  <a:txBody>
                    <a:bodyPr/>
                    <a:lstStyle/>
                    <a:p>
                      <a:pPr algn="ctr"/>
                      <a:r>
                        <a:rPr sz="1200">
                          <a:solidFill>
                            <a:srgbClr val="334155"/>
                          </a:solidFill>
                          <a:latin typeface="Malgun Gothic"/>
                        </a:rPr>
                        <a:t>Free English chat</a:t>
                      </a:r>
                    </a:p>
                  </a:txBody>
                  <a:tcPr>
                    <a:solidFill>
                      <a:srgbClr val="FFFFFF"/>
                    </a:solidFill>
                  </a:tcPr>
                </a:tc>
                <a:tc>
                  <a:txBody>
                    <a:bodyPr/>
                    <a:lstStyle/>
                    <a:p>
                      <a:pPr algn="ctr"/>
                      <a:r>
                        <a:rPr sz="1200">
                          <a:solidFill>
                            <a:srgbClr val="334155"/>
                          </a:solidFill>
                          <a:latin typeface="Malgun Gothic"/>
                        </a:rPr>
                        <a:t>When bored</a:t>
                      </a:r>
                    </a:p>
                  </a:txBody>
                  <a:tcPr>
                    <a:solidFill>
                      <a:srgbClr val="FFFFFF"/>
                    </a:solidFill>
                  </a:tcPr>
                </a:tc>
                <a:tc>
                  <a:txBody>
                    <a:bodyPr/>
                    <a:lstStyle/>
                    <a:p>
                      <a:pPr algn="ctr"/>
                      <a:r>
                        <a:rPr sz="1200">
                          <a:solidFill>
                            <a:srgbClr val="334155"/>
                          </a:solidFill>
                          <a:latin typeface="Malgun Gothic"/>
                        </a:rPr>
                        <a:t>Speaking confidence</a:t>
                      </a:r>
                    </a:p>
                  </a:txBody>
                  <a:tcPr>
                    <a:solidFill>
                      <a:srgbClr val="FFFFFF"/>
                    </a:solidFill>
                  </a:tcPr>
                </a:tc>
              </a:tr>
              <a:tr h="502920">
                <a:tc>
                  <a:txBody>
                    <a:bodyPr/>
                    <a:lstStyle/>
                    <a:p>
                      <a:pPr algn="l"/>
                      <a:r>
                        <a:rPr sz="1200" b="1">
                          <a:solidFill>
                            <a:srgbClr val="334155"/>
                          </a:solidFill>
                          <a:latin typeface="Malgun Gothic"/>
                        </a:rPr>
                        <a:t>Streak</a:t>
                      </a:r>
                    </a:p>
                  </a:txBody>
                  <a:tcPr>
                    <a:solidFill>
                      <a:srgbClr val="F8FAFC"/>
                    </a:solidFill>
                  </a:tcPr>
                </a:tc>
                <a:tc>
                  <a:txBody>
                    <a:bodyPr/>
                    <a:lstStyle/>
                    <a:p>
                      <a:pPr algn="ctr"/>
                      <a:r>
                        <a:rPr sz="1200">
                          <a:solidFill>
                            <a:srgbClr val="334155"/>
                          </a:solidFill>
                          <a:latin typeface="Malgun Gothic"/>
                        </a:rPr>
                        <a:t>Daily study flame</a:t>
                      </a:r>
                    </a:p>
                  </a:txBody>
                  <a:tcPr>
                    <a:solidFill>
                      <a:srgbClr val="F8FAFC"/>
                    </a:solidFill>
                  </a:tcPr>
                </a:tc>
                <a:tc>
                  <a:txBody>
                    <a:bodyPr/>
                    <a:lstStyle/>
                    <a:p>
                      <a:pPr algn="ctr"/>
                      <a:r>
                        <a:rPr sz="1200">
                          <a:solidFill>
                            <a:srgbClr val="334155"/>
                          </a:solidFill>
                          <a:latin typeface="Malgun Gothic"/>
                        </a:rPr>
                        <a:t>Every day</a:t>
                      </a:r>
                    </a:p>
                  </a:txBody>
                  <a:tcPr>
                    <a:solidFill>
                      <a:srgbClr val="F8FAFC"/>
                    </a:solidFill>
                  </a:tcPr>
                </a:tc>
                <a:tc>
                  <a:txBody>
                    <a:bodyPr/>
                    <a:lstStyle/>
                    <a:p>
                      <a:pPr algn="ctr"/>
                      <a:r>
                        <a:rPr sz="1200">
                          <a:solidFill>
                            <a:srgbClr val="334155"/>
                          </a:solidFill>
                          <a:latin typeface="Malgun Gothic"/>
                        </a:rPr>
                        <a:t>Badges·habit</a:t>
                      </a:r>
                    </a:p>
                  </a:txBody>
                  <a:tcPr>
                    <a:solidFill>
                      <a:srgbClr val="F8FAFC"/>
                    </a:solidFill>
                  </a:tcPr>
                </a:tc>
              </a:tr>
              <a:tr h="502920">
                <a:tc>
                  <a:txBody>
                    <a:bodyPr/>
                    <a:lstStyle/>
                    <a:p>
                      <a:pPr algn="l"/>
                      <a:r>
                        <a:rPr sz="1200" b="1">
                          <a:solidFill>
                            <a:srgbClr val="334155"/>
                          </a:solidFill>
                          <a:latin typeface="Malgun Gothic"/>
                        </a:rPr>
                        <a:t>Level test</a:t>
                      </a:r>
                    </a:p>
                  </a:txBody>
                  <a:tcPr>
                    <a:solidFill>
                      <a:srgbClr val="FFFFFF"/>
                    </a:solidFill>
                  </a:tcPr>
                </a:tc>
                <a:tc>
                  <a:txBody>
                    <a:bodyPr/>
                    <a:lstStyle/>
                    <a:p>
                      <a:pPr algn="ctr"/>
                      <a:r>
                        <a:rPr sz="1200">
                          <a:solidFill>
                            <a:srgbClr val="334155"/>
                          </a:solidFill>
                          <a:latin typeface="Malgun Gothic"/>
                        </a:rPr>
                        <a:t>Assess your level</a:t>
                      </a:r>
                    </a:p>
                  </a:txBody>
                  <a:tcPr>
                    <a:solidFill>
                      <a:srgbClr val="FFFFFF"/>
                    </a:solidFill>
                  </a:tcPr>
                </a:tc>
                <a:tc>
                  <a:txBody>
                    <a:bodyPr/>
                    <a:lstStyle/>
                    <a:p>
                      <a:pPr algn="ctr"/>
                      <a:r>
                        <a:rPr sz="1200">
                          <a:solidFill>
                            <a:srgbClr val="334155"/>
                          </a:solidFill>
                          <a:latin typeface="Malgun Gothic"/>
                        </a:rPr>
                        <a:t>Start &amp; periodically</a:t>
                      </a:r>
                    </a:p>
                  </a:txBody>
                  <a:tcPr>
                    <a:solidFill>
                      <a:srgbClr val="FFFFFF"/>
                    </a:solidFill>
                  </a:tcPr>
                </a:tc>
                <a:tc>
                  <a:txBody>
                    <a:bodyPr/>
                    <a:lstStyle/>
                    <a:p>
                      <a:pPr algn="ctr"/>
                      <a:r>
                        <a:rPr sz="1200">
                          <a:solidFill>
                            <a:srgbClr val="334155"/>
                          </a:solidFill>
                          <a:latin typeface="Malgun Gothic"/>
                        </a:rPr>
                        <a:t>Tailored lessons</a:t>
                      </a:r>
                    </a:p>
                  </a:txBody>
                  <a:tcP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Skills Each Game Practices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Keep it up and… (example points)</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do I use to connect?</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Phone, tablet and PC all work. We recommend Chrome or Edge. No app install needed.</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enter a lesson?</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Tap the invite link or lesson card, enter your name, press 'Enter', then 'Allow' camera and mic.</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No sound or video.</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Check that you pressed 'Allow' for camera/mic, and reopen in Chrome/Edge. Inside KakaoTalk, choose 'open in another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see the textbook in class?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Press the 'Materials' tab at the top to see what the teacher uploaded. Switch board/chat with tabs too.</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are points for?</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Use points earned from studying and games to get rewards in the shop, roulette, etc.</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English feels hard.</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The AI friend and voice coach are fine with mistakes. A level test matches your level so it gets easier.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3F0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Pre-class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with Chrome/Edge?</a:t>
            </a:r>
          </a:p>
        </p:txBody>
      </p:sp>
      <p:sp>
        <p:nvSpPr>
          <p:cNvPr id="9" name="Rounded Rectangle 8"/>
          <p:cNvSpPr/>
          <p:nvPr/>
        </p:nvSpPr>
        <p:spPr>
          <a:xfrm>
            <a:off x="457200" y="221284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'Allow' the camera and mic?</a:t>
            </a:r>
          </a:p>
        </p:txBody>
      </p:sp>
      <p:sp>
        <p:nvSpPr>
          <p:cNvPr id="11" name="Rounded Rectangle 10"/>
          <p:cNvSpPr/>
          <p:nvPr/>
        </p:nvSpPr>
        <p:spPr>
          <a:xfrm>
            <a:off x="457200" y="2779776"/>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Is your face well-lit and visible?</a:t>
            </a:r>
          </a:p>
        </p:txBody>
      </p:sp>
      <p:sp>
        <p:nvSpPr>
          <p:cNvPr id="13" name="Rounded Rectangle 12"/>
          <p:cNvSpPr/>
          <p:nvPr/>
        </p:nvSpPr>
        <p:spPr>
          <a:xfrm>
            <a:off x="457200" y="3346704"/>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earphones (a headset)?</a:t>
            </a:r>
          </a:p>
        </p:txBody>
      </p:sp>
      <p:sp>
        <p:nvSpPr>
          <p:cNvPr id="15" name="Rounded Rectangle 14"/>
          <p:cNvSpPr/>
          <p:nvPr/>
        </p:nvSpPr>
        <p:spPr>
          <a:xfrm>
            <a:off x="457200" y="3913632"/>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warm up with the AI before class?</a:t>
            </a:r>
          </a:p>
        </p:txBody>
      </p:sp>
      <p:sp>
        <p:nvSpPr>
          <p:cNvPr id="17" name="Rounded Rectangle 16"/>
          <p:cNvSpPr/>
          <p:nvPr/>
        </p:nvSpPr>
        <p:spPr>
          <a:xfrm>
            <a:off x="457200" y="448056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Are your textbook and pen ready?</a:t>
            </a:r>
          </a:p>
        </p:txBody>
      </p:sp>
      <p:sp>
        <p:nvSpPr>
          <p:cNvPr id="19" name="Rounded Rectangle 18"/>
          <p:cNvSpPr/>
          <p:nvPr/>
        </p:nvSpPr>
        <p:spPr>
          <a:xfrm>
            <a:off x="457200" y="504748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enter 5 minutes before class?</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7C3AED"/>
                </a:solidFill>
                <a:latin typeface="Malgun Gothic"/>
              </a:rPr>
              <a:t>🏁 Conclusion · Your Mangoi Routine — Easy on Your Own!</a:t>
            </a:r>
          </a:p>
        </p:txBody>
      </p:sp>
      <p:sp>
        <p:nvSpPr>
          <p:cNvPr id="7" name="Rounded Rectangle 6"/>
          <p:cNvSpPr/>
          <p:nvPr/>
        </p:nvSpPr>
        <p:spPr>
          <a:xfrm>
            <a:off x="365760" y="1371600"/>
            <a:ext cx="11430000" cy="8686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Now you know how to use Mangoi! Finally, here's one page on how to study through the day and the habits that make you improve fast. Keep just this page in mind and you can study on your own with ease.</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7C3AED"/>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camera/mic, warm up with the 🔥 AI warm-up</a:t>
            </a:r>
          </a:p>
        </p:txBody>
      </p:sp>
      <p:sp>
        <p:nvSpPr>
          <p:cNvPr id="13" name="Rounded Rectangle 12"/>
          <p:cNvSpPr/>
          <p:nvPr/>
        </p:nvSpPr>
        <p:spPr>
          <a:xfrm>
            <a:off x="457200" y="32461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 class</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button → type your name → 'Allow' camera and mic</a:t>
            </a:r>
          </a:p>
        </p:txBody>
      </p:sp>
      <p:sp>
        <p:nvSpPr>
          <p:cNvPr id="16" name="Rounded Rectangle 15"/>
          <p:cNvSpPr/>
          <p:nvPr/>
        </p:nvSpPr>
        <p:spPr>
          <a:xfrm>
            <a:off x="457200" y="37033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During class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Answer with your mic · 💬 ask in chat · 🖊 write on the board together · 🌟 earn praise points</a:t>
            </a:r>
          </a:p>
        </p:txBody>
      </p:sp>
      <p:sp>
        <p:nvSpPr>
          <p:cNvPr id="19" name="Rounded Rectangle 18"/>
          <p:cNvSpPr/>
          <p:nvPr/>
        </p:nvSpPr>
        <p:spPr>
          <a:xfrm>
            <a:off x="457200" y="41605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Review quiz 'Yes' → ⭐ star rating (+10P) → 🎮 review today's words with a game</a:t>
            </a:r>
          </a:p>
        </p:txBody>
      </p:sp>
      <p:sp>
        <p:nvSpPr>
          <p:cNvPr id="22" name="Rounded Rectangle 21"/>
          <p:cNvSpPr/>
          <p:nvPr/>
        </p:nvSpPr>
        <p:spPr>
          <a:xfrm>
            <a:off x="457200" y="46177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 little every day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Keep your attendance flame · 📚 vocabulary · 🤖 AI friend · 🎙️ voice-coach pronunciation</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7C3AED"/>
                </a:solidFill>
                <a:latin typeface="Malgun Gothic"/>
              </a:rPr>
              <a:t>● </a:t>
            </a:r>
            <a:r>
              <a:rPr sz="1100">
                <a:solidFill>
                  <a:srgbClr val="334155"/>
                </a:solidFill>
                <a:latin typeface="Malgun Gothic"/>
              </a:rPr>
              <a:t>A little every day — even short, daily practice keeps your attendance flame alive.</a:t>
            </a:r>
          </a:p>
          <a:p>
            <a:pPr>
              <a:lnSpc>
                <a:spcPct val="115000"/>
              </a:lnSpc>
              <a:spcAft>
                <a:spcPts val="500"/>
              </a:spcAft>
            </a:pPr>
            <a:r>
              <a:rPr sz="900" b="1">
                <a:solidFill>
                  <a:srgbClr val="7C3AED"/>
                </a:solidFill>
                <a:latin typeface="Malgun Gothic"/>
              </a:rPr>
              <a:t>● </a:t>
            </a:r>
            <a:r>
              <a:rPr sz="1100">
                <a:solidFill>
                  <a:srgbClr val="334155"/>
                </a:solidFill>
                <a:latin typeface="Malgun Gothic"/>
              </a:rPr>
              <a:t>Speak a lot — mistakes are fine! The more you say aloud, the faster you grow.</a:t>
            </a:r>
          </a:p>
          <a:p>
            <a:pPr>
              <a:lnSpc>
                <a:spcPct val="115000"/>
              </a:lnSpc>
              <a:spcAft>
                <a:spcPts val="500"/>
              </a:spcAft>
            </a:pPr>
            <a:r>
              <a:rPr sz="900" b="1">
                <a:solidFill>
                  <a:srgbClr val="7C3AED"/>
                </a:solidFill>
                <a:latin typeface="Malgun Gothic"/>
              </a:rPr>
              <a:t>● </a:t>
            </a:r>
            <a:r>
              <a:rPr sz="1100">
                <a:solidFill>
                  <a:srgbClr val="334155"/>
                </a:solidFill>
                <a:latin typeface="Malgun Gothic"/>
              </a:rPr>
              <a:t>Review right after class — a quiz/game right away doubles what you remember.</a:t>
            </a:r>
          </a:p>
          <a:p>
            <a:pPr>
              <a:lnSpc>
                <a:spcPct val="115000"/>
              </a:lnSpc>
              <a:spcAft>
                <a:spcPts val="500"/>
              </a:spcAft>
            </a:pPr>
            <a:r>
              <a:rPr sz="900" b="1">
                <a:solidFill>
                  <a:srgbClr val="7C3AED"/>
                </a:solidFill>
                <a:latin typeface="Malgun Gothic"/>
              </a:rPr>
              <a:t>● </a:t>
            </a:r>
            <a:r>
              <a:rPr sz="1100">
                <a:solidFill>
                  <a:srgbClr val="334155"/>
                </a:solidFill>
                <a:latin typeface="Malgun Gothic"/>
              </a:rPr>
              <a:t>Have fun with games — today's words appear in games, so you review while playing.</a:t>
            </a:r>
          </a:p>
          <a:p>
            <a:pPr>
              <a:lnSpc>
                <a:spcPct val="115000"/>
              </a:lnSpc>
              <a:spcAft>
                <a:spcPts val="500"/>
              </a:spcAft>
            </a:pPr>
            <a:r>
              <a:rPr sz="900" b="1">
                <a:solidFill>
                  <a:srgbClr val="7C3AED"/>
                </a:solidFill>
                <a:latin typeface="Malgun Gothic"/>
              </a:rPr>
              <a:t>● </a:t>
            </a:r>
            <a:r>
              <a:rPr sz="1100">
                <a:solidFill>
                  <a:srgbClr val="334155"/>
                </a:solidFill>
                <a:latin typeface="Malgun Gothic"/>
              </a:rPr>
              <a:t>Check what you don't know — don't skip unknown words; check meaning and pronunciation.</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Connect in Chrome/Edge and be sure to 'Allow' camera·mic (inside KakaoTalk, open another browser)</a:t>
            </a:r>
          </a:p>
          <a:p>
            <a:pPr>
              <a:lnSpc>
                <a:spcPct val="115000"/>
              </a:lnSpc>
              <a:spcAft>
                <a:spcPts val="400"/>
              </a:spcAft>
            </a:pPr>
            <a:r>
              <a:rPr sz="850" b="1">
                <a:solidFill>
                  <a:srgbClr val="FF9F1C"/>
                </a:solidFill>
                <a:latin typeface="Malgun Gothic"/>
              </a:rPr>
              <a:t>● </a:t>
            </a:r>
            <a:r>
              <a:rPr sz="1050">
                <a:solidFill>
                  <a:srgbClr val="334155"/>
                </a:solidFill>
                <a:latin typeface="Malgun Gothic"/>
              </a:rPr>
              <a:t>Points build from study, games and in-class 🌟 praise — spend them in the shop/roulette</a:t>
            </a:r>
          </a:p>
          <a:p>
            <a:pPr>
              <a:lnSpc>
                <a:spcPct val="115000"/>
              </a:lnSpc>
              <a:spcAft>
                <a:spcPts val="400"/>
              </a:spcAft>
            </a:pPr>
            <a:r>
              <a:rPr sz="850" b="1">
                <a:solidFill>
                  <a:srgbClr val="FF9F1C"/>
                </a:solidFill>
                <a:latin typeface="Malgun Gothic"/>
              </a:rPr>
              <a:t>● </a:t>
            </a:r>
            <a:r>
              <a:rPr sz="1050">
                <a:solidFill>
                  <a:srgbClr val="334155"/>
                </a:solidFill>
                <a:latin typeface="Malgun Gothic"/>
              </a:rPr>
              <a:t>If English is hard, the AI friend/voice-coach are fine with mistakes; use the level test to match your level</a:t>
            </a:r>
          </a:p>
          <a:p>
            <a:pPr>
              <a:lnSpc>
                <a:spcPct val="115000"/>
              </a:lnSpc>
              <a:spcAft>
                <a:spcPts val="400"/>
              </a:spcAft>
            </a:pPr>
            <a:r>
              <a:rPr sz="850" b="1">
                <a:solidFill>
                  <a:srgbClr val="FF9F1C"/>
                </a:solidFill>
                <a:latin typeface="Malgun Gothic"/>
              </a:rPr>
              <a:t>● </a:t>
            </a:r>
            <a:r>
              <a:rPr sz="1050">
                <a:solidFill>
                  <a:srgbClr val="334155"/>
                </a:solidFill>
                <a:latin typeface="Malgun Gothic"/>
              </a:rPr>
              <a:t>Study rhythm: 'Warm-up → Class → Praise → Review'!</a:t>
            </a:r>
          </a:p>
        </p:txBody>
      </p:sp>
      <p:sp>
        <p:nvSpPr>
          <p:cNvPr id="29" name="Rounded Rectangle 28"/>
          <p:cNvSpPr/>
          <p:nvPr/>
        </p:nvSpPr>
        <p:spPr>
          <a:xfrm>
            <a:off x="457200" y="6172200"/>
            <a:ext cx="11338560" cy="566928"/>
          </a:xfrm>
          <a:prstGeom prst="roundRect">
            <a:avLst/>
          </a:prstGeom>
          <a:solidFill>
            <a:srgbClr val="F3F0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The friend who keeps at it a little every day ends up best at English. Don't fear mistakes — speak all you want. Your Mangoi friends are always cheering for you. You've got this today too!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4F46E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test.mangoi.co.kr    📞 1588-0000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