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Warm-up/greeting</c:v>
                </c:pt>
                <c:pt idx="1">
                  <c:v>Main lesson</c:v>
                </c:pt>
                <c:pt idx="2">
                  <c:v>Speaking practice</c:v>
                </c:pt>
                <c:pt idx="3">
                  <c:v>Wrap-up/review</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Camera</c:v>
                </c:pt>
                <c:pt idx="1">
                  <c:v>Mic</c:v>
                </c:pt>
                <c:pt idx="2">
                  <c:v>Network</c:v>
                </c:pt>
                <c:pt idx="3">
                  <c:v>Lighting</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Prep</c:v>
                </c:pt>
                <c:pt idx="1">
                  <c:v>Interaction</c:v>
                </c:pt>
                <c:pt idx="2">
                  <c:v>Feedback</c:v>
                </c:pt>
                <c:pt idx="3">
                  <c:v>Pronunciation</c:v>
                </c:pt>
                <c:pt idx="4">
                  <c:v>Records</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Teacher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Follow the lesson flow — how to use the site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Native-speaker teachers and Korean instructors   |   test.mangoi.co.kr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What is the Teacher Site Guide?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This guide explains how a teacher who runs video lessons uses the Mangoi site. From pre-class device checks to entering the classroom, the materials/board/chat tools, using the AI warm-up and pronunciation coach, writing lesson reviews, praising students and learning reports — it follows the real lesson flow. (This is a 'how to use the site' guide, not a teaching methodology.)</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Pre-class detailed check</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Camera·mic·network·lighting scores.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Classroom tools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Video·materials·board·chat·recording.</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Lesson review · praise</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Post-class review and star/sticker praise.</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Learning 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Game weak words·reports for next lesson prep.</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25-min Lesson Time Split (ex.,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Detailed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devices before entering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that checks camera, mic, network and lighting at once before class. An overall score and per-item signals catch problems early and prevent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camera, mic, network and lighting on the check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overall score and each item's signal (normal/warning).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red items, adjust lighting, seat or connection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Do the check 5–10 minutes before class.</a:t>
            </a:r>
          </a:p>
          <a:p>
            <a:pPr>
              <a:lnSpc>
                <a:spcPct val="115000"/>
              </a:lnSpc>
              <a:spcAft>
                <a:spcPts val="200"/>
              </a:spcAft>
            </a:pPr>
            <a:r>
              <a:rPr sz="900" b="1">
                <a:solidFill>
                  <a:srgbClr val="EA580C"/>
                </a:solidFill>
                <a:latin typeface="Malgun Gothic"/>
              </a:rPr>
              <a:t>● </a:t>
            </a:r>
            <a:r>
              <a:rPr sz="1100">
                <a:solidFill>
                  <a:srgbClr val="334155"/>
                </a:solidFill>
                <a:latin typeface="Malgun Gothic"/>
              </a:rPr>
              <a:t>Fix issues before the student enters.</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the light in front of your face so your expression shows and student focus rises.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Lesson from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first button 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Teachers enter a lesson the same way students do — with the 'Enter Class' button on My Page. After logging in, open My Page and you'll find the gold 'Enter Class' button; pressing it takes you to the video-class lobby.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After logging in, press the '👤 My Page' button.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Find the gold '🎥 Enter Class' button below (in a row with '💳 Payment').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Class' and you go to the video-class lobby.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hint '🎥 Enter video class lobby · 📹 Mic/Camera required'.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Then in the lobby, confirm your name → Allow camera/mic → enter the classroom (see next page).</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'Enter Class' button takes you straight to the lobby.</a:t>
            </a:r>
          </a:p>
          <a:p>
            <a:pPr>
              <a:lnSpc>
                <a:spcPct val="115000"/>
              </a:lnSpc>
              <a:spcAft>
                <a:spcPts val="200"/>
              </a:spcAft>
            </a:pPr>
            <a:r>
              <a:rPr sz="900" b="1">
                <a:solidFill>
                  <a:srgbClr val="EA580C"/>
                </a:solidFill>
                <a:latin typeface="Malgun Gothic"/>
              </a:rPr>
              <a:t>● </a:t>
            </a:r>
            <a:r>
              <a:rPr sz="1100">
                <a:solidFill>
                  <a:srgbClr val="334155"/>
                </a:solidFill>
                <a:latin typeface="Malgun Gothic"/>
              </a:rPr>
              <a:t>My Page also has pre-check, postpone/change, all-menu and more.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Students enter with the same 'Enter Class' button.</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Even after pressing the button, your face/sound won't connect unless you allow camera/mic.</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early from My Page 5–10 minutes before class to check your devices.</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Make the Most of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entry point you need for class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My Page has more than just 'Enter Class' — every menu you need for a lesson is gathered here. Knowing the buttons you use most makes prep much faster.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Pre-check: check camera, mic, network and lighting before class. (a must 5–10 min before)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Enter Class: go to the video-class lobby. (see earlier page)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Postpone/Change: adjust the schedule per a student's request or your situation.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 🎤 Curriculum Pronunciation: preview review/pronunciation material for students.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New Inquiry · 🏠 All Menu · 📝 Book Class: go to intake and all features.</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'Pre-check → Enter Class' a habit.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switch to English with the EN button.</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also tell the AI search/assistant 'open ○○' to jump there.</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Pre-class routine: ① Pre-check devices → ② pre-upload the textbook → ③ Enter Class.</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the Classroom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Getting into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entry screen, enter your name and room code to join. Allow camera and mic, then wait for the student.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your name on the entry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room code (empty = shared lesson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and click Allow for camera/mic.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Wait for the student and check screen/sound.</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Enter early to check your camera framing and sound.</a:t>
            </a:r>
          </a:p>
          <a:p>
            <a:pPr>
              <a:lnSpc>
                <a:spcPct val="115000"/>
              </a:lnSpc>
              <a:spcAft>
                <a:spcPts val="200"/>
              </a:spcAft>
            </a:pPr>
            <a:r>
              <a:rPr sz="900" b="1">
                <a:solidFill>
                  <a:srgbClr val="EA580C"/>
                </a:solidFill>
                <a:latin typeface="Malgun Gothic"/>
              </a:rPr>
              <a:t>● </a:t>
            </a:r>
            <a:r>
              <a:rPr sz="1100">
                <a:solidFill>
                  <a:srgbClr val="334155"/>
                </a:solidFill>
                <a:latin typeface="Malgun Gothic"/>
              </a:rPr>
              <a:t>Chrome/Edge recommended; avoid the KakaoTalk in-app browser.</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a student can't enter, have them check browser permissions and type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30-second check of background, lighting and sound after entering makes the lesson smooth.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EA580C"/>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EA580C"/>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EA580C"/>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Pre-upload Materials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Prepare lesson files in advance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Pre-upload lesson files to the materials uploader so you can share them instantly in class. Being prepared makes the lesson far smoother.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Drag files into or select them in the materials uploader to upload.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uploaded materials in the materials viewer.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In class, bring them up instantly via materials-tab sharing.</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Uploading before class saves time.</a:t>
            </a:r>
          </a:p>
          <a:p>
            <a:pPr>
              <a:lnSpc>
                <a:spcPct val="115000"/>
              </a:lnSpc>
              <a:spcAft>
                <a:spcPts val="200"/>
              </a:spcAft>
            </a:pPr>
            <a:r>
              <a:rPr sz="900" b="1">
                <a:solidFill>
                  <a:srgbClr val="EA580C"/>
                </a:solidFill>
                <a:latin typeface="Malgun Gothic"/>
              </a:rPr>
              <a:t>● </a:t>
            </a:r>
            <a:r>
              <a:rPr sz="1100">
                <a:solidFill>
                  <a:srgbClr val="334155"/>
                </a:solidFill>
                <a:latin typeface="Malgun Gothic"/>
              </a:rPr>
              <a:t>Both PDFs and images are supported.</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Naming files by lesson number makes them easy to find.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Start with the AI Warm-up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icebreaker</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Use the student's pre-class AI warm-up to open the conversation naturally. The warm-up is tied to today's textbook, so it leads straight into the main 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the conversation using the student's AI warm-up content.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Carry the warm-up questions into the main lesson topic.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students who skipped it, ease in with 1–2 light questions.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Mentioning the warm-up raises student engagement.</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smooth intro improves the lesson rhythm.</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'You said … in the warm-up, right?' instantly breaks the ice.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Use the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Correct with the AI voice coach</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Practice AI voice-coach sentences with students who struggle with pronunciation. Guide them to self-correct through record → score → replay.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voice-coach sentences at the student's level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Have them self-correct via record → score → replay.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Link the lesson sentences to voice-coach homework.</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'lesson sentence → voice-coach repeat' routine is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Scores give a sense of achievement to keep going.</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tough sounds (r, th), repeat with short words first.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Write the Lesson Review</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Record post-class feedback</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record today's lesson in the review. Leave per-item stars and comments on strengths and areas to improve; it's reflected in the parent my-page and reports.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Record today's lesson on the review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per-item stars and 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it's reflected in the report/parent page.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praise + one improvement, short and specific.</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right after class is most accurate.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Adding a concrete example ('today's r sound was great') builds trust.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Leave Student Praise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Stars · stickers · comments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Teacher Praise screen, pick the student and items and leave stars, stickers and comments. It shows to the student and parents and motivates them.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the student and items in Teacher Praise.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stars (7 items) and stickers/comments.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 shows to the student and parents.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Leaving it right after class is most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Specific praise beats vague praise.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Praising even small wins improves participation next lesson.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Game Learning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a student's weak words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Look up by student ID to see the words most often missed in games. Adding those words to the next lesson's intro for review is effective.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the student ID in the game learning report and look up.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weak words (often missed).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them intensively in the next lesson.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Pinpoints weaknesses with data.</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3 words gives a clear review effect.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weak words on the chat/board and repeat them.</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Reports · Lesson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progress &amp; performance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a student's learning progress and performance in reports, and organize past/upcoming lessons and progress in lesson management. Use it to set the next lesson's goal.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learning progress/performance in reports.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Organize past/upcoming lessons in lesson management.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Set the next lesson goal in one line.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Progress continuity improves.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goals makes lesson direction clear.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Noting the next goal at the end of each lesson makes handover easy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Handle Lesson Postpones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Respond to student requests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adjust the schedule per policy. Changes are auto-announced to both sides.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within policy, adjust the schedule.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Confirm the change is auto-announced.</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Guide out-of-policy last-minute requests per policy.</a:t>
            </a:r>
          </a:p>
          <a:p>
            <a:pPr>
              <a:lnSpc>
                <a:spcPct val="115000"/>
              </a:lnSpc>
              <a:spcAft>
                <a:spcPts val="200"/>
              </a:spcAft>
            </a:pPr>
            <a:r>
              <a:rPr sz="900" b="1">
                <a:solidFill>
                  <a:srgbClr val="EA580C"/>
                </a:solidFill>
                <a:latin typeface="Malgun Gothic"/>
              </a:rPr>
              <a:t>● </a:t>
            </a:r>
            <a:r>
              <a:rPr sz="1100">
                <a:solidFill>
                  <a:srgbClr val="334155"/>
                </a:solidFill>
                <a:latin typeface="Malgun Gothic"/>
              </a:rPr>
              <a:t>Postponing preserves the student's lesson count.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Tell students the postpone cutoff in advance.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Inquiries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goes wrong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there's a technical issue or a question during class, contact support channels. Knowing common issues in advance lets you respond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Use phone, email, Kakao and remote support in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urgent issues, get direct help via remote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Note the fix for repeat issues.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'No sound/video' — check permissions and browser first.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Inquiries within business hours are faster.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Keeping notes of common issues and fixes reduces lesson loss.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time and 🇵🇭 Philippines (local) time together. Students use Korea time, you use Philippines time — seeing both lets you match lesson times exactly.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a student also learns Chinese, guide them to the Chinese pronunciation coach. They read Darakwon Chinese Master (Lv 1–20) sentences and compare with a native speaker to fix pronunciation and tones.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Tools by Lesson Stage</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Stage</a:t>
                      </a:r>
                    </a:p>
                  </a:txBody>
                  <a:tcPr>
                    <a:solidFill>
                      <a:srgbClr val="EA580C"/>
                    </a:solidFill>
                  </a:tcPr>
                </a:tc>
                <a:tc>
                  <a:txBody>
                    <a:bodyPr/>
                    <a:lstStyle/>
                    <a:p>
                      <a:pPr algn="ctr"/>
                      <a:r>
                        <a:rPr sz="1300" b="1">
                          <a:solidFill>
                            <a:srgbClr val="FFFFFF"/>
                          </a:solidFill>
                          <a:latin typeface="Malgun Gothic"/>
                        </a:rPr>
                        <a:t>Screen used</a:t>
                      </a:r>
                    </a:p>
                  </a:txBody>
                  <a:tcPr>
                    <a:solidFill>
                      <a:srgbClr val="EA580C"/>
                    </a:solidFill>
                  </a:tcPr>
                </a:tc>
                <a:tc>
                  <a:txBody>
                    <a:bodyPr/>
                    <a:lstStyle/>
                    <a:p>
                      <a:pPr algn="ctr"/>
                      <a:r>
                        <a:rPr sz="1300" b="1">
                          <a:solidFill>
                            <a:srgbClr val="FFFFFF"/>
                          </a:solidFill>
                          <a:latin typeface="Malgun Gothic"/>
                        </a:rPr>
                        <a:t>What you do</a:t>
                      </a:r>
                    </a:p>
                  </a:txBody>
                  <a:tcPr>
                    <a:solidFill>
                      <a:srgbClr val="EA580C"/>
                    </a:solidFill>
                  </a:tcPr>
                </a:tc>
                <a:tc>
                  <a:txBody>
                    <a:bodyPr/>
                    <a:lstStyle/>
                    <a:p>
                      <a:pPr algn="ctr"/>
                      <a:r>
                        <a:rPr sz="1300" b="1">
                          <a:solidFill>
                            <a:srgbClr val="FFFFFF"/>
                          </a:solidFill>
                          <a:latin typeface="Malgun Gothic"/>
                        </a:rPr>
                        <a:t>Tip</a:t>
                      </a:r>
                    </a:p>
                  </a:txBody>
                  <a:tcPr>
                    <a:solidFill>
                      <a:srgbClr val="EA580C"/>
                    </a:solidFill>
                  </a:tcPr>
                </a:tc>
              </a:tr>
              <a:tr h="502920">
                <a:tc>
                  <a:txBody>
                    <a:bodyPr/>
                    <a:lstStyle/>
                    <a:p>
                      <a:pPr algn="l"/>
                      <a:r>
                        <a:rPr sz="1200" b="1">
                          <a:solidFill>
                            <a:srgbClr val="334155"/>
                          </a:solidFill>
                          <a:latin typeface="Malgun Gothic"/>
                        </a:rPr>
                        <a:t>Before class</a:t>
                      </a:r>
                    </a:p>
                  </a:txBody>
                  <a:tcPr>
                    <a:solidFill>
                      <a:srgbClr val="FFFFFF"/>
                    </a:solidFill>
                  </a:tcPr>
                </a:tc>
                <a:tc>
                  <a:txBody>
                    <a:bodyPr/>
                    <a:lstStyle/>
                    <a:p>
                      <a:pPr algn="ctr"/>
                      <a:r>
                        <a:rPr sz="1200">
                          <a:solidFill>
                            <a:srgbClr val="334155"/>
                          </a:solidFill>
                          <a:latin typeface="Malgun Gothic"/>
                        </a:rPr>
                        <a:t>Detailed check</a:t>
                      </a:r>
                    </a:p>
                  </a:txBody>
                  <a:tcPr>
                    <a:solidFill>
                      <a:srgbClr val="FFFFFF"/>
                    </a:solidFill>
                  </a:tcPr>
                </a:tc>
                <a:tc>
                  <a:txBody>
                    <a:bodyPr/>
                    <a:lstStyle/>
                    <a:p>
                      <a:pPr algn="ctr"/>
                      <a:r>
                        <a:rPr sz="1200">
                          <a:solidFill>
                            <a:srgbClr val="334155"/>
                          </a:solidFill>
                          <a:latin typeface="Malgun Gothic"/>
                        </a:rPr>
                        <a:t>Check devices·lighting</a:t>
                      </a:r>
                    </a:p>
                  </a:txBody>
                  <a:tcPr>
                    <a:solidFill>
                      <a:srgbClr val="FFFFFF"/>
                    </a:solidFill>
                  </a:tcPr>
                </a:tc>
                <a:tc>
                  <a:txBody>
                    <a:bodyPr/>
                    <a:lstStyle/>
                    <a:p>
                      <a:pPr algn="ctr"/>
                      <a:r>
                        <a:rPr sz="1200">
                          <a:solidFill>
                            <a:srgbClr val="334155"/>
                          </a:solidFill>
                          <a:latin typeface="Malgun Gothic"/>
                        </a:rPr>
                        <a:t>5–10 min early</a:t>
                      </a:r>
                    </a:p>
                  </a:txBody>
                  <a:tcPr>
                    <a:solidFill>
                      <a:srgbClr val="FFFFFF"/>
                    </a:solidFill>
                  </a:tcPr>
                </a:tc>
              </a:tr>
              <a:tr h="502920">
                <a:tc>
                  <a:txBody>
                    <a:bodyPr/>
                    <a:lstStyle/>
                    <a:p>
                      <a:pPr algn="l"/>
                      <a:r>
                        <a:rPr sz="1200" b="1">
                          <a:solidFill>
                            <a:srgbClr val="334155"/>
                          </a:solidFill>
                          <a:latin typeface="Malgun Gothic"/>
                        </a:rPr>
                        <a:t>Entry</a:t>
                      </a:r>
                    </a:p>
                  </a:txBody>
                  <a:tcPr>
                    <a:solidFill>
                      <a:srgbClr val="F8FAFC"/>
                    </a:solidFill>
                  </a:tcPr>
                </a:tc>
                <a:tc>
                  <a:txBody>
                    <a:bodyPr/>
                    <a:lstStyle/>
                    <a:p>
                      <a:pPr algn="ctr"/>
                      <a:r>
                        <a:rPr sz="1200">
                          <a:solidFill>
                            <a:srgbClr val="334155"/>
                          </a:solidFill>
                          <a:latin typeface="Malgun Gothic"/>
                        </a:rPr>
                        <a:t>Classroom</a:t>
                      </a:r>
                    </a:p>
                  </a:txBody>
                  <a:tcPr>
                    <a:solidFill>
                      <a:srgbClr val="F8FAFC"/>
                    </a:solidFill>
                  </a:tcPr>
                </a:tc>
                <a:tc>
                  <a:txBody>
                    <a:bodyPr/>
                    <a:lstStyle/>
                    <a:p>
                      <a:pPr algn="ctr"/>
                      <a:r>
                        <a:rPr sz="1200">
                          <a:solidFill>
                            <a:srgbClr val="334155"/>
                          </a:solidFill>
                          <a:latin typeface="Malgun Gothic"/>
                        </a:rPr>
                        <a:t>Enter name·allow</a:t>
                      </a:r>
                    </a:p>
                  </a:txBody>
                  <a:tcPr>
                    <a:solidFill>
                      <a:srgbClr val="F8FAFC"/>
                    </a:solidFill>
                  </a:tcPr>
                </a:tc>
                <a:tc>
                  <a:txBody>
                    <a:bodyPr/>
                    <a:lstStyle/>
                    <a:p>
                      <a:pPr algn="ctr"/>
                      <a:r>
                        <a:rPr sz="1200">
                          <a:solidFill>
                            <a:srgbClr val="334155"/>
                          </a:solidFill>
                          <a:latin typeface="Malgun Gothic"/>
                        </a:rPr>
                        <a:t>Enter early</a:t>
                      </a:r>
                    </a:p>
                  </a:txBody>
                  <a:tcPr>
                    <a:solidFill>
                      <a:srgbClr val="F8FAFC"/>
                    </a:solidFill>
                  </a:tcPr>
                </a:tc>
              </a:tr>
              <a:tr h="502920">
                <a:tc>
                  <a:txBody>
                    <a:bodyPr/>
                    <a:lstStyle/>
                    <a:p>
                      <a:pPr algn="l"/>
                      <a:r>
                        <a:rPr sz="1200" b="1">
                          <a:solidFill>
                            <a:srgbClr val="334155"/>
                          </a:solidFill>
                          <a:latin typeface="Malgun Gothic"/>
                        </a:rPr>
                        <a:t>Toolbar</a:t>
                      </a:r>
                    </a:p>
                  </a:txBody>
                  <a:tcPr>
                    <a:solidFill>
                      <a:srgbClr val="FFFFFF"/>
                    </a:solidFill>
                  </a:tcPr>
                </a:tc>
                <a:tc>
                  <a:txBody>
                    <a:bodyPr/>
                    <a:lstStyle/>
                    <a:p>
                      <a:pPr algn="ctr"/>
                      <a:r>
                        <a:rPr sz="1200">
                          <a:solidFill>
                            <a:srgbClr val="334155"/>
                          </a:solidFill>
                          <a:latin typeface="Malgun Gothic"/>
                        </a:rPr>
                        <a:t>Board·materials·video</a:t>
                      </a:r>
                    </a:p>
                  </a:txBody>
                  <a:tcPr>
                    <a:solidFill>
                      <a:srgbClr val="FFFFFF"/>
                    </a:solidFill>
                  </a:tcPr>
                </a:tc>
                <a:tc>
                  <a:txBody>
                    <a:bodyPr/>
                    <a:lstStyle/>
                    <a:p>
                      <a:pPr algn="ctr"/>
                      <a:r>
                        <a:rPr sz="1200">
                          <a:solidFill>
                            <a:srgbClr val="334155"/>
                          </a:solidFill>
                          <a:latin typeface="Malgun Gothic"/>
                        </a:rPr>
                        <a:t>Switch·control screen</a:t>
                      </a:r>
                    </a:p>
                  </a:txBody>
                  <a:tcPr>
                    <a:solidFill>
                      <a:srgbClr val="FFFFFF"/>
                    </a:solidFill>
                  </a:tcPr>
                </a:tc>
                <a:tc>
                  <a:txBody>
                    <a:bodyPr/>
                    <a:lstStyle/>
                    <a:p>
                      <a:pPr algn="ctr"/>
                      <a:r>
                        <a:rPr sz="1200">
                          <a:solidFill>
                            <a:srgbClr val="334155"/>
                          </a:solidFill>
                          <a:latin typeface="Malgun Gothic"/>
                        </a:rPr>
                        <a:t>Guide tabs</a:t>
                      </a:r>
                    </a:p>
                  </a:txBody>
                  <a:tcPr>
                    <a:solidFill>
                      <a:srgbClr val="FFFFFF"/>
                    </a:solidFill>
                  </a:tcPr>
                </a:tc>
              </a:tr>
              <a:tr h="502920">
                <a:tc>
                  <a:txBody>
                    <a:bodyPr/>
                    <a:lstStyle/>
                    <a:p>
                      <a:pPr algn="l"/>
                      <a:r>
                        <a:rPr sz="1200" b="1">
                          <a:solidFill>
                            <a:srgbClr val="334155"/>
                          </a:solidFill>
                          <a:latin typeface="Malgun Gothic"/>
                        </a:rPr>
                        <a:t>Prep</a:t>
                      </a:r>
                    </a:p>
                  </a:txBody>
                  <a:tcPr>
                    <a:solidFill>
                      <a:srgbClr val="F8FAFC"/>
                    </a:solidFill>
                  </a:tcPr>
                </a:tc>
                <a:tc>
                  <a:txBody>
                    <a:bodyPr/>
                    <a:lstStyle/>
                    <a:p>
                      <a:pPr algn="ctr"/>
                      <a:r>
                        <a:rPr sz="1200">
                          <a:solidFill>
                            <a:srgbClr val="334155"/>
                          </a:solidFill>
                          <a:latin typeface="Malgun Gothic"/>
                        </a:rPr>
                        <a:t>Materials uploader</a:t>
                      </a:r>
                    </a:p>
                  </a:txBody>
                  <a:tcPr>
                    <a:solidFill>
                      <a:srgbClr val="F8FAFC"/>
                    </a:solidFill>
                  </a:tcPr>
                </a:tc>
                <a:tc>
                  <a:txBody>
                    <a:bodyPr/>
                    <a:lstStyle/>
                    <a:p>
                      <a:pPr algn="ctr"/>
                      <a:r>
                        <a:rPr sz="1200">
                          <a:solidFill>
                            <a:srgbClr val="334155"/>
                          </a:solidFill>
                          <a:latin typeface="Malgun Gothic"/>
                        </a:rPr>
                        <a:t>Upload·share files</a:t>
                      </a:r>
                    </a:p>
                  </a:txBody>
                  <a:tcPr>
                    <a:solidFill>
                      <a:srgbClr val="F8FAFC"/>
                    </a:solidFill>
                  </a:tcPr>
                </a:tc>
                <a:tc>
                  <a:txBody>
                    <a:bodyPr/>
                    <a:lstStyle/>
                    <a:p>
                      <a:pPr algn="ctr"/>
                      <a:r>
                        <a:rPr sz="1200">
                          <a:solidFill>
                            <a:srgbClr val="334155"/>
                          </a:solidFill>
                          <a:latin typeface="Malgun Gothic"/>
                        </a:rPr>
                        <a:t>Pre-upload</a:t>
                      </a:r>
                    </a:p>
                  </a:txBody>
                  <a:tcPr>
                    <a:solidFill>
                      <a:srgbClr val="F8FAFC"/>
                    </a:solidFill>
                  </a:tcPr>
                </a:tc>
              </a:tr>
              <a:tr h="502920">
                <a:tc>
                  <a:txBody>
                    <a:bodyPr/>
                    <a:lstStyle/>
                    <a:p>
                      <a:pPr algn="l"/>
                      <a:r>
                        <a:rPr sz="1200" b="1">
                          <a:solidFill>
                            <a:srgbClr val="334155"/>
                          </a:solidFill>
                          <a:latin typeface="Malgun Gothic"/>
                        </a:rPr>
                        <a:t>Intro</a:t>
                      </a:r>
                    </a:p>
                  </a:txBody>
                  <a:tcPr>
                    <a:solidFill>
                      <a:srgbClr val="FFFFFF"/>
                    </a:solidFill>
                  </a:tcPr>
                </a:tc>
                <a:tc>
                  <a:txBody>
                    <a:bodyPr/>
                    <a:lstStyle/>
                    <a:p>
                      <a:pPr algn="ctr"/>
                      <a:r>
                        <a:rPr sz="1200">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Icebreaker</a:t>
                      </a:r>
                    </a:p>
                  </a:txBody>
                  <a:tcPr>
                    <a:solidFill>
                      <a:srgbClr val="FFFFFF"/>
                    </a:solidFill>
                  </a:tcPr>
                </a:tc>
                <a:tc>
                  <a:txBody>
                    <a:bodyPr/>
                    <a:lstStyle/>
                    <a:p>
                      <a:pPr algn="ctr"/>
                      <a:r>
                        <a:rPr sz="1200">
                          <a:solidFill>
                            <a:srgbClr val="334155"/>
                          </a:solidFill>
                          <a:latin typeface="Malgun Gothic"/>
                        </a:rPr>
                        <a:t>Mention warm-up</a:t>
                      </a:r>
                    </a:p>
                  </a:txBody>
                  <a:tcPr>
                    <a:solidFill>
                      <a:srgbClr val="FFFFFF"/>
                    </a:solidFill>
                  </a:tcPr>
                </a:tc>
              </a:tr>
              <a:tr h="502920">
                <a:tc>
                  <a:txBody>
                    <a:bodyPr/>
                    <a:lstStyle/>
                    <a:p>
                      <a:pPr algn="l"/>
                      <a:r>
                        <a:rPr sz="1200" b="1">
                          <a:solidFill>
                            <a:srgbClr val="334155"/>
                          </a:solidFill>
                          <a:latin typeface="Malgun Gothic"/>
                        </a:rPr>
                        <a:t>Main</a:t>
                      </a:r>
                    </a:p>
                  </a:txBody>
                  <a:tcPr>
                    <a:solidFill>
                      <a:srgbClr val="F8FAFC"/>
                    </a:solidFill>
                  </a:tcPr>
                </a:tc>
                <a:tc>
                  <a:txBody>
                    <a:bodyPr/>
                    <a:lstStyle/>
                    <a:p>
                      <a:pPr algn="ctr"/>
                      <a:r>
                        <a:rPr sz="1200">
                          <a:solidFill>
                            <a:srgbClr val="334155"/>
                          </a:solidFill>
                          <a:latin typeface="Malgun Gothic"/>
                        </a:rPr>
                        <a:t>Materials·board·chat</a:t>
                      </a:r>
                    </a:p>
                  </a:txBody>
                  <a:tcPr>
                    <a:solidFill>
                      <a:srgbClr val="F8FAFC"/>
                    </a:solidFill>
                  </a:tcPr>
                </a:tc>
                <a:tc>
                  <a:txBody>
                    <a:bodyPr/>
                    <a:lstStyle/>
                    <a:p>
                      <a:pPr algn="ctr"/>
                      <a:r>
                        <a:rPr sz="1200">
                          <a:solidFill>
                            <a:srgbClr val="334155"/>
                          </a:solidFill>
                          <a:latin typeface="Malgun Gothic"/>
                        </a:rPr>
                        <a:t>Explain together</a:t>
                      </a:r>
                    </a:p>
                  </a:txBody>
                  <a:tcPr>
                    <a:solidFill>
                      <a:srgbClr val="F8FAFC"/>
                    </a:solidFill>
                  </a:tcPr>
                </a:tc>
                <a:tc>
                  <a:txBody>
                    <a:bodyPr/>
                    <a:lstStyle/>
                    <a:p>
                      <a:pPr algn="ctr"/>
                      <a:r>
                        <a:rPr sz="1200">
                          <a:solidFill>
                            <a:srgbClr val="334155"/>
                          </a:solidFill>
                          <a:latin typeface="Malgun Gothic"/>
                        </a:rPr>
                        <a:t>Same page</a:t>
                      </a:r>
                    </a:p>
                  </a:txBody>
                  <a:tcPr>
                    <a:solidFill>
                      <a:srgbClr val="F8FAFC"/>
                    </a:solidFill>
                  </a:tcPr>
                </a:tc>
              </a:tr>
              <a:tr h="502920">
                <a:tc>
                  <a:txBody>
                    <a:bodyPr/>
                    <a:lstStyle/>
                    <a:p>
                      <a:pPr algn="l"/>
                      <a:r>
                        <a:rPr sz="1200" b="1">
                          <a:solidFill>
                            <a:srgbClr val="334155"/>
                          </a:solidFill>
                          <a:latin typeface="Malgun Gothic"/>
                        </a:rPr>
                        <a:t>Practice</a:t>
                      </a:r>
                    </a:p>
                  </a:txBody>
                  <a:tcPr>
                    <a:solidFill>
                      <a:srgbClr val="FFFFFF"/>
                    </a:solidFill>
                  </a:tcPr>
                </a:tc>
                <a:tc>
                  <a:txBody>
                    <a:bodyPr/>
                    <a:lstStyle/>
                    <a:p>
                      <a:pPr algn="ctr"/>
                      <a:r>
                        <a:rPr sz="1200">
                          <a:solidFill>
                            <a:srgbClr val="334155"/>
                          </a:solidFill>
                          <a:latin typeface="Malgun Gothic"/>
                        </a:rPr>
                        <a:t>AI voice coach</a:t>
                      </a:r>
                    </a:p>
                  </a:txBody>
                  <a:tcPr>
                    <a:solidFill>
                      <a:srgbClr val="FFFFFF"/>
                    </a:solidFill>
                  </a:tcPr>
                </a:tc>
                <a:tc>
                  <a:txBody>
                    <a:bodyPr/>
                    <a:lstStyle/>
                    <a:p>
                      <a:pPr algn="ctr"/>
                      <a:r>
                        <a:rPr sz="1200">
                          <a:solidFill>
                            <a:srgbClr val="334155"/>
                          </a:solidFill>
                          <a:latin typeface="Malgun Gothic"/>
                        </a:rPr>
                        <a:t>Record·fix pronunciation</a:t>
                      </a:r>
                    </a:p>
                  </a:txBody>
                  <a:tcPr>
                    <a:solidFill>
                      <a:srgbClr val="FFFFFF"/>
                    </a:solidFill>
                  </a:tcPr>
                </a:tc>
                <a:tc>
                  <a:txBody>
                    <a:bodyPr/>
                    <a:lstStyle/>
                    <a:p>
                      <a:pPr algn="ctr"/>
                      <a:r>
                        <a:rPr sz="1200">
                          <a:solidFill>
                            <a:srgbClr val="334155"/>
                          </a:solidFill>
                          <a:latin typeface="Malgun Gothic"/>
                        </a:rPr>
                        <a:t>Link homework</a:t>
                      </a:r>
                    </a:p>
                  </a:txBody>
                  <a:tcPr>
                    <a:solidFill>
                      <a:srgbClr val="FFFFFF"/>
                    </a:solidFill>
                  </a:tcPr>
                </a:tc>
              </a:tr>
              <a:tr h="502920">
                <a:tc>
                  <a:txBody>
                    <a:bodyPr/>
                    <a:lstStyle/>
                    <a:p>
                      <a:pPr algn="l"/>
                      <a:r>
                        <a:rPr sz="1200" b="1">
                          <a:solidFill>
                            <a:srgbClr val="334155"/>
                          </a:solidFill>
                          <a:latin typeface="Malgun Gothic"/>
                        </a:rPr>
                        <a:t>Wrap-up</a:t>
                      </a:r>
                    </a:p>
                  </a:txBody>
                  <a:tcPr>
                    <a:solidFill>
                      <a:srgbClr val="F8FAFC"/>
                    </a:solidFill>
                  </a:tcPr>
                </a:tc>
                <a:tc>
                  <a:txBody>
                    <a:bodyPr/>
                    <a:lstStyle/>
                    <a:p>
                      <a:pPr algn="ctr"/>
                      <a:r>
                        <a:rPr sz="1200">
                          <a:solidFill>
                            <a:srgbClr val="334155"/>
                          </a:solidFill>
                          <a:latin typeface="Malgun Gothic"/>
                        </a:rPr>
                        <a:t>Review·praise</a:t>
                      </a:r>
                    </a:p>
                  </a:txBody>
                  <a:tcPr>
                    <a:solidFill>
                      <a:srgbClr val="F8FAFC"/>
                    </a:solidFill>
                  </a:tcPr>
                </a:tc>
                <a:tc>
                  <a:txBody>
                    <a:bodyPr/>
                    <a:lstStyle/>
                    <a:p>
                      <a:pPr algn="ctr"/>
                      <a:r>
                        <a:rPr sz="1200">
                          <a:solidFill>
                            <a:srgbClr val="334155"/>
                          </a:solidFill>
                          <a:latin typeface="Malgun Gothic"/>
                        </a:rPr>
                        <a:t>Feedback·stars</a:t>
                      </a:r>
                    </a:p>
                  </a:txBody>
                  <a:tcPr>
                    <a:solidFill>
                      <a:srgbClr val="F8FAFC"/>
                    </a:solidFill>
                  </a:tcPr>
                </a:tc>
                <a:tc>
                  <a:txBody>
                    <a:bodyPr/>
                    <a:lstStyle/>
                    <a:p>
                      <a:pPr algn="ctr"/>
                      <a:r>
                        <a:rPr sz="1200">
                          <a:solidFill>
                            <a:srgbClr val="334155"/>
                          </a:solidFill>
                          <a:latin typeface="Malgun Gothic"/>
                        </a:rPr>
                        <a:t>1 praise + 1 fix</a:t>
                      </a:r>
                    </a:p>
                  </a:txBody>
                  <a:tcPr>
                    <a:solidFill>
                      <a:srgbClr val="F8FAFC"/>
                    </a:solidFill>
                  </a:tcPr>
                </a:tc>
              </a:tr>
              <a:tr h="502920">
                <a:tc>
                  <a:txBody>
                    <a:bodyPr/>
                    <a:lstStyle/>
                    <a:p>
                      <a:pPr algn="l"/>
                      <a:r>
                        <a:rPr sz="1200" b="1">
                          <a:solidFill>
                            <a:srgbClr val="334155"/>
                          </a:solidFill>
                          <a:latin typeface="Malgun Gothic"/>
                        </a:rPr>
                        <a:t>After</a:t>
                      </a:r>
                    </a:p>
                  </a:txBody>
                  <a:tcPr>
                    <a:solidFill>
                      <a:srgbClr val="FFFFFF"/>
                    </a:solidFill>
                  </a:tcPr>
                </a:tc>
                <a:tc>
                  <a:txBody>
                    <a:bodyPr/>
                    <a:lstStyle/>
                    <a:p>
                      <a:pPr algn="ctr"/>
                      <a:r>
                        <a:rPr sz="1200">
                          <a:solidFill>
                            <a:srgbClr val="334155"/>
                          </a:solidFill>
                          <a:latin typeface="Malgun Gothic"/>
                        </a:rPr>
                        <a:t>Game report·reports</a:t>
                      </a:r>
                    </a:p>
                  </a:txBody>
                  <a:tcPr>
                    <a:solidFill>
                      <a:srgbClr val="FFFFFF"/>
                    </a:solidFill>
                  </a:tcPr>
                </a:tc>
                <a:tc>
                  <a:txBody>
                    <a:bodyPr/>
                    <a:lstStyle/>
                    <a:p>
                      <a:pPr algn="ctr"/>
                      <a:r>
                        <a:rPr sz="1200">
                          <a:solidFill>
                            <a:srgbClr val="334155"/>
                          </a:solidFill>
                          <a:latin typeface="Malgun Gothic"/>
                        </a:rPr>
                        <a:t>Check weak points·progress</a:t>
                      </a:r>
                    </a:p>
                  </a:txBody>
                  <a:tcPr>
                    <a:solidFill>
                      <a:srgbClr val="FFFFFF"/>
                    </a:solidFill>
                  </a:tcPr>
                </a:tc>
                <a:tc>
                  <a:txBody>
                    <a:bodyPr/>
                    <a:lstStyle/>
                    <a:p>
                      <a:pPr algn="ctr"/>
                      <a:r>
                        <a:rPr sz="1200">
                          <a:solidFill>
                            <a:srgbClr val="334155"/>
                          </a:solidFill>
                          <a:latin typeface="Malgun Gothic"/>
                        </a:rPr>
                        <a:t>Next goal</a:t>
                      </a:r>
                    </a:p>
                  </a:txBody>
                  <a:tcP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Pre-check Items (example scores)</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Elements of a Good Lesson</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enter a lesson?</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On the classroom entry screen, enter your name, press 'Enter', then allow camera and mic.</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share materials?</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materials tab, upload PDF/JPEG/PNG to share with all participants. Use prev/next and fit-to-screen to view larger.</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use the board?</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board tab, write with pen/shapes/color/thickness, and save the board as an image if needed.</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A student can't enter.</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Often a browser permission issue. Advise reconnecting in Chrome/Edge and allowing camera/mic.</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When do I write the review?</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Writing right after class is most accurate. Leave stars and a short comment and it's reflected in the report.</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know a student's weak points?</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 up by student ID in the game learning report to see often-missed weak words.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Lesson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run the detailed check 5–10 min before class?</a:t>
            </a:r>
          </a:p>
        </p:txBody>
      </p:sp>
      <p:sp>
        <p:nvSpPr>
          <p:cNvPr id="9" name="Rounded Rectangle 8"/>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pre-upload the materials?</a:t>
            </a:r>
          </a:p>
        </p:txBody>
      </p:sp>
      <p:sp>
        <p:nvSpPr>
          <p:cNvPr id="11" name="Rounded Rectangle 10"/>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camera framing and sound?</a:t>
            </a:r>
          </a:p>
        </p:txBody>
      </p:sp>
      <p:sp>
        <p:nvSpPr>
          <p:cNvPr id="13" name="Rounded Rectangle 12"/>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student's AI warm-up?</a:t>
            </a:r>
          </a:p>
        </p:txBody>
      </p:sp>
      <p:sp>
        <p:nvSpPr>
          <p:cNvPr id="15" name="Rounded Rectangle 14"/>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prepare the materials/board/chat tools?</a:t>
            </a:r>
          </a:p>
        </p:txBody>
      </p:sp>
      <p:sp>
        <p:nvSpPr>
          <p:cNvPr id="17" name="Rounded Rectangle 16"/>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write the lesson review after class?</a:t>
            </a:r>
          </a:p>
        </p:txBody>
      </p:sp>
      <p:sp>
        <p:nvSpPr>
          <p:cNvPr id="19" name="Rounded Rectangle 18"/>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leave praise (stars/comment)?</a:t>
            </a:r>
          </a:p>
        </p:txBody>
      </p:sp>
      <p:sp>
        <p:nvSpPr>
          <p:cNvPr id="21" name="Rounded Rectangle 20"/>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weak words in the game report?</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Conclusion · A Practical Guide to Great Lessons</a:t>
            </a:r>
          </a:p>
        </p:txBody>
      </p:sp>
      <p:sp>
        <p:nvSpPr>
          <p:cNvPr id="7" name="Rounded Rectangle 6"/>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learned how to use the Mangoi site 'along the real lesson flow.' Finally, here's one page summarizing how a single lesson unfolds and the principles to keep every time. Keep just this page nearby and your lessons will run far more smoothly and reliably.</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 mic, network, lighting; pre-upload the textbook</a:t>
            </a:r>
          </a:p>
        </p:txBody>
      </p:sp>
      <p:sp>
        <p:nvSpPr>
          <p:cNvPr id="13" name="Rounded Rectangle 12"/>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 confirm name → allow camera/mic → check background/sound while waiting</a:t>
            </a:r>
          </a:p>
        </p:txBody>
      </p:sp>
      <p:sp>
        <p:nvSpPr>
          <p:cNvPr id="16" name="Rounded Rectangle 15"/>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Intro (2–3 min)</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Open lightly by mentioning the student's AI warm-up; state today's goal in one line</a:t>
            </a:r>
          </a:p>
        </p:txBody>
      </p:sp>
      <p:sp>
        <p:nvSpPr>
          <p:cNvPr id="19" name="Rounded Rectangle 18"/>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Main lesson</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Share the same page via materials tools · write on the board · key words in chat; draw out plenty of student speech</a:t>
            </a:r>
          </a:p>
        </p:txBody>
      </p:sp>
      <p:sp>
        <p:nvSpPr>
          <p:cNvPr id="22" name="Rounded Rectangle 21"/>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Praise</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The moment they do well, tap the 🌟 Praise button (+1P) → piles up live in the 🧺 basket</a:t>
            </a:r>
          </a:p>
        </p:txBody>
      </p:sp>
      <p:sp>
        <p:nvSpPr>
          <p:cNvPr id="25" name="Rounded Rectangle 24"/>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Practice</a:t>
            </a:r>
          </a:p>
        </p:txBody>
      </p:sp>
      <p:sp>
        <p:nvSpPr>
          <p:cNvPr id="27" name="TextBox 26"/>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Link weak-pronunciation sentences to AI voice-coach homework for repetition</a:t>
            </a:r>
          </a:p>
        </p:txBody>
      </p:sp>
      <p:sp>
        <p:nvSpPr>
          <p:cNvPr id="28" name="Rounded Rectangle 27"/>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Wrap-up (3 min)</a:t>
            </a:r>
          </a:p>
        </p:txBody>
      </p:sp>
      <p:sp>
        <p:nvSpPr>
          <p:cNvPr id="30" name="TextBox 29"/>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Summarize today → prompt the review quiz &amp; rating (+10P) → leave the next goal in one line</a:t>
            </a:r>
          </a:p>
        </p:txBody>
      </p:sp>
      <p:sp>
        <p:nvSpPr>
          <p:cNvPr id="31" name="Rounded Rectangle 30"/>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33" name="TextBox 32"/>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Write the review (1 praise + 1 improvement) · leave praise · check weak words in the game report</a:t>
            </a:r>
          </a:p>
        </p:txBody>
      </p:sp>
      <p:sp>
        <p:nvSpPr>
          <p:cNvPr id="34" name="TextBox 33"/>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Key Principles</a:t>
            </a:r>
          </a:p>
        </p:txBody>
      </p:sp>
      <p:sp>
        <p:nvSpPr>
          <p:cNvPr id="35" name="TextBox 34"/>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Preparation is half the battle — pre-check and pre-upload keep the lesson from stalling.</a:t>
            </a:r>
          </a:p>
          <a:p>
            <a:pPr>
              <a:lnSpc>
                <a:spcPct val="115000"/>
              </a:lnSpc>
              <a:spcAft>
                <a:spcPts val="500"/>
              </a:spcAft>
            </a:pPr>
            <a:r>
              <a:rPr sz="900" b="1">
                <a:solidFill>
                  <a:srgbClr val="EA580C"/>
                </a:solidFill>
                <a:latin typeface="Malgun Gothic"/>
              </a:rPr>
              <a:t>● </a:t>
            </a:r>
            <a:r>
              <a:rPr sz="1100">
                <a:solidFill>
                  <a:srgbClr val="334155"/>
                </a:solidFill>
                <a:latin typeface="Malgun Gothic"/>
              </a:rPr>
              <a:t>Make them speak a lot — students should speak more than the teacher to improve.</a:t>
            </a:r>
          </a:p>
          <a:p>
            <a:pPr>
              <a:lnSpc>
                <a:spcPct val="115000"/>
              </a:lnSpc>
              <a:spcAft>
                <a:spcPts val="500"/>
              </a:spcAft>
            </a:pPr>
            <a:r>
              <a:rPr sz="900" b="1">
                <a:solidFill>
                  <a:srgbClr val="EA580C"/>
                </a:solidFill>
                <a:latin typeface="Malgun Gothic"/>
              </a:rPr>
              <a:t>● </a:t>
            </a:r>
            <a:r>
              <a:rPr sz="1100">
                <a:solidFill>
                  <a:srgbClr val="334155"/>
                </a:solidFill>
                <a:latin typeface="Malgun Gothic"/>
              </a:rPr>
              <a:t>Praise instantly — the moment they do well, 🌟praise! Instant rewards are the strongest motivator.</a:t>
            </a:r>
          </a:p>
          <a:p>
            <a:pPr>
              <a:lnSpc>
                <a:spcPct val="115000"/>
              </a:lnSpc>
              <a:spcAft>
                <a:spcPts val="500"/>
              </a:spcAft>
            </a:pPr>
            <a:r>
              <a:rPr sz="900" b="1">
                <a:solidFill>
                  <a:srgbClr val="EA580C"/>
                </a:solidFill>
                <a:latin typeface="Malgun Gothic"/>
              </a:rPr>
              <a:t>● </a:t>
            </a:r>
            <a:r>
              <a:rPr sz="1100">
                <a:solidFill>
                  <a:srgbClr val="334155"/>
                </a:solidFill>
                <a:latin typeface="Malgun Gothic"/>
              </a:rPr>
              <a:t>Keep records — the review and 'next goal in one line' power the next lesson and handovers.</a:t>
            </a:r>
          </a:p>
          <a:p>
            <a:pPr>
              <a:lnSpc>
                <a:spcPct val="115000"/>
              </a:lnSpc>
              <a:spcAft>
                <a:spcPts val="500"/>
              </a:spcAft>
            </a:pPr>
            <a:r>
              <a:rPr sz="900" b="1">
                <a:solidFill>
                  <a:srgbClr val="EA580C"/>
                </a:solidFill>
                <a:latin typeface="Malgun Gothic"/>
              </a:rPr>
              <a:t>● </a:t>
            </a:r>
            <a:r>
              <a:rPr sz="1100">
                <a:solidFill>
                  <a:srgbClr val="334155"/>
                </a:solidFill>
                <a:latin typeface="Malgun Gothic"/>
              </a:rPr>
              <a:t>Reinforce with data — put the game report's weak words into the next lesson's intro.</a:t>
            </a:r>
          </a:p>
        </p:txBody>
      </p:sp>
      <p:sp>
        <p:nvSpPr>
          <p:cNvPr id="36" name="TextBox 35"/>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Remember</a:t>
            </a:r>
          </a:p>
        </p:txBody>
      </p:sp>
      <p:sp>
        <p:nvSpPr>
          <p:cNvPr id="37" name="TextBox 36"/>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No sound/video → check Chrome/Edge + camera·mic permission first (KakaoTalk in-app → external browser)</a:t>
            </a:r>
          </a:p>
          <a:p>
            <a:pPr>
              <a:lnSpc>
                <a:spcPct val="115000"/>
              </a:lnSpc>
              <a:spcAft>
                <a:spcPts val="400"/>
              </a:spcAft>
            </a:pPr>
            <a:r>
              <a:rPr sz="850" b="1">
                <a:solidFill>
                  <a:srgbClr val="FFB020"/>
                </a:solidFill>
                <a:latin typeface="Malgun Gothic"/>
              </a:rPr>
              <a:t>● </a:t>
            </a:r>
            <a:r>
              <a:rPr sz="1050">
                <a:solidFill>
                  <a:srgbClr val="334155"/>
                </a:solidFill>
                <a:latin typeface="Malgun Gothic"/>
              </a:rPr>
              <a:t>Praise points are given by the teacher; the student's star rating earns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Handle postpone requests after checking policy; guide out-of-policy last-minute requests per policy</a:t>
            </a:r>
          </a:p>
          <a:p>
            <a:pPr>
              <a:lnSpc>
                <a:spcPct val="115000"/>
              </a:lnSpc>
              <a:spcAft>
                <a:spcPts val="400"/>
              </a:spcAft>
            </a:pPr>
            <a:r>
              <a:rPr sz="850" b="1">
                <a:solidFill>
                  <a:srgbClr val="FFB020"/>
                </a:solidFill>
                <a:latin typeface="Malgun Gothic"/>
              </a:rPr>
              <a:t>● </a:t>
            </a:r>
            <a:r>
              <a:rPr sz="1050">
                <a:solidFill>
                  <a:srgbClr val="334155"/>
                </a:solidFill>
                <a:latin typeface="Malgun Gothic"/>
              </a:rPr>
              <a:t>Run every lesson in the rhythm of 'Check → Engage → Praise → Record'!</a:t>
            </a:r>
          </a:p>
        </p:txBody>
      </p:sp>
      <p:sp>
        <p:nvSpPr>
          <p:cNvPr id="38" name="Rounded Rectangle 37"/>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 teacher's warm words and instant praise build a child's confidence in English. Keep this guide beside you and lead every lesson with it. Praise even the small wins and students will look forward to the next class. Questions? Contact support anytime — cheering you on for lessons that grow together!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test.mangoi.co.kr    📞 1588-0000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