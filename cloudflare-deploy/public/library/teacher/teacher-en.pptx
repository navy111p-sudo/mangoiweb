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90" r:id="rId41"/>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값</c:v>
                </c:pt>
              </c:strCache>
            </c:strRef>
          </c:tx>
          <c:dPt>
            <c:idx val="0"/>
            <c:spPr>
              <a:solidFill>
                <a:srgbClr val="F59E0B"/>
              </a:solidFill>
            </c:spPr>
          </c:dPt>
          <c:dPt>
            <c:idx val="1"/>
            <c:spPr>
              <a:solidFill>
                <a:srgbClr val="EA580C"/>
              </a:solidFill>
            </c:spPr>
          </c:dPt>
          <c:dPt>
            <c:idx val="2"/>
            <c:spPr>
              <a:solidFill>
                <a:srgbClr val="059669"/>
              </a:solidFill>
            </c:spPr>
          </c:dPt>
          <c:dPt>
            <c:idx val="3"/>
            <c:spPr>
              <a:solidFill>
                <a:srgbClr val="4F46E5"/>
              </a:solidFill>
            </c:spPr>
          </c:dPt>
          <c:cat>
            <c:strRef>
              <c:f>Sheet1!$A$2:$A$5</c:f>
              <c:strCache>
                <c:ptCount val="4"/>
                <c:pt idx="0">
                  <c:v>Warm-up/greeting</c:v>
                </c:pt>
                <c:pt idx="1">
                  <c:v>Main lesson</c:v>
                </c:pt>
                <c:pt idx="2">
                  <c:v>Speaking practice</c:v>
                </c:pt>
                <c:pt idx="3">
                  <c:v>Wrap-up/review</c:v>
                </c:pt>
              </c:strCache>
            </c:strRef>
          </c:cat>
          <c:val>
            <c:numRef>
              <c:f>Sheet1!$B$2:$B$5</c:f>
              <c:numCache>
                <c:formatCode>General</c:formatCode>
                <c:ptCount val="4"/>
                <c:pt idx="0">
                  <c:v>3</c:v>
                </c:pt>
                <c:pt idx="1">
                  <c:v>14</c:v>
                </c:pt>
                <c:pt idx="2">
                  <c:v>5</c:v>
                </c:pt>
                <c:pt idx="3">
                  <c:v>3</c:v>
                </c:pt>
              </c:numCache>
            </c:numRef>
          </c:val>
        </c:ser>
        <c:dLbls>
          <c:txPr>
            <a:bodyPr/>
            <a:lstStyle/>
            <a:p>
              <a:pPr>
                <a:defRPr sz="1100" b="1">
                  <a:latin typeface="Malgun Gothic"/>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l"/>
        <c:majorTickMark val="out"/>
        <c:minorTickMark val="none"/>
        <c:tickLblPos val="nextTo"/>
        <c:txPr>
          <a:bodyPr/>
          <a:lstStyle/>
          <a:p>
            <a:pPr>
              <a:defRPr sz="1000">
                <a:latin typeface="Malgun Gothic"/>
              </a:defRPr>
            </a:pPr>
          </a:p>
        </c:txPr>
        <c:crossAx val="-2113994440"/>
        <c:crosses val="autoZero"/>
        <c:auto val="1"/>
        <c:lblAlgn val="ctr"/>
        <c:lblOffset val="100"/>
        <c:noMultiLvlLbl val="0"/>
      </c:catAx>
      <c:valAx>
        <c:axId val="-2113994440"/>
        <c:scaling/>
        <c:delete val="0"/>
        <c:axPos val="b"/>
        <c:majorGridlines/>
        <c:majorTickMark val="out"/>
        <c:minorTickMark val="none"/>
        <c:tickLblPos val="nextTo"/>
        <c:txPr>
          <a:bodyPr/>
          <a:lstStyle/>
          <a:p>
            <a:pPr>
              <a:defRPr sz="1000">
                <a:latin typeface="Malgun Gothic"/>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값</c:v>
                </c:pt>
              </c:strCache>
            </c:strRef>
          </c:tx>
          <c:dPt>
            <c:idx val="0"/>
            <c:spPr>
              <a:solidFill>
                <a:srgbClr val="EA580C"/>
              </a:solidFill>
            </c:spPr>
          </c:dPt>
          <c:dPt>
            <c:idx val="1"/>
            <c:spPr>
              <a:solidFill>
                <a:srgbClr val="F59E0B"/>
              </a:solidFill>
            </c:spPr>
          </c:dPt>
          <c:dPt>
            <c:idx val="2"/>
            <c:spPr>
              <a:solidFill>
                <a:srgbClr val="059669"/>
              </a:solidFill>
            </c:spPr>
          </c:dPt>
          <c:dPt>
            <c:idx val="3"/>
            <c:spPr>
              <a:solidFill>
                <a:srgbClr val="0EA5E9"/>
              </a:solidFill>
            </c:spPr>
          </c:dPt>
          <c:cat>
            <c:strRef>
              <c:f>Sheet1!$A$2:$A$5</c:f>
              <c:strCache>
                <c:ptCount val="4"/>
                <c:pt idx="0">
                  <c:v>Camera</c:v>
                </c:pt>
                <c:pt idx="1">
                  <c:v>Mic</c:v>
                </c:pt>
                <c:pt idx="2">
                  <c:v>Network</c:v>
                </c:pt>
                <c:pt idx="3">
                  <c:v>Lighting</c:v>
                </c:pt>
              </c:strCache>
            </c:strRef>
          </c:cat>
          <c:val>
            <c:numRef>
              <c:f>Sheet1!$B$2:$B$5</c:f>
              <c:numCache>
                <c:formatCode>General</c:formatCode>
                <c:ptCount val="4"/>
                <c:pt idx="0">
                  <c:v>100</c:v>
                </c:pt>
                <c:pt idx="1">
                  <c:v>100</c:v>
                </c:pt>
                <c:pt idx="2">
                  <c:v>90</c:v>
                </c:pt>
                <c:pt idx="3">
                  <c:v>80</c:v>
                </c:pt>
              </c:numCache>
            </c:numRef>
          </c:val>
        </c:ser>
        <c:dLbls>
          <c:txPr>
            <a:bodyPr/>
            <a:lstStyle/>
            <a:p>
              <a:pPr>
                <a:defRPr sz="1100" b="1">
                  <a:latin typeface="Malgun Gothic"/>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txPr>
          <a:bodyPr/>
          <a:lstStyle/>
          <a:p>
            <a:pPr>
              <a:defRPr sz="1000">
                <a:latin typeface="Malgun Gothic"/>
              </a:defRPr>
            </a:pPr>
          </a:p>
        </c:txPr>
        <c:crossAx val="-2113994440"/>
        <c:crosses val="autoZero"/>
        <c:auto val="1"/>
        <c:lblAlgn val="ctr"/>
        <c:lblOffset val="100"/>
        <c:noMultiLvlLbl val="0"/>
      </c:catAx>
      <c:valAx>
        <c:axId val="-2113994440"/>
        <c:scaling/>
        <c:delete val="0"/>
        <c:axPos val="l"/>
        <c:majorGridlines/>
        <c:majorTickMark val="out"/>
        <c:minorTickMark val="none"/>
        <c:tickLblPos val="nextTo"/>
        <c:txPr>
          <a:bodyPr/>
          <a:lstStyle/>
          <a:p>
            <a:pPr>
              <a:defRPr sz="1000">
                <a:latin typeface="Malgun Gothic"/>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값</c:v>
                </c:pt>
              </c:strCache>
            </c:strRef>
          </c:tx>
          <c:dPt>
            <c:idx val="0"/>
            <c:spPr>
              <a:solidFill>
                <a:srgbClr val="EA580C"/>
              </a:solidFill>
            </c:spPr>
          </c:dPt>
          <c:dPt>
            <c:idx val="1"/>
            <c:spPr>
              <a:solidFill>
                <a:srgbClr val="EA580C"/>
              </a:solidFill>
            </c:spPr>
          </c:dPt>
          <c:dPt>
            <c:idx val="2"/>
            <c:spPr>
              <a:solidFill>
                <a:srgbClr val="EA580C"/>
              </a:solidFill>
            </c:spPr>
          </c:dPt>
          <c:dPt>
            <c:idx val="3"/>
            <c:spPr>
              <a:solidFill>
                <a:srgbClr val="EA580C"/>
              </a:solidFill>
            </c:spPr>
          </c:dPt>
          <c:dPt>
            <c:idx val="4"/>
            <c:spPr>
              <a:solidFill>
                <a:srgbClr val="EA580C"/>
              </a:solidFill>
            </c:spPr>
          </c:dPt>
          <c:cat>
            <c:strRef>
              <c:f>Sheet1!$A$2:$A$6</c:f>
              <c:strCache>
                <c:ptCount val="5"/>
                <c:pt idx="0">
                  <c:v>Prep</c:v>
                </c:pt>
                <c:pt idx="1">
                  <c:v>Interaction</c:v>
                </c:pt>
                <c:pt idx="2">
                  <c:v>Feedback</c:v>
                </c:pt>
                <c:pt idx="3">
                  <c:v>Pronunciation</c:v>
                </c:pt>
                <c:pt idx="4">
                  <c:v>Records</c:v>
                </c:pt>
              </c:strCache>
            </c:strRef>
          </c:cat>
          <c:val>
            <c:numRef>
              <c:f>Sheet1!$B$2:$B$6</c:f>
              <c:numCache>
                <c:formatCode>General</c:formatCode>
                <c:ptCount val="5"/>
                <c:pt idx="0">
                  <c:v>9</c:v>
                </c:pt>
                <c:pt idx="1">
                  <c:v>8</c:v>
                </c:pt>
                <c:pt idx="2">
                  <c:v>9</c:v>
                </c:pt>
                <c:pt idx="3">
                  <c:v>8</c:v>
                </c:pt>
                <c:pt idx="4">
                  <c:v>7</c:v>
                </c:pt>
              </c:numCache>
            </c:numRef>
          </c:val>
        </c:ser>
        <c:dLbls>
          <c:txPr>
            <a:bodyPr/>
            <a:lstStyle/>
            <a:p>
              <a:pPr>
                <a:defRPr sz="1100" b="1">
                  <a:latin typeface="Malgun Gothic"/>
                </a:defRPr>
              </a:pPr>
            </a:p>
          </c:txPr>
          <c:showLegendKey val="0"/>
          <c:showVal val="0"/>
          <c:showCatName val="0"/>
          <c:showSerName val="0"/>
          <c:showPercent val="0"/>
          <c:showBubbleSize val="0"/>
          <c:showLeaderLines val="1"/>
        </c:dLbls>
        <c:firstSliceAng val="0"/>
        <c:holeSize val="50"/>
      </c:doughnutChart>
    </c:plotArea>
    <c:legend>
      <c:legendPos/>
      <c:layout/>
      <c:overlay val="0"/>
      <c:txPr>
        <a:bodyPr/>
        <a:lstStyle/>
        <a:p>
          <a:pPr>
            <a:defRPr sz="1100">
              <a:latin typeface="Malgun Gothic"/>
            </a:defRPr>
          </a:pPr>
        </a:p>
      </c:txPr>
    </c:legend>
    <c:plotVisOnly val="1"/>
    <c:dispBlanksAs val="gap"/>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chart" Target="../charts/chart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EA580C"/>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607040" y="-1097280"/>
            <a:ext cx="3840480" cy="384048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280160" y="5669280"/>
            <a:ext cx="2926080" cy="292608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14400" y="1097280"/>
            <a:ext cx="1280160" cy="128016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22960" y="822960"/>
            <a:ext cx="2468880" cy="4572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822960"/>
            <a:ext cx="2468880" cy="457200"/>
          </a:xfrm>
          <a:prstGeom prst="rect">
            <a:avLst/>
          </a:prstGeom>
          <a:noFill/>
        </p:spPr>
        <p:txBody>
          <a:bodyPr wrap="square" anchor="ctr">
            <a:spAutoFit/>
          </a:bodyPr>
          <a:lstStyle/>
          <a:p>
            <a:pPr algn="ctr">
              <a:lnSpc>
                <a:spcPct val="100000"/>
              </a:lnSpc>
            </a:pPr>
            <a:r>
              <a:rPr sz="1300" b="1">
                <a:solidFill>
                  <a:srgbClr val="EA580C"/>
                </a:solidFill>
                <a:latin typeface="Malgun Gothic"/>
              </a:rPr>
              <a:t>👩‍🏫 TEACHER GUIDE</a:t>
            </a:r>
          </a:p>
        </p:txBody>
      </p:sp>
      <p:sp>
        <p:nvSpPr>
          <p:cNvPr id="8" name="TextBox 7"/>
          <p:cNvSpPr txBox="1"/>
          <p:nvPr/>
        </p:nvSpPr>
        <p:spPr>
          <a:xfrm>
            <a:off x="822960" y="2286000"/>
            <a:ext cx="7315200" cy="457200"/>
          </a:xfrm>
          <a:prstGeom prst="rect">
            <a:avLst/>
          </a:prstGeom>
          <a:noFill/>
        </p:spPr>
        <p:txBody>
          <a:bodyPr wrap="square" anchor="t">
            <a:spAutoFit/>
          </a:bodyPr>
          <a:lstStyle/>
          <a:p>
            <a:pPr algn="l">
              <a:lnSpc>
                <a:spcPct val="100000"/>
              </a:lnSpc>
            </a:pPr>
            <a:r>
              <a:rPr sz="1600" b="1">
                <a:solidFill>
                  <a:srgbClr val="FFFFFF"/>
                </a:solidFill>
                <a:latin typeface="Malgun Gothic"/>
              </a:rPr>
              <a:t>Mangoi · MANGOI</a:t>
            </a:r>
          </a:p>
        </p:txBody>
      </p:sp>
      <p:sp>
        <p:nvSpPr>
          <p:cNvPr id="9" name="TextBox 8"/>
          <p:cNvSpPr txBox="1"/>
          <p:nvPr/>
        </p:nvSpPr>
        <p:spPr>
          <a:xfrm>
            <a:off x="777240" y="2697480"/>
            <a:ext cx="7772400" cy="1371600"/>
          </a:xfrm>
          <a:prstGeom prst="rect">
            <a:avLst/>
          </a:prstGeom>
          <a:noFill/>
        </p:spPr>
        <p:txBody>
          <a:bodyPr wrap="square" anchor="t">
            <a:spAutoFit/>
          </a:bodyPr>
          <a:lstStyle/>
          <a:p>
            <a:pPr algn="l">
              <a:lnSpc>
                <a:spcPct val="100000"/>
              </a:lnSpc>
            </a:pPr>
            <a:r>
              <a:rPr sz="4600" b="1">
                <a:solidFill>
                  <a:srgbClr val="FFFFFF"/>
                </a:solidFill>
                <a:latin typeface="Malgun Gothic"/>
              </a:rPr>
              <a:t>Teacher User Guide</a:t>
            </a:r>
          </a:p>
        </p:txBody>
      </p:sp>
      <p:sp>
        <p:nvSpPr>
          <p:cNvPr id="10" name="TextBox 9"/>
          <p:cNvSpPr txBox="1"/>
          <p:nvPr/>
        </p:nvSpPr>
        <p:spPr>
          <a:xfrm>
            <a:off x="822960" y="4114800"/>
            <a:ext cx="7315200" cy="548640"/>
          </a:xfrm>
          <a:prstGeom prst="rect">
            <a:avLst/>
          </a:prstGeom>
          <a:noFill/>
        </p:spPr>
        <p:txBody>
          <a:bodyPr wrap="square" anchor="t">
            <a:spAutoFit/>
          </a:bodyPr>
          <a:lstStyle/>
          <a:p>
            <a:pPr algn="l">
              <a:lnSpc>
                <a:spcPct val="100000"/>
              </a:lnSpc>
            </a:pPr>
            <a:r>
              <a:rPr sz="1900" b="1">
                <a:solidFill>
                  <a:srgbClr val="FFFFFF"/>
                </a:solidFill>
                <a:latin typeface="Malgun Gothic"/>
              </a:rPr>
              <a:t>Follow the lesson flow — how to use the site</a:t>
            </a:r>
          </a:p>
        </p:txBody>
      </p:sp>
      <p:sp>
        <p:nvSpPr>
          <p:cNvPr id="11" name="TextBox 10"/>
          <p:cNvSpPr txBox="1"/>
          <p:nvPr/>
        </p:nvSpPr>
        <p:spPr>
          <a:xfrm>
            <a:off x="822960" y="5943600"/>
            <a:ext cx="7315200" cy="457200"/>
          </a:xfrm>
          <a:prstGeom prst="rect">
            <a:avLst/>
          </a:prstGeom>
          <a:noFill/>
        </p:spPr>
        <p:txBody>
          <a:bodyPr wrap="square" anchor="t">
            <a:spAutoFit/>
          </a:bodyPr>
          <a:lstStyle/>
          <a:p>
            <a:pPr algn="l">
              <a:lnSpc>
                <a:spcPct val="100000"/>
              </a:lnSpc>
            </a:pPr>
            <a:r>
              <a:rPr sz="1300" b="0">
                <a:solidFill>
                  <a:srgbClr val="FFFFFF"/>
                </a:solidFill>
                <a:latin typeface="Malgun Gothic"/>
              </a:rPr>
              <a:t>For · Native-speaker teachers and Korean instructors   |   www.mangoi.co.kr</a:t>
            </a:r>
          </a:p>
        </p:txBody>
      </p:sp>
      <p:pic>
        <p:nvPicPr>
          <p:cNvPr id="12" name="Picture 11" descr="mango_char.png"/>
          <p:cNvPicPr>
            <a:picLocks noChangeAspect="1"/>
          </p:cNvPicPr>
          <p:nvPr/>
        </p:nvPicPr>
        <p:blipFill>
          <a:blip r:embed="rId2"/>
          <a:stretch>
            <a:fillRect/>
          </a:stretch>
        </p:blipFill>
        <p:spPr>
          <a:xfrm>
            <a:off x="7477245" y="3108960"/>
            <a:ext cx="4074369" cy="329184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Introduction</a:t>
            </a:r>
          </a:p>
        </p:txBody>
      </p:sp>
      <p:sp>
        <p:nvSpPr>
          <p:cNvPr id="6" name="Rounded Rectangle 5"/>
          <p:cNvSpPr/>
          <p:nvPr/>
        </p:nvSpPr>
        <p:spPr>
          <a:xfrm>
            <a:off x="365760" y="868680"/>
            <a:ext cx="11460175" cy="155448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005840"/>
            <a:ext cx="10881360" cy="457200"/>
          </a:xfrm>
          <a:prstGeom prst="rect">
            <a:avLst/>
          </a:prstGeom>
          <a:noFill/>
        </p:spPr>
        <p:txBody>
          <a:bodyPr wrap="square" anchor="t">
            <a:spAutoFit/>
          </a:bodyPr>
          <a:lstStyle/>
          <a:p>
            <a:pPr algn="l">
              <a:lnSpc>
                <a:spcPct val="100000"/>
              </a:lnSpc>
            </a:pPr>
            <a:r>
              <a:rPr sz="2400" b="1">
                <a:solidFill>
                  <a:srgbClr val="EA580C"/>
                </a:solidFill>
                <a:latin typeface="Malgun Gothic"/>
              </a:rPr>
              <a:t>What is the Teacher Site Guide?</a:t>
            </a:r>
          </a:p>
        </p:txBody>
      </p:sp>
      <p:sp>
        <p:nvSpPr>
          <p:cNvPr id="8" name="TextBox 7"/>
          <p:cNvSpPr txBox="1"/>
          <p:nvPr/>
        </p:nvSpPr>
        <p:spPr>
          <a:xfrm>
            <a:off x="640080" y="1481328"/>
            <a:ext cx="10972800" cy="914400"/>
          </a:xfrm>
          <a:prstGeom prst="rect">
            <a:avLst/>
          </a:prstGeom>
          <a:noFill/>
        </p:spPr>
        <p:txBody>
          <a:bodyPr wrap="square" anchor="t">
            <a:spAutoFit/>
          </a:bodyPr>
          <a:lstStyle/>
          <a:p>
            <a:pPr algn="l">
              <a:lnSpc>
                <a:spcPct val="125000"/>
              </a:lnSpc>
            </a:pPr>
            <a:r>
              <a:rPr sz="1300" b="0">
                <a:solidFill>
                  <a:srgbClr val="334155"/>
                </a:solidFill>
                <a:latin typeface="Malgun Gothic"/>
              </a:rPr>
              <a:t>This guide explains how a teacher who runs video lessons uses the Mangoi site. From pre-class device checks to entering the classroom, the materials/board/chat tools, using the AI warm-up and pronunciation coach, writing lesson reviews, praising students and learning reports — it follows the real lesson flow. (This is a 'how to use the site' guide, not a teaching methodology.)</a:t>
            </a:r>
          </a:p>
        </p:txBody>
      </p:sp>
      <p:sp>
        <p:nvSpPr>
          <p:cNvPr id="9" name="Rounded Rectangle 8"/>
          <p:cNvSpPr/>
          <p:nvPr/>
        </p:nvSpPr>
        <p:spPr>
          <a:xfrm>
            <a:off x="365760" y="269748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02920" y="2852928"/>
            <a:ext cx="512064" cy="512064"/>
          </a:xfrm>
          <a:prstGeom prst="roundRect">
            <a:avLst/>
          </a:prstGeom>
          <a:solidFill>
            <a:srgbClr val="FFE8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2852928"/>
            <a:ext cx="512064" cy="512064"/>
          </a:xfrm>
          <a:prstGeom prst="rect">
            <a:avLst/>
          </a:prstGeom>
          <a:noFill/>
        </p:spPr>
        <p:txBody>
          <a:bodyPr wrap="square" anchor="ctr">
            <a:spAutoFit/>
          </a:bodyPr>
          <a:lstStyle/>
          <a:p>
            <a:pPr algn="ctr">
              <a:lnSpc>
                <a:spcPct val="100000"/>
              </a:lnSpc>
            </a:pPr>
            <a:r>
              <a:rPr sz="2000" b="0">
                <a:solidFill>
                  <a:srgbClr val="EA580C"/>
                </a:solidFill>
                <a:latin typeface="Malgun Gothic"/>
              </a:rPr>
              <a:t>🩺</a:t>
            </a:r>
          </a:p>
        </p:txBody>
      </p:sp>
      <p:sp>
        <p:nvSpPr>
          <p:cNvPr id="12" name="TextBox 11"/>
          <p:cNvSpPr txBox="1"/>
          <p:nvPr/>
        </p:nvSpPr>
        <p:spPr>
          <a:xfrm>
            <a:off x="1143000" y="281635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Pre-class detailed check</a:t>
            </a:r>
          </a:p>
        </p:txBody>
      </p:sp>
      <p:sp>
        <p:nvSpPr>
          <p:cNvPr id="13" name="TextBox 12"/>
          <p:cNvSpPr txBox="1"/>
          <p:nvPr/>
        </p:nvSpPr>
        <p:spPr>
          <a:xfrm>
            <a:off x="1143000" y="312724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Camera·mic·network·lighting scores.</a:t>
            </a:r>
          </a:p>
        </p:txBody>
      </p:sp>
      <p:sp>
        <p:nvSpPr>
          <p:cNvPr id="14" name="Rounded Rectangle 13"/>
          <p:cNvSpPr/>
          <p:nvPr/>
        </p:nvSpPr>
        <p:spPr>
          <a:xfrm>
            <a:off x="6301587" y="269748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438747" y="2852928"/>
            <a:ext cx="512064" cy="512064"/>
          </a:xfrm>
          <a:prstGeom prst="roundRect">
            <a:avLst/>
          </a:prstGeom>
          <a:solidFill>
            <a:srgbClr val="FFE8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38747" y="2852928"/>
            <a:ext cx="512064" cy="512064"/>
          </a:xfrm>
          <a:prstGeom prst="rect">
            <a:avLst/>
          </a:prstGeom>
          <a:noFill/>
        </p:spPr>
        <p:txBody>
          <a:bodyPr wrap="square" anchor="ctr">
            <a:spAutoFit/>
          </a:bodyPr>
          <a:lstStyle/>
          <a:p>
            <a:pPr algn="ctr">
              <a:lnSpc>
                <a:spcPct val="100000"/>
              </a:lnSpc>
            </a:pPr>
            <a:r>
              <a:rPr sz="2000" b="0">
                <a:solidFill>
                  <a:srgbClr val="EA580C"/>
                </a:solidFill>
                <a:latin typeface="Malgun Gothic"/>
              </a:rPr>
              <a:t>🎥</a:t>
            </a:r>
          </a:p>
        </p:txBody>
      </p:sp>
      <p:sp>
        <p:nvSpPr>
          <p:cNvPr id="17" name="TextBox 16"/>
          <p:cNvSpPr txBox="1"/>
          <p:nvPr/>
        </p:nvSpPr>
        <p:spPr>
          <a:xfrm>
            <a:off x="7078827" y="281635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Classroom tools</a:t>
            </a:r>
          </a:p>
        </p:txBody>
      </p:sp>
      <p:sp>
        <p:nvSpPr>
          <p:cNvPr id="18" name="TextBox 17"/>
          <p:cNvSpPr txBox="1"/>
          <p:nvPr/>
        </p:nvSpPr>
        <p:spPr>
          <a:xfrm>
            <a:off x="7078827" y="312724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Video·materials·board·chat·recording.</a:t>
            </a:r>
          </a:p>
        </p:txBody>
      </p:sp>
      <p:sp>
        <p:nvSpPr>
          <p:cNvPr id="19" name="Rounded Rectangle 18"/>
          <p:cNvSpPr/>
          <p:nvPr/>
        </p:nvSpPr>
        <p:spPr>
          <a:xfrm>
            <a:off x="365760" y="365760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02920" y="3813048"/>
            <a:ext cx="512064" cy="512064"/>
          </a:xfrm>
          <a:prstGeom prst="roundRect">
            <a:avLst/>
          </a:prstGeom>
          <a:solidFill>
            <a:srgbClr val="FFE8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3813048"/>
            <a:ext cx="512064" cy="512064"/>
          </a:xfrm>
          <a:prstGeom prst="rect">
            <a:avLst/>
          </a:prstGeom>
          <a:noFill/>
        </p:spPr>
        <p:txBody>
          <a:bodyPr wrap="square" anchor="ctr">
            <a:spAutoFit/>
          </a:bodyPr>
          <a:lstStyle/>
          <a:p>
            <a:pPr algn="ctr">
              <a:lnSpc>
                <a:spcPct val="100000"/>
              </a:lnSpc>
            </a:pPr>
            <a:r>
              <a:rPr sz="2000" b="0">
                <a:solidFill>
                  <a:srgbClr val="EA580C"/>
                </a:solidFill>
                <a:latin typeface="Malgun Gothic"/>
              </a:rPr>
              <a:t>📝</a:t>
            </a:r>
          </a:p>
        </p:txBody>
      </p:sp>
      <p:sp>
        <p:nvSpPr>
          <p:cNvPr id="22" name="TextBox 21"/>
          <p:cNvSpPr txBox="1"/>
          <p:nvPr/>
        </p:nvSpPr>
        <p:spPr>
          <a:xfrm>
            <a:off x="1143000" y="377647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Lesson review · praise</a:t>
            </a:r>
          </a:p>
        </p:txBody>
      </p:sp>
      <p:sp>
        <p:nvSpPr>
          <p:cNvPr id="23" name="TextBox 22"/>
          <p:cNvSpPr txBox="1"/>
          <p:nvPr/>
        </p:nvSpPr>
        <p:spPr>
          <a:xfrm>
            <a:off x="1143000" y="408736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Post-class review and star/sticker praise.</a:t>
            </a:r>
          </a:p>
        </p:txBody>
      </p:sp>
      <p:sp>
        <p:nvSpPr>
          <p:cNvPr id="24" name="Rounded Rectangle 23"/>
          <p:cNvSpPr/>
          <p:nvPr/>
        </p:nvSpPr>
        <p:spPr>
          <a:xfrm>
            <a:off x="6301587" y="365760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438747" y="3813048"/>
            <a:ext cx="512064" cy="512064"/>
          </a:xfrm>
          <a:prstGeom prst="roundRect">
            <a:avLst/>
          </a:prstGeom>
          <a:solidFill>
            <a:srgbClr val="FFE8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38747" y="3813048"/>
            <a:ext cx="512064" cy="512064"/>
          </a:xfrm>
          <a:prstGeom prst="rect">
            <a:avLst/>
          </a:prstGeom>
          <a:noFill/>
        </p:spPr>
        <p:txBody>
          <a:bodyPr wrap="square" anchor="ctr">
            <a:spAutoFit/>
          </a:bodyPr>
          <a:lstStyle/>
          <a:p>
            <a:pPr algn="ctr">
              <a:lnSpc>
                <a:spcPct val="100000"/>
              </a:lnSpc>
            </a:pPr>
            <a:r>
              <a:rPr sz="2000" b="0">
                <a:solidFill>
                  <a:srgbClr val="EA580C"/>
                </a:solidFill>
                <a:latin typeface="Malgun Gothic"/>
              </a:rPr>
              <a:t>📊</a:t>
            </a:r>
          </a:p>
        </p:txBody>
      </p:sp>
      <p:sp>
        <p:nvSpPr>
          <p:cNvPr id="27" name="TextBox 26"/>
          <p:cNvSpPr txBox="1"/>
          <p:nvPr/>
        </p:nvSpPr>
        <p:spPr>
          <a:xfrm>
            <a:off x="7078827" y="377647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Learning reports</a:t>
            </a:r>
          </a:p>
        </p:txBody>
      </p:sp>
      <p:sp>
        <p:nvSpPr>
          <p:cNvPr id="28" name="TextBox 27"/>
          <p:cNvSpPr txBox="1"/>
          <p:nvPr/>
        </p:nvSpPr>
        <p:spPr>
          <a:xfrm>
            <a:off x="7078827" y="408736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Game weak words·reports for next lesson prep.</a:t>
            </a:r>
          </a:p>
        </p:txBody>
      </p:sp>
      <p:sp>
        <p:nvSpPr>
          <p:cNvPr id="29" name="TextBox 28"/>
          <p:cNvSpPr txBox="1"/>
          <p:nvPr/>
        </p:nvSpPr>
        <p:spPr>
          <a:xfrm>
            <a:off x="365760" y="4754880"/>
            <a:ext cx="5486400" cy="365760"/>
          </a:xfrm>
          <a:prstGeom prst="rect">
            <a:avLst/>
          </a:prstGeom>
          <a:noFill/>
        </p:spPr>
        <p:txBody>
          <a:bodyPr wrap="square" anchor="t">
            <a:spAutoFit/>
          </a:bodyPr>
          <a:lstStyle/>
          <a:p>
            <a:pPr algn="l">
              <a:lnSpc>
                <a:spcPct val="100000"/>
              </a:lnSpc>
            </a:pPr>
            <a:r>
              <a:rPr sz="1300" b="1">
                <a:solidFill>
                  <a:srgbClr val="EA580C"/>
                </a:solidFill>
                <a:latin typeface="Malgun Gothic"/>
              </a:rPr>
              <a:t>25-min Lesson Time Split (ex., min)</a:t>
            </a:r>
          </a:p>
        </p:txBody>
      </p:sp>
      <p:graphicFrame>
        <p:nvGraphicFramePr>
          <p:cNvPr id="30" name="Chart 29"/>
          <p:cNvGraphicFramePr>
            <a:graphicFrameLocks noGrp="1"/>
          </p:cNvGraphicFramePr>
          <p:nvPr/>
        </p:nvGraphicFramePr>
        <p:xfrm>
          <a:off x="365760" y="5074920"/>
          <a:ext cx="5669280" cy="1554480"/>
        </p:xfrm>
        <a:graphic>
          <a:graphicData uri="http://schemas.openxmlformats.org/drawingml/2006/chart">
            <c:chart xmlns:c="http://schemas.openxmlformats.org/drawingml/2006/chart" r:id="rId2"/>
          </a:graphicData>
        </a:graphic>
      </p:graphicFrame>
      <p:sp>
        <p:nvSpPr>
          <p:cNvPr id="31" name="Rectangle 30"/>
          <p:cNvSpPr/>
          <p:nvPr/>
        </p:nvSpPr>
        <p:spPr>
          <a:xfrm>
            <a:off x="7470648" y="4654296"/>
            <a:ext cx="3255264" cy="20756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teacher_precheck.jpg"/>
          <p:cNvPicPr>
            <a:picLocks noChangeAspect="1"/>
          </p:cNvPicPr>
          <p:nvPr/>
        </p:nvPicPr>
        <p:blipFill>
          <a:blip r:embed="rId3"/>
          <a:stretch>
            <a:fillRect/>
          </a:stretch>
        </p:blipFill>
        <p:spPr>
          <a:xfrm>
            <a:off x="7525512" y="4709160"/>
            <a:ext cx="3145536" cy="196596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Pre-class Detailed Check</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Check devices before entering</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 screen that checks camera, mic, network and lighting at once before class. An overall score and per-item signals catch problems early and prevent drop-outs mid-lesson.</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Check camera, mic, network and lighting on the check screen.</a:t>
            </a:r>
          </a:p>
          <a:p>
            <a:pPr>
              <a:lnSpc>
                <a:spcPct val="115000"/>
              </a:lnSpc>
              <a:spcAft>
                <a:spcPts val="600"/>
              </a:spcAft>
            </a:pPr>
            <a:r>
              <a:rPr sz="1050" b="1">
                <a:solidFill>
                  <a:srgbClr val="EA580C"/>
                </a:solidFill>
                <a:latin typeface="Malgun Gothic"/>
              </a:rPr>
              <a:t>● </a:t>
            </a:r>
            <a:r>
              <a:rPr sz="1250">
                <a:solidFill>
                  <a:srgbClr val="334155"/>
                </a:solidFill>
                <a:latin typeface="Malgun Gothic"/>
              </a:rPr>
              <a:t>Read the overall score and each item's signal (normal/warning).</a:t>
            </a:r>
          </a:p>
          <a:p>
            <a:pPr>
              <a:lnSpc>
                <a:spcPct val="115000"/>
              </a:lnSpc>
              <a:spcAft>
                <a:spcPts val="600"/>
              </a:spcAft>
            </a:pPr>
            <a:r>
              <a:rPr sz="1050" b="1">
                <a:solidFill>
                  <a:srgbClr val="EA580C"/>
                </a:solidFill>
                <a:latin typeface="Malgun Gothic"/>
              </a:rPr>
              <a:t>● </a:t>
            </a:r>
            <a:r>
              <a:rPr sz="1250">
                <a:solidFill>
                  <a:srgbClr val="334155"/>
                </a:solidFill>
                <a:latin typeface="Malgun Gothic"/>
              </a:rPr>
              <a:t>For red items, adjust lighting, seat or connection and check again.</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Do the check 5–10 minutes before class.</a:t>
            </a:r>
          </a:p>
          <a:p>
            <a:pPr>
              <a:lnSpc>
                <a:spcPct val="115000"/>
              </a:lnSpc>
              <a:spcAft>
                <a:spcPts val="200"/>
              </a:spcAft>
            </a:pPr>
            <a:r>
              <a:rPr sz="900" b="1">
                <a:solidFill>
                  <a:srgbClr val="EA580C"/>
                </a:solidFill>
                <a:latin typeface="Malgun Gothic"/>
              </a:rPr>
              <a:t>● </a:t>
            </a:r>
            <a:r>
              <a:rPr sz="1100">
                <a:solidFill>
                  <a:srgbClr val="334155"/>
                </a:solidFill>
                <a:latin typeface="Malgun Gothic"/>
              </a:rPr>
              <a:t>Fix issues before the student enters.</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Put the light in front of your face so your expression shows and student focus rises.</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eacher_precheck.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Enter a Lesson from My Page</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The first button to the lesson room</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Teachers enter a lesson the same way students do — with the 'Enter Class' button on My Page. After logging in, open My Page and you'll find the gold 'Enter Class' button; pressing it takes you to the video-class lobby.</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After logging in, press the '👤 My Page' button.</a:t>
            </a:r>
          </a:p>
          <a:p>
            <a:pPr>
              <a:lnSpc>
                <a:spcPct val="115000"/>
              </a:lnSpc>
              <a:spcAft>
                <a:spcPts val="600"/>
              </a:spcAft>
            </a:pPr>
            <a:r>
              <a:rPr sz="1050" b="1">
                <a:solidFill>
                  <a:srgbClr val="EA580C"/>
                </a:solidFill>
                <a:latin typeface="Malgun Gothic"/>
              </a:rPr>
              <a:t>● </a:t>
            </a:r>
            <a:r>
              <a:rPr sz="1250">
                <a:solidFill>
                  <a:srgbClr val="334155"/>
                </a:solidFill>
                <a:latin typeface="Malgun Gothic"/>
              </a:rPr>
              <a:t>Find the gold '🎥 Enter Class' button below (in a row with '💳 Payment').</a:t>
            </a:r>
          </a:p>
          <a:p>
            <a:pPr>
              <a:lnSpc>
                <a:spcPct val="115000"/>
              </a:lnSpc>
              <a:spcAft>
                <a:spcPts val="600"/>
              </a:spcAft>
            </a:pPr>
            <a:r>
              <a:rPr sz="1050" b="1">
                <a:solidFill>
                  <a:srgbClr val="EA580C"/>
                </a:solidFill>
                <a:latin typeface="Malgun Gothic"/>
              </a:rPr>
              <a:t>● </a:t>
            </a:r>
            <a:r>
              <a:rPr sz="1250">
                <a:solidFill>
                  <a:srgbClr val="334155"/>
                </a:solidFill>
                <a:latin typeface="Malgun Gothic"/>
              </a:rPr>
              <a:t>Press 'Enter Class' and you go to the video-class lobby.</a:t>
            </a:r>
          </a:p>
          <a:p>
            <a:pPr>
              <a:lnSpc>
                <a:spcPct val="115000"/>
              </a:lnSpc>
              <a:spcAft>
                <a:spcPts val="600"/>
              </a:spcAft>
            </a:pPr>
            <a:r>
              <a:rPr sz="1050" b="1">
                <a:solidFill>
                  <a:srgbClr val="EA580C"/>
                </a:solidFill>
                <a:latin typeface="Malgun Gothic"/>
              </a:rPr>
              <a:t>● </a:t>
            </a:r>
            <a:r>
              <a:rPr sz="1250">
                <a:solidFill>
                  <a:srgbClr val="334155"/>
                </a:solidFill>
                <a:latin typeface="Malgun Gothic"/>
              </a:rPr>
              <a:t>Check the hint '🎥 Enter video class lobby · 📹 Mic/Camera required'.</a:t>
            </a:r>
          </a:p>
          <a:p>
            <a:pPr>
              <a:lnSpc>
                <a:spcPct val="115000"/>
              </a:lnSpc>
              <a:spcAft>
                <a:spcPts val="600"/>
              </a:spcAft>
            </a:pPr>
            <a:r>
              <a:rPr sz="1050" b="1">
                <a:solidFill>
                  <a:srgbClr val="EA580C"/>
                </a:solidFill>
                <a:latin typeface="Malgun Gothic"/>
              </a:rPr>
              <a:t>● </a:t>
            </a:r>
            <a:r>
              <a:rPr sz="1250">
                <a:solidFill>
                  <a:srgbClr val="334155"/>
                </a:solidFill>
                <a:latin typeface="Malgun Gothic"/>
              </a:rPr>
              <a:t>Then in the lobby, confirm your name → Allow camera/mic → enter the classroom (see next page).</a:t>
            </a:r>
          </a:p>
        </p:txBody>
      </p:sp>
      <p:sp>
        <p:nvSpPr>
          <p:cNvPr id="14" name="Rounded Rectangle 13"/>
          <p:cNvSpPr/>
          <p:nvPr/>
        </p:nvSpPr>
        <p:spPr>
          <a:xfrm>
            <a:off x="457200" y="5166360"/>
            <a:ext cx="5669280" cy="1316736"/>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One 'Enter Class' button takes you straight to the lobby.</a:t>
            </a:r>
          </a:p>
          <a:p>
            <a:pPr>
              <a:lnSpc>
                <a:spcPct val="115000"/>
              </a:lnSpc>
              <a:spcAft>
                <a:spcPts val="200"/>
              </a:spcAft>
            </a:pPr>
            <a:r>
              <a:rPr sz="900" b="1">
                <a:solidFill>
                  <a:srgbClr val="EA580C"/>
                </a:solidFill>
                <a:latin typeface="Malgun Gothic"/>
              </a:rPr>
              <a:t>● </a:t>
            </a:r>
            <a:r>
              <a:rPr sz="1100">
                <a:solidFill>
                  <a:srgbClr val="334155"/>
                </a:solidFill>
                <a:latin typeface="Malgun Gothic"/>
              </a:rPr>
              <a:t>My Page also has pre-check, postpone/change, all-menu and more.</a:t>
            </a:r>
          </a:p>
          <a:p>
            <a:pPr>
              <a:lnSpc>
                <a:spcPct val="115000"/>
              </a:lnSpc>
              <a:spcAft>
                <a:spcPts val="200"/>
              </a:spcAft>
            </a:pPr>
            <a:r>
              <a:rPr sz="900" b="1">
                <a:solidFill>
                  <a:srgbClr val="EA580C"/>
                </a:solidFill>
                <a:latin typeface="Malgun Gothic"/>
              </a:rPr>
              <a:t>● </a:t>
            </a:r>
            <a:r>
              <a:rPr sz="1100">
                <a:solidFill>
                  <a:srgbClr val="334155"/>
                </a:solidFill>
                <a:latin typeface="Malgun Gothic"/>
              </a:rPr>
              <a:t>Students enter with the same 'Enter Class' button.</a:t>
            </a:r>
          </a:p>
        </p:txBody>
      </p:sp>
      <p:sp>
        <p:nvSpPr>
          <p:cNvPr id="17" name="Rounded Rectangle 16"/>
          <p:cNvSpPr/>
          <p:nvPr/>
        </p:nvSpPr>
        <p:spPr>
          <a:xfrm>
            <a:off x="457200" y="6592824"/>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Even after pressing the button, your face/sound won't connect unless you allow camera/mic.</a:t>
            </a:r>
          </a:p>
        </p:txBody>
      </p:sp>
      <p:sp>
        <p:nvSpPr>
          <p:cNvPr id="19" name="Rounded Rectangle 18"/>
          <p:cNvSpPr/>
          <p:nvPr/>
        </p:nvSpPr>
        <p:spPr>
          <a:xfrm>
            <a:off x="457200" y="7324344"/>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37006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Enter early from My Page 5–10 minutes before class to check your devices.</a:t>
            </a:r>
          </a:p>
        </p:txBody>
      </p:sp>
      <p:sp>
        <p:nvSpPr>
          <p:cNvPr id="21" name="Rectangle 20"/>
          <p:cNvSpPr/>
          <p:nvPr/>
        </p:nvSpPr>
        <p:spPr>
          <a:xfrm>
            <a:off x="6300216" y="3363420"/>
            <a:ext cx="5596128" cy="150275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mypage_enter.jpg"/>
          <p:cNvPicPr>
            <a:picLocks noChangeAspect="1"/>
          </p:cNvPicPr>
          <p:nvPr/>
        </p:nvPicPr>
        <p:blipFill>
          <a:blip r:embed="rId2"/>
          <a:stretch>
            <a:fillRect/>
          </a:stretch>
        </p:blipFill>
        <p:spPr>
          <a:xfrm>
            <a:off x="6355080" y="3418284"/>
            <a:ext cx="5486400" cy="1393031"/>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Make the Most of My Page</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Every entry point you need for class</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My Page has more than just 'Enter Class' — every menu you need for a lesson is gathered here. Knowing the buttons you use most makes prep much faster.</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 Pre-check: check camera, mic, network and lighting before class. (a must 5–10 min before)</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Enter Class: go to the video-class lobby. (see earlier page)</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Postpone/Change: adjust the schedule per a student's request or your situation.</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Review Quiz · 🎤 Curriculum Pronunciation: preview review/pronunciation material for students.</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New Inquiry · 🏠 All Menu · 📝 Book Class: go to intake and all features.</a:t>
            </a:r>
          </a:p>
        </p:txBody>
      </p:sp>
      <p:sp>
        <p:nvSpPr>
          <p:cNvPr id="14" name="Rounded Rectangle 13"/>
          <p:cNvSpPr/>
          <p:nvPr/>
        </p:nvSpPr>
        <p:spPr>
          <a:xfrm>
            <a:off x="457200" y="5166360"/>
            <a:ext cx="5669280" cy="1316736"/>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Make 'Pre-check → Enter Class' a habit.</a:t>
            </a:r>
          </a:p>
          <a:p>
            <a:pPr>
              <a:lnSpc>
                <a:spcPct val="115000"/>
              </a:lnSpc>
              <a:spcAft>
                <a:spcPts val="200"/>
              </a:spcAft>
            </a:pPr>
            <a:r>
              <a:rPr sz="900" b="1">
                <a:solidFill>
                  <a:srgbClr val="EA580C"/>
                </a:solidFill>
                <a:latin typeface="Malgun Gothic"/>
              </a:rPr>
              <a:t>● </a:t>
            </a:r>
            <a:r>
              <a:rPr sz="1100">
                <a:solidFill>
                  <a:srgbClr val="334155"/>
                </a:solidFill>
                <a:latin typeface="Malgun Gothic"/>
              </a:rPr>
              <a:t>If text looks Korean, switch to English with the EN button.</a:t>
            </a:r>
          </a:p>
          <a:p>
            <a:pPr>
              <a:lnSpc>
                <a:spcPct val="115000"/>
              </a:lnSpc>
              <a:spcAft>
                <a:spcPts val="200"/>
              </a:spcAft>
            </a:pPr>
            <a:r>
              <a:rPr sz="900" b="1">
                <a:solidFill>
                  <a:srgbClr val="EA580C"/>
                </a:solidFill>
                <a:latin typeface="Malgun Gothic"/>
              </a:rPr>
              <a:t>● </a:t>
            </a:r>
            <a:r>
              <a:rPr sz="1100">
                <a:solidFill>
                  <a:srgbClr val="334155"/>
                </a:solidFill>
                <a:latin typeface="Malgun Gothic"/>
              </a:rPr>
              <a:t>You can also tell the AI search/assistant 'open ○○' to jump there.</a:t>
            </a:r>
          </a:p>
        </p:txBody>
      </p:sp>
      <p:sp>
        <p:nvSpPr>
          <p:cNvPr id="17" name="Rounded Rectangle 16"/>
          <p:cNvSpPr/>
          <p:nvPr/>
        </p:nvSpPr>
        <p:spPr>
          <a:xfrm>
            <a:off x="457200" y="6592824"/>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Pre-class routine: ① Pre-check devices → ② pre-upload the textbook → ③ Enter Class.</a:t>
            </a:r>
          </a:p>
        </p:txBody>
      </p:sp>
      <p:sp>
        <p:nvSpPr>
          <p:cNvPr id="19" name="Rectangle 18"/>
          <p:cNvSpPr/>
          <p:nvPr/>
        </p:nvSpPr>
        <p:spPr>
          <a:xfrm>
            <a:off x="6300216" y="3706645"/>
            <a:ext cx="5596128" cy="81630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eacher_mypage.jpg"/>
          <p:cNvPicPr>
            <a:picLocks noChangeAspect="1"/>
          </p:cNvPicPr>
          <p:nvPr/>
        </p:nvPicPr>
        <p:blipFill>
          <a:blip r:embed="rId2"/>
          <a:stretch>
            <a:fillRect/>
          </a:stretch>
        </p:blipFill>
        <p:spPr>
          <a:xfrm>
            <a:off x="6355080" y="3761509"/>
            <a:ext cx="5486400" cy="706581"/>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Enter the Classroom</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Getting into the lesson room</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On the entry screen, enter your name and room code to join. Allow camera and mic, then wait for the student.</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Enter your name on the entry screen.</a:t>
            </a:r>
          </a:p>
          <a:p>
            <a:pPr>
              <a:lnSpc>
                <a:spcPct val="115000"/>
              </a:lnSpc>
              <a:spcAft>
                <a:spcPts val="600"/>
              </a:spcAft>
            </a:pPr>
            <a:r>
              <a:rPr sz="1050" b="1">
                <a:solidFill>
                  <a:srgbClr val="EA580C"/>
                </a:solidFill>
                <a:latin typeface="Malgun Gothic"/>
              </a:rPr>
              <a:t>● </a:t>
            </a:r>
            <a:r>
              <a:rPr sz="1250">
                <a:solidFill>
                  <a:srgbClr val="334155"/>
                </a:solidFill>
                <a:latin typeface="Malgun Gothic"/>
              </a:rPr>
              <a:t>Check the room code (empty = shared lesson room).</a:t>
            </a:r>
          </a:p>
          <a:p>
            <a:pPr>
              <a:lnSpc>
                <a:spcPct val="115000"/>
              </a:lnSpc>
              <a:spcAft>
                <a:spcPts val="600"/>
              </a:spcAft>
            </a:pPr>
            <a:r>
              <a:rPr sz="1050" b="1">
                <a:solidFill>
                  <a:srgbClr val="EA580C"/>
                </a:solidFill>
                <a:latin typeface="Malgun Gothic"/>
              </a:rPr>
              <a:t>● </a:t>
            </a:r>
            <a:r>
              <a:rPr sz="1250">
                <a:solidFill>
                  <a:srgbClr val="334155"/>
                </a:solidFill>
                <a:latin typeface="Malgun Gothic"/>
              </a:rPr>
              <a:t>Press Enter and click Allow for camera/mic.</a:t>
            </a:r>
          </a:p>
          <a:p>
            <a:pPr>
              <a:lnSpc>
                <a:spcPct val="115000"/>
              </a:lnSpc>
              <a:spcAft>
                <a:spcPts val="600"/>
              </a:spcAft>
            </a:pPr>
            <a:r>
              <a:rPr sz="1050" b="1">
                <a:solidFill>
                  <a:srgbClr val="EA580C"/>
                </a:solidFill>
                <a:latin typeface="Malgun Gothic"/>
              </a:rPr>
              <a:t>● </a:t>
            </a:r>
            <a:r>
              <a:rPr sz="1250">
                <a:solidFill>
                  <a:srgbClr val="334155"/>
                </a:solidFill>
                <a:latin typeface="Malgun Gothic"/>
              </a:rPr>
              <a:t>Wait for the student and check screen/sound.</a:t>
            </a:r>
          </a:p>
        </p:txBody>
      </p:sp>
      <p:sp>
        <p:nvSpPr>
          <p:cNvPr id="14" name="Rounded Rectangle 13"/>
          <p:cNvSpPr/>
          <p:nvPr/>
        </p:nvSpPr>
        <p:spPr>
          <a:xfrm>
            <a:off x="457200" y="4782312"/>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Enter early to check your camera framing and sound.</a:t>
            </a:r>
          </a:p>
          <a:p>
            <a:pPr>
              <a:lnSpc>
                <a:spcPct val="115000"/>
              </a:lnSpc>
              <a:spcAft>
                <a:spcPts val="200"/>
              </a:spcAft>
            </a:pPr>
            <a:r>
              <a:rPr sz="900" b="1">
                <a:solidFill>
                  <a:srgbClr val="EA580C"/>
                </a:solidFill>
                <a:latin typeface="Malgun Gothic"/>
              </a:rPr>
              <a:t>● </a:t>
            </a:r>
            <a:r>
              <a:rPr sz="1100">
                <a:solidFill>
                  <a:srgbClr val="334155"/>
                </a:solidFill>
                <a:latin typeface="Malgun Gothic"/>
              </a:rPr>
              <a:t>Chrome/Edge recommended; avoid the KakaoTalk in-app browser.</a:t>
            </a:r>
          </a:p>
        </p:txBody>
      </p:sp>
      <p:sp>
        <p:nvSpPr>
          <p:cNvPr id="17" name="Rounded Rectangle 16"/>
          <p:cNvSpPr/>
          <p:nvPr/>
        </p:nvSpPr>
        <p:spPr>
          <a:xfrm>
            <a:off x="457200" y="5897879"/>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If a student can't enter, have them check browser permissions and type first.</a:t>
            </a:r>
          </a:p>
        </p:txBody>
      </p:sp>
      <p:sp>
        <p:nvSpPr>
          <p:cNvPr id="19" name="Rounded Rectangle 18"/>
          <p:cNvSpPr/>
          <p:nvPr/>
        </p:nvSpPr>
        <p:spPr>
          <a:xfrm>
            <a:off x="457200" y="6629399"/>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67511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A 30-second check of background, lighting and sound after entering makes the lesson smooth.</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lass_room.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The Classroom at a Glance</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What does the lesson screen look like?</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When you enter a lesson, the screen has three main areas: ① the top bar (room info, timer, language, dark mode), ② the large center workspace (where the board, materials, video, etc. open), and ③ the bottom control dock (camera, chat, leave). Your face video and the praise basket sit in a small window at the top-left.</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Top-left: `Room: mangoi-class · Users: 2` — the room name and how many people are connected.</a:t>
            </a:r>
          </a:p>
          <a:p>
            <a:pPr>
              <a:lnSpc>
                <a:spcPct val="115000"/>
              </a:lnSpc>
              <a:spcAft>
                <a:spcPts val="600"/>
              </a:spcAft>
            </a:pPr>
            <a:r>
              <a:rPr sz="1050" b="1">
                <a:solidFill>
                  <a:srgbClr val="EA580C"/>
                </a:solidFill>
                <a:latin typeface="Malgun Gothic"/>
              </a:rPr>
              <a:t>● </a:t>
            </a:r>
            <a:r>
              <a:rPr sz="1250">
                <a:solidFill>
                  <a:srgbClr val="334155"/>
                </a:solidFill>
                <a:latin typeface="Malgun Gothic"/>
              </a:rPr>
              <a:t>Top-right: ⏰ Timer (lesson time), 🔴 REC (recording indicator), 🌐 EN (switch language), 🌙 Dark (dark screen).</a:t>
            </a:r>
          </a:p>
          <a:p>
            <a:pPr>
              <a:lnSpc>
                <a:spcPct val="115000"/>
              </a:lnSpc>
              <a:spcAft>
                <a:spcPts val="600"/>
              </a:spcAft>
            </a:pPr>
            <a:r>
              <a:rPr sz="1050" b="1">
                <a:solidFill>
                  <a:srgbClr val="EA580C"/>
                </a:solidFill>
                <a:latin typeface="Malgun Gothic"/>
              </a:rPr>
              <a:t>● </a:t>
            </a:r>
            <a:r>
              <a:rPr sz="1250">
                <a:solidFill>
                  <a:srgbClr val="334155"/>
                </a:solidFill>
                <a:latin typeface="Malgun Gothic"/>
              </a:rPr>
              <a:t>Center: the tool you pick from the top tabs (board, materials, video…) opens here.</a:t>
            </a:r>
          </a:p>
          <a:p>
            <a:pPr>
              <a:lnSpc>
                <a:spcPct val="115000"/>
              </a:lnSpc>
              <a:spcAft>
                <a:spcPts val="600"/>
              </a:spcAft>
            </a:pPr>
            <a:r>
              <a:rPr sz="1050" b="1">
                <a:solidFill>
                  <a:srgbClr val="EA580C"/>
                </a:solidFill>
                <a:latin typeface="Malgun Gothic"/>
              </a:rPr>
              <a:t>● </a:t>
            </a:r>
            <a:r>
              <a:rPr sz="1250">
                <a:solidFill>
                  <a:srgbClr val="334155"/>
                </a:solidFill>
                <a:latin typeface="Malgun Gothic"/>
              </a:rPr>
              <a:t>Bottom-center: the control dock — camera, screen share, chat and leave buttons.</a:t>
            </a:r>
          </a:p>
          <a:p>
            <a:pPr>
              <a:lnSpc>
                <a:spcPct val="115000"/>
              </a:lnSpc>
              <a:spcAft>
                <a:spcPts val="600"/>
              </a:spcAft>
            </a:pPr>
            <a:r>
              <a:rPr sz="1050" b="1">
                <a:solidFill>
                  <a:srgbClr val="EA580C"/>
                </a:solidFill>
                <a:latin typeface="Malgun Gothic"/>
              </a:rPr>
              <a:t>● </a:t>
            </a:r>
            <a:r>
              <a:rPr sz="1250">
                <a:solidFill>
                  <a:srgbClr val="334155"/>
                </a:solidFill>
                <a:latin typeface="Malgun Gothic"/>
              </a:rPr>
              <a:t>Small window, top-left: your face video and the 🧺 praise basket (how many praises you received).</a:t>
            </a:r>
          </a:p>
        </p:txBody>
      </p:sp>
      <p:sp>
        <p:nvSpPr>
          <p:cNvPr id="14" name="Rounded Rectangle 13"/>
          <p:cNvSpPr/>
          <p:nvPr/>
        </p:nvSpPr>
        <p:spPr>
          <a:xfrm>
            <a:off x="457200" y="5166360"/>
            <a:ext cx="5669280" cy="1316736"/>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Hover over a button to see its name (tooltip).</a:t>
            </a:r>
          </a:p>
          <a:p>
            <a:pPr>
              <a:lnSpc>
                <a:spcPct val="115000"/>
              </a:lnSpc>
              <a:spcAft>
                <a:spcPts val="200"/>
              </a:spcAft>
            </a:pPr>
            <a:r>
              <a:rPr sz="900" b="1">
                <a:solidFill>
                  <a:srgbClr val="EA580C"/>
                </a:solidFill>
                <a:latin typeface="Malgun Gothic"/>
              </a:rPr>
              <a:t>● </a:t>
            </a:r>
            <a:r>
              <a:rPr sz="1100">
                <a:solidFill>
                  <a:srgbClr val="334155"/>
                </a:solidFill>
                <a:latin typeface="Malgun Gothic"/>
              </a:rPr>
              <a:t>If text looks Korean, press EN at the top-right to switch language.</a:t>
            </a:r>
          </a:p>
          <a:p>
            <a:pPr>
              <a:lnSpc>
                <a:spcPct val="115000"/>
              </a:lnSpc>
              <a:spcAft>
                <a:spcPts val="200"/>
              </a:spcAft>
            </a:pPr>
            <a:r>
              <a:rPr sz="900" b="1">
                <a:solidFill>
                  <a:srgbClr val="EA580C"/>
                </a:solidFill>
                <a:latin typeface="Malgun Gothic"/>
              </a:rPr>
              <a:t>● </a:t>
            </a:r>
            <a:r>
              <a:rPr sz="1100">
                <a:solidFill>
                  <a:srgbClr val="334155"/>
                </a:solidFill>
                <a:latin typeface="Malgun Gothic"/>
              </a:rPr>
              <a:t>If the screen is too bright, switch to 🌙 Dark.</a:t>
            </a:r>
          </a:p>
        </p:txBody>
      </p:sp>
      <p:sp>
        <p:nvSpPr>
          <p:cNvPr id="17" name="Rounded Rectangle 16"/>
          <p:cNvSpPr/>
          <p:nvPr/>
        </p:nvSpPr>
        <p:spPr>
          <a:xfrm>
            <a:off x="457200" y="6592824"/>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It looks like a lot of buttons at first, but the four you use most are board, materials, camera and chat.</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base.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Switching the 6 Top Tabs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Board · Video · Games · Background · AI Warm-up · Review Quiz</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At the top of the center workspace there are six tab buttons. Click one to switch to that tool. The active tab is highlighted.</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 Board: a whiteboard for writing and drawing while explaining.</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Video: watch a YouTube link or a video file together.</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Games: open learning games during class (may be limited during lesson time).</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Background: change the backdrop behind your video and decorate your face.</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AI Warm-up: an English warm-up before the lesson.</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Review Quiz: an AI-made quiz matched to this lesson's textbook and level.</a:t>
            </a:r>
          </a:p>
        </p:txBody>
      </p:sp>
      <p:sp>
        <p:nvSpPr>
          <p:cNvPr id="14" name="Rounded Rectangle 13"/>
          <p:cNvSpPr/>
          <p:nvPr/>
        </p:nvSpPr>
        <p:spPr>
          <a:xfrm>
            <a:off x="457200" y="5550408"/>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605272"/>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5879592"/>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Your face video stays visible even after switching tabs.</a:t>
            </a:r>
          </a:p>
          <a:p>
            <a:pPr>
              <a:lnSpc>
                <a:spcPct val="115000"/>
              </a:lnSpc>
              <a:spcAft>
                <a:spcPts val="200"/>
              </a:spcAft>
            </a:pPr>
            <a:r>
              <a:rPr sz="900" b="1">
                <a:solidFill>
                  <a:srgbClr val="EA580C"/>
                </a:solidFill>
                <a:latin typeface="Malgun Gothic"/>
              </a:rPr>
              <a:t>● </a:t>
            </a:r>
            <a:r>
              <a:rPr sz="1100">
                <a:solidFill>
                  <a:srgbClr val="334155"/>
                </a:solidFill>
                <a:latin typeface="Malgun Gothic"/>
              </a:rPr>
              <a:t>At the far right of the tabs there are also 📚 Materials Tools ▾ and ✍️ Writing Tools ▾.</a:t>
            </a:r>
          </a:p>
        </p:txBody>
      </p:sp>
      <p:sp>
        <p:nvSpPr>
          <p:cNvPr id="17" name="Rounded Rectangle 16"/>
          <p:cNvSpPr/>
          <p:nvPr/>
        </p:nvSpPr>
        <p:spPr>
          <a:xfrm>
            <a:off x="457200" y="6665976"/>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711696"/>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Lessons mostly use the 🖊 Board and 📚 Materials the most.</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whiteboard.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Board Tools, One by One</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Pen · eraser · shapes · text · save</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Open the 🖊 Board tab and a row of drawing tools appears at the top. Let's go through each button from left to right.</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 Pen: draw freely. / 🧽 Eraser: erase what you drew.</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Line / ⬜ Rectangle / ⭕ Circle: draw straight lines and shapes.</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Text: type letters with the keyboard.</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Color (color box): pick the pen color. / Thickness (slider): adjust line width.</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AI Shapes: even rough drawings snap into neat shapes automatically.</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AI Text: recognizes handwriting and turns it into clean typed text.</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Clear All: wipe the whole board. / 💾 Save: save the board as an image.</a:t>
            </a:r>
          </a:p>
        </p:txBody>
      </p:sp>
      <p:sp>
        <p:nvSpPr>
          <p:cNvPr id="14" name="Rounded Rectangle 13"/>
          <p:cNvSpPr/>
          <p:nvPr/>
        </p:nvSpPr>
        <p:spPr>
          <a:xfrm>
            <a:off x="457200" y="5934456"/>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989320"/>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6263640"/>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Change color and thickness to highlight key parts so they stick.</a:t>
            </a:r>
          </a:p>
          <a:p>
            <a:pPr>
              <a:lnSpc>
                <a:spcPct val="115000"/>
              </a:lnSpc>
              <a:spcAft>
                <a:spcPts val="200"/>
              </a:spcAft>
            </a:pPr>
            <a:r>
              <a:rPr sz="900" b="1">
                <a:solidFill>
                  <a:srgbClr val="EA580C"/>
                </a:solidFill>
                <a:latin typeface="Malgun Gothic"/>
              </a:rPr>
              <a:t>● </a:t>
            </a:r>
            <a:r>
              <a:rPr sz="1100">
                <a:solidFill>
                  <a:srgbClr val="334155"/>
                </a:solidFill>
                <a:latin typeface="Malgun Gothic"/>
              </a:rPr>
              <a:t>AI Shapes / AI Text auto-tidy when turned on (experimental).</a:t>
            </a:r>
          </a:p>
        </p:txBody>
      </p:sp>
      <p:sp>
        <p:nvSpPr>
          <p:cNvPr id="17" name="Rounded Rectangle 16"/>
          <p:cNvSpPr/>
          <p:nvPr/>
        </p:nvSpPr>
        <p:spPr>
          <a:xfrm>
            <a:off x="457200" y="7050024"/>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7095744"/>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Pressing Save (💾) downloads the current board as an image you can use for review.</a:t>
            </a:r>
          </a:p>
        </p:txBody>
      </p:sp>
      <p:sp>
        <p:nvSpPr>
          <p:cNvPr id="19" name="Rounded Rectangle 18"/>
          <p:cNvSpPr/>
          <p:nvPr/>
        </p:nvSpPr>
        <p:spPr>
          <a:xfrm>
            <a:off x="457200" y="7781544"/>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82726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Save (💾) the board before class ends to keep exactly what you learned today.</a:t>
            </a:r>
          </a:p>
        </p:txBody>
      </p:sp>
      <p:sp>
        <p:nvSpPr>
          <p:cNvPr id="21" name="Rectangle 20"/>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room_whiteboard.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Materials Tools (share PDF/photos)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Upload · library · turn pages</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Click 📚 Materials Tools ▾ at the right of the tabs and a menu drops down. This is where you upload textbooks (PDF/photos) to view together.</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 Upload (PDF/JPG/PNG): upload a textbook file from your device to share.</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Library: pick from textbooks the academy (admin) uploaded.</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Download: download the file you're currently viewing.</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Prev / Next ▶: turn textbook pages.</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Fit / 100% / 1:1: fit the page to the screen or view at real size.</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Stop sharing: end textbook sharing.</a:t>
            </a:r>
          </a:p>
        </p:txBody>
      </p:sp>
      <p:sp>
        <p:nvSpPr>
          <p:cNvPr id="14" name="Rounded Rectangle 13"/>
          <p:cNvSpPr/>
          <p:nvPr/>
        </p:nvSpPr>
        <p:spPr>
          <a:xfrm>
            <a:off x="457200" y="5550408"/>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605272"/>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5879592"/>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The moment you upload, the other person sees the exact same page.</a:t>
            </a:r>
          </a:p>
          <a:p>
            <a:pPr>
              <a:lnSpc>
                <a:spcPct val="115000"/>
              </a:lnSpc>
              <a:spcAft>
                <a:spcPts val="200"/>
              </a:spcAft>
            </a:pPr>
            <a:r>
              <a:rPr sz="900" b="1">
                <a:solidFill>
                  <a:srgbClr val="EA580C"/>
                </a:solidFill>
                <a:latin typeface="Malgun Gothic"/>
              </a:rPr>
              <a:t>● </a:t>
            </a:r>
            <a:r>
              <a:rPr sz="1100">
                <a:solidFill>
                  <a:srgbClr val="334155"/>
                </a:solidFill>
                <a:latin typeface="Malgun Gothic"/>
              </a:rPr>
              <a:t>Not only PDFs — JPG and PNG photos work too.</a:t>
            </a:r>
          </a:p>
        </p:txBody>
      </p:sp>
      <p:sp>
        <p:nvSpPr>
          <p:cNvPr id="17" name="Rounded Rectangle 16"/>
          <p:cNvSpPr/>
          <p:nvPr/>
        </p:nvSpPr>
        <p:spPr>
          <a:xfrm>
            <a:off x="457200" y="6665976"/>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711696"/>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Upload the textbook before class for a smooth start.</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materials_dock.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Writing Tools (annotate on top)</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Pen · highlighter · text · undo</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Click ✍️ Writing Tools ▾ at the right of the tabs and the writing menu drops down. Use it to write directly on top of a textbook or the screen.</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 Pen: write freely on the screen. / 🖍 Highlighter: brightly mark important spots.</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Eraser: erase your writing. / 📝 Text: type letters.</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AI Shapes: tidy your drawn shapes.</a:t>
            </a:r>
          </a:p>
          <a:p>
            <a:pPr>
              <a:lnSpc>
                <a:spcPct val="115000"/>
              </a:lnSpc>
              <a:spcAft>
                <a:spcPts val="600"/>
              </a:spcAft>
            </a:pPr>
            <a:r>
              <a:rPr sz="1050" b="1">
                <a:solidFill>
                  <a:srgbClr val="EA580C"/>
                </a:solidFill>
                <a:latin typeface="Malgun Gothic"/>
              </a:rPr>
              <a:t>● </a:t>
            </a:r>
            <a:r>
              <a:rPr sz="1250">
                <a:solidFill>
                  <a:srgbClr val="334155"/>
                </a:solidFill>
                <a:latin typeface="Malgun Gothic"/>
              </a:rPr>
              <a:t>Thickness (slider): adjust the pen width.</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Undo: cancel your last mark. / 🗑 Clear: erase all writing.</a:t>
            </a:r>
          </a:p>
        </p:txBody>
      </p:sp>
      <p:sp>
        <p:nvSpPr>
          <p:cNvPr id="14" name="Rounded Rectangle 13"/>
          <p:cNvSpPr/>
          <p:nvPr/>
        </p:nvSpPr>
        <p:spPr>
          <a:xfrm>
            <a:off x="457200" y="5166360"/>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5495544"/>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With a textbook open, your writing appears right on top of it.</a:t>
            </a:r>
          </a:p>
          <a:p>
            <a:pPr>
              <a:lnSpc>
                <a:spcPct val="115000"/>
              </a:lnSpc>
              <a:spcAft>
                <a:spcPts val="200"/>
              </a:spcAft>
            </a:pPr>
            <a:r>
              <a:rPr sz="900" b="1">
                <a:solidFill>
                  <a:srgbClr val="EA580C"/>
                </a:solidFill>
                <a:latin typeface="Malgun Gothic"/>
              </a:rPr>
              <a:t>● </a:t>
            </a:r>
            <a:r>
              <a:rPr sz="1100">
                <a:solidFill>
                  <a:srgbClr val="334155"/>
                </a:solidFill>
                <a:latin typeface="Malgun Gothic"/>
              </a:rPr>
              <a:t>Highlight key words to make them stand out.</a:t>
            </a:r>
          </a:p>
        </p:txBody>
      </p:sp>
      <p:sp>
        <p:nvSpPr>
          <p:cNvPr id="17" name="Rounded Rectangle 16"/>
          <p:cNvSpPr/>
          <p:nvPr/>
        </p:nvSpPr>
        <p:spPr>
          <a:xfrm>
            <a:off x="457200" y="6281928"/>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327648"/>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Made a mistake? One tap on ↩ Undo cleans it up.</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write_dock.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Watch Video Together</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Share YouTube · video files</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In the 📹 Video tab you can paste a YouTube link or upload a video file to watch together — great for songs and video materials.</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Paste a YouTube link (URL) into the box, or upload a video file.</a:t>
            </a:r>
          </a:p>
          <a:p>
            <a:pPr>
              <a:lnSpc>
                <a:spcPct val="115000"/>
              </a:lnSpc>
              <a:spcAft>
                <a:spcPts val="600"/>
              </a:spcAft>
            </a:pPr>
            <a:r>
              <a:rPr sz="1050" b="1">
                <a:solidFill>
                  <a:srgbClr val="EA580C"/>
                </a:solidFill>
                <a:latin typeface="Malgun Gothic"/>
              </a:rPr>
              <a:t>● </a:t>
            </a:r>
            <a:r>
              <a:rPr sz="1250">
                <a:solidFill>
                  <a:srgbClr val="334155"/>
                </a:solidFill>
                <a:latin typeface="Malgun Gothic"/>
              </a:rPr>
              <a:t>Press ▶ Play URL / Play to start the video.</a:t>
            </a:r>
          </a:p>
          <a:p>
            <a:pPr>
              <a:lnSpc>
                <a:spcPct val="115000"/>
              </a:lnSpc>
              <a:spcAft>
                <a:spcPts val="600"/>
              </a:spcAft>
            </a:pPr>
            <a:r>
              <a:rPr sz="1050" b="1">
                <a:solidFill>
                  <a:srgbClr val="EA580C"/>
                </a:solidFill>
                <a:latin typeface="Malgun Gothic"/>
              </a:rPr>
              <a:t>● </a:t>
            </a:r>
            <a:r>
              <a:rPr sz="1250">
                <a:solidFill>
                  <a:srgbClr val="334155"/>
                </a:solidFill>
                <a:latin typeface="Malgun Gothic"/>
              </a:rPr>
              <a:t>Use New video to switch to a different one.</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The video plays on the other person's screen too.</a:t>
            </a:r>
          </a:p>
          <a:p>
            <a:pPr>
              <a:lnSpc>
                <a:spcPct val="115000"/>
              </a:lnSpc>
              <a:spcAft>
                <a:spcPts val="200"/>
              </a:spcAft>
            </a:pPr>
            <a:r>
              <a:rPr sz="900" b="1">
                <a:solidFill>
                  <a:srgbClr val="EA580C"/>
                </a:solidFill>
                <a:latin typeface="Malgun Gothic"/>
              </a:rPr>
              <a:t>● </a:t>
            </a:r>
            <a:r>
              <a:rPr sz="1100">
                <a:solidFill>
                  <a:srgbClr val="334155"/>
                </a:solidFill>
                <a:latin typeface="Malgun Gothic"/>
              </a:rPr>
              <a:t>For sound-heavy material, earphones help you hear better.</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Prepare the video link in advance so you can play it instantly in class.</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video.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Background &amp; Face Decorations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Change backdrop · masks · accessories</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In the 🎨 Background tab you can change the backdrop behind your face and add fun decorations. Just click what you want in the grid.</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In the background grid, tap a backdrop (space, desert, forest, cherry blossom, beach, pyramids…).</a:t>
            </a:r>
          </a:p>
          <a:p>
            <a:pPr>
              <a:lnSpc>
                <a:spcPct val="115000"/>
              </a:lnSpc>
              <a:spcAft>
                <a:spcPts val="600"/>
              </a:spcAft>
            </a:pPr>
            <a:r>
              <a:rPr sz="1050" b="1">
                <a:solidFill>
                  <a:srgbClr val="EA580C"/>
                </a:solidFill>
                <a:latin typeface="Malgun Gothic"/>
              </a:rPr>
              <a:t>● </a:t>
            </a:r>
            <a:r>
              <a:rPr sz="1250">
                <a:solidFill>
                  <a:srgbClr val="334155"/>
                </a:solidFill>
                <a:latin typeface="Malgun Gothic"/>
              </a:rPr>
              <a:t>Tap Background off to return to your normal camera view.</a:t>
            </a:r>
          </a:p>
          <a:p>
            <a:pPr>
              <a:lnSpc>
                <a:spcPct val="115000"/>
              </a:lnSpc>
              <a:spcAft>
                <a:spcPts val="600"/>
              </a:spcAft>
            </a:pPr>
            <a:r>
              <a:rPr sz="1050" b="1">
                <a:solidFill>
                  <a:srgbClr val="EA580C"/>
                </a:solidFill>
                <a:latin typeface="Malgun Gothic"/>
              </a:rPr>
              <a:t>● </a:t>
            </a:r>
            <a:r>
              <a:rPr sz="1250">
                <a:solidFill>
                  <a:srgbClr val="334155"/>
                </a:solidFill>
                <a:latin typeface="Malgun Gothic"/>
              </a:rPr>
              <a:t>Below, in Face Decorations (masks/accessories), pick glasses, hats, animals and more.</a:t>
            </a:r>
          </a:p>
          <a:p>
            <a:pPr>
              <a:lnSpc>
                <a:spcPct val="115000"/>
              </a:lnSpc>
              <a:spcAft>
                <a:spcPts val="600"/>
              </a:spcAft>
            </a:pPr>
            <a:r>
              <a:rPr sz="1050" b="1">
                <a:solidFill>
                  <a:srgbClr val="EA580C"/>
                </a:solidFill>
                <a:latin typeface="Malgun Gothic"/>
              </a:rPr>
              <a:t>● </a:t>
            </a:r>
            <a:r>
              <a:rPr sz="1250">
                <a:solidFill>
                  <a:srgbClr val="334155"/>
                </a:solidFill>
                <a:latin typeface="Malgun Gothic"/>
              </a:rPr>
              <a:t>Don't like it? Tap again to turn it off.</a:t>
            </a:r>
          </a:p>
        </p:txBody>
      </p:sp>
      <p:sp>
        <p:nvSpPr>
          <p:cNvPr id="14" name="Rounded Rectangle 13"/>
          <p:cNvSpPr/>
          <p:nvPr/>
        </p:nvSpPr>
        <p:spPr>
          <a:xfrm>
            <a:off x="457200" y="4782312"/>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Changing the background keeps your face visible.</a:t>
            </a:r>
          </a:p>
          <a:p>
            <a:pPr>
              <a:lnSpc>
                <a:spcPct val="115000"/>
              </a:lnSpc>
              <a:spcAft>
                <a:spcPts val="200"/>
              </a:spcAft>
            </a:pPr>
            <a:r>
              <a:rPr sz="900" b="1">
                <a:solidFill>
                  <a:srgbClr val="EA580C"/>
                </a:solidFill>
                <a:latin typeface="Malgun Gothic"/>
              </a:rPr>
              <a:t>● </a:t>
            </a:r>
            <a:r>
              <a:rPr sz="1100">
                <a:solidFill>
                  <a:srgbClr val="334155"/>
                </a:solidFill>
                <a:latin typeface="Malgun Gothic"/>
              </a:rPr>
              <a:t>Very flashy decorations can distract from the lesson.</a:t>
            </a:r>
          </a:p>
        </p:txBody>
      </p:sp>
      <p:sp>
        <p:nvSpPr>
          <p:cNvPr id="17" name="Rounded Rectangle 16"/>
          <p:cNvSpPr/>
          <p:nvPr/>
        </p:nvSpPr>
        <p:spPr>
          <a:xfrm>
            <a:off x="457200" y="5897879"/>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Use a clean background for class and fun decorations for break time.</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bg.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Resize &amp; Arrange the Screen</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1/4 · 1/2 · 3/4 · Full · PIP · Solo · Free</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The size bar above the video lets you change the size and layout of your face-video window. The current size is shown in blue.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1/4 · 1/2 · 3/4 · Full: make the video window 1/4 up to full-screen.</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PIP: float the video as a small overlay on top of the board/materials.</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Solo: hide others and see only your own screen larger.</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Free: drag the title bar to move it, drag the bottom-right corner to resize freely.</a:t>
            </a:r>
          </a:p>
        </p:txBody>
      </p:sp>
      <p:sp>
        <p:nvSpPr>
          <p:cNvPr id="14" name="Rounded Rectangle 13"/>
          <p:cNvSpPr/>
          <p:nvPr/>
        </p:nvSpPr>
        <p:spPr>
          <a:xfrm>
            <a:off x="457200" y="4782312"/>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Make the video small (1/4) when reading materials, large (Full) when presenting.</a:t>
            </a:r>
          </a:p>
          <a:p>
            <a:pPr>
              <a:lnSpc>
                <a:spcPct val="115000"/>
              </a:lnSpc>
              <a:spcAft>
                <a:spcPts val="200"/>
              </a:spcAft>
            </a:pPr>
            <a:r>
              <a:rPr sz="900" b="1">
                <a:solidFill>
                  <a:srgbClr val="EA580C"/>
                </a:solidFill>
                <a:latin typeface="Malgun Gothic"/>
              </a:rPr>
              <a:t>● </a:t>
            </a:r>
            <a:r>
              <a:rPr sz="1100">
                <a:solidFill>
                  <a:srgbClr val="334155"/>
                </a:solidFill>
                <a:latin typeface="Malgun Gothic"/>
              </a:rPr>
              <a:t>📌 PIP is great when you want to see the textbook and faces at once.</a:t>
            </a:r>
          </a:p>
        </p:txBody>
      </p:sp>
      <p:sp>
        <p:nvSpPr>
          <p:cNvPr id="17" name="Rounded Rectangle 16"/>
          <p:cNvSpPr/>
          <p:nvPr/>
        </p:nvSpPr>
        <p:spPr>
          <a:xfrm>
            <a:off x="457200" y="5897879"/>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On a small screen, shrink the video to 1/4 and view the textbook large.</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layout_full.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Praise Points During Class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Teacher gives → +1P in student's basket</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When you do well, the teacher can give praise points on the spot. When the teacher taps the 🌟 'Praise' star button on your video, that student instantly gets +1P, and it piles up in real time in the 🧺 point basket on the student's screen.</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Teacher: tap the 🌟 'Praise' button at the top-left of a student's video → that student gets +1P. (the count builds up next to the star)</a:t>
            </a:r>
          </a:p>
          <a:p>
            <a:pPr>
              <a:lnSpc>
                <a:spcPct val="115000"/>
              </a:lnSpc>
              <a:spcAft>
                <a:spcPts val="600"/>
              </a:spcAft>
            </a:pPr>
            <a:r>
              <a:rPr sz="1050" b="1">
                <a:solidFill>
                  <a:srgbClr val="EA580C"/>
                </a:solidFill>
                <a:latin typeface="Malgun Gothic"/>
              </a:rPr>
              <a:t>● </a:t>
            </a:r>
            <a:r>
              <a:rPr sz="1250">
                <a:solidFill>
                  <a:srgbClr val="334155"/>
                </a:solidFill>
                <a:latin typeface="Malgun Gothic"/>
              </a:rPr>
              <a:t>With several students, you can also pick a student from the 'Give Praise' bar.</a:t>
            </a:r>
          </a:p>
          <a:p>
            <a:pPr>
              <a:lnSpc>
                <a:spcPct val="115000"/>
              </a:lnSpc>
              <a:spcAft>
                <a:spcPts val="600"/>
              </a:spcAft>
            </a:pPr>
            <a:r>
              <a:rPr sz="1050" b="1">
                <a:solidFill>
                  <a:srgbClr val="EA580C"/>
                </a:solidFill>
                <a:latin typeface="Malgun Gothic"/>
              </a:rPr>
              <a:t>● </a:t>
            </a:r>
            <a:r>
              <a:rPr sz="1250">
                <a:solidFill>
                  <a:srgbClr val="334155"/>
                </a:solidFill>
                <a:latin typeface="Malgun Gothic"/>
              </a:rPr>
              <a:t>Student: +1P flies into the 🧺 point basket at the top-left of your screen in real time.</a:t>
            </a:r>
          </a:p>
          <a:p>
            <a:pPr>
              <a:lnSpc>
                <a:spcPct val="115000"/>
              </a:lnSpc>
              <a:spcAft>
                <a:spcPts val="600"/>
              </a:spcAft>
            </a:pPr>
            <a:r>
              <a:rPr sz="1050" b="1">
                <a:solidFill>
                  <a:srgbClr val="EA580C"/>
                </a:solidFill>
                <a:latin typeface="Malgun Gothic"/>
              </a:rPr>
              <a:t>● </a:t>
            </a:r>
            <a:r>
              <a:rPr sz="1250">
                <a:solidFill>
                  <a:srgbClr val="334155"/>
                </a:solidFill>
                <a:latin typeface="Malgun Gothic"/>
              </a:rPr>
              <a:t>When class ends, the student leaves a star rating to get an extra +10P.</a:t>
            </a:r>
          </a:p>
          <a:p>
            <a:pPr>
              <a:lnSpc>
                <a:spcPct val="115000"/>
              </a:lnSpc>
              <a:spcAft>
                <a:spcPts val="600"/>
              </a:spcAft>
            </a:pPr>
            <a:r>
              <a:rPr sz="1050" b="1">
                <a:solidFill>
                  <a:srgbClr val="EA580C"/>
                </a:solidFill>
                <a:latin typeface="Malgun Gothic"/>
              </a:rPr>
              <a:t>● </a:t>
            </a:r>
            <a:r>
              <a:rPr sz="1250">
                <a:solidFill>
                  <a:srgbClr val="334155"/>
                </a:solidFill>
                <a:latin typeface="Malgun Gothic"/>
              </a:rPr>
              <a:t>Collected points are spent as rewards in the point shop, roulette, etc.</a:t>
            </a:r>
          </a:p>
        </p:txBody>
      </p:sp>
      <p:sp>
        <p:nvSpPr>
          <p:cNvPr id="14" name="Rounded Rectangle 13"/>
          <p:cNvSpPr/>
          <p:nvPr/>
        </p:nvSpPr>
        <p:spPr>
          <a:xfrm>
            <a:off x="457200" y="5166360"/>
            <a:ext cx="5669280" cy="1316736"/>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The more praise you get, the faster points pile up.</a:t>
            </a:r>
          </a:p>
          <a:p>
            <a:pPr>
              <a:lnSpc>
                <a:spcPct val="115000"/>
              </a:lnSpc>
              <a:spcAft>
                <a:spcPts val="200"/>
              </a:spcAft>
            </a:pPr>
            <a:r>
              <a:rPr sz="900" b="1">
                <a:solidFill>
                  <a:srgbClr val="EA580C"/>
                </a:solidFill>
                <a:latin typeface="Malgun Gothic"/>
              </a:rPr>
              <a:t>● </a:t>
            </a:r>
            <a:r>
              <a:rPr sz="1100">
                <a:solidFill>
                  <a:srgbClr val="334155"/>
                </a:solidFill>
                <a:latin typeface="Malgun Gothic"/>
              </a:rPr>
              <a:t>The praise star has an anti-spam cooldown, so it may briefly turn gray.</a:t>
            </a:r>
          </a:p>
          <a:p>
            <a:pPr>
              <a:lnSpc>
                <a:spcPct val="115000"/>
              </a:lnSpc>
              <a:spcAft>
                <a:spcPts val="200"/>
              </a:spcAft>
            </a:pPr>
            <a:r>
              <a:rPr sz="900" b="1">
                <a:solidFill>
                  <a:srgbClr val="EA580C"/>
                </a:solidFill>
                <a:latin typeface="Malgun Gothic"/>
              </a:rPr>
              <a:t>● </a:t>
            </a:r>
            <a:r>
              <a:rPr sz="1100">
                <a:solidFill>
                  <a:srgbClr val="334155"/>
                </a:solidFill>
                <a:latin typeface="Malgun Gothic"/>
              </a:rPr>
              <a:t>The basket shows points earned this class; your total P (top bar) is the running sum.</a:t>
            </a:r>
          </a:p>
        </p:txBody>
      </p:sp>
      <p:sp>
        <p:nvSpPr>
          <p:cNvPr id="17" name="Rounded Rectangle 16"/>
          <p:cNvSpPr/>
          <p:nvPr/>
        </p:nvSpPr>
        <p:spPr>
          <a:xfrm>
            <a:off x="457200" y="6592824"/>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Praise points are given by the teacher — students can't add them by themselves.</a:t>
            </a:r>
          </a:p>
        </p:txBody>
      </p:sp>
      <p:sp>
        <p:nvSpPr>
          <p:cNvPr id="19" name="Rounded Rectangle 18"/>
          <p:cNvSpPr/>
          <p:nvPr/>
        </p:nvSpPr>
        <p:spPr>
          <a:xfrm>
            <a:off x="457200" y="7324344"/>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37006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Teachers: praise 🌟 the moment a student does well — instant rewards motivate best.</a:t>
            </a:r>
          </a:p>
        </p:txBody>
      </p:sp>
      <p:sp>
        <p:nvSpPr>
          <p:cNvPr id="21" name="Rectangle 20"/>
          <p:cNvSpPr/>
          <p:nvPr/>
        </p:nvSpPr>
        <p:spPr>
          <a:xfrm>
            <a:off x="6300216" y="3266070"/>
            <a:ext cx="5596128" cy="169745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lass_praise.jpg"/>
          <p:cNvPicPr>
            <a:picLocks noChangeAspect="1"/>
          </p:cNvPicPr>
          <p:nvPr/>
        </p:nvPicPr>
        <p:blipFill>
          <a:blip r:embed="rId2"/>
          <a:stretch>
            <a:fillRect/>
          </a:stretch>
        </p:blipFill>
        <p:spPr>
          <a:xfrm>
            <a:off x="6355080" y="3320934"/>
            <a:ext cx="5486400" cy="158773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Bottom Dock &amp; Praise Basket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Camera · screen share · chat · leave · praise</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The control dock at the bottom-center holds the buttons you use most during class. Let's also look at the small 🧺 praise basket at the top-left.</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 Settings: pick camera/mic devices and check their status.</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Camera / 🎤 Mic: turn your face and sound on/off.</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Screen Share: show your computer screen to the other person.</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Chat: talk in text (great for words and links).</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Native: call the native-speaker helper / interpreter feature.</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Leave: end the lesson and exit the room.</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Praise Basket (top-left): the praise (stars/stickers) you receive during class collects here.</a:t>
            </a:r>
          </a:p>
        </p:txBody>
      </p:sp>
      <p:sp>
        <p:nvSpPr>
          <p:cNvPr id="14" name="Rounded Rectangle 13"/>
          <p:cNvSpPr/>
          <p:nvPr/>
        </p:nvSpPr>
        <p:spPr>
          <a:xfrm>
            <a:off x="457200" y="5934456"/>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989320"/>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6263640"/>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Before leaving (🚪), make sure you saved the board / notes.</a:t>
            </a:r>
          </a:p>
          <a:p>
            <a:pPr>
              <a:lnSpc>
                <a:spcPct val="115000"/>
              </a:lnSpc>
              <a:spcAft>
                <a:spcPts val="200"/>
              </a:spcAft>
            </a:pPr>
            <a:r>
              <a:rPr sz="900" b="1">
                <a:solidFill>
                  <a:srgbClr val="EA580C"/>
                </a:solidFill>
                <a:latin typeface="Malgun Gothic"/>
              </a:rPr>
              <a:t>● </a:t>
            </a:r>
            <a:r>
              <a:rPr sz="1100">
                <a:solidFill>
                  <a:srgbClr val="334155"/>
                </a:solidFill>
                <a:latin typeface="Malgun Gothic"/>
              </a:rPr>
              <a:t>No sound? Check the mic/speaker devices in ⚙️ Settings.</a:t>
            </a:r>
          </a:p>
        </p:txBody>
      </p:sp>
      <p:sp>
        <p:nvSpPr>
          <p:cNvPr id="17" name="Rounded Rectangle 16"/>
          <p:cNvSpPr/>
          <p:nvPr/>
        </p:nvSpPr>
        <p:spPr>
          <a:xfrm>
            <a:off x="457200" y="7050024"/>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7095744"/>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Screen share asks the browser which window to share — pick the screen and allow it.</a:t>
            </a:r>
          </a:p>
        </p:txBody>
      </p:sp>
      <p:sp>
        <p:nvSpPr>
          <p:cNvPr id="19" name="Rounded Rectangle 18"/>
          <p:cNvSpPr/>
          <p:nvPr/>
        </p:nvSpPr>
        <p:spPr>
          <a:xfrm>
            <a:off x="457200" y="7781544"/>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82726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When your praise basket fills up, it means you're doing great!</a:t>
            </a:r>
          </a:p>
        </p:txBody>
      </p:sp>
      <p:sp>
        <p:nvSpPr>
          <p:cNvPr id="21" name="Rectangle 20"/>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room_base.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Pre-upload Materials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Prepare lesson files in advance</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Pre-upload lesson files to the materials uploader so you can share them instantly in class. Being prepared makes the lesson far smoother.</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Drag files into or select them in the materials uploader to upload.</a:t>
            </a:r>
          </a:p>
          <a:p>
            <a:pPr>
              <a:lnSpc>
                <a:spcPct val="115000"/>
              </a:lnSpc>
              <a:spcAft>
                <a:spcPts val="600"/>
              </a:spcAft>
            </a:pPr>
            <a:r>
              <a:rPr sz="1050" b="1">
                <a:solidFill>
                  <a:srgbClr val="EA580C"/>
                </a:solidFill>
                <a:latin typeface="Malgun Gothic"/>
              </a:rPr>
              <a:t>● </a:t>
            </a:r>
            <a:r>
              <a:rPr sz="1250">
                <a:solidFill>
                  <a:srgbClr val="334155"/>
                </a:solidFill>
                <a:latin typeface="Malgun Gothic"/>
              </a:rPr>
              <a:t>Review uploaded materials in the materials viewer.</a:t>
            </a:r>
          </a:p>
          <a:p>
            <a:pPr>
              <a:lnSpc>
                <a:spcPct val="115000"/>
              </a:lnSpc>
              <a:spcAft>
                <a:spcPts val="600"/>
              </a:spcAft>
            </a:pPr>
            <a:r>
              <a:rPr sz="1050" b="1">
                <a:solidFill>
                  <a:srgbClr val="EA580C"/>
                </a:solidFill>
                <a:latin typeface="Malgun Gothic"/>
              </a:rPr>
              <a:t>● </a:t>
            </a:r>
            <a:r>
              <a:rPr sz="1250">
                <a:solidFill>
                  <a:srgbClr val="334155"/>
                </a:solidFill>
                <a:latin typeface="Malgun Gothic"/>
              </a:rPr>
              <a:t>In class, bring them up instantly via materials-tab sharing.</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Uploading before class saves time.</a:t>
            </a:r>
          </a:p>
          <a:p>
            <a:pPr>
              <a:lnSpc>
                <a:spcPct val="115000"/>
              </a:lnSpc>
              <a:spcAft>
                <a:spcPts val="200"/>
              </a:spcAft>
            </a:pPr>
            <a:r>
              <a:rPr sz="900" b="1">
                <a:solidFill>
                  <a:srgbClr val="EA580C"/>
                </a:solidFill>
                <a:latin typeface="Malgun Gothic"/>
              </a:rPr>
              <a:t>● </a:t>
            </a:r>
            <a:r>
              <a:rPr sz="1100">
                <a:solidFill>
                  <a:srgbClr val="334155"/>
                </a:solidFill>
                <a:latin typeface="Malgun Gothic"/>
              </a:rPr>
              <a:t>Both PDFs and images are supported.</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Naming files by lesson number makes them easy to find.</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eacher_textbook_uploa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Start with the AI Warm-up</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A 3-minute icebreaker</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Use the student's pre-class AI warm-up to open the conversation naturally. The warm-up is tied to today's textbook, so it leads straight into the main lesson.</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Open the conversation using the student's AI warm-up content.</a:t>
            </a:r>
          </a:p>
          <a:p>
            <a:pPr>
              <a:lnSpc>
                <a:spcPct val="115000"/>
              </a:lnSpc>
              <a:spcAft>
                <a:spcPts val="600"/>
              </a:spcAft>
            </a:pPr>
            <a:r>
              <a:rPr sz="1050" b="1">
                <a:solidFill>
                  <a:srgbClr val="EA580C"/>
                </a:solidFill>
                <a:latin typeface="Malgun Gothic"/>
              </a:rPr>
              <a:t>● </a:t>
            </a:r>
            <a:r>
              <a:rPr sz="1250">
                <a:solidFill>
                  <a:srgbClr val="334155"/>
                </a:solidFill>
                <a:latin typeface="Malgun Gothic"/>
              </a:rPr>
              <a:t>Carry the warm-up questions into the main lesson topic.</a:t>
            </a:r>
          </a:p>
          <a:p>
            <a:pPr>
              <a:lnSpc>
                <a:spcPct val="115000"/>
              </a:lnSpc>
              <a:spcAft>
                <a:spcPts val="600"/>
              </a:spcAft>
            </a:pPr>
            <a:r>
              <a:rPr sz="1050" b="1">
                <a:solidFill>
                  <a:srgbClr val="EA580C"/>
                </a:solidFill>
                <a:latin typeface="Malgun Gothic"/>
              </a:rPr>
              <a:t>● </a:t>
            </a:r>
            <a:r>
              <a:rPr sz="1250">
                <a:solidFill>
                  <a:srgbClr val="334155"/>
                </a:solidFill>
                <a:latin typeface="Malgun Gothic"/>
              </a:rPr>
              <a:t>For students who skipped it, ease in with 1–2 light questions.</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Mentioning the warm-up raises student engagement.</a:t>
            </a:r>
          </a:p>
          <a:p>
            <a:pPr>
              <a:lnSpc>
                <a:spcPct val="115000"/>
              </a:lnSpc>
              <a:spcAft>
                <a:spcPts val="200"/>
              </a:spcAft>
            </a:pPr>
            <a:r>
              <a:rPr sz="900" b="1">
                <a:solidFill>
                  <a:srgbClr val="EA580C"/>
                </a:solidFill>
                <a:latin typeface="Malgun Gothic"/>
              </a:rPr>
              <a:t>● </a:t>
            </a:r>
            <a:r>
              <a:rPr sz="1100">
                <a:solidFill>
                  <a:srgbClr val="334155"/>
                </a:solidFill>
                <a:latin typeface="Malgun Gothic"/>
              </a:rPr>
              <a:t>A smooth intro improves the lesson rhythm.</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'You said … in the warm-up, right?' instantly breaks the ice.</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warmup.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Use the Pronunciation Coach</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Correct with the AI voice coach</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Practice AI voice-coach sentences with students who struggle with pronunciation. Guide them to self-correct through record → score → replay.</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Pick voice-coach sentences at the student's level together.</a:t>
            </a:r>
          </a:p>
          <a:p>
            <a:pPr>
              <a:lnSpc>
                <a:spcPct val="115000"/>
              </a:lnSpc>
              <a:spcAft>
                <a:spcPts val="600"/>
              </a:spcAft>
            </a:pPr>
            <a:r>
              <a:rPr sz="1050" b="1">
                <a:solidFill>
                  <a:srgbClr val="EA580C"/>
                </a:solidFill>
                <a:latin typeface="Malgun Gothic"/>
              </a:rPr>
              <a:t>● </a:t>
            </a:r>
            <a:r>
              <a:rPr sz="1250">
                <a:solidFill>
                  <a:srgbClr val="334155"/>
                </a:solidFill>
                <a:latin typeface="Malgun Gothic"/>
              </a:rPr>
              <a:t>Have them self-correct via record → score → replay.</a:t>
            </a:r>
          </a:p>
          <a:p>
            <a:pPr>
              <a:lnSpc>
                <a:spcPct val="115000"/>
              </a:lnSpc>
              <a:spcAft>
                <a:spcPts val="600"/>
              </a:spcAft>
            </a:pPr>
            <a:r>
              <a:rPr sz="1050" b="1">
                <a:solidFill>
                  <a:srgbClr val="EA580C"/>
                </a:solidFill>
                <a:latin typeface="Malgun Gothic"/>
              </a:rPr>
              <a:t>● </a:t>
            </a:r>
            <a:r>
              <a:rPr sz="1250">
                <a:solidFill>
                  <a:srgbClr val="334155"/>
                </a:solidFill>
                <a:latin typeface="Malgun Gothic"/>
              </a:rPr>
              <a:t>Link the lesson sentences to voice-coach homework.</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The 'lesson sentence → voice-coach repeat' routine is effective.</a:t>
            </a:r>
          </a:p>
          <a:p>
            <a:pPr>
              <a:lnSpc>
                <a:spcPct val="115000"/>
              </a:lnSpc>
              <a:spcAft>
                <a:spcPts val="200"/>
              </a:spcAft>
            </a:pPr>
            <a:r>
              <a:rPr sz="900" b="1">
                <a:solidFill>
                  <a:srgbClr val="EA580C"/>
                </a:solidFill>
                <a:latin typeface="Malgun Gothic"/>
              </a:rPr>
              <a:t>● </a:t>
            </a:r>
            <a:r>
              <a:rPr sz="1100">
                <a:solidFill>
                  <a:srgbClr val="334155"/>
                </a:solidFill>
                <a:latin typeface="Malgun Gothic"/>
              </a:rPr>
              <a:t>Scores give a sense of achievement to keep going.</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For tough sounds (r, th), repeat with short words first.</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speechcoach.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Write the Lesson Review</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Record post-class feedback</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After class, record today's lesson in the review. Leave per-item stars and comments on strengths and areas to improve; it's reflected in the parent my-page and reports.</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Record today's lesson on the review screen.</a:t>
            </a:r>
          </a:p>
          <a:p>
            <a:pPr>
              <a:lnSpc>
                <a:spcPct val="115000"/>
              </a:lnSpc>
              <a:spcAft>
                <a:spcPts val="600"/>
              </a:spcAft>
            </a:pPr>
            <a:r>
              <a:rPr sz="1050" b="1">
                <a:solidFill>
                  <a:srgbClr val="EA580C"/>
                </a:solidFill>
                <a:latin typeface="Malgun Gothic"/>
              </a:rPr>
              <a:t>● </a:t>
            </a:r>
            <a:r>
              <a:rPr sz="1250">
                <a:solidFill>
                  <a:srgbClr val="334155"/>
                </a:solidFill>
                <a:latin typeface="Malgun Gothic"/>
              </a:rPr>
              <a:t>Leave per-item stars and comments.</a:t>
            </a:r>
          </a:p>
          <a:p>
            <a:pPr>
              <a:lnSpc>
                <a:spcPct val="115000"/>
              </a:lnSpc>
              <a:spcAft>
                <a:spcPts val="600"/>
              </a:spcAft>
            </a:pPr>
            <a:r>
              <a:rPr sz="1050" b="1">
                <a:solidFill>
                  <a:srgbClr val="EA580C"/>
                </a:solidFill>
                <a:latin typeface="Malgun Gothic"/>
              </a:rPr>
              <a:t>● </a:t>
            </a:r>
            <a:r>
              <a:rPr sz="1250">
                <a:solidFill>
                  <a:srgbClr val="334155"/>
                </a:solidFill>
                <a:latin typeface="Malgun Gothic"/>
              </a:rPr>
              <a:t>Once saved, it's reflected in the report/parent page.</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One praise + one improvement, short and specific.</a:t>
            </a:r>
          </a:p>
          <a:p>
            <a:pPr>
              <a:lnSpc>
                <a:spcPct val="115000"/>
              </a:lnSpc>
              <a:spcAft>
                <a:spcPts val="200"/>
              </a:spcAft>
            </a:pPr>
            <a:r>
              <a:rPr sz="900" b="1">
                <a:solidFill>
                  <a:srgbClr val="EA580C"/>
                </a:solidFill>
                <a:latin typeface="Malgun Gothic"/>
              </a:rPr>
              <a:t>● </a:t>
            </a:r>
            <a:r>
              <a:rPr sz="1100">
                <a:solidFill>
                  <a:srgbClr val="334155"/>
                </a:solidFill>
                <a:latin typeface="Malgun Gothic"/>
              </a:rPr>
              <a:t>Writing right after class is most accurate.</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Adding a concrete example ('today's r sound was great') builds trust.</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eacher_eval.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Leave Student Praise</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Stars · stickers · comments</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On the Teacher Praise screen, pick the student and items and leave stars, stickers and comments. It shows to the student and parents and motivates them.</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Pick the student and items in Teacher Praise.</a:t>
            </a:r>
          </a:p>
          <a:p>
            <a:pPr>
              <a:lnSpc>
                <a:spcPct val="115000"/>
              </a:lnSpc>
              <a:spcAft>
                <a:spcPts val="600"/>
              </a:spcAft>
            </a:pPr>
            <a:r>
              <a:rPr sz="1050" b="1">
                <a:solidFill>
                  <a:srgbClr val="EA580C"/>
                </a:solidFill>
                <a:latin typeface="Malgun Gothic"/>
              </a:rPr>
              <a:t>● </a:t>
            </a:r>
            <a:r>
              <a:rPr sz="1250">
                <a:solidFill>
                  <a:srgbClr val="334155"/>
                </a:solidFill>
                <a:latin typeface="Malgun Gothic"/>
              </a:rPr>
              <a:t>Leave stars (7 items) and stickers/comments.</a:t>
            </a:r>
          </a:p>
          <a:p>
            <a:pPr>
              <a:lnSpc>
                <a:spcPct val="115000"/>
              </a:lnSpc>
              <a:spcAft>
                <a:spcPts val="600"/>
              </a:spcAft>
            </a:pPr>
            <a:r>
              <a:rPr sz="1050" b="1">
                <a:solidFill>
                  <a:srgbClr val="EA580C"/>
                </a:solidFill>
                <a:latin typeface="Malgun Gothic"/>
              </a:rPr>
              <a:t>● </a:t>
            </a:r>
            <a:r>
              <a:rPr sz="1250">
                <a:solidFill>
                  <a:srgbClr val="334155"/>
                </a:solidFill>
                <a:latin typeface="Malgun Gothic"/>
              </a:rPr>
              <a:t>Once saved, it shows to the student and parents.</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Leaving it right after class is most effective.</a:t>
            </a:r>
          </a:p>
          <a:p>
            <a:pPr>
              <a:lnSpc>
                <a:spcPct val="115000"/>
              </a:lnSpc>
              <a:spcAft>
                <a:spcPts val="200"/>
              </a:spcAft>
            </a:pPr>
            <a:r>
              <a:rPr sz="900" b="1">
                <a:solidFill>
                  <a:srgbClr val="EA580C"/>
                </a:solidFill>
                <a:latin typeface="Malgun Gothic"/>
              </a:rPr>
              <a:t>● </a:t>
            </a:r>
            <a:r>
              <a:rPr sz="1100">
                <a:solidFill>
                  <a:srgbClr val="334155"/>
                </a:solidFill>
                <a:latin typeface="Malgun Gothic"/>
              </a:rPr>
              <a:t>Specific praise beats vague praise.</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Praising even small wins improves participation next lesson.</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eacher_praise.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Game Learning Report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Check a student's weak words</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Look up by student ID to see the words most often missed in games. Adding those words to the next lesson's intro for review is effective.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Enter the student ID in the game learning report and look up.</a:t>
            </a:r>
          </a:p>
          <a:p>
            <a:pPr>
              <a:lnSpc>
                <a:spcPct val="115000"/>
              </a:lnSpc>
              <a:spcAft>
                <a:spcPts val="600"/>
              </a:spcAft>
            </a:pPr>
            <a:r>
              <a:rPr sz="1050" b="1">
                <a:solidFill>
                  <a:srgbClr val="EA580C"/>
                </a:solidFill>
                <a:latin typeface="Malgun Gothic"/>
              </a:rPr>
              <a:t>● </a:t>
            </a:r>
            <a:r>
              <a:rPr sz="1250">
                <a:solidFill>
                  <a:srgbClr val="334155"/>
                </a:solidFill>
                <a:latin typeface="Malgun Gothic"/>
              </a:rPr>
              <a:t>Check the weak words (often missed).</a:t>
            </a:r>
          </a:p>
          <a:p>
            <a:pPr>
              <a:lnSpc>
                <a:spcPct val="115000"/>
              </a:lnSpc>
              <a:spcAft>
                <a:spcPts val="600"/>
              </a:spcAft>
            </a:pPr>
            <a:r>
              <a:rPr sz="1050" b="1">
                <a:solidFill>
                  <a:srgbClr val="EA580C"/>
                </a:solidFill>
                <a:latin typeface="Malgun Gothic"/>
              </a:rPr>
              <a:t>● </a:t>
            </a:r>
            <a:r>
              <a:rPr sz="1250">
                <a:solidFill>
                  <a:srgbClr val="334155"/>
                </a:solidFill>
                <a:latin typeface="Malgun Gothic"/>
              </a:rPr>
              <a:t>Review them intensively in the next lesson.</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Pinpoints weaknesses with data.</a:t>
            </a:r>
          </a:p>
          <a:p>
            <a:pPr>
              <a:lnSpc>
                <a:spcPct val="115000"/>
              </a:lnSpc>
              <a:spcAft>
                <a:spcPts val="200"/>
              </a:spcAft>
            </a:pPr>
            <a:r>
              <a:rPr sz="900" b="1">
                <a:solidFill>
                  <a:srgbClr val="EA580C"/>
                </a:solidFill>
                <a:latin typeface="Malgun Gothic"/>
              </a:rPr>
              <a:t>● </a:t>
            </a:r>
            <a:r>
              <a:rPr sz="1100">
                <a:solidFill>
                  <a:srgbClr val="334155"/>
                </a:solidFill>
                <a:latin typeface="Malgun Gothic"/>
              </a:rPr>
              <a:t>Even 3 words gives a clear review effect.</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Put weak words on the chat/board and repeat them.</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eacher_gamerepor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Reports · Lesson Management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Check progress &amp; performance</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Check a student's learning progress and performance in reports, and organize past/upcoming lessons and progress in lesson management. Use it to set the next lesson's goal.</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Check learning progress/performance in reports.</a:t>
            </a:r>
          </a:p>
          <a:p>
            <a:pPr>
              <a:lnSpc>
                <a:spcPct val="115000"/>
              </a:lnSpc>
              <a:spcAft>
                <a:spcPts val="600"/>
              </a:spcAft>
            </a:pPr>
            <a:r>
              <a:rPr sz="1050" b="1">
                <a:solidFill>
                  <a:srgbClr val="EA580C"/>
                </a:solidFill>
                <a:latin typeface="Malgun Gothic"/>
              </a:rPr>
              <a:t>● </a:t>
            </a:r>
            <a:r>
              <a:rPr sz="1250">
                <a:solidFill>
                  <a:srgbClr val="334155"/>
                </a:solidFill>
                <a:latin typeface="Malgun Gothic"/>
              </a:rPr>
              <a:t>Organize past/upcoming lessons in lesson management.</a:t>
            </a:r>
          </a:p>
          <a:p>
            <a:pPr>
              <a:lnSpc>
                <a:spcPct val="115000"/>
              </a:lnSpc>
              <a:spcAft>
                <a:spcPts val="600"/>
              </a:spcAft>
            </a:pPr>
            <a:r>
              <a:rPr sz="1050" b="1">
                <a:solidFill>
                  <a:srgbClr val="EA580C"/>
                </a:solidFill>
                <a:latin typeface="Malgun Gothic"/>
              </a:rPr>
              <a:t>● </a:t>
            </a:r>
            <a:r>
              <a:rPr sz="1250">
                <a:solidFill>
                  <a:srgbClr val="334155"/>
                </a:solidFill>
                <a:latin typeface="Malgun Gothic"/>
              </a:rPr>
              <a:t>Set the next lesson goal in one line.</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Progress continuity improves.</a:t>
            </a:r>
          </a:p>
          <a:p>
            <a:pPr>
              <a:lnSpc>
                <a:spcPct val="115000"/>
              </a:lnSpc>
              <a:spcAft>
                <a:spcPts val="200"/>
              </a:spcAft>
            </a:pPr>
            <a:r>
              <a:rPr sz="900" b="1">
                <a:solidFill>
                  <a:srgbClr val="EA580C"/>
                </a:solidFill>
                <a:latin typeface="Malgun Gothic"/>
              </a:rPr>
              <a:t>● </a:t>
            </a:r>
            <a:r>
              <a:rPr sz="1100">
                <a:solidFill>
                  <a:srgbClr val="334155"/>
                </a:solidFill>
                <a:latin typeface="Malgun Gothic"/>
              </a:rPr>
              <a:t>Writing goals makes lesson direction clear.</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Noting the next goal at the end of each lesson makes handover easy too.</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eacher_lessons.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Handle Lesson Postpones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Respond to student requests</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Review students' postpone/change requests and adjust the schedule per policy. Changes are auto-announced to both sides.</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Check students' postpone/change requests.</a:t>
            </a:r>
          </a:p>
          <a:p>
            <a:pPr>
              <a:lnSpc>
                <a:spcPct val="115000"/>
              </a:lnSpc>
              <a:spcAft>
                <a:spcPts val="600"/>
              </a:spcAft>
            </a:pPr>
            <a:r>
              <a:rPr sz="1050" b="1">
                <a:solidFill>
                  <a:srgbClr val="EA580C"/>
                </a:solidFill>
                <a:latin typeface="Malgun Gothic"/>
              </a:rPr>
              <a:t>● </a:t>
            </a:r>
            <a:r>
              <a:rPr sz="1250">
                <a:solidFill>
                  <a:srgbClr val="334155"/>
                </a:solidFill>
                <a:latin typeface="Malgun Gothic"/>
              </a:rPr>
              <a:t>If within policy, adjust the schedule.</a:t>
            </a:r>
          </a:p>
          <a:p>
            <a:pPr>
              <a:lnSpc>
                <a:spcPct val="115000"/>
              </a:lnSpc>
              <a:spcAft>
                <a:spcPts val="600"/>
              </a:spcAft>
            </a:pPr>
            <a:r>
              <a:rPr sz="1050" b="1">
                <a:solidFill>
                  <a:srgbClr val="EA580C"/>
                </a:solidFill>
                <a:latin typeface="Malgun Gothic"/>
              </a:rPr>
              <a:t>● </a:t>
            </a:r>
            <a:r>
              <a:rPr sz="1250">
                <a:solidFill>
                  <a:srgbClr val="334155"/>
                </a:solidFill>
                <a:latin typeface="Malgun Gothic"/>
              </a:rPr>
              <a:t>Confirm the change is auto-announced.</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Guide out-of-policy last-minute requests per policy.</a:t>
            </a:r>
          </a:p>
          <a:p>
            <a:pPr>
              <a:lnSpc>
                <a:spcPct val="115000"/>
              </a:lnSpc>
              <a:spcAft>
                <a:spcPts val="200"/>
              </a:spcAft>
            </a:pPr>
            <a:r>
              <a:rPr sz="900" b="1">
                <a:solidFill>
                  <a:srgbClr val="EA580C"/>
                </a:solidFill>
                <a:latin typeface="Malgun Gothic"/>
              </a:rPr>
              <a:t>● </a:t>
            </a:r>
            <a:r>
              <a:rPr sz="1100">
                <a:solidFill>
                  <a:srgbClr val="334155"/>
                </a:solidFill>
                <a:latin typeface="Malgun Gothic"/>
              </a:rPr>
              <a:t>Postponing preserves the student's lesson count.</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Tell students the postpone cutoff in advance.</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mmon_postpone.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Support · Inquiries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When something goes wrong</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If there's a technical issue or a question during class, contact support channels. Knowing common issues in advance lets you respond quickly.</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Use phone, email, Kakao and remote support in Support.</a:t>
            </a:r>
          </a:p>
          <a:p>
            <a:pPr>
              <a:lnSpc>
                <a:spcPct val="115000"/>
              </a:lnSpc>
              <a:spcAft>
                <a:spcPts val="600"/>
              </a:spcAft>
            </a:pPr>
            <a:r>
              <a:rPr sz="1050" b="1">
                <a:solidFill>
                  <a:srgbClr val="EA580C"/>
                </a:solidFill>
                <a:latin typeface="Malgun Gothic"/>
              </a:rPr>
              <a:t>● </a:t>
            </a:r>
            <a:r>
              <a:rPr sz="1250">
                <a:solidFill>
                  <a:srgbClr val="334155"/>
                </a:solidFill>
                <a:latin typeface="Malgun Gothic"/>
              </a:rPr>
              <a:t>For urgent issues, get direct help via remote support.</a:t>
            </a:r>
          </a:p>
          <a:p>
            <a:pPr>
              <a:lnSpc>
                <a:spcPct val="115000"/>
              </a:lnSpc>
              <a:spcAft>
                <a:spcPts val="600"/>
              </a:spcAft>
            </a:pPr>
            <a:r>
              <a:rPr sz="1050" b="1">
                <a:solidFill>
                  <a:srgbClr val="EA580C"/>
                </a:solidFill>
                <a:latin typeface="Malgun Gothic"/>
              </a:rPr>
              <a:t>● </a:t>
            </a:r>
            <a:r>
              <a:rPr sz="1250">
                <a:solidFill>
                  <a:srgbClr val="334155"/>
                </a:solidFill>
                <a:latin typeface="Malgun Gothic"/>
              </a:rPr>
              <a:t>Note the fix for repeat issues.</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'No sound/video' — check permissions and browser first.</a:t>
            </a:r>
          </a:p>
          <a:p>
            <a:pPr>
              <a:lnSpc>
                <a:spcPct val="115000"/>
              </a:lnSpc>
              <a:spcAft>
                <a:spcPts val="200"/>
              </a:spcAft>
            </a:pPr>
            <a:r>
              <a:rPr sz="900" b="1">
                <a:solidFill>
                  <a:srgbClr val="EA580C"/>
                </a:solidFill>
                <a:latin typeface="Malgun Gothic"/>
              </a:rPr>
              <a:t>● </a:t>
            </a:r>
            <a:r>
              <a:rPr sz="1100">
                <a:solidFill>
                  <a:srgbClr val="334155"/>
                </a:solidFill>
                <a:latin typeface="Malgun Gothic"/>
              </a:rPr>
              <a:t>Inquiries within business hours are faster.</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Keeping notes of common issues and fixes reduces lesson loss.</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mmon_contac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Korea·Philippines Dual Clock</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Two countries' time on screen</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 clock on screen shows 🇰🇷 Korea time and 🇵🇭 Philippines (local) time together. Students use Korea time, you use Philippines time — seeing both lets you match lesson times exactly.</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On the on-screen dual clock, see 🇰🇷 Korea and 🇵🇭 Philippines time at once.</a:t>
            </a:r>
          </a:p>
          <a:p>
            <a:pPr>
              <a:lnSpc>
                <a:spcPct val="115000"/>
              </a:lnSpc>
              <a:spcAft>
                <a:spcPts val="600"/>
              </a:spcAft>
            </a:pPr>
            <a:r>
              <a:rPr sz="1050" b="1">
                <a:solidFill>
                  <a:srgbClr val="EA580C"/>
                </a:solidFill>
                <a:latin typeface="Malgun Gothic"/>
              </a:rPr>
              <a:t>● </a:t>
            </a:r>
            <a:r>
              <a:rPr sz="1250">
                <a:solidFill>
                  <a:srgbClr val="334155"/>
                </a:solidFill>
                <a:latin typeface="Malgun Gothic"/>
              </a:rPr>
              <a:t>Drag the clock to move it anywhere you like.</a:t>
            </a:r>
          </a:p>
          <a:p>
            <a:pPr>
              <a:lnSpc>
                <a:spcPct val="115000"/>
              </a:lnSpc>
              <a:spcAft>
                <a:spcPts val="600"/>
              </a:spcAft>
            </a:pPr>
            <a:r>
              <a:rPr sz="1050" b="1">
                <a:solidFill>
                  <a:srgbClr val="EA580C"/>
                </a:solidFill>
                <a:latin typeface="Malgun Gothic"/>
              </a:rPr>
              <a:t>● </a:t>
            </a:r>
            <a:r>
              <a:rPr sz="1250">
                <a:solidFill>
                  <a:srgbClr val="334155"/>
                </a:solidFill>
                <a:latin typeface="Malgun Gothic"/>
              </a:rPr>
              <a:t>Tap (click) the clock to go to the home screen.</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The Philippines is 1 hour behind Korea (−1 hour).</a:t>
            </a:r>
          </a:p>
          <a:p>
            <a:pPr>
              <a:lnSpc>
                <a:spcPct val="115000"/>
              </a:lnSpc>
              <a:spcAft>
                <a:spcPts val="200"/>
              </a:spcAft>
            </a:pPr>
            <a:r>
              <a:rPr sz="900" b="1">
                <a:solidFill>
                  <a:srgbClr val="EA580C"/>
                </a:solidFill>
                <a:latin typeface="Malgun Gothic"/>
              </a:rPr>
              <a:t>● </a:t>
            </a:r>
            <a:r>
              <a:rPr sz="1100">
                <a:solidFill>
                  <a:srgbClr val="334155"/>
                </a:solidFill>
                <a:latin typeface="Malgun Gothic"/>
              </a:rPr>
              <a:t>You can check booking/entry times in both countries' time.</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When a lesson time is confusing due to the time difference, this clock clears it up instantly.</a:t>
            </a:r>
          </a:p>
        </p:txBody>
      </p:sp>
      <p:sp>
        <p:nvSpPr>
          <p:cNvPr id="19" name="Rectangle 18"/>
          <p:cNvSpPr/>
          <p:nvPr/>
        </p:nvSpPr>
        <p:spPr>
          <a:xfrm>
            <a:off x="6300216" y="2356264"/>
            <a:ext cx="5596128" cy="351707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world_clock.jpg"/>
          <p:cNvPicPr>
            <a:picLocks noChangeAspect="1"/>
          </p:cNvPicPr>
          <p:nvPr/>
        </p:nvPicPr>
        <p:blipFill>
          <a:blip r:embed="rId2"/>
          <a:stretch>
            <a:fillRect/>
          </a:stretch>
        </p:blipFill>
        <p:spPr>
          <a:xfrm>
            <a:off x="6355080" y="2411128"/>
            <a:ext cx="5486400" cy="3407343"/>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Chinese Pronunciation Coach</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Darakwon Chinese Master Lv1–20</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If a student also learns Chinese, guide them to the Chinese pronunciation coach. They read Darakwon Chinese Master (Lv 1–20) sentences and compare with a native speaker to fix pronunciation and tones.</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In the AI voice coach, pick the CN Chinese level (or go to the Chinese pronunciation coach).</a:t>
            </a:r>
          </a:p>
          <a:p>
            <a:pPr>
              <a:lnSpc>
                <a:spcPct val="115000"/>
              </a:lnSpc>
              <a:spcAft>
                <a:spcPts val="600"/>
              </a:spcAft>
            </a:pPr>
            <a:r>
              <a:rPr sz="1050" b="1">
                <a:solidFill>
                  <a:srgbClr val="EA580C"/>
                </a:solidFill>
                <a:latin typeface="Malgun Gothic"/>
              </a:rPr>
              <a:t>● </a:t>
            </a:r>
            <a:r>
              <a:rPr sz="1250">
                <a:solidFill>
                  <a:srgbClr val="334155"/>
                </a:solidFill>
                <a:latin typeface="Malgun Gothic"/>
              </a:rPr>
              <a:t>Choose a Master series (1–6, HSK 1–6) and a unit.</a:t>
            </a:r>
          </a:p>
          <a:p>
            <a:pPr>
              <a:lnSpc>
                <a:spcPct val="115000"/>
              </a:lnSpc>
              <a:spcAft>
                <a:spcPts val="600"/>
              </a:spcAft>
            </a:pPr>
            <a:r>
              <a:rPr sz="1050" b="1">
                <a:solidFill>
                  <a:srgbClr val="EA580C"/>
                </a:solidFill>
                <a:latin typeface="Malgun Gothic"/>
              </a:rPr>
              <a:t>● </a:t>
            </a:r>
            <a:r>
              <a:rPr sz="1250">
                <a:solidFill>
                  <a:srgbClr val="334155"/>
                </a:solidFill>
                <a:latin typeface="Malgun Gothic"/>
              </a:rPr>
              <a:t>Read the sentence (characters + pinyin) and compare with 'Play native audio'.</a:t>
            </a:r>
          </a:p>
          <a:p>
            <a:pPr>
              <a:lnSpc>
                <a:spcPct val="115000"/>
              </a:lnSpc>
              <a:spcAft>
                <a:spcPts val="600"/>
              </a:spcAft>
            </a:pPr>
            <a:r>
              <a:rPr sz="1050" b="1">
                <a:solidFill>
                  <a:srgbClr val="EA580C"/>
                </a:solidFill>
                <a:latin typeface="Malgun Gothic"/>
              </a:rPr>
              <a:t>● </a:t>
            </a:r>
            <a:r>
              <a:rPr sz="1250">
                <a:solidFill>
                  <a:srgbClr val="334155"/>
                </a:solidFill>
                <a:latin typeface="Malgun Gothic"/>
              </a:rPr>
              <a:t>Practice hard sounds/tones with repeat and slow (0.85x).</a:t>
            </a:r>
          </a:p>
        </p:txBody>
      </p:sp>
      <p:sp>
        <p:nvSpPr>
          <p:cNvPr id="14" name="Rounded Rectangle 13"/>
          <p:cNvSpPr/>
          <p:nvPr/>
        </p:nvSpPr>
        <p:spPr>
          <a:xfrm>
            <a:off x="457200" y="4782312"/>
            <a:ext cx="5669280" cy="1316736"/>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Characters and pinyin appear together, so it's easy to read.</a:t>
            </a:r>
          </a:p>
          <a:p>
            <a:pPr>
              <a:lnSpc>
                <a:spcPct val="115000"/>
              </a:lnSpc>
              <a:spcAft>
                <a:spcPts val="200"/>
              </a:spcAft>
            </a:pPr>
            <a:r>
              <a:rPr sz="900" b="1">
                <a:solidFill>
                  <a:srgbClr val="EA580C"/>
                </a:solidFill>
                <a:latin typeface="Malgun Gothic"/>
              </a:rPr>
              <a:t>● </a:t>
            </a:r>
            <a:r>
              <a:rPr sz="1100">
                <a:solidFill>
                  <a:srgbClr val="334155"/>
                </a:solidFill>
                <a:latin typeface="Malgun Gothic"/>
              </a:rPr>
              <a:t>The AI recognizes your voice and compares it to a native speaker.</a:t>
            </a:r>
          </a:p>
          <a:p>
            <a:pPr>
              <a:lnSpc>
                <a:spcPct val="115000"/>
              </a:lnSpc>
              <a:spcAft>
                <a:spcPts val="200"/>
              </a:spcAft>
            </a:pPr>
            <a:r>
              <a:rPr sz="900" b="1">
                <a:solidFill>
                  <a:srgbClr val="EA580C"/>
                </a:solidFill>
                <a:latin typeface="Malgun Gothic"/>
              </a:rPr>
              <a:t>● </a:t>
            </a:r>
            <a:r>
              <a:rPr sz="1100">
                <a:solidFill>
                  <a:srgbClr val="334155"/>
                </a:solidFill>
                <a:latin typeface="Malgun Gothic"/>
              </a:rPr>
              <a:t>The learning games hub supports Chinese too.</a:t>
            </a:r>
          </a:p>
        </p:txBody>
      </p:sp>
      <p:sp>
        <p:nvSpPr>
          <p:cNvPr id="17" name="Rounded Rectangle 16"/>
          <p:cNvSpPr/>
          <p:nvPr/>
        </p:nvSpPr>
        <p:spPr>
          <a:xfrm>
            <a:off x="457200" y="6208775"/>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Listen slowly and repeat clearly to nail the four tones.</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speechcoach_cn.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AI Coaching After Class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Strengths · areas to improve · one action for today</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When you finish and leave a class, the AI analyzes it and shows a coaching card with ‘What you did well / Areas to improve / One action for today’ in both Korean and English. Based on real class signals — talk ratio, engagement, praise count — it helps in a warm coaching tone, not surveillance.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End the video class with ‘Leave’ and the coaching card appears automatically.</a:t>
            </a:r>
          </a:p>
          <a:p>
            <a:pPr>
              <a:lnSpc>
                <a:spcPct val="115000"/>
              </a:lnSpc>
              <a:spcAft>
                <a:spcPts val="600"/>
              </a:spcAft>
            </a:pPr>
            <a:r>
              <a:rPr sz="1050" b="1">
                <a:solidFill>
                  <a:srgbClr val="EA580C"/>
                </a:solidFill>
                <a:latin typeface="Malgun Gothic"/>
              </a:rPr>
              <a:t>● </a:t>
            </a:r>
            <a:r>
              <a:rPr sz="1250">
                <a:solidFill>
                  <a:srgbClr val="334155"/>
                </a:solidFill>
                <a:latin typeface="Malgun Gothic"/>
              </a:rPr>
              <a:t>Toggle 🇰🇷 Korean / 🇺🇸 English to read it in the language you prefer.</a:t>
            </a:r>
          </a:p>
          <a:p>
            <a:pPr>
              <a:lnSpc>
                <a:spcPct val="115000"/>
              </a:lnSpc>
              <a:spcAft>
                <a:spcPts val="600"/>
              </a:spcAft>
            </a:pPr>
            <a:r>
              <a:rPr sz="1050" b="1">
                <a:solidFill>
                  <a:srgbClr val="EA580C"/>
                </a:solidFill>
                <a:latin typeface="Malgun Gothic"/>
              </a:rPr>
              <a:t>● </a:t>
            </a:r>
            <a:r>
              <a:rPr sz="1250">
                <a:solidFill>
                  <a:srgbClr val="334155"/>
                </a:solidFill>
                <a:latin typeface="Malgun Gothic"/>
              </a:rPr>
              <a:t>Check the engagement · talk-ratio · praise-count summary and the strengths · improvements · one action.</a:t>
            </a:r>
          </a:p>
          <a:p>
            <a:pPr>
              <a:lnSpc>
                <a:spcPct val="115000"/>
              </a:lnSpc>
              <a:spcAft>
                <a:spcPts val="600"/>
              </a:spcAft>
            </a:pPr>
            <a:r>
              <a:rPr sz="1050" b="1">
                <a:solidFill>
                  <a:srgbClr val="EA580C"/>
                </a:solidFill>
                <a:latin typeface="Malgun Gothic"/>
              </a:rPr>
              <a:t>● </a:t>
            </a:r>
            <a:r>
              <a:rPr sz="1250">
                <a:solidFill>
                  <a:srgbClr val="334155"/>
                </a:solidFill>
                <a:latin typeface="Malgun Gothic"/>
              </a:rPr>
              <a:t>Press ‘Full report’ to see class details plus recent coaching history (quality score · summary).</a:t>
            </a:r>
          </a:p>
        </p:txBody>
      </p:sp>
      <p:sp>
        <p:nvSpPr>
          <p:cNvPr id="14" name="Rounded Rectangle 13"/>
          <p:cNvSpPr/>
          <p:nvPr/>
        </p:nvSpPr>
        <p:spPr>
          <a:xfrm>
            <a:off x="457200" y="4782312"/>
            <a:ext cx="5669280" cy="1316736"/>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English is the default for native-speaker teachers, with Korean provided alongside.</a:t>
            </a:r>
          </a:p>
          <a:p>
            <a:pPr>
              <a:lnSpc>
                <a:spcPct val="115000"/>
              </a:lnSpc>
              <a:spcAft>
                <a:spcPts val="200"/>
              </a:spcAft>
            </a:pPr>
            <a:r>
              <a:rPr sz="900" b="1">
                <a:solidFill>
                  <a:srgbClr val="EA580C"/>
                </a:solidFill>
                <a:latin typeface="Malgun Gothic"/>
              </a:rPr>
              <a:t>● </a:t>
            </a:r>
            <a:r>
              <a:rPr sz="1100">
                <a:solidFill>
                  <a:srgbClr val="334155"/>
                </a:solidFill>
                <a:latin typeface="Malgun Gothic"/>
              </a:rPr>
              <a:t>A class-quality score (0–100) and a detailed summary help you find your own growth points.</a:t>
            </a:r>
          </a:p>
          <a:p>
            <a:pPr>
              <a:lnSpc>
                <a:spcPct val="115000"/>
              </a:lnSpc>
              <a:spcAft>
                <a:spcPts val="200"/>
              </a:spcAft>
            </a:pPr>
            <a:r>
              <a:rPr sz="900" b="1">
                <a:solidFill>
                  <a:srgbClr val="EA580C"/>
                </a:solidFill>
                <a:latin typeface="Malgun Gothic"/>
              </a:rPr>
              <a:t>● </a:t>
            </a:r>
            <a:r>
              <a:rPr sz="1100">
                <a:solidFill>
                  <a:srgbClr val="334155"/>
                </a:solidFill>
                <a:latin typeface="Malgun Gothic"/>
              </a:rPr>
              <a:t>Even if the AI is briefly slow, baseline coaching in both languages is always provided.</a:t>
            </a:r>
          </a:p>
        </p:txBody>
      </p:sp>
      <p:sp>
        <p:nvSpPr>
          <p:cNvPr id="17" name="Rounded Rectangle 16"/>
          <p:cNvSpPr/>
          <p:nvPr/>
        </p:nvSpPr>
        <p:spPr>
          <a:xfrm>
            <a:off x="457200" y="6208775"/>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Coaching is meant to support your own growth. Admins only receive a monthly rollup.</a:t>
            </a:r>
          </a:p>
        </p:txBody>
      </p:sp>
      <p:sp>
        <p:nvSpPr>
          <p:cNvPr id="19" name="Rounded Rectangle 18"/>
          <p:cNvSpPr/>
          <p:nvPr/>
        </p:nvSpPr>
        <p:spPr>
          <a:xfrm>
            <a:off x="457200" y="6940295"/>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98601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Trying just the ‘one action for today’ in your next class visibly improves how you draw out student speech.</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teacher_aicoach.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Feature Summary · Data</a:t>
            </a:r>
          </a:p>
        </p:txBody>
      </p:sp>
      <p:sp>
        <p:nvSpPr>
          <p:cNvPr id="6" name="TextBox 5"/>
          <p:cNvSpPr txBox="1"/>
          <p:nvPr/>
        </p:nvSpPr>
        <p:spPr>
          <a:xfrm>
            <a:off x="987552" y="868680"/>
            <a:ext cx="9144000" cy="457200"/>
          </a:xfrm>
          <a:prstGeom prst="rect">
            <a:avLst/>
          </a:prstGeom>
          <a:noFill/>
        </p:spPr>
        <p:txBody>
          <a:bodyPr wrap="square" anchor="t">
            <a:spAutoFit/>
          </a:bodyPr>
          <a:lstStyle/>
          <a:p>
            <a:pPr algn="l">
              <a:lnSpc>
                <a:spcPct val="100000"/>
              </a:lnSpc>
            </a:pPr>
            <a:r>
              <a:rPr sz="2200" b="1">
                <a:solidFill>
                  <a:srgbClr val="EA580C"/>
                </a:solidFill>
                <a:latin typeface="Malgun Gothic"/>
              </a:rPr>
              <a:t>📋 Tools by Lesson Stage</a:t>
            </a:r>
          </a:p>
        </p:txBody>
      </p:sp>
      <p:graphicFrame>
        <p:nvGraphicFramePr>
          <p:cNvPr id="7" name="Table 6"/>
          <p:cNvGraphicFramePr>
            <a:graphicFrameLocks noGrp="1"/>
          </p:cNvGraphicFramePr>
          <p:nvPr/>
        </p:nvGraphicFramePr>
        <p:xfrm>
          <a:off x="365760" y="1463040"/>
          <a:ext cx="11460175" cy="5029200"/>
        </p:xfrm>
        <a:graphic>
          <a:graphicData uri="http://schemas.openxmlformats.org/drawingml/2006/table">
            <a:tbl>
              <a:tblPr firstRow="1" bandRow="1">
                <a:tableStyleId>{5C22544A-7EE6-4342-B048-85BDC9FD1C3A}</a:tableStyleId>
              </a:tblPr>
              <a:tblGrid>
                <a:gridCol w="2865043"/>
                <a:gridCol w="2865043"/>
                <a:gridCol w="2865043"/>
                <a:gridCol w="2865046"/>
              </a:tblGrid>
              <a:tr h="502920">
                <a:tc>
                  <a:txBody>
                    <a:bodyPr/>
                    <a:lstStyle/>
                    <a:p>
                      <a:pPr algn="ctr"/>
                      <a:r>
                        <a:rPr sz="1300" b="1">
                          <a:solidFill>
                            <a:srgbClr val="FFFFFF"/>
                          </a:solidFill>
                          <a:latin typeface="Malgun Gothic"/>
                        </a:rPr>
                        <a:t>Stage</a:t>
                      </a:r>
                    </a:p>
                  </a:txBody>
                  <a:tcPr>
                    <a:solidFill>
                      <a:srgbClr val="EA580C"/>
                    </a:solidFill>
                  </a:tcPr>
                </a:tc>
                <a:tc>
                  <a:txBody>
                    <a:bodyPr/>
                    <a:lstStyle/>
                    <a:p>
                      <a:pPr algn="ctr"/>
                      <a:r>
                        <a:rPr sz="1300" b="1">
                          <a:solidFill>
                            <a:srgbClr val="FFFFFF"/>
                          </a:solidFill>
                          <a:latin typeface="Malgun Gothic"/>
                        </a:rPr>
                        <a:t>Screen used</a:t>
                      </a:r>
                    </a:p>
                  </a:txBody>
                  <a:tcPr>
                    <a:solidFill>
                      <a:srgbClr val="EA580C"/>
                    </a:solidFill>
                  </a:tcPr>
                </a:tc>
                <a:tc>
                  <a:txBody>
                    <a:bodyPr/>
                    <a:lstStyle/>
                    <a:p>
                      <a:pPr algn="ctr"/>
                      <a:r>
                        <a:rPr sz="1300" b="1">
                          <a:solidFill>
                            <a:srgbClr val="FFFFFF"/>
                          </a:solidFill>
                          <a:latin typeface="Malgun Gothic"/>
                        </a:rPr>
                        <a:t>What you do</a:t>
                      </a:r>
                    </a:p>
                  </a:txBody>
                  <a:tcPr>
                    <a:solidFill>
                      <a:srgbClr val="EA580C"/>
                    </a:solidFill>
                  </a:tcPr>
                </a:tc>
                <a:tc>
                  <a:txBody>
                    <a:bodyPr/>
                    <a:lstStyle/>
                    <a:p>
                      <a:pPr algn="ctr"/>
                      <a:r>
                        <a:rPr sz="1300" b="1">
                          <a:solidFill>
                            <a:srgbClr val="FFFFFF"/>
                          </a:solidFill>
                          <a:latin typeface="Malgun Gothic"/>
                        </a:rPr>
                        <a:t>Tip</a:t>
                      </a:r>
                    </a:p>
                  </a:txBody>
                  <a:tcPr>
                    <a:solidFill>
                      <a:srgbClr val="EA580C"/>
                    </a:solidFill>
                  </a:tcPr>
                </a:tc>
              </a:tr>
              <a:tr h="502920">
                <a:tc>
                  <a:txBody>
                    <a:bodyPr/>
                    <a:lstStyle/>
                    <a:p>
                      <a:pPr algn="l"/>
                      <a:r>
                        <a:rPr sz="1200" b="1">
                          <a:solidFill>
                            <a:srgbClr val="334155"/>
                          </a:solidFill>
                          <a:latin typeface="Malgun Gothic"/>
                        </a:rPr>
                        <a:t>Before class</a:t>
                      </a:r>
                    </a:p>
                  </a:txBody>
                  <a:tcPr>
                    <a:solidFill>
                      <a:srgbClr val="FFFFFF"/>
                    </a:solidFill>
                  </a:tcPr>
                </a:tc>
                <a:tc>
                  <a:txBody>
                    <a:bodyPr/>
                    <a:lstStyle/>
                    <a:p>
                      <a:pPr algn="ctr"/>
                      <a:r>
                        <a:rPr sz="1200">
                          <a:solidFill>
                            <a:srgbClr val="334155"/>
                          </a:solidFill>
                          <a:latin typeface="Malgun Gothic"/>
                        </a:rPr>
                        <a:t>Detailed check</a:t>
                      </a:r>
                    </a:p>
                  </a:txBody>
                  <a:tcPr>
                    <a:solidFill>
                      <a:srgbClr val="FFFFFF"/>
                    </a:solidFill>
                  </a:tcPr>
                </a:tc>
                <a:tc>
                  <a:txBody>
                    <a:bodyPr/>
                    <a:lstStyle/>
                    <a:p>
                      <a:pPr algn="ctr"/>
                      <a:r>
                        <a:rPr sz="1200">
                          <a:solidFill>
                            <a:srgbClr val="334155"/>
                          </a:solidFill>
                          <a:latin typeface="Malgun Gothic"/>
                        </a:rPr>
                        <a:t>Check devices·lighting</a:t>
                      </a:r>
                    </a:p>
                  </a:txBody>
                  <a:tcPr>
                    <a:solidFill>
                      <a:srgbClr val="FFFFFF"/>
                    </a:solidFill>
                  </a:tcPr>
                </a:tc>
                <a:tc>
                  <a:txBody>
                    <a:bodyPr/>
                    <a:lstStyle/>
                    <a:p>
                      <a:pPr algn="ctr"/>
                      <a:r>
                        <a:rPr sz="1200">
                          <a:solidFill>
                            <a:srgbClr val="334155"/>
                          </a:solidFill>
                          <a:latin typeface="Malgun Gothic"/>
                        </a:rPr>
                        <a:t>5–10 min early</a:t>
                      </a:r>
                    </a:p>
                  </a:txBody>
                  <a:tcPr>
                    <a:solidFill>
                      <a:srgbClr val="FFFFFF"/>
                    </a:solidFill>
                  </a:tcPr>
                </a:tc>
              </a:tr>
              <a:tr h="502920">
                <a:tc>
                  <a:txBody>
                    <a:bodyPr/>
                    <a:lstStyle/>
                    <a:p>
                      <a:pPr algn="l"/>
                      <a:r>
                        <a:rPr sz="1200" b="1">
                          <a:solidFill>
                            <a:srgbClr val="334155"/>
                          </a:solidFill>
                          <a:latin typeface="Malgun Gothic"/>
                        </a:rPr>
                        <a:t>Entry</a:t>
                      </a:r>
                    </a:p>
                  </a:txBody>
                  <a:tcPr>
                    <a:solidFill>
                      <a:srgbClr val="F8FAFC"/>
                    </a:solidFill>
                  </a:tcPr>
                </a:tc>
                <a:tc>
                  <a:txBody>
                    <a:bodyPr/>
                    <a:lstStyle/>
                    <a:p>
                      <a:pPr algn="ctr"/>
                      <a:r>
                        <a:rPr sz="1200">
                          <a:solidFill>
                            <a:srgbClr val="334155"/>
                          </a:solidFill>
                          <a:latin typeface="Malgun Gothic"/>
                        </a:rPr>
                        <a:t>Classroom</a:t>
                      </a:r>
                    </a:p>
                  </a:txBody>
                  <a:tcPr>
                    <a:solidFill>
                      <a:srgbClr val="F8FAFC"/>
                    </a:solidFill>
                  </a:tcPr>
                </a:tc>
                <a:tc>
                  <a:txBody>
                    <a:bodyPr/>
                    <a:lstStyle/>
                    <a:p>
                      <a:pPr algn="ctr"/>
                      <a:r>
                        <a:rPr sz="1200">
                          <a:solidFill>
                            <a:srgbClr val="334155"/>
                          </a:solidFill>
                          <a:latin typeface="Malgun Gothic"/>
                        </a:rPr>
                        <a:t>Enter name·allow</a:t>
                      </a:r>
                    </a:p>
                  </a:txBody>
                  <a:tcPr>
                    <a:solidFill>
                      <a:srgbClr val="F8FAFC"/>
                    </a:solidFill>
                  </a:tcPr>
                </a:tc>
                <a:tc>
                  <a:txBody>
                    <a:bodyPr/>
                    <a:lstStyle/>
                    <a:p>
                      <a:pPr algn="ctr"/>
                      <a:r>
                        <a:rPr sz="1200">
                          <a:solidFill>
                            <a:srgbClr val="334155"/>
                          </a:solidFill>
                          <a:latin typeface="Malgun Gothic"/>
                        </a:rPr>
                        <a:t>Enter early</a:t>
                      </a:r>
                    </a:p>
                  </a:txBody>
                  <a:tcPr>
                    <a:solidFill>
                      <a:srgbClr val="F8FAFC"/>
                    </a:solidFill>
                  </a:tcPr>
                </a:tc>
              </a:tr>
              <a:tr h="502920">
                <a:tc>
                  <a:txBody>
                    <a:bodyPr/>
                    <a:lstStyle/>
                    <a:p>
                      <a:pPr algn="l"/>
                      <a:r>
                        <a:rPr sz="1200" b="1">
                          <a:solidFill>
                            <a:srgbClr val="334155"/>
                          </a:solidFill>
                          <a:latin typeface="Malgun Gothic"/>
                        </a:rPr>
                        <a:t>Toolbar</a:t>
                      </a:r>
                    </a:p>
                  </a:txBody>
                  <a:tcPr>
                    <a:solidFill>
                      <a:srgbClr val="FFFFFF"/>
                    </a:solidFill>
                  </a:tcPr>
                </a:tc>
                <a:tc>
                  <a:txBody>
                    <a:bodyPr/>
                    <a:lstStyle/>
                    <a:p>
                      <a:pPr algn="ctr"/>
                      <a:r>
                        <a:rPr sz="1200">
                          <a:solidFill>
                            <a:srgbClr val="334155"/>
                          </a:solidFill>
                          <a:latin typeface="Malgun Gothic"/>
                        </a:rPr>
                        <a:t>Board·materials·video</a:t>
                      </a:r>
                    </a:p>
                  </a:txBody>
                  <a:tcPr>
                    <a:solidFill>
                      <a:srgbClr val="FFFFFF"/>
                    </a:solidFill>
                  </a:tcPr>
                </a:tc>
                <a:tc>
                  <a:txBody>
                    <a:bodyPr/>
                    <a:lstStyle/>
                    <a:p>
                      <a:pPr algn="ctr"/>
                      <a:r>
                        <a:rPr sz="1200">
                          <a:solidFill>
                            <a:srgbClr val="334155"/>
                          </a:solidFill>
                          <a:latin typeface="Malgun Gothic"/>
                        </a:rPr>
                        <a:t>Switch·control screen</a:t>
                      </a:r>
                    </a:p>
                  </a:txBody>
                  <a:tcPr>
                    <a:solidFill>
                      <a:srgbClr val="FFFFFF"/>
                    </a:solidFill>
                  </a:tcPr>
                </a:tc>
                <a:tc>
                  <a:txBody>
                    <a:bodyPr/>
                    <a:lstStyle/>
                    <a:p>
                      <a:pPr algn="ctr"/>
                      <a:r>
                        <a:rPr sz="1200">
                          <a:solidFill>
                            <a:srgbClr val="334155"/>
                          </a:solidFill>
                          <a:latin typeface="Malgun Gothic"/>
                        </a:rPr>
                        <a:t>Guide tabs</a:t>
                      </a:r>
                    </a:p>
                  </a:txBody>
                  <a:tcPr>
                    <a:solidFill>
                      <a:srgbClr val="FFFFFF"/>
                    </a:solidFill>
                  </a:tcPr>
                </a:tc>
              </a:tr>
              <a:tr h="502920">
                <a:tc>
                  <a:txBody>
                    <a:bodyPr/>
                    <a:lstStyle/>
                    <a:p>
                      <a:pPr algn="l"/>
                      <a:r>
                        <a:rPr sz="1200" b="1">
                          <a:solidFill>
                            <a:srgbClr val="334155"/>
                          </a:solidFill>
                          <a:latin typeface="Malgun Gothic"/>
                        </a:rPr>
                        <a:t>Prep</a:t>
                      </a:r>
                    </a:p>
                  </a:txBody>
                  <a:tcPr>
                    <a:solidFill>
                      <a:srgbClr val="F8FAFC"/>
                    </a:solidFill>
                  </a:tcPr>
                </a:tc>
                <a:tc>
                  <a:txBody>
                    <a:bodyPr/>
                    <a:lstStyle/>
                    <a:p>
                      <a:pPr algn="ctr"/>
                      <a:r>
                        <a:rPr sz="1200">
                          <a:solidFill>
                            <a:srgbClr val="334155"/>
                          </a:solidFill>
                          <a:latin typeface="Malgun Gothic"/>
                        </a:rPr>
                        <a:t>Materials uploader</a:t>
                      </a:r>
                    </a:p>
                  </a:txBody>
                  <a:tcPr>
                    <a:solidFill>
                      <a:srgbClr val="F8FAFC"/>
                    </a:solidFill>
                  </a:tcPr>
                </a:tc>
                <a:tc>
                  <a:txBody>
                    <a:bodyPr/>
                    <a:lstStyle/>
                    <a:p>
                      <a:pPr algn="ctr"/>
                      <a:r>
                        <a:rPr sz="1200">
                          <a:solidFill>
                            <a:srgbClr val="334155"/>
                          </a:solidFill>
                          <a:latin typeface="Malgun Gothic"/>
                        </a:rPr>
                        <a:t>Upload·share files</a:t>
                      </a:r>
                    </a:p>
                  </a:txBody>
                  <a:tcPr>
                    <a:solidFill>
                      <a:srgbClr val="F8FAFC"/>
                    </a:solidFill>
                  </a:tcPr>
                </a:tc>
                <a:tc>
                  <a:txBody>
                    <a:bodyPr/>
                    <a:lstStyle/>
                    <a:p>
                      <a:pPr algn="ctr"/>
                      <a:r>
                        <a:rPr sz="1200">
                          <a:solidFill>
                            <a:srgbClr val="334155"/>
                          </a:solidFill>
                          <a:latin typeface="Malgun Gothic"/>
                        </a:rPr>
                        <a:t>Pre-upload</a:t>
                      </a:r>
                    </a:p>
                  </a:txBody>
                  <a:tcPr>
                    <a:solidFill>
                      <a:srgbClr val="F8FAFC"/>
                    </a:solidFill>
                  </a:tcPr>
                </a:tc>
              </a:tr>
              <a:tr h="502920">
                <a:tc>
                  <a:txBody>
                    <a:bodyPr/>
                    <a:lstStyle/>
                    <a:p>
                      <a:pPr algn="l"/>
                      <a:r>
                        <a:rPr sz="1200" b="1">
                          <a:solidFill>
                            <a:srgbClr val="334155"/>
                          </a:solidFill>
                          <a:latin typeface="Malgun Gothic"/>
                        </a:rPr>
                        <a:t>Intro</a:t>
                      </a:r>
                    </a:p>
                  </a:txBody>
                  <a:tcPr>
                    <a:solidFill>
                      <a:srgbClr val="FFFFFF"/>
                    </a:solidFill>
                  </a:tcPr>
                </a:tc>
                <a:tc>
                  <a:txBody>
                    <a:bodyPr/>
                    <a:lstStyle/>
                    <a:p>
                      <a:pPr algn="ctr"/>
                      <a:r>
                        <a:rPr sz="1200">
                          <a:solidFill>
                            <a:srgbClr val="334155"/>
                          </a:solidFill>
                          <a:latin typeface="Malgun Gothic"/>
                        </a:rPr>
                        <a:t>AI warm-up</a:t>
                      </a:r>
                    </a:p>
                  </a:txBody>
                  <a:tcPr>
                    <a:solidFill>
                      <a:srgbClr val="FFFFFF"/>
                    </a:solidFill>
                  </a:tcPr>
                </a:tc>
                <a:tc>
                  <a:txBody>
                    <a:bodyPr/>
                    <a:lstStyle/>
                    <a:p>
                      <a:pPr algn="ctr"/>
                      <a:r>
                        <a:rPr sz="1200">
                          <a:solidFill>
                            <a:srgbClr val="334155"/>
                          </a:solidFill>
                          <a:latin typeface="Malgun Gothic"/>
                        </a:rPr>
                        <a:t>Icebreaker</a:t>
                      </a:r>
                    </a:p>
                  </a:txBody>
                  <a:tcPr>
                    <a:solidFill>
                      <a:srgbClr val="FFFFFF"/>
                    </a:solidFill>
                  </a:tcPr>
                </a:tc>
                <a:tc>
                  <a:txBody>
                    <a:bodyPr/>
                    <a:lstStyle/>
                    <a:p>
                      <a:pPr algn="ctr"/>
                      <a:r>
                        <a:rPr sz="1200">
                          <a:solidFill>
                            <a:srgbClr val="334155"/>
                          </a:solidFill>
                          <a:latin typeface="Malgun Gothic"/>
                        </a:rPr>
                        <a:t>Mention warm-up</a:t>
                      </a:r>
                    </a:p>
                  </a:txBody>
                  <a:tcPr>
                    <a:solidFill>
                      <a:srgbClr val="FFFFFF"/>
                    </a:solidFill>
                  </a:tcPr>
                </a:tc>
              </a:tr>
              <a:tr h="502920">
                <a:tc>
                  <a:txBody>
                    <a:bodyPr/>
                    <a:lstStyle/>
                    <a:p>
                      <a:pPr algn="l"/>
                      <a:r>
                        <a:rPr sz="1200" b="1">
                          <a:solidFill>
                            <a:srgbClr val="334155"/>
                          </a:solidFill>
                          <a:latin typeface="Malgun Gothic"/>
                        </a:rPr>
                        <a:t>Main</a:t>
                      </a:r>
                    </a:p>
                  </a:txBody>
                  <a:tcPr>
                    <a:solidFill>
                      <a:srgbClr val="F8FAFC"/>
                    </a:solidFill>
                  </a:tcPr>
                </a:tc>
                <a:tc>
                  <a:txBody>
                    <a:bodyPr/>
                    <a:lstStyle/>
                    <a:p>
                      <a:pPr algn="ctr"/>
                      <a:r>
                        <a:rPr sz="1200">
                          <a:solidFill>
                            <a:srgbClr val="334155"/>
                          </a:solidFill>
                          <a:latin typeface="Malgun Gothic"/>
                        </a:rPr>
                        <a:t>Materials·board·chat</a:t>
                      </a:r>
                    </a:p>
                  </a:txBody>
                  <a:tcPr>
                    <a:solidFill>
                      <a:srgbClr val="F8FAFC"/>
                    </a:solidFill>
                  </a:tcPr>
                </a:tc>
                <a:tc>
                  <a:txBody>
                    <a:bodyPr/>
                    <a:lstStyle/>
                    <a:p>
                      <a:pPr algn="ctr"/>
                      <a:r>
                        <a:rPr sz="1200">
                          <a:solidFill>
                            <a:srgbClr val="334155"/>
                          </a:solidFill>
                          <a:latin typeface="Malgun Gothic"/>
                        </a:rPr>
                        <a:t>Explain together</a:t>
                      </a:r>
                    </a:p>
                  </a:txBody>
                  <a:tcPr>
                    <a:solidFill>
                      <a:srgbClr val="F8FAFC"/>
                    </a:solidFill>
                  </a:tcPr>
                </a:tc>
                <a:tc>
                  <a:txBody>
                    <a:bodyPr/>
                    <a:lstStyle/>
                    <a:p>
                      <a:pPr algn="ctr"/>
                      <a:r>
                        <a:rPr sz="1200">
                          <a:solidFill>
                            <a:srgbClr val="334155"/>
                          </a:solidFill>
                          <a:latin typeface="Malgun Gothic"/>
                        </a:rPr>
                        <a:t>Same page</a:t>
                      </a:r>
                    </a:p>
                  </a:txBody>
                  <a:tcPr>
                    <a:solidFill>
                      <a:srgbClr val="F8FAFC"/>
                    </a:solidFill>
                  </a:tcPr>
                </a:tc>
              </a:tr>
              <a:tr h="502920">
                <a:tc>
                  <a:txBody>
                    <a:bodyPr/>
                    <a:lstStyle/>
                    <a:p>
                      <a:pPr algn="l"/>
                      <a:r>
                        <a:rPr sz="1200" b="1">
                          <a:solidFill>
                            <a:srgbClr val="334155"/>
                          </a:solidFill>
                          <a:latin typeface="Malgun Gothic"/>
                        </a:rPr>
                        <a:t>Practice</a:t>
                      </a:r>
                    </a:p>
                  </a:txBody>
                  <a:tcPr>
                    <a:solidFill>
                      <a:srgbClr val="FFFFFF"/>
                    </a:solidFill>
                  </a:tcPr>
                </a:tc>
                <a:tc>
                  <a:txBody>
                    <a:bodyPr/>
                    <a:lstStyle/>
                    <a:p>
                      <a:pPr algn="ctr"/>
                      <a:r>
                        <a:rPr sz="1200">
                          <a:solidFill>
                            <a:srgbClr val="334155"/>
                          </a:solidFill>
                          <a:latin typeface="Malgun Gothic"/>
                        </a:rPr>
                        <a:t>AI voice coach</a:t>
                      </a:r>
                    </a:p>
                  </a:txBody>
                  <a:tcPr>
                    <a:solidFill>
                      <a:srgbClr val="FFFFFF"/>
                    </a:solidFill>
                  </a:tcPr>
                </a:tc>
                <a:tc>
                  <a:txBody>
                    <a:bodyPr/>
                    <a:lstStyle/>
                    <a:p>
                      <a:pPr algn="ctr"/>
                      <a:r>
                        <a:rPr sz="1200">
                          <a:solidFill>
                            <a:srgbClr val="334155"/>
                          </a:solidFill>
                          <a:latin typeface="Malgun Gothic"/>
                        </a:rPr>
                        <a:t>Record·fix pronunciation</a:t>
                      </a:r>
                    </a:p>
                  </a:txBody>
                  <a:tcPr>
                    <a:solidFill>
                      <a:srgbClr val="FFFFFF"/>
                    </a:solidFill>
                  </a:tcPr>
                </a:tc>
                <a:tc>
                  <a:txBody>
                    <a:bodyPr/>
                    <a:lstStyle/>
                    <a:p>
                      <a:pPr algn="ctr"/>
                      <a:r>
                        <a:rPr sz="1200">
                          <a:solidFill>
                            <a:srgbClr val="334155"/>
                          </a:solidFill>
                          <a:latin typeface="Malgun Gothic"/>
                        </a:rPr>
                        <a:t>Link homework</a:t>
                      </a:r>
                    </a:p>
                  </a:txBody>
                  <a:tcPr>
                    <a:solidFill>
                      <a:srgbClr val="FFFFFF"/>
                    </a:solidFill>
                  </a:tcPr>
                </a:tc>
              </a:tr>
              <a:tr h="502920">
                <a:tc>
                  <a:txBody>
                    <a:bodyPr/>
                    <a:lstStyle/>
                    <a:p>
                      <a:pPr algn="l"/>
                      <a:r>
                        <a:rPr sz="1200" b="1">
                          <a:solidFill>
                            <a:srgbClr val="334155"/>
                          </a:solidFill>
                          <a:latin typeface="Malgun Gothic"/>
                        </a:rPr>
                        <a:t>Wrap-up</a:t>
                      </a:r>
                    </a:p>
                  </a:txBody>
                  <a:tcPr>
                    <a:solidFill>
                      <a:srgbClr val="F8FAFC"/>
                    </a:solidFill>
                  </a:tcPr>
                </a:tc>
                <a:tc>
                  <a:txBody>
                    <a:bodyPr/>
                    <a:lstStyle/>
                    <a:p>
                      <a:pPr algn="ctr"/>
                      <a:r>
                        <a:rPr sz="1200">
                          <a:solidFill>
                            <a:srgbClr val="334155"/>
                          </a:solidFill>
                          <a:latin typeface="Malgun Gothic"/>
                        </a:rPr>
                        <a:t>Review·praise</a:t>
                      </a:r>
                    </a:p>
                  </a:txBody>
                  <a:tcPr>
                    <a:solidFill>
                      <a:srgbClr val="F8FAFC"/>
                    </a:solidFill>
                  </a:tcPr>
                </a:tc>
                <a:tc>
                  <a:txBody>
                    <a:bodyPr/>
                    <a:lstStyle/>
                    <a:p>
                      <a:pPr algn="ctr"/>
                      <a:r>
                        <a:rPr sz="1200">
                          <a:solidFill>
                            <a:srgbClr val="334155"/>
                          </a:solidFill>
                          <a:latin typeface="Malgun Gothic"/>
                        </a:rPr>
                        <a:t>Feedback·stars</a:t>
                      </a:r>
                    </a:p>
                  </a:txBody>
                  <a:tcPr>
                    <a:solidFill>
                      <a:srgbClr val="F8FAFC"/>
                    </a:solidFill>
                  </a:tcPr>
                </a:tc>
                <a:tc>
                  <a:txBody>
                    <a:bodyPr/>
                    <a:lstStyle/>
                    <a:p>
                      <a:pPr algn="ctr"/>
                      <a:r>
                        <a:rPr sz="1200">
                          <a:solidFill>
                            <a:srgbClr val="334155"/>
                          </a:solidFill>
                          <a:latin typeface="Malgun Gothic"/>
                        </a:rPr>
                        <a:t>1 praise + 1 fix</a:t>
                      </a:r>
                    </a:p>
                  </a:txBody>
                  <a:tcPr>
                    <a:solidFill>
                      <a:srgbClr val="F8FAFC"/>
                    </a:solidFill>
                  </a:tcPr>
                </a:tc>
              </a:tr>
              <a:tr h="502920">
                <a:tc>
                  <a:txBody>
                    <a:bodyPr/>
                    <a:lstStyle/>
                    <a:p>
                      <a:pPr algn="l"/>
                      <a:r>
                        <a:rPr sz="1200" b="1">
                          <a:solidFill>
                            <a:srgbClr val="334155"/>
                          </a:solidFill>
                          <a:latin typeface="Malgun Gothic"/>
                        </a:rPr>
                        <a:t>After</a:t>
                      </a:r>
                    </a:p>
                  </a:txBody>
                  <a:tcPr>
                    <a:solidFill>
                      <a:srgbClr val="FFFFFF"/>
                    </a:solidFill>
                  </a:tcPr>
                </a:tc>
                <a:tc>
                  <a:txBody>
                    <a:bodyPr/>
                    <a:lstStyle/>
                    <a:p>
                      <a:pPr algn="ctr"/>
                      <a:r>
                        <a:rPr sz="1200">
                          <a:solidFill>
                            <a:srgbClr val="334155"/>
                          </a:solidFill>
                          <a:latin typeface="Malgun Gothic"/>
                        </a:rPr>
                        <a:t>Game report·reports</a:t>
                      </a:r>
                    </a:p>
                  </a:txBody>
                  <a:tcPr>
                    <a:solidFill>
                      <a:srgbClr val="FFFFFF"/>
                    </a:solidFill>
                  </a:tcPr>
                </a:tc>
                <a:tc>
                  <a:txBody>
                    <a:bodyPr/>
                    <a:lstStyle/>
                    <a:p>
                      <a:pPr algn="ctr"/>
                      <a:r>
                        <a:rPr sz="1200">
                          <a:solidFill>
                            <a:srgbClr val="334155"/>
                          </a:solidFill>
                          <a:latin typeface="Malgun Gothic"/>
                        </a:rPr>
                        <a:t>Check weak points·progress</a:t>
                      </a:r>
                    </a:p>
                  </a:txBody>
                  <a:tcPr>
                    <a:solidFill>
                      <a:srgbClr val="FFFFFF"/>
                    </a:solidFill>
                  </a:tcPr>
                </a:tc>
                <a:tc>
                  <a:txBody>
                    <a:bodyPr/>
                    <a:lstStyle/>
                    <a:p>
                      <a:pPr algn="ctr"/>
                      <a:r>
                        <a:rPr sz="1200">
                          <a:solidFill>
                            <a:srgbClr val="334155"/>
                          </a:solidFill>
                          <a:latin typeface="Malgun Gothic"/>
                        </a:rPr>
                        <a:t>Next goal</a:t>
                      </a:r>
                    </a:p>
                  </a:txBody>
                  <a:tcPr>
                    <a:solidFill>
                      <a:srgbClr val="FFFFFF"/>
                    </a:solidFill>
                  </a:tcPr>
                </a:tc>
              </a:tr>
            </a:tbl>
          </a:graphicData>
        </a:graphic>
      </p:graphicFrame>
      <p:sp>
        <p:nvSpPr>
          <p:cNvPr id="6" name="Rounded Rectangle 5"/>
          <p:cNvSpPr/>
          <p:nvPr/>
        </p:nvSpPr>
        <p:spPr>
          <a:xfrm>
            <a:off x="365760" y="841247"/>
            <a:ext cx="475488" cy="47548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7"/>
            <a:ext cx="475488" cy="475488"/>
          </a:xfrm>
          <a:prstGeom prst="rect">
            <a:avLst/>
          </a:prstGeom>
          <a:noFill/>
        </p:spPr>
        <p:txBody>
          <a:bodyPr wrap="square" anchor="ctr">
            <a:spAutoFit/>
          </a:bodyPr>
          <a:lstStyle/>
          <a:p>
            <a:pPr algn="ctr">
              <a:lnSpc>
                <a:spcPct val="100000"/>
              </a:lnSpc>
            </a:pPr>
            <a:r>
              <a:rPr sz="1500" b="1">
                <a:solidFill>
                  <a:srgbClr val="FFFFFF"/>
                </a:solidFill>
                <a:latin typeface="Malgun Gothic"/>
              </a:rPr>
              <a:t>27</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Data at a Glance</a:t>
            </a:r>
          </a:p>
        </p:txBody>
      </p:sp>
      <p:sp>
        <p:nvSpPr>
          <p:cNvPr id="6" name="TextBox 5"/>
          <p:cNvSpPr txBox="1"/>
          <p:nvPr/>
        </p:nvSpPr>
        <p:spPr>
          <a:xfrm>
            <a:off x="987552" y="868680"/>
            <a:ext cx="9144000" cy="457200"/>
          </a:xfrm>
          <a:prstGeom prst="rect">
            <a:avLst/>
          </a:prstGeom>
          <a:noFill/>
        </p:spPr>
        <p:txBody>
          <a:bodyPr wrap="square" anchor="t">
            <a:spAutoFit/>
          </a:bodyPr>
          <a:lstStyle/>
          <a:p>
            <a:pPr algn="l">
              <a:lnSpc>
                <a:spcPct val="100000"/>
              </a:lnSpc>
            </a:pPr>
            <a:r>
              <a:rPr sz="2200" b="1">
                <a:solidFill>
                  <a:srgbClr val="EA580C"/>
                </a:solidFill>
                <a:latin typeface="Malgun Gothic"/>
              </a:rPr>
              <a:t>📊 Data at a Glance</a:t>
            </a:r>
          </a:p>
        </p:txBody>
      </p:sp>
      <p:sp>
        <p:nvSpPr>
          <p:cNvPr id="7" name="TextBox 6"/>
          <p:cNvSpPr txBox="1"/>
          <p:nvPr/>
        </p:nvSpPr>
        <p:spPr>
          <a:xfrm>
            <a:off x="457200" y="1554480"/>
            <a:ext cx="5486400" cy="365760"/>
          </a:xfrm>
          <a:prstGeom prst="rect">
            <a:avLst/>
          </a:prstGeom>
          <a:noFill/>
        </p:spPr>
        <p:txBody>
          <a:bodyPr wrap="square" anchor="t">
            <a:spAutoFit/>
          </a:bodyPr>
          <a:lstStyle/>
          <a:p>
            <a:pPr algn="l">
              <a:lnSpc>
                <a:spcPct val="100000"/>
              </a:lnSpc>
            </a:pPr>
            <a:r>
              <a:rPr sz="1400" b="1">
                <a:solidFill>
                  <a:srgbClr val="1E2340"/>
                </a:solidFill>
                <a:latin typeface="Malgun Gothic"/>
              </a:rPr>
              <a:t>Pre-check Items (example scores)</a:t>
            </a:r>
          </a:p>
        </p:txBody>
      </p:sp>
      <p:graphicFrame>
        <p:nvGraphicFramePr>
          <p:cNvPr id="8" name="Chart 7"/>
          <p:cNvGraphicFramePr>
            <a:graphicFrameLocks noGrp="1"/>
          </p:cNvGraphicFramePr>
          <p:nvPr/>
        </p:nvGraphicFramePr>
        <p:xfrm>
          <a:off x="457200" y="1920240"/>
          <a:ext cx="5486400" cy="4206240"/>
        </p:xfrm>
        <a:graphic>
          <a:graphicData uri="http://schemas.openxmlformats.org/drawingml/2006/chart">
            <c:chart xmlns:c="http://schemas.openxmlformats.org/drawingml/2006/chart" r:id="rId2"/>
          </a:graphicData>
        </a:graphic>
      </p:graphicFrame>
      <p:sp>
        <p:nvSpPr>
          <p:cNvPr id="9" name="TextBox 8"/>
          <p:cNvSpPr txBox="1"/>
          <p:nvPr/>
        </p:nvSpPr>
        <p:spPr>
          <a:xfrm>
            <a:off x="6309360" y="1554480"/>
            <a:ext cx="5486400" cy="365760"/>
          </a:xfrm>
          <a:prstGeom prst="rect">
            <a:avLst/>
          </a:prstGeom>
          <a:noFill/>
        </p:spPr>
        <p:txBody>
          <a:bodyPr wrap="square" anchor="t">
            <a:spAutoFit/>
          </a:bodyPr>
          <a:lstStyle/>
          <a:p>
            <a:pPr algn="l">
              <a:lnSpc>
                <a:spcPct val="100000"/>
              </a:lnSpc>
            </a:pPr>
            <a:r>
              <a:rPr sz="1400" b="1">
                <a:solidFill>
                  <a:srgbClr val="1E2340"/>
                </a:solidFill>
                <a:latin typeface="Malgun Gothic"/>
              </a:rPr>
              <a:t>Elements of a Good Lesson</a:t>
            </a:r>
          </a:p>
        </p:txBody>
      </p:sp>
      <p:graphicFrame>
        <p:nvGraphicFramePr>
          <p:cNvPr id="10" name="Chart 9"/>
          <p:cNvGraphicFramePr>
            <a:graphicFrameLocks noGrp="1"/>
          </p:cNvGraphicFramePr>
          <p:nvPr/>
        </p:nvGraphicFramePr>
        <p:xfrm>
          <a:off x="6309360" y="1920240"/>
          <a:ext cx="5486400" cy="4206240"/>
        </p:xfrm>
        <a:graphic>
          <a:graphicData uri="http://schemas.openxmlformats.org/drawingml/2006/chart">
            <c:chart xmlns:c="http://schemas.openxmlformats.org/drawingml/2006/chart" r:id="rId3"/>
          </a:graphicData>
        </a:graphic>
      </p:graphicFrame>
      <p:sp>
        <p:nvSpPr>
          <p:cNvPr id="6" name="Rounded Rectangle 5"/>
          <p:cNvSpPr/>
          <p:nvPr/>
        </p:nvSpPr>
        <p:spPr>
          <a:xfrm>
            <a:off x="365760" y="841247"/>
            <a:ext cx="475488" cy="47548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7"/>
            <a:ext cx="475488" cy="475488"/>
          </a:xfrm>
          <a:prstGeom prst="rect">
            <a:avLst/>
          </a:prstGeom>
          <a:noFill/>
        </p:spPr>
        <p:txBody>
          <a:bodyPr wrap="square" anchor="ctr">
            <a:spAutoFit/>
          </a:bodyPr>
          <a:lstStyle/>
          <a:p>
            <a:pPr algn="ctr">
              <a:lnSpc>
                <a:spcPct val="100000"/>
              </a:lnSpc>
            </a:pPr>
            <a:r>
              <a:rPr sz="1500" b="1">
                <a:solidFill>
                  <a:srgbClr val="FFFFFF"/>
                </a:solidFill>
                <a:latin typeface="Malgun Gothic"/>
              </a:rPr>
              <a:t>28</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Frequently Asked Questions (FAQ)</a:t>
            </a:r>
          </a:p>
        </p:txBody>
      </p:sp>
      <p:sp>
        <p:nvSpPr>
          <p:cNvPr id="6" name="TextBox 5"/>
          <p:cNvSpPr txBox="1"/>
          <p:nvPr/>
        </p:nvSpPr>
        <p:spPr>
          <a:xfrm>
            <a:off x="987552" y="868680"/>
            <a:ext cx="9144000" cy="457200"/>
          </a:xfrm>
          <a:prstGeom prst="rect">
            <a:avLst/>
          </a:prstGeom>
          <a:noFill/>
        </p:spPr>
        <p:txBody>
          <a:bodyPr wrap="square" anchor="t">
            <a:spAutoFit/>
          </a:bodyPr>
          <a:lstStyle/>
          <a:p>
            <a:pPr algn="l">
              <a:lnSpc>
                <a:spcPct val="100000"/>
              </a:lnSpc>
            </a:pPr>
            <a:r>
              <a:rPr sz="2200" b="1">
                <a:solidFill>
                  <a:srgbClr val="EA580C"/>
                </a:solidFill>
                <a:latin typeface="Malgun Gothic"/>
              </a:rPr>
              <a:t>❓ Frequently Asked Questions (FAQ)</a:t>
            </a:r>
          </a:p>
        </p:txBody>
      </p:sp>
      <p:sp>
        <p:nvSpPr>
          <p:cNvPr id="7" name="Rounded Rectangle 6"/>
          <p:cNvSpPr/>
          <p:nvPr/>
        </p:nvSpPr>
        <p:spPr>
          <a:xfrm>
            <a:off x="365760" y="1554480"/>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627632"/>
            <a:ext cx="11094415" cy="365760"/>
          </a:xfrm>
          <a:prstGeom prst="rect">
            <a:avLst/>
          </a:prstGeom>
          <a:noFill/>
        </p:spPr>
        <p:txBody>
          <a:bodyPr wrap="square" anchor="t">
            <a:spAutoFit/>
          </a:bodyPr>
          <a:lstStyle/>
          <a:p>
            <a:pPr algn="l">
              <a:lnSpc>
                <a:spcPct val="100000"/>
              </a:lnSpc>
            </a:pPr>
            <a:r>
              <a:rPr sz="1350" b="1">
                <a:solidFill>
                  <a:srgbClr val="EA580C"/>
                </a:solidFill>
                <a:latin typeface="Malgun Gothic"/>
              </a:rPr>
              <a:t>Q. How do I enter a lesson?</a:t>
            </a:r>
          </a:p>
        </p:txBody>
      </p:sp>
      <p:sp>
        <p:nvSpPr>
          <p:cNvPr id="9" name="TextBox 8"/>
          <p:cNvSpPr txBox="1"/>
          <p:nvPr/>
        </p:nvSpPr>
        <p:spPr>
          <a:xfrm>
            <a:off x="548640" y="1965960"/>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On the classroom entry screen, enter your name, press 'Enter', then allow camera and mic.</a:t>
            </a:r>
          </a:p>
        </p:txBody>
      </p:sp>
      <p:sp>
        <p:nvSpPr>
          <p:cNvPr id="10" name="Rounded Rectangle 9"/>
          <p:cNvSpPr/>
          <p:nvPr/>
        </p:nvSpPr>
        <p:spPr>
          <a:xfrm>
            <a:off x="365760" y="2542032"/>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615184"/>
            <a:ext cx="11094415" cy="365760"/>
          </a:xfrm>
          <a:prstGeom prst="rect">
            <a:avLst/>
          </a:prstGeom>
          <a:noFill/>
        </p:spPr>
        <p:txBody>
          <a:bodyPr wrap="square" anchor="t">
            <a:spAutoFit/>
          </a:bodyPr>
          <a:lstStyle/>
          <a:p>
            <a:pPr algn="l">
              <a:lnSpc>
                <a:spcPct val="100000"/>
              </a:lnSpc>
            </a:pPr>
            <a:r>
              <a:rPr sz="1350" b="1">
                <a:solidFill>
                  <a:srgbClr val="EA580C"/>
                </a:solidFill>
                <a:latin typeface="Malgun Gothic"/>
              </a:rPr>
              <a:t>Q. How do I share materials?</a:t>
            </a:r>
          </a:p>
        </p:txBody>
      </p:sp>
      <p:sp>
        <p:nvSpPr>
          <p:cNvPr id="12" name="TextBox 11"/>
          <p:cNvSpPr txBox="1"/>
          <p:nvPr/>
        </p:nvSpPr>
        <p:spPr>
          <a:xfrm>
            <a:off x="548640" y="2953512"/>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In the materials tab, upload PDF/JPEG/PNG to share with all participants. Use prev/next and fit-to-screen to view larger.</a:t>
            </a:r>
          </a:p>
        </p:txBody>
      </p:sp>
      <p:sp>
        <p:nvSpPr>
          <p:cNvPr id="13" name="Rounded Rectangle 12"/>
          <p:cNvSpPr/>
          <p:nvPr/>
        </p:nvSpPr>
        <p:spPr>
          <a:xfrm>
            <a:off x="365760" y="3529584"/>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3602736"/>
            <a:ext cx="11094415" cy="365760"/>
          </a:xfrm>
          <a:prstGeom prst="rect">
            <a:avLst/>
          </a:prstGeom>
          <a:noFill/>
        </p:spPr>
        <p:txBody>
          <a:bodyPr wrap="square" anchor="t">
            <a:spAutoFit/>
          </a:bodyPr>
          <a:lstStyle/>
          <a:p>
            <a:pPr algn="l">
              <a:lnSpc>
                <a:spcPct val="100000"/>
              </a:lnSpc>
            </a:pPr>
            <a:r>
              <a:rPr sz="1350" b="1">
                <a:solidFill>
                  <a:srgbClr val="EA580C"/>
                </a:solidFill>
                <a:latin typeface="Malgun Gothic"/>
              </a:rPr>
              <a:t>Q. How do I use the board?</a:t>
            </a:r>
          </a:p>
        </p:txBody>
      </p:sp>
      <p:sp>
        <p:nvSpPr>
          <p:cNvPr id="15" name="TextBox 14"/>
          <p:cNvSpPr txBox="1"/>
          <p:nvPr/>
        </p:nvSpPr>
        <p:spPr>
          <a:xfrm>
            <a:off x="548640" y="3941064"/>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In the board tab, write with pen/shapes/color/thickness, and save the board as an image if needed.</a:t>
            </a:r>
          </a:p>
        </p:txBody>
      </p:sp>
      <p:sp>
        <p:nvSpPr>
          <p:cNvPr id="16" name="Rounded Rectangle 15"/>
          <p:cNvSpPr/>
          <p:nvPr/>
        </p:nvSpPr>
        <p:spPr>
          <a:xfrm>
            <a:off x="365760" y="4517136"/>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4590288"/>
            <a:ext cx="11094415" cy="365760"/>
          </a:xfrm>
          <a:prstGeom prst="rect">
            <a:avLst/>
          </a:prstGeom>
          <a:noFill/>
        </p:spPr>
        <p:txBody>
          <a:bodyPr wrap="square" anchor="t">
            <a:spAutoFit/>
          </a:bodyPr>
          <a:lstStyle/>
          <a:p>
            <a:pPr algn="l">
              <a:lnSpc>
                <a:spcPct val="100000"/>
              </a:lnSpc>
            </a:pPr>
            <a:r>
              <a:rPr sz="1350" b="1">
                <a:solidFill>
                  <a:srgbClr val="EA580C"/>
                </a:solidFill>
                <a:latin typeface="Malgun Gothic"/>
              </a:rPr>
              <a:t>Q. A student can't enter.</a:t>
            </a:r>
          </a:p>
        </p:txBody>
      </p:sp>
      <p:sp>
        <p:nvSpPr>
          <p:cNvPr id="18" name="TextBox 17"/>
          <p:cNvSpPr txBox="1"/>
          <p:nvPr/>
        </p:nvSpPr>
        <p:spPr>
          <a:xfrm>
            <a:off x="548640" y="4928616"/>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Often a browser permission issue. Advise reconnecting in Chrome/Edge and allowing camera/mic.</a:t>
            </a:r>
          </a:p>
        </p:txBody>
      </p:sp>
      <p:sp>
        <p:nvSpPr>
          <p:cNvPr id="19" name="Rounded Rectangle 18"/>
          <p:cNvSpPr/>
          <p:nvPr/>
        </p:nvSpPr>
        <p:spPr>
          <a:xfrm>
            <a:off x="365760" y="5504688"/>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5577840"/>
            <a:ext cx="11094415" cy="365760"/>
          </a:xfrm>
          <a:prstGeom prst="rect">
            <a:avLst/>
          </a:prstGeom>
          <a:noFill/>
        </p:spPr>
        <p:txBody>
          <a:bodyPr wrap="square" anchor="t">
            <a:spAutoFit/>
          </a:bodyPr>
          <a:lstStyle/>
          <a:p>
            <a:pPr algn="l">
              <a:lnSpc>
                <a:spcPct val="100000"/>
              </a:lnSpc>
            </a:pPr>
            <a:r>
              <a:rPr sz="1350" b="1">
                <a:solidFill>
                  <a:srgbClr val="EA580C"/>
                </a:solidFill>
                <a:latin typeface="Malgun Gothic"/>
              </a:rPr>
              <a:t>Q. When do I write the review?</a:t>
            </a:r>
          </a:p>
        </p:txBody>
      </p:sp>
      <p:sp>
        <p:nvSpPr>
          <p:cNvPr id="21" name="TextBox 20"/>
          <p:cNvSpPr txBox="1"/>
          <p:nvPr/>
        </p:nvSpPr>
        <p:spPr>
          <a:xfrm>
            <a:off x="548640" y="5916168"/>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Writing right after class is most accurate. Leave stars and a short comment and it's reflected in the report.</a:t>
            </a:r>
          </a:p>
        </p:txBody>
      </p:sp>
      <p:sp>
        <p:nvSpPr>
          <p:cNvPr id="22" name="Rounded Rectangle 21"/>
          <p:cNvSpPr/>
          <p:nvPr/>
        </p:nvSpPr>
        <p:spPr>
          <a:xfrm>
            <a:off x="365760" y="6492240"/>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6565392"/>
            <a:ext cx="11094415" cy="365760"/>
          </a:xfrm>
          <a:prstGeom prst="rect">
            <a:avLst/>
          </a:prstGeom>
          <a:noFill/>
        </p:spPr>
        <p:txBody>
          <a:bodyPr wrap="square" anchor="t">
            <a:spAutoFit/>
          </a:bodyPr>
          <a:lstStyle/>
          <a:p>
            <a:pPr algn="l">
              <a:lnSpc>
                <a:spcPct val="100000"/>
              </a:lnSpc>
            </a:pPr>
            <a:r>
              <a:rPr sz="1350" b="1">
                <a:solidFill>
                  <a:srgbClr val="EA580C"/>
                </a:solidFill>
                <a:latin typeface="Malgun Gothic"/>
              </a:rPr>
              <a:t>Q. How do I know a student's weak points?</a:t>
            </a:r>
          </a:p>
        </p:txBody>
      </p:sp>
      <p:sp>
        <p:nvSpPr>
          <p:cNvPr id="24" name="TextBox 23"/>
          <p:cNvSpPr txBox="1"/>
          <p:nvPr/>
        </p:nvSpPr>
        <p:spPr>
          <a:xfrm>
            <a:off x="548640" y="6903720"/>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Look up by student ID in the game learning report to see often-missed weak words.</a:t>
            </a:r>
          </a:p>
        </p:txBody>
      </p:sp>
      <p:sp>
        <p:nvSpPr>
          <p:cNvPr id="6" name="Rounded Rectangle 5"/>
          <p:cNvSpPr/>
          <p:nvPr/>
        </p:nvSpPr>
        <p:spPr>
          <a:xfrm>
            <a:off x="365760" y="841247"/>
            <a:ext cx="475488" cy="47548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7"/>
            <a:ext cx="475488" cy="475488"/>
          </a:xfrm>
          <a:prstGeom prst="rect">
            <a:avLst/>
          </a:prstGeom>
          <a:noFill/>
        </p:spPr>
        <p:txBody>
          <a:bodyPr wrap="square" anchor="ctr">
            <a:spAutoFit/>
          </a:bodyPr>
          <a:lstStyle/>
          <a:p>
            <a:pPr algn="ctr">
              <a:lnSpc>
                <a:spcPct val="100000"/>
              </a:lnSpc>
            </a:pPr>
            <a:r>
              <a:rPr sz="1500" b="1">
                <a:solidFill>
                  <a:srgbClr val="FFFFFF"/>
                </a:solidFill>
                <a:latin typeface="Malgun Gothic"/>
              </a:rPr>
              <a:t>29</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4E6"/>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Checklist</a:t>
            </a:r>
          </a:p>
        </p:txBody>
      </p:sp>
      <p:sp>
        <p:nvSpPr>
          <p:cNvPr id="6" name="TextBox 5"/>
          <p:cNvSpPr txBox="1"/>
          <p:nvPr/>
        </p:nvSpPr>
        <p:spPr>
          <a:xfrm>
            <a:off x="987552" y="868680"/>
            <a:ext cx="9144000" cy="457200"/>
          </a:xfrm>
          <a:prstGeom prst="rect">
            <a:avLst/>
          </a:prstGeom>
          <a:noFill/>
        </p:spPr>
        <p:txBody>
          <a:bodyPr wrap="square" anchor="t">
            <a:spAutoFit/>
          </a:bodyPr>
          <a:lstStyle/>
          <a:p>
            <a:pPr algn="l">
              <a:lnSpc>
                <a:spcPct val="100000"/>
              </a:lnSpc>
            </a:pPr>
            <a:r>
              <a:rPr sz="2200" b="1">
                <a:solidFill>
                  <a:srgbClr val="EA580C"/>
                </a:solidFill>
                <a:latin typeface="Malgun Gothic"/>
              </a:rPr>
              <a:t>✅ Lesson Checklist</a:t>
            </a:r>
          </a:p>
        </p:txBody>
      </p:sp>
      <p:sp>
        <p:nvSpPr>
          <p:cNvPr id="7" name="Rounded Rectangle 6"/>
          <p:cNvSpPr/>
          <p:nvPr/>
        </p:nvSpPr>
        <p:spPr>
          <a:xfrm>
            <a:off x="457200" y="1645920"/>
            <a:ext cx="292608" cy="292608"/>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581912"/>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run the detailed check 5–10 min before class?</a:t>
            </a:r>
          </a:p>
        </p:txBody>
      </p:sp>
      <p:sp>
        <p:nvSpPr>
          <p:cNvPr id="9" name="Rounded Rectangle 8"/>
          <p:cNvSpPr/>
          <p:nvPr/>
        </p:nvSpPr>
        <p:spPr>
          <a:xfrm>
            <a:off x="457200" y="2212848"/>
            <a:ext cx="292608" cy="292608"/>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148840"/>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pre-upload the materials?</a:t>
            </a:r>
          </a:p>
        </p:txBody>
      </p:sp>
      <p:sp>
        <p:nvSpPr>
          <p:cNvPr id="11" name="Rounded Rectangle 10"/>
          <p:cNvSpPr/>
          <p:nvPr/>
        </p:nvSpPr>
        <p:spPr>
          <a:xfrm>
            <a:off x="457200" y="2779776"/>
            <a:ext cx="292608" cy="292608"/>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715768"/>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check camera framing and sound?</a:t>
            </a:r>
          </a:p>
        </p:txBody>
      </p:sp>
      <p:sp>
        <p:nvSpPr>
          <p:cNvPr id="13" name="Rounded Rectangle 12"/>
          <p:cNvSpPr/>
          <p:nvPr/>
        </p:nvSpPr>
        <p:spPr>
          <a:xfrm>
            <a:off x="457200" y="3346704"/>
            <a:ext cx="292608" cy="292608"/>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3282696"/>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check the student's AI warm-up?</a:t>
            </a:r>
          </a:p>
        </p:txBody>
      </p:sp>
      <p:sp>
        <p:nvSpPr>
          <p:cNvPr id="15" name="Rounded Rectangle 14"/>
          <p:cNvSpPr/>
          <p:nvPr/>
        </p:nvSpPr>
        <p:spPr>
          <a:xfrm>
            <a:off x="457200" y="3913632"/>
            <a:ext cx="292608" cy="292608"/>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3849624"/>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prepare the materials/board/chat tools?</a:t>
            </a:r>
          </a:p>
        </p:txBody>
      </p:sp>
      <p:sp>
        <p:nvSpPr>
          <p:cNvPr id="17" name="Rounded Rectangle 16"/>
          <p:cNvSpPr/>
          <p:nvPr/>
        </p:nvSpPr>
        <p:spPr>
          <a:xfrm>
            <a:off x="457200" y="4480560"/>
            <a:ext cx="292608" cy="292608"/>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416552"/>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write the lesson review after class?</a:t>
            </a:r>
          </a:p>
        </p:txBody>
      </p:sp>
      <p:sp>
        <p:nvSpPr>
          <p:cNvPr id="19" name="Rounded Rectangle 18"/>
          <p:cNvSpPr/>
          <p:nvPr/>
        </p:nvSpPr>
        <p:spPr>
          <a:xfrm>
            <a:off x="457200" y="5047488"/>
            <a:ext cx="292608" cy="292608"/>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4983480"/>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leave praise (stars/comment)?</a:t>
            </a:r>
          </a:p>
        </p:txBody>
      </p:sp>
      <p:sp>
        <p:nvSpPr>
          <p:cNvPr id="21" name="Rounded Rectangle 20"/>
          <p:cNvSpPr/>
          <p:nvPr/>
        </p:nvSpPr>
        <p:spPr>
          <a:xfrm>
            <a:off x="457200" y="5614416"/>
            <a:ext cx="292608" cy="292608"/>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5550408"/>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check weak words in the game report?</a:t>
            </a:r>
          </a:p>
        </p:txBody>
      </p:sp>
      <p:pic>
        <p:nvPicPr>
          <p:cNvPr id="23" name="Picture 22" descr="mango_char.png"/>
          <p:cNvPicPr>
            <a:picLocks noChangeAspect="1"/>
          </p:cNvPicPr>
          <p:nvPr/>
        </p:nvPicPr>
        <p:blipFill>
          <a:blip r:embed="rId2"/>
          <a:stretch>
            <a:fillRect/>
          </a:stretch>
        </p:blipFill>
        <p:spPr>
          <a:xfrm>
            <a:off x="9153162" y="4480559"/>
            <a:ext cx="2489892" cy="2011680"/>
          </a:xfrm>
          <a:prstGeom prst="rect">
            <a:avLst/>
          </a:prstGeom>
        </p:spPr>
      </p:pic>
      <p:sp>
        <p:nvSpPr>
          <p:cNvPr id="6" name="Rounded Rectangle 5"/>
          <p:cNvSpPr/>
          <p:nvPr/>
        </p:nvSpPr>
        <p:spPr>
          <a:xfrm>
            <a:off x="365760" y="841247"/>
            <a:ext cx="475488" cy="47548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7"/>
            <a:ext cx="475488" cy="475488"/>
          </a:xfrm>
          <a:prstGeom prst="rect">
            <a:avLst/>
          </a:prstGeom>
          <a:noFill/>
        </p:spPr>
        <p:txBody>
          <a:bodyPr wrap="square" anchor="ctr">
            <a:spAutoFit/>
          </a:bodyPr>
          <a:lstStyle/>
          <a:p>
            <a:pPr algn="ctr">
              <a:lnSpc>
                <a:spcPct val="100000"/>
              </a:lnSpc>
            </a:pPr>
            <a:r>
              <a:rPr sz="1500" b="1">
                <a:solidFill>
                  <a:srgbClr val="FFFFFF"/>
                </a:solidFill>
                <a:latin typeface="Malgun Gothic"/>
              </a:rPr>
              <a:t>30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Conclusion</a:t>
            </a:r>
          </a:p>
        </p:txBody>
      </p:sp>
      <p:sp>
        <p:nvSpPr>
          <p:cNvPr id="6" name="TextBox 5"/>
          <p:cNvSpPr txBox="1"/>
          <p:nvPr/>
        </p:nvSpPr>
        <p:spPr>
          <a:xfrm>
            <a:off x="987552" y="822960"/>
            <a:ext cx="11430000" cy="457200"/>
          </a:xfrm>
          <a:prstGeom prst="rect">
            <a:avLst/>
          </a:prstGeom>
          <a:noFill/>
        </p:spPr>
        <p:txBody>
          <a:bodyPr wrap="square" anchor="t">
            <a:spAutoFit/>
          </a:bodyPr>
          <a:lstStyle/>
          <a:p>
            <a:pPr algn="l">
              <a:lnSpc>
                <a:spcPct val="100000"/>
              </a:lnSpc>
            </a:pPr>
            <a:r>
              <a:rPr sz="2100" b="1">
                <a:solidFill>
                  <a:srgbClr val="EA580C"/>
                </a:solidFill>
                <a:latin typeface="Malgun Gothic"/>
              </a:rPr>
              <a:t>🏁 Conclusion · A Practical Guide to Great Lessons</a:t>
            </a:r>
          </a:p>
        </p:txBody>
      </p:sp>
      <p:sp>
        <p:nvSpPr>
          <p:cNvPr id="7" name="Rounded Rectangle 6"/>
          <p:cNvSpPr/>
          <p:nvPr/>
        </p:nvSpPr>
        <p:spPr>
          <a:xfrm>
            <a:off x="365760" y="1371600"/>
            <a:ext cx="11430000" cy="86868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426464"/>
            <a:ext cx="11064240" cy="777240"/>
          </a:xfrm>
          <a:prstGeom prst="rect">
            <a:avLst/>
          </a:prstGeom>
          <a:noFill/>
        </p:spPr>
        <p:txBody>
          <a:bodyPr wrap="square" anchor="t">
            <a:spAutoFit/>
          </a:bodyPr>
          <a:lstStyle/>
          <a:p>
            <a:pPr algn="l">
              <a:lnSpc>
                <a:spcPct val="115000"/>
              </a:lnSpc>
            </a:pPr>
            <a:r>
              <a:rPr sz="1150" b="0">
                <a:solidFill>
                  <a:srgbClr val="334155"/>
                </a:solidFill>
                <a:latin typeface="Malgun Gothic"/>
              </a:rPr>
              <a:t>You've now learned how to use the Mangoi site 'along the real lesson flow.' Finally, here's one page summarizing how a single lesson unfolds and the principles to keep every time. Keep just this page nearby and your lessons will run far more smoothly and reliably.</a:t>
            </a:r>
          </a:p>
        </p:txBody>
      </p:sp>
      <p:sp>
        <p:nvSpPr>
          <p:cNvPr id="9" name="TextBox 8"/>
          <p:cNvSpPr txBox="1"/>
          <p:nvPr/>
        </p:nvSpPr>
        <p:spPr>
          <a:xfrm>
            <a:off x="457200" y="2423160"/>
            <a:ext cx="5760720" cy="320040"/>
          </a:xfrm>
          <a:prstGeom prst="rect">
            <a:avLst/>
          </a:prstGeom>
          <a:noFill/>
        </p:spPr>
        <p:txBody>
          <a:bodyPr wrap="square" anchor="t">
            <a:spAutoFit/>
          </a:bodyPr>
          <a:lstStyle/>
          <a:p>
            <a:pPr algn="l">
              <a:lnSpc>
                <a:spcPct val="100000"/>
              </a:lnSpc>
            </a:pPr>
            <a:r>
              <a:rPr sz="1350" b="1">
                <a:solidFill>
                  <a:srgbClr val="EA580C"/>
                </a:solidFill>
                <a:latin typeface="Malgun Gothic"/>
              </a:rPr>
              <a:t>🔄 The Flow at a Glance</a:t>
            </a:r>
          </a:p>
        </p:txBody>
      </p:sp>
      <p:sp>
        <p:nvSpPr>
          <p:cNvPr id="10" name="Rounded Rectangle 9"/>
          <p:cNvSpPr/>
          <p:nvPr/>
        </p:nvSpPr>
        <p:spPr>
          <a:xfrm>
            <a:off x="457200" y="2788920"/>
            <a:ext cx="1600200" cy="38404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27889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Before class (5–10 min)</a:t>
            </a:r>
          </a:p>
        </p:txBody>
      </p:sp>
      <p:sp>
        <p:nvSpPr>
          <p:cNvPr id="12" name="TextBox 11"/>
          <p:cNvSpPr txBox="1"/>
          <p:nvPr/>
        </p:nvSpPr>
        <p:spPr>
          <a:xfrm>
            <a:off x="2148840" y="27706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My Page → 🎥 Pre-check camera, mic, network, lighting; pre-upload the textbook</a:t>
            </a:r>
          </a:p>
        </p:txBody>
      </p:sp>
      <p:sp>
        <p:nvSpPr>
          <p:cNvPr id="13" name="Rounded Rectangle 12"/>
          <p:cNvSpPr/>
          <p:nvPr/>
        </p:nvSpPr>
        <p:spPr>
          <a:xfrm>
            <a:off x="457200" y="3246120"/>
            <a:ext cx="1600200" cy="38404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32461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Enter</a:t>
            </a:r>
          </a:p>
        </p:txBody>
      </p:sp>
      <p:sp>
        <p:nvSpPr>
          <p:cNvPr id="15" name="TextBox 14"/>
          <p:cNvSpPr txBox="1"/>
          <p:nvPr/>
        </p:nvSpPr>
        <p:spPr>
          <a:xfrm>
            <a:off x="2148840" y="32278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 Enter Class → confirm name → allow camera/mic → check background/sound while waiting</a:t>
            </a:r>
          </a:p>
        </p:txBody>
      </p:sp>
      <p:sp>
        <p:nvSpPr>
          <p:cNvPr id="16" name="Rounded Rectangle 15"/>
          <p:cNvSpPr/>
          <p:nvPr/>
        </p:nvSpPr>
        <p:spPr>
          <a:xfrm>
            <a:off x="457200" y="3703320"/>
            <a:ext cx="1600200" cy="38404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37033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Intro (2–3 min)</a:t>
            </a:r>
          </a:p>
        </p:txBody>
      </p:sp>
      <p:sp>
        <p:nvSpPr>
          <p:cNvPr id="18" name="TextBox 17"/>
          <p:cNvSpPr txBox="1"/>
          <p:nvPr/>
        </p:nvSpPr>
        <p:spPr>
          <a:xfrm>
            <a:off x="2148840" y="36850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Open lightly by mentioning the student's AI warm-up; state today's goal in one line</a:t>
            </a:r>
          </a:p>
        </p:txBody>
      </p:sp>
      <p:sp>
        <p:nvSpPr>
          <p:cNvPr id="19" name="Rounded Rectangle 18"/>
          <p:cNvSpPr/>
          <p:nvPr/>
        </p:nvSpPr>
        <p:spPr>
          <a:xfrm>
            <a:off x="457200" y="4160520"/>
            <a:ext cx="1600200" cy="38404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41605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Main lesson</a:t>
            </a:r>
          </a:p>
        </p:txBody>
      </p:sp>
      <p:sp>
        <p:nvSpPr>
          <p:cNvPr id="21" name="TextBox 20"/>
          <p:cNvSpPr txBox="1"/>
          <p:nvPr/>
        </p:nvSpPr>
        <p:spPr>
          <a:xfrm>
            <a:off x="2148840" y="41422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Share the same page via materials tools · write on the board · key words in chat; draw out plenty of student speech</a:t>
            </a:r>
          </a:p>
        </p:txBody>
      </p:sp>
      <p:sp>
        <p:nvSpPr>
          <p:cNvPr id="22" name="Rounded Rectangle 21"/>
          <p:cNvSpPr/>
          <p:nvPr/>
        </p:nvSpPr>
        <p:spPr>
          <a:xfrm>
            <a:off x="457200" y="4617720"/>
            <a:ext cx="1600200" cy="38404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46177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Praise</a:t>
            </a:r>
          </a:p>
        </p:txBody>
      </p:sp>
      <p:sp>
        <p:nvSpPr>
          <p:cNvPr id="24" name="TextBox 23"/>
          <p:cNvSpPr txBox="1"/>
          <p:nvPr/>
        </p:nvSpPr>
        <p:spPr>
          <a:xfrm>
            <a:off x="2148840" y="45994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The moment they do well, tap the 🌟 Praise button (+1P) → piles up live in the 🧺 basket</a:t>
            </a:r>
          </a:p>
        </p:txBody>
      </p:sp>
      <p:sp>
        <p:nvSpPr>
          <p:cNvPr id="25" name="Rounded Rectangle 24"/>
          <p:cNvSpPr/>
          <p:nvPr/>
        </p:nvSpPr>
        <p:spPr>
          <a:xfrm>
            <a:off x="457200" y="5074920"/>
            <a:ext cx="1600200" cy="38404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7200" y="50749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Practice</a:t>
            </a:r>
          </a:p>
        </p:txBody>
      </p:sp>
      <p:sp>
        <p:nvSpPr>
          <p:cNvPr id="27" name="TextBox 26"/>
          <p:cNvSpPr txBox="1"/>
          <p:nvPr/>
        </p:nvSpPr>
        <p:spPr>
          <a:xfrm>
            <a:off x="2148840" y="50566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Link weak-pronunciation sentences to AI voice-coach homework for repetition</a:t>
            </a:r>
          </a:p>
        </p:txBody>
      </p:sp>
      <p:sp>
        <p:nvSpPr>
          <p:cNvPr id="28" name="Rounded Rectangle 27"/>
          <p:cNvSpPr/>
          <p:nvPr/>
        </p:nvSpPr>
        <p:spPr>
          <a:xfrm>
            <a:off x="457200" y="5532120"/>
            <a:ext cx="1600200" cy="38404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7200" y="55321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Wrap-up (3 min)</a:t>
            </a:r>
          </a:p>
        </p:txBody>
      </p:sp>
      <p:sp>
        <p:nvSpPr>
          <p:cNvPr id="30" name="TextBox 29"/>
          <p:cNvSpPr txBox="1"/>
          <p:nvPr/>
        </p:nvSpPr>
        <p:spPr>
          <a:xfrm>
            <a:off x="2148840" y="55138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Summarize today → prompt the review quiz &amp; rating (+10P) → leave the next goal in one line</a:t>
            </a:r>
          </a:p>
        </p:txBody>
      </p:sp>
      <p:sp>
        <p:nvSpPr>
          <p:cNvPr id="31" name="Rounded Rectangle 30"/>
          <p:cNvSpPr/>
          <p:nvPr/>
        </p:nvSpPr>
        <p:spPr>
          <a:xfrm>
            <a:off x="457200" y="5989320"/>
            <a:ext cx="1600200" cy="38404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59893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After class</a:t>
            </a:r>
          </a:p>
        </p:txBody>
      </p:sp>
      <p:sp>
        <p:nvSpPr>
          <p:cNvPr id="33" name="TextBox 32"/>
          <p:cNvSpPr txBox="1"/>
          <p:nvPr/>
        </p:nvSpPr>
        <p:spPr>
          <a:xfrm>
            <a:off x="2148840" y="59710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Write the review (1 praise + 1 improvement) · leave praise · check weak words in the game report</a:t>
            </a:r>
          </a:p>
        </p:txBody>
      </p:sp>
      <p:sp>
        <p:nvSpPr>
          <p:cNvPr id="34" name="TextBox 33"/>
          <p:cNvSpPr txBox="1"/>
          <p:nvPr/>
        </p:nvSpPr>
        <p:spPr>
          <a:xfrm>
            <a:off x="6400800" y="2423160"/>
            <a:ext cx="5486400" cy="320040"/>
          </a:xfrm>
          <a:prstGeom prst="rect">
            <a:avLst/>
          </a:prstGeom>
          <a:noFill/>
        </p:spPr>
        <p:txBody>
          <a:bodyPr wrap="square" anchor="t">
            <a:spAutoFit/>
          </a:bodyPr>
          <a:lstStyle/>
          <a:p>
            <a:pPr algn="l">
              <a:lnSpc>
                <a:spcPct val="100000"/>
              </a:lnSpc>
            </a:pPr>
            <a:r>
              <a:rPr sz="1350" b="1">
                <a:solidFill>
                  <a:srgbClr val="EA580C"/>
                </a:solidFill>
                <a:latin typeface="Malgun Gothic"/>
              </a:rPr>
              <a:t>⭐ Key Principles</a:t>
            </a:r>
          </a:p>
        </p:txBody>
      </p:sp>
      <p:sp>
        <p:nvSpPr>
          <p:cNvPr id="35" name="TextBox 34"/>
          <p:cNvSpPr txBox="1"/>
          <p:nvPr/>
        </p:nvSpPr>
        <p:spPr>
          <a:xfrm>
            <a:off x="6400800" y="2788920"/>
            <a:ext cx="5394960" cy="2103120"/>
          </a:xfrm>
          <a:prstGeom prst="rect">
            <a:avLst/>
          </a:prstGeom>
          <a:noFill/>
        </p:spPr>
        <p:txBody>
          <a:bodyPr wrap="square">
            <a:spAutoFit/>
          </a:bodyPr>
          <a:lstStyle/>
          <a:p>
            <a:pPr>
              <a:lnSpc>
                <a:spcPct val="115000"/>
              </a:lnSpc>
              <a:spcAft>
                <a:spcPts val="500"/>
              </a:spcAft>
            </a:pPr>
            <a:r>
              <a:rPr sz="900" b="1">
                <a:solidFill>
                  <a:srgbClr val="EA580C"/>
                </a:solidFill>
                <a:latin typeface="Malgun Gothic"/>
              </a:rPr>
              <a:t>● </a:t>
            </a:r>
            <a:r>
              <a:rPr sz="1100">
                <a:solidFill>
                  <a:srgbClr val="334155"/>
                </a:solidFill>
                <a:latin typeface="Malgun Gothic"/>
              </a:rPr>
              <a:t>Preparation is half the battle — pre-check and pre-upload keep the lesson from stalling.</a:t>
            </a:r>
          </a:p>
          <a:p>
            <a:pPr>
              <a:lnSpc>
                <a:spcPct val="115000"/>
              </a:lnSpc>
              <a:spcAft>
                <a:spcPts val="500"/>
              </a:spcAft>
            </a:pPr>
            <a:r>
              <a:rPr sz="900" b="1">
                <a:solidFill>
                  <a:srgbClr val="EA580C"/>
                </a:solidFill>
                <a:latin typeface="Malgun Gothic"/>
              </a:rPr>
              <a:t>● </a:t>
            </a:r>
            <a:r>
              <a:rPr sz="1100">
                <a:solidFill>
                  <a:srgbClr val="334155"/>
                </a:solidFill>
                <a:latin typeface="Malgun Gothic"/>
              </a:rPr>
              <a:t>Make them speak a lot — students should speak more than the teacher to improve.</a:t>
            </a:r>
          </a:p>
          <a:p>
            <a:pPr>
              <a:lnSpc>
                <a:spcPct val="115000"/>
              </a:lnSpc>
              <a:spcAft>
                <a:spcPts val="500"/>
              </a:spcAft>
            </a:pPr>
            <a:r>
              <a:rPr sz="900" b="1">
                <a:solidFill>
                  <a:srgbClr val="EA580C"/>
                </a:solidFill>
                <a:latin typeface="Malgun Gothic"/>
              </a:rPr>
              <a:t>● </a:t>
            </a:r>
            <a:r>
              <a:rPr sz="1100">
                <a:solidFill>
                  <a:srgbClr val="334155"/>
                </a:solidFill>
                <a:latin typeface="Malgun Gothic"/>
              </a:rPr>
              <a:t>Praise instantly — the moment they do well, 🌟praise! Instant rewards are the strongest motivator.</a:t>
            </a:r>
          </a:p>
          <a:p>
            <a:pPr>
              <a:lnSpc>
                <a:spcPct val="115000"/>
              </a:lnSpc>
              <a:spcAft>
                <a:spcPts val="500"/>
              </a:spcAft>
            </a:pPr>
            <a:r>
              <a:rPr sz="900" b="1">
                <a:solidFill>
                  <a:srgbClr val="EA580C"/>
                </a:solidFill>
                <a:latin typeface="Malgun Gothic"/>
              </a:rPr>
              <a:t>● </a:t>
            </a:r>
            <a:r>
              <a:rPr sz="1100">
                <a:solidFill>
                  <a:srgbClr val="334155"/>
                </a:solidFill>
                <a:latin typeface="Malgun Gothic"/>
              </a:rPr>
              <a:t>Keep records — the review and 'next goal in one line' power the next lesson and handovers.</a:t>
            </a:r>
          </a:p>
          <a:p>
            <a:pPr>
              <a:lnSpc>
                <a:spcPct val="115000"/>
              </a:lnSpc>
              <a:spcAft>
                <a:spcPts val="500"/>
              </a:spcAft>
            </a:pPr>
            <a:r>
              <a:rPr sz="900" b="1">
                <a:solidFill>
                  <a:srgbClr val="EA580C"/>
                </a:solidFill>
                <a:latin typeface="Malgun Gothic"/>
              </a:rPr>
              <a:t>● </a:t>
            </a:r>
            <a:r>
              <a:rPr sz="1100">
                <a:solidFill>
                  <a:srgbClr val="334155"/>
                </a:solidFill>
                <a:latin typeface="Malgun Gothic"/>
              </a:rPr>
              <a:t>Reinforce with data — put the game report's weak words into the next lesson's intro.</a:t>
            </a:r>
          </a:p>
        </p:txBody>
      </p:sp>
      <p:sp>
        <p:nvSpPr>
          <p:cNvPr id="36" name="TextBox 35"/>
          <p:cNvSpPr txBox="1"/>
          <p:nvPr/>
        </p:nvSpPr>
        <p:spPr>
          <a:xfrm>
            <a:off x="6400800" y="4892040"/>
            <a:ext cx="5486400" cy="320040"/>
          </a:xfrm>
          <a:prstGeom prst="rect">
            <a:avLst/>
          </a:prstGeom>
          <a:noFill/>
        </p:spPr>
        <p:txBody>
          <a:bodyPr wrap="square" anchor="t">
            <a:spAutoFit/>
          </a:bodyPr>
          <a:lstStyle/>
          <a:p>
            <a:pPr algn="l">
              <a:lnSpc>
                <a:spcPct val="100000"/>
              </a:lnSpc>
            </a:pPr>
            <a:r>
              <a:rPr sz="1350" b="1">
                <a:solidFill>
                  <a:srgbClr val="EA580C"/>
                </a:solidFill>
                <a:latin typeface="Malgun Gothic"/>
              </a:rPr>
              <a:t>📌 Remember</a:t>
            </a:r>
          </a:p>
        </p:txBody>
      </p:sp>
      <p:sp>
        <p:nvSpPr>
          <p:cNvPr id="37" name="TextBox 36"/>
          <p:cNvSpPr txBox="1"/>
          <p:nvPr/>
        </p:nvSpPr>
        <p:spPr>
          <a:xfrm>
            <a:off x="6400800" y="5257800"/>
            <a:ext cx="5394960" cy="1645920"/>
          </a:xfrm>
          <a:prstGeom prst="rect">
            <a:avLst/>
          </a:prstGeom>
          <a:noFill/>
        </p:spPr>
        <p:txBody>
          <a:bodyPr wrap="square">
            <a:spAutoFit/>
          </a:bodyPr>
          <a:lstStyle/>
          <a:p>
            <a:pPr>
              <a:lnSpc>
                <a:spcPct val="115000"/>
              </a:lnSpc>
              <a:spcAft>
                <a:spcPts val="400"/>
              </a:spcAft>
            </a:pPr>
            <a:r>
              <a:rPr sz="850" b="1">
                <a:solidFill>
                  <a:srgbClr val="FFB020"/>
                </a:solidFill>
                <a:latin typeface="Malgun Gothic"/>
              </a:rPr>
              <a:t>● </a:t>
            </a:r>
            <a:r>
              <a:rPr sz="1050">
                <a:solidFill>
                  <a:srgbClr val="334155"/>
                </a:solidFill>
                <a:latin typeface="Malgun Gothic"/>
              </a:rPr>
              <a:t>No sound/video → check Chrome/Edge + camera·mic permission first (KakaoTalk in-app → external browser)</a:t>
            </a:r>
          </a:p>
          <a:p>
            <a:pPr>
              <a:lnSpc>
                <a:spcPct val="115000"/>
              </a:lnSpc>
              <a:spcAft>
                <a:spcPts val="400"/>
              </a:spcAft>
            </a:pPr>
            <a:r>
              <a:rPr sz="850" b="1">
                <a:solidFill>
                  <a:srgbClr val="FFB020"/>
                </a:solidFill>
                <a:latin typeface="Malgun Gothic"/>
              </a:rPr>
              <a:t>● </a:t>
            </a:r>
            <a:r>
              <a:rPr sz="1050">
                <a:solidFill>
                  <a:srgbClr val="334155"/>
                </a:solidFill>
                <a:latin typeface="Malgun Gothic"/>
              </a:rPr>
              <a:t>Praise points are given by the teacher; the student's star rating earns +10P</a:t>
            </a:r>
          </a:p>
          <a:p>
            <a:pPr>
              <a:lnSpc>
                <a:spcPct val="115000"/>
              </a:lnSpc>
              <a:spcAft>
                <a:spcPts val="400"/>
              </a:spcAft>
            </a:pPr>
            <a:r>
              <a:rPr sz="850" b="1">
                <a:solidFill>
                  <a:srgbClr val="FFB020"/>
                </a:solidFill>
                <a:latin typeface="Malgun Gothic"/>
              </a:rPr>
              <a:t>● </a:t>
            </a:r>
            <a:r>
              <a:rPr sz="1050">
                <a:solidFill>
                  <a:srgbClr val="334155"/>
                </a:solidFill>
                <a:latin typeface="Malgun Gothic"/>
              </a:rPr>
              <a:t>Handle postpone requests after checking policy; guide out-of-policy last-minute requests per policy</a:t>
            </a:r>
          </a:p>
          <a:p>
            <a:pPr>
              <a:lnSpc>
                <a:spcPct val="115000"/>
              </a:lnSpc>
              <a:spcAft>
                <a:spcPts val="400"/>
              </a:spcAft>
            </a:pPr>
            <a:r>
              <a:rPr sz="850" b="1">
                <a:solidFill>
                  <a:srgbClr val="FFB020"/>
                </a:solidFill>
                <a:latin typeface="Malgun Gothic"/>
              </a:rPr>
              <a:t>● </a:t>
            </a:r>
            <a:r>
              <a:rPr sz="1050">
                <a:solidFill>
                  <a:srgbClr val="334155"/>
                </a:solidFill>
                <a:latin typeface="Malgun Gothic"/>
              </a:rPr>
              <a:t>Run every lesson in the rhythm of 'Check → Engage → Praise → Record'!</a:t>
            </a:r>
          </a:p>
        </p:txBody>
      </p:sp>
      <p:sp>
        <p:nvSpPr>
          <p:cNvPr id="38" name="Rounded Rectangle 37"/>
          <p:cNvSpPr/>
          <p:nvPr/>
        </p:nvSpPr>
        <p:spPr>
          <a:xfrm>
            <a:off x="457200" y="6172200"/>
            <a:ext cx="11338560" cy="566928"/>
          </a:xfrm>
          <a:prstGeom prst="roundRect">
            <a:avLst/>
          </a:prstGeom>
          <a:solidFill>
            <a:srgbClr val="FFF4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0080" y="6208776"/>
            <a:ext cx="10972800" cy="502920"/>
          </a:xfrm>
          <a:prstGeom prst="rect">
            <a:avLst/>
          </a:prstGeom>
          <a:noFill/>
        </p:spPr>
        <p:txBody>
          <a:bodyPr wrap="square" anchor="t">
            <a:spAutoFit/>
          </a:bodyPr>
          <a:lstStyle/>
          <a:p>
            <a:pPr algn="l">
              <a:lnSpc>
                <a:spcPct val="102000"/>
              </a:lnSpc>
            </a:pPr>
            <a:r>
              <a:rPr sz="1000" b="0">
                <a:solidFill>
                  <a:srgbClr val="5B4A2A"/>
                </a:solidFill>
                <a:latin typeface="Malgun Gothic"/>
              </a:rPr>
              <a:t>🍊 A teacher's warm words and instant praise build a child's confidence in English. Keep this guide beside you and lead every lesson with it. Praise even the small wins and students will look forward to the next class. Questions? Contact support anytime — cheering you on for lessons that grow together! 🍊</a:t>
            </a:r>
          </a:p>
        </p:txBody>
      </p:sp>
      <p:sp>
        <p:nvSpPr>
          <p:cNvPr id="6" name="Rounded Rectangle 5"/>
          <p:cNvSpPr/>
          <p:nvPr/>
        </p:nvSpPr>
        <p:spPr>
          <a:xfrm>
            <a:off x="365760" y="795528"/>
            <a:ext cx="475488" cy="47548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795528"/>
            <a:ext cx="475488" cy="475488"/>
          </a:xfrm>
          <a:prstGeom prst="rect">
            <a:avLst/>
          </a:prstGeom>
          <a:noFill/>
        </p:spPr>
        <p:txBody>
          <a:bodyPr wrap="square" anchor="ctr">
            <a:spAutoFit/>
          </a:bodyPr>
          <a:lstStyle/>
          <a:p>
            <a:pPr algn="ctr">
              <a:lnSpc>
                <a:spcPct val="100000"/>
              </a:lnSpc>
            </a:pPr>
            <a:r>
              <a:rPr sz="1500" b="1">
                <a:solidFill>
                  <a:srgbClr val="FFFFFF"/>
                </a:solidFill>
                <a:latin typeface="Malgun Gothic"/>
              </a:rPr>
              <a:t>31</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59E0B"/>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371600" y="-1371600"/>
            <a:ext cx="3657600" cy="365760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515600" y="4572000"/>
            <a:ext cx="3657600" cy="365760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2194560"/>
            <a:ext cx="12191695" cy="914400"/>
          </a:xfrm>
          <a:prstGeom prst="rect">
            <a:avLst/>
          </a:prstGeom>
          <a:noFill/>
        </p:spPr>
        <p:txBody>
          <a:bodyPr wrap="square" anchor="t">
            <a:spAutoFit/>
          </a:bodyPr>
          <a:lstStyle/>
          <a:p>
            <a:pPr algn="ctr">
              <a:lnSpc>
                <a:spcPct val="100000"/>
              </a:lnSpc>
            </a:pPr>
            <a:r>
              <a:rPr sz="3400" b="1">
                <a:solidFill>
                  <a:srgbClr val="FFFFFF"/>
                </a:solidFill>
                <a:latin typeface="Malgun Gothic"/>
              </a:rPr>
              <a:t>Let's grow together with Mangoi!</a:t>
            </a:r>
          </a:p>
        </p:txBody>
      </p:sp>
      <p:sp>
        <p:nvSpPr>
          <p:cNvPr id="6" name="TextBox 5"/>
          <p:cNvSpPr txBox="1"/>
          <p:nvPr/>
        </p:nvSpPr>
        <p:spPr>
          <a:xfrm>
            <a:off x="0" y="3291840"/>
            <a:ext cx="12191695" cy="548640"/>
          </a:xfrm>
          <a:prstGeom prst="rect">
            <a:avLst/>
          </a:prstGeom>
          <a:noFill/>
        </p:spPr>
        <p:txBody>
          <a:bodyPr wrap="square" anchor="t">
            <a:spAutoFit/>
          </a:bodyPr>
          <a:lstStyle/>
          <a:p>
            <a:pPr algn="ctr">
              <a:lnSpc>
                <a:spcPct val="100000"/>
              </a:lnSpc>
            </a:pPr>
            <a:r>
              <a:rPr sz="1600" b="0">
                <a:solidFill>
                  <a:srgbClr val="FFFFFF"/>
                </a:solidFill>
                <a:latin typeface="Malgun Gothic"/>
              </a:rPr>
              <a:t>Questions? Ask the on-site A.i assistant or contact customer support.</a:t>
            </a:r>
          </a:p>
        </p:txBody>
      </p:sp>
      <p:sp>
        <p:nvSpPr>
          <p:cNvPr id="7" name="TextBox 6"/>
          <p:cNvSpPr txBox="1"/>
          <p:nvPr/>
        </p:nvSpPr>
        <p:spPr>
          <a:xfrm>
            <a:off x="0" y="4114800"/>
            <a:ext cx="12191695" cy="457200"/>
          </a:xfrm>
          <a:prstGeom prst="rect">
            <a:avLst/>
          </a:prstGeom>
          <a:noFill/>
        </p:spPr>
        <p:txBody>
          <a:bodyPr wrap="square" anchor="t">
            <a:spAutoFit/>
          </a:bodyPr>
          <a:lstStyle/>
          <a:p>
            <a:pPr algn="ctr">
              <a:lnSpc>
                <a:spcPct val="100000"/>
              </a:lnSpc>
            </a:pPr>
            <a:r>
              <a:rPr sz="1400" b="0">
                <a:solidFill>
                  <a:srgbClr val="FFFFFF"/>
                </a:solidFill>
                <a:latin typeface="Malgun Gothic"/>
              </a:rPr>
              <a:t>🌐 www.mangoi.co.kr    📞 1644-0561    ✉ support@mangoi.co.kr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Contents</a:t>
            </a:r>
          </a:p>
        </p:txBody>
      </p:sp>
      <p:sp>
        <p:nvSpPr>
          <p:cNvPr id="6" name="TextBox 5"/>
          <p:cNvSpPr txBox="1"/>
          <p:nvPr/>
        </p:nvSpPr>
        <p:spPr>
          <a:xfrm>
            <a:off x="365760" y="749808"/>
            <a:ext cx="7315200" cy="502920"/>
          </a:xfrm>
          <a:prstGeom prst="rect">
            <a:avLst/>
          </a:prstGeom>
          <a:noFill/>
        </p:spPr>
        <p:txBody>
          <a:bodyPr wrap="none">
            <a:spAutoFit/>
          </a:bodyPr>
          <a:lstStyle/>
          <a:p>
            <a:r>
              <a:rPr sz="2200" b="1">
                <a:solidFill>
                  <a:srgbClr val="1E2340"/>
                </a:solidFill>
                <a:latin typeface="Malgun Gothic"/>
              </a:rPr>
              <a:t>📑 Contents</a:t>
            </a:r>
          </a:p>
        </p:txBody>
      </p:sp>
      <p:sp>
        <p:nvSpPr>
          <p:cNvPr id="7" name="TextBox 6"/>
          <p:cNvSpPr txBox="1"/>
          <p:nvPr/>
        </p:nvSpPr>
        <p:spPr>
          <a:xfrm>
            <a:off x="365760" y="1417320"/>
            <a:ext cx="5500116" cy="5212080"/>
          </a:xfrm>
          <a:prstGeom prst="rect">
            <a:avLst/>
          </a:prstGeom>
          <a:noFill/>
        </p:spPr>
        <p:txBody>
          <a:bodyPr wrap="none">
            <a:spAutoFit/>
          </a:bodyPr>
          <a:lstStyle/>
          <a:p>
            <a:pPr>
              <a:spcAft>
                <a:spcPts val="1080"/>
              </a:spcAft>
            </a:pPr>
            <a:r>
              <a:rPr sz="1100" b="1">
                <a:solidFill>
                  <a:srgbClr val="4F46E5"/>
                </a:solidFill>
                <a:latin typeface="Malgun Gothic"/>
              </a:rPr>
              <a:t>·   </a:t>
            </a:r>
            <a:r>
              <a:rPr sz="1100">
                <a:solidFill>
                  <a:srgbClr val="334155"/>
                </a:solidFill>
                <a:latin typeface="Malgun Gothic"/>
              </a:rPr>
              <a:t>Introduction</a:t>
            </a:r>
            <a:r>
              <a:rPr sz="950">
                <a:solidFill>
                  <a:srgbClr val="94A3B8"/>
                </a:solidFill>
                <a:latin typeface="Malgun Gothic"/>
              </a:rPr>
              <a:t>   ·  p.3</a:t>
            </a:r>
          </a:p>
          <a:p>
            <a:pPr>
              <a:spcAft>
                <a:spcPts val="1080"/>
              </a:spcAft>
            </a:pPr>
            <a:r>
              <a:rPr sz="1100" b="1">
                <a:solidFill>
                  <a:srgbClr val="4F46E5"/>
                </a:solidFill>
                <a:latin typeface="Malgun Gothic"/>
              </a:rPr>
              <a:t>01  </a:t>
            </a:r>
            <a:r>
              <a:rPr sz="1100">
                <a:solidFill>
                  <a:srgbClr val="334155"/>
                </a:solidFill>
                <a:latin typeface="Malgun Gothic"/>
              </a:rPr>
              <a:t>🩺 Pre-class Detailed Check</a:t>
            </a:r>
            <a:r>
              <a:rPr sz="950">
                <a:solidFill>
                  <a:srgbClr val="94A3B8"/>
                </a:solidFill>
                <a:latin typeface="Malgun Gothic"/>
              </a:rPr>
              <a:t>   ·  p.4</a:t>
            </a:r>
          </a:p>
          <a:p>
            <a:pPr>
              <a:spcAft>
                <a:spcPts val="1080"/>
              </a:spcAft>
            </a:pPr>
            <a:r>
              <a:rPr sz="1100" b="1">
                <a:solidFill>
                  <a:srgbClr val="4F46E5"/>
                </a:solidFill>
                <a:latin typeface="Malgun Gothic"/>
              </a:rPr>
              <a:t>02  </a:t>
            </a:r>
            <a:r>
              <a:rPr sz="1100">
                <a:solidFill>
                  <a:srgbClr val="334155"/>
                </a:solidFill>
                <a:latin typeface="Malgun Gothic"/>
              </a:rPr>
              <a:t>👤 Enter a Lesson from My Page</a:t>
            </a:r>
            <a:r>
              <a:rPr sz="950">
                <a:solidFill>
                  <a:srgbClr val="94A3B8"/>
                </a:solidFill>
                <a:latin typeface="Malgun Gothic"/>
              </a:rPr>
              <a:t>   ·  p.5</a:t>
            </a:r>
          </a:p>
          <a:p>
            <a:pPr>
              <a:spcAft>
                <a:spcPts val="1080"/>
              </a:spcAft>
            </a:pPr>
            <a:r>
              <a:rPr sz="1100" b="1">
                <a:solidFill>
                  <a:srgbClr val="4F46E5"/>
                </a:solidFill>
                <a:latin typeface="Malgun Gothic"/>
              </a:rPr>
              <a:t>03  </a:t>
            </a:r>
            <a:r>
              <a:rPr sz="1100">
                <a:solidFill>
                  <a:srgbClr val="334155"/>
                </a:solidFill>
                <a:latin typeface="Malgun Gothic"/>
              </a:rPr>
              <a:t>🧭 Make the Most of My Page</a:t>
            </a:r>
            <a:r>
              <a:rPr sz="950">
                <a:solidFill>
                  <a:srgbClr val="94A3B8"/>
                </a:solidFill>
                <a:latin typeface="Malgun Gothic"/>
              </a:rPr>
              <a:t>   ·  p.6</a:t>
            </a:r>
          </a:p>
          <a:p>
            <a:pPr>
              <a:spcAft>
                <a:spcPts val="1080"/>
              </a:spcAft>
            </a:pPr>
            <a:r>
              <a:rPr sz="1100" b="1">
                <a:solidFill>
                  <a:srgbClr val="4F46E5"/>
                </a:solidFill>
                <a:latin typeface="Malgun Gothic"/>
              </a:rPr>
              <a:t>04  </a:t>
            </a:r>
            <a:r>
              <a:rPr sz="1100">
                <a:solidFill>
                  <a:srgbClr val="334155"/>
                </a:solidFill>
                <a:latin typeface="Malgun Gothic"/>
              </a:rPr>
              <a:t>🎥 Enter the Classroom</a:t>
            </a:r>
            <a:r>
              <a:rPr sz="950">
                <a:solidFill>
                  <a:srgbClr val="94A3B8"/>
                </a:solidFill>
                <a:latin typeface="Malgun Gothic"/>
              </a:rPr>
              <a:t>   ·  p.7</a:t>
            </a:r>
          </a:p>
          <a:p>
            <a:pPr>
              <a:spcAft>
                <a:spcPts val="1080"/>
              </a:spcAft>
            </a:pPr>
            <a:r>
              <a:rPr sz="1100" b="1">
                <a:solidFill>
                  <a:srgbClr val="4F46E5"/>
                </a:solidFill>
                <a:latin typeface="Malgun Gothic"/>
              </a:rPr>
              <a:t>05  </a:t>
            </a:r>
            <a:r>
              <a:rPr sz="1100">
                <a:solidFill>
                  <a:srgbClr val="334155"/>
                </a:solidFill>
                <a:latin typeface="Malgun Gothic"/>
              </a:rPr>
              <a:t>🖥️ The Classroom at a Glance</a:t>
            </a:r>
            <a:r>
              <a:rPr sz="950">
                <a:solidFill>
                  <a:srgbClr val="94A3B8"/>
                </a:solidFill>
                <a:latin typeface="Malgun Gothic"/>
              </a:rPr>
              <a:t>   ·  p.8</a:t>
            </a:r>
          </a:p>
          <a:p>
            <a:pPr>
              <a:spcAft>
                <a:spcPts val="1080"/>
              </a:spcAft>
            </a:pPr>
            <a:r>
              <a:rPr sz="1100" b="1">
                <a:solidFill>
                  <a:srgbClr val="4F46E5"/>
                </a:solidFill>
                <a:latin typeface="Malgun Gothic"/>
              </a:rPr>
              <a:t>06  </a:t>
            </a:r>
            <a:r>
              <a:rPr sz="1100">
                <a:solidFill>
                  <a:srgbClr val="334155"/>
                </a:solidFill>
                <a:latin typeface="Malgun Gothic"/>
              </a:rPr>
              <a:t>🗂️ Switching the 6 Top Tabs</a:t>
            </a:r>
            <a:r>
              <a:rPr sz="950">
                <a:solidFill>
                  <a:srgbClr val="94A3B8"/>
                </a:solidFill>
                <a:latin typeface="Malgun Gothic"/>
              </a:rPr>
              <a:t>   ·  p.9</a:t>
            </a:r>
          </a:p>
          <a:p>
            <a:pPr>
              <a:spcAft>
                <a:spcPts val="1080"/>
              </a:spcAft>
            </a:pPr>
            <a:r>
              <a:rPr sz="1100" b="1">
                <a:solidFill>
                  <a:srgbClr val="4F46E5"/>
                </a:solidFill>
                <a:latin typeface="Malgun Gothic"/>
              </a:rPr>
              <a:t>07  </a:t>
            </a:r>
            <a:r>
              <a:rPr sz="1100">
                <a:solidFill>
                  <a:srgbClr val="334155"/>
                </a:solidFill>
                <a:latin typeface="Malgun Gothic"/>
              </a:rPr>
              <a:t>🖊️ Board Tools, One by One</a:t>
            </a:r>
            <a:r>
              <a:rPr sz="950">
                <a:solidFill>
                  <a:srgbClr val="94A3B8"/>
                </a:solidFill>
                <a:latin typeface="Malgun Gothic"/>
              </a:rPr>
              <a:t>   ·  p.10</a:t>
            </a:r>
          </a:p>
          <a:p>
            <a:pPr>
              <a:spcAft>
                <a:spcPts val="1080"/>
              </a:spcAft>
            </a:pPr>
            <a:r>
              <a:rPr sz="1100" b="1">
                <a:solidFill>
                  <a:srgbClr val="4F46E5"/>
                </a:solidFill>
                <a:latin typeface="Malgun Gothic"/>
              </a:rPr>
              <a:t>08  </a:t>
            </a:r>
            <a:r>
              <a:rPr sz="1100">
                <a:solidFill>
                  <a:srgbClr val="334155"/>
                </a:solidFill>
                <a:latin typeface="Malgun Gothic"/>
              </a:rPr>
              <a:t>📚 Materials Tools (share PDF…</a:t>
            </a:r>
            <a:r>
              <a:rPr sz="950">
                <a:solidFill>
                  <a:srgbClr val="94A3B8"/>
                </a:solidFill>
                <a:latin typeface="Malgun Gothic"/>
              </a:rPr>
              <a:t>   ·  p.11</a:t>
            </a:r>
          </a:p>
          <a:p>
            <a:pPr>
              <a:spcAft>
                <a:spcPts val="1080"/>
              </a:spcAft>
            </a:pPr>
            <a:r>
              <a:rPr sz="1100" b="1">
                <a:solidFill>
                  <a:srgbClr val="4F46E5"/>
                </a:solidFill>
                <a:latin typeface="Malgun Gothic"/>
              </a:rPr>
              <a:t>09  </a:t>
            </a:r>
            <a:r>
              <a:rPr sz="1100">
                <a:solidFill>
                  <a:srgbClr val="334155"/>
                </a:solidFill>
                <a:latin typeface="Malgun Gothic"/>
              </a:rPr>
              <a:t>✍️ Writing Tools (annotate o…</a:t>
            </a:r>
            <a:r>
              <a:rPr sz="950">
                <a:solidFill>
                  <a:srgbClr val="94A3B8"/>
                </a:solidFill>
                <a:latin typeface="Malgun Gothic"/>
              </a:rPr>
              <a:t>   ·  p.12</a:t>
            </a:r>
          </a:p>
          <a:p>
            <a:pPr>
              <a:spcAft>
                <a:spcPts val="1080"/>
              </a:spcAft>
            </a:pPr>
            <a:r>
              <a:rPr sz="1100" b="1">
                <a:solidFill>
                  <a:srgbClr val="4F46E5"/>
                </a:solidFill>
                <a:latin typeface="Malgun Gothic"/>
              </a:rPr>
              <a:t>10  </a:t>
            </a:r>
            <a:r>
              <a:rPr sz="1100">
                <a:solidFill>
                  <a:srgbClr val="334155"/>
                </a:solidFill>
                <a:latin typeface="Malgun Gothic"/>
              </a:rPr>
              <a:t>📹 Watch Video Together</a:t>
            </a:r>
            <a:r>
              <a:rPr sz="950">
                <a:solidFill>
                  <a:srgbClr val="94A3B8"/>
                </a:solidFill>
                <a:latin typeface="Malgun Gothic"/>
              </a:rPr>
              <a:t>   ·  p.13</a:t>
            </a:r>
          </a:p>
          <a:p>
            <a:pPr>
              <a:spcAft>
                <a:spcPts val="1080"/>
              </a:spcAft>
            </a:pPr>
            <a:r>
              <a:rPr sz="1100" b="1">
                <a:solidFill>
                  <a:srgbClr val="4F46E5"/>
                </a:solidFill>
                <a:latin typeface="Malgun Gothic"/>
              </a:rPr>
              <a:t>11  </a:t>
            </a:r>
            <a:r>
              <a:rPr sz="1100">
                <a:solidFill>
                  <a:srgbClr val="334155"/>
                </a:solidFill>
                <a:latin typeface="Malgun Gothic"/>
              </a:rPr>
              <a:t>🎨 Background &amp; Face Decorati…</a:t>
            </a:r>
            <a:r>
              <a:rPr sz="950">
                <a:solidFill>
                  <a:srgbClr val="94A3B8"/>
                </a:solidFill>
                <a:latin typeface="Malgun Gothic"/>
              </a:rPr>
              <a:t>   ·  p.14</a:t>
            </a:r>
          </a:p>
          <a:p>
            <a:pPr>
              <a:spcAft>
                <a:spcPts val="1080"/>
              </a:spcAft>
            </a:pPr>
            <a:r>
              <a:rPr sz="1100" b="1">
                <a:solidFill>
                  <a:srgbClr val="4F46E5"/>
                </a:solidFill>
                <a:latin typeface="Malgun Gothic"/>
              </a:rPr>
              <a:t>12  </a:t>
            </a:r>
            <a:r>
              <a:rPr sz="1100">
                <a:solidFill>
                  <a:srgbClr val="334155"/>
                </a:solidFill>
                <a:latin typeface="Malgun Gothic"/>
              </a:rPr>
              <a:t>🔲 Resize &amp; Arrange the Screen</a:t>
            </a:r>
            <a:r>
              <a:rPr sz="950">
                <a:solidFill>
                  <a:srgbClr val="94A3B8"/>
                </a:solidFill>
                <a:latin typeface="Malgun Gothic"/>
              </a:rPr>
              <a:t>   ·  p.15</a:t>
            </a:r>
          </a:p>
          <a:p>
            <a:pPr>
              <a:spcAft>
                <a:spcPts val="1080"/>
              </a:spcAft>
            </a:pPr>
            <a:r>
              <a:rPr sz="1100" b="1">
                <a:solidFill>
                  <a:srgbClr val="4F46E5"/>
                </a:solidFill>
                <a:latin typeface="Malgun Gothic"/>
              </a:rPr>
              <a:t>13  </a:t>
            </a:r>
            <a:r>
              <a:rPr sz="1100">
                <a:solidFill>
                  <a:srgbClr val="334155"/>
                </a:solidFill>
                <a:latin typeface="Malgun Gothic"/>
              </a:rPr>
              <a:t>🌟 Praise Points During Class</a:t>
            </a:r>
            <a:r>
              <a:rPr sz="950">
                <a:solidFill>
                  <a:srgbClr val="94A3B8"/>
                </a:solidFill>
                <a:latin typeface="Malgun Gothic"/>
              </a:rPr>
              <a:t>   ·  p.16</a:t>
            </a:r>
          </a:p>
          <a:p>
            <a:pPr>
              <a:spcAft>
                <a:spcPts val="1080"/>
              </a:spcAft>
            </a:pPr>
            <a:r>
              <a:rPr sz="1100" b="1">
                <a:solidFill>
                  <a:srgbClr val="4F46E5"/>
                </a:solidFill>
                <a:latin typeface="Malgun Gothic"/>
              </a:rPr>
              <a:t>14  </a:t>
            </a:r>
            <a:r>
              <a:rPr sz="1100">
                <a:solidFill>
                  <a:srgbClr val="334155"/>
                </a:solidFill>
                <a:latin typeface="Malgun Gothic"/>
              </a:rPr>
              <a:t>🎛️ Bottom Dock &amp; Praise Bask…</a:t>
            </a:r>
            <a:r>
              <a:rPr sz="950">
                <a:solidFill>
                  <a:srgbClr val="94A3B8"/>
                </a:solidFill>
                <a:latin typeface="Malgun Gothic"/>
              </a:rPr>
              <a:t>   ·  p.17</a:t>
            </a:r>
          </a:p>
          <a:p>
            <a:pPr>
              <a:spcAft>
                <a:spcPts val="1080"/>
              </a:spcAft>
            </a:pPr>
            <a:r>
              <a:rPr sz="1100" b="1">
                <a:solidFill>
                  <a:srgbClr val="4F46E5"/>
                </a:solidFill>
                <a:latin typeface="Malgun Gothic"/>
              </a:rPr>
              <a:t>15  </a:t>
            </a:r>
            <a:r>
              <a:rPr sz="1100">
                <a:solidFill>
                  <a:srgbClr val="334155"/>
                </a:solidFill>
                <a:latin typeface="Malgun Gothic"/>
              </a:rPr>
              <a:t>📤 Pre-upload Materials</a:t>
            </a:r>
            <a:r>
              <a:rPr sz="950">
                <a:solidFill>
                  <a:srgbClr val="94A3B8"/>
                </a:solidFill>
                <a:latin typeface="Malgun Gothic"/>
              </a:rPr>
              <a:t>   ·  p.18</a:t>
            </a:r>
          </a:p>
        </p:txBody>
      </p:sp>
      <p:sp>
        <p:nvSpPr>
          <p:cNvPr id="8" name="TextBox 7"/>
          <p:cNvSpPr txBox="1"/>
          <p:nvPr/>
        </p:nvSpPr>
        <p:spPr>
          <a:xfrm>
            <a:off x="6094476" y="1417320"/>
            <a:ext cx="5500116" cy="5212080"/>
          </a:xfrm>
          <a:prstGeom prst="rect">
            <a:avLst/>
          </a:prstGeom>
          <a:noFill/>
        </p:spPr>
        <p:txBody>
          <a:bodyPr wrap="none">
            <a:spAutoFit/>
          </a:bodyPr>
          <a:lstStyle/>
          <a:p>
            <a:pPr>
              <a:spcAft>
                <a:spcPts val="1080"/>
              </a:spcAft>
            </a:pPr>
            <a:r>
              <a:rPr sz="1100" b="1">
                <a:solidFill>
                  <a:srgbClr val="4F46E5"/>
                </a:solidFill>
                <a:latin typeface="Malgun Gothic"/>
              </a:rPr>
              <a:t>16  </a:t>
            </a:r>
            <a:r>
              <a:rPr sz="1100">
                <a:solidFill>
                  <a:srgbClr val="334155"/>
                </a:solidFill>
                <a:latin typeface="Malgun Gothic"/>
              </a:rPr>
              <a:t>🔥 Start with the AI Warm-up</a:t>
            </a:r>
            <a:r>
              <a:rPr sz="950">
                <a:solidFill>
                  <a:srgbClr val="94A3B8"/>
                </a:solidFill>
                <a:latin typeface="Malgun Gothic"/>
              </a:rPr>
              <a:t>   ·  p.19</a:t>
            </a:r>
          </a:p>
          <a:p>
            <a:pPr>
              <a:spcAft>
                <a:spcPts val="1080"/>
              </a:spcAft>
            </a:pPr>
            <a:r>
              <a:rPr sz="1100" b="1">
                <a:solidFill>
                  <a:srgbClr val="4F46E5"/>
                </a:solidFill>
                <a:latin typeface="Malgun Gothic"/>
              </a:rPr>
              <a:t>17  </a:t>
            </a:r>
            <a:r>
              <a:rPr sz="1100">
                <a:solidFill>
                  <a:srgbClr val="334155"/>
                </a:solidFill>
                <a:latin typeface="Malgun Gothic"/>
              </a:rPr>
              <a:t>🎙️ Use the Pronunciation Coa…</a:t>
            </a:r>
            <a:r>
              <a:rPr sz="950">
                <a:solidFill>
                  <a:srgbClr val="94A3B8"/>
                </a:solidFill>
                <a:latin typeface="Malgun Gothic"/>
              </a:rPr>
              <a:t>   ·  p.20</a:t>
            </a:r>
          </a:p>
          <a:p>
            <a:pPr>
              <a:spcAft>
                <a:spcPts val="1080"/>
              </a:spcAft>
            </a:pPr>
            <a:r>
              <a:rPr sz="1100" b="1">
                <a:solidFill>
                  <a:srgbClr val="4F46E5"/>
                </a:solidFill>
                <a:latin typeface="Malgun Gothic"/>
              </a:rPr>
              <a:t>18  </a:t>
            </a:r>
            <a:r>
              <a:rPr sz="1100">
                <a:solidFill>
                  <a:srgbClr val="334155"/>
                </a:solidFill>
                <a:latin typeface="Malgun Gothic"/>
              </a:rPr>
              <a:t>📝 Write the Lesson Review</a:t>
            </a:r>
            <a:r>
              <a:rPr sz="950">
                <a:solidFill>
                  <a:srgbClr val="94A3B8"/>
                </a:solidFill>
                <a:latin typeface="Malgun Gothic"/>
              </a:rPr>
              <a:t>   ·  p.21</a:t>
            </a:r>
          </a:p>
          <a:p>
            <a:pPr>
              <a:spcAft>
                <a:spcPts val="1080"/>
              </a:spcAft>
            </a:pPr>
            <a:r>
              <a:rPr sz="1100" b="1">
                <a:solidFill>
                  <a:srgbClr val="4F46E5"/>
                </a:solidFill>
                <a:latin typeface="Malgun Gothic"/>
              </a:rPr>
              <a:t>19  </a:t>
            </a:r>
            <a:r>
              <a:rPr sz="1100">
                <a:solidFill>
                  <a:srgbClr val="334155"/>
                </a:solidFill>
                <a:latin typeface="Malgun Gothic"/>
              </a:rPr>
              <a:t>🌟 Leave Student Praise</a:t>
            </a:r>
            <a:r>
              <a:rPr sz="950">
                <a:solidFill>
                  <a:srgbClr val="94A3B8"/>
                </a:solidFill>
                <a:latin typeface="Malgun Gothic"/>
              </a:rPr>
              <a:t>   ·  p.22</a:t>
            </a:r>
          </a:p>
          <a:p>
            <a:pPr>
              <a:spcAft>
                <a:spcPts val="1080"/>
              </a:spcAft>
            </a:pPr>
            <a:r>
              <a:rPr sz="1100" b="1">
                <a:solidFill>
                  <a:srgbClr val="4F46E5"/>
                </a:solidFill>
                <a:latin typeface="Malgun Gothic"/>
              </a:rPr>
              <a:t>20  </a:t>
            </a:r>
            <a:r>
              <a:rPr sz="1100">
                <a:solidFill>
                  <a:srgbClr val="334155"/>
                </a:solidFill>
                <a:latin typeface="Malgun Gothic"/>
              </a:rPr>
              <a:t>🧠 Game Learning Report</a:t>
            </a:r>
            <a:r>
              <a:rPr sz="950">
                <a:solidFill>
                  <a:srgbClr val="94A3B8"/>
                </a:solidFill>
                <a:latin typeface="Malgun Gothic"/>
              </a:rPr>
              <a:t>   ·  p.23</a:t>
            </a:r>
          </a:p>
          <a:p>
            <a:pPr>
              <a:spcAft>
                <a:spcPts val="1080"/>
              </a:spcAft>
            </a:pPr>
            <a:r>
              <a:rPr sz="1100" b="1">
                <a:solidFill>
                  <a:srgbClr val="4F46E5"/>
                </a:solidFill>
                <a:latin typeface="Malgun Gothic"/>
              </a:rPr>
              <a:t>21  </a:t>
            </a:r>
            <a:r>
              <a:rPr sz="1100">
                <a:solidFill>
                  <a:srgbClr val="334155"/>
                </a:solidFill>
                <a:latin typeface="Malgun Gothic"/>
              </a:rPr>
              <a:t>📄 Reports · Lesson Management</a:t>
            </a:r>
            <a:r>
              <a:rPr sz="950">
                <a:solidFill>
                  <a:srgbClr val="94A3B8"/>
                </a:solidFill>
                <a:latin typeface="Malgun Gothic"/>
              </a:rPr>
              <a:t>   ·  p.24</a:t>
            </a:r>
          </a:p>
          <a:p>
            <a:pPr>
              <a:spcAft>
                <a:spcPts val="1080"/>
              </a:spcAft>
            </a:pPr>
            <a:r>
              <a:rPr sz="1100" b="1">
                <a:solidFill>
                  <a:srgbClr val="4F46E5"/>
                </a:solidFill>
                <a:latin typeface="Malgun Gothic"/>
              </a:rPr>
              <a:t>22  </a:t>
            </a:r>
            <a:r>
              <a:rPr sz="1100">
                <a:solidFill>
                  <a:srgbClr val="334155"/>
                </a:solidFill>
                <a:latin typeface="Malgun Gothic"/>
              </a:rPr>
              <a:t>🔄 Handle Lesson Postpones</a:t>
            </a:r>
            <a:r>
              <a:rPr sz="950">
                <a:solidFill>
                  <a:srgbClr val="94A3B8"/>
                </a:solidFill>
                <a:latin typeface="Malgun Gothic"/>
              </a:rPr>
              <a:t>   ·  p.25</a:t>
            </a:r>
          </a:p>
          <a:p>
            <a:pPr>
              <a:spcAft>
                <a:spcPts val="1080"/>
              </a:spcAft>
            </a:pPr>
            <a:r>
              <a:rPr sz="1100" b="1">
                <a:solidFill>
                  <a:srgbClr val="4F46E5"/>
                </a:solidFill>
                <a:latin typeface="Malgun Gothic"/>
              </a:rPr>
              <a:t>23  </a:t>
            </a:r>
            <a:r>
              <a:rPr sz="1100">
                <a:solidFill>
                  <a:srgbClr val="334155"/>
                </a:solidFill>
                <a:latin typeface="Malgun Gothic"/>
              </a:rPr>
              <a:t>🎧 Support · Inquiries</a:t>
            </a:r>
            <a:r>
              <a:rPr sz="950">
                <a:solidFill>
                  <a:srgbClr val="94A3B8"/>
                </a:solidFill>
                <a:latin typeface="Malgun Gothic"/>
              </a:rPr>
              <a:t>   ·  p.26</a:t>
            </a:r>
          </a:p>
          <a:p>
            <a:pPr>
              <a:spcAft>
                <a:spcPts val="1080"/>
              </a:spcAft>
            </a:pPr>
            <a:r>
              <a:rPr sz="1100" b="1">
                <a:solidFill>
                  <a:srgbClr val="4F46E5"/>
                </a:solidFill>
                <a:latin typeface="Malgun Gothic"/>
              </a:rPr>
              <a:t>24  </a:t>
            </a:r>
            <a:r>
              <a:rPr sz="1100">
                <a:solidFill>
                  <a:srgbClr val="334155"/>
                </a:solidFill>
                <a:latin typeface="Malgun Gothic"/>
              </a:rPr>
              <a:t>🕐 Korea·Philippines Dual Clo…</a:t>
            </a:r>
            <a:r>
              <a:rPr sz="950">
                <a:solidFill>
                  <a:srgbClr val="94A3B8"/>
                </a:solidFill>
                <a:latin typeface="Malgun Gothic"/>
              </a:rPr>
              <a:t>   ·  p.27</a:t>
            </a:r>
          </a:p>
          <a:p>
            <a:pPr>
              <a:spcAft>
                <a:spcPts val="1080"/>
              </a:spcAft>
            </a:pPr>
            <a:r>
              <a:rPr sz="1100" b="1">
                <a:solidFill>
                  <a:srgbClr val="4F46E5"/>
                </a:solidFill>
                <a:latin typeface="Malgun Gothic"/>
              </a:rPr>
              <a:t>25  </a:t>
            </a:r>
            <a:r>
              <a:rPr sz="1100">
                <a:solidFill>
                  <a:srgbClr val="334155"/>
                </a:solidFill>
                <a:latin typeface="Malgun Gothic"/>
              </a:rPr>
              <a:t>🇨🇳 Chinese Pronunciation Coa…</a:t>
            </a:r>
            <a:r>
              <a:rPr sz="950">
                <a:solidFill>
                  <a:srgbClr val="94A3B8"/>
                </a:solidFill>
                <a:latin typeface="Malgun Gothic"/>
              </a:rPr>
              <a:t>   ·  p.28</a:t>
            </a:r>
          </a:p>
          <a:p>
            <a:pPr>
              <a:spcAft>
                <a:spcPts val="1080"/>
              </a:spcAft>
            </a:pPr>
            <a:r>
              <a:rPr sz="1100" b="1">
                <a:solidFill>
                  <a:srgbClr val="4F46E5"/>
                </a:solidFill>
                <a:latin typeface="Malgun Gothic"/>
              </a:rPr>
              <a:t>26  </a:t>
            </a:r>
            <a:r>
              <a:rPr sz="1100">
                <a:solidFill>
                  <a:srgbClr val="334155"/>
                </a:solidFill>
                <a:latin typeface="Malgun Gothic"/>
              </a:rPr>
              <a:t>🤖 AI Coaching After Class</a:t>
            </a:r>
            <a:r>
              <a:rPr sz="950">
                <a:solidFill>
                  <a:srgbClr val="94A3B8"/>
                </a:solidFill>
                <a:latin typeface="Malgun Gothic"/>
              </a:rPr>
              <a:t>   ·  p.29</a:t>
            </a:r>
          </a:p>
          <a:p>
            <a:pPr>
              <a:spcAft>
                <a:spcPts val="1080"/>
              </a:spcAft>
            </a:pPr>
            <a:r>
              <a:rPr sz="1100" b="1">
                <a:solidFill>
                  <a:srgbClr val="4F46E5"/>
                </a:solidFill>
                <a:latin typeface="Malgun Gothic"/>
              </a:rPr>
              <a:t>27  </a:t>
            </a:r>
            <a:r>
              <a:rPr sz="1100">
                <a:solidFill>
                  <a:srgbClr val="334155"/>
                </a:solidFill>
                <a:latin typeface="Malgun Gothic"/>
              </a:rPr>
              <a:t>Tools by Lesson Stage</a:t>
            </a:r>
            <a:r>
              <a:rPr sz="950">
                <a:solidFill>
                  <a:srgbClr val="94A3B8"/>
                </a:solidFill>
                <a:latin typeface="Malgun Gothic"/>
              </a:rPr>
              <a:t>   ·  p.30</a:t>
            </a:r>
          </a:p>
          <a:p>
            <a:pPr>
              <a:spcAft>
                <a:spcPts val="1080"/>
              </a:spcAft>
            </a:pPr>
            <a:r>
              <a:rPr sz="1100" b="1">
                <a:solidFill>
                  <a:srgbClr val="4F46E5"/>
                </a:solidFill>
                <a:latin typeface="Malgun Gothic"/>
              </a:rPr>
              <a:t>28  </a:t>
            </a:r>
            <a:r>
              <a:rPr sz="1100">
                <a:solidFill>
                  <a:srgbClr val="334155"/>
                </a:solidFill>
                <a:latin typeface="Malgun Gothic"/>
              </a:rPr>
              <a:t>Data at a Glance</a:t>
            </a:r>
            <a:r>
              <a:rPr sz="950">
                <a:solidFill>
                  <a:srgbClr val="94A3B8"/>
                </a:solidFill>
                <a:latin typeface="Malgun Gothic"/>
              </a:rPr>
              <a:t>   ·  p.31</a:t>
            </a:r>
          </a:p>
          <a:p>
            <a:pPr>
              <a:spcAft>
                <a:spcPts val="1080"/>
              </a:spcAft>
            </a:pPr>
            <a:r>
              <a:rPr sz="1100" b="1">
                <a:solidFill>
                  <a:srgbClr val="4F46E5"/>
                </a:solidFill>
                <a:latin typeface="Malgun Gothic"/>
              </a:rPr>
              <a:t>29  </a:t>
            </a:r>
            <a:r>
              <a:rPr sz="1100">
                <a:solidFill>
                  <a:srgbClr val="334155"/>
                </a:solidFill>
                <a:latin typeface="Malgun Gothic"/>
              </a:rPr>
              <a:t>Frequently Asked Questions (…</a:t>
            </a:r>
            <a:r>
              <a:rPr sz="950">
                <a:solidFill>
                  <a:srgbClr val="94A3B8"/>
                </a:solidFill>
                <a:latin typeface="Malgun Gothic"/>
              </a:rPr>
              <a:t>   ·  p.32</a:t>
            </a:r>
          </a:p>
          <a:p>
            <a:pPr>
              <a:spcAft>
                <a:spcPts val="1080"/>
              </a:spcAft>
            </a:pPr>
            <a:r>
              <a:rPr sz="1100" b="1">
                <a:solidFill>
                  <a:srgbClr val="4F46E5"/>
                </a:solidFill>
                <a:latin typeface="Malgun Gothic"/>
              </a:rPr>
              <a:t>30  </a:t>
            </a:r>
            <a:r>
              <a:rPr sz="1100">
                <a:solidFill>
                  <a:srgbClr val="334155"/>
                </a:solidFill>
                <a:latin typeface="Malgun Gothic"/>
              </a:rPr>
              <a:t>Lesson Checklist</a:t>
            </a:r>
            <a:r>
              <a:rPr sz="950">
                <a:solidFill>
                  <a:srgbClr val="94A3B8"/>
                </a:solidFill>
                <a:latin typeface="Malgun Gothic"/>
              </a:rPr>
              <a:t>   ·  p.33</a:t>
            </a:r>
          </a:p>
          <a:p>
            <a:pPr>
              <a:spcAft>
                <a:spcPts val="1080"/>
              </a:spcAft>
            </a:pPr>
            <a:r>
              <a:rPr sz="1100" b="1">
                <a:solidFill>
                  <a:srgbClr val="4F46E5"/>
                </a:solidFill>
                <a:latin typeface="Malgun Gothic"/>
              </a:rPr>
              <a:t>31  </a:t>
            </a:r>
            <a:r>
              <a:rPr sz="1100">
                <a:solidFill>
                  <a:srgbClr val="334155"/>
                </a:solidFill>
                <a:latin typeface="Malgun Gothic"/>
              </a:rPr>
              <a:t>Conclusion · A Practical Gui…</a:t>
            </a:r>
            <a:r>
              <a:rPr sz="950">
                <a:solidFill>
                  <a:srgbClr val="94A3B8"/>
                </a:solidFill>
                <a:latin typeface="Malgun Gothic"/>
              </a:rPr>
              <a:t>   ·  p.34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