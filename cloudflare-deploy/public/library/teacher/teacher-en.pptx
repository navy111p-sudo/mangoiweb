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94" r:id="rId45"/>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EA580C"/>
              </a:solidFill>
            </c:spPr>
          </c:dPt>
          <c:dPt>
            <c:idx val="2"/>
            <c:spPr>
              <a:solidFill>
                <a:srgbClr val="059669"/>
              </a:solidFill>
            </c:spPr>
          </c:dPt>
          <c:dPt>
            <c:idx val="3"/>
            <c:spPr>
              <a:solidFill>
                <a:srgbClr val="4F46E5"/>
              </a:solidFill>
            </c:spPr>
          </c:dPt>
          <c:cat>
            <c:strRef>
              <c:f>Sheet1!$A$2:$A$5</c:f>
              <c:strCache>
                <c:ptCount val="4"/>
                <c:pt idx="0">
                  <c:v>Warm-up/greeting</c:v>
                </c:pt>
                <c:pt idx="1">
                  <c:v>Main lesson</c:v>
                </c:pt>
                <c:pt idx="2">
                  <c:v>Speaking practice</c:v>
                </c:pt>
                <c:pt idx="3">
                  <c:v>Wrap-up/review</c:v>
                </c:pt>
              </c:strCache>
            </c:strRef>
          </c:cat>
          <c:val>
            <c:numRef>
              <c:f>Sheet1!$B$2:$B$5</c:f>
              <c:numCache>
                <c:formatCode>General</c:formatCode>
                <c:ptCount val="4"/>
                <c:pt idx="0">
                  <c:v>3</c:v>
                </c:pt>
                <c:pt idx="1">
                  <c:v>14</c:v>
                </c:pt>
                <c:pt idx="2">
                  <c:v>5</c:v>
                </c:pt>
                <c:pt idx="3">
                  <c:v>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EA580C"/>
              </a:solidFill>
            </c:spPr>
          </c:dPt>
          <c:dPt>
            <c:idx val="1"/>
            <c:spPr>
              <a:solidFill>
                <a:srgbClr val="F59E0B"/>
              </a:solidFill>
            </c:spPr>
          </c:dPt>
          <c:dPt>
            <c:idx val="2"/>
            <c:spPr>
              <a:solidFill>
                <a:srgbClr val="059669"/>
              </a:solidFill>
            </c:spPr>
          </c:dPt>
          <c:dPt>
            <c:idx val="3"/>
            <c:spPr>
              <a:solidFill>
                <a:srgbClr val="0EA5E9"/>
              </a:solidFill>
            </c:spPr>
          </c:dPt>
          <c:cat>
            <c:strRef>
              <c:f>Sheet1!$A$2:$A$5</c:f>
              <c:strCache>
                <c:ptCount val="4"/>
                <c:pt idx="0">
                  <c:v>Camera</c:v>
                </c:pt>
                <c:pt idx="1">
                  <c:v>Mic</c:v>
                </c:pt>
                <c:pt idx="2">
                  <c:v>Network</c:v>
                </c:pt>
                <c:pt idx="3">
                  <c:v>Lighting</c:v>
                </c:pt>
              </c:strCache>
            </c:strRef>
          </c:cat>
          <c:val>
            <c:numRef>
              <c:f>Sheet1!$B$2:$B$5</c:f>
              <c:numCache>
                <c:formatCode>General</c:formatCode>
                <c:ptCount val="4"/>
                <c:pt idx="0">
                  <c:v>100</c:v>
                </c:pt>
                <c:pt idx="1">
                  <c:v>100</c:v>
                </c:pt>
                <c:pt idx="2">
                  <c:v>90</c:v>
                </c:pt>
                <c:pt idx="3">
                  <c:v>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EA580C"/>
              </a:solidFill>
            </c:spPr>
          </c:dPt>
          <c:dPt>
            <c:idx val="1"/>
            <c:spPr>
              <a:solidFill>
                <a:srgbClr val="EA580C"/>
              </a:solidFill>
            </c:spPr>
          </c:dPt>
          <c:dPt>
            <c:idx val="2"/>
            <c:spPr>
              <a:solidFill>
                <a:srgbClr val="EA580C"/>
              </a:solidFill>
            </c:spPr>
          </c:dPt>
          <c:dPt>
            <c:idx val="3"/>
            <c:spPr>
              <a:solidFill>
                <a:srgbClr val="EA580C"/>
              </a:solidFill>
            </c:spPr>
          </c:dPt>
          <c:dPt>
            <c:idx val="4"/>
            <c:spPr>
              <a:solidFill>
                <a:srgbClr val="EA580C"/>
              </a:solidFill>
            </c:spPr>
          </c:dPt>
          <c:cat>
            <c:strRef>
              <c:f>Sheet1!$A$2:$A$6</c:f>
              <c:strCache>
                <c:ptCount val="5"/>
                <c:pt idx="0">
                  <c:v>Prep</c:v>
                </c:pt>
                <c:pt idx="1">
                  <c:v>Interaction</c:v>
                </c:pt>
                <c:pt idx="2">
                  <c:v>Feedback</c:v>
                </c:pt>
                <c:pt idx="3">
                  <c:v>Pronunciation</c:v>
                </c:pt>
                <c:pt idx="4">
                  <c:v>Records</c:v>
                </c:pt>
              </c:strCache>
            </c:strRef>
          </c:cat>
          <c:val>
            <c:numRef>
              <c:f>Sheet1!$B$2:$B$6</c:f>
              <c:numCache>
                <c:formatCode>General</c:formatCode>
                <c:ptCount val="5"/>
                <c:pt idx="0">
                  <c:v>9</c:v>
                </c:pt>
                <c:pt idx="1">
                  <c:v>8</c:v>
                </c:pt>
                <c:pt idx="2">
                  <c:v>9</c:v>
                </c:pt>
                <c:pt idx="3">
                  <c:v>8</c:v>
                </c:pt>
                <c:pt idx="4">
                  <c:v>7</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580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A580C"/>
                </a:solidFill>
                <a:latin typeface="Malgun Gothic"/>
              </a:rPr>
              <a:t>👩‍🏫 TEACHER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Teacher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Follow the lesson flow — how to use the site</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Native-speaker teachers and Korean instructors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A580C"/>
                </a:solidFill>
                <a:latin typeface="Malgun Gothic"/>
              </a:rPr>
              <a:t>What is the Teacher Site Guide?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This guide explains how a teacher who runs video lessons uses the Mangoi site. From pre-class device checks to entering the classroom, the materials/board/chat tools, using the AI warm-up and pronunciation coach, writing lesson reviews, praising students and learning reports — it follows the real lesson flow. (This is a 'how to use the site' guide, not a teaching methodology.)</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Pre-class detailed check</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Camera·mic·network·lighting scores.</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Classroom tools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Video·materials·board·chat·recording.</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Lesson review · praise</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Post-class review and star/sticker praise.</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Learning reports</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Game weak words·reports for next lesson prep.</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A580C"/>
                </a:solidFill>
                <a:latin typeface="Malgun Gothic"/>
              </a:rPr>
              <a:t>25-min Lesson Time Split (ex., min)</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eacher_precheck.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Pre-class Detailed Check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devices before entering</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screen that checks camera, mic, network and lighting at once before class. An overall score and per-item signals catch problems early and prevent drop-outs mid-lesson.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camera, mic, network and lighting on the check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Read the overall score and each item's signal (normal/warning).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red items, adjust lighting, seat or connection and check again.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Do the check 5–10 minutes before class.</a:t>
            </a:r>
          </a:p>
          <a:p>
            <a:pPr>
              <a:lnSpc>
                <a:spcPct val="115000"/>
              </a:lnSpc>
              <a:spcAft>
                <a:spcPts val="200"/>
              </a:spcAft>
            </a:pPr>
            <a:r>
              <a:rPr sz="900" b="1">
                <a:solidFill>
                  <a:srgbClr val="EA580C"/>
                </a:solidFill>
                <a:latin typeface="Malgun Gothic"/>
              </a:rPr>
              <a:t>● </a:t>
            </a:r>
            <a:r>
              <a:rPr sz="1100">
                <a:solidFill>
                  <a:srgbClr val="334155"/>
                </a:solidFill>
                <a:latin typeface="Malgun Gothic"/>
              </a:rPr>
              <a:t>Fix issues before the student enters.</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Put the light in front of your face so your expression shows and student focus rises.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a Lesson from My 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The first button to the lesson room</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Teachers enter a lesson the same way students do — with the 'Enter Class' button on My Page. After logging in, open My Page and you'll find the gold 'Enter Class' button; pressing it takes you to the video-class lobby.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After logging in, press the '👤 My Page' button.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Find the gold '🎥 Enter Class' button below (in a row with '💳 Payment').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'Enter Class' and you go to the video-class lobby.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hint '🎥 Enter video class lobby · 📹 Mic/Camera required'.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Then in the lobby, confirm your name → Allow camera/mic → enter the classroom (see next page).</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One 'Enter Class' button takes you straight to the lobby.</a:t>
            </a:r>
          </a:p>
          <a:p>
            <a:pPr>
              <a:lnSpc>
                <a:spcPct val="115000"/>
              </a:lnSpc>
              <a:spcAft>
                <a:spcPts val="200"/>
              </a:spcAft>
            </a:pPr>
            <a:r>
              <a:rPr sz="900" b="1">
                <a:solidFill>
                  <a:srgbClr val="EA580C"/>
                </a:solidFill>
                <a:latin typeface="Malgun Gothic"/>
              </a:rPr>
              <a:t>● </a:t>
            </a:r>
            <a:r>
              <a:rPr sz="1100">
                <a:solidFill>
                  <a:srgbClr val="334155"/>
                </a:solidFill>
                <a:latin typeface="Malgun Gothic"/>
              </a:rPr>
              <a:t>My Page also has pre-check, postpone/change, all-menu and more.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Students enter with the same 'Enter Class' button.</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Even after pressing the button, your face/sound won't connect unless you allow camera/mic.</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early from My Page 5–10 minutes before class to check your devices.</a:t>
            </a:r>
          </a:p>
        </p:txBody>
      </p:sp>
      <p:sp>
        <p:nvSpPr>
          <p:cNvPr id="21" name="Rectangle 20"/>
          <p:cNvSpPr/>
          <p:nvPr/>
        </p:nvSpPr>
        <p:spPr>
          <a:xfrm>
            <a:off x="6300216" y="3363420"/>
            <a:ext cx="5596128" cy="150275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enter.jpg"/>
          <p:cNvPicPr>
            <a:picLocks noChangeAspect="1"/>
          </p:cNvPicPr>
          <p:nvPr/>
        </p:nvPicPr>
        <p:blipFill>
          <a:blip r:embed="rId2"/>
          <a:stretch>
            <a:fillRect/>
          </a:stretch>
        </p:blipFill>
        <p:spPr>
          <a:xfrm>
            <a:off x="6355080" y="3418284"/>
            <a:ext cx="5486400" cy="139303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Make the Most of My 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entry point you need for class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My Page has more than just 'Enter Class' — every menu you need for a lesson is gathered here. Knowing the buttons you use most makes prep much faster.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Pre-check: check camera, mic, network and lighting before class. (a must 5–10 min before)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Enter Class: go to the video-class lobby. (see earlier page)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Postpone/Change: adjust the schedule per a student's request or your situation.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Review Quiz · 🎤 Curriculum Pronunciation: preview review/pronunciation material for students.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New Inquiry · 🏠 All Menu · 📝 Book Class: go to intake and all features.</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Make 'Pre-check → Enter Class' a habit.</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text looks Korean, switch to English with the EN button.</a:t>
            </a:r>
          </a:p>
          <a:p>
            <a:pPr>
              <a:lnSpc>
                <a:spcPct val="115000"/>
              </a:lnSpc>
              <a:spcAft>
                <a:spcPts val="200"/>
              </a:spcAft>
            </a:pPr>
            <a:r>
              <a:rPr sz="900" b="1">
                <a:solidFill>
                  <a:srgbClr val="EA580C"/>
                </a:solidFill>
                <a:latin typeface="Malgun Gothic"/>
              </a:rPr>
              <a:t>● </a:t>
            </a:r>
            <a:r>
              <a:rPr sz="1100">
                <a:solidFill>
                  <a:srgbClr val="334155"/>
                </a:solidFill>
                <a:latin typeface="Malgun Gothic"/>
              </a:rPr>
              <a:t>You can also tell the AI search/assistant 'open ○○' to jump there.</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Pre-class routine: ① Pre-check devices → ② pre-upload the textbook → ③ Enter Class.</a:t>
            </a:r>
          </a:p>
        </p:txBody>
      </p:sp>
      <p:sp>
        <p:nvSpPr>
          <p:cNvPr id="19" name="Rectangle 18"/>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Enter the Classroom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Getting into the lesson room</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entry screen, enter your name and room code to join. Allow camera and mic, then wait for the student.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Enter your name on the entry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room code (empty = shared lesson room).</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Enter and click Allow for camera/mic.</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Wait for the student and check screen/sound.</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Enter early to check your camera framing and sound.</a:t>
            </a:r>
          </a:p>
          <a:p>
            <a:pPr>
              <a:lnSpc>
                <a:spcPct val="115000"/>
              </a:lnSpc>
              <a:spcAft>
                <a:spcPts val="200"/>
              </a:spcAft>
            </a:pPr>
            <a:r>
              <a:rPr sz="900" b="1">
                <a:solidFill>
                  <a:srgbClr val="EA580C"/>
                </a:solidFill>
                <a:latin typeface="Malgun Gothic"/>
              </a:rPr>
              <a:t>● </a:t>
            </a:r>
            <a:r>
              <a:rPr sz="1100">
                <a:solidFill>
                  <a:srgbClr val="334155"/>
                </a:solidFill>
                <a:latin typeface="Malgun Gothic"/>
              </a:rPr>
              <a:t>Chrome/Edge recommended; avoid the KakaoTalk in-app browser.</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If a student can't enter, have them check browser permissions and type first.</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30-second check of background, lighting and sound after entering makes the lesson smooth.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Classroom at a Glance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What does the lesson screen look like?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enter a lesson, the screen has three main areas: ① the top bar (room info, timer, language, dark mode), ② the large center workspace (where the board, materials, video, etc. open), and ③ the bottom control dock (camera, chat, leave). Your face video and the praise basket sit in a small window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Top-left: `Room: mangoi-class · Users: 2` — the room name and how many people are connected.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Top-right: ⏰ Timer (lesson time), 🔴 REC (recording indicator), 🌐 EN (switch language), 🌙 Dark (dark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Center: the tool you pick from the top tabs (board, materials, video…) opens here.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Bottom-center: the control dock — camera, screen share, chat and leave buttons.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Small window, top-left: your face video and the 🧺 praise basket (how many praises you received).</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Hover over a button to see its name (tooltip).</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text looks Korean, press EN at the top-right to switch language.</a:t>
            </a:r>
          </a:p>
          <a:p>
            <a:pPr>
              <a:lnSpc>
                <a:spcPct val="115000"/>
              </a:lnSpc>
              <a:spcAft>
                <a:spcPts val="200"/>
              </a:spcAft>
            </a:pPr>
            <a:r>
              <a:rPr sz="900" b="1">
                <a:solidFill>
                  <a:srgbClr val="EA580C"/>
                </a:solidFill>
                <a:latin typeface="Malgun Gothic"/>
              </a:rPr>
              <a:t>● </a:t>
            </a:r>
            <a:r>
              <a:rPr sz="1100">
                <a:solidFill>
                  <a:srgbClr val="334155"/>
                </a:solidFill>
                <a:latin typeface="Malgun Gothic"/>
              </a:rPr>
              <a:t>If the screen is too bright, switch to 🌙 Dark.</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It looks like a lot of buttons at first, but the four you use most are board, materials, camera and chat.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Switching the 6 Top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Video · Games · Background · AI Warm-up · Review Quiz</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At the top of the center workspace there are six tab buttons. Click one to switch to that tool. The active tab is highlighted.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Board: a whiteboard for writing and drawing while explaining.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Video: watch a YouTube link or a video file together.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Games: open learning games during class (may be limited during lesson time).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Background: change the backdrop behind your video and decorate your face.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Warm-up: an English warm-up before the lesson.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Review Quiz: an AI-made quiz matched to this lesson's textbook and level.</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Your face video stays visible even after switching tabs.</a:t>
            </a:r>
          </a:p>
          <a:p>
            <a:pPr>
              <a:lnSpc>
                <a:spcPct val="115000"/>
              </a:lnSpc>
              <a:spcAft>
                <a:spcPts val="200"/>
              </a:spcAft>
            </a:pPr>
            <a:r>
              <a:rPr sz="900" b="1">
                <a:solidFill>
                  <a:srgbClr val="EA580C"/>
                </a:solidFill>
                <a:latin typeface="Malgun Gothic"/>
              </a:rPr>
              <a:t>● </a:t>
            </a:r>
            <a:r>
              <a:rPr sz="1100">
                <a:solidFill>
                  <a:srgbClr val="334155"/>
                </a:solidFill>
                <a:latin typeface="Malgun Gothic"/>
              </a:rPr>
              <a:t>At the far right of the tabs there are also 📚 Materials Tools ▾ and ✍️ Writing Tools ▾.</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Lessons mostly use the 🖊 Board and 📚 Materials the most.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Board Tools, One by One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eraser · shapes · text · save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Open the 🖊 Board tab and a row of drawing tools appears at the top. Let's go through each button from left to right.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Pen: draw freely. / 🧽 Eraser: erase what you drew.</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Line / ⬜ Rectangle / ⭕ Circle: draw straight lines and shapes.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Text: type letters with the keyboard.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Color (color box): pick the pen color. / Thickness (slider): adjust line width.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Shapes: even rough drawings snap into neat shapes automatically.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Text: recognizes handwriting and turns it into clean typed text.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Clear All: wipe the whole board. / 💾 Save: save the board as an image.</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Change color and thickness to highlight key parts so they stick.</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Shapes / AI Text auto-tidy when turned on (experimental).</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Pressing Save (💾) downloads the current board as an image you can use for review.</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Save (💾) the board before class ends to keep exactly what you learned today.</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Materials Tools (share PDF/photos)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Upload · library · turn pages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Materials Tools ▾ at the right of the tabs and a menu drops down. This is where you upload textbooks (PDF/photos) to view together.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Upload (PDF/JPG/PNG): upload a textbook file from your device to share.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Library: pick from textbooks the academy (admin) uploaded.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Download: download the file you're currently viewing.</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Prev / Next ▶: turn textbook pages.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Fit / 100% / 1:1: fit the page to the screen or view at real size.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Stop sharing: end textbook sharing.</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moment you upload, the other person sees the exact same page.</a:t>
            </a:r>
          </a:p>
          <a:p>
            <a:pPr>
              <a:lnSpc>
                <a:spcPct val="115000"/>
              </a:lnSpc>
              <a:spcAft>
                <a:spcPts val="200"/>
              </a:spcAft>
            </a:pPr>
            <a:r>
              <a:rPr sz="900" b="1">
                <a:solidFill>
                  <a:srgbClr val="EA580C"/>
                </a:solidFill>
                <a:latin typeface="Malgun Gothic"/>
              </a:rPr>
              <a:t>● </a:t>
            </a:r>
            <a:r>
              <a:rPr sz="1100">
                <a:solidFill>
                  <a:srgbClr val="334155"/>
                </a:solidFill>
                <a:latin typeface="Malgun Gothic"/>
              </a:rPr>
              <a:t>Not only PDFs — JPG and PNG photos work too.</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Upload the textbook before class for a smooth start.</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Writing Tools (annotate on top)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Pen · highlighter · text · undo</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Click ✍️ Writing Tools ▾ at the right of the tabs and the writing menu drops down. Use it to write directly on top of a textbook or the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Pen: write freely on the screen. / 🖍 Highlighter: brightly mark important spots.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Eraser: erase your writing. / 📝 Text: type letters.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Shapes: tidy your drawn shapes.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Thickness (slider): adjust the pen width.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Undo: cancel your last mark. / 🗑 Clear: erase all writing.</a:t>
            </a:r>
          </a:p>
        </p:txBody>
      </p:sp>
      <p:sp>
        <p:nvSpPr>
          <p:cNvPr id="14" name="Rounded Rectangle 13"/>
          <p:cNvSpPr/>
          <p:nvPr/>
        </p:nvSpPr>
        <p:spPr>
          <a:xfrm>
            <a:off x="457200" y="5166360"/>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With a textbook open, your writing appears right on top of it.</a:t>
            </a:r>
          </a:p>
          <a:p>
            <a:pPr>
              <a:lnSpc>
                <a:spcPct val="115000"/>
              </a:lnSpc>
              <a:spcAft>
                <a:spcPts val="200"/>
              </a:spcAft>
            </a:pPr>
            <a:r>
              <a:rPr sz="900" b="1">
                <a:solidFill>
                  <a:srgbClr val="EA580C"/>
                </a:solidFill>
                <a:latin typeface="Malgun Gothic"/>
              </a:rPr>
              <a:t>● </a:t>
            </a:r>
            <a:r>
              <a:rPr sz="1100">
                <a:solidFill>
                  <a:srgbClr val="334155"/>
                </a:solidFill>
                <a:latin typeface="Malgun Gothic"/>
              </a:rPr>
              <a:t>Highlight key words to make them stand out.</a:t>
            </a:r>
          </a:p>
        </p:txBody>
      </p:sp>
      <p:sp>
        <p:nvSpPr>
          <p:cNvPr id="17" name="Rounded Rectangle 16"/>
          <p:cNvSpPr/>
          <p:nvPr/>
        </p:nvSpPr>
        <p:spPr>
          <a:xfrm>
            <a:off x="457200" y="6281928"/>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Made a mistake? One tap on ↩ Undo cleans it up.</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Watch Video Together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Share YouTube · video files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Video tab you can paste a YouTube link or upload a video file to watch together — great for songs and video materials.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Paste a YouTube link (URL) into the box, or upload a video file.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 Play URL / Play to start the video.</a:t>
            </a:r>
          </a:p>
          <a:p>
            <a:pPr>
              <a:lnSpc>
                <a:spcPct val="115000"/>
              </a:lnSpc>
              <a:spcAft>
                <a:spcPts val="600"/>
              </a:spcAft>
            </a:pPr>
            <a:r>
              <a:rPr sz="1050" b="1">
                <a:solidFill>
                  <a:srgbClr val="EA580C"/>
                </a:solidFill>
                <a:latin typeface="Malgun Gothic"/>
              </a:rPr>
              <a:t>● </a:t>
            </a:r>
            <a:r>
              <a:rPr sz="1250">
                <a:solidFill>
                  <a:srgbClr val="334155"/>
                </a:solidFill>
                <a:latin typeface="Malgun Gothic"/>
              </a:rPr>
              <a:t>Use New video to switch to a different one.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video plays on the other person's screen too.</a:t>
            </a:r>
          </a:p>
          <a:p>
            <a:pPr>
              <a:lnSpc>
                <a:spcPct val="115000"/>
              </a:lnSpc>
              <a:spcAft>
                <a:spcPts val="200"/>
              </a:spcAft>
            </a:pPr>
            <a:r>
              <a:rPr sz="900" b="1">
                <a:solidFill>
                  <a:srgbClr val="EA580C"/>
                </a:solidFill>
                <a:latin typeface="Malgun Gothic"/>
              </a:rPr>
              <a:t>● </a:t>
            </a:r>
            <a:r>
              <a:rPr sz="1100">
                <a:solidFill>
                  <a:srgbClr val="334155"/>
                </a:solidFill>
                <a:latin typeface="Malgun Gothic"/>
              </a:rPr>
              <a:t>For sound-heavy material, earphones help you hear better.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Prepare the video link in advance so you can play it instantly in class.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Background &amp; Face Decorations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Change backdrop · masks · accessories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the 🎨 Background tab you can change the backdrop behind your face and add fun decorations. Just click what you want in the grid.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In the background grid, tap a backdrop (space, desert, forest, cherry blossom, beach, pyramids…).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Tap Background off to return to your normal camera view.</a:t>
            </a:r>
          </a:p>
          <a:p>
            <a:pPr>
              <a:lnSpc>
                <a:spcPct val="115000"/>
              </a:lnSpc>
              <a:spcAft>
                <a:spcPts val="600"/>
              </a:spcAft>
            </a:pPr>
            <a:r>
              <a:rPr sz="1050" b="1">
                <a:solidFill>
                  <a:srgbClr val="EA580C"/>
                </a:solidFill>
                <a:latin typeface="Malgun Gothic"/>
              </a:rPr>
              <a:t>● </a:t>
            </a:r>
            <a:r>
              <a:rPr sz="1250">
                <a:solidFill>
                  <a:srgbClr val="334155"/>
                </a:solidFill>
                <a:latin typeface="Malgun Gothic"/>
              </a:rPr>
              <a:t>Below, in Face Decorations (masks/accessories), pick glasses, hats, animals and more.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Don't like it? Tap again to turn it off.</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Changing the background keeps your face visible.</a:t>
            </a:r>
          </a:p>
          <a:p>
            <a:pPr>
              <a:lnSpc>
                <a:spcPct val="115000"/>
              </a:lnSpc>
              <a:spcAft>
                <a:spcPts val="200"/>
              </a:spcAft>
            </a:pPr>
            <a:r>
              <a:rPr sz="900" b="1">
                <a:solidFill>
                  <a:srgbClr val="EA580C"/>
                </a:solidFill>
                <a:latin typeface="Malgun Gothic"/>
              </a:rPr>
              <a:t>● </a:t>
            </a:r>
            <a:r>
              <a:rPr sz="1100">
                <a:solidFill>
                  <a:srgbClr val="334155"/>
                </a:solidFill>
                <a:latin typeface="Malgun Gothic"/>
              </a:rPr>
              <a:t>Very flashy decorations can distract from the lesson.</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Use a clean background for class and fun decorations for break time.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Resize &amp; Arrange the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 · 1/2 · 3/4 · Full · PIP · Solo · Free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size bar above the video lets you change the size and layout of your face-video window. The current size is shown in blue.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1/4 · 1/2 · 3/4 · Full: make the video window 1/4 up to full-screen.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PIP: float the video as a small overlay on top of the board/materials.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Solo: hide others and see only your own screen larger.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Free: drag the title bar to move it, drag the bottom-right corner to resize freely.</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Make the video small (1/4) when reading materials, large (Full) when presenting.</a:t>
            </a:r>
          </a:p>
          <a:p>
            <a:pPr>
              <a:lnSpc>
                <a:spcPct val="115000"/>
              </a:lnSpc>
              <a:spcAft>
                <a:spcPts val="200"/>
              </a:spcAft>
            </a:pPr>
            <a:r>
              <a:rPr sz="900" b="1">
                <a:solidFill>
                  <a:srgbClr val="EA580C"/>
                </a:solidFill>
                <a:latin typeface="Malgun Gothic"/>
              </a:rPr>
              <a:t>● </a:t>
            </a:r>
            <a:r>
              <a:rPr sz="1100">
                <a:solidFill>
                  <a:srgbClr val="334155"/>
                </a:solidFill>
                <a:latin typeface="Malgun Gothic"/>
              </a:rPr>
              <a:t>📌 PIP is great when you want to see the textbook and faces at once.</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a small screen, shrink the video to 1/4 and view the textbook large.</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Praise Points During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+1P in student's basket</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do well, the teacher can give praise points on the spot. When the teacher taps the 🌟 'Praise' star button on your video, that student instantly gets +1P, and it piles up in real time in the 🧺 point basket on the student's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Teacher: tap the 🌟 'Praise' button at the top-left of a student's video → that student gets +1P. (the count builds up next to the star)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With several students, you can also pick a student from the 'Give Praise' bar.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Student: +1P flies into the 🧺 point basket at the top-left of your screen in real time.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When class ends, the student leaves a star rating to get an extra +10P.</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Collected points are spent as rewards in the point shop, roulette, etc.</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more praise you get, the faster points pile up.</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praise star has an anti-spam cooldown, so it may briefly turn gray.</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basket shows points earned this class; your total P (top bar) is the running sum.</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 students can't add them by themselves.</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Teachers: praise 🌟 the moment a student does well — instant rewards motivate best.</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Bottom Dock &amp; Praise Basket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Camera · screen share · chat · leave · praise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control dock at the bottom-center holds the buttons you use most during class. Let's also look at the small 🧺 praise basket at the top-left.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Settings: pick camera/mic devices and check their status.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Camera / 🎤 Mic: turn your face and sound on/off.</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Screen Share: show your computer screen to the other person.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Chat: talk in text (great for words and links).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Native: call the native-speaker helper / interpreter feature.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Leave: end the lesson and exit the room.</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Praise Basket (top-left): the praise (stars/stickers) you receive during class collects here.</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Before leaving (🚪), make sure you saved the board / notes.</a:t>
            </a:r>
          </a:p>
          <a:p>
            <a:pPr>
              <a:lnSpc>
                <a:spcPct val="115000"/>
              </a:lnSpc>
              <a:spcAft>
                <a:spcPts val="200"/>
              </a:spcAft>
            </a:pPr>
            <a:r>
              <a:rPr sz="900" b="1">
                <a:solidFill>
                  <a:srgbClr val="EA580C"/>
                </a:solidFill>
                <a:latin typeface="Malgun Gothic"/>
              </a:rPr>
              <a:t>● </a:t>
            </a:r>
            <a:r>
              <a:rPr sz="1100">
                <a:solidFill>
                  <a:srgbClr val="334155"/>
                </a:solidFill>
                <a:latin typeface="Malgun Gothic"/>
              </a:rPr>
              <a:t>No sound? Check the mic/speaker devices in ⚙️ Settings.</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Screen share asks the browser which window to share — pick the screen and allow it.</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your praise basket fills up, it means you're doing great!</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Pre-upload Materials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Prepare lesson files in advance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Pre-upload lesson files to the materials uploader so you can share them instantly in class. Being prepared makes the lesson far smoother.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Drag files into or select them in the materials uploader to upload.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Review uploaded materials in the materials viewer.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In class, bring them up instantly via materials-tab sharing.</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Uploading before class saves time.</a:t>
            </a:r>
          </a:p>
          <a:p>
            <a:pPr>
              <a:lnSpc>
                <a:spcPct val="115000"/>
              </a:lnSpc>
              <a:spcAft>
                <a:spcPts val="200"/>
              </a:spcAft>
            </a:pPr>
            <a:r>
              <a:rPr sz="900" b="1">
                <a:solidFill>
                  <a:srgbClr val="EA580C"/>
                </a:solidFill>
                <a:latin typeface="Malgun Gothic"/>
              </a:rPr>
              <a:t>● </a:t>
            </a:r>
            <a:r>
              <a:rPr sz="1100">
                <a:solidFill>
                  <a:srgbClr val="334155"/>
                </a:solidFill>
                <a:latin typeface="Malgun Gothic"/>
              </a:rPr>
              <a:t>Both PDFs and images are supported.</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Naming files by lesson number makes them easy to find.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textbook_uploa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Start with the AI Warm-up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 3-minute icebreaker</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Use the student's pre-class AI warm-up to open the conversation naturally. The warm-up is tied to today's textbook, so it leads straight into the main lesson.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Open the conversation using the student's AI warm-up content.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Carry the warm-up questions into the main lesson topic.</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students who skipped it, ease in with 1–2 light questions.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Mentioning the warm-up raises student engagement.</a:t>
            </a:r>
          </a:p>
          <a:p>
            <a:pPr>
              <a:lnSpc>
                <a:spcPct val="115000"/>
              </a:lnSpc>
              <a:spcAft>
                <a:spcPts val="200"/>
              </a:spcAft>
            </a:pPr>
            <a:r>
              <a:rPr sz="900" b="1">
                <a:solidFill>
                  <a:srgbClr val="EA580C"/>
                </a:solidFill>
                <a:latin typeface="Malgun Gothic"/>
              </a:rPr>
              <a:t>● </a:t>
            </a:r>
            <a:r>
              <a:rPr sz="1100">
                <a:solidFill>
                  <a:srgbClr val="334155"/>
                </a:solidFill>
                <a:latin typeface="Malgun Gothic"/>
              </a:rPr>
              <a:t>A smooth intro improves the lesson rhythm.</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'You said … in the warm-up, right?' instantly breaks the ice.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Use the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Correct with the AI voice coach</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Practice AI voice-coach sentences with students who struggle with pronunciation. Guide them to self-correct through record → score → replay.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Pick voice-coach sentences at the student's level together.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Have them self-correct via record → score → replay.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Link the lesson sentences to voice-coach homework.</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'lesson sentence → voice-coach repeat' routine is effective.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Scores give a sense of achievement to keep going.</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For tough sounds (r, th), repeat with short words first.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Write the Lesson Review</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Record post-class feedback</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class, record today's lesson in the review. Leave per-item stars and comments on strengths and areas to improve; it's reflected in the parent my-page and reports.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Record today's lesson on the review screen.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Leave per-item stars and comments.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Once saved, it's reflected in the report/parent page.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One praise + one improvement, short and specific.</a:t>
            </a:r>
          </a:p>
          <a:p>
            <a:pPr>
              <a:lnSpc>
                <a:spcPct val="115000"/>
              </a:lnSpc>
              <a:spcAft>
                <a:spcPts val="200"/>
              </a:spcAft>
            </a:pPr>
            <a:r>
              <a:rPr sz="900" b="1">
                <a:solidFill>
                  <a:srgbClr val="EA580C"/>
                </a:solidFill>
                <a:latin typeface="Malgun Gothic"/>
              </a:rPr>
              <a:t>● </a:t>
            </a:r>
            <a:r>
              <a:rPr sz="1100">
                <a:solidFill>
                  <a:srgbClr val="334155"/>
                </a:solidFill>
                <a:latin typeface="Malgun Gothic"/>
              </a:rPr>
              <a:t>Writing right after class is most accurate.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Adding a concrete example ('today's r sound was great') builds trust.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eva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Leave Student Praise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Stars · stickers · comments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Teacher Praise screen, pick the student and items and leave stars, stickers and comments. It shows to the student and parents and motivates them.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Pick the student and items in Teacher Praise.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Leave stars (7 items) and stickers/comments.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Once saved, it shows to the student and parents.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Leaving it right after class is most effective.</a:t>
            </a:r>
          </a:p>
          <a:p>
            <a:pPr>
              <a:lnSpc>
                <a:spcPct val="115000"/>
              </a:lnSpc>
              <a:spcAft>
                <a:spcPts val="200"/>
              </a:spcAft>
            </a:pPr>
            <a:r>
              <a:rPr sz="900" b="1">
                <a:solidFill>
                  <a:srgbClr val="EA580C"/>
                </a:solidFill>
                <a:latin typeface="Malgun Gothic"/>
              </a:rPr>
              <a:t>● </a:t>
            </a:r>
            <a:r>
              <a:rPr sz="1100">
                <a:solidFill>
                  <a:srgbClr val="334155"/>
                </a:solidFill>
                <a:latin typeface="Malgun Gothic"/>
              </a:rPr>
              <a:t>Specific praise beats vague praise.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Praising even small wins improves participation next lesson.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ais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Game Learning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a student's weak words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Look up by student ID to see the words most often missed in games. Adding those words to the next lesson's intro for review is effective.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Enter the student ID in the game learning report and look up.</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weak words (often missed).</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Review them intensively in the next lesson.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Pinpoints weaknesses with data.</a:t>
            </a:r>
          </a:p>
          <a:p>
            <a:pPr>
              <a:lnSpc>
                <a:spcPct val="115000"/>
              </a:lnSpc>
              <a:spcAft>
                <a:spcPts val="200"/>
              </a:spcAft>
            </a:pPr>
            <a:r>
              <a:rPr sz="900" b="1">
                <a:solidFill>
                  <a:srgbClr val="EA580C"/>
                </a:solidFill>
                <a:latin typeface="Malgun Gothic"/>
              </a:rPr>
              <a:t>● </a:t>
            </a:r>
            <a:r>
              <a:rPr sz="1100">
                <a:solidFill>
                  <a:srgbClr val="334155"/>
                </a:solidFill>
                <a:latin typeface="Malgun Gothic"/>
              </a:rPr>
              <a:t>Even 3 words gives a clear review effect.</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Put weak words on the chat/board and repeat them.</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game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Reports · Lesson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Check progress &amp; performance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Check a student's learning progress and performance in reports, and organize past/upcoming lessons and progress in lesson management. Use it to set the next lesson's goal.</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learning progress/performance in reports.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Organize past/upcoming lessons in lesson management.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Set the next lesson goal in one line.</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Progress continuity improves.</a:t>
            </a:r>
          </a:p>
          <a:p>
            <a:pPr>
              <a:lnSpc>
                <a:spcPct val="115000"/>
              </a:lnSpc>
              <a:spcAft>
                <a:spcPts val="200"/>
              </a:spcAft>
            </a:pPr>
            <a:r>
              <a:rPr sz="900" b="1">
                <a:solidFill>
                  <a:srgbClr val="EA580C"/>
                </a:solidFill>
                <a:latin typeface="Malgun Gothic"/>
              </a:rPr>
              <a:t>● </a:t>
            </a:r>
            <a:r>
              <a:rPr sz="1100">
                <a:solidFill>
                  <a:srgbClr val="334155"/>
                </a:solidFill>
                <a:latin typeface="Malgun Gothic"/>
              </a:rPr>
              <a:t>Writing goals makes lesson direction clear.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Noting the next goal at the end of each lesson makes handover easy too.</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Handle Lesson Postpones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Respond to student requests</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Review students' postpone/change requests and adjust the schedule per policy. Changes are auto-announced to both sides.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Check students' postpone/change requests.</a:t>
            </a:r>
          </a:p>
          <a:p>
            <a:pPr>
              <a:lnSpc>
                <a:spcPct val="115000"/>
              </a:lnSpc>
              <a:spcAft>
                <a:spcPts val="600"/>
              </a:spcAft>
            </a:pPr>
            <a:r>
              <a:rPr sz="1050" b="1">
                <a:solidFill>
                  <a:srgbClr val="EA580C"/>
                </a:solidFill>
                <a:latin typeface="Malgun Gothic"/>
              </a:rPr>
              <a:t>● </a:t>
            </a:r>
            <a:r>
              <a:rPr sz="1250">
                <a:solidFill>
                  <a:srgbClr val="334155"/>
                </a:solidFill>
                <a:latin typeface="Malgun Gothic"/>
              </a:rPr>
              <a:t>If within policy, adjust the schedule.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Confirm the change is auto-announced.</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Guide out-of-policy last-minute requests per policy.</a:t>
            </a:r>
          </a:p>
          <a:p>
            <a:pPr>
              <a:lnSpc>
                <a:spcPct val="115000"/>
              </a:lnSpc>
              <a:spcAft>
                <a:spcPts val="200"/>
              </a:spcAft>
            </a:pPr>
            <a:r>
              <a:rPr sz="900" b="1">
                <a:solidFill>
                  <a:srgbClr val="EA580C"/>
                </a:solidFill>
                <a:latin typeface="Malgun Gothic"/>
              </a:rPr>
              <a:t>● </a:t>
            </a:r>
            <a:r>
              <a:rPr sz="1100">
                <a:solidFill>
                  <a:srgbClr val="334155"/>
                </a:solidFill>
                <a:latin typeface="Malgun Gothic"/>
              </a:rPr>
              <a:t>Postponing preserves the student's lesson count.</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Tell students the postpone cutoff in advance.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 · Inquiries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When something goes wrong</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there's a technical issue or a question during class, contact support channels. Knowing common issues in advance lets you respond quickly.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Use phone, email, Kakao and remote support in Support.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For urgent issues, get direct help via remote support.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Note the fix for repeat issues.</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'No sound/video' — check permissions and browser first.</a:t>
            </a:r>
          </a:p>
          <a:p>
            <a:pPr>
              <a:lnSpc>
                <a:spcPct val="115000"/>
              </a:lnSpc>
              <a:spcAft>
                <a:spcPts val="200"/>
              </a:spcAft>
            </a:pPr>
            <a:r>
              <a:rPr sz="900" b="1">
                <a:solidFill>
                  <a:srgbClr val="EA580C"/>
                </a:solidFill>
                <a:latin typeface="Malgun Gothic"/>
              </a:rPr>
              <a:t>● </a:t>
            </a:r>
            <a:r>
              <a:rPr sz="1100">
                <a:solidFill>
                  <a:srgbClr val="334155"/>
                </a:solidFill>
                <a:latin typeface="Malgun Gothic"/>
              </a:rPr>
              <a:t>Inquiries within business hours are faster.</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Keeping notes of common issues and fixes reduces lesson loss.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time and 🇵🇭 Philippines (local) time together. Students use Korea time, you use Philippines time — seeing both lets you match lesson times exactly.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EA580C"/>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a student also learns Chinese, guide them to the Chinese pronunciation coach. They read Darakwon Chinese Master (Lv 1–20) sentences and compare with a native speaker to fix pronunciation and tones.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Coaching After Class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Strengths · areas to improve · one action for today</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finish and leave a class, the AI analyzes it and shows a coaching card with ‘What you did well / Areas to improve / One action for today’ in both Korean and English. Based on real class signals — talk ratio, engagement, praise count — it helps in a warm coaching tone, not surveillance.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End the video class with ‘Leave’ and the coaching card appears automatically.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Toggle 🇰🇷 Korean / 🇺🇸 English to read it in the language you prefer.</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the engagement · talk-ratio · praise-count summary and the strengths · improvements · one action.</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‘Full report’ to see class details plus recent coaching history (quality score · summary).</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English is the default for native-speaker teachers, with Korean provided alongside.</a:t>
            </a:r>
          </a:p>
          <a:p>
            <a:pPr>
              <a:lnSpc>
                <a:spcPct val="115000"/>
              </a:lnSpc>
              <a:spcAft>
                <a:spcPts val="200"/>
              </a:spcAft>
            </a:pPr>
            <a:r>
              <a:rPr sz="900" b="1">
                <a:solidFill>
                  <a:srgbClr val="EA580C"/>
                </a:solidFill>
                <a:latin typeface="Malgun Gothic"/>
              </a:rPr>
              <a:t>● </a:t>
            </a:r>
            <a:r>
              <a:rPr sz="1100">
                <a:solidFill>
                  <a:srgbClr val="334155"/>
                </a:solidFill>
                <a:latin typeface="Malgun Gothic"/>
              </a:rPr>
              <a:t>A class-quality score (0–100) and a detailed summary help you find your own growth points.</a:t>
            </a:r>
          </a:p>
          <a:p>
            <a:pPr>
              <a:lnSpc>
                <a:spcPct val="115000"/>
              </a:lnSpc>
              <a:spcAft>
                <a:spcPts val="200"/>
              </a:spcAft>
            </a:pPr>
            <a:r>
              <a:rPr sz="900" b="1">
                <a:solidFill>
                  <a:srgbClr val="EA580C"/>
                </a:solidFill>
                <a:latin typeface="Malgun Gothic"/>
              </a:rPr>
              <a:t>● </a:t>
            </a:r>
            <a:r>
              <a:rPr sz="1100">
                <a:solidFill>
                  <a:srgbClr val="334155"/>
                </a:solidFill>
                <a:latin typeface="Malgun Gothic"/>
              </a:rPr>
              <a:t>Even if the AI is briefly slow, baseline coaching in both languages is always provided.</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Coaching is meant to support your own growth. Admins only receive a monthly rollup.</a:t>
            </a:r>
          </a:p>
        </p:txBody>
      </p:sp>
      <p:sp>
        <p:nvSpPr>
          <p:cNvPr id="19" name="Rounded Rectangle 18"/>
          <p:cNvSpPr/>
          <p:nvPr/>
        </p:nvSpPr>
        <p:spPr>
          <a:xfrm>
            <a:off x="457200" y="694029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Trying just the ‘one action for today’ in your next class visibly improves how you draw out student speech.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Tab Sync (Your Screen Leads)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Switch a tab and students follow instantly</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you switch top tabs — Board → Video → Review Quiz — the students' screens follow to the same tab automatically. No more saying “tap the ○○ tab”; you carry the lesson flow yourself.</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Switch the top tabs as usual (Board · Video · Games · Background · AI Warm-up · Review Quiz).</a:t>
            </a:r>
          </a:p>
          <a:p>
            <a:pPr>
              <a:lnSpc>
                <a:spcPct val="115000"/>
              </a:lnSpc>
              <a:spcAft>
                <a:spcPts val="600"/>
              </a:spcAft>
            </a:pPr>
            <a:r>
              <a:rPr sz="1050" b="1">
                <a:solidFill>
                  <a:srgbClr val="EA580C"/>
                </a:solidFill>
                <a:latin typeface="Malgun Gothic"/>
              </a:rPr>
              <a:t>● </a:t>
            </a:r>
            <a:r>
              <a:rPr sz="1250">
                <a:solidFill>
                  <a:srgbClr val="334155"/>
                </a:solidFill>
                <a:latin typeface="Malgun Gothic"/>
              </a:rPr>
              <a:t>Watch the student's screen switch to the same tab automatically.</a:t>
            </a:r>
          </a:p>
          <a:p>
            <a:pPr>
              <a:lnSpc>
                <a:spcPct val="115000"/>
              </a:lnSpc>
              <a:spcAft>
                <a:spcPts val="600"/>
              </a:spcAft>
            </a:pPr>
            <a:r>
              <a:rPr sz="1050" b="1">
                <a:solidFill>
                  <a:srgbClr val="EA580C"/>
                </a:solidFill>
                <a:latin typeface="Malgun Gothic"/>
              </a:rPr>
              <a:t>● </a:t>
            </a:r>
            <a:r>
              <a:rPr sz="1250">
                <a:solidFill>
                  <a:srgbClr val="334155"/>
                </a:solidFill>
                <a:latin typeface="Malgun Gothic"/>
              </a:rPr>
              <a:t>Textbook and file sharing carry over to students the same way.</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Even young learners follow along without hunting for buttons.</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lesson rhythm never breaks, so pacing gets faster.</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Sync works while you're in the room together. If a screen doesn't follow, ask the student to re-enter.</a:t>
            </a:r>
          </a:p>
        </p:txBody>
      </p:sp>
      <p:sp>
        <p:nvSpPr>
          <p:cNvPr id="19" name="Rounded Rectangle 18"/>
          <p:cNvSpPr/>
          <p:nvPr/>
        </p:nvSpPr>
        <p:spPr>
          <a:xfrm>
            <a:off x="457200" y="624535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quick heads-up before jumping to a video or quiz keeps students from being startled.</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1:1 Private Chat &amp; File Sharing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Whisper messages only your student sees + share any file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Class chat now supports 1:1 private messages (DM). Send a message only a specific student can see, and share any file — PDF, image, document — through chat; it appears on the other side as a download card.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Open 💬 Chat from the bottom dock.</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Switch the recipient from Everyone to a student's name to whisper 1:1.</a:t>
            </a:r>
          </a:p>
          <a:p>
            <a:pPr>
              <a:lnSpc>
                <a:spcPct val="115000"/>
              </a:lnSpc>
              <a:spcAft>
                <a:spcPts val="600"/>
              </a:spcAft>
            </a:pPr>
            <a:r>
              <a:rPr sz="1050" b="1">
                <a:solidFill>
                  <a:srgbClr val="EA580C"/>
                </a:solidFill>
                <a:latin typeface="Malgun Gothic"/>
              </a:rPr>
              <a:t>● </a:t>
            </a:r>
            <a:r>
              <a:rPr sz="1250">
                <a:solidFill>
                  <a:srgbClr val="334155"/>
                </a:solidFill>
                <a:latin typeface="Malgun Gothic"/>
              </a:rPr>
              <a:t>Use the 📎 file button to upload a PDF, photo, or document — a download card appears for them.</a:t>
            </a:r>
          </a:p>
          <a:p>
            <a:pPr>
              <a:lnSpc>
                <a:spcPct val="115000"/>
              </a:lnSpc>
              <a:spcAft>
                <a:spcPts val="600"/>
              </a:spcAft>
            </a:pPr>
            <a:r>
              <a:rPr sz="1050" b="1">
                <a:solidFill>
                  <a:srgbClr val="EA580C"/>
                </a:solidFill>
                <a:latin typeface="Malgun Gothic"/>
              </a:rPr>
              <a:t>● </a:t>
            </a:r>
            <a:r>
              <a:rPr sz="1250">
                <a:solidFill>
                  <a:srgbClr val="334155"/>
                </a:solidFill>
                <a:latin typeface="Malgun Gothic"/>
              </a:rPr>
              <a:t>Received files are saved with the card's ⬇ Save button.</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Private chats are visible only to the two of you.</a:t>
            </a:r>
          </a:p>
          <a:p>
            <a:pPr>
              <a:lnSpc>
                <a:spcPct val="115000"/>
              </a:lnSpc>
              <a:spcAft>
                <a:spcPts val="200"/>
              </a:spcAft>
            </a:pPr>
            <a:r>
              <a:rPr sz="900" b="1">
                <a:solidFill>
                  <a:srgbClr val="EA580C"/>
                </a:solidFill>
                <a:latin typeface="Malgun Gothic"/>
              </a:rPr>
              <a:t>● </a:t>
            </a:r>
            <a:r>
              <a:rPr sz="1100">
                <a:solidFill>
                  <a:srgbClr val="334155"/>
                </a:solidFill>
                <a:latin typeface="Malgun Gothic"/>
              </a:rPr>
              <a:t>Homework files and notes get exchanged in one step during class.</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Private chats are not stored on the server and disappear after class. Keep important things as files.</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Perfect for quietly asking a question without interrupting anyone else.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cha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Requesting a Postpone / Change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Something came up? Submit right on the site</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something urgent comes up, you can now request a class postponement or time change right on the site. Your request reaches the admin in real time, and once approved it's applied to the schedule automatically.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Pick the class in My Page → class schedule.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Press Request postpone/change and write the reason and preferred time.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After admin approval it's applied to the schedule automatically — you can track the status too.</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It's an official, recorded request — no phone calls or messengers needed.</a:t>
            </a:r>
          </a:p>
          <a:p>
            <a:pPr>
              <a:lnSpc>
                <a:spcPct val="115000"/>
              </a:lnSpc>
              <a:spcAft>
                <a:spcPts val="200"/>
              </a:spcAft>
            </a:pPr>
            <a:r>
              <a:rPr sz="900" b="1">
                <a:solidFill>
                  <a:srgbClr val="EA580C"/>
                </a:solidFill>
                <a:latin typeface="Malgun Gothic"/>
              </a:rPr>
              <a:t>● </a:t>
            </a:r>
            <a:r>
              <a:rPr sz="1100">
                <a:solidFill>
                  <a:srgbClr val="334155"/>
                </a:solidFill>
                <a:latin typeface="Malgun Gothic"/>
              </a:rPr>
              <a:t>The original schedule holds until approval, so request early (ideally a day ahead).</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Last-minute changes need time to notify students and parents. If it's urgent, also alert support.</a:t>
            </a:r>
          </a:p>
        </p:txBody>
      </p:sp>
      <p:sp>
        <p:nvSpPr>
          <p:cNvPr id="19" name="Rounded Rectangle 18"/>
          <p:cNvSpPr/>
          <p:nvPr/>
        </p:nvSpPr>
        <p:spPr>
          <a:xfrm>
            <a:off x="457200" y="624535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Offering 2–3 preferred times gets you approved much faster.</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Checking My Lesson-Fee Settlement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See this month's classes and pay yourself</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My Page's 🧾 Settlement tab, you can check this month's class count and lesson-fee settlement yourself. Settlement data is protected so only you can see yours, and past months are available too.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Open the 🧾 Settlement tab in My Page.</a:t>
            </a:r>
          </a:p>
          <a:p>
            <a:pPr>
              <a:lnSpc>
                <a:spcPct val="115000"/>
              </a:lnSpc>
              <a:spcAft>
                <a:spcPts val="600"/>
              </a:spcAft>
            </a:pPr>
            <a:r>
              <a:rPr sz="1050" b="1">
                <a:solidFill>
                  <a:srgbClr val="EA580C"/>
                </a:solidFill>
                <a:latin typeface="Malgun Gothic"/>
              </a:rPr>
              <a:t>● </a:t>
            </a:r>
            <a:r>
              <a:rPr sz="1250">
                <a:solidFill>
                  <a:srgbClr val="334155"/>
                </a:solidFill>
                <a:latin typeface="Malgun Gothic"/>
              </a:rPr>
              <a:t>Check this month's class count and settlement amount.</a:t>
            </a:r>
          </a:p>
          <a:p>
            <a:pPr>
              <a:lnSpc>
                <a:spcPct val="115000"/>
              </a:lnSpc>
              <a:spcAft>
                <a:spcPts val="600"/>
              </a:spcAft>
            </a:pPr>
            <a:r>
              <a:rPr sz="1050" b="1">
                <a:solidFill>
                  <a:srgbClr val="EA580C"/>
                </a:solidFill>
                <a:latin typeface="Malgun Gothic"/>
              </a:rPr>
              <a:t>● </a:t>
            </a:r>
            <a:r>
              <a:rPr sz="1250">
                <a:solidFill>
                  <a:srgbClr val="334155"/>
                </a:solidFill>
                <a:latin typeface="Malgun Gothic"/>
              </a:rPr>
              <a:t>Switch the month to review previous months as well.</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Settlement details are visible only to you — safe and private.</a:t>
            </a:r>
          </a:p>
          <a:p>
            <a:pPr>
              <a:lnSpc>
                <a:spcPct val="115000"/>
              </a:lnSpc>
              <a:spcAft>
                <a:spcPts val="200"/>
              </a:spcAft>
            </a:pPr>
            <a:r>
              <a:rPr sz="900" b="1">
                <a:solidFill>
                  <a:srgbClr val="EA580C"/>
                </a:solidFill>
                <a:latin typeface="Malgun Gothic"/>
              </a:rPr>
              <a:t>● </a:t>
            </a:r>
            <a:r>
              <a:rPr sz="1100">
                <a:solidFill>
                  <a:srgbClr val="334155"/>
                </a:solidFill>
                <a:latin typeface="Malgun Gothic"/>
              </a:rPr>
              <a:t>Class records connect to settlement automatically, so nothing gets missed.</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If a figure looks wrong, don't fix it yourself — contact the admin (HQ).</a:t>
            </a:r>
          </a:p>
        </p:txBody>
      </p:sp>
      <p:sp>
        <p:nvSpPr>
          <p:cNvPr id="19" name="Rounded Rectangle 18"/>
          <p:cNvSpPr/>
          <p:nvPr/>
        </p:nvSpPr>
        <p:spPr>
          <a:xfrm>
            <a:off x="457200" y="624535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Make it a habit to skim last month's statement at the start of each month.</a:t>
            </a:r>
          </a:p>
        </p:txBody>
      </p:sp>
      <p:sp>
        <p:nvSpPr>
          <p:cNvPr id="21" name="Rectangle 20"/>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Tools by Lesson Stage</a:t>
            </a:r>
          </a:p>
        </p:txBody>
      </p:sp>
      <p:graphicFrame>
        <p:nvGraphicFramePr>
          <p:cNvPr id="7" name="Table 6"/>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Stage</a:t>
                      </a:r>
                    </a:p>
                  </a:txBody>
                  <a:tcPr>
                    <a:solidFill>
                      <a:srgbClr val="EA580C"/>
                    </a:solidFill>
                  </a:tcPr>
                </a:tc>
                <a:tc>
                  <a:txBody>
                    <a:bodyPr/>
                    <a:lstStyle/>
                    <a:p>
                      <a:pPr algn="ctr"/>
                      <a:r>
                        <a:rPr sz="1300" b="1">
                          <a:solidFill>
                            <a:srgbClr val="FFFFFF"/>
                          </a:solidFill>
                          <a:latin typeface="Malgun Gothic"/>
                        </a:rPr>
                        <a:t>Screen used</a:t>
                      </a:r>
                    </a:p>
                  </a:txBody>
                  <a:tcPr>
                    <a:solidFill>
                      <a:srgbClr val="EA580C"/>
                    </a:solidFill>
                  </a:tcPr>
                </a:tc>
                <a:tc>
                  <a:txBody>
                    <a:bodyPr/>
                    <a:lstStyle/>
                    <a:p>
                      <a:pPr algn="ctr"/>
                      <a:r>
                        <a:rPr sz="1300" b="1">
                          <a:solidFill>
                            <a:srgbClr val="FFFFFF"/>
                          </a:solidFill>
                          <a:latin typeface="Malgun Gothic"/>
                        </a:rPr>
                        <a:t>What you do</a:t>
                      </a:r>
                    </a:p>
                  </a:txBody>
                  <a:tcPr>
                    <a:solidFill>
                      <a:srgbClr val="EA580C"/>
                    </a:solidFill>
                  </a:tcPr>
                </a:tc>
                <a:tc>
                  <a:txBody>
                    <a:bodyPr/>
                    <a:lstStyle/>
                    <a:p>
                      <a:pPr algn="ctr"/>
                      <a:r>
                        <a:rPr sz="1300" b="1">
                          <a:solidFill>
                            <a:srgbClr val="FFFFFF"/>
                          </a:solidFill>
                          <a:latin typeface="Malgun Gothic"/>
                        </a:rPr>
                        <a:t>Tip</a:t>
                      </a:r>
                    </a:p>
                  </a:txBody>
                  <a:tcPr>
                    <a:solidFill>
                      <a:srgbClr val="EA580C"/>
                    </a:solidFill>
                  </a:tcPr>
                </a:tc>
              </a:tr>
              <a:tr h="502920">
                <a:tc>
                  <a:txBody>
                    <a:bodyPr/>
                    <a:lstStyle/>
                    <a:p>
                      <a:pPr algn="l"/>
                      <a:r>
                        <a:rPr sz="1200" b="1">
                          <a:solidFill>
                            <a:srgbClr val="334155"/>
                          </a:solidFill>
                          <a:latin typeface="Malgun Gothic"/>
                        </a:rPr>
                        <a:t>Before class</a:t>
                      </a:r>
                    </a:p>
                  </a:txBody>
                  <a:tcPr>
                    <a:solidFill>
                      <a:srgbClr val="FFFFFF"/>
                    </a:solidFill>
                  </a:tcPr>
                </a:tc>
                <a:tc>
                  <a:txBody>
                    <a:bodyPr/>
                    <a:lstStyle/>
                    <a:p>
                      <a:pPr algn="ctr"/>
                      <a:r>
                        <a:rPr sz="1200">
                          <a:solidFill>
                            <a:srgbClr val="334155"/>
                          </a:solidFill>
                          <a:latin typeface="Malgun Gothic"/>
                        </a:rPr>
                        <a:t>Detailed check</a:t>
                      </a:r>
                    </a:p>
                  </a:txBody>
                  <a:tcPr>
                    <a:solidFill>
                      <a:srgbClr val="FFFFFF"/>
                    </a:solidFill>
                  </a:tcPr>
                </a:tc>
                <a:tc>
                  <a:txBody>
                    <a:bodyPr/>
                    <a:lstStyle/>
                    <a:p>
                      <a:pPr algn="ctr"/>
                      <a:r>
                        <a:rPr sz="1200">
                          <a:solidFill>
                            <a:srgbClr val="334155"/>
                          </a:solidFill>
                          <a:latin typeface="Malgun Gothic"/>
                        </a:rPr>
                        <a:t>Check devices·lighting</a:t>
                      </a:r>
                    </a:p>
                  </a:txBody>
                  <a:tcPr>
                    <a:solidFill>
                      <a:srgbClr val="FFFFFF"/>
                    </a:solidFill>
                  </a:tcPr>
                </a:tc>
                <a:tc>
                  <a:txBody>
                    <a:bodyPr/>
                    <a:lstStyle/>
                    <a:p>
                      <a:pPr algn="ctr"/>
                      <a:r>
                        <a:rPr sz="1200">
                          <a:solidFill>
                            <a:srgbClr val="334155"/>
                          </a:solidFill>
                          <a:latin typeface="Malgun Gothic"/>
                        </a:rPr>
                        <a:t>5–10 min early</a:t>
                      </a:r>
                    </a:p>
                  </a:txBody>
                  <a:tcPr>
                    <a:solidFill>
                      <a:srgbClr val="FFFFFF"/>
                    </a:solidFill>
                  </a:tcPr>
                </a:tc>
              </a:tr>
              <a:tr h="502920">
                <a:tc>
                  <a:txBody>
                    <a:bodyPr/>
                    <a:lstStyle/>
                    <a:p>
                      <a:pPr algn="l"/>
                      <a:r>
                        <a:rPr sz="1200" b="1">
                          <a:solidFill>
                            <a:srgbClr val="334155"/>
                          </a:solidFill>
                          <a:latin typeface="Malgun Gothic"/>
                        </a:rPr>
                        <a:t>Entry</a:t>
                      </a:r>
                    </a:p>
                  </a:txBody>
                  <a:tcPr>
                    <a:solidFill>
                      <a:srgbClr val="F8FAFC"/>
                    </a:solidFill>
                  </a:tcPr>
                </a:tc>
                <a:tc>
                  <a:txBody>
                    <a:bodyPr/>
                    <a:lstStyle/>
                    <a:p>
                      <a:pPr algn="ctr"/>
                      <a:r>
                        <a:rPr sz="1200">
                          <a:solidFill>
                            <a:srgbClr val="334155"/>
                          </a:solidFill>
                          <a:latin typeface="Malgun Gothic"/>
                        </a:rPr>
                        <a:t>Classroom</a:t>
                      </a:r>
                    </a:p>
                  </a:txBody>
                  <a:tcPr>
                    <a:solidFill>
                      <a:srgbClr val="F8FAFC"/>
                    </a:solidFill>
                  </a:tcPr>
                </a:tc>
                <a:tc>
                  <a:txBody>
                    <a:bodyPr/>
                    <a:lstStyle/>
                    <a:p>
                      <a:pPr algn="ctr"/>
                      <a:r>
                        <a:rPr sz="1200">
                          <a:solidFill>
                            <a:srgbClr val="334155"/>
                          </a:solidFill>
                          <a:latin typeface="Malgun Gothic"/>
                        </a:rPr>
                        <a:t>Enter name·allow</a:t>
                      </a:r>
                    </a:p>
                  </a:txBody>
                  <a:tcPr>
                    <a:solidFill>
                      <a:srgbClr val="F8FAFC"/>
                    </a:solidFill>
                  </a:tcPr>
                </a:tc>
                <a:tc>
                  <a:txBody>
                    <a:bodyPr/>
                    <a:lstStyle/>
                    <a:p>
                      <a:pPr algn="ctr"/>
                      <a:r>
                        <a:rPr sz="1200">
                          <a:solidFill>
                            <a:srgbClr val="334155"/>
                          </a:solidFill>
                          <a:latin typeface="Malgun Gothic"/>
                        </a:rPr>
                        <a:t>Enter early</a:t>
                      </a:r>
                    </a:p>
                  </a:txBody>
                  <a:tcPr>
                    <a:solidFill>
                      <a:srgbClr val="F8FAFC"/>
                    </a:solidFill>
                  </a:tcPr>
                </a:tc>
              </a:tr>
              <a:tr h="502920">
                <a:tc>
                  <a:txBody>
                    <a:bodyPr/>
                    <a:lstStyle/>
                    <a:p>
                      <a:pPr algn="l"/>
                      <a:r>
                        <a:rPr sz="1200" b="1">
                          <a:solidFill>
                            <a:srgbClr val="334155"/>
                          </a:solidFill>
                          <a:latin typeface="Malgun Gothic"/>
                        </a:rPr>
                        <a:t>Toolbar</a:t>
                      </a:r>
                    </a:p>
                  </a:txBody>
                  <a:tcPr>
                    <a:solidFill>
                      <a:srgbClr val="FFFFFF"/>
                    </a:solidFill>
                  </a:tcPr>
                </a:tc>
                <a:tc>
                  <a:txBody>
                    <a:bodyPr/>
                    <a:lstStyle/>
                    <a:p>
                      <a:pPr algn="ctr"/>
                      <a:r>
                        <a:rPr sz="1200">
                          <a:solidFill>
                            <a:srgbClr val="334155"/>
                          </a:solidFill>
                          <a:latin typeface="Malgun Gothic"/>
                        </a:rPr>
                        <a:t>Board·materials·video</a:t>
                      </a:r>
                    </a:p>
                  </a:txBody>
                  <a:tcPr>
                    <a:solidFill>
                      <a:srgbClr val="FFFFFF"/>
                    </a:solidFill>
                  </a:tcPr>
                </a:tc>
                <a:tc>
                  <a:txBody>
                    <a:bodyPr/>
                    <a:lstStyle/>
                    <a:p>
                      <a:pPr algn="ctr"/>
                      <a:r>
                        <a:rPr sz="1200">
                          <a:solidFill>
                            <a:srgbClr val="334155"/>
                          </a:solidFill>
                          <a:latin typeface="Malgun Gothic"/>
                        </a:rPr>
                        <a:t>Switch·control screen</a:t>
                      </a:r>
                    </a:p>
                  </a:txBody>
                  <a:tcPr>
                    <a:solidFill>
                      <a:srgbClr val="FFFFFF"/>
                    </a:solidFill>
                  </a:tcPr>
                </a:tc>
                <a:tc>
                  <a:txBody>
                    <a:bodyPr/>
                    <a:lstStyle/>
                    <a:p>
                      <a:pPr algn="ctr"/>
                      <a:r>
                        <a:rPr sz="1200">
                          <a:solidFill>
                            <a:srgbClr val="334155"/>
                          </a:solidFill>
                          <a:latin typeface="Malgun Gothic"/>
                        </a:rPr>
                        <a:t>Guide tabs</a:t>
                      </a:r>
                    </a:p>
                  </a:txBody>
                  <a:tcPr>
                    <a:solidFill>
                      <a:srgbClr val="FFFFFF"/>
                    </a:solidFill>
                  </a:tcPr>
                </a:tc>
              </a:tr>
              <a:tr h="502920">
                <a:tc>
                  <a:txBody>
                    <a:bodyPr/>
                    <a:lstStyle/>
                    <a:p>
                      <a:pPr algn="l"/>
                      <a:r>
                        <a:rPr sz="1200" b="1">
                          <a:solidFill>
                            <a:srgbClr val="334155"/>
                          </a:solidFill>
                          <a:latin typeface="Malgun Gothic"/>
                        </a:rPr>
                        <a:t>Prep</a:t>
                      </a:r>
                    </a:p>
                  </a:txBody>
                  <a:tcPr>
                    <a:solidFill>
                      <a:srgbClr val="F8FAFC"/>
                    </a:solidFill>
                  </a:tcPr>
                </a:tc>
                <a:tc>
                  <a:txBody>
                    <a:bodyPr/>
                    <a:lstStyle/>
                    <a:p>
                      <a:pPr algn="ctr"/>
                      <a:r>
                        <a:rPr sz="1200">
                          <a:solidFill>
                            <a:srgbClr val="334155"/>
                          </a:solidFill>
                          <a:latin typeface="Malgun Gothic"/>
                        </a:rPr>
                        <a:t>Materials uploader</a:t>
                      </a:r>
                    </a:p>
                  </a:txBody>
                  <a:tcPr>
                    <a:solidFill>
                      <a:srgbClr val="F8FAFC"/>
                    </a:solidFill>
                  </a:tcPr>
                </a:tc>
                <a:tc>
                  <a:txBody>
                    <a:bodyPr/>
                    <a:lstStyle/>
                    <a:p>
                      <a:pPr algn="ctr"/>
                      <a:r>
                        <a:rPr sz="1200">
                          <a:solidFill>
                            <a:srgbClr val="334155"/>
                          </a:solidFill>
                          <a:latin typeface="Malgun Gothic"/>
                        </a:rPr>
                        <a:t>Upload·share files</a:t>
                      </a:r>
                    </a:p>
                  </a:txBody>
                  <a:tcPr>
                    <a:solidFill>
                      <a:srgbClr val="F8FAFC"/>
                    </a:solidFill>
                  </a:tcPr>
                </a:tc>
                <a:tc>
                  <a:txBody>
                    <a:bodyPr/>
                    <a:lstStyle/>
                    <a:p>
                      <a:pPr algn="ctr"/>
                      <a:r>
                        <a:rPr sz="1200">
                          <a:solidFill>
                            <a:srgbClr val="334155"/>
                          </a:solidFill>
                          <a:latin typeface="Malgun Gothic"/>
                        </a:rPr>
                        <a:t>Pre-upload</a:t>
                      </a:r>
                    </a:p>
                  </a:txBody>
                  <a:tcPr>
                    <a:solidFill>
                      <a:srgbClr val="F8FAFC"/>
                    </a:solidFill>
                  </a:tcPr>
                </a:tc>
              </a:tr>
              <a:tr h="502920">
                <a:tc>
                  <a:txBody>
                    <a:bodyPr/>
                    <a:lstStyle/>
                    <a:p>
                      <a:pPr algn="l"/>
                      <a:r>
                        <a:rPr sz="1200" b="1">
                          <a:solidFill>
                            <a:srgbClr val="334155"/>
                          </a:solidFill>
                          <a:latin typeface="Malgun Gothic"/>
                        </a:rPr>
                        <a:t>Intro</a:t>
                      </a:r>
                    </a:p>
                  </a:txBody>
                  <a:tcPr>
                    <a:solidFill>
                      <a:srgbClr val="FFFFFF"/>
                    </a:solidFill>
                  </a:tcPr>
                </a:tc>
                <a:tc>
                  <a:txBody>
                    <a:bodyPr/>
                    <a:lstStyle/>
                    <a:p>
                      <a:pPr algn="ctr"/>
                      <a:r>
                        <a:rPr sz="1200">
                          <a:solidFill>
                            <a:srgbClr val="334155"/>
                          </a:solidFill>
                          <a:latin typeface="Malgun Gothic"/>
                        </a:rPr>
                        <a:t>AI warm-up</a:t>
                      </a:r>
                    </a:p>
                  </a:txBody>
                  <a:tcPr>
                    <a:solidFill>
                      <a:srgbClr val="FFFFFF"/>
                    </a:solidFill>
                  </a:tcPr>
                </a:tc>
                <a:tc>
                  <a:txBody>
                    <a:bodyPr/>
                    <a:lstStyle/>
                    <a:p>
                      <a:pPr algn="ctr"/>
                      <a:r>
                        <a:rPr sz="1200">
                          <a:solidFill>
                            <a:srgbClr val="334155"/>
                          </a:solidFill>
                          <a:latin typeface="Malgun Gothic"/>
                        </a:rPr>
                        <a:t>Icebreaker</a:t>
                      </a:r>
                    </a:p>
                  </a:txBody>
                  <a:tcPr>
                    <a:solidFill>
                      <a:srgbClr val="FFFFFF"/>
                    </a:solidFill>
                  </a:tcPr>
                </a:tc>
                <a:tc>
                  <a:txBody>
                    <a:bodyPr/>
                    <a:lstStyle/>
                    <a:p>
                      <a:pPr algn="ctr"/>
                      <a:r>
                        <a:rPr sz="1200">
                          <a:solidFill>
                            <a:srgbClr val="334155"/>
                          </a:solidFill>
                          <a:latin typeface="Malgun Gothic"/>
                        </a:rPr>
                        <a:t>Mention warm-up</a:t>
                      </a:r>
                    </a:p>
                  </a:txBody>
                  <a:tcPr>
                    <a:solidFill>
                      <a:srgbClr val="FFFFFF"/>
                    </a:solidFill>
                  </a:tcPr>
                </a:tc>
              </a:tr>
              <a:tr h="502920">
                <a:tc>
                  <a:txBody>
                    <a:bodyPr/>
                    <a:lstStyle/>
                    <a:p>
                      <a:pPr algn="l"/>
                      <a:r>
                        <a:rPr sz="1200" b="1">
                          <a:solidFill>
                            <a:srgbClr val="334155"/>
                          </a:solidFill>
                          <a:latin typeface="Malgun Gothic"/>
                        </a:rPr>
                        <a:t>Main</a:t>
                      </a:r>
                    </a:p>
                  </a:txBody>
                  <a:tcPr>
                    <a:solidFill>
                      <a:srgbClr val="F8FAFC"/>
                    </a:solidFill>
                  </a:tcPr>
                </a:tc>
                <a:tc>
                  <a:txBody>
                    <a:bodyPr/>
                    <a:lstStyle/>
                    <a:p>
                      <a:pPr algn="ctr"/>
                      <a:r>
                        <a:rPr sz="1200">
                          <a:solidFill>
                            <a:srgbClr val="334155"/>
                          </a:solidFill>
                          <a:latin typeface="Malgun Gothic"/>
                        </a:rPr>
                        <a:t>Materials·board·chat</a:t>
                      </a:r>
                    </a:p>
                  </a:txBody>
                  <a:tcPr>
                    <a:solidFill>
                      <a:srgbClr val="F8FAFC"/>
                    </a:solidFill>
                  </a:tcPr>
                </a:tc>
                <a:tc>
                  <a:txBody>
                    <a:bodyPr/>
                    <a:lstStyle/>
                    <a:p>
                      <a:pPr algn="ctr"/>
                      <a:r>
                        <a:rPr sz="1200">
                          <a:solidFill>
                            <a:srgbClr val="334155"/>
                          </a:solidFill>
                          <a:latin typeface="Malgun Gothic"/>
                        </a:rPr>
                        <a:t>Explain together</a:t>
                      </a:r>
                    </a:p>
                  </a:txBody>
                  <a:tcPr>
                    <a:solidFill>
                      <a:srgbClr val="F8FAFC"/>
                    </a:solidFill>
                  </a:tcPr>
                </a:tc>
                <a:tc>
                  <a:txBody>
                    <a:bodyPr/>
                    <a:lstStyle/>
                    <a:p>
                      <a:pPr algn="ctr"/>
                      <a:r>
                        <a:rPr sz="1200">
                          <a:solidFill>
                            <a:srgbClr val="334155"/>
                          </a:solidFill>
                          <a:latin typeface="Malgun Gothic"/>
                        </a:rPr>
                        <a:t>Same page</a:t>
                      </a:r>
                    </a:p>
                  </a:txBody>
                  <a:tcPr>
                    <a:solidFill>
                      <a:srgbClr val="F8FAFC"/>
                    </a:solidFill>
                  </a:tcPr>
                </a:tc>
              </a:tr>
              <a:tr h="502920">
                <a:tc>
                  <a:txBody>
                    <a:bodyPr/>
                    <a:lstStyle/>
                    <a:p>
                      <a:pPr algn="l"/>
                      <a:r>
                        <a:rPr sz="1200" b="1">
                          <a:solidFill>
                            <a:srgbClr val="334155"/>
                          </a:solidFill>
                          <a:latin typeface="Malgun Gothic"/>
                        </a:rPr>
                        <a:t>Practice</a:t>
                      </a:r>
                    </a:p>
                  </a:txBody>
                  <a:tcPr>
                    <a:solidFill>
                      <a:srgbClr val="FFFFFF"/>
                    </a:solidFill>
                  </a:tcPr>
                </a:tc>
                <a:tc>
                  <a:txBody>
                    <a:bodyPr/>
                    <a:lstStyle/>
                    <a:p>
                      <a:pPr algn="ctr"/>
                      <a:r>
                        <a:rPr sz="1200">
                          <a:solidFill>
                            <a:srgbClr val="334155"/>
                          </a:solidFill>
                          <a:latin typeface="Malgun Gothic"/>
                        </a:rPr>
                        <a:t>AI voice coach</a:t>
                      </a:r>
                    </a:p>
                  </a:txBody>
                  <a:tcPr>
                    <a:solidFill>
                      <a:srgbClr val="FFFFFF"/>
                    </a:solidFill>
                  </a:tcPr>
                </a:tc>
                <a:tc>
                  <a:txBody>
                    <a:bodyPr/>
                    <a:lstStyle/>
                    <a:p>
                      <a:pPr algn="ctr"/>
                      <a:r>
                        <a:rPr sz="1200">
                          <a:solidFill>
                            <a:srgbClr val="334155"/>
                          </a:solidFill>
                          <a:latin typeface="Malgun Gothic"/>
                        </a:rPr>
                        <a:t>Record·fix pronunciation</a:t>
                      </a:r>
                    </a:p>
                  </a:txBody>
                  <a:tcPr>
                    <a:solidFill>
                      <a:srgbClr val="FFFFFF"/>
                    </a:solidFill>
                  </a:tcPr>
                </a:tc>
                <a:tc>
                  <a:txBody>
                    <a:bodyPr/>
                    <a:lstStyle/>
                    <a:p>
                      <a:pPr algn="ctr"/>
                      <a:r>
                        <a:rPr sz="1200">
                          <a:solidFill>
                            <a:srgbClr val="334155"/>
                          </a:solidFill>
                          <a:latin typeface="Malgun Gothic"/>
                        </a:rPr>
                        <a:t>Link homework</a:t>
                      </a:r>
                    </a:p>
                  </a:txBody>
                  <a:tcPr>
                    <a:solidFill>
                      <a:srgbClr val="FFFFFF"/>
                    </a:solidFill>
                  </a:tcPr>
                </a:tc>
              </a:tr>
              <a:tr h="502920">
                <a:tc>
                  <a:txBody>
                    <a:bodyPr/>
                    <a:lstStyle/>
                    <a:p>
                      <a:pPr algn="l"/>
                      <a:r>
                        <a:rPr sz="1200" b="1">
                          <a:solidFill>
                            <a:srgbClr val="334155"/>
                          </a:solidFill>
                          <a:latin typeface="Malgun Gothic"/>
                        </a:rPr>
                        <a:t>Wrap-up</a:t>
                      </a:r>
                    </a:p>
                  </a:txBody>
                  <a:tcPr>
                    <a:solidFill>
                      <a:srgbClr val="F8FAFC"/>
                    </a:solidFill>
                  </a:tcPr>
                </a:tc>
                <a:tc>
                  <a:txBody>
                    <a:bodyPr/>
                    <a:lstStyle/>
                    <a:p>
                      <a:pPr algn="ctr"/>
                      <a:r>
                        <a:rPr sz="1200">
                          <a:solidFill>
                            <a:srgbClr val="334155"/>
                          </a:solidFill>
                          <a:latin typeface="Malgun Gothic"/>
                        </a:rPr>
                        <a:t>Review·praise</a:t>
                      </a:r>
                    </a:p>
                  </a:txBody>
                  <a:tcPr>
                    <a:solidFill>
                      <a:srgbClr val="F8FAFC"/>
                    </a:solidFill>
                  </a:tcPr>
                </a:tc>
                <a:tc>
                  <a:txBody>
                    <a:bodyPr/>
                    <a:lstStyle/>
                    <a:p>
                      <a:pPr algn="ctr"/>
                      <a:r>
                        <a:rPr sz="1200">
                          <a:solidFill>
                            <a:srgbClr val="334155"/>
                          </a:solidFill>
                          <a:latin typeface="Malgun Gothic"/>
                        </a:rPr>
                        <a:t>Feedback·stars</a:t>
                      </a:r>
                    </a:p>
                  </a:txBody>
                  <a:tcPr>
                    <a:solidFill>
                      <a:srgbClr val="F8FAFC"/>
                    </a:solidFill>
                  </a:tcPr>
                </a:tc>
                <a:tc>
                  <a:txBody>
                    <a:bodyPr/>
                    <a:lstStyle/>
                    <a:p>
                      <a:pPr algn="ctr"/>
                      <a:r>
                        <a:rPr sz="1200">
                          <a:solidFill>
                            <a:srgbClr val="334155"/>
                          </a:solidFill>
                          <a:latin typeface="Malgun Gothic"/>
                        </a:rPr>
                        <a:t>1 praise + 1 fix</a:t>
                      </a:r>
                    </a:p>
                  </a:txBody>
                  <a:tcPr>
                    <a:solidFill>
                      <a:srgbClr val="F8FAFC"/>
                    </a:solidFill>
                  </a:tcPr>
                </a:tc>
              </a:tr>
              <a:tr h="502920">
                <a:tc>
                  <a:txBody>
                    <a:bodyPr/>
                    <a:lstStyle/>
                    <a:p>
                      <a:pPr algn="l"/>
                      <a:r>
                        <a:rPr sz="1200" b="1">
                          <a:solidFill>
                            <a:srgbClr val="334155"/>
                          </a:solidFill>
                          <a:latin typeface="Malgun Gothic"/>
                        </a:rPr>
                        <a:t>After</a:t>
                      </a:r>
                    </a:p>
                  </a:txBody>
                  <a:tcPr>
                    <a:solidFill>
                      <a:srgbClr val="FFFFFF"/>
                    </a:solidFill>
                  </a:tcPr>
                </a:tc>
                <a:tc>
                  <a:txBody>
                    <a:bodyPr/>
                    <a:lstStyle/>
                    <a:p>
                      <a:pPr algn="ctr"/>
                      <a:r>
                        <a:rPr sz="1200">
                          <a:solidFill>
                            <a:srgbClr val="334155"/>
                          </a:solidFill>
                          <a:latin typeface="Malgun Gothic"/>
                        </a:rPr>
                        <a:t>Game report·reports</a:t>
                      </a:r>
                    </a:p>
                  </a:txBody>
                  <a:tcPr>
                    <a:solidFill>
                      <a:srgbClr val="FFFFFF"/>
                    </a:solidFill>
                  </a:tcPr>
                </a:tc>
                <a:tc>
                  <a:txBody>
                    <a:bodyPr/>
                    <a:lstStyle/>
                    <a:p>
                      <a:pPr algn="ctr"/>
                      <a:r>
                        <a:rPr sz="1200">
                          <a:solidFill>
                            <a:srgbClr val="334155"/>
                          </a:solidFill>
                          <a:latin typeface="Malgun Gothic"/>
                        </a:rPr>
                        <a:t>Check weak points·progress</a:t>
                      </a:r>
                    </a:p>
                  </a:txBody>
                  <a:tcPr>
                    <a:solidFill>
                      <a:srgbClr val="FFFFFF"/>
                    </a:solidFill>
                  </a:tcPr>
                </a:tc>
                <a:tc>
                  <a:txBody>
                    <a:bodyPr/>
                    <a:lstStyle/>
                    <a:p>
                      <a:pPr algn="ctr"/>
                      <a:r>
                        <a:rPr sz="1200">
                          <a:solidFill>
                            <a:srgbClr val="334155"/>
                          </a:solidFill>
                          <a:latin typeface="Malgun Gothic"/>
                        </a:rPr>
                        <a:t>Next goal</a:t>
                      </a:r>
                    </a:p>
                  </a:txBody>
                  <a:tcPr>
                    <a:solidFill>
                      <a:srgbClr val="FFFFFF"/>
                    </a:solidFill>
                  </a:tcPr>
                </a:tc>
              </a:tr>
            </a:tbl>
          </a:graphicData>
        </a:graphic>
      </p:graphicFrame>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Data at a Glance</a:t>
            </a:r>
          </a:p>
        </p:txBody>
      </p:sp>
      <p:sp>
        <p:nvSpPr>
          <p:cNvPr id="7" name="TextBox 6"/>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Pre-check Items (example scores)</a:t>
            </a:r>
          </a:p>
        </p:txBody>
      </p:sp>
      <p:graphicFrame>
        <p:nvGraphicFramePr>
          <p:cNvPr id="8" name="Chart 7"/>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9" name="TextBox 8"/>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Elements of a Good Lesson</a:t>
            </a:r>
          </a:p>
        </p:txBody>
      </p:sp>
      <p:graphicFrame>
        <p:nvGraphicFramePr>
          <p:cNvPr id="10" name="Chart 9"/>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Frequently Asked Questions (FAQ)</a:t>
            </a:r>
          </a:p>
        </p:txBody>
      </p:sp>
      <p:sp>
        <p:nvSpPr>
          <p:cNvPr id="7" name="Rounded Rectangle 6"/>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enter a lesson?</a:t>
            </a:r>
          </a:p>
        </p:txBody>
      </p:sp>
      <p:sp>
        <p:nvSpPr>
          <p:cNvPr id="9" name="TextBox 8"/>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On the classroom entry screen, enter your name, press 'Enter', then allow camera and mic.</a:t>
            </a:r>
          </a:p>
        </p:txBody>
      </p:sp>
      <p:sp>
        <p:nvSpPr>
          <p:cNvPr id="10" name="Rounded Rectangle 9"/>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share materials?</a:t>
            </a:r>
          </a:p>
        </p:txBody>
      </p:sp>
      <p:sp>
        <p:nvSpPr>
          <p:cNvPr id="12" name="TextBox 11"/>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In the materials tab, upload PDF/JPEG/PNG to share with all participants. Use prev/next and fit-to-screen to view larger.</a:t>
            </a:r>
          </a:p>
        </p:txBody>
      </p:sp>
      <p:sp>
        <p:nvSpPr>
          <p:cNvPr id="13" name="Rounded Rectangle 12"/>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use the board?</a:t>
            </a:r>
          </a:p>
        </p:txBody>
      </p:sp>
      <p:sp>
        <p:nvSpPr>
          <p:cNvPr id="15" name="TextBox 14"/>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In the board tab, write with pen/shapes/color/thickness, and save the board as an image if needed.</a:t>
            </a:r>
          </a:p>
        </p:txBody>
      </p:sp>
      <p:sp>
        <p:nvSpPr>
          <p:cNvPr id="16" name="Rounded Rectangle 15"/>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A student can't enter.</a:t>
            </a:r>
          </a:p>
        </p:txBody>
      </p:sp>
      <p:sp>
        <p:nvSpPr>
          <p:cNvPr id="18" name="TextBox 17"/>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Often a browser permission issue. Advise reconnecting in Chrome/Edge and allowing camera/mic.</a:t>
            </a:r>
          </a:p>
        </p:txBody>
      </p:sp>
      <p:sp>
        <p:nvSpPr>
          <p:cNvPr id="19" name="Rounded Rectangle 18"/>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When do I write the review?</a:t>
            </a:r>
          </a:p>
        </p:txBody>
      </p:sp>
      <p:sp>
        <p:nvSpPr>
          <p:cNvPr id="21" name="TextBox 20"/>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Writing right after class is most accurate. Leave stars and a short comment and it's reflected in the report.</a:t>
            </a:r>
          </a:p>
        </p:txBody>
      </p:sp>
      <p:sp>
        <p:nvSpPr>
          <p:cNvPr id="22" name="Rounded Rectangle 21"/>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How do I know a student's weak points?</a:t>
            </a:r>
          </a:p>
        </p:txBody>
      </p:sp>
      <p:sp>
        <p:nvSpPr>
          <p:cNvPr id="24" name="TextBox 23"/>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Look up by student ID in the game learning report to see often-missed weak words.</a:t>
            </a:r>
          </a:p>
        </p:txBody>
      </p:sp>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4E6"/>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TextBox 5"/>
          <p:cNvSpPr txBox="1"/>
          <p:nvPr/>
        </p:nvSpPr>
        <p:spPr>
          <a:xfrm>
            <a:off x="987552"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Lesson Checklist</a:t>
            </a:r>
          </a:p>
        </p:txBody>
      </p:sp>
      <p:sp>
        <p:nvSpPr>
          <p:cNvPr id="7" name="Rounded Rectangle 6"/>
          <p:cNvSpPr/>
          <p:nvPr/>
        </p:nvSpPr>
        <p:spPr>
          <a:xfrm>
            <a:off x="457200" y="164592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run the detailed check 5–10 min before class?</a:t>
            </a:r>
          </a:p>
        </p:txBody>
      </p:sp>
      <p:sp>
        <p:nvSpPr>
          <p:cNvPr id="9" name="Rounded Rectangle 8"/>
          <p:cNvSpPr/>
          <p:nvPr/>
        </p:nvSpPr>
        <p:spPr>
          <a:xfrm>
            <a:off x="457200" y="221284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pre-upload the materials?</a:t>
            </a:r>
          </a:p>
        </p:txBody>
      </p:sp>
      <p:sp>
        <p:nvSpPr>
          <p:cNvPr id="11" name="Rounded Rectangle 10"/>
          <p:cNvSpPr/>
          <p:nvPr/>
        </p:nvSpPr>
        <p:spPr>
          <a:xfrm>
            <a:off x="457200" y="277977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camera framing and sound?</a:t>
            </a:r>
          </a:p>
        </p:txBody>
      </p:sp>
      <p:sp>
        <p:nvSpPr>
          <p:cNvPr id="13" name="Rounded Rectangle 12"/>
          <p:cNvSpPr/>
          <p:nvPr/>
        </p:nvSpPr>
        <p:spPr>
          <a:xfrm>
            <a:off x="457200" y="3346704"/>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the student's AI warm-up?</a:t>
            </a:r>
          </a:p>
        </p:txBody>
      </p:sp>
      <p:sp>
        <p:nvSpPr>
          <p:cNvPr id="15" name="Rounded Rectangle 14"/>
          <p:cNvSpPr/>
          <p:nvPr/>
        </p:nvSpPr>
        <p:spPr>
          <a:xfrm>
            <a:off x="457200" y="3913632"/>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prepare the materials/board/chat tools?</a:t>
            </a:r>
          </a:p>
        </p:txBody>
      </p:sp>
      <p:sp>
        <p:nvSpPr>
          <p:cNvPr id="17" name="Rounded Rectangle 16"/>
          <p:cNvSpPr/>
          <p:nvPr/>
        </p:nvSpPr>
        <p:spPr>
          <a:xfrm>
            <a:off x="457200" y="448056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write the lesson review after class?</a:t>
            </a:r>
          </a:p>
        </p:txBody>
      </p:sp>
      <p:sp>
        <p:nvSpPr>
          <p:cNvPr id="19" name="Rounded Rectangle 18"/>
          <p:cNvSpPr/>
          <p:nvPr/>
        </p:nvSpPr>
        <p:spPr>
          <a:xfrm>
            <a:off x="457200" y="504748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leave praise (stars/comment)?</a:t>
            </a:r>
          </a:p>
        </p:txBody>
      </p:sp>
      <p:sp>
        <p:nvSpPr>
          <p:cNvPr id="21" name="Rounded Rectangle 20"/>
          <p:cNvSpPr/>
          <p:nvPr/>
        </p:nvSpPr>
        <p:spPr>
          <a:xfrm>
            <a:off x="457200" y="561441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55040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weak words in the game report?</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
        <p:nvSpPr>
          <p:cNvPr id="6" name="Rounded Rectangle 5"/>
          <p:cNvSpPr/>
          <p:nvPr/>
        </p:nvSpPr>
        <p:spPr>
          <a:xfrm>
            <a:off x="365760" y="841247"/>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7"/>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TextBox 5"/>
          <p:cNvSpPr txBox="1"/>
          <p:nvPr/>
        </p:nvSpPr>
        <p:spPr>
          <a:xfrm>
            <a:off x="987552" y="822960"/>
            <a:ext cx="11430000" cy="457200"/>
          </a:xfrm>
          <a:prstGeom prst="rect">
            <a:avLst/>
          </a:prstGeom>
          <a:noFill/>
        </p:spPr>
        <p:txBody>
          <a:bodyPr wrap="square" anchor="t">
            <a:spAutoFit/>
          </a:bodyPr>
          <a:lstStyle/>
          <a:p>
            <a:pPr algn="l">
              <a:lnSpc>
                <a:spcPct val="100000"/>
              </a:lnSpc>
            </a:pPr>
            <a:r>
              <a:rPr sz="2100" b="1">
                <a:solidFill>
                  <a:srgbClr val="EA580C"/>
                </a:solidFill>
                <a:latin typeface="Malgun Gothic"/>
              </a:rPr>
              <a:t>🏁 Conclusion · A Practical Guide to Great Lessons</a:t>
            </a:r>
          </a:p>
        </p:txBody>
      </p:sp>
      <p:sp>
        <p:nvSpPr>
          <p:cNvPr id="7" name="Rounded Rectangle 6"/>
          <p:cNvSpPr/>
          <p:nvPr/>
        </p:nvSpPr>
        <p:spPr>
          <a:xfrm>
            <a:off x="365760" y="1371600"/>
            <a:ext cx="11430000" cy="8686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You've now learned how to use the Mangoi site 'along the real lesson flow.' Finally, here's one page summarizing how a single lesson unfolds and the principles to keep every time. Keep just this page nearby and your lessons will run far more smoothly and reliably.</a:t>
            </a:r>
          </a:p>
        </p:txBody>
      </p:sp>
      <p:sp>
        <p:nvSpPr>
          <p:cNvPr id="9" name="TextBox 8"/>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A580C"/>
                </a:solidFill>
                <a:latin typeface="Malgun Gothic"/>
              </a:rPr>
              <a:t>🔄 The Flow at a Glance</a:t>
            </a:r>
          </a:p>
        </p:txBody>
      </p:sp>
      <p:sp>
        <p:nvSpPr>
          <p:cNvPr id="10" name="Rounded Rectangle 9"/>
          <p:cNvSpPr/>
          <p:nvPr/>
        </p:nvSpPr>
        <p:spPr>
          <a:xfrm>
            <a:off x="457200" y="2788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Before class (5–10 min)</a:t>
            </a:r>
          </a:p>
        </p:txBody>
      </p:sp>
      <p:sp>
        <p:nvSpPr>
          <p:cNvPr id="12" name="TextBox 11"/>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My Page → 🎥 Pre-check camera, mic, network, lighting; pre-upload the textbook</a:t>
            </a:r>
          </a:p>
        </p:txBody>
      </p:sp>
      <p:sp>
        <p:nvSpPr>
          <p:cNvPr id="13" name="Rounded Rectangle 12"/>
          <p:cNvSpPr/>
          <p:nvPr/>
        </p:nvSpPr>
        <p:spPr>
          <a:xfrm>
            <a:off x="457200" y="3246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Enter</a:t>
            </a:r>
          </a:p>
        </p:txBody>
      </p:sp>
      <p:sp>
        <p:nvSpPr>
          <p:cNvPr id="15" name="TextBox 14"/>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Enter Class → confirm name → allow camera/mic → check background/sound while waiting</a:t>
            </a:r>
          </a:p>
        </p:txBody>
      </p:sp>
      <p:sp>
        <p:nvSpPr>
          <p:cNvPr id="16" name="Rounded Rectangle 15"/>
          <p:cNvSpPr/>
          <p:nvPr/>
        </p:nvSpPr>
        <p:spPr>
          <a:xfrm>
            <a:off x="457200" y="3703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Intro (2–3 min)</a:t>
            </a:r>
          </a:p>
        </p:txBody>
      </p:sp>
      <p:sp>
        <p:nvSpPr>
          <p:cNvPr id="18" name="TextBox 17"/>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Open lightly by mentioning the student's AI warm-up; state today's goal in one line</a:t>
            </a:r>
          </a:p>
        </p:txBody>
      </p:sp>
      <p:sp>
        <p:nvSpPr>
          <p:cNvPr id="19" name="Rounded Rectangle 18"/>
          <p:cNvSpPr/>
          <p:nvPr/>
        </p:nvSpPr>
        <p:spPr>
          <a:xfrm>
            <a:off x="457200" y="41605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Main lesson</a:t>
            </a:r>
          </a:p>
        </p:txBody>
      </p:sp>
      <p:sp>
        <p:nvSpPr>
          <p:cNvPr id="21" name="TextBox 20"/>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Share the same page via materials tools · write on the board · key words in chat; draw out plenty of student speech</a:t>
            </a:r>
          </a:p>
        </p:txBody>
      </p:sp>
      <p:sp>
        <p:nvSpPr>
          <p:cNvPr id="22" name="Rounded Rectangle 21"/>
          <p:cNvSpPr/>
          <p:nvPr/>
        </p:nvSpPr>
        <p:spPr>
          <a:xfrm>
            <a:off x="457200" y="46177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Praise</a:t>
            </a:r>
          </a:p>
        </p:txBody>
      </p:sp>
      <p:sp>
        <p:nvSpPr>
          <p:cNvPr id="24" name="TextBox 23"/>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The moment they do well, tap the 🌟 Praise button (+1P) → piles up live in the 🧺 basket</a:t>
            </a:r>
          </a:p>
        </p:txBody>
      </p:sp>
      <p:sp>
        <p:nvSpPr>
          <p:cNvPr id="25" name="Rounded Rectangle 24"/>
          <p:cNvSpPr/>
          <p:nvPr/>
        </p:nvSpPr>
        <p:spPr>
          <a:xfrm>
            <a:off x="457200" y="5074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5074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Practice</a:t>
            </a:r>
          </a:p>
        </p:txBody>
      </p:sp>
      <p:sp>
        <p:nvSpPr>
          <p:cNvPr id="27" name="TextBox 26"/>
          <p:cNvSpPr txBox="1"/>
          <p:nvPr/>
        </p:nvSpPr>
        <p:spPr>
          <a:xfrm>
            <a:off x="2148840" y="5056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Link weak-pronunciation sentences to AI voice-coach homework for repetition</a:t>
            </a:r>
          </a:p>
        </p:txBody>
      </p:sp>
      <p:sp>
        <p:nvSpPr>
          <p:cNvPr id="28" name="Rounded Rectangle 27"/>
          <p:cNvSpPr/>
          <p:nvPr/>
        </p:nvSpPr>
        <p:spPr>
          <a:xfrm>
            <a:off x="457200" y="5532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532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Wrap-up (3 min)</a:t>
            </a:r>
          </a:p>
        </p:txBody>
      </p:sp>
      <p:sp>
        <p:nvSpPr>
          <p:cNvPr id="30" name="TextBox 29"/>
          <p:cNvSpPr txBox="1"/>
          <p:nvPr/>
        </p:nvSpPr>
        <p:spPr>
          <a:xfrm>
            <a:off x="2148840" y="5513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Summarize today → prompt the review quiz &amp; rating (+10P) → leave the next goal in one line</a:t>
            </a:r>
          </a:p>
        </p:txBody>
      </p:sp>
      <p:sp>
        <p:nvSpPr>
          <p:cNvPr id="31" name="Rounded Rectangle 30"/>
          <p:cNvSpPr/>
          <p:nvPr/>
        </p:nvSpPr>
        <p:spPr>
          <a:xfrm>
            <a:off x="457200" y="5989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5989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 class</a:t>
            </a:r>
          </a:p>
        </p:txBody>
      </p:sp>
      <p:sp>
        <p:nvSpPr>
          <p:cNvPr id="33" name="TextBox 32"/>
          <p:cNvSpPr txBox="1"/>
          <p:nvPr/>
        </p:nvSpPr>
        <p:spPr>
          <a:xfrm>
            <a:off x="2148840" y="5971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Write the review (1 praise + 1 improvement) · leave praise · check weak words in the game report</a:t>
            </a:r>
          </a:p>
        </p:txBody>
      </p:sp>
      <p:sp>
        <p:nvSpPr>
          <p:cNvPr id="34" name="TextBox 33"/>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Key Principles</a:t>
            </a:r>
          </a:p>
        </p:txBody>
      </p:sp>
      <p:sp>
        <p:nvSpPr>
          <p:cNvPr id="35" name="TextBox 34"/>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A580C"/>
                </a:solidFill>
                <a:latin typeface="Malgun Gothic"/>
              </a:rPr>
              <a:t>● </a:t>
            </a:r>
            <a:r>
              <a:rPr sz="1100">
                <a:solidFill>
                  <a:srgbClr val="334155"/>
                </a:solidFill>
                <a:latin typeface="Malgun Gothic"/>
              </a:rPr>
              <a:t>Preparation is half the battle — pre-check and pre-upload keep the lesson from stalling.</a:t>
            </a:r>
          </a:p>
          <a:p>
            <a:pPr>
              <a:lnSpc>
                <a:spcPct val="115000"/>
              </a:lnSpc>
              <a:spcAft>
                <a:spcPts val="500"/>
              </a:spcAft>
            </a:pPr>
            <a:r>
              <a:rPr sz="900" b="1">
                <a:solidFill>
                  <a:srgbClr val="EA580C"/>
                </a:solidFill>
                <a:latin typeface="Malgun Gothic"/>
              </a:rPr>
              <a:t>● </a:t>
            </a:r>
            <a:r>
              <a:rPr sz="1100">
                <a:solidFill>
                  <a:srgbClr val="334155"/>
                </a:solidFill>
                <a:latin typeface="Malgun Gothic"/>
              </a:rPr>
              <a:t>Make them speak a lot — students should speak more than the teacher to improve.</a:t>
            </a:r>
          </a:p>
          <a:p>
            <a:pPr>
              <a:lnSpc>
                <a:spcPct val="115000"/>
              </a:lnSpc>
              <a:spcAft>
                <a:spcPts val="500"/>
              </a:spcAft>
            </a:pPr>
            <a:r>
              <a:rPr sz="900" b="1">
                <a:solidFill>
                  <a:srgbClr val="EA580C"/>
                </a:solidFill>
                <a:latin typeface="Malgun Gothic"/>
              </a:rPr>
              <a:t>● </a:t>
            </a:r>
            <a:r>
              <a:rPr sz="1100">
                <a:solidFill>
                  <a:srgbClr val="334155"/>
                </a:solidFill>
                <a:latin typeface="Malgun Gothic"/>
              </a:rPr>
              <a:t>Praise instantly — the moment they do well, 🌟praise! Instant rewards are the strongest motivator.</a:t>
            </a:r>
          </a:p>
          <a:p>
            <a:pPr>
              <a:lnSpc>
                <a:spcPct val="115000"/>
              </a:lnSpc>
              <a:spcAft>
                <a:spcPts val="500"/>
              </a:spcAft>
            </a:pPr>
            <a:r>
              <a:rPr sz="900" b="1">
                <a:solidFill>
                  <a:srgbClr val="EA580C"/>
                </a:solidFill>
                <a:latin typeface="Malgun Gothic"/>
              </a:rPr>
              <a:t>● </a:t>
            </a:r>
            <a:r>
              <a:rPr sz="1100">
                <a:solidFill>
                  <a:srgbClr val="334155"/>
                </a:solidFill>
                <a:latin typeface="Malgun Gothic"/>
              </a:rPr>
              <a:t>Keep records — the review and 'next goal in one line' power the next lesson and handovers.</a:t>
            </a:r>
          </a:p>
          <a:p>
            <a:pPr>
              <a:lnSpc>
                <a:spcPct val="115000"/>
              </a:lnSpc>
              <a:spcAft>
                <a:spcPts val="500"/>
              </a:spcAft>
            </a:pPr>
            <a:r>
              <a:rPr sz="900" b="1">
                <a:solidFill>
                  <a:srgbClr val="EA580C"/>
                </a:solidFill>
                <a:latin typeface="Malgun Gothic"/>
              </a:rPr>
              <a:t>● </a:t>
            </a:r>
            <a:r>
              <a:rPr sz="1100">
                <a:solidFill>
                  <a:srgbClr val="334155"/>
                </a:solidFill>
                <a:latin typeface="Malgun Gothic"/>
              </a:rPr>
              <a:t>Reinforce with data — put the game report's weak words into the next lesson's intro.</a:t>
            </a:r>
          </a:p>
        </p:txBody>
      </p:sp>
      <p:sp>
        <p:nvSpPr>
          <p:cNvPr id="36" name="TextBox 35"/>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Remember</a:t>
            </a:r>
          </a:p>
        </p:txBody>
      </p:sp>
      <p:sp>
        <p:nvSpPr>
          <p:cNvPr id="37" name="TextBox 36"/>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B020"/>
                </a:solidFill>
                <a:latin typeface="Malgun Gothic"/>
              </a:rPr>
              <a:t>● </a:t>
            </a:r>
            <a:r>
              <a:rPr sz="1050">
                <a:solidFill>
                  <a:srgbClr val="334155"/>
                </a:solidFill>
                <a:latin typeface="Malgun Gothic"/>
              </a:rPr>
              <a:t>No sound/video → check Chrome/Edge + camera·mic permission first (KakaoTalk in-app → external browser)</a:t>
            </a:r>
          </a:p>
          <a:p>
            <a:pPr>
              <a:lnSpc>
                <a:spcPct val="115000"/>
              </a:lnSpc>
              <a:spcAft>
                <a:spcPts val="400"/>
              </a:spcAft>
            </a:pPr>
            <a:r>
              <a:rPr sz="850" b="1">
                <a:solidFill>
                  <a:srgbClr val="FFB020"/>
                </a:solidFill>
                <a:latin typeface="Malgun Gothic"/>
              </a:rPr>
              <a:t>● </a:t>
            </a:r>
            <a:r>
              <a:rPr sz="1050">
                <a:solidFill>
                  <a:srgbClr val="334155"/>
                </a:solidFill>
                <a:latin typeface="Malgun Gothic"/>
              </a:rPr>
              <a:t>Praise points are given by the teacher; the student's star rating earns +10P</a:t>
            </a:r>
          </a:p>
          <a:p>
            <a:pPr>
              <a:lnSpc>
                <a:spcPct val="115000"/>
              </a:lnSpc>
              <a:spcAft>
                <a:spcPts val="400"/>
              </a:spcAft>
            </a:pPr>
            <a:r>
              <a:rPr sz="850" b="1">
                <a:solidFill>
                  <a:srgbClr val="FFB020"/>
                </a:solidFill>
                <a:latin typeface="Malgun Gothic"/>
              </a:rPr>
              <a:t>● </a:t>
            </a:r>
            <a:r>
              <a:rPr sz="1050">
                <a:solidFill>
                  <a:srgbClr val="334155"/>
                </a:solidFill>
                <a:latin typeface="Malgun Gothic"/>
              </a:rPr>
              <a:t>Handle postpone requests after checking policy; guide out-of-policy last-minute requests per policy</a:t>
            </a:r>
          </a:p>
          <a:p>
            <a:pPr>
              <a:lnSpc>
                <a:spcPct val="115000"/>
              </a:lnSpc>
              <a:spcAft>
                <a:spcPts val="400"/>
              </a:spcAft>
            </a:pPr>
            <a:r>
              <a:rPr sz="850" b="1">
                <a:solidFill>
                  <a:srgbClr val="FFB020"/>
                </a:solidFill>
                <a:latin typeface="Malgun Gothic"/>
              </a:rPr>
              <a:t>● </a:t>
            </a:r>
            <a:r>
              <a:rPr sz="1050">
                <a:solidFill>
                  <a:srgbClr val="334155"/>
                </a:solidFill>
                <a:latin typeface="Malgun Gothic"/>
              </a:rPr>
              <a:t>Run every lesson in the rhythm of 'Check → Engage → Praise → Record'!</a:t>
            </a:r>
          </a:p>
        </p:txBody>
      </p:sp>
      <p:sp>
        <p:nvSpPr>
          <p:cNvPr id="38" name="Rounded Rectangle 37"/>
          <p:cNvSpPr/>
          <p:nvPr/>
        </p:nvSpPr>
        <p:spPr>
          <a:xfrm>
            <a:off x="457200" y="6172200"/>
            <a:ext cx="11338560" cy="566928"/>
          </a:xfrm>
          <a:prstGeom prst="roundRect">
            <a:avLst/>
          </a:prstGeom>
          <a:solidFill>
            <a:srgbClr val="FFF4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A teacher's warm words and instant praise build a child's confidence in English. Keep this guide beside you and lead every lesson with it. Praise even the small wins and students will look forward to the next class. Questions? Contact support anytime — cheering you on for lessons that grow together! 🍊</a:t>
            </a:r>
          </a:p>
        </p:txBody>
      </p:sp>
      <p:sp>
        <p:nvSpPr>
          <p:cNvPr id="6" name="Rounded Rectangle 5"/>
          <p:cNvSpPr/>
          <p:nvPr/>
        </p:nvSpPr>
        <p:spPr>
          <a:xfrm>
            <a:off x="365760" y="795528"/>
            <a:ext cx="475488" cy="47548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795528"/>
            <a:ext cx="475488" cy="475488"/>
          </a:xfrm>
          <a:prstGeom prst="rect">
            <a:avLst/>
          </a:prstGeom>
          <a:noFill/>
        </p:spPr>
        <p:txBody>
          <a:bodyPr wrap="square" anchor="ctr">
            <a:spAutoFit/>
          </a:bodyPr>
          <a:lstStyle/>
          <a:p>
            <a:pPr algn="ctr">
              <a:lnSpc>
                <a:spcPct val="100000"/>
              </a:lnSpc>
            </a:pPr>
            <a:r>
              <a:rPr sz="1500" b="1">
                <a:solidFill>
                  <a:srgbClr val="FFFFFF"/>
                </a:solidFill>
                <a:latin typeface="Malgun Gothic"/>
              </a:rPr>
              <a:t>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Teacher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749808"/>
            <a:ext cx="7315200" cy="502920"/>
          </a:xfrm>
          <a:prstGeom prst="rect">
            <a:avLst/>
          </a:prstGeom>
          <a:noFill/>
        </p:spPr>
        <p:txBody>
          <a:bodyPr wrap="none">
            <a:spAutoFit/>
          </a:bodyPr>
          <a:lstStyle/>
          <a:p>
            <a:r>
              <a:rPr sz="2200" b="1">
                <a:solidFill>
                  <a:srgbClr val="1E2340"/>
                </a:solidFill>
                <a:latin typeface="Malgun Gothic"/>
              </a:rPr>
              <a:t>📑 Contents</a:t>
            </a:r>
          </a:p>
        </p:txBody>
      </p:sp>
      <p:sp>
        <p:nvSpPr>
          <p:cNvPr id="7" name="TextBox 6"/>
          <p:cNvSpPr txBox="1"/>
          <p:nvPr/>
        </p:nvSpPr>
        <p:spPr>
          <a:xfrm>
            <a:off x="365760" y="1417320"/>
            <a:ext cx="5500116" cy="5212080"/>
          </a:xfrm>
          <a:prstGeom prst="rect">
            <a:avLst/>
          </a:prstGeom>
          <a:noFill/>
        </p:spPr>
        <p:txBody>
          <a:bodyPr wrap="none">
            <a:spAutoFit/>
          </a:bodyPr>
          <a:lstStyle/>
          <a:p>
            <a:pPr>
              <a:spcAft>
                <a:spcPts val="794"/>
              </a:spcAft>
            </a:pPr>
            <a:r>
              <a:rPr sz="1100" b="1">
                <a:solidFill>
                  <a:srgbClr val="4F46E5"/>
                </a:solidFill>
                <a:latin typeface="Malgun Gothic"/>
              </a:rPr>
              <a:t>·   </a:t>
            </a:r>
            <a:r>
              <a:rPr sz="1100">
                <a:solidFill>
                  <a:srgbClr val="334155"/>
                </a:solidFill>
                <a:latin typeface="Malgun Gothic"/>
              </a:rPr>
              <a:t>Introduction</a:t>
            </a:r>
            <a:r>
              <a:rPr sz="950">
                <a:solidFill>
                  <a:srgbClr val="94A3B8"/>
                </a:solidFill>
                <a:latin typeface="Malgun Gothic"/>
              </a:rPr>
              <a:t>   ·  p.3</a:t>
            </a:r>
          </a:p>
          <a:p>
            <a:pPr>
              <a:spcAft>
                <a:spcPts val="794"/>
              </a:spcAft>
            </a:pPr>
            <a:r>
              <a:rPr sz="1100" b="1">
                <a:solidFill>
                  <a:srgbClr val="4F46E5"/>
                </a:solidFill>
                <a:latin typeface="Malgun Gothic"/>
              </a:rPr>
              <a:t>01  </a:t>
            </a:r>
            <a:r>
              <a:rPr sz="1100">
                <a:solidFill>
                  <a:srgbClr val="334155"/>
                </a:solidFill>
                <a:latin typeface="Malgun Gothic"/>
              </a:rPr>
              <a:t>🩺 Pre-class Detailed Check</a:t>
            </a:r>
            <a:r>
              <a:rPr sz="950">
                <a:solidFill>
                  <a:srgbClr val="94A3B8"/>
                </a:solidFill>
                <a:latin typeface="Malgun Gothic"/>
              </a:rPr>
              <a:t>   ·  p.4</a:t>
            </a:r>
          </a:p>
          <a:p>
            <a:pPr>
              <a:spcAft>
                <a:spcPts val="794"/>
              </a:spcAft>
            </a:pPr>
            <a:r>
              <a:rPr sz="1100" b="1">
                <a:solidFill>
                  <a:srgbClr val="4F46E5"/>
                </a:solidFill>
                <a:latin typeface="Malgun Gothic"/>
              </a:rPr>
              <a:t>02  </a:t>
            </a:r>
            <a:r>
              <a:rPr sz="1100">
                <a:solidFill>
                  <a:srgbClr val="334155"/>
                </a:solidFill>
                <a:latin typeface="Malgun Gothic"/>
              </a:rPr>
              <a:t>👤 Enter a Lesson from My Page</a:t>
            </a:r>
            <a:r>
              <a:rPr sz="950">
                <a:solidFill>
                  <a:srgbClr val="94A3B8"/>
                </a:solidFill>
                <a:latin typeface="Malgun Gothic"/>
              </a:rPr>
              <a:t>   ·  p.5</a:t>
            </a:r>
          </a:p>
          <a:p>
            <a:pPr>
              <a:spcAft>
                <a:spcPts val="794"/>
              </a:spcAft>
            </a:pPr>
            <a:r>
              <a:rPr sz="1100" b="1">
                <a:solidFill>
                  <a:srgbClr val="4F46E5"/>
                </a:solidFill>
                <a:latin typeface="Malgun Gothic"/>
              </a:rPr>
              <a:t>03  </a:t>
            </a:r>
            <a:r>
              <a:rPr sz="1100">
                <a:solidFill>
                  <a:srgbClr val="334155"/>
                </a:solidFill>
                <a:latin typeface="Malgun Gothic"/>
              </a:rPr>
              <a:t>🧭 Make the Most of My Page</a:t>
            </a:r>
            <a:r>
              <a:rPr sz="950">
                <a:solidFill>
                  <a:srgbClr val="94A3B8"/>
                </a:solidFill>
                <a:latin typeface="Malgun Gothic"/>
              </a:rPr>
              <a:t>   ·  p.6</a:t>
            </a:r>
          </a:p>
          <a:p>
            <a:pPr>
              <a:spcAft>
                <a:spcPts val="794"/>
              </a:spcAft>
            </a:pPr>
            <a:r>
              <a:rPr sz="1100" b="1">
                <a:solidFill>
                  <a:srgbClr val="4F46E5"/>
                </a:solidFill>
                <a:latin typeface="Malgun Gothic"/>
              </a:rPr>
              <a:t>04  </a:t>
            </a:r>
            <a:r>
              <a:rPr sz="1100">
                <a:solidFill>
                  <a:srgbClr val="334155"/>
                </a:solidFill>
                <a:latin typeface="Malgun Gothic"/>
              </a:rPr>
              <a:t>🎥 Enter the Classroom</a:t>
            </a:r>
            <a:r>
              <a:rPr sz="950">
                <a:solidFill>
                  <a:srgbClr val="94A3B8"/>
                </a:solidFill>
                <a:latin typeface="Malgun Gothic"/>
              </a:rPr>
              <a:t>   ·  p.7</a:t>
            </a:r>
          </a:p>
          <a:p>
            <a:pPr>
              <a:spcAft>
                <a:spcPts val="794"/>
              </a:spcAft>
            </a:pPr>
            <a:r>
              <a:rPr sz="1100" b="1">
                <a:solidFill>
                  <a:srgbClr val="4F46E5"/>
                </a:solidFill>
                <a:latin typeface="Malgun Gothic"/>
              </a:rPr>
              <a:t>05  </a:t>
            </a:r>
            <a:r>
              <a:rPr sz="1100">
                <a:solidFill>
                  <a:srgbClr val="334155"/>
                </a:solidFill>
                <a:latin typeface="Malgun Gothic"/>
              </a:rPr>
              <a:t>🖥️ The Classroom at a Glance</a:t>
            </a:r>
            <a:r>
              <a:rPr sz="950">
                <a:solidFill>
                  <a:srgbClr val="94A3B8"/>
                </a:solidFill>
                <a:latin typeface="Malgun Gothic"/>
              </a:rPr>
              <a:t>   ·  p.8</a:t>
            </a:r>
          </a:p>
          <a:p>
            <a:pPr>
              <a:spcAft>
                <a:spcPts val="794"/>
              </a:spcAft>
            </a:pPr>
            <a:r>
              <a:rPr sz="1100" b="1">
                <a:solidFill>
                  <a:srgbClr val="4F46E5"/>
                </a:solidFill>
                <a:latin typeface="Malgun Gothic"/>
              </a:rPr>
              <a:t>06  </a:t>
            </a:r>
            <a:r>
              <a:rPr sz="1100">
                <a:solidFill>
                  <a:srgbClr val="334155"/>
                </a:solidFill>
                <a:latin typeface="Malgun Gothic"/>
              </a:rPr>
              <a:t>🗂️ Switching the 6 Top Tabs</a:t>
            </a:r>
            <a:r>
              <a:rPr sz="950">
                <a:solidFill>
                  <a:srgbClr val="94A3B8"/>
                </a:solidFill>
                <a:latin typeface="Malgun Gothic"/>
              </a:rPr>
              <a:t>   ·  p.9</a:t>
            </a:r>
          </a:p>
          <a:p>
            <a:pPr>
              <a:spcAft>
                <a:spcPts val="794"/>
              </a:spcAft>
            </a:pPr>
            <a:r>
              <a:rPr sz="1100" b="1">
                <a:solidFill>
                  <a:srgbClr val="4F46E5"/>
                </a:solidFill>
                <a:latin typeface="Malgun Gothic"/>
              </a:rPr>
              <a:t>07  </a:t>
            </a:r>
            <a:r>
              <a:rPr sz="1100">
                <a:solidFill>
                  <a:srgbClr val="334155"/>
                </a:solidFill>
                <a:latin typeface="Malgun Gothic"/>
              </a:rPr>
              <a:t>🖊️ Board Tools, One by One</a:t>
            </a:r>
            <a:r>
              <a:rPr sz="950">
                <a:solidFill>
                  <a:srgbClr val="94A3B8"/>
                </a:solidFill>
                <a:latin typeface="Malgun Gothic"/>
              </a:rPr>
              <a:t>   ·  p.10</a:t>
            </a:r>
          </a:p>
          <a:p>
            <a:pPr>
              <a:spcAft>
                <a:spcPts val="794"/>
              </a:spcAft>
            </a:pPr>
            <a:r>
              <a:rPr sz="1100" b="1">
                <a:solidFill>
                  <a:srgbClr val="4F46E5"/>
                </a:solidFill>
                <a:latin typeface="Malgun Gothic"/>
              </a:rPr>
              <a:t>08  </a:t>
            </a:r>
            <a:r>
              <a:rPr sz="1100">
                <a:solidFill>
                  <a:srgbClr val="334155"/>
                </a:solidFill>
                <a:latin typeface="Malgun Gothic"/>
              </a:rPr>
              <a:t>📚 Materials Tools (share PDF…</a:t>
            </a:r>
            <a:r>
              <a:rPr sz="950">
                <a:solidFill>
                  <a:srgbClr val="94A3B8"/>
                </a:solidFill>
                <a:latin typeface="Malgun Gothic"/>
              </a:rPr>
              <a:t>   ·  p.11</a:t>
            </a:r>
          </a:p>
          <a:p>
            <a:pPr>
              <a:spcAft>
                <a:spcPts val="794"/>
              </a:spcAft>
            </a:pPr>
            <a:r>
              <a:rPr sz="1100" b="1">
                <a:solidFill>
                  <a:srgbClr val="4F46E5"/>
                </a:solidFill>
                <a:latin typeface="Malgun Gothic"/>
              </a:rPr>
              <a:t>09  </a:t>
            </a:r>
            <a:r>
              <a:rPr sz="1100">
                <a:solidFill>
                  <a:srgbClr val="334155"/>
                </a:solidFill>
                <a:latin typeface="Malgun Gothic"/>
              </a:rPr>
              <a:t>✍️ Writing Tools (annotate o…</a:t>
            </a:r>
            <a:r>
              <a:rPr sz="950">
                <a:solidFill>
                  <a:srgbClr val="94A3B8"/>
                </a:solidFill>
                <a:latin typeface="Malgun Gothic"/>
              </a:rPr>
              <a:t>   ·  p.12</a:t>
            </a:r>
          </a:p>
          <a:p>
            <a:pPr>
              <a:spcAft>
                <a:spcPts val="794"/>
              </a:spcAft>
            </a:pPr>
            <a:r>
              <a:rPr sz="1100" b="1">
                <a:solidFill>
                  <a:srgbClr val="4F46E5"/>
                </a:solidFill>
                <a:latin typeface="Malgun Gothic"/>
              </a:rPr>
              <a:t>10  </a:t>
            </a:r>
            <a:r>
              <a:rPr sz="1100">
                <a:solidFill>
                  <a:srgbClr val="334155"/>
                </a:solidFill>
                <a:latin typeface="Malgun Gothic"/>
              </a:rPr>
              <a:t>📹 Watch Video Together</a:t>
            </a:r>
            <a:r>
              <a:rPr sz="950">
                <a:solidFill>
                  <a:srgbClr val="94A3B8"/>
                </a:solidFill>
                <a:latin typeface="Malgun Gothic"/>
              </a:rPr>
              <a:t>   ·  p.13</a:t>
            </a:r>
          </a:p>
          <a:p>
            <a:pPr>
              <a:spcAft>
                <a:spcPts val="794"/>
              </a:spcAft>
            </a:pPr>
            <a:r>
              <a:rPr sz="1100" b="1">
                <a:solidFill>
                  <a:srgbClr val="4F46E5"/>
                </a:solidFill>
                <a:latin typeface="Malgun Gothic"/>
              </a:rPr>
              <a:t>11  </a:t>
            </a:r>
            <a:r>
              <a:rPr sz="1100">
                <a:solidFill>
                  <a:srgbClr val="334155"/>
                </a:solidFill>
                <a:latin typeface="Malgun Gothic"/>
              </a:rPr>
              <a:t>🎨 Background &amp; Face Decorati…</a:t>
            </a:r>
            <a:r>
              <a:rPr sz="950">
                <a:solidFill>
                  <a:srgbClr val="94A3B8"/>
                </a:solidFill>
                <a:latin typeface="Malgun Gothic"/>
              </a:rPr>
              <a:t>   ·  p.14</a:t>
            </a:r>
          </a:p>
          <a:p>
            <a:pPr>
              <a:spcAft>
                <a:spcPts val="794"/>
              </a:spcAft>
            </a:pPr>
            <a:r>
              <a:rPr sz="1100" b="1">
                <a:solidFill>
                  <a:srgbClr val="4F46E5"/>
                </a:solidFill>
                <a:latin typeface="Malgun Gothic"/>
              </a:rPr>
              <a:t>12  </a:t>
            </a:r>
            <a:r>
              <a:rPr sz="1100">
                <a:solidFill>
                  <a:srgbClr val="334155"/>
                </a:solidFill>
                <a:latin typeface="Malgun Gothic"/>
              </a:rPr>
              <a:t>🔲 Resize &amp; Arrange the Screen</a:t>
            </a:r>
            <a:r>
              <a:rPr sz="950">
                <a:solidFill>
                  <a:srgbClr val="94A3B8"/>
                </a:solidFill>
                <a:latin typeface="Malgun Gothic"/>
              </a:rPr>
              <a:t>   ·  p.15</a:t>
            </a:r>
          </a:p>
          <a:p>
            <a:pPr>
              <a:spcAft>
                <a:spcPts val="794"/>
              </a:spcAft>
            </a:pPr>
            <a:r>
              <a:rPr sz="1100" b="1">
                <a:solidFill>
                  <a:srgbClr val="4F46E5"/>
                </a:solidFill>
                <a:latin typeface="Malgun Gothic"/>
              </a:rPr>
              <a:t>13  </a:t>
            </a:r>
            <a:r>
              <a:rPr sz="1100">
                <a:solidFill>
                  <a:srgbClr val="334155"/>
                </a:solidFill>
                <a:latin typeface="Malgun Gothic"/>
              </a:rPr>
              <a:t>🌟 Praise Points During Class</a:t>
            </a:r>
            <a:r>
              <a:rPr sz="950">
                <a:solidFill>
                  <a:srgbClr val="94A3B8"/>
                </a:solidFill>
                <a:latin typeface="Malgun Gothic"/>
              </a:rPr>
              <a:t>   ·  p.16</a:t>
            </a:r>
          </a:p>
          <a:p>
            <a:pPr>
              <a:spcAft>
                <a:spcPts val="794"/>
              </a:spcAft>
            </a:pPr>
            <a:r>
              <a:rPr sz="1100" b="1">
                <a:solidFill>
                  <a:srgbClr val="4F46E5"/>
                </a:solidFill>
                <a:latin typeface="Malgun Gothic"/>
              </a:rPr>
              <a:t>14  </a:t>
            </a:r>
            <a:r>
              <a:rPr sz="1100">
                <a:solidFill>
                  <a:srgbClr val="334155"/>
                </a:solidFill>
                <a:latin typeface="Malgun Gothic"/>
              </a:rPr>
              <a:t>🎛️ Bottom Dock &amp; Praise Bask…</a:t>
            </a:r>
            <a:r>
              <a:rPr sz="950">
                <a:solidFill>
                  <a:srgbClr val="94A3B8"/>
                </a:solidFill>
                <a:latin typeface="Malgun Gothic"/>
              </a:rPr>
              <a:t>   ·  p.17</a:t>
            </a:r>
          </a:p>
          <a:p>
            <a:pPr>
              <a:spcAft>
                <a:spcPts val="794"/>
              </a:spcAft>
            </a:pPr>
            <a:r>
              <a:rPr sz="1100" b="1">
                <a:solidFill>
                  <a:srgbClr val="4F46E5"/>
                </a:solidFill>
                <a:latin typeface="Malgun Gothic"/>
              </a:rPr>
              <a:t>15  </a:t>
            </a:r>
            <a:r>
              <a:rPr sz="1100">
                <a:solidFill>
                  <a:srgbClr val="334155"/>
                </a:solidFill>
                <a:latin typeface="Malgun Gothic"/>
              </a:rPr>
              <a:t>📤 Pre-upload Materials</a:t>
            </a:r>
            <a:r>
              <a:rPr sz="950">
                <a:solidFill>
                  <a:srgbClr val="94A3B8"/>
                </a:solidFill>
                <a:latin typeface="Malgun Gothic"/>
              </a:rPr>
              <a:t>   ·  p.18</a:t>
            </a:r>
          </a:p>
          <a:p>
            <a:pPr>
              <a:spcAft>
                <a:spcPts val="794"/>
              </a:spcAft>
            </a:pPr>
            <a:r>
              <a:rPr sz="1100" b="1">
                <a:solidFill>
                  <a:srgbClr val="4F46E5"/>
                </a:solidFill>
                <a:latin typeface="Malgun Gothic"/>
              </a:rPr>
              <a:t>16  </a:t>
            </a:r>
            <a:r>
              <a:rPr sz="1100">
                <a:solidFill>
                  <a:srgbClr val="334155"/>
                </a:solidFill>
                <a:latin typeface="Malgun Gothic"/>
              </a:rPr>
              <a:t>🔥 Start with the AI Warm-up</a:t>
            </a:r>
            <a:r>
              <a:rPr sz="950">
                <a:solidFill>
                  <a:srgbClr val="94A3B8"/>
                </a:solidFill>
                <a:latin typeface="Malgun Gothic"/>
              </a:rPr>
              <a:t>   ·  p.19</a:t>
            </a:r>
          </a:p>
          <a:p>
            <a:pPr>
              <a:spcAft>
                <a:spcPts val="794"/>
              </a:spcAft>
            </a:pPr>
            <a:r>
              <a:rPr sz="1100" b="1">
                <a:solidFill>
                  <a:srgbClr val="4F46E5"/>
                </a:solidFill>
                <a:latin typeface="Malgun Gothic"/>
              </a:rPr>
              <a:t>17  </a:t>
            </a:r>
            <a:r>
              <a:rPr sz="1100">
                <a:solidFill>
                  <a:srgbClr val="334155"/>
                </a:solidFill>
                <a:latin typeface="Malgun Gothic"/>
              </a:rPr>
              <a:t>🎙️ Use the Pronunciation Coa…</a:t>
            </a:r>
            <a:r>
              <a:rPr sz="950">
                <a:solidFill>
                  <a:srgbClr val="94A3B8"/>
                </a:solidFill>
                <a:latin typeface="Malgun Gothic"/>
              </a:rPr>
              <a:t>   ·  p.20</a:t>
            </a:r>
          </a:p>
        </p:txBody>
      </p:sp>
      <p:sp>
        <p:nvSpPr>
          <p:cNvPr id="8" name="TextBox 7"/>
          <p:cNvSpPr txBox="1"/>
          <p:nvPr/>
        </p:nvSpPr>
        <p:spPr>
          <a:xfrm>
            <a:off x="6094476" y="1417320"/>
            <a:ext cx="5500116" cy="5212080"/>
          </a:xfrm>
          <a:prstGeom prst="rect">
            <a:avLst/>
          </a:prstGeom>
          <a:noFill/>
        </p:spPr>
        <p:txBody>
          <a:bodyPr wrap="none">
            <a:spAutoFit/>
          </a:bodyPr>
          <a:lstStyle/>
          <a:p>
            <a:pPr>
              <a:spcAft>
                <a:spcPts val="794"/>
              </a:spcAft>
            </a:pPr>
            <a:r>
              <a:rPr sz="1100" b="1">
                <a:solidFill>
                  <a:srgbClr val="4F46E5"/>
                </a:solidFill>
                <a:latin typeface="Malgun Gothic"/>
              </a:rPr>
              <a:t>18  </a:t>
            </a:r>
            <a:r>
              <a:rPr sz="1100">
                <a:solidFill>
                  <a:srgbClr val="334155"/>
                </a:solidFill>
                <a:latin typeface="Malgun Gothic"/>
              </a:rPr>
              <a:t>📝 Write the Lesson Review</a:t>
            </a:r>
            <a:r>
              <a:rPr sz="950">
                <a:solidFill>
                  <a:srgbClr val="94A3B8"/>
                </a:solidFill>
                <a:latin typeface="Malgun Gothic"/>
              </a:rPr>
              <a:t>   ·  p.21</a:t>
            </a:r>
          </a:p>
          <a:p>
            <a:pPr>
              <a:spcAft>
                <a:spcPts val="794"/>
              </a:spcAft>
            </a:pPr>
            <a:r>
              <a:rPr sz="1100" b="1">
                <a:solidFill>
                  <a:srgbClr val="4F46E5"/>
                </a:solidFill>
                <a:latin typeface="Malgun Gothic"/>
              </a:rPr>
              <a:t>19  </a:t>
            </a:r>
            <a:r>
              <a:rPr sz="1100">
                <a:solidFill>
                  <a:srgbClr val="334155"/>
                </a:solidFill>
                <a:latin typeface="Malgun Gothic"/>
              </a:rPr>
              <a:t>🌟 Leave Student Praise</a:t>
            </a:r>
            <a:r>
              <a:rPr sz="950">
                <a:solidFill>
                  <a:srgbClr val="94A3B8"/>
                </a:solidFill>
                <a:latin typeface="Malgun Gothic"/>
              </a:rPr>
              <a:t>   ·  p.22</a:t>
            </a:r>
          </a:p>
          <a:p>
            <a:pPr>
              <a:spcAft>
                <a:spcPts val="794"/>
              </a:spcAft>
            </a:pPr>
            <a:r>
              <a:rPr sz="1100" b="1">
                <a:solidFill>
                  <a:srgbClr val="4F46E5"/>
                </a:solidFill>
                <a:latin typeface="Malgun Gothic"/>
              </a:rPr>
              <a:t>20  </a:t>
            </a:r>
            <a:r>
              <a:rPr sz="1100">
                <a:solidFill>
                  <a:srgbClr val="334155"/>
                </a:solidFill>
                <a:latin typeface="Malgun Gothic"/>
              </a:rPr>
              <a:t>🧠 Game Learning Report</a:t>
            </a:r>
            <a:r>
              <a:rPr sz="950">
                <a:solidFill>
                  <a:srgbClr val="94A3B8"/>
                </a:solidFill>
                <a:latin typeface="Malgun Gothic"/>
              </a:rPr>
              <a:t>   ·  p.23</a:t>
            </a:r>
          </a:p>
          <a:p>
            <a:pPr>
              <a:spcAft>
                <a:spcPts val="794"/>
              </a:spcAft>
            </a:pPr>
            <a:r>
              <a:rPr sz="1100" b="1">
                <a:solidFill>
                  <a:srgbClr val="4F46E5"/>
                </a:solidFill>
                <a:latin typeface="Malgun Gothic"/>
              </a:rPr>
              <a:t>21  </a:t>
            </a:r>
            <a:r>
              <a:rPr sz="1100">
                <a:solidFill>
                  <a:srgbClr val="334155"/>
                </a:solidFill>
                <a:latin typeface="Malgun Gothic"/>
              </a:rPr>
              <a:t>📄 Reports · Lesson Management</a:t>
            </a:r>
            <a:r>
              <a:rPr sz="950">
                <a:solidFill>
                  <a:srgbClr val="94A3B8"/>
                </a:solidFill>
                <a:latin typeface="Malgun Gothic"/>
              </a:rPr>
              <a:t>   ·  p.24</a:t>
            </a:r>
          </a:p>
          <a:p>
            <a:pPr>
              <a:spcAft>
                <a:spcPts val="794"/>
              </a:spcAft>
            </a:pPr>
            <a:r>
              <a:rPr sz="1100" b="1">
                <a:solidFill>
                  <a:srgbClr val="4F46E5"/>
                </a:solidFill>
                <a:latin typeface="Malgun Gothic"/>
              </a:rPr>
              <a:t>22  </a:t>
            </a:r>
            <a:r>
              <a:rPr sz="1100">
                <a:solidFill>
                  <a:srgbClr val="334155"/>
                </a:solidFill>
                <a:latin typeface="Malgun Gothic"/>
              </a:rPr>
              <a:t>🔄 Handle Lesson Postpones</a:t>
            </a:r>
            <a:r>
              <a:rPr sz="950">
                <a:solidFill>
                  <a:srgbClr val="94A3B8"/>
                </a:solidFill>
                <a:latin typeface="Malgun Gothic"/>
              </a:rPr>
              <a:t>   ·  p.25</a:t>
            </a:r>
          </a:p>
          <a:p>
            <a:pPr>
              <a:spcAft>
                <a:spcPts val="794"/>
              </a:spcAft>
            </a:pPr>
            <a:r>
              <a:rPr sz="1100" b="1">
                <a:solidFill>
                  <a:srgbClr val="4F46E5"/>
                </a:solidFill>
                <a:latin typeface="Malgun Gothic"/>
              </a:rPr>
              <a:t>23  </a:t>
            </a:r>
            <a:r>
              <a:rPr sz="1100">
                <a:solidFill>
                  <a:srgbClr val="334155"/>
                </a:solidFill>
                <a:latin typeface="Malgun Gothic"/>
              </a:rPr>
              <a:t>🎧 Support · Inquiries</a:t>
            </a:r>
            <a:r>
              <a:rPr sz="950">
                <a:solidFill>
                  <a:srgbClr val="94A3B8"/>
                </a:solidFill>
                <a:latin typeface="Malgun Gothic"/>
              </a:rPr>
              <a:t>   ·  p.26</a:t>
            </a:r>
          </a:p>
          <a:p>
            <a:pPr>
              <a:spcAft>
                <a:spcPts val="794"/>
              </a:spcAft>
            </a:pPr>
            <a:r>
              <a:rPr sz="1100" b="1">
                <a:solidFill>
                  <a:srgbClr val="4F46E5"/>
                </a:solidFill>
                <a:latin typeface="Malgun Gothic"/>
              </a:rPr>
              <a:t>24  </a:t>
            </a:r>
            <a:r>
              <a:rPr sz="1100">
                <a:solidFill>
                  <a:srgbClr val="334155"/>
                </a:solidFill>
                <a:latin typeface="Malgun Gothic"/>
              </a:rPr>
              <a:t>🕐 Korea·Philippines Dual Clo…</a:t>
            </a:r>
            <a:r>
              <a:rPr sz="950">
                <a:solidFill>
                  <a:srgbClr val="94A3B8"/>
                </a:solidFill>
                <a:latin typeface="Malgun Gothic"/>
              </a:rPr>
              <a:t>   ·  p.27</a:t>
            </a:r>
          </a:p>
          <a:p>
            <a:pPr>
              <a:spcAft>
                <a:spcPts val="794"/>
              </a:spcAft>
            </a:pPr>
            <a:r>
              <a:rPr sz="1100" b="1">
                <a:solidFill>
                  <a:srgbClr val="4F46E5"/>
                </a:solidFill>
                <a:latin typeface="Malgun Gothic"/>
              </a:rPr>
              <a:t>25  </a:t>
            </a:r>
            <a:r>
              <a:rPr sz="1100">
                <a:solidFill>
                  <a:srgbClr val="334155"/>
                </a:solidFill>
                <a:latin typeface="Malgun Gothic"/>
              </a:rPr>
              <a:t>🇨🇳 Chinese Pronunciation Coa…</a:t>
            </a:r>
            <a:r>
              <a:rPr sz="950">
                <a:solidFill>
                  <a:srgbClr val="94A3B8"/>
                </a:solidFill>
                <a:latin typeface="Malgun Gothic"/>
              </a:rPr>
              <a:t>   ·  p.28</a:t>
            </a:r>
          </a:p>
          <a:p>
            <a:pPr>
              <a:spcAft>
                <a:spcPts val="794"/>
              </a:spcAft>
            </a:pPr>
            <a:r>
              <a:rPr sz="1100" b="1">
                <a:solidFill>
                  <a:srgbClr val="4F46E5"/>
                </a:solidFill>
                <a:latin typeface="Malgun Gothic"/>
              </a:rPr>
              <a:t>26  </a:t>
            </a:r>
            <a:r>
              <a:rPr sz="1100">
                <a:solidFill>
                  <a:srgbClr val="334155"/>
                </a:solidFill>
                <a:latin typeface="Malgun Gothic"/>
              </a:rPr>
              <a:t>🤖 AI Coaching After Class</a:t>
            </a:r>
            <a:r>
              <a:rPr sz="950">
                <a:solidFill>
                  <a:srgbClr val="94A3B8"/>
                </a:solidFill>
                <a:latin typeface="Malgun Gothic"/>
              </a:rPr>
              <a:t>   ·  p.29</a:t>
            </a:r>
          </a:p>
          <a:p>
            <a:pPr>
              <a:spcAft>
                <a:spcPts val="794"/>
              </a:spcAft>
            </a:pPr>
            <a:r>
              <a:rPr sz="1100" b="1">
                <a:solidFill>
                  <a:srgbClr val="4F46E5"/>
                </a:solidFill>
                <a:latin typeface="Malgun Gothic"/>
              </a:rPr>
              <a:t>27  </a:t>
            </a:r>
            <a:r>
              <a:rPr sz="1100">
                <a:solidFill>
                  <a:srgbClr val="334155"/>
                </a:solidFill>
                <a:latin typeface="Malgun Gothic"/>
              </a:rPr>
              <a:t>🔄 Tab Sync (Your Screen Lead…</a:t>
            </a:r>
            <a:r>
              <a:rPr sz="950">
                <a:solidFill>
                  <a:srgbClr val="94A3B8"/>
                </a:solidFill>
                <a:latin typeface="Malgun Gothic"/>
              </a:rPr>
              <a:t>   ·  p.30</a:t>
            </a:r>
          </a:p>
          <a:p>
            <a:pPr>
              <a:spcAft>
                <a:spcPts val="794"/>
              </a:spcAft>
            </a:pPr>
            <a:r>
              <a:rPr sz="1100" b="1">
                <a:solidFill>
                  <a:srgbClr val="4F46E5"/>
                </a:solidFill>
                <a:latin typeface="Malgun Gothic"/>
              </a:rPr>
              <a:t>28  </a:t>
            </a:r>
            <a:r>
              <a:rPr sz="1100">
                <a:solidFill>
                  <a:srgbClr val="334155"/>
                </a:solidFill>
                <a:latin typeface="Malgun Gothic"/>
              </a:rPr>
              <a:t>💬 1:1 Private Chat &amp; File Sh…</a:t>
            </a:r>
            <a:r>
              <a:rPr sz="950">
                <a:solidFill>
                  <a:srgbClr val="94A3B8"/>
                </a:solidFill>
                <a:latin typeface="Malgun Gothic"/>
              </a:rPr>
              <a:t>   ·  p.31</a:t>
            </a:r>
          </a:p>
          <a:p>
            <a:pPr>
              <a:spcAft>
                <a:spcPts val="794"/>
              </a:spcAft>
            </a:pPr>
            <a:r>
              <a:rPr sz="1100" b="1">
                <a:solidFill>
                  <a:srgbClr val="4F46E5"/>
                </a:solidFill>
                <a:latin typeface="Malgun Gothic"/>
              </a:rPr>
              <a:t>29  </a:t>
            </a:r>
            <a:r>
              <a:rPr sz="1100">
                <a:solidFill>
                  <a:srgbClr val="334155"/>
                </a:solidFill>
                <a:latin typeface="Malgun Gothic"/>
              </a:rPr>
              <a:t>🗓️ Requesting a Postpone / C…</a:t>
            </a:r>
            <a:r>
              <a:rPr sz="950">
                <a:solidFill>
                  <a:srgbClr val="94A3B8"/>
                </a:solidFill>
                <a:latin typeface="Malgun Gothic"/>
              </a:rPr>
              <a:t>   ·  p.32</a:t>
            </a:r>
          </a:p>
          <a:p>
            <a:pPr>
              <a:spcAft>
                <a:spcPts val="794"/>
              </a:spcAft>
            </a:pPr>
            <a:r>
              <a:rPr sz="1100" b="1">
                <a:solidFill>
                  <a:srgbClr val="4F46E5"/>
                </a:solidFill>
                <a:latin typeface="Malgun Gothic"/>
              </a:rPr>
              <a:t>30  </a:t>
            </a:r>
            <a:r>
              <a:rPr sz="1100">
                <a:solidFill>
                  <a:srgbClr val="334155"/>
                </a:solidFill>
                <a:latin typeface="Malgun Gothic"/>
              </a:rPr>
              <a:t>🧾 Checking My Lesson-Fee Set…</a:t>
            </a:r>
            <a:r>
              <a:rPr sz="950">
                <a:solidFill>
                  <a:srgbClr val="94A3B8"/>
                </a:solidFill>
                <a:latin typeface="Malgun Gothic"/>
              </a:rPr>
              <a:t>   ·  p.33</a:t>
            </a:r>
          </a:p>
          <a:p>
            <a:pPr>
              <a:spcAft>
                <a:spcPts val="794"/>
              </a:spcAft>
            </a:pPr>
            <a:r>
              <a:rPr sz="1100" b="1">
                <a:solidFill>
                  <a:srgbClr val="4F46E5"/>
                </a:solidFill>
                <a:latin typeface="Malgun Gothic"/>
              </a:rPr>
              <a:t>31  </a:t>
            </a:r>
            <a:r>
              <a:rPr sz="1100">
                <a:solidFill>
                  <a:srgbClr val="334155"/>
                </a:solidFill>
                <a:latin typeface="Malgun Gothic"/>
              </a:rPr>
              <a:t>Tools by Lesson Stage</a:t>
            </a:r>
            <a:r>
              <a:rPr sz="950">
                <a:solidFill>
                  <a:srgbClr val="94A3B8"/>
                </a:solidFill>
                <a:latin typeface="Malgun Gothic"/>
              </a:rPr>
              <a:t>   ·  p.34</a:t>
            </a:r>
          </a:p>
          <a:p>
            <a:pPr>
              <a:spcAft>
                <a:spcPts val="794"/>
              </a:spcAft>
            </a:pPr>
            <a:r>
              <a:rPr sz="1100" b="1">
                <a:solidFill>
                  <a:srgbClr val="4F46E5"/>
                </a:solidFill>
                <a:latin typeface="Malgun Gothic"/>
              </a:rPr>
              <a:t>32  </a:t>
            </a:r>
            <a:r>
              <a:rPr sz="1100">
                <a:solidFill>
                  <a:srgbClr val="334155"/>
                </a:solidFill>
                <a:latin typeface="Malgun Gothic"/>
              </a:rPr>
              <a:t>Data at a Glance</a:t>
            </a:r>
            <a:r>
              <a:rPr sz="950">
                <a:solidFill>
                  <a:srgbClr val="94A3B8"/>
                </a:solidFill>
                <a:latin typeface="Malgun Gothic"/>
              </a:rPr>
              <a:t>   ·  p.35</a:t>
            </a:r>
          </a:p>
          <a:p>
            <a:pPr>
              <a:spcAft>
                <a:spcPts val="794"/>
              </a:spcAft>
            </a:pPr>
            <a:r>
              <a:rPr sz="1100" b="1">
                <a:solidFill>
                  <a:srgbClr val="4F46E5"/>
                </a:solidFill>
                <a:latin typeface="Malgun Gothic"/>
              </a:rPr>
              <a:t>33  </a:t>
            </a:r>
            <a:r>
              <a:rPr sz="1100">
                <a:solidFill>
                  <a:srgbClr val="334155"/>
                </a:solidFill>
                <a:latin typeface="Malgun Gothic"/>
              </a:rPr>
              <a:t>Frequently Asked Questions (…</a:t>
            </a:r>
            <a:r>
              <a:rPr sz="950">
                <a:solidFill>
                  <a:srgbClr val="94A3B8"/>
                </a:solidFill>
                <a:latin typeface="Malgun Gothic"/>
              </a:rPr>
              <a:t>   ·  p.36</a:t>
            </a:r>
          </a:p>
          <a:p>
            <a:pPr>
              <a:spcAft>
                <a:spcPts val="794"/>
              </a:spcAft>
            </a:pPr>
            <a:r>
              <a:rPr sz="1100" b="1">
                <a:solidFill>
                  <a:srgbClr val="4F46E5"/>
                </a:solidFill>
                <a:latin typeface="Malgun Gothic"/>
              </a:rPr>
              <a:t>34  </a:t>
            </a:r>
            <a:r>
              <a:rPr sz="1100">
                <a:solidFill>
                  <a:srgbClr val="334155"/>
                </a:solidFill>
                <a:latin typeface="Malgun Gothic"/>
              </a:rPr>
              <a:t>Lesson Checklist</a:t>
            </a:r>
            <a:r>
              <a:rPr sz="950">
                <a:solidFill>
                  <a:srgbClr val="94A3B8"/>
                </a:solidFill>
                <a:latin typeface="Malgun Gothic"/>
              </a:rPr>
              <a:t>   ·  p.37</a:t>
            </a:r>
          </a:p>
          <a:p>
            <a:pPr>
              <a:spcAft>
                <a:spcPts val="794"/>
              </a:spcAft>
            </a:pPr>
            <a:r>
              <a:rPr sz="1100" b="1">
                <a:solidFill>
                  <a:srgbClr val="4F46E5"/>
                </a:solidFill>
                <a:latin typeface="Malgun Gothic"/>
              </a:rPr>
              <a:t>35  </a:t>
            </a:r>
            <a:r>
              <a:rPr sz="1100">
                <a:solidFill>
                  <a:srgbClr val="334155"/>
                </a:solidFill>
                <a:latin typeface="Malgun Gothic"/>
              </a:rPr>
              <a:t>Conclusion · A Practical Gui…</a:t>
            </a:r>
            <a:r>
              <a:rPr sz="950">
                <a:solidFill>
                  <a:srgbClr val="94A3B8"/>
                </a:solidFill>
                <a:latin typeface="Malgun Gothic"/>
              </a:rPr>
              <a:t>   ·  p.38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