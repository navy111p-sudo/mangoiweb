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EA580C"/>
              </a:solidFill>
            </c:spPr>
          </c:dPt>
          <c:dPt>
            <c:idx val="2"/>
            <c:spPr>
              <a:solidFill>
                <a:srgbClr val="059669"/>
              </a:solidFill>
            </c:spPr>
          </c:dPt>
          <c:dPt>
            <c:idx val="3"/>
            <c:spPr>
              <a:solidFill>
                <a:srgbClr val="4F46E5"/>
              </a:solidFill>
            </c:spPr>
          </c:dPt>
          <c:cat>
            <c:strRef>
              <c:f>Sheet1!$A$2:$A$5</c:f>
              <c:strCache>
                <c:ptCount val="4"/>
                <c:pt idx="0">
                  <c:v>Warm-up/greeting</c:v>
                </c:pt>
                <c:pt idx="1">
                  <c:v>Main lesson</c:v>
                </c:pt>
                <c:pt idx="2">
                  <c:v>Speaking practice</c:v>
                </c:pt>
                <c:pt idx="3">
                  <c:v>Wrap-up/review</c:v>
                </c:pt>
              </c:strCache>
            </c:strRef>
          </c:cat>
          <c:val>
            <c:numRef>
              <c:f>Sheet1!$B$2:$B$5</c:f>
              <c:numCache>
                <c:formatCode>General</c:formatCode>
                <c:ptCount val="4"/>
                <c:pt idx="0">
                  <c:v>3</c:v>
                </c:pt>
                <c:pt idx="1">
                  <c:v>14</c:v>
                </c:pt>
                <c:pt idx="2">
                  <c:v>5</c:v>
                </c:pt>
                <c:pt idx="3">
                  <c:v>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EA580C"/>
              </a:solidFill>
            </c:spPr>
          </c:dPt>
          <c:dPt>
            <c:idx val="1"/>
            <c:spPr>
              <a:solidFill>
                <a:srgbClr val="F59E0B"/>
              </a:solidFill>
            </c:spPr>
          </c:dPt>
          <c:dPt>
            <c:idx val="2"/>
            <c:spPr>
              <a:solidFill>
                <a:srgbClr val="059669"/>
              </a:solidFill>
            </c:spPr>
          </c:dPt>
          <c:dPt>
            <c:idx val="3"/>
            <c:spPr>
              <a:solidFill>
                <a:srgbClr val="0EA5E9"/>
              </a:solidFill>
            </c:spPr>
          </c:dPt>
          <c:cat>
            <c:strRef>
              <c:f>Sheet1!$A$2:$A$5</c:f>
              <c:strCache>
                <c:ptCount val="4"/>
                <c:pt idx="0">
                  <c:v>Camera</c:v>
                </c:pt>
                <c:pt idx="1">
                  <c:v>Mic</c:v>
                </c:pt>
                <c:pt idx="2">
                  <c:v>Network</c:v>
                </c:pt>
                <c:pt idx="3">
                  <c:v>Lighting</c:v>
                </c:pt>
              </c:strCache>
            </c:strRef>
          </c:cat>
          <c:val>
            <c:numRef>
              <c:f>Sheet1!$B$2:$B$5</c:f>
              <c:numCache>
                <c:formatCode>General</c:formatCode>
                <c:ptCount val="4"/>
                <c:pt idx="0">
                  <c:v>100</c:v>
                </c:pt>
                <c:pt idx="1">
                  <c:v>100</c:v>
                </c:pt>
                <c:pt idx="2">
                  <c:v>90</c:v>
                </c:pt>
                <c:pt idx="3">
                  <c:v>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EA580C"/>
              </a:solidFill>
            </c:spPr>
          </c:dPt>
          <c:dPt>
            <c:idx val="1"/>
            <c:spPr>
              <a:solidFill>
                <a:srgbClr val="EA580C"/>
              </a:solidFill>
            </c:spPr>
          </c:dPt>
          <c:dPt>
            <c:idx val="2"/>
            <c:spPr>
              <a:solidFill>
                <a:srgbClr val="EA580C"/>
              </a:solidFill>
            </c:spPr>
          </c:dPt>
          <c:dPt>
            <c:idx val="3"/>
            <c:spPr>
              <a:solidFill>
                <a:srgbClr val="EA580C"/>
              </a:solidFill>
            </c:spPr>
          </c:dPt>
          <c:dPt>
            <c:idx val="4"/>
            <c:spPr>
              <a:solidFill>
                <a:srgbClr val="EA580C"/>
              </a:solidFill>
            </c:spPr>
          </c:dPt>
          <c:cat>
            <c:strRef>
              <c:f>Sheet1!$A$2:$A$6</c:f>
              <c:strCache>
                <c:ptCount val="5"/>
                <c:pt idx="0">
                  <c:v>Prep</c:v>
                </c:pt>
                <c:pt idx="1">
                  <c:v>Interaction</c:v>
                </c:pt>
                <c:pt idx="2">
                  <c:v>Feedback</c:v>
                </c:pt>
                <c:pt idx="3">
                  <c:v>Pronunciation</c:v>
                </c:pt>
                <c:pt idx="4">
                  <c:v>Records</c:v>
                </c:pt>
              </c:strCache>
            </c:strRef>
          </c:cat>
          <c:val>
            <c:numRef>
              <c:f>Sheet1!$B$2:$B$6</c:f>
              <c:numCache>
                <c:formatCode>General</c:formatCode>
                <c:ptCount val="5"/>
                <c:pt idx="0">
                  <c:v>9</c:v>
                </c:pt>
                <c:pt idx="1">
                  <c:v>8</c:v>
                </c:pt>
                <c:pt idx="2">
                  <c:v>9</c:v>
                </c:pt>
                <c:pt idx="3">
                  <c:v>8</c:v>
                </c:pt>
                <c:pt idx="4">
                  <c:v>7</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580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A580C"/>
                </a:solidFill>
                <a:latin typeface="Malgun Gothic"/>
              </a:rPr>
              <a:t>🏫 TEACHER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Teacher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Follow the lesson flow — how to use the site</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Native-speaker teachers and Korean instructors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A580C"/>
                </a:solidFill>
                <a:latin typeface="Malgun Gothic"/>
              </a:rPr>
              <a:t>What is the Teacher Site Guide?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This guide explains how a teacher who runs video lessons uses the Mangoi site. From pre-class device checks to entering the classroom, the materials/board/chat tools, using the AI warm-up and pronunciation coach, writing lesson reviews, praising students and learning reports — it follows the real lesson flow. (This is a 'how to use the site' guide, not a teaching methodology.)</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Pre-class detailed check</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Camera·mic·network·lighting scores.</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Classroom tools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Video·materials·board·chat·recording.</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Lesson review · praise</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Post-class review and star/sticker praise.</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Learning reports</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Game weak words·reports for next lesson prep.</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A580C"/>
                </a:solidFill>
                <a:latin typeface="Malgun Gothic"/>
              </a:rPr>
              <a:t>25-min Lesson Time Split (ex., min)</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eacher_precheck.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Contents  (1/2)</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Introduction</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a:t>
            </a:r>
          </a:p>
        </p:txBody>
      </p:sp>
      <p:sp>
        <p:nvSpPr>
          <p:cNvPr id="9" name="Rounded Rectangle 8"/>
          <p:cNvSpPr/>
          <p:nvPr/>
        </p:nvSpPr>
        <p:spPr>
          <a:xfrm>
            <a:off x="411480"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Pre-class Detailed Check</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5</a:t>
            </a:r>
          </a:p>
        </p:txBody>
      </p:sp>
      <p:sp>
        <p:nvSpPr>
          <p:cNvPr id="13" name="Rounded Rectangle 12"/>
          <p:cNvSpPr/>
          <p:nvPr/>
        </p:nvSpPr>
        <p:spPr>
          <a:xfrm>
            <a:off x="411480"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Enter a Lesson from My Page</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6</a:t>
            </a:r>
          </a:p>
        </p:txBody>
      </p:sp>
      <p:sp>
        <p:nvSpPr>
          <p:cNvPr id="17" name="Rounded Rectangle 16"/>
          <p:cNvSpPr/>
          <p:nvPr/>
        </p:nvSpPr>
        <p:spPr>
          <a:xfrm>
            <a:off x="411480"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Make the Most of My Page</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7</a:t>
            </a:r>
          </a:p>
        </p:txBody>
      </p:sp>
      <p:sp>
        <p:nvSpPr>
          <p:cNvPr id="21" name="Rounded Rectangle 20"/>
          <p:cNvSpPr/>
          <p:nvPr/>
        </p:nvSpPr>
        <p:spPr>
          <a:xfrm>
            <a:off x="411480"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Enter the Classroom</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8</a:t>
            </a:r>
          </a:p>
        </p:txBody>
      </p:sp>
      <p:sp>
        <p:nvSpPr>
          <p:cNvPr id="25" name="Rounded Rectangle 24"/>
          <p:cNvSpPr/>
          <p:nvPr/>
        </p:nvSpPr>
        <p:spPr>
          <a:xfrm>
            <a:off x="411480"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Classroom at a Glance</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9</a:t>
            </a:r>
          </a:p>
        </p:txBody>
      </p:sp>
      <p:sp>
        <p:nvSpPr>
          <p:cNvPr id="29" name="Rounded Rectangle 28"/>
          <p:cNvSpPr/>
          <p:nvPr/>
        </p:nvSpPr>
        <p:spPr>
          <a:xfrm>
            <a:off x="411480"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Switching the 6 Top Tabs</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10</a:t>
            </a:r>
          </a:p>
        </p:txBody>
      </p:sp>
      <p:sp>
        <p:nvSpPr>
          <p:cNvPr id="33" name="Rounded Rectangle 32"/>
          <p:cNvSpPr/>
          <p:nvPr/>
        </p:nvSpPr>
        <p:spPr>
          <a:xfrm>
            <a:off x="411480"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Board Tools, One by One</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11</a:t>
            </a:r>
          </a:p>
        </p:txBody>
      </p:sp>
      <p:sp>
        <p:nvSpPr>
          <p:cNvPr id="37" name="Rounded Rectangle 36"/>
          <p:cNvSpPr/>
          <p:nvPr/>
        </p:nvSpPr>
        <p:spPr>
          <a:xfrm>
            <a:off x="411480"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Materials Tools (share PDF/photos)</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12</a:t>
            </a:r>
          </a:p>
        </p:txBody>
      </p:sp>
      <p:sp>
        <p:nvSpPr>
          <p:cNvPr id="41" name="Rounded Rectangle 40"/>
          <p:cNvSpPr/>
          <p:nvPr/>
        </p:nvSpPr>
        <p:spPr>
          <a:xfrm>
            <a:off x="411480"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Writing Tools (annotate on top)</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13</a:t>
            </a:r>
          </a:p>
        </p:txBody>
      </p:sp>
      <p:sp>
        <p:nvSpPr>
          <p:cNvPr id="45" name="Rounded Rectangle 44"/>
          <p:cNvSpPr/>
          <p:nvPr/>
        </p:nvSpPr>
        <p:spPr>
          <a:xfrm>
            <a:off x="411480" y="42245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Watch Video Together</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14</a:t>
            </a:r>
          </a:p>
        </p:txBody>
      </p:sp>
      <p:sp>
        <p:nvSpPr>
          <p:cNvPr id="49" name="Rounded Rectangle 48"/>
          <p:cNvSpPr/>
          <p:nvPr/>
        </p:nvSpPr>
        <p:spPr>
          <a:xfrm>
            <a:off x="411480" y="44988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Background &amp; Face Decorations</a:t>
            </a:r>
          </a:p>
        </p:txBody>
      </p:sp>
      <p:sp>
        <p:nvSpPr>
          <p:cNvPr id="52" name="TextBox 51"/>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15</a:t>
            </a:r>
          </a:p>
        </p:txBody>
      </p:sp>
      <p:sp>
        <p:nvSpPr>
          <p:cNvPr id="53" name="Rounded Rectangle 52"/>
          <p:cNvSpPr/>
          <p:nvPr/>
        </p:nvSpPr>
        <p:spPr>
          <a:xfrm>
            <a:off x="6141567" y="14813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Resize &amp; Arrange the Screen</a:t>
            </a:r>
          </a:p>
        </p:txBody>
      </p:sp>
      <p:sp>
        <p:nvSpPr>
          <p:cNvPr id="56" name="TextBox 55"/>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16</a:t>
            </a:r>
          </a:p>
        </p:txBody>
      </p:sp>
      <p:sp>
        <p:nvSpPr>
          <p:cNvPr id="57" name="Rounded Rectangle 56"/>
          <p:cNvSpPr/>
          <p:nvPr/>
        </p:nvSpPr>
        <p:spPr>
          <a:xfrm>
            <a:off x="6141567"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Praise Points During Class</a:t>
            </a:r>
          </a:p>
        </p:txBody>
      </p:sp>
      <p:sp>
        <p:nvSpPr>
          <p:cNvPr id="60" name="TextBox 59"/>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17</a:t>
            </a:r>
          </a:p>
        </p:txBody>
      </p:sp>
      <p:sp>
        <p:nvSpPr>
          <p:cNvPr id="61" name="Rounded Rectangle 60"/>
          <p:cNvSpPr/>
          <p:nvPr/>
        </p:nvSpPr>
        <p:spPr>
          <a:xfrm>
            <a:off x="6141567"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Bottom Dock &amp; Praise Basket</a:t>
            </a:r>
          </a:p>
        </p:txBody>
      </p:sp>
      <p:sp>
        <p:nvSpPr>
          <p:cNvPr id="64" name="TextBox 63"/>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18</a:t>
            </a:r>
          </a:p>
        </p:txBody>
      </p:sp>
      <p:sp>
        <p:nvSpPr>
          <p:cNvPr id="65" name="Rounded Rectangle 64"/>
          <p:cNvSpPr/>
          <p:nvPr/>
        </p:nvSpPr>
        <p:spPr>
          <a:xfrm>
            <a:off x="6141567"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Pre-upload Materials</a:t>
            </a:r>
          </a:p>
        </p:txBody>
      </p:sp>
      <p:sp>
        <p:nvSpPr>
          <p:cNvPr id="68" name="TextBox 67"/>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19</a:t>
            </a:r>
          </a:p>
        </p:txBody>
      </p:sp>
      <p:sp>
        <p:nvSpPr>
          <p:cNvPr id="69" name="Rounded Rectangle 68"/>
          <p:cNvSpPr/>
          <p:nvPr/>
        </p:nvSpPr>
        <p:spPr>
          <a:xfrm>
            <a:off x="6141567"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Start with the AI Warm-up</a:t>
            </a:r>
          </a:p>
        </p:txBody>
      </p:sp>
      <p:sp>
        <p:nvSpPr>
          <p:cNvPr id="72" name="TextBox 71"/>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20</a:t>
            </a:r>
          </a:p>
        </p:txBody>
      </p:sp>
      <p:sp>
        <p:nvSpPr>
          <p:cNvPr id="73" name="Rounded Rectangle 72"/>
          <p:cNvSpPr/>
          <p:nvPr/>
        </p:nvSpPr>
        <p:spPr>
          <a:xfrm>
            <a:off x="6141567"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Use the Pronunciation Coach</a:t>
            </a:r>
          </a:p>
        </p:txBody>
      </p:sp>
      <p:sp>
        <p:nvSpPr>
          <p:cNvPr id="76" name="TextBox 75"/>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21</a:t>
            </a:r>
          </a:p>
        </p:txBody>
      </p:sp>
      <p:sp>
        <p:nvSpPr>
          <p:cNvPr id="77" name="Rounded Rectangle 76"/>
          <p:cNvSpPr/>
          <p:nvPr/>
        </p:nvSpPr>
        <p:spPr>
          <a:xfrm>
            <a:off x="6141567"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Write the Lesson Review</a:t>
            </a:r>
          </a:p>
        </p:txBody>
      </p:sp>
      <p:sp>
        <p:nvSpPr>
          <p:cNvPr id="80" name="TextBox 79"/>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22</a:t>
            </a:r>
          </a:p>
        </p:txBody>
      </p:sp>
      <p:sp>
        <p:nvSpPr>
          <p:cNvPr id="81" name="Rounded Rectangle 80"/>
          <p:cNvSpPr/>
          <p:nvPr/>
        </p:nvSpPr>
        <p:spPr>
          <a:xfrm>
            <a:off x="6141567"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Leave Student Praise</a:t>
            </a:r>
          </a:p>
        </p:txBody>
      </p:sp>
      <p:sp>
        <p:nvSpPr>
          <p:cNvPr id="84" name="TextBox 83"/>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23</a:t>
            </a:r>
          </a:p>
        </p:txBody>
      </p:sp>
      <p:sp>
        <p:nvSpPr>
          <p:cNvPr id="85" name="Rounded Rectangle 84"/>
          <p:cNvSpPr/>
          <p:nvPr/>
        </p:nvSpPr>
        <p:spPr>
          <a:xfrm>
            <a:off x="6141567"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Game Learning Report</a:t>
            </a:r>
          </a:p>
        </p:txBody>
      </p:sp>
      <p:sp>
        <p:nvSpPr>
          <p:cNvPr id="88" name="TextBox 87"/>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24</a:t>
            </a:r>
          </a:p>
        </p:txBody>
      </p:sp>
      <p:sp>
        <p:nvSpPr>
          <p:cNvPr id="89" name="Rounded Rectangle 88"/>
          <p:cNvSpPr/>
          <p:nvPr/>
        </p:nvSpPr>
        <p:spPr>
          <a:xfrm>
            <a:off x="6141567"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1" name="TextBox 90"/>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Reports · Lesson Management</a:t>
            </a:r>
          </a:p>
        </p:txBody>
      </p:sp>
      <p:sp>
        <p:nvSpPr>
          <p:cNvPr id="92" name="TextBox 91"/>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25</a:t>
            </a:r>
          </a:p>
        </p:txBody>
      </p:sp>
      <p:sp>
        <p:nvSpPr>
          <p:cNvPr id="93" name="Rounded Rectangle 92"/>
          <p:cNvSpPr/>
          <p:nvPr/>
        </p:nvSpPr>
        <p:spPr>
          <a:xfrm>
            <a:off x="6141567" y="42245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95" name="TextBox 94"/>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Handle Lesson Postpones</a:t>
            </a:r>
          </a:p>
        </p:txBody>
      </p:sp>
      <p:sp>
        <p:nvSpPr>
          <p:cNvPr id="96" name="TextBox 95"/>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26</a:t>
            </a:r>
          </a:p>
        </p:txBody>
      </p:sp>
      <p:sp>
        <p:nvSpPr>
          <p:cNvPr id="97" name="Rounded Rectangle 96"/>
          <p:cNvSpPr/>
          <p:nvPr/>
        </p:nvSpPr>
        <p:spPr>
          <a:xfrm>
            <a:off x="6141567" y="44988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99" name="TextBox 98"/>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Support · Inquiries</a:t>
            </a:r>
          </a:p>
        </p:txBody>
      </p:sp>
      <p:sp>
        <p:nvSpPr>
          <p:cNvPr id="100" name="TextBox 99"/>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Contents  (2/2)</a:t>
            </a:r>
          </a:p>
        </p:txBody>
      </p:sp>
      <p:sp>
        <p:nvSpPr>
          <p:cNvPr id="7" name="Rounded Rectangle 6"/>
          <p:cNvSpPr/>
          <p:nvPr/>
        </p:nvSpPr>
        <p:spPr>
          <a:xfrm>
            <a:off x="411480" y="14813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9" name="TextBox 8"/>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Korea·Philippines Dual Clock</a:t>
            </a:r>
          </a:p>
        </p:txBody>
      </p:sp>
      <p:sp>
        <p:nvSpPr>
          <p:cNvPr id="10" name="TextBox 9"/>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28</a:t>
            </a:r>
          </a:p>
        </p:txBody>
      </p:sp>
      <p:sp>
        <p:nvSpPr>
          <p:cNvPr id="11" name="Rounded Rectangle 10"/>
          <p:cNvSpPr/>
          <p:nvPr/>
        </p:nvSpPr>
        <p:spPr>
          <a:xfrm>
            <a:off x="411480"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13" name="TextBox 12"/>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Chinese Pronunciation Coach</a:t>
            </a:r>
          </a:p>
        </p:txBody>
      </p:sp>
      <p:sp>
        <p:nvSpPr>
          <p:cNvPr id="14" name="TextBox 13"/>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29</a:t>
            </a:r>
          </a:p>
        </p:txBody>
      </p:sp>
      <p:sp>
        <p:nvSpPr>
          <p:cNvPr id="15" name="Rounded Rectangle 14"/>
          <p:cNvSpPr/>
          <p:nvPr/>
        </p:nvSpPr>
        <p:spPr>
          <a:xfrm>
            <a:off x="411480"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17" name="TextBox 16"/>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Coaching After Class</a:t>
            </a:r>
          </a:p>
        </p:txBody>
      </p:sp>
      <p:sp>
        <p:nvSpPr>
          <p:cNvPr id="18" name="TextBox 17"/>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30</a:t>
            </a:r>
          </a:p>
        </p:txBody>
      </p:sp>
      <p:sp>
        <p:nvSpPr>
          <p:cNvPr id="19" name="Rounded Rectangle 18"/>
          <p:cNvSpPr/>
          <p:nvPr/>
        </p:nvSpPr>
        <p:spPr>
          <a:xfrm>
            <a:off x="411480"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21" name="TextBox 20"/>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Tab Sync (Your Screen Leads)</a:t>
            </a:r>
          </a:p>
        </p:txBody>
      </p:sp>
      <p:sp>
        <p:nvSpPr>
          <p:cNvPr id="22" name="TextBox 21"/>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31</a:t>
            </a:r>
          </a:p>
        </p:txBody>
      </p:sp>
      <p:sp>
        <p:nvSpPr>
          <p:cNvPr id="23" name="Rounded Rectangle 22"/>
          <p:cNvSpPr/>
          <p:nvPr/>
        </p:nvSpPr>
        <p:spPr>
          <a:xfrm>
            <a:off x="411480"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28</a:t>
            </a:r>
          </a:p>
        </p:txBody>
      </p:sp>
      <p:sp>
        <p:nvSpPr>
          <p:cNvPr id="25" name="TextBox 24"/>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1:1 Private Chat &amp; File Sharing</a:t>
            </a:r>
          </a:p>
        </p:txBody>
      </p:sp>
      <p:sp>
        <p:nvSpPr>
          <p:cNvPr id="26" name="TextBox 25"/>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32</a:t>
            </a:r>
          </a:p>
        </p:txBody>
      </p:sp>
      <p:sp>
        <p:nvSpPr>
          <p:cNvPr id="27" name="Rounded Rectangle 26"/>
          <p:cNvSpPr/>
          <p:nvPr/>
        </p:nvSpPr>
        <p:spPr>
          <a:xfrm>
            <a:off x="411480"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29</a:t>
            </a:r>
          </a:p>
        </p:txBody>
      </p:sp>
      <p:sp>
        <p:nvSpPr>
          <p:cNvPr id="29" name="TextBox 28"/>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Requesting a Postpone / Change</a:t>
            </a:r>
          </a:p>
        </p:txBody>
      </p:sp>
      <p:sp>
        <p:nvSpPr>
          <p:cNvPr id="30" name="TextBox 29"/>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33</a:t>
            </a:r>
          </a:p>
        </p:txBody>
      </p:sp>
      <p:sp>
        <p:nvSpPr>
          <p:cNvPr id="31" name="Rounded Rectangle 30"/>
          <p:cNvSpPr/>
          <p:nvPr/>
        </p:nvSpPr>
        <p:spPr>
          <a:xfrm>
            <a:off x="411480"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30</a:t>
            </a:r>
          </a:p>
        </p:txBody>
      </p:sp>
      <p:sp>
        <p:nvSpPr>
          <p:cNvPr id="33" name="TextBox 32"/>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Checking My Lesson-Fee Settlement</a:t>
            </a:r>
          </a:p>
        </p:txBody>
      </p:sp>
      <p:sp>
        <p:nvSpPr>
          <p:cNvPr id="34" name="TextBox 33"/>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34</a:t>
            </a:r>
          </a:p>
        </p:txBody>
      </p:sp>
      <p:sp>
        <p:nvSpPr>
          <p:cNvPr id="35" name="Rounded Rectangle 34"/>
          <p:cNvSpPr/>
          <p:nvPr/>
        </p:nvSpPr>
        <p:spPr>
          <a:xfrm>
            <a:off x="411480"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31</a:t>
            </a:r>
          </a:p>
        </p:txBody>
      </p:sp>
      <p:sp>
        <p:nvSpPr>
          <p:cNvPr id="37" name="TextBox 36"/>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Three class controls (focus · background lock · exit guard)</a:t>
            </a:r>
          </a:p>
        </p:txBody>
      </p:sp>
      <p:sp>
        <p:nvSpPr>
          <p:cNvPr id="38" name="TextBox 37"/>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35</a:t>
            </a:r>
          </a:p>
        </p:txBody>
      </p:sp>
      <p:sp>
        <p:nvSpPr>
          <p:cNvPr id="39" name="Rounded Rectangle 38"/>
          <p:cNvSpPr/>
          <p:nvPr/>
        </p:nvSpPr>
        <p:spPr>
          <a:xfrm>
            <a:off x="411480"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32</a:t>
            </a:r>
          </a:p>
        </p:txBody>
      </p:sp>
      <p:sp>
        <p:nvSpPr>
          <p:cNvPr id="41" name="TextBox 40"/>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Textbook PDF — annotations that stay · faster page jumps</a:t>
            </a:r>
          </a:p>
        </p:txBody>
      </p:sp>
      <p:sp>
        <p:nvSpPr>
          <p:cNvPr id="42" name="TextBox 41"/>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36</a:t>
            </a:r>
          </a:p>
        </p:txBody>
      </p:sp>
      <p:sp>
        <p:nvSpPr>
          <p:cNvPr id="43" name="Rounded Rectangle 42"/>
          <p:cNvSpPr/>
          <p:nvPr/>
        </p:nvSpPr>
        <p:spPr>
          <a:xfrm>
            <a:off x="411480"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33</a:t>
            </a:r>
          </a:p>
        </p:txBody>
      </p:sp>
      <p:sp>
        <p:nvSpPr>
          <p:cNvPr id="45" name="TextBox 44"/>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It rides out a slow connection by itself</a:t>
            </a:r>
          </a:p>
        </p:txBody>
      </p:sp>
      <p:sp>
        <p:nvSpPr>
          <p:cNvPr id="46" name="TextBox 45"/>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37</a:t>
            </a:r>
          </a:p>
        </p:txBody>
      </p:sp>
      <p:sp>
        <p:nvSpPr>
          <p:cNvPr id="47" name="Rounded Rectangle 46"/>
          <p:cNvSpPr/>
          <p:nvPr/>
        </p:nvSpPr>
        <p:spPr>
          <a:xfrm>
            <a:off x="411480" y="42245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34</a:t>
            </a:r>
          </a:p>
        </p:txBody>
      </p:sp>
      <p:sp>
        <p:nvSpPr>
          <p:cNvPr id="49" name="TextBox 48"/>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Using Judgment Training in class</a:t>
            </a:r>
          </a:p>
        </p:txBody>
      </p:sp>
      <p:sp>
        <p:nvSpPr>
          <p:cNvPr id="50" name="TextBox 49"/>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38</a:t>
            </a:r>
          </a:p>
        </p:txBody>
      </p:sp>
      <p:sp>
        <p:nvSpPr>
          <p:cNvPr id="51" name="Rounded Rectangle 50"/>
          <p:cNvSpPr/>
          <p:nvPr/>
        </p:nvSpPr>
        <p:spPr>
          <a:xfrm>
            <a:off x="411480" y="44988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35</a:t>
            </a:r>
          </a:p>
        </p:txBody>
      </p:sp>
      <p:sp>
        <p:nvSpPr>
          <p:cNvPr id="53" name="TextBox 52"/>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Replay a recorded lesson</a:t>
            </a:r>
          </a:p>
        </p:txBody>
      </p:sp>
      <p:sp>
        <p:nvSpPr>
          <p:cNvPr id="54" name="TextBox 53"/>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39</a:t>
            </a:r>
          </a:p>
        </p:txBody>
      </p:sp>
      <p:sp>
        <p:nvSpPr>
          <p:cNvPr id="55" name="Rounded Rectangle 54"/>
          <p:cNvSpPr/>
          <p:nvPr/>
        </p:nvSpPr>
        <p:spPr>
          <a:xfrm>
            <a:off x="6141567" y="14813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36</a:t>
            </a:r>
          </a:p>
        </p:txBody>
      </p:sp>
      <p:sp>
        <p:nvSpPr>
          <p:cNvPr id="57" name="TextBox 56"/>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Your account (password · interface language)</a:t>
            </a:r>
          </a:p>
        </p:txBody>
      </p:sp>
      <p:sp>
        <p:nvSpPr>
          <p:cNvPr id="58" name="TextBox 57"/>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40</a:t>
            </a:r>
          </a:p>
        </p:txBody>
      </p:sp>
      <p:sp>
        <p:nvSpPr>
          <p:cNvPr id="59" name="Rounded Rectangle 58"/>
          <p:cNvSpPr/>
          <p:nvPr/>
        </p:nvSpPr>
        <p:spPr>
          <a:xfrm>
            <a:off x="6141567"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37</a:t>
            </a:r>
          </a:p>
        </p:txBody>
      </p:sp>
      <p:sp>
        <p:nvSpPr>
          <p:cNvPr id="61" name="TextBox 60"/>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 Monthly Report (built from your evaluations)</a:t>
            </a:r>
          </a:p>
        </p:txBody>
      </p:sp>
      <p:sp>
        <p:nvSpPr>
          <p:cNvPr id="62" name="TextBox 61"/>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41</a:t>
            </a:r>
          </a:p>
        </p:txBody>
      </p:sp>
      <p:sp>
        <p:nvSpPr>
          <p:cNvPr id="63" name="Rounded Rectangle 62"/>
          <p:cNvSpPr/>
          <p:nvPr/>
        </p:nvSpPr>
        <p:spPr>
          <a:xfrm>
            <a:off x="6141567"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38</a:t>
            </a:r>
          </a:p>
        </p:txBody>
      </p:sp>
      <p:sp>
        <p:nvSpPr>
          <p:cNvPr id="65" name="TextBox 64"/>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Escape by Voice (using it in class)</a:t>
            </a:r>
          </a:p>
        </p:txBody>
      </p:sp>
      <p:sp>
        <p:nvSpPr>
          <p:cNvPr id="66" name="TextBox 65"/>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42</a:t>
            </a:r>
          </a:p>
        </p:txBody>
      </p:sp>
      <p:sp>
        <p:nvSpPr>
          <p:cNvPr id="67" name="Rounded Rectangle 66"/>
          <p:cNvSpPr/>
          <p:nvPr/>
        </p:nvSpPr>
        <p:spPr>
          <a:xfrm>
            <a:off x="6141567"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39</a:t>
            </a:r>
          </a:p>
        </p:txBody>
      </p:sp>
      <p:sp>
        <p:nvSpPr>
          <p:cNvPr id="69" name="TextBox 68"/>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My Vocabulary, Redesigned (Preview tab · 6 tabs)</a:t>
            </a:r>
          </a:p>
        </p:txBody>
      </p:sp>
      <p:sp>
        <p:nvSpPr>
          <p:cNvPr id="70" name="TextBox 69"/>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43</a:t>
            </a:r>
          </a:p>
        </p:txBody>
      </p:sp>
      <p:sp>
        <p:nvSpPr>
          <p:cNvPr id="71" name="Rounded Rectangle 70"/>
          <p:cNvSpPr/>
          <p:nvPr/>
        </p:nvSpPr>
        <p:spPr>
          <a:xfrm>
            <a:off x="6141567"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40</a:t>
            </a:r>
          </a:p>
        </p:txBody>
      </p:sp>
      <p:sp>
        <p:nvSpPr>
          <p:cNvPr id="73" name="TextBox 72"/>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Registering Work Hours, Breaks and Leave</a:t>
            </a:r>
          </a:p>
        </p:txBody>
      </p:sp>
      <p:sp>
        <p:nvSpPr>
          <p:cNvPr id="74" name="TextBox 73"/>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44</a:t>
            </a:r>
          </a:p>
        </p:txBody>
      </p:sp>
      <p:sp>
        <p:nvSpPr>
          <p:cNvPr id="75" name="Rounded Rectangle 74"/>
          <p:cNvSpPr/>
          <p:nvPr/>
        </p:nvSpPr>
        <p:spPr>
          <a:xfrm>
            <a:off x="6141567"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41</a:t>
            </a:r>
          </a:p>
        </p:txBody>
      </p:sp>
      <p:sp>
        <p:nvSpPr>
          <p:cNvPr id="77" name="TextBox 76"/>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Learn the Screens with a Sample Lesson</a:t>
            </a:r>
          </a:p>
        </p:txBody>
      </p:sp>
      <p:sp>
        <p:nvSpPr>
          <p:cNvPr id="78" name="TextBox 77"/>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45</a:t>
            </a:r>
          </a:p>
        </p:txBody>
      </p:sp>
      <p:sp>
        <p:nvSpPr>
          <p:cNvPr id="79" name="Rounded Rectangle 78"/>
          <p:cNvSpPr/>
          <p:nvPr/>
        </p:nvSpPr>
        <p:spPr>
          <a:xfrm>
            <a:off x="6141567"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42</a:t>
            </a:r>
          </a:p>
        </p:txBody>
      </p:sp>
      <p:sp>
        <p:nvSpPr>
          <p:cNvPr id="81" name="TextBox 80"/>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 Weekly Report (your lessons are the evidence)</a:t>
            </a:r>
          </a:p>
        </p:txBody>
      </p:sp>
      <p:sp>
        <p:nvSpPr>
          <p:cNvPr id="82" name="TextBox 81"/>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46</a:t>
            </a:r>
          </a:p>
        </p:txBody>
      </p:sp>
      <p:sp>
        <p:nvSpPr>
          <p:cNvPr id="83" name="Rounded Rectangle 82"/>
          <p:cNvSpPr/>
          <p:nvPr/>
        </p:nvSpPr>
        <p:spPr>
          <a:xfrm>
            <a:off x="6141567"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43</a:t>
            </a:r>
          </a:p>
        </p:txBody>
      </p:sp>
      <p:sp>
        <p:nvSpPr>
          <p:cNvPr id="85" name="TextBox 84"/>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Feature Summary · Data</a:t>
            </a:r>
          </a:p>
        </p:txBody>
      </p:sp>
      <p:sp>
        <p:nvSpPr>
          <p:cNvPr id="86" name="TextBox 85"/>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47</a:t>
            </a:r>
          </a:p>
        </p:txBody>
      </p:sp>
      <p:sp>
        <p:nvSpPr>
          <p:cNvPr id="87" name="Rounded Rectangle 86"/>
          <p:cNvSpPr/>
          <p:nvPr/>
        </p:nvSpPr>
        <p:spPr>
          <a:xfrm>
            <a:off x="6141567"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44</a:t>
            </a:r>
          </a:p>
        </p:txBody>
      </p:sp>
      <p:sp>
        <p:nvSpPr>
          <p:cNvPr id="89" name="TextBox 88"/>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Data at a Glance</a:t>
            </a:r>
          </a:p>
        </p:txBody>
      </p:sp>
      <p:sp>
        <p:nvSpPr>
          <p:cNvPr id="90" name="TextBox 89"/>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48</a:t>
            </a:r>
          </a:p>
        </p:txBody>
      </p:sp>
      <p:sp>
        <p:nvSpPr>
          <p:cNvPr id="91" name="Rounded Rectangle 90"/>
          <p:cNvSpPr/>
          <p:nvPr/>
        </p:nvSpPr>
        <p:spPr>
          <a:xfrm>
            <a:off x="6141567"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45</a:t>
            </a:r>
          </a:p>
        </p:txBody>
      </p:sp>
      <p:sp>
        <p:nvSpPr>
          <p:cNvPr id="93" name="TextBox 92"/>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Frequently Asked Questions (FAQ)</a:t>
            </a:r>
          </a:p>
        </p:txBody>
      </p:sp>
      <p:sp>
        <p:nvSpPr>
          <p:cNvPr id="94" name="TextBox 93"/>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49</a:t>
            </a:r>
          </a:p>
        </p:txBody>
      </p:sp>
      <p:sp>
        <p:nvSpPr>
          <p:cNvPr id="95" name="Rounded Rectangle 94"/>
          <p:cNvSpPr/>
          <p:nvPr/>
        </p:nvSpPr>
        <p:spPr>
          <a:xfrm>
            <a:off x="6141567" y="42245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46</a:t>
            </a:r>
          </a:p>
        </p:txBody>
      </p:sp>
      <p:sp>
        <p:nvSpPr>
          <p:cNvPr id="97" name="TextBox 96"/>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Checklist</a:t>
            </a:r>
          </a:p>
        </p:txBody>
      </p:sp>
      <p:sp>
        <p:nvSpPr>
          <p:cNvPr id="98" name="TextBox 97"/>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50</a:t>
            </a:r>
          </a:p>
        </p:txBody>
      </p:sp>
      <p:sp>
        <p:nvSpPr>
          <p:cNvPr id="99" name="Rounded Rectangle 98"/>
          <p:cNvSpPr/>
          <p:nvPr/>
        </p:nvSpPr>
        <p:spPr>
          <a:xfrm>
            <a:off x="6141567" y="44988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47</a:t>
            </a:r>
          </a:p>
        </p:txBody>
      </p:sp>
      <p:sp>
        <p:nvSpPr>
          <p:cNvPr id="101" name="TextBox 100"/>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Conclusion</a:t>
            </a:r>
          </a:p>
        </p:txBody>
      </p:sp>
      <p:sp>
        <p:nvSpPr>
          <p:cNvPr id="102" name="TextBox 101"/>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51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Pre-class Detailed Check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devices before entering</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screen that checks camera, mic, network and lighting at once before class. An overall score and per-item signals catch problems early and prevent drop-outs mid-lesson.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Check camera, mic, network and lighting on the check screen.</a:t>
            </a:r>
          </a:p>
          <a:p>
            <a:pPr>
              <a:lnSpc>
                <a:spcPct val="115000"/>
              </a:lnSpc>
              <a:spcAft>
                <a:spcPts val="300"/>
              </a:spcAft>
            </a:pPr>
            <a:r>
              <a:rPr sz="700" b="1">
                <a:solidFill>
                  <a:srgbClr val="EA580C"/>
                </a:solidFill>
                <a:latin typeface="Malgun Gothic"/>
              </a:rPr>
              <a:t>● </a:t>
            </a:r>
            <a:r>
              <a:rPr sz="900">
                <a:solidFill>
                  <a:srgbClr val="334155"/>
                </a:solidFill>
                <a:latin typeface="Malgun Gothic"/>
              </a:rPr>
              <a:t>Read the overall score and each item's signal (normal/warning).</a:t>
            </a:r>
          </a:p>
          <a:p>
            <a:pPr>
              <a:lnSpc>
                <a:spcPct val="115000"/>
              </a:lnSpc>
              <a:spcAft>
                <a:spcPts val="300"/>
              </a:spcAft>
            </a:pPr>
            <a:r>
              <a:rPr sz="700" b="1">
                <a:solidFill>
                  <a:srgbClr val="EA580C"/>
                </a:solidFill>
                <a:latin typeface="Malgun Gothic"/>
              </a:rPr>
              <a:t>● </a:t>
            </a:r>
            <a:r>
              <a:rPr sz="900">
                <a:solidFill>
                  <a:srgbClr val="334155"/>
                </a:solidFill>
                <a:latin typeface="Malgun Gothic"/>
              </a:rPr>
              <a:t>For red items, adjust lighting, seat or connection and check again.</a:t>
            </a:r>
          </a:p>
        </p:txBody>
      </p:sp>
      <p:sp>
        <p:nvSpPr>
          <p:cNvPr id="14" name="Rounded Rectangle 13"/>
          <p:cNvSpPr/>
          <p:nvPr/>
        </p:nvSpPr>
        <p:spPr>
          <a:xfrm>
            <a:off x="457200" y="5187391"/>
            <a:ext cx="5669280" cy="833475"/>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479999"/>
            <a:ext cx="5394960" cy="504291"/>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Do the check 5–10 minutes before class.</a:t>
            </a:r>
          </a:p>
          <a:p>
            <a:pPr>
              <a:lnSpc>
                <a:spcPct val="115000"/>
              </a:lnSpc>
              <a:spcAft>
                <a:spcPts val="100"/>
              </a:spcAft>
            </a:pPr>
            <a:r>
              <a:rPr sz="650" b="1">
                <a:solidFill>
                  <a:srgbClr val="EA580C"/>
                </a:solidFill>
                <a:latin typeface="Malgun Gothic"/>
              </a:rPr>
              <a:t>● </a:t>
            </a:r>
            <a:r>
              <a:rPr sz="850">
                <a:solidFill>
                  <a:srgbClr val="334155"/>
                </a:solidFill>
                <a:latin typeface="Malgun Gothic"/>
              </a:rPr>
              <a:t>Fix issues before the student enters.</a:t>
            </a:r>
          </a:p>
        </p:txBody>
      </p:sp>
      <p:sp>
        <p:nvSpPr>
          <p:cNvPr id="17" name="Rounded Rectangle 16"/>
          <p:cNvSpPr/>
          <p:nvPr/>
        </p:nvSpPr>
        <p:spPr>
          <a:xfrm>
            <a:off x="365760" y="6172200"/>
            <a:ext cx="11457432"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Put the light in front of your face so your expression shows and student focus rises.</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69233"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5152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1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53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camera, mi…</a:t>
            </a:r>
          </a:p>
        </p:txBody>
      </p:sp>
      <p:sp>
        <p:nvSpPr>
          <p:cNvPr id="26" name="TextBox 25"/>
          <p:cNvSpPr txBox="1"/>
          <p:nvPr/>
        </p:nvSpPr>
        <p:spPr>
          <a:xfrm>
            <a:off x="512612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309006"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9130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1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9305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overall sc…</a:t>
            </a:r>
          </a:p>
        </p:txBody>
      </p:sp>
      <p:sp>
        <p:nvSpPr>
          <p:cNvPr id="31" name="TextBox 30"/>
          <p:cNvSpPr txBox="1"/>
          <p:nvPr/>
        </p:nvSpPr>
        <p:spPr>
          <a:xfrm>
            <a:off x="696589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148779" y="2670048"/>
            <a:ext cx="1570939"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3107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3107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532827"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lighting,…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a Lesson from My 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first button to the lesson room</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Teachers enter a lesson the same way students do — with the 'Enter Class' button on My Page. After logging in, open My Page and you'll find the gold 'Enter Class' button; pressing it takes you to the video-class lobby.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2405329"/>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After logging in, press the '👤 My Page' button.</a:t>
            </a:r>
          </a:p>
          <a:p>
            <a:pPr>
              <a:lnSpc>
                <a:spcPct val="115000"/>
              </a:lnSpc>
              <a:spcAft>
                <a:spcPts val="300"/>
              </a:spcAft>
            </a:pPr>
            <a:r>
              <a:rPr sz="700" b="1">
                <a:solidFill>
                  <a:srgbClr val="EA580C"/>
                </a:solidFill>
                <a:latin typeface="Malgun Gothic"/>
              </a:rPr>
              <a:t>● </a:t>
            </a:r>
            <a:r>
              <a:rPr sz="900">
                <a:solidFill>
                  <a:srgbClr val="334155"/>
                </a:solidFill>
                <a:latin typeface="Malgun Gothic"/>
              </a:rPr>
              <a:t>Find the gold '🎥 Enter Class' button below (in a row with '💳 Payment').</a:t>
            </a:r>
          </a:p>
          <a:p>
            <a:pPr>
              <a:lnSpc>
                <a:spcPct val="115000"/>
              </a:lnSpc>
              <a:spcAft>
                <a:spcPts val="300"/>
              </a:spcAft>
            </a:pPr>
            <a:r>
              <a:rPr sz="700" b="1">
                <a:solidFill>
                  <a:srgbClr val="EA580C"/>
                </a:solidFill>
                <a:latin typeface="Malgun Gothic"/>
              </a:rPr>
              <a:t>● </a:t>
            </a:r>
            <a:r>
              <a:rPr sz="900">
                <a:solidFill>
                  <a:srgbClr val="334155"/>
                </a:solidFill>
                <a:latin typeface="Malgun Gothic"/>
              </a:rPr>
              <a:t>Press 'Enter Class' and you go to the video-class lobby.</a:t>
            </a:r>
          </a:p>
          <a:p>
            <a:pPr>
              <a:lnSpc>
                <a:spcPct val="115000"/>
              </a:lnSpc>
              <a:spcAft>
                <a:spcPts val="300"/>
              </a:spcAft>
            </a:pPr>
            <a:r>
              <a:rPr sz="700" b="1">
                <a:solidFill>
                  <a:srgbClr val="EA580C"/>
                </a:solidFill>
                <a:latin typeface="Malgun Gothic"/>
              </a:rPr>
              <a:t>● </a:t>
            </a:r>
            <a:r>
              <a:rPr sz="900">
                <a:solidFill>
                  <a:srgbClr val="334155"/>
                </a:solidFill>
                <a:latin typeface="Malgun Gothic"/>
              </a:rPr>
              <a:t>Check the hint '🎥 Enter video class lobby · 📹 Mic/Camera required'.</a:t>
            </a:r>
          </a:p>
          <a:p>
            <a:pPr>
              <a:lnSpc>
                <a:spcPct val="115000"/>
              </a:lnSpc>
              <a:spcAft>
                <a:spcPts val="300"/>
              </a:spcAft>
            </a:pPr>
            <a:r>
              <a:rPr sz="700" b="1">
                <a:solidFill>
                  <a:srgbClr val="EA580C"/>
                </a:solidFill>
                <a:latin typeface="Malgun Gothic"/>
              </a:rPr>
              <a:t>● </a:t>
            </a:r>
            <a:r>
              <a:rPr sz="900">
                <a:solidFill>
                  <a:srgbClr val="334155"/>
                </a:solidFill>
                <a:latin typeface="Malgun Gothic"/>
              </a:rPr>
              <a:t>Then in the lobby, confirm your name → Allow camera/mic → enter the classroom (see next page).</a:t>
            </a:r>
          </a:p>
        </p:txBody>
      </p:sp>
      <p:sp>
        <p:nvSpPr>
          <p:cNvPr id="14" name="Rounded Rectangle 13"/>
          <p:cNvSpPr/>
          <p:nvPr/>
        </p:nvSpPr>
        <p:spPr>
          <a:xfrm>
            <a:off x="457200" y="6245809"/>
            <a:ext cx="5669280" cy="152201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291529"/>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6538417"/>
            <a:ext cx="5394960" cy="1192834"/>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One 'Enter Class' button takes you straight to the lobby.</a:t>
            </a:r>
          </a:p>
          <a:p>
            <a:pPr>
              <a:lnSpc>
                <a:spcPct val="115000"/>
              </a:lnSpc>
              <a:spcAft>
                <a:spcPts val="100"/>
              </a:spcAft>
            </a:pPr>
            <a:r>
              <a:rPr sz="650" b="1">
                <a:solidFill>
                  <a:srgbClr val="EA580C"/>
                </a:solidFill>
                <a:latin typeface="Malgun Gothic"/>
              </a:rPr>
              <a:t>● </a:t>
            </a:r>
            <a:r>
              <a:rPr sz="850">
                <a:solidFill>
                  <a:srgbClr val="334155"/>
                </a:solidFill>
                <a:latin typeface="Malgun Gothic"/>
              </a:rPr>
              <a:t>My Page also has pre-check, postpone/change, all-menu and more.</a:t>
            </a:r>
          </a:p>
          <a:p>
            <a:pPr>
              <a:lnSpc>
                <a:spcPct val="115000"/>
              </a:lnSpc>
              <a:spcAft>
                <a:spcPts val="100"/>
              </a:spcAft>
            </a:pPr>
            <a:r>
              <a:rPr sz="650" b="1">
                <a:solidFill>
                  <a:srgbClr val="EA580C"/>
                </a:solidFill>
                <a:latin typeface="Malgun Gothic"/>
              </a:rPr>
              <a:t>● </a:t>
            </a:r>
            <a:r>
              <a:rPr sz="850">
                <a:solidFill>
                  <a:srgbClr val="334155"/>
                </a:solidFill>
                <a:latin typeface="Malgun Gothic"/>
              </a:rPr>
              <a:t>Students enter with the same 'Enter Class' button.</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Even after pressing the button, your face/sound won't connect unless you allow camera/mic.</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Enter early from My Page 5–10 minutes before class to check your devices.</a:t>
            </a:r>
          </a:p>
        </p:txBody>
      </p:sp>
      <p:sp>
        <p:nvSpPr>
          <p:cNvPr id="21" name="Rectangle 20"/>
          <p:cNvSpPr/>
          <p:nvPr/>
        </p:nvSpPr>
        <p:spPr>
          <a:xfrm>
            <a:off x="6300216" y="3850338"/>
            <a:ext cx="5596128" cy="150275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enter.jpg"/>
          <p:cNvPicPr>
            <a:picLocks noChangeAspect="1"/>
          </p:cNvPicPr>
          <p:nvPr/>
        </p:nvPicPr>
        <p:blipFill>
          <a:blip r:embed="rId2"/>
          <a:stretch>
            <a:fillRect/>
          </a:stretch>
        </p:blipFill>
        <p:spPr>
          <a:xfrm>
            <a:off x="6355080" y="3905202"/>
            <a:ext cx="5486400" cy="1393031"/>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479499" y="2670048"/>
            <a:ext cx="17282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56179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6179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863547"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My Page…</a:t>
            </a:r>
          </a:p>
        </p:txBody>
      </p:sp>
      <p:sp>
        <p:nvSpPr>
          <p:cNvPr id="28" name="TextBox 27"/>
          <p:cNvSpPr txBox="1"/>
          <p:nvPr/>
        </p:nvSpPr>
        <p:spPr>
          <a:xfrm>
            <a:off x="320771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3390595" y="2670048"/>
            <a:ext cx="17282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7289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728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774643"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Enter C…</a:t>
            </a:r>
          </a:p>
        </p:txBody>
      </p:sp>
      <p:sp>
        <p:nvSpPr>
          <p:cNvPr id="33" name="TextBox 32"/>
          <p:cNvSpPr txBox="1"/>
          <p:nvPr/>
        </p:nvSpPr>
        <p:spPr>
          <a:xfrm>
            <a:off x="511881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5301691"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8398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8398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68573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'Enter Cla…</a:t>
            </a:r>
          </a:p>
        </p:txBody>
      </p:sp>
      <p:sp>
        <p:nvSpPr>
          <p:cNvPr id="38" name="TextBox 37"/>
          <p:cNvSpPr txBox="1"/>
          <p:nvPr/>
        </p:nvSpPr>
        <p:spPr>
          <a:xfrm>
            <a:off x="695858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7141464" y="2670048"/>
            <a:ext cx="17282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22375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237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525512"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Enter v…</a:t>
            </a:r>
          </a:p>
        </p:txBody>
      </p:sp>
      <p:sp>
        <p:nvSpPr>
          <p:cNvPr id="43" name="TextBox 42"/>
          <p:cNvSpPr txBox="1"/>
          <p:nvPr/>
        </p:nvSpPr>
        <p:spPr>
          <a:xfrm>
            <a:off x="886968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4" name="Rounded Rectangle 43"/>
          <p:cNvSpPr/>
          <p:nvPr/>
        </p:nvSpPr>
        <p:spPr>
          <a:xfrm>
            <a:off x="9052559"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13485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3485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43660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Allow came…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Make the Most of My 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entry point you need for class</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My Page has more than just 'Enter Class' — every menu you need for a lesson is gathered here. Knowing the buttons you use most makes prep much faster.</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2565806"/>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 Pre-check: check camera, mic, network and lighting before class. (a must 5–10 min before)</a:t>
            </a:r>
          </a:p>
          <a:p>
            <a:pPr>
              <a:lnSpc>
                <a:spcPct val="115000"/>
              </a:lnSpc>
              <a:spcAft>
                <a:spcPts val="300"/>
              </a:spcAft>
            </a:pPr>
            <a:r>
              <a:rPr sz="700" b="1">
                <a:solidFill>
                  <a:srgbClr val="EA580C"/>
                </a:solidFill>
                <a:latin typeface="Malgun Gothic"/>
              </a:rPr>
              <a:t>● </a:t>
            </a:r>
            <a:r>
              <a:rPr sz="900">
                <a:solidFill>
                  <a:srgbClr val="334155"/>
                </a:solidFill>
                <a:latin typeface="Malgun Gothic"/>
              </a:rPr>
              <a:t>🎥 Enter Class: go to the video-class lobby. (see earlier page)</a:t>
            </a:r>
          </a:p>
          <a:p>
            <a:pPr>
              <a:lnSpc>
                <a:spcPct val="115000"/>
              </a:lnSpc>
              <a:spcAft>
                <a:spcPts val="300"/>
              </a:spcAft>
            </a:pPr>
            <a:r>
              <a:rPr sz="700" b="1">
                <a:solidFill>
                  <a:srgbClr val="EA580C"/>
                </a:solidFill>
                <a:latin typeface="Malgun Gothic"/>
              </a:rPr>
              <a:t>● </a:t>
            </a:r>
            <a:r>
              <a:rPr sz="900">
                <a:solidFill>
                  <a:srgbClr val="334155"/>
                </a:solidFill>
                <a:latin typeface="Malgun Gothic"/>
              </a:rPr>
              <a:t>📅 Postpone/Change: adjust the schedule per a student's request or your situation.</a:t>
            </a:r>
          </a:p>
          <a:p>
            <a:pPr>
              <a:lnSpc>
                <a:spcPct val="115000"/>
              </a:lnSpc>
              <a:spcAft>
                <a:spcPts val="300"/>
              </a:spcAft>
            </a:pPr>
            <a:r>
              <a:rPr sz="700" b="1">
                <a:solidFill>
                  <a:srgbClr val="EA580C"/>
                </a:solidFill>
                <a:latin typeface="Malgun Gothic"/>
              </a:rPr>
              <a:t>● </a:t>
            </a:r>
            <a:r>
              <a:rPr sz="900">
                <a:solidFill>
                  <a:srgbClr val="334155"/>
                </a:solidFill>
                <a:latin typeface="Malgun Gothic"/>
              </a:rPr>
              <a:t>🧠 Review Quiz · 🎤 Curriculum Pronunciation: preview review/pronunciation material for students.</a:t>
            </a:r>
          </a:p>
          <a:p>
            <a:pPr>
              <a:lnSpc>
                <a:spcPct val="115000"/>
              </a:lnSpc>
              <a:spcAft>
                <a:spcPts val="300"/>
              </a:spcAft>
            </a:pPr>
            <a:r>
              <a:rPr sz="700" b="1">
                <a:solidFill>
                  <a:srgbClr val="EA580C"/>
                </a:solidFill>
                <a:latin typeface="Malgun Gothic"/>
              </a:rPr>
              <a:t>● </a:t>
            </a:r>
            <a:r>
              <a:rPr sz="900">
                <a:solidFill>
                  <a:srgbClr val="334155"/>
                </a:solidFill>
                <a:latin typeface="Malgun Gothic"/>
              </a:rPr>
              <a:t>💬 New Inquiry · 🏠 All Menu · 📝 Book Class: go to intake and all features.</a:t>
            </a:r>
          </a:p>
        </p:txBody>
      </p:sp>
      <p:sp>
        <p:nvSpPr>
          <p:cNvPr id="14" name="Rounded Rectangle 13"/>
          <p:cNvSpPr/>
          <p:nvPr/>
        </p:nvSpPr>
        <p:spPr>
          <a:xfrm>
            <a:off x="457200" y="6406286"/>
            <a:ext cx="5669280" cy="1370457"/>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452006"/>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6698894"/>
            <a:ext cx="5394960" cy="1041273"/>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Make 'Pre-check → Enter Class' a habit.</a:t>
            </a:r>
          </a:p>
          <a:p>
            <a:pPr>
              <a:lnSpc>
                <a:spcPct val="115000"/>
              </a:lnSpc>
              <a:spcAft>
                <a:spcPts val="100"/>
              </a:spcAft>
            </a:pPr>
            <a:r>
              <a:rPr sz="650" b="1">
                <a:solidFill>
                  <a:srgbClr val="EA580C"/>
                </a:solidFill>
                <a:latin typeface="Malgun Gothic"/>
              </a:rPr>
              <a:t>● </a:t>
            </a:r>
            <a:r>
              <a:rPr sz="850">
                <a:solidFill>
                  <a:srgbClr val="334155"/>
                </a:solidFill>
                <a:latin typeface="Malgun Gothic"/>
              </a:rPr>
              <a:t>If text looks Korean, switch to English with the EN button.</a:t>
            </a:r>
          </a:p>
          <a:p>
            <a:pPr>
              <a:lnSpc>
                <a:spcPct val="115000"/>
              </a:lnSpc>
              <a:spcAft>
                <a:spcPts val="100"/>
              </a:spcAft>
            </a:pPr>
            <a:r>
              <a:rPr sz="650" b="1">
                <a:solidFill>
                  <a:srgbClr val="EA580C"/>
                </a:solidFill>
                <a:latin typeface="Malgun Gothic"/>
              </a:rPr>
              <a:t>● </a:t>
            </a:r>
            <a:r>
              <a:rPr sz="850">
                <a:solidFill>
                  <a:srgbClr val="334155"/>
                </a:solidFill>
                <a:latin typeface="Malgun Gothic"/>
              </a:rPr>
              <a:t>You can also tell the AI search/assistant 'open ○○' to jump there.</a:t>
            </a:r>
          </a:p>
        </p:txBody>
      </p:sp>
      <p:sp>
        <p:nvSpPr>
          <p:cNvPr id="17" name="Rounded Rectangle 16"/>
          <p:cNvSpPr/>
          <p:nvPr/>
        </p:nvSpPr>
        <p:spPr>
          <a:xfrm>
            <a:off x="365760" y="6172200"/>
            <a:ext cx="11457432"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Pre-class routine: ① Pre-check devices → ② pre-upload the textbook → ③ Enter Class.</a:t>
            </a:r>
          </a:p>
        </p:txBody>
      </p:sp>
      <p:sp>
        <p:nvSpPr>
          <p:cNvPr id="19" name="Rectangle 18"/>
          <p:cNvSpPr/>
          <p:nvPr/>
        </p:nvSpPr>
        <p:spPr>
          <a:xfrm>
            <a:off x="6300216" y="4269001"/>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4323865"/>
            <a:ext cx="5486400" cy="706581"/>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708099" y="2670048"/>
            <a:ext cx="141366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79039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9039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092147"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Pre-check</a:t>
            </a:r>
          </a:p>
        </p:txBody>
      </p:sp>
      <p:sp>
        <p:nvSpPr>
          <p:cNvPr id="26" name="TextBox 25"/>
          <p:cNvSpPr txBox="1"/>
          <p:nvPr/>
        </p:nvSpPr>
        <p:spPr>
          <a:xfrm>
            <a:off x="312176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3304641"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8693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8693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368868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Enter Clas…</a:t>
            </a:r>
          </a:p>
        </p:txBody>
      </p:sp>
      <p:sp>
        <p:nvSpPr>
          <p:cNvPr id="31" name="TextBox 30"/>
          <p:cNvSpPr txBox="1"/>
          <p:nvPr/>
        </p:nvSpPr>
        <p:spPr>
          <a:xfrm>
            <a:off x="496153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5144414"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22671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2671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52846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Postpone/C…</a:t>
            </a:r>
          </a:p>
        </p:txBody>
      </p:sp>
      <p:sp>
        <p:nvSpPr>
          <p:cNvPr id="36" name="TextBox 35"/>
          <p:cNvSpPr txBox="1"/>
          <p:nvPr/>
        </p:nvSpPr>
        <p:spPr>
          <a:xfrm>
            <a:off x="680130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6984187"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6648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664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36823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Review Qui…</a:t>
            </a:r>
          </a:p>
        </p:txBody>
      </p:sp>
      <p:sp>
        <p:nvSpPr>
          <p:cNvPr id="41" name="TextBox 40"/>
          <p:cNvSpPr txBox="1"/>
          <p:nvPr/>
        </p:nvSpPr>
        <p:spPr>
          <a:xfrm>
            <a:off x="864108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2" name="Rounded Rectangle 41"/>
          <p:cNvSpPr/>
          <p:nvPr/>
        </p:nvSpPr>
        <p:spPr>
          <a:xfrm>
            <a:off x="8823960"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90625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0625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920800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New Inquir…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the Classroom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Getting into the lesson room</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On the entry screen, enter your name and room code to join. Allow camera and mic, then wait for the student.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314450"/>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Enter your name on the entry screen.</a:t>
            </a:r>
          </a:p>
          <a:p>
            <a:pPr>
              <a:lnSpc>
                <a:spcPct val="115000"/>
              </a:lnSpc>
              <a:spcAft>
                <a:spcPts val="300"/>
              </a:spcAft>
            </a:pPr>
            <a:r>
              <a:rPr sz="700" b="1">
                <a:solidFill>
                  <a:srgbClr val="EA580C"/>
                </a:solidFill>
                <a:latin typeface="Malgun Gothic"/>
              </a:rPr>
              <a:t>● </a:t>
            </a:r>
            <a:r>
              <a:rPr sz="900">
                <a:solidFill>
                  <a:srgbClr val="334155"/>
                </a:solidFill>
                <a:latin typeface="Malgun Gothic"/>
              </a:rPr>
              <a:t>Check the room code (empty = shared lesson room).</a:t>
            </a:r>
          </a:p>
          <a:p>
            <a:pPr>
              <a:lnSpc>
                <a:spcPct val="115000"/>
              </a:lnSpc>
              <a:spcAft>
                <a:spcPts val="300"/>
              </a:spcAft>
            </a:pPr>
            <a:r>
              <a:rPr sz="700" b="1">
                <a:solidFill>
                  <a:srgbClr val="EA580C"/>
                </a:solidFill>
                <a:latin typeface="Malgun Gothic"/>
              </a:rPr>
              <a:t>● </a:t>
            </a:r>
            <a:r>
              <a:rPr sz="900">
                <a:solidFill>
                  <a:srgbClr val="334155"/>
                </a:solidFill>
                <a:latin typeface="Malgun Gothic"/>
              </a:rPr>
              <a:t>Press Enter and click Allow for camera/mic.</a:t>
            </a:r>
          </a:p>
          <a:p>
            <a:pPr>
              <a:lnSpc>
                <a:spcPct val="115000"/>
              </a:lnSpc>
              <a:spcAft>
                <a:spcPts val="300"/>
              </a:spcAft>
            </a:pPr>
            <a:r>
              <a:rPr sz="700" b="1">
                <a:solidFill>
                  <a:srgbClr val="EA580C"/>
                </a:solidFill>
                <a:latin typeface="Malgun Gothic"/>
              </a:rPr>
              <a:t>● </a:t>
            </a:r>
            <a:r>
              <a:rPr sz="900">
                <a:solidFill>
                  <a:srgbClr val="334155"/>
                </a:solidFill>
                <a:latin typeface="Malgun Gothic"/>
              </a:rPr>
              <a:t>Wait for the student and check screen/sound.</a:t>
            </a:r>
          </a:p>
        </p:txBody>
      </p:sp>
      <p:sp>
        <p:nvSpPr>
          <p:cNvPr id="14" name="Rounded Rectangle 13"/>
          <p:cNvSpPr/>
          <p:nvPr/>
        </p:nvSpPr>
        <p:spPr>
          <a:xfrm>
            <a:off x="457200" y="5154930"/>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00650"/>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447538"/>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Enter early to check your camera framing and sound.</a:t>
            </a:r>
          </a:p>
          <a:p>
            <a:pPr>
              <a:lnSpc>
                <a:spcPct val="115000"/>
              </a:lnSpc>
              <a:spcAft>
                <a:spcPts val="100"/>
              </a:spcAft>
            </a:pPr>
            <a:r>
              <a:rPr sz="650" b="1">
                <a:solidFill>
                  <a:srgbClr val="EA580C"/>
                </a:solidFill>
                <a:latin typeface="Malgun Gothic"/>
              </a:rPr>
              <a:t>● </a:t>
            </a:r>
            <a:r>
              <a:rPr sz="850">
                <a:solidFill>
                  <a:srgbClr val="334155"/>
                </a:solidFill>
                <a:latin typeface="Malgun Gothic"/>
              </a:rPr>
              <a:t>Chrome/Edge recommended; avoid the KakaoTalk in-app browser.</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If a student can't enter, have them check browser permissions and type first.</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A 30-second check of background, lighting and sound after entering makes the lesson smooth.</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258007" y="2670048"/>
            <a:ext cx="9838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4030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4030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642055"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name</a:t>
            </a:r>
          </a:p>
        </p:txBody>
      </p:sp>
      <p:sp>
        <p:nvSpPr>
          <p:cNvPr id="28" name="TextBox 27"/>
          <p:cNvSpPr txBox="1"/>
          <p:nvPr/>
        </p:nvSpPr>
        <p:spPr>
          <a:xfrm>
            <a:off x="424190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4424781" y="2670048"/>
            <a:ext cx="141366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0707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07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808829"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room code</a:t>
            </a:r>
          </a:p>
        </p:txBody>
      </p:sp>
      <p:sp>
        <p:nvSpPr>
          <p:cNvPr id="33" name="TextBox 32"/>
          <p:cNvSpPr txBox="1"/>
          <p:nvPr/>
        </p:nvSpPr>
        <p:spPr>
          <a:xfrm>
            <a:off x="583844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6021324" y="2670048"/>
            <a:ext cx="106984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0362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036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405372"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Enter</a:t>
            </a:r>
          </a:p>
        </p:txBody>
      </p:sp>
      <p:sp>
        <p:nvSpPr>
          <p:cNvPr id="38" name="TextBox 37"/>
          <p:cNvSpPr txBox="1"/>
          <p:nvPr/>
        </p:nvSpPr>
        <p:spPr>
          <a:xfrm>
            <a:off x="709117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7274052"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35634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5634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65810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Wait for 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Classroom at a Glance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does the lesson screen look like?</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When you enter a lesson, the screen has three main areas: ① the top bar (room info, timer, language, dark mode), ② the large center workspace (where the board, materials, video, etc. open), and ③ the bottom control dock (camera, chat, leave). Your face video and the praise basket sit in a small window at the top-left.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2726283"/>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Top-left: `Room: mangoi-class · Users: 2` — the room name and how many people are connected.</a:t>
            </a:r>
          </a:p>
          <a:p>
            <a:pPr>
              <a:lnSpc>
                <a:spcPct val="115000"/>
              </a:lnSpc>
              <a:spcAft>
                <a:spcPts val="300"/>
              </a:spcAft>
            </a:pPr>
            <a:r>
              <a:rPr sz="700" b="1">
                <a:solidFill>
                  <a:srgbClr val="EA580C"/>
                </a:solidFill>
                <a:latin typeface="Malgun Gothic"/>
              </a:rPr>
              <a:t>● </a:t>
            </a:r>
            <a:r>
              <a:rPr sz="900">
                <a:solidFill>
                  <a:srgbClr val="334155"/>
                </a:solidFill>
                <a:latin typeface="Malgun Gothic"/>
              </a:rPr>
              <a:t>Top-right: ⏰ Timer (lesson time), 🔴 REC (recording indicator), 🌐 EN (switch language), 🌙 Dark (dark screen).</a:t>
            </a:r>
          </a:p>
          <a:p>
            <a:pPr>
              <a:lnSpc>
                <a:spcPct val="115000"/>
              </a:lnSpc>
              <a:spcAft>
                <a:spcPts val="300"/>
              </a:spcAft>
            </a:pPr>
            <a:r>
              <a:rPr sz="700" b="1">
                <a:solidFill>
                  <a:srgbClr val="EA580C"/>
                </a:solidFill>
                <a:latin typeface="Malgun Gothic"/>
              </a:rPr>
              <a:t>● </a:t>
            </a:r>
            <a:r>
              <a:rPr sz="900">
                <a:solidFill>
                  <a:srgbClr val="334155"/>
                </a:solidFill>
                <a:latin typeface="Malgun Gothic"/>
              </a:rPr>
              <a:t>Center: the tool you pick from the top tabs (board, materials, video…) opens here.</a:t>
            </a:r>
          </a:p>
          <a:p>
            <a:pPr>
              <a:lnSpc>
                <a:spcPct val="115000"/>
              </a:lnSpc>
              <a:spcAft>
                <a:spcPts val="300"/>
              </a:spcAft>
            </a:pPr>
            <a:r>
              <a:rPr sz="700" b="1">
                <a:solidFill>
                  <a:srgbClr val="EA580C"/>
                </a:solidFill>
                <a:latin typeface="Malgun Gothic"/>
              </a:rPr>
              <a:t>● </a:t>
            </a:r>
            <a:r>
              <a:rPr sz="900">
                <a:solidFill>
                  <a:srgbClr val="334155"/>
                </a:solidFill>
                <a:latin typeface="Malgun Gothic"/>
              </a:rPr>
              <a:t>Bottom-center: the control dock — camera, screen share, chat and leave buttons.</a:t>
            </a:r>
          </a:p>
          <a:p>
            <a:pPr>
              <a:lnSpc>
                <a:spcPct val="115000"/>
              </a:lnSpc>
              <a:spcAft>
                <a:spcPts val="300"/>
              </a:spcAft>
            </a:pPr>
            <a:r>
              <a:rPr sz="700" b="1">
                <a:solidFill>
                  <a:srgbClr val="EA580C"/>
                </a:solidFill>
                <a:latin typeface="Malgun Gothic"/>
              </a:rPr>
              <a:t>● </a:t>
            </a:r>
            <a:r>
              <a:rPr sz="900">
                <a:solidFill>
                  <a:srgbClr val="334155"/>
                </a:solidFill>
                <a:latin typeface="Malgun Gothic"/>
              </a:rPr>
              <a:t>Small window, top-left: your face video and the 🧺 praise basket (how many praises you received).</a:t>
            </a:r>
          </a:p>
        </p:txBody>
      </p:sp>
      <p:sp>
        <p:nvSpPr>
          <p:cNvPr id="14" name="Rounded Rectangle 13"/>
          <p:cNvSpPr/>
          <p:nvPr/>
        </p:nvSpPr>
        <p:spPr>
          <a:xfrm>
            <a:off x="457200" y="6566763"/>
            <a:ext cx="5669280" cy="1218895"/>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612483"/>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6859371"/>
            <a:ext cx="5394960" cy="889711"/>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Hover over a button to see its name (tooltip).</a:t>
            </a:r>
          </a:p>
          <a:p>
            <a:pPr>
              <a:lnSpc>
                <a:spcPct val="115000"/>
              </a:lnSpc>
              <a:spcAft>
                <a:spcPts val="100"/>
              </a:spcAft>
            </a:pPr>
            <a:r>
              <a:rPr sz="650" b="1">
                <a:solidFill>
                  <a:srgbClr val="EA580C"/>
                </a:solidFill>
                <a:latin typeface="Malgun Gothic"/>
              </a:rPr>
              <a:t>● </a:t>
            </a:r>
            <a:r>
              <a:rPr sz="850">
                <a:solidFill>
                  <a:srgbClr val="334155"/>
                </a:solidFill>
                <a:latin typeface="Malgun Gothic"/>
              </a:rPr>
              <a:t>If text looks Korean, press EN at the top-right to switch language.</a:t>
            </a:r>
          </a:p>
          <a:p>
            <a:pPr>
              <a:lnSpc>
                <a:spcPct val="115000"/>
              </a:lnSpc>
              <a:spcAft>
                <a:spcPts val="100"/>
              </a:spcAft>
            </a:pPr>
            <a:r>
              <a:rPr sz="650" b="1">
                <a:solidFill>
                  <a:srgbClr val="EA580C"/>
                </a:solidFill>
                <a:latin typeface="Malgun Gothic"/>
              </a:rPr>
              <a:t>● </a:t>
            </a:r>
            <a:r>
              <a:rPr sz="850">
                <a:solidFill>
                  <a:srgbClr val="334155"/>
                </a:solidFill>
                <a:latin typeface="Malgun Gothic"/>
              </a:rPr>
              <a:t>If the screen is too bright, switch to 🌙 Dark.</a:t>
            </a:r>
          </a:p>
        </p:txBody>
      </p:sp>
      <p:sp>
        <p:nvSpPr>
          <p:cNvPr id="17" name="Rounded Rectangle 16"/>
          <p:cNvSpPr/>
          <p:nvPr/>
        </p:nvSpPr>
        <p:spPr>
          <a:xfrm>
            <a:off x="365760" y="6172200"/>
            <a:ext cx="11457432"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It looks like a lot of buttons at first, but the four you use most are board, materials, camera and chat.</a:t>
            </a:r>
          </a:p>
        </p:txBody>
      </p:sp>
      <p:sp>
        <p:nvSpPr>
          <p:cNvPr id="19" name="Rectangle 18"/>
          <p:cNvSpPr/>
          <p:nvPr/>
        </p:nvSpPr>
        <p:spPr>
          <a:xfrm>
            <a:off x="6744078" y="3255264"/>
            <a:ext cx="4708403"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798942" y="3310128"/>
            <a:ext cx="4598675"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123236" y="2670048"/>
            <a:ext cx="132770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553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0553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507284"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Top-left</a:t>
            </a:r>
          </a:p>
        </p:txBody>
      </p:sp>
      <p:sp>
        <p:nvSpPr>
          <p:cNvPr id="26" name="TextBox 25"/>
          <p:cNvSpPr txBox="1"/>
          <p:nvPr/>
        </p:nvSpPr>
        <p:spPr>
          <a:xfrm>
            <a:off x="345094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3633825" y="2670048"/>
            <a:ext cx="141366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71612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16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017873"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Top-right</a:t>
            </a:r>
          </a:p>
        </p:txBody>
      </p:sp>
      <p:sp>
        <p:nvSpPr>
          <p:cNvPr id="31" name="TextBox 30"/>
          <p:cNvSpPr txBox="1"/>
          <p:nvPr/>
        </p:nvSpPr>
        <p:spPr>
          <a:xfrm>
            <a:off x="504748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5230368" y="2670048"/>
            <a:ext cx="115580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1266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1266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614416"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Center</a:t>
            </a:r>
          </a:p>
        </p:txBody>
      </p:sp>
      <p:sp>
        <p:nvSpPr>
          <p:cNvPr id="36" name="TextBox 35"/>
          <p:cNvSpPr txBox="1"/>
          <p:nvPr/>
        </p:nvSpPr>
        <p:spPr>
          <a:xfrm>
            <a:off x="638616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6569049"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65134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5134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695309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Bottom-cen…</a:t>
            </a:r>
          </a:p>
        </p:txBody>
      </p:sp>
      <p:sp>
        <p:nvSpPr>
          <p:cNvPr id="41" name="TextBox 40"/>
          <p:cNvSpPr txBox="1"/>
          <p:nvPr/>
        </p:nvSpPr>
        <p:spPr>
          <a:xfrm>
            <a:off x="822594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2" name="Rounded Rectangle 41"/>
          <p:cNvSpPr/>
          <p:nvPr/>
        </p:nvSpPr>
        <p:spPr>
          <a:xfrm>
            <a:off x="8408822"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49111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9111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879287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Small wind…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Switching the 6 Top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Video · Games · Background · AI Warm-up · Review Quiz</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At the top of the center workspace there are six tab buttons. Click one to switch to that tool. The active tab is highlighted.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2693822"/>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 Board: a whiteboard for writing and drawing while explaining.</a:t>
            </a:r>
          </a:p>
          <a:p>
            <a:pPr>
              <a:lnSpc>
                <a:spcPct val="115000"/>
              </a:lnSpc>
              <a:spcAft>
                <a:spcPts val="300"/>
              </a:spcAft>
            </a:pPr>
            <a:r>
              <a:rPr sz="700" b="1">
                <a:solidFill>
                  <a:srgbClr val="EA580C"/>
                </a:solidFill>
                <a:latin typeface="Malgun Gothic"/>
              </a:rPr>
              <a:t>● </a:t>
            </a:r>
            <a:r>
              <a:rPr sz="900">
                <a:solidFill>
                  <a:srgbClr val="334155"/>
                </a:solidFill>
                <a:latin typeface="Malgun Gothic"/>
              </a:rPr>
              <a:t>📹 Video: watch a YouTube link or a video file together.</a:t>
            </a:r>
          </a:p>
          <a:p>
            <a:pPr>
              <a:lnSpc>
                <a:spcPct val="115000"/>
              </a:lnSpc>
              <a:spcAft>
                <a:spcPts val="300"/>
              </a:spcAft>
            </a:pPr>
            <a:r>
              <a:rPr sz="700" b="1">
                <a:solidFill>
                  <a:srgbClr val="EA580C"/>
                </a:solidFill>
                <a:latin typeface="Malgun Gothic"/>
              </a:rPr>
              <a:t>● </a:t>
            </a:r>
            <a:r>
              <a:rPr sz="900">
                <a:solidFill>
                  <a:srgbClr val="334155"/>
                </a:solidFill>
                <a:latin typeface="Malgun Gothic"/>
              </a:rPr>
              <a:t>🎮 Games: open learning games during class (may be limited during lesson time).</a:t>
            </a:r>
          </a:p>
          <a:p>
            <a:pPr>
              <a:lnSpc>
                <a:spcPct val="115000"/>
              </a:lnSpc>
              <a:spcAft>
                <a:spcPts val="300"/>
              </a:spcAft>
            </a:pPr>
            <a:r>
              <a:rPr sz="700" b="1">
                <a:solidFill>
                  <a:srgbClr val="EA580C"/>
                </a:solidFill>
                <a:latin typeface="Malgun Gothic"/>
              </a:rPr>
              <a:t>● </a:t>
            </a:r>
            <a:r>
              <a:rPr sz="900">
                <a:solidFill>
                  <a:srgbClr val="334155"/>
                </a:solidFill>
                <a:latin typeface="Malgun Gothic"/>
              </a:rPr>
              <a:t>🎨 Background: change the backdrop behind your video and decorate your face.</a:t>
            </a:r>
          </a:p>
          <a:p>
            <a:pPr>
              <a:lnSpc>
                <a:spcPct val="115000"/>
              </a:lnSpc>
              <a:spcAft>
                <a:spcPts val="300"/>
              </a:spcAft>
            </a:pPr>
            <a:r>
              <a:rPr sz="700" b="1">
                <a:solidFill>
                  <a:srgbClr val="EA580C"/>
                </a:solidFill>
                <a:latin typeface="Malgun Gothic"/>
              </a:rPr>
              <a:t>● </a:t>
            </a:r>
            <a:r>
              <a:rPr sz="900">
                <a:solidFill>
                  <a:srgbClr val="334155"/>
                </a:solidFill>
                <a:latin typeface="Malgun Gothic"/>
              </a:rPr>
              <a:t>🗣️ AI Warm-up: an English warm-up before the lesson.</a:t>
            </a:r>
          </a:p>
          <a:p>
            <a:pPr>
              <a:lnSpc>
                <a:spcPct val="115000"/>
              </a:lnSpc>
              <a:spcAft>
                <a:spcPts val="300"/>
              </a:spcAft>
            </a:pPr>
            <a:r>
              <a:rPr sz="700" b="1">
                <a:solidFill>
                  <a:srgbClr val="EA580C"/>
                </a:solidFill>
                <a:latin typeface="Malgun Gothic"/>
              </a:rPr>
              <a:t>● </a:t>
            </a:r>
            <a:r>
              <a:rPr sz="900">
                <a:solidFill>
                  <a:srgbClr val="334155"/>
                </a:solidFill>
                <a:latin typeface="Malgun Gothic"/>
              </a:rPr>
              <a:t>🧠 Review Quiz: an AI-made quiz matched to this lesson's textbook and level.</a:t>
            </a:r>
          </a:p>
        </p:txBody>
      </p:sp>
      <p:sp>
        <p:nvSpPr>
          <p:cNvPr id="14" name="Rounded Rectangle 13"/>
          <p:cNvSpPr/>
          <p:nvPr/>
        </p:nvSpPr>
        <p:spPr>
          <a:xfrm>
            <a:off x="457200" y="6534302"/>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580022"/>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6826910"/>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Your face video stays visible even after switching tabs.</a:t>
            </a:r>
          </a:p>
          <a:p>
            <a:pPr>
              <a:lnSpc>
                <a:spcPct val="115000"/>
              </a:lnSpc>
              <a:spcAft>
                <a:spcPts val="100"/>
              </a:spcAft>
            </a:pPr>
            <a:r>
              <a:rPr sz="650" b="1">
                <a:solidFill>
                  <a:srgbClr val="EA580C"/>
                </a:solidFill>
                <a:latin typeface="Malgun Gothic"/>
              </a:rPr>
              <a:t>● </a:t>
            </a:r>
            <a:r>
              <a:rPr sz="850">
                <a:solidFill>
                  <a:srgbClr val="334155"/>
                </a:solidFill>
                <a:latin typeface="Malgun Gothic"/>
              </a:rPr>
              <a:t>At the far right of the tabs there are also 📚 Materials Tools ▾ and ✍️ Writing Tools ▾.</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Lessons mostly use the 🖊 Board and 📚 Materials the most.</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704441" y="2670048"/>
            <a:ext cx="106984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78673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8673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088489"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Board</a:t>
            </a:r>
          </a:p>
        </p:txBody>
      </p:sp>
      <p:sp>
        <p:nvSpPr>
          <p:cNvPr id="26" name="TextBox 25"/>
          <p:cNvSpPr txBox="1"/>
          <p:nvPr/>
        </p:nvSpPr>
        <p:spPr>
          <a:xfrm>
            <a:off x="277428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2957169" y="2670048"/>
            <a:ext cx="106984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03946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3946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3341217"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Video</a:t>
            </a:r>
          </a:p>
        </p:txBody>
      </p:sp>
      <p:sp>
        <p:nvSpPr>
          <p:cNvPr id="31" name="TextBox 30"/>
          <p:cNvSpPr txBox="1"/>
          <p:nvPr/>
        </p:nvSpPr>
        <p:spPr>
          <a:xfrm>
            <a:off x="402701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4209897" y="2670048"/>
            <a:ext cx="106984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29219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9219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4593945"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Games</a:t>
            </a:r>
          </a:p>
        </p:txBody>
      </p:sp>
      <p:sp>
        <p:nvSpPr>
          <p:cNvPr id="36" name="TextBox 35"/>
          <p:cNvSpPr txBox="1"/>
          <p:nvPr/>
        </p:nvSpPr>
        <p:spPr>
          <a:xfrm>
            <a:off x="527974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5462625" y="2670048"/>
            <a:ext cx="14996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54492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449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5846673"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Background</a:t>
            </a:r>
          </a:p>
        </p:txBody>
      </p:sp>
      <p:sp>
        <p:nvSpPr>
          <p:cNvPr id="41" name="TextBox 40"/>
          <p:cNvSpPr txBox="1"/>
          <p:nvPr/>
        </p:nvSpPr>
        <p:spPr>
          <a:xfrm>
            <a:off x="696224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2" name="Rounded Rectangle 41"/>
          <p:cNvSpPr/>
          <p:nvPr/>
        </p:nvSpPr>
        <p:spPr>
          <a:xfrm>
            <a:off x="7145121" y="2670048"/>
            <a:ext cx="14996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22741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2741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7529169"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Warm-up</a:t>
            </a:r>
          </a:p>
        </p:txBody>
      </p:sp>
      <p:sp>
        <p:nvSpPr>
          <p:cNvPr id="46" name="TextBox 45"/>
          <p:cNvSpPr txBox="1"/>
          <p:nvPr/>
        </p:nvSpPr>
        <p:spPr>
          <a:xfrm>
            <a:off x="864473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7" name="Rounded Rectangle 46"/>
          <p:cNvSpPr/>
          <p:nvPr/>
        </p:nvSpPr>
        <p:spPr>
          <a:xfrm>
            <a:off x="8827617"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90991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0991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6</a:t>
            </a:r>
          </a:p>
        </p:txBody>
      </p:sp>
      <p:sp>
        <p:nvSpPr>
          <p:cNvPr id="50" name="TextBox 49"/>
          <p:cNvSpPr txBox="1"/>
          <p:nvPr/>
        </p:nvSpPr>
        <p:spPr>
          <a:xfrm>
            <a:off x="921166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Review Qui…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Board Tools, One by One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eraser · shapes · text · save</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Open the 🖊 Board tab and a row of drawing tools appears at the top. Let's go through each button from left to right.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2982315"/>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 Pen: draw freely. / 🧽 Eraser: erase what you drew.</a:t>
            </a:r>
          </a:p>
          <a:p>
            <a:pPr>
              <a:lnSpc>
                <a:spcPct val="115000"/>
              </a:lnSpc>
              <a:spcAft>
                <a:spcPts val="300"/>
              </a:spcAft>
            </a:pPr>
            <a:r>
              <a:rPr sz="700" b="1">
                <a:solidFill>
                  <a:srgbClr val="EA580C"/>
                </a:solidFill>
                <a:latin typeface="Malgun Gothic"/>
              </a:rPr>
              <a:t>● </a:t>
            </a:r>
            <a:r>
              <a:rPr sz="900">
                <a:solidFill>
                  <a:srgbClr val="334155"/>
                </a:solidFill>
                <a:latin typeface="Malgun Gothic"/>
              </a:rPr>
              <a:t>📏 Line / ⬜ Rectangle / ⭕ Circle: draw straight lines and shapes.</a:t>
            </a:r>
          </a:p>
          <a:p>
            <a:pPr>
              <a:lnSpc>
                <a:spcPct val="115000"/>
              </a:lnSpc>
              <a:spcAft>
                <a:spcPts val="300"/>
              </a:spcAft>
            </a:pPr>
            <a:r>
              <a:rPr sz="700" b="1">
                <a:solidFill>
                  <a:srgbClr val="EA580C"/>
                </a:solidFill>
                <a:latin typeface="Malgun Gothic"/>
              </a:rPr>
              <a:t>● </a:t>
            </a:r>
            <a:r>
              <a:rPr sz="900">
                <a:solidFill>
                  <a:srgbClr val="334155"/>
                </a:solidFill>
                <a:latin typeface="Malgun Gothic"/>
              </a:rPr>
              <a:t>📝 Text: type letters with the keyboard.</a:t>
            </a:r>
          </a:p>
          <a:p>
            <a:pPr>
              <a:lnSpc>
                <a:spcPct val="115000"/>
              </a:lnSpc>
              <a:spcAft>
                <a:spcPts val="300"/>
              </a:spcAft>
            </a:pPr>
            <a:r>
              <a:rPr sz="700" b="1">
                <a:solidFill>
                  <a:srgbClr val="EA580C"/>
                </a:solidFill>
                <a:latin typeface="Malgun Gothic"/>
              </a:rPr>
              <a:t>● </a:t>
            </a:r>
            <a:r>
              <a:rPr sz="900">
                <a:solidFill>
                  <a:srgbClr val="334155"/>
                </a:solidFill>
                <a:latin typeface="Malgun Gothic"/>
              </a:rPr>
              <a:t>🎨 Color (color box): pick the pen color. / Thickness (slider): adjust line width.</a:t>
            </a:r>
          </a:p>
          <a:p>
            <a:pPr>
              <a:lnSpc>
                <a:spcPct val="115000"/>
              </a:lnSpc>
              <a:spcAft>
                <a:spcPts val="300"/>
              </a:spcAft>
            </a:pPr>
            <a:r>
              <a:rPr sz="700" b="1">
                <a:solidFill>
                  <a:srgbClr val="EA580C"/>
                </a:solidFill>
                <a:latin typeface="Malgun Gothic"/>
              </a:rPr>
              <a:t>● </a:t>
            </a:r>
            <a:r>
              <a:rPr sz="900">
                <a:solidFill>
                  <a:srgbClr val="334155"/>
                </a:solidFill>
                <a:latin typeface="Malgun Gothic"/>
              </a:rPr>
              <a:t>✨ AI Shapes: even rough drawings snap into neat shapes automatically.</a:t>
            </a:r>
          </a:p>
          <a:p>
            <a:pPr>
              <a:lnSpc>
                <a:spcPct val="115000"/>
              </a:lnSpc>
              <a:spcAft>
                <a:spcPts val="300"/>
              </a:spcAft>
            </a:pPr>
            <a:r>
              <a:rPr sz="700" b="1">
                <a:solidFill>
                  <a:srgbClr val="EA580C"/>
                </a:solidFill>
                <a:latin typeface="Malgun Gothic"/>
              </a:rPr>
              <a:t>● </a:t>
            </a:r>
            <a:r>
              <a:rPr sz="900">
                <a:solidFill>
                  <a:srgbClr val="334155"/>
                </a:solidFill>
                <a:latin typeface="Malgun Gothic"/>
              </a:rPr>
              <a:t>✍️ AI Text: recognizes handwriting and turns it into clean typed text.</a:t>
            </a:r>
          </a:p>
          <a:p>
            <a:pPr>
              <a:lnSpc>
                <a:spcPct val="115000"/>
              </a:lnSpc>
              <a:spcAft>
                <a:spcPts val="300"/>
              </a:spcAft>
            </a:pPr>
            <a:r>
              <a:rPr sz="700" b="1">
                <a:solidFill>
                  <a:srgbClr val="EA580C"/>
                </a:solidFill>
                <a:latin typeface="Malgun Gothic"/>
              </a:rPr>
              <a:t>● </a:t>
            </a:r>
            <a:r>
              <a:rPr sz="900">
                <a:solidFill>
                  <a:srgbClr val="334155"/>
                </a:solidFill>
                <a:latin typeface="Malgun Gothic"/>
              </a:rPr>
              <a:t>🗑️ Clear All: wipe the whole board. / 💾 Save: save the board as an image.</a:t>
            </a:r>
          </a:p>
        </p:txBody>
      </p:sp>
      <p:sp>
        <p:nvSpPr>
          <p:cNvPr id="14" name="Rounded Rectangle 13"/>
          <p:cNvSpPr/>
          <p:nvPr/>
        </p:nvSpPr>
        <p:spPr>
          <a:xfrm>
            <a:off x="457200" y="6822795"/>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868515"/>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7115403"/>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Change color and thickness to highlight key parts so they stick.</a:t>
            </a:r>
          </a:p>
          <a:p>
            <a:pPr>
              <a:lnSpc>
                <a:spcPct val="115000"/>
              </a:lnSpc>
              <a:spcAft>
                <a:spcPts val="100"/>
              </a:spcAft>
            </a:pPr>
            <a:r>
              <a:rPr sz="650" b="1">
                <a:solidFill>
                  <a:srgbClr val="EA580C"/>
                </a:solidFill>
                <a:latin typeface="Malgun Gothic"/>
              </a:rPr>
              <a:t>● </a:t>
            </a:r>
            <a:r>
              <a:rPr sz="850">
                <a:solidFill>
                  <a:srgbClr val="334155"/>
                </a:solidFill>
                <a:latin typeface="Malgun Gothic"/>
              </a:rPr>
              <a:t>AI Shapes / AI Text auto-tidy when turned on (experimental).</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Pressing Save (💾) downloads the current board as an image you can use for review.</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Save (💾) the board before class ends to keep exactly what you learned today.</a:t>
            </a:r>
          </a:p>
        </p:txBody>
      </p:sp>
      <p:sp>
        <p:nvSpPr>
          <p:cNvPr id="21" name="Rectangle 20"/>
          <p:cNvSpPr/>
          <p:nvPr/>
        </p:nvSpPr>
        <p:spPr>
          <a:xfrm>
            <a:off x="6870965" y="3255264"/>
            <a:ext cx="4454629"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925829" y="3310128"/>
            <a:ext cx="4344901"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543507" y="2670048"/>
            <a:ext cx="8979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62580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2580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927555" y="2670048"/>
            <a:ext cx="4773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Pen</a:t>
            </a:r>
          </a:p>
        </p:txBody>
      </p:sp>
      <p:sp>
        <p:nvSpPr>
          <p:cNvPr id="28" name="TextBox 27"/>
          <p:cNvSpPr txBox="1"/>
          <p:nvPr/>
        </p:nvSpPr>
        <p:spPr>
          <a:xfrm>
            <a:off x="244144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2624327" y="2670048"/>
            <a:ext cx="9838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70662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0662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008375"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Line</a:t>
            </a:r>
          </a:p>
        </p:txBody>
      </p:sp>
      <p:sp>
        <p:nvSpPr>
          <p:cNvPr id="33" name="TextBox 32"/>
          <p:cNvSpPr txBox="1"/>
          <p:nvPr/>
        </p:nvSpPr>
        <p:spPr>
          <a:xfrm>
            <a:off x="360822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3791102" y="2670048"/>
            <a:ext cx="9838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87339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733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4175150"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Text</a:t>
            </a:r>
          </a:p>
        </p:txBody>
      </p:sp>
      <p:sp>
        <p:nvSpPr>
          <p:cNvPr id="38" name="TextBox 37"/>
          <p:cNvSpPr txBox="1"/>
          <p:nvPr/>
        </p:nvSpPr>
        <p:spPr>
          <a:xfrm>
            <a:off x="477499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4957876" y="2670048"/>
            <a:ext cx="106984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04017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4017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5341924"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Color</a:t>
            </a:r>
          </a:p>
        </p:txBody>
      </p:sp>
      <p:sp>
        <p:nvSpPr>
          <p:cNvPr id="43" name="TextBox 42"/>
          <p:cNvSpPr txBox="1"/>
          <p:nvPr/>
        </p:nvSpPr>
        <p:spPr>
          <a:xfrm>
            <a:off x="602772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4" name="Rounded Rectangle 43"/>
          <p:cNvSpPr/>
          <p:nvPr/>
        </p:nvSpPr>
        <p:spPr>
          <a:xfrm>
            <a:off x="6210604" y="2670048"/>
            <a:ext cx="141366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29290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929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6594652"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Shapes</a:t>
            </a:r>
          </a:p>
        </p:txBody>
      </p:sp>
      <p:sp>
        <p:nvSpPr>
          <p:cNvPr id="48" name="TextBox 47"/>
          <p:cNvSpPr txBox="1"/>
          <p:nvPr/>
        </p:nvSpPr>
        <p:spPr>
          <a:xfrm>
            <a:off x="762426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9" name="Rounded Rectangle 48"/>
          <p:cNvSpPr/>
          <p:nvPr/>
        </p:nvSpPr>
        <p:spPr>
          <a:xfrm>
            <a:off x="7807147" y="2670048"/>
            <a:ext cx="124175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88944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894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6</a:t>
            </a:r>
          </a:p>
        </p:txBody>
      </p:sp>
      <p:sp>
        <p:nvSpPr>
          <p:cNvPr id="52" name="TextBox 51"/>
          <p:cNvSpPr txBox="1"/>
          <p:nvPr/>
        </p:nvSpPr>
        <p:spPr>
          <a:xfrm>
            <a:off x="8191195"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Text</a:t>
            </a:r>
          </a:p>
        </p:txBody>
      </p:sp>
      <p:sp>
        <p:nvSpPr>
          <p:cNvPr id="53" name="TextBox 52"/>
          <p:cNvSpPr txBox="1"/>
          <p:nvPr/>
        </p:nvSpPr>
        <p:spPr>
          <a:xfrm>
            <a:off x="904890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54" name="Rounded Rectangle 53"/>
          <p:cNvSpPr/>
          <p:nvPr/>
        </p:nvSpPr>
        <p:spPr>
          <a:xfrm>
            <a:off x="9231782" y="2670048"/>
            <a:ext cx="141366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31407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31407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7</a:t>
            </a:r>
          </a:p>
        </p:txBody>
      </p:sp>
      <p:sp>
        <p:nvSpPr>
          <p:cNvPr id="57" name="TextBox 56"/>
          <p:cNvSpPr txBox="1"/>
          <p:nvPr/>
        </p:nvSpPr>
        <p:spPr>
          <a:xfrm>
            <a:off x="9615830"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Clear 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Materials Tools (share PDF/photos)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Upload · library · turn pages</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Click 📚 Materials Tools ▾ at the right of the tabs and a menu drops down. This is where you upload textbooks (PDF/photos) to view together.</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2372868"/>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 Upload (PDF/JPG/PNG): upload a textbook file from your device to share.</a:t>
            </a:r>
          </a:p>
          <a:p>
            <a:pPr>
              <a:lnSpc>
                <a:spcPct val="115000"/>
              </a:lnSpc>
              <a:spcAft>
                <a:spcPts val="300"/>
              </a:spcAft>
            </a:pPr>
            <a:r>
              <a:rPr sz="700" b="1">
                <a:solidFill>
                  <a:srgbClr val="EA580C"/>
                </a:solidFill>
                <a:latin typeface="Malgun Gothic"/>
              </a:rPr>
              <a:t>● </a:t>
            </a:r>
            <a:r>
              <a:rPr sz="900">
                <a:solidFill>
                  <a:srgbClr val="334155"/>
                </a:solidFill>
                <a:latin typeface="Malgun Gothic"/>
              </a:rPr>
              <a:t>📚 Library: pick from textbooks the academy (admin) uploaded.</a:t>
            </a:r>
          </a:p>
          <a:p>
            <a:pPr>
              <a:lnSpc>
                <a:spcPct val="115000"/>
              </a:lnSpc>
              <a:spcAft>
                <a:spcPts val="300"/>
              </a:spcAft>
            </a:pPr>
            <a:r>
              <a:rPr sz="700" b="1">
                <a:solidFill>
                  <a:srgbClr val="EA580C"/>
                </a:solidFill>
                <a:latin typeface="Malgun Gothic"/>
              </a:rPr>
              <a:t>● </a:t>
            </a:r>
            <a:r>
              <a:rPr sz="900">
                <a:solidFill>
                  <a:srgbClr val="334155"/>
                </a:solidFill>
                <a:latin typeface="Malgun Gothic"/>
              </a:rPr>
              <a:t>⬇ Download: download the file you're currently viewing.</a:t>
            </a:r>
          </a:p>
          <a:p>
            <a:pPr>
              <a:lnSpc>
                <a:spcPct val="115000"/>
              </a:lnSpc>
              <a:spcAft>
                <a:spcPts val="300"/>
              </a:spcAft>
            </a:pPr>
            <a:r>
              <a:rPr sz="700" b="1">
                <a:solidFill>
                  <a:srgbClr val="EA580C"/>
                </a:solidFill>
                <a:latin typeface="Malgun Gothic"/>
              </a:rPr>
              <a:t>● </a:t>
            </a:r>
            <a:r>
              <a:rPr sz="900">
                <a:solidFill>
                  <a:srgbClr val="334155"/>
                </a:solidFill>
                <a:latin typeface="Malgun Gothic"/>
              </a:rPr>
              <a:t>◀ Prev / Next ▶: turn textbook pages.</a:t>
            </a:r>
          </a:p>
          <a:p>
            <a:pPr>
              <a:lnSpc>
                <a:spcPct val="115000"/>
              </a:lnSpc>
              <a:spcAft>
                <a:spcPts val="300"/>
              </a:spcAft>
            </a:pPr>
            <a:r>
              <a:rPr sz="700" b="1">
                <a:solidFill>
                  <a:srgbClr val="EA580C"/>
                </a:solidFill>
                <a:latin typeface="Malgun Gothic"/>
              </a:rPr>
              <a:t>● </a:t>
            </a:r>
            <a:r>
              <a:rPr sz="900">
                <a:solidFill>
                  <a:srgbClr val="334155"/>
                </a:solidFill>
                <a:latin typeface="Malgun Gothic"/>
              </a:rPr>
              <a:t>🔲 Fit / 100% / 1:1: fit the page to the screen or view at real size.</a:t>
            </a:r>
          </a:p>
          <a:p>
            <a:pPr>
              <a:lnSpc>
                <a:spcPct val="115000"/>
              </a:lnSpc>
              <a:spcAft>
                <a:spcPts val="300"/>
              </a:spcAft>
            </a:pPr>
            <a:r>
              <a:rPr sz="700" b="1">
                <a:solidFill>
                  <a:srgbClr val="EA580C"/>
                </a:solidFill>
                <a:latin typeface="Malgun Gothic"/>
              </a:rPr>
              <a:t>● </a:t>
            </a:r>
            <a:r>
              <a:rPr sz="900">
                <a:solidFill>
                  <a:srgbClr val="334155"/>
                </a:solidFill>
                <a:latin typeface="Malgun Gothic"/>
              </a:rPr>
              <a:t>⏹ Stop sharing: end textbook sharing.</a:t>
            </a:r>
          </a:p>
        </p:txBody>
      </p:sp>
      <p:sp>
        <p:nvSpPr>
          <p:cNvPr id="14" name="Rounded Rectangle 13"/>
          <p:cNvSpPr/>
          <p:nvPr/>
        </p:nvSpPr>
        <p:spPr>
          <a:xfrm>
            <a:off x="457200" y="6213348"/>
            <a:ext cx="5669280" cy="985037"/>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259068"/>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6505956"/>
            <a:ext cx="5394960" cy="655853"/>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The moment you upload, the other person sees the exact same page.</a:t>
            </a:r>
          </a:p>
          <a:p>
            <a:pPr>
              <a:lnSpc>
                <a:spcPct val="115000"/>
              </a:lnSpc>
              <a:spcAft>
                <a:spcPts val="100"/>
              </a:spcAft>
            </a:pPr>
            <a:r>
              <a:rPr sz="650" b="1">
                <a:solidFill>
                  <a:srgbClr val="EA580C"/>
                </a:solidFill>
                <a:latin typeface="Malgun Gothic"/>
              </a:rPr>
              <a:t>● </a:t>
            </a:r>
            <a:r>
              <a:rPr sz="850">
                <a:solidFill>
                  <a:srgbClr val="334155"/>
                </a:solidFill>
                <a:latin typeface="Malgun Gothic"/>
              </a:rPr>
              <a:t>Not only PDFs — JPG and PNG photos work too.</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Upload the textbook before class for a smooth start.</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754733"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83702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8370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1387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Upload (PD…</a:t>
            </a:r>
          </a:p>
        </p:txBody>
      </p:sp>
      <p:sp>
        <p:nvSpPr>
          <p:cNvPr id="26" name="TextBox 25"/>
          <p:cNvSpPr txBox="1"/>
          <p:nvPr/>
        </p:nvSpPr>
        <p:spPr>
          <a:xfrm>
            <a:off x="341162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3594506" y="2670048"/>
            <a:ext cx="124175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7680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768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3978554"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Library</a:t>
            </a:r>
          </a:p>
        </p:txBody>
      </p:sp>
      <p:sp>
        <p:nvSpPr>
          <p:cNvPr id="31" name="TextBox 30"/>
          <p:cNvSpPr txBox="1"/>
          <p:nvPr/>
        </p:nvSpPr>
        <p:spPr>
          <a:xfrm>
            <a:off x="483626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5019141" y="2670048"/>
            <a:ext cx="132770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10143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0143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403189"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Download</a:t>
            </a:r>
          </a:p>
        </p:txBody>
      </p:sp>
      <p:sp>
        <p:nvSpPr>
          <p:cNvPr id="36" name="TextBox 35"/>
          <p:cNvSpPr txBox="1"/>
          <p:nvPr/>
        </p:nvSpPr>
        <p:spPr>
          <a:xfrm>
            <a:off x="634685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6529730" y="2670048"/>
            <a:ext cx="9838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61202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1202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6913778"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Prev</a:t>
            </a:r>
          </a:p>
        </p:txBody>
      </p:sp>
      <p:sp>
        <p:nvSpPr>
          <p:cNvPr id="41" name="TextBox 40"/>
          <p:cNvSpPr txBox="1"/>
          <p:nvPr/>
        </p:nvSpPr>
        <p:spPr>
          <a:xfrm>
            <a:off x="751362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2" name="Rounded Rectangle 41"/>
          <p:cNvSpPr/>
          <p:nvPr/>
        </p:nvSpPr>
        <p:spPr>
          <a:xfrm>
            <a:off x="7696504" y="2670048"/>
            <a:ext cx="8979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77880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88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8080552" y="2670048"/>
            <a:ext cx="4773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Fit</a:t>
            </a:r>
          </a:p>
        </p:txBody>
      </p:sp>
      <p:sp>
        <p:nvSpPr>
          <p:cNvPr id="46" name="TextBox 45"/>
          <p:cNvSpPr txBox="1"/>
          <p:nvPr/>
        </p:nvSpPr>
        <p:spPr>
          <a:xfrm>
            <a:off x="859444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7" name="Rounded Rectangle 46"/>
          <p:cNvSpPr/>
          <p:nvPr/>
        </p:nvSpPr>
        <p:spPr>
          <a:xfrm>
            <a:off x="8777325"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85962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596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6</a:t>
            </a:r>
          </a:p>
        </p:txBody>
      </p:sp>
      <p:sp>
        <p:nvSpPr>
          <p:cNvPr id="50" name="TextBox 49"/>
          <p:cNvSpPr txBox="1"/>
          <p:nvPr/>
        </p:nvSpPr>
        <p:spPr>
          <a:xfrm>
            <a:off x="916137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Stop shari…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Writing Tools (annotate on top)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highlighter · text · undo</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Click ✍️ Writing Tools ▾ at the right of the tabs and the writing menu drops down. Use it to write directly on top of a textbook or the screen.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923897"/>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 Pen: write freely on the screen. / 🖍 Highlighter: brightly mark important spots.</a:t>
            </a:r>
          </a:p>
          <a:p>
            <a:pPr>
              <a:lnSpc>
                <a:spcPct val="115000"/>
              </a:lnSpc>
              <a:spcAft>
                <a:spcPts val="300"/>
              </a:spcAft>
            </a:pPr>
            <a:r>
              <a:rPr sz="700" b="1">
                <a:solidFill>
                  <a:srgbClr val="EA580C"/>
                </a:solidFill>
                <a:latin typeface="Malgun Gothic"/>
              </a:rPr>
              <a:t>● </a:t>
            </a:r>
            <a:r>
              <a:rPr sz="900">
                <a:solidFill>
                  <a:srgbClr val="334155"/>
                </a:solidFill>
                <a:latin typeface="Malgun Gothic"/>
              </a:rPr>
              <a:t>🧽 Eraser: erase your writing. / 📝 Text: type letters.</a:t>
            </a:r>
          </a:p>
          <a:p>
            <a:pPr>
              <a:lnSpc>
                <a:spcPct val="115000"/>
              </a:lnSpc>
              <a:spcAft>
                <a:spcPts val="300"/>
              </a:spcAft>
            </a:pPr>
            <a:r>
              <a:rPr sz="700" b="1">
                <a:solidFill>
                  <a:srgbClr val="EA580C"/>
                </a:solidFill>
                <a:latin typeface="Malgun Gothic"/>
              </a:rPr>
              <a:t>● </a:t>
            </a:r>
            <a:r>
              <a:rPr sz="900">
                <a:solidFill>
                  <a:srgbClr val="334155"/>
                </a:solidFill>
                <a:latin typeface="Malgun Gothic"/>
              </a:rPr>
              <a:t>✨ AI Shapes: tidy your drawn shapes.</a:t>
            </a:r>
          </a:p>
          <a:p>
            <a:pPr>
              <a:lnSpc>
                <a:spcPct val="115000"/>
              </a:lnSpc>
              <a:spcAft>
                <a:spcPts val="300"/>
              </a:spcAft>
            </a:pPr>
            <a:r>
              <a:rPr sz="700" b="1">
                <a:solidFill>
                  <a:srgbClr val="EA580C"/>
                </a:solidFill>
                <a:latin typeface="Malgun Gothic"/>
              </a:rPr>
              <a:t>● </a:t>
            </a:r>
            <a:r>
              <a:rPr sz="900">
                <a:solidFill>
                  <a:srgbClr val="334155"/>
                </a:solidFill>
                <a:latin typeface="Malgun Gothic"/>
              </a:rPr>
              <a:t>Thickness (slider): adjust the pen width.</a:t>
            </a:r>
          </a:p>
          <a:p>
            <a:pPr>
              <a:lnSpc>
                <a:spcPct val="115000"/>
              </a:lnSpc>
              <a:spcAft>
                <a:spcPts val="300"/>
              </a:spcAft>
            </a:pPr>
            <a:r>
              <a:rPr sz="700" b="1">
                <a:solidFill>
                  <a:srgbClr val="EA580C"/>
                </a:solidFill>
                <a:latin typeface="Malgun Gothic"/>
              </a:rPr>
              <a:t>● </a:t>
            </a:r>
            <a:r>
              <a:rPr sz="900">
                <a:solidFill>
                  <a:srgbClr val="334155"/>
                </a:solidFill>
                <a:latin typeface="Malgun Gothic"/>
              </a:rPr>
              <a:t>↩ Undo: cancel your last mark. / 🗑 Clear: erase all writing.</a:t>
            </a:r>
          </a:p>
        </p:txBody>
      </p:sp>
      <p:sp>
        <p:nvSpPr>
          <p:cNvPr id="14" name="Rounded Rectangle 13"/>
          <p:cNvSpPr/>
          <p:nvPr/>
        </p:nvSpPr>
        <p:spPr>
          <a:xfrm>
            <a:off x="457200" y="5764377"/>
            <a:ext cx="5669280" cy="985037"/>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10097"/>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6056985"/>
            <a:ext cx="5394960" cy="655853"/>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With a textbook open, your writing appears right on top of it.</a:t>
            </a:r>
          </a:p>
          <a:p>
            <a:pPr>
              <a:lnSpc>
                <a:spcPct val="115000"/>
              </a:lnSpc>
              <a:spcAft>
                <a:spcPts val="100"/>
              </a:spcAft>
            </a:pPr>
            <a:r>
              <a:rPr sz="650" b="1">
                <a:solidFill>
                  <a:srgbClr val="EA580C"/>
                </a:solidFill>
                <a:latin typeface="Malgun Gothic"/>
              </a:rPr>
              <a:t>● </a:t>
            </a:r>
            <a:r>
              <a:rPr sz="850">
                <a:solidFill>
                  <a:srgbClr val="334155"/>
                </a:solidFill>
                <a:latin typeface="Malgun Gothic"/>
              </a:rPr>
              <a:t>Highlight key words to make them stand out.</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Made a mistake? One tap on ↩ Undo cleans it up.</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6235" y="2670048"/>
            <a:ext cx="8979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87853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785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180283" y="2670048"/>
            <a:ext cx="4773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Pen</a:t>
            </a:r>
          </a:p>
        </p:txBody>
      </p:sp>
      <p:sp>
        <p:nvSpPr>
          <p:cNvPr id="26" name="TextBox 25"/>
          <p:cNvSpPr txBox="1"/>
          <p:nvPr/>
        </p:nvSpPr>
        <p:spPr>
          <a:xfrm>
            <a:off x="369417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3877056" y="2670048"/>
            <a:ext cx="115580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95935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593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261104"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Eraser</a:t>
            </a:r>
          </a:p>
        </p:txBody>
      </p:sp>
      <p:sp>
        <p:nvSpPr>
          <p:cNvPr id="31" name="TextBox 30"/>
          <p:cNvSpPr txBox="1"/>
          <p:nvPr/>
        </p:nvSpPr>
        <p:spPr>
          <a:xfrm>
            <a:off x="503285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5215737" y="2670048"/>
            <a:ext cx="141366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29803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803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599785"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Shapes</a:t>
            </a:r>
          </a:p>
        </p:txBody>
      </p:sp>
      <p:sp>
        <p:nvSpPr>
          <p:cNvPr id="36" name="TextBox 35"/>
          <p:cNvSpPr txBox="1"/>
          <p:nvPr/>
        </p:nvSpPr>
        <p:spPr>
          <a:xfrm>
            <a:off x="662940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6812280" y="2670048"/>
            <a:ext cx="141366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9457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9457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196328"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Thickness</a:t>
            </a:r>
          </a:p>
        </p:txBody>
      </p:sp>
      <p:sp>
        <p:nvSpPr>
          <p:cNvPr id="41" name="TextBox 40"/>
          <p:cNvSpPr txBox="1"/>
          <p:nvPr/>
        </p:nvSpPr>
        <p:spPr>
          <a:xfrm>
            <a:off x="822594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2" name="Rounded Rectangle 41"/>
          <p:cNvSpPr/>
          <p:nvPr/>
        </p:nvSpPr>
        <p:spPr>
          <a:xfrm>
            <a:off x="8408822" y="2670048"/>
            <a:ext cx="9838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49111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9111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8792870"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Undo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Watch Video Together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Share YouTube · video files</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In the 📹 Video tab you can paste a YouTube link or upload a video file to watch together — great for songs and video materials.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025956"/>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Paste a YouTube link (URL) into the box, or upload a video file.</a:t>
            </a:r>
          </a:p>
          <a:p>
            <a:pPr>
              <a:lnSpc>
                <a:spcPct val="115000"/>
              </a:lnSpc>
              <a:spcAft>
                <a:spcPts val="300"/>
              </a:spcAft>
            </a:pPr>
            <a:r>
              <a:rPr sz="700" b="1">
                <a:solidFill>
                  <a:srgbClr val="EA580C"/>
                </a:solidFill>
                <a:latin typeface="Malgun Gothic"/>
              </a:rPr>
              <a:t>● </a:t>
            </a:r>
            <a:r>
              <a:rPr sz="900">
                <a:solidFill>
                  <a:srgbClr val="334155"/>
                </a:solidFill>
                <a:latin typeface="Malgun Gothic"/>
              </a:rPr>
              <a:t>Press ▶ Play URL / Play to start the video.</a:t>
            </a:r>
          </a:p>
          <a:p>
            <a:pPr>
              <a:lnSpc>
                <a:spcPct val="115000"/>
              </a:lnSpc>
              <a:spcAft>
                <a:spcPts val="300"/>
              </a:spcAft>
            </a:pPr>
            <a:r>
              <a:rPr sz="700" b="1">
                <a:solidFill>
                  <a:srgbClr val="EA580C"/>
                </a:solidFill>
                <a:latin typeface="Malgun Gothic"/>
              </a:rPr>
              <a:t>● </a:t>
            </a:r>
            <a:r>
              <a:rPr sz="900">
                <a:solidFill>
                  <a:srgbClr val="334155"/>
                </a:solidFill>
                <a:latin typeface="Malgun Gothic"/>
              </a:rPr>
              <a:t>Use New video to switch to a different one.</a:t>
            </a:r>
          </a:p>
        </p:txBody>
      </p:sp>
      <p:sp>
        <p:nvSpPr>
          <p:cNvPr id="14" name="Rounded Rectangle 13"/>
          <p:cNvSpPr/>
          <p:nvPr/>
        </p:nvSpPr>
        <p:spPr>
          <a:xfrm>
            <a:off x="457200" y="4866436"/>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912156"/>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159044"/>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The video plays on the other person's screen too.</a:t>
            </a:r>
          </a:p>
          <a:p>
            <a:pPr>
              <a:lnSpc>
                <a:spcPct val="115000"/>
              </a:lnSpc>
              <a:spcAft>
                <a:spcPts val="100"/>
              </a:spcAft>
            </a:pPr>
            <a:r>
              <a:rPr sz="650" b="1">
                <a:solidFill>
                  <a:srgbClr val="EA580C"/>
                </a:solidFill>
                <a:latin typeface="Malgun Gothic"/>
              </a:rPr>
              <a:t>● </a:t>
            </a:r>
            <a:r>
              <a:rPr sz="850">
                <a:solidFill>
                  <a:srgbClr val="334155"/>
                </a:solidFill>
                <a:latin typeface="Malgun Gothic"/>
              </a:rPr>
              <a:t>For sound-heavy material, earphones help you hear better.</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Prepare the video link in advance so you can play it instantly in class.</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712463"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9475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947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09651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YouTube li…</a:t>
            </a:r>
          </a:p>
        </p:txBody>
      </p:sp>
      <p:sp>
        <p:nvSpPr>
          <p:cNvPr id="26" name="TextBox 25"/>
          <p:cNvSpPr txBox="1"/>
          <p:nvPr/>
        </p:nvSpPr>
        <p:spPr>
          <a:xfrm>
            <a:off x="536935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552236" y="2670048"/>
            <a:ext cx="132770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63453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3453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936284"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Play URL</a:t>
            </a:r>
          </a:p>
        </p:txBody>
      </p:sp>
      <p:sp>
        <p:nvSpPr>
          <p:cNvPr id="31" name="TextBox 30"/>
          <p:cNvSpPr txBox="1"/>
          <p:nvPr/>
        </p:nvSpPr>
        <p:spPr>
          <a:xfrm>
            <a:off x="687994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062825" y="2670048"/>
            <a:ext cx="141366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4512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45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46873" y="2670048"/>
            <a:ext cx="9930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New video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Background &amp; Face Decorations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Change backdrop · masks · accessories</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In the 🎨 Background tab you can change the backdrop behind your face and add fun decorations. Just click what you want in the grid.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In the background grid, tap a backdrop (space, desert, forest, cherry blossom, beach, pyramids…).</a:t>
            </a:r>
          </a:p>
          <a:p>
            <a:pPr>
              <a:lnSpc>
                <a:spcPct val="115000"/>
              </a:lnSpc>
              <a:spcAft>
                <a:spcPts val="300"/>
              </a:spcAft>
            </a:pPr>
            <a:r>
              <a:rPr sz="700" b="1">
                <a:solidFill>
                  <a:srgbClr val="EA580C"/>
                </a:solidFill>
                <a:latin typeface="Malgun Gothic"/>
              </a:rPr>
              <a:t>● </a:t>
            </a:r>
            <a:r>
              <a:rPr sz="900">
                <a:solidFill>
                  <a:srgbClr val="334155"/>
                </a:solidFill>
                <a:latin typeface="Malgun Gothic"/>
              </a:rPr>
              <a:t>Tap Background off to return to your normal camera view.</a:t>
            </a:r>
          </a:p>
          <a:p>
            <a:pPr>
              <a:lnSpc>
                <a:spcPct val="115000"/>
              </a:lnSpc>
              <a:spcAft>
                <a:spcPts val="300"/>
              </a:spcAft>
            </a:pPr>
            <a:r>
              <a:rPr sz="700" b="1">
                <a:solidFill>
                  <a:srgbClr val="EA580C"/>
                </a:solidFill>
                <a:latin typeface="Malgun Gothic"/>
              </a:rPr>
              <a:t>● </a:t>
            </a:r>
            <a:r>
              <a:rPr sz="900">
                <a:solidFill>
                  <a:srgbClr val="334155"/>
                </a:solidFill>
                <a:latin typeface="Malgun Gothic"/>
              </a:rPr>
              <a:t>Below, in Face Decorations (masks/accessories), pick glasses, hats, animals and more.</a:t>
            </a:r>
          </a:p>
          <a:p>
            <a:pPr>
              <a:lnSpc>
                <a:spcPct val="115000"/>
              </a:lnSpc>
              <a:spcAft>
                <a:spcPts val="300"/>
              </a:spcAft>
            </a:pPr>
            <a:r>
              <a:rPr sz="700" b="1">
                <a:solidFill>
                  <a:srgbClr val="EA580C"/>
                </a:solidFill>
                <a:latin typeface="Malgun Gothic"/>
              </a:rPr>
              <a:t>● </a:t>
            </a:r>
            <a:r>
              <a:rPr sz="900">
                <a:solidFill>
                  <a:srgbClr val="334155"/>
                </a:solidFill>
                <a:latin typeface="Malgun Gothic"/>
              </a:rPr>
              <a:t>Don't like it? Tap again to turn it off.</a:t>
            </a:r>
          </a:p>
        </p:txBody>
      </p:sp>
      <p:sp>
        <p:nvSpPr>
          <p:cNvPr id="14" name="Rounded Rectangle 13"/>
          <p:cNvSpPr/>
          <p:nvPr/>
        </p:nvSpPr>
        <p:spPr>
          <a:xfrm>
            <a:off x="457200" y="5636361"/>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Changing the background keeps your face visible.</a:t>
            </a:r>
          </a:p>
          <a:p>
            <a:pPr>
              <a:lnSpc>
                <a:spcPct val="115000"/>
              </a:lnSpc>
              <a:spcAft>
                <a:spcPts val="100"/>
              </a:spcAft>
            </a:pPr>
            <a:r>
              <a:rPr sz="650" b="1">
                <a:solidFill>
                  <a:srgbClr val="EA580C"/>
                </a:solidFill>
                <a:latin typeface="Malgun Gothic"/>
              </a:rPr>
              <a:t>● </a:t>
            </a:r>
            <a:r>
              <a:rPr sz="850">
                <a:solidFill>
                  <a:srgbClr val="334155"/>
                </a:solidFill>
                <a:latin typeface="Malgun Gothic"/>
              </a:rPr>
              <a:t>Very flashy decorations can distract from the lesson.</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Use a clean background for class and fun decorations for break time.</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06370"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58866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background…</a:t>
            </a:r>
          </a:p>
        </p:txBody>
      </p:sp>
      <p:sp>
        <p:nvSpPr>
          <p:cNvPr id="26" name="TextBox 25"/>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4346143"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2843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Background…</a:t>
            </a:r>
          </a:p>
        </p:txBody>
      </p:sp>
      <p:sp>
        <p:nvSpPr>
          <p:cNvPr id="31" name="TextBox 30"/>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185916"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6821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Face Decor…</a:t>
            </a:r>
          </a:p>
        </p:txBody>
      </p:sp>
      <p:sp>
        <p:nvSpPr>
          <p:cNvPr id="36" name="TextBox 35"/>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8025688"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10798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Don't like…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Resize &amp; Arrange the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 · 1/2 · 3/4 · Full · PIP · Solo · Free</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size bar above the video lets you change the size and layout of your face-video window. The current size is shown in blue.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1/4 · 1/2 · 3/4 · Full: make the video window 1/4 up to full-screen.</a:t>
            </a:r>
          </a:p>
          <a:p>
            <a:pPr>
              <a:lnSpc>
                <a:spcPct val="115000"/>
              </a:lnSpc>
              <a:spcAft>
                <a:spcPts val="300"/>
              </a:spcAft>
            </a:pPr>
            <a:r>
              <a:rPr sz="700" b="1">
                <a:solidFill>
                  <a:srgbClr val="EA580C"/>
                </a:solidFill>
                <a:latin typeface="Malgun Gothic"/>
              </a:rPr>
              <a:t>● </a:t>
            </a:r>
            <a:r>
              <a:rPr sz="900">
                <a:solidFill>
                  <a:srgbClr val="334155"/>
                </a:solidFill>
                <a:latin typeface="Malgun Gothic"/>
              </a:rPr>
              <a:t>📌 PIP: float the video as a small overlay on top of the board/materials.</a:t>
            </a:r>
          </a:p>
          <a:p>
            <a:pPr>
              <a:lnSpc>
                <a:spcPct val="115000"/>
              </a:lnSpc>
              <a:spcAft>
                <a:spcPts val="300"/>
              </a:spcAft>
            </a:pPr>
            <a:r>
              <a:rPr sz="700" b="1">
                <a:solidFill>
                  <a:srgbClr val="EA580C"/>
                </a:solidFill>
                <a:latin typeface="Malgun Gothic"/>
              </a:rPr>
              <a:t>● </a:t>
            </a:r>
            <a:r>
              <a:rPr sz="900">
                <a:solidFill>
                  <a:srgbClr val="334155"/>
                </a:solidFill>
                <a:latin typeface="Malgun Gothic"/>
              </a:rPr>
              <a:t>👤 Solo: hide others and see only your own screen larger.</a:t>
            </a:r>
          </a:p>
          <a:p>
            <a:pPr>
              <a:lnSpc>
                <a:spcPct val="115000"/>
              </a:lnSpc>
              <a:spcAft>
                <a:spcPts val="300"/>
              </a:spcAft>
            </a:pPr>
            <a:r>
              <a:rPr sz="700" b="1">
                <a:solidFill>
                  <a:srgbClr val="EA580C"/>
                </a:solidFill>
                <a:latin typeface="Malgun Gothic"/>
              </a:rPr>
              <a:t>● </a:t>
            </a:r>
            <a:r>
              <a:rPr sz="900">
                <a:solidFill>
                  <a:srgbClr val="334155"/>
                </a:solidFill>
                <a:latin typeface="Malgun Gothic"/>
              </a:rPr>
              <a:t>⤡ Free: drag the title bar to move it, drag the bottom-right corner to resize freely.</a:t>
            </a:r>
          </a:p>
        </p:txBody>
      </p:sp>
      <p:sp>
        <p:nvSpPr>
          <p:cNvPr id="14" name="Rounded Rectangle 13"/>
          <p:cNvSpPr/>
          <p:nvPr/>
        </p:nvSpPr>
        <p:spPr>
          <a:xfrm>
            <a:off x="457200" y="5636361"/>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Make the video small (1/4) when reading materials, large (Full) when presenting.</a:t>
            </a:r>
          </a:p>
          <a:p>
            <a:pPr>
              <a:lnSpc>
                <a:spcPct val="115000"/>
              </a:lnSpc>
              <a:spcAft>
                <a:spcPts val="100"/>
              </a:spcAft>
            </a:pPr>
            <a:r>
              <a:rPr sz="650" b="1">
                <a:solidFill>
                  <a:srgbClr val="EA580C"/>
                </a:solidFill>
                <a:latin typeface="Malgun Gothic"/>
              </a:rPr>
              <a:t>● </a:t>
            </a:r>
            <a:r>
              <a:rPr sz="850">
                <a:solidFill>
                  <a:srgbClr val="334155"/>
                </a:solidFill>
                <a:latin typeface="Malgun Gothic"/>
              </a:rPr>
              <a:t>📌 PIP is great when you want to see the textbook and faces at once.</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On a small screen, shrink the video to 1/4 and view the textbook large.</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01821" y="2670048"/>
            <a:ext cx="1570939"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68411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411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985869"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1/4 · 1/2…</a:t>
            </a:r>
          </a:p>
        </p:txBody>
      </p:sp>
      <p:sp>
        <p:nvSpPr>
          <p:cNvPr id="26" name="TextBox 25"/>
          <p:cNvSpPr txBox="1"/>
          <p:nvPr/>
        </p:nvSpPr>
        <p:spPr>
          <a:xfrm>
            <a:off x="517276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355640" y="2670048"/>
            <a:ext cx="8979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43793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3793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739688" y="2670048"/>
            <a:ext cx="4773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PIP</a:t>
            </a:r>
          </a:p>
        </p:txBody>
      </p:sp>
      <p:sp>
        <p:nvSpPr>
          <p:cNvPr id="31" name="TextBox 30"/>
          <p:cNvSpPr txBox="1"/>
          <p:nvPr/>
        </p:nvSpPr>
        <p:spPr>
          <a:xfrm>
            <a:off x="625358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436461" y="2670048"/>
            <a:ext cx="9838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1875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1875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820509"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Solo</a:t>
            </a:r>
          </a:p>
        </p:txBody>
      </p:sp>
      <p:sp>
        <p:nvSpPr>
          <p:cNvPr id="36" name="TextBox 35"/>
          <p:cNvSpPr txBox="1"/>
          <p:nvPr/>
        </p:nvSpPr>
        <p:spPr>
          <a:xfrm>
            <a:off x="742035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7603236" y="2670048"/>
            <a:ext cx="9838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8553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55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987283"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Free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Praise Points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+1P in student's basket</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When you do well, the teacher can give praise points on the spot. When the teacher taps the 🌟 'Praise' star button on your video, that student instantly gets +1P, and it piles up in real time in the 🧺 point basket on the student's screen.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2405329"/>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Teacher: tap the 🌟 'Praise' button at the top-left of a student's video → that student gets +1P. (the count builds up next to the star)</a:t>
            </a:r>
          </a:p>
          <a:p>
            <a:pPr>
              <a:lnSpc>
                <a:spcPct val="115000"/>
              </a:lnSpc>
              <a:spcAft>
                <a:spcPts val="300"/>
              </a:spcAft>
            </a:pPr>
            <a:r>
              <a:rPr sz="700" b="1">
                <a:solidFill>
                  <a:srgbClr val="EA580C"/>
                </a:solidFill>
                <a:latin typeface="Malgun Gothic"/>
              </a:rPr>
              <a:t>● </a:t>
            </a:r>
            <a:r>
              <a:rPr sz="900">
                <a:solidFill>
                  <a:srgbClr val="334155"/>
                </a:solidFill>
                <a:latin typeface="Malgun Gothic"/>
              </a:rPr>
              <a:t>With several students, you can also pick a student from the 'Give Praise' bar.</a:t>
            </a:r>
          </a:p>
          <a:p>
            <a:pPr>
              <a:lnSpc>
                <a:spcPct val="115000"/>
              </a:lnSpc>
              <a:spcAft>
                <a:spcPts val="300"/>
              </a:spcAft>
            </a:pPr>
            <a:r>
              <a:rPr sz="700" b="1">
                <a:solidFill>
                  <a:srgbClr val="EA580C"/>
                </a:solidFill>
                <a:latin typeface="Malgun Gothic"/>
              </a:rPr>
              <a:t>● </a:t>
            </a:r>
            <a:r>
              <a:rPr sz="900">
                <a:solidFill>
                  <a:srgbClr val="334155"/>
                </a:solidFill>
                <a:latin typeface="Malgun Gothic"/>
              </a:rPr>
              <a:t>Student: +1P flies into the 🧺 point basket at the top-left of your screen in real time.</a:t>
            </a:r>
          </a:p>
          <a:p>
            <a:pPr>
              <a:lnSpc>
                <a:spcPct val="115000"/>
              </a:lnSpc>
              <a:spcAft>
                <a:spcPts val="300"/>
              </a:spcAft>
            </a:pPr>
            <a:r>
              <a:rPr sz="700" b="1">
                <a:solidFill>
                  <a:srgbClr val="EA580C"/>
                </a:solidFill>
                <a:latin typeface="Malgun Gothic"/>
              </a:rPr>
              <a:t>● </a:t>
            </a:r>
            <a:r>
              <a:rPr sz="900">
                <a:solidFill>
                  <a:srgbClr val="334155"/>
                </a:solidFill>
                <a:latin typeface="Malgun Gothic"/>
              </a:rPr>
              <a:t>When class ends, the student leaves a star rating to get an extra +10P.</a:t>
            </a:r>
          </a:p>
          <a:p>
            <a:pPr>
              <a:lnSpc>
                <a:spcPct val="115000"/>
              </a:lnSpc>
              <a:spcAft>
                <a:spcPts val="300"/>
              </a:spcAft>
            </a:pPr>
            <a:r>
              <a:rPr sz="700" b="1">
                <a:solidFill>
                  <a:srgbClr val="EA580C"/>
                </a:solidFill>
                <a:latin typeface="Malgun Gothic"/>
              </a:rPr>
              <a:t>● </a:t>
            </a:r>
            <a:r>
              <a:rPr sz="900">
                <a:solidFill>
                  <a:srgbClr val="334155"/>
                </a:solidFill>
                <a:latin typeface="Malgun Gothic"/>
              </a:rPr>
              <a:t>Collected points are spent as rewards in the point shop, roulette, etc.</a:t>
            </a:r>
          </a:p>
        </p:txBody>
      </p:sp>
      <p:sp>
        <p:nvSpPr>
          <p:cNvPr id="14" name="Rounded Rectangle 13"/>
          <p:cNvSpPr/>
          <p:nvPr/>
        </p:nvSpPr>
        <p:spPr>
          <a:xfrm>
            <a:off x="457200" y="6245809"/>
            <a:ext cx="5669280" cy="152201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291529"/>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6538417"/>
            <a:ext cx="5394960" cy="1192834"/>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The more praise you get, the faster points pile up.</a:t>
            </a:r>
          </a:p>
          <a:p>
            <a:pPr>
              <a:lnSpc>
                <a:spcPct val="115000"/>
              </a:lnSpc>
              <a:spcAft>
                <a:spcPts val="100"/>
              </a:spcAft>
            </a:pPr>
            <a:r>
              <a:rPr sz="650" b="1">
                <a:solidFill>
                  <a:srgbClr val="EA580C"/>
                </a:solidFill>
                <a:latin typeface="Malgun Gothic"/>
              </a:rPr>
              <a:t>● </a:t>
            </a:r>
            <a:r>
              <a:rPr sz="850">
                <a:solidFill>
                  <a:srgbClr val="334155"/>
                </a:solidFill>
                <a:latin typeface="Malgun Gothic"/>
              </a:rPr>
              <a:t>The praise star has an anti-spam cooldown, so it may briefly turn gray.</a:t>
            </a:r>
          </a:p>
          <a:p>
            <a:pPr>
              <a:lnSpc>
                <a:spcPct val="115000"/>
              </a:lnSpc>
              <a:spcAft>
                <a:spcPts val="100"/>
              </a:spcAft>
            </a:pPr>
            <a:r>
              <a:rPr sz="650" b="1">
                <a:solidFill>
                  <a:srgbClr val="EA580C"/>
                </a:solidFill>
                <a:latin typeface="Malgun Gothic"/>
              </a:rPr>
              <a:t>● </a:t>
            </a:r>
            <a:r>
              <a:rPr sz="850">
                <a:solidFill>
                  <a:srgbClr val="334155"/>
                </a:solidFill>
                <a:latin typeface="Malgun Gothic"/>
              </a:rPr>
              <a:t>The basket shows points earned this class; your total P (top bar) is the running sum.</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Praise points are given by the teacher — students can't add them by themselves.</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Teachers: praise 🌟 the moment a student does well — instant rewards motivate best.</a:t>
            </a:r>
          </a:p>
        </p:txBody>
      </p:sp>
      <p:sp>
        <p:nvSpPr>
          <p:cNvPr id="21" name="Rectangle 20"/>
          <p:cNvSpPr/>
          <p:nvPr/>
        </p:nvSpPr>
        <p:spPr>
          <a:xfrm>
            <a:off x="6300216" y="3752988"/>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807852"/>
            <a:ext cx="5486400" cy="158773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01621" y="2670048"/>
            <a:ext cx="124175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08391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8391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385669"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a:t>
            </a:r>
          </a:p>
        </p:txBody>
      </p:sp>
      <p:sp>
        <p:nvSpPr>
          <p:cNvPr id="28" name="TextBox 27"/>
          <p:cNvSpPr txBox="1"/>
          <p:nvPr/>
        </p:nvSpPr>
        <p:spPr>
          <a:xfrm>
            <a:off x="324337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3426256"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0855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'Give Prai…</a:t>
            </a:r>
          </a:p>
        </p:txBody>
      </p:sp>
      <p:sp>
        <p:nvSpPr>
          <p:cNvPr id="33" name="TextBox 32"/>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5266029" y="2670048"/>
            <a:ext cx="124175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4832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650077"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Student</a:t>
            </a:r>
          </a:p>
        </p:txBody>
      </p:sp>
      <p:sp>
        <p:nvSpPr>
          <p:cNvPr id="38" name="TextBox 37"/>
          <p:cNvSpPr txBox="1"/>
          <p:nvPr/>
        </p:nvSpPr>
        <p:spPr>
          <a:xfrm>
            <a:off x="650778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6690664"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77296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7296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0747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When class…</a:t>
            </a:r>
          </a:p>
        </p:txBody>
      </p:sp>
      <p:sp>
        <p:nvSpPr>
          <p:cNvPr id="43" name="TextBox 42"/>
          <p:cNvSpPr txBox="1"/>
          <p:nvPr/>
        </p:nvSpPr>
        <p:spPr>
          <a:xfrm>
            <a:off x="834755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4" name="Rounded Rectangle 43"/>
          <p:cNvSpPr/>
          <p:nvPr/>
        </p:nvSpPr>
        <p:spPr>
          <a:xfrm>
            <a:off x="8530437"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61273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1273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891448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point shop…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Bottom Dock &amp; Praise Basket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Camera · screen share · chat · leave · praise</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control dock at the bottom-center holds the buttons you use most during class. Let's also look at the small 🧺 praise basket at the top-left.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3142792"/>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 Settings: pick camera/mic devices and check their status.</a:t>
            </a:r>
          </a:p>
          <a:p>
            <a:pPr>
              <a:lnSpc>
                <a:spcPct val="115000"/>
              </a:lnSpc>
              <a:spcAft>
                <a:spcPts val="300"/>
              </a:spcAft>
            </a:pPr>
            <a:r>
              <a:rPr sz="700" b="1">
                <a:solidFill>
                  <a:srgbClr val="EA580C"/>
                </a:solidFill>
                <a:latin typeface="Malgun Gothic"/>
              </a:rPr>
              <a:t>● </a:t>
            </a:r>
            <a:r>
              <a:rPr sz="900">
                <a:solidFill>
                  <a:srgbClr val="334155"/>
                </a:solidFill>
                <a:latin typeface="Malgun Gothic"/>
              </a:rPr>
              <a:t>📷 Camera / 🎤 Mic: turn your face and sound on/off.</a:t>
            </a:r>
          </a:p>
          <a:p>
            <a:pPr>
              <a:lnSpc>
                <a:spcPct val="115000"/>
              </a:lnSpc>
              <a:spcAft>
                <a:spcPts val="300"/>
              </a:spcAft>
            </a:pPr>
            <a:r>
              <a:rPr sz="700" b="1">
                <a:solidFill>
                  <a:srgbClr val="EA580C"/>
                </a:solidFill>
                <a:latin typeface="Malgun Gothic"/>
              </a:rPr>
              <a:t>● </a:t>
            </a:r>
            <a:r>
              <a:rPr sz="900">
                <a:solidFill>
                  <a:srgbClr val="334155"/>
                </a:solidFill>
                <a:latin typeface="Malgun Gothic"/>
              </a:rPr>
              <a:t>🖥️ Screen Share: show your computer screen to the other person.</a:t>
            </a:r>
          </a:p>
          <a:p>
            <a:pPr>
              <a:lnSpc>
                <a:spcPct val="115000"/>
              </a:lnSpc>
              <a:spcAft>
                <a:spcPts val="300"/>
              </a:spcAft>
            </a:pPr>
            <a:r>
              <a:rPr sz="700" b="1">
                <a:solidFill>
                  <a:srgbClr val="EA580C"/>
                </a:solidFill>
                <a:latin typeface="Malgun Gothic"/>
              </a:rPr>
              <a:t>● </a:t>
            </a:r>
            <a:r>
              <a:rPr sz="900">
                <a:solidFill>
                  <a:srgbClr val="334155"/>
                </a:solidFill>
                <a:latin typeface="Malgun Gothic"/>
              </a:rPr>
              <a:t>💬 Chat: talk in text (great for words and links).</a:t>
            </a:r>
          </a:p>
          <a:p>
            <a:pPr>
              <a:lnSpc>
                <a:spcPct val="115000"/>
              </a:lnSpc>
              <a:spcAft>
                <a:spcPts val="300"/>
              </a:spcAft>
            </a:pPr>
            <a:r>
              <a:rPr sz="700" b="1">
                <a:solidFill>
                  <a:srgbClr val="EA580C"/>
                </a:solidFill>
                <a:latin typeface="Malgun Gothic"/>
              </a:rPr>
              <a:t>● </a:t>
            </a:r>
            <a:r>
              <a:rPr sz="900">
                <a:solidFill>
                  <a:srgbClr val="334155"/>
                </a:solidFill>
                <a:latin typeface="Malgun Gothic"/>
              </a:rPr>
              <a:t>🗣️ Native: call the native-speaker helper / interpreter feature.</a:t>
            </a:r>
          </a:p>
          <a:p>
            <a:pPr>
              <a:lnSpc>
                <a:spcPct val="115000"/>
              </a:lnSpc>
              <a:spcAft>
                <a:spcPts val="300"/>
              </a:spcAft>
            </a:pPr>
            <a:r>
              <a:rPr sz="700" b="1">
                <a:solidFill>
                  <a:srgbClr val="EA580C"/>
                </a:solidFill>
                <a:latin typeface="Malgun Gothic"/>
              </a:rPr>
              <a:t>● </a:t>
            </a:r>
            <a:r>
              <a:rPr sz="900">
                <a:solidFill>
                  <a:srgbClr val="334155"/>
                </a:solidFill>
                <a:latin typeface="Malgun Gothic"/>
              </a:rPr>
              <a:t>🚪 Leave: end the lesson and exit the room.</a:t>
            </a:r>
          </a:p>
          <a:p>
            <a:pPr>
              <a:lnSpc>
                <a:spcPct val="115000"/>
              </a:lnSpc>
              <a:spcAft>
                <a:spcPts val="300"/>
              </a:spcAft>
            </a:pPr>
            <a:r>
              <a:rPr sz="700" b="1">
                <a:solidFill>
                  <a:srgbClr val="EA580C"/>
                </a:solidFill>
                <a:latin typeface="Malgun Gothic"/>
              </a:rPr>
              <a:t>● </a:t>
            </a:r>
            <a:r>
              <a:rPr sz="900">
                <a:solidFill>
                  <a:srgbClr val="334155"/>
                </a:solidFill>
                <a:latin typeface="Malgun Gothic"/>
              </a:rPr>
              <a:t>🧺 Praise Basket (top-left): the praise (stars/stickers) you receive during class collects here.</a:t>
            </a:r>
          </a:p>
        </p:txBody>
      </p:sp>
      <p:sp>
        <p:nvSpPr>
          <p:cNvPr id="14" name="Rounded Rectangle 13"/>
          <p:cNvSpPr/>
          <p:nvPr/>
        </p:nvSpPr>
        <p:spPr>
          <a:xfrm>
            <a:off x="457200" y="6983272"/>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7028992"/>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7275880"/>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Before leaving (🚪), make sure you saved the board / notes.</a:t>
            </a:r>
          </a:p>
          <a:p>
            <a:pPr>
              <a:lnSpc>
                <a:spcPct val="115000"/>
              </a:lnSpc>
              <a:spcAft>
                <a:spcPts val="100"/>
              </a:spcAft>
            </a:pPr>
            <a:r>
              <a:rPr sz="650" b="1">
                <a:solidFill>
                  <a:srgbClr val="EA580C"/>
                </a:solidFill>
                <a:latin typeface="Malgun Gothic"/>
              </a:rPr>
              <a:t>● </a:t>
            </a:r>
            <a:r>
              <a:rPr sz="850">
                <a:solidFill>
                  <a:srgbClr val="334155"/>
                </a:solidFill>
                <a:latin typeface="Malgun Gothic"/>
              </a:rPr>
              <a:t>No sound? Check the mic/speaker devices in ⚙️ Settings.</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Screen share asks the browser which window to share — pick the screen and allow it.</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When your praise basket fills up, it means you're doing great!</a:t>
            </a:r>
          </a:p>
        </p:txBody>
      </p:sp>
      <p:sp>
        <p:nvSpPr>
          <p:cNvPr id="21" name="Rectangle 20"/>
          <p:cNvSpPr/>
          <p:nvPr/>
        </p:nvSpPr>
        <p:spPr>
          <a:xfrm>
            <a:off x="6870965" y="3255264"/>
            <a:ext cx="4454629"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925829" y="3310128"/>
            <a:ext cx="4344901"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42416" y="2670048"/>
            <a:ext cx="132770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2471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247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426464"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Settings</a:t>
            </a:r>
          </a:p>
        </p:txBody>
      </p:sp>
      <p:sp>
        <p:nvSpPr>
          <p:cNvPr id="28" name="TextBox 27"/>
          <p:cNvSpPr txBox="1"/>
          <p:nvPr/>
        </p:nvSpPr>
        <p:spPr>
          <a:xfrm>
            <a:off x="237012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2553004" y="2670048"/>
            <a:ext cx="115580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63530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6353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2937052"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Camera</a:t>
            </a:r>
          </a:p>
        </p:txBody>
      </p:sp>
      <p:sp>
        <p:nvSpPr>
          <p:cNvPr id="33" name="TextBox 32"/>
          <p:cNvSpPr txBox="1"/>
          <p:nvPr/>
        </p:nvSpPr>
        <p:spPr>
          <a:xfrm>
            <a:off x="370880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3891686"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97398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97398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427573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Screen Sha…</a:t>
            </a:r>
          </a:p>
        </p:txBody>
      </p:sp>
      <p:sp>
        <p:nvSpPr>
          <p:cNvPr id="38" name="TextBox 37"/>
          <p:cNvSpPr txBox="1"/>
          <p:nvPr/>
        </p:nvSpPr>
        <p:spPr>
          <a:xfrm>
            <a:off x="554857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5731459" y="2670048"/>
            <a:ext cx="9838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81375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1375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6115507"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Chat</a:t>
            </a:r>
          </a:p>
        </p:txBody>
      </p:sp>
      <p:sp>
        <p:nvSpPr>
          <p:cNvPr id="43" name="TextBox 42"/>
          <p:cNvSpPr txBox="1"/>
          <p:nvPr/>
        </p:nvSpPr>
        <p:spPr>
          <a:xfrm>
            <a:off x="671535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4" name="Rounded Rectangle 43"/>
          <p:cNvSpPr/>
          <p:nvPr/>
        </p:nvSpPr>
        <p:spPr>
          <a:xfrm>
            <a:off x="6898233" y="2670048"/>
            <a:ext cx="115580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98052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80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7282281"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Native</a:t>
            </a:r>
          </a:p>
        </p:txBody>
      </p:sp>
      <p:sp>
        <p:nvSpPr>
          <p:cNvPr id="48" name="TextBox 47"/>
          <p:cNvSpPr txBox="1"/>
          <p:nvPr/>
        </p:nvSpPr>
        <p:spPr>
          <a:xfrm>
            <a:off x="805403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9" name="Rounded Rectangle 48"/>
          <p:cNvSpPr/>
          <p:nvPr/>
        </p:nvSpPr>
        <p:spPr>
          <a:xfrm>
            <a:off x="8236915" y="2670048"/>
            <a:ext cx="106984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31921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1921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6</a:t>
            </a:r>
          </a:p>
        </p:txBody>
      </p:sp>
      <p:sp>
        <p:nvSpPr>
          <p:cNvPr id="52" name="TextBox 51"/>
          <p:cNvSpPr txBox="1"/>
          <p:nvPr/>
        </p:nvSpPr>
        <p:spPr>
          <a:xfrm>
            <a:off x="8620963" y="2670048"/>
            <a:ext cx="6492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Leave</a:t>
            </a:r>
          </a:p>
        </p:txBody>
      </p:sp>
      <p:sp>
        <p:nvSpPr>
          <p:cNvPr id="53" name="TextBox 52"/>
          <p:cNvSpPr txBox="1"/>
          <p:nvPr/>
        </p:nvSpPr>
        <p:spPr>
          <a:xfrm>
            <a:off x="930676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54" name="Rounded Rectangle 53"/>
          <p:cNvSpPr/>
          <p:nvPr/>
        </p:nvSpPr>
        <p:spPr>
          <a:xfrm>
            <a:off x="9489643"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57193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719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7</a:t>
            </a:r>
          </a:p>
        </p:txBody>
      </p:sp>
      <p:sp>
        <p:nvSpPr>
          <p:cNvPr id="57" name="TextBox 56"/>
          <p:cNvSpPr txBox="1"/>
          <p:nvPr/>
        </p:nvSpPr>
        <p:spPr>
          <a:xfrm>
            <a:off x="98736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Praise Bas…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Pre-upload Materials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Prepare lesson files in advance</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Pre-upload lesson files to the materials uploader so you can share them instantly in class. Being prepared makes the lesson far smoother.</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Drag files into or select them in the materials uploader to upload.</a:t>
            </a:r>
          </a:p>
          <a:p>
            <a:pPr>
              <a:lnSpc>
                <a:spcPct val="115000"/>
              </a:lnSpc>
              <a:spcAft>
                <a:spcPts val="300"/>
              </a:spcAft>
            </a:pPr>
            <a:r>
              <a:rPr sz="700" b="1">
                <a:solidFill>
                  <a:srgbClr val="EA580C"/>
                </a:solidFill>
                <a:latin typeface="Malgun Gothic"/>
              </a:rPr>
              <a:t>● </a:t>
            </a:r>
            <a:r>
              <a:rPr sz="900">
                <a:solidFill>
                  <a:srgbClr val="334155"/>
                </a:solidFill>
                <a:latin typeface="Malgun Gothic"/>
              </a:rPr>
              <a:t>Review uploaded materials in the materials viewer.</a:t>
            </a:r>
          </a:p>
          <a:p>
            <a:pPr>
              <a:lnSpc>
                <a:spcPct val="115000"/>
              </a:lnSpc>
              <a:spcAft>
                <a:spcPts val="300"/>
              </a:spcAft>
            </a:pPr>
            <a:r>
              <a:rPr sz="700" b="1">
                <a:solidFill>
                  <a:srgbClr val="EA580C"/>
                </a:solidFill>
                <a:latin typeface="Malgun Gothic"/>
              </a:rPr>
              <a:t>● </a:t>
            </a:r>
            <a:r>
              <a:rPr sz="900">
                <a:solidFill>
                  <a:srgbClr val="334155"/>
                </a:solidFill>
                <a:latin typeface="Malgun Gothic"/>
              </a:rPr>
              <a:t>In class, bring them up instantly via materials-tab sharing.</a:t>
            </a:r>
          </a:p>
        </p:txBody>
      </p:sp>
      <p:sp>
        <p:nvSpPr>
          <p:cNvPr id="14" name="Rounded Rectangle 13"/>
          <p:cNvSpPr/>
          <p:nvPr/>
        </p:nvSpPr>
        <p:spPr>
          <a:xfrm>
            <a:off x="457200" y="5187391"/>
            <a:ext cx="5669280" cy="833475"/>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479999"/>
            <a:ext cx="5394960" cy="504291"/>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Uploading before class saves time.</a:t>
            </a:r>
          </a:p>
          <a:p>
            <a:pPr>
              <a:lnSpc>
                <a:spcPct val="115000"/>
              </a:lnSpc>
              <a:spcAft>
                <a:spcPts val="100"/>
              </a:spcAft>
            </a:pPr>
            <a:r>
              <a:rPr sz="650" b="1">
                <a:solidFill>
                  <a:srgbClr val="EA580C"/>
                </a:solidFill>
                <a:latin typeface="Malgun Gothic"/>
              </a:rPr>
              <a:t>● </a:t>
            </a:r>
            <a:r>
              <a:rPr sz="850">
                <a:solidFill>
                  <a:srgbClr val="334155"/>
                </a:solidFill>
                <a:latin typeface="Malgun Gothic"/>
              </a:rPr>
              <a:t>Both PDFs and images are supported.</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Naming files by lesson number makes them easy to find.</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textbook_uploa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12210" y="2670048"/>
            <a:ext cx="1570939"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9450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9450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96258"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materials…</a:t>
            </a:r>
          </a:p>
        </p:txBody>
      </p:sp>
      <p:sp>
        <p:nvSpPr>
          <p:cNvPr id="26" name="TextBox 25"/>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266029" y="2670048"/>
            <a:ext cx="1570939"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832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0077"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materials…</a:t>
            </a:r>
          </a:p>
        </p:txBody>
      </p:sp>
      <p:sp>
        <p:nvSpPr>
          <p:cNvPr id="31" name="TextBox 30"/>
          <p:cNvSpPr txBox="1"/>
          <p:nvPr/>
        </p:nvSpPr>
        <p:spPr>
          <a:xfrm>
            <a:off x="683696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019848"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0214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0214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0389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materials-…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Start with the AI Warm-up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3-minute icebreaker</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Use the student's pre-class AI warm-up to open the conversation naturally. The warm-up is tied to today's textbook, so it leads straight into the main lesson.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Open the conversation using the student's AI warm-up content.</a:t>
            </a:r>
          </a:p>
          <a:p>
            <a:pPr>
              <a:lnSpc>
                <a:spcPct val="115000"/>
              </a:lnSpc>
              <a:spcAft>
                <a:spcPts val="300"/>
              </a:spcAft>
            </a:pPr>
            <a:r>
              <a:rPr sz="700" b="1">
                <a:solidFill>
                  <a:srgbClr val="EA580C"/>
                </a:solidFill>
                <a:latin typeface="Malgun Gothic"/>
              </a:rPr>
              <a:t>● </a:t>
            </a:r>
            <a:r>
              <a:rPr sz="900">
                <a:solidFill>
                  <a:srgbClr val="334155"/>
                </a:solidFill>
                <a:latin typeface="Malgun Gothic"/>
              </a:rPr>
              <a:t>Carry the warm-up questions into the main lesson topic.</a:t>
            </a:r>
          </a:p>
          <a:p>
            <a:pPr>
              <a:lnSpc>
                <a:spcPct val="115000"/>
              </a:lnSpc>
              <a:spcAft>
                <a:spcPts val="300"/>
              </a:spcAft>
            </a:pPr>
            <a:r>
              <a:rPr sz="700" b="1">
                <a:solidFill>
                  <a:srgbClr val="EA580C"/>
                </a:solidFill>
                <a:latin typeface="Malgun Gothic"/>
              </a:rPr>
              <a:t>● </a:t>
            </a:r>
            <a:r>
              <a:rPr sz="900">
                <a:solidFill>
                  <a:srgbClr val="334155"/>
                </a:solidFill>
                <a:latin typeface="Malgun Gothic"/>
              </a:rPr>
              <a:t>For students who skipped it, ease in with 1–2 light questions.</a:t>
            </a:r>
          </a:p>
        </p:txBody>
      </p:sp>
      <p:sp>
        <p:nvSpPr>
          <p:cNvPr id="14" name="Rounded Rectangle 13"/>
          <p:cNvSpPr/>
          <p:nvPr/>
        </p:nvSpPr>
        <p:spPr>
          <a:xfrm>
            <a:off x="457200" y="5187391"/>
            <a:ext cx="5669280" cy="985037"/>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479999"/>
            <a:ext cx="5394960" cy="655853"/>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Mentioning the warm-up raises student engagement.</a:t>
            </a:r>
          </a:p>
          <a:p>
            <a:pPr>
              <a:lnSpc>
                <a:spcPct val="115000"/>
              </a:lnSpc>
              <a:spcAft>
                <a:spcPts val="100"/>
              </a:spcAft>
            </a:pPr>
            <a:r>
              <a:rPr sz="650" b="1">
                <a:solidFill>
                  <a:srgbClr val="EA580C"/>
                </a:solidFill>
                <a:latin typeface="Malgun Gothic"/>
              </a:rPr>
              <a:t>● </a:t>
            </a:r>
            <a:r>
              <a:rPr sz="850">
                <a:solidFill>
                  <a:srgbClr val="334155"/>
                </a:solidFill>
                <a:latin typeface="Malgun Gothic"/>
              </a:rPr>
              <a:t>A smooth intro improves the lesson rhythm.</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'You said … in the warm-up, right?' instantly breaks the ice.</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33571"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1586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1586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1762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warm-up…</a:t>
            </a:r>
          </a:p>
        </p:txBody>
      </p:sp>
      <p:sp>
        <p:nvSpPr>
          <p:cNvPr id="26" name="TextBox 25"/>
          <p:cNvSpPr txBox="1"/>
          <p:nvPr/>
        </p:nvSpPr>
        <p:spPr>
          <a:xfrm>
            <a:off x="509046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273344"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5564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556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739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main lesso…</a:t>
            </a:r>
          </a:p>
        </p:txBody>
      </p:sp>
      <p:sp>
        <p:nvSpPr>
          <p:cNvPr id="31" name="TextBox 30"/>
          <p:cNvSpPr txBox="1"/>
          <p:nvPr/>
        </p:nvSpPr>
        <p:spPr>
          <a:xfrm>
            <a:off x="693023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113117" y="2670048"/>
            <a:ext cx="164226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9541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541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97165" y="2670048"/>
            <a:ext cx="12216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1–2 light…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Use the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Correct with the AI voice coach</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Practice AI voice-coach sentences with students who struggle with pronunciation. Guide them to self-correct through record → score → replay.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Pick voice-coach sentences at the student's level together.</a:t>
            </a:r>
          </a:p>
          <a:p>
            <a:pPr>
              <a:lnSpc>
                <a:spcPct val="115000"/>
              </a:lnSpc>
              <a:spcAft>
                <a:spcPts val="300"/>
              </a:spcAft>
            </a:pPr>
            <a:r>
              <a:rPr sz="700" b="1">
                <a:solidFill>
                  <a:srgbClr val="EA580C"/>
                </a:solidFill>
                <a:latin typeface="Malgun Gothic"/>
              </a:rPr>
              <a:t>● </a:t>
            </a:r>
            <a:r>
              <a:rPr sz="900">
                <a:solidFill>
                  <a:srgbClr val="334155"/>
                </a:solidFill>
                <a:latin typeface="Malgun Gothic"/>
              </a:rPr>
              <a:t>Have them self-correct via record → score → replay.</a:t>
            </a:r>
          </a:p>
          <a:p>
            <a:pPr>
              <a:lnSpc>
                <a:spcPct val="115000"/>
              </a:lnSpc>
              <a:spcAft>
                <a:spcPts val="300"/>
              </a:spcAft>
            </a:pPr>
            <a:r>
              <a:rPr sz="700" b="1">
                <a:solidFill>
                  <a:srgbClr val="EA580C"/>
                </a:solidFill>
                <a:latin typeface="Malgun Gothic"/>
              </a:rPr>
              <a:t>● </a:t>
            </a:r>
            <a:r>
              <a:rPr sz="900">
                <a:solidFill>
                  <a:srgbClr val="334155"/>
                </a:solidFill>
                <a:latin typeface="Malgun Gothic"/>
              </a:rPr>
              <a:t>Link the lesson sentences to voice-coach homework.</a:t>
            </a:r>
          </a:p>
        </p:txBody>
      </p:sp>
      <p:sp>
        <p:nvSpPr>
          <p:cNvPr id="14" name="Rounded Rectangle 13"/>
          <p:cNvSpPr/>
          <p:nvPr/>
        </p:nvSpPr>
        <p:spPr>
          <a:xfrm>
            <a:off x="457200" y="5187391"/>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479999"/>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The 'lesson sentence → voice-coach repeat' routine is effective.</a:t>
            </a:r>
          </a:p>
          <a:p>
            <a:pPr>
              <a:lnSpc>
                <a:spcPct val="115000"/>
              </a:lnSpc>
              <a:spcAft>
                <a:spcPts val="100"/>
              </a:spcAft>
            </a:pPr>
            <a:r>
              <a:rPr sz="650" b="1">
                <a:solidFill>
                  <a:srgbClr val="EA580C"/>
                </a:solidFill>
                <a:latin typeface="Malgun Gothic"/>
              </a:rPr>
              <a:t>● </a:t>
            </a:r>
            <a:r>
              <a:rPr sz="850">
                <a:solidFill>
                  <a:srgbClr val="334155"/>
                </a:solidFill>
                <a:latin typeface="Malgun Gothic"/>
              </a:rPr>
              <a:t>Scores give a sense of achievement to keep going.</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For tough sounds (r, th), repeat with short words first.</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390595"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47289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728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77464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voice-coac…</a:t>
            </a:r>
          </a:p>
        </p:txBody>
      </p:sp>
      <p:sp>
        <p:nvSpPr>
          <p:cNvPr id="26" name="TextBox 25"/>
          <p:cNvSpPr txBox="1"/>
          <p:nvPr/>
        </p:nvSpPr>
        <p:spPr>
          <a:xfrm>
            <a:off x="504748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230368" y="2670048"/>
            <a:ext cx="17282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1266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1266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14416"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record → s…</a:t>
            </a:r>
          </a:p>
        </p:txBody>
      </p:sp>
      <p:sp>
        <p:nvSpPr>
          <p:cNvPr id="31" name="TextBox 30"/>
          <p:cNvSpPr txBox="1"/>
          <p:nvPr/>
        </p:nvSpPr>
        <p:spPr>
          <a:xfrm>
            <a:off x="695858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141464"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2375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5255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voice-coac…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Write the Lesson Review</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Record post-class feedback</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After class, record today's lesson in the review. Leave per-item stars and comments on strengths and areas to improve; it's reflected in the parent my-page and reports.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061618"/>
          </a:xfrm>
          <a:prstGeom prst="rect">
            <a:avLst/>
          </a:prstGeom>
          <a:noFill/>
        </p:spPr>
        <p:txBody>
          <a:bodyPr wrap="square">
            <a:spAutoFit/>
          </a:bodyPr>
          <a:lstStyle/>
          <a:p>
            <a:pPr>
              <a:lnSpc>
                <a:spcPct val="115000"/>
              </a:lnSpc>
              <a:spcAft>
                <a:spcPts val="300"/>
              </a:spcAft>
            </a:pPr>
            <a:r>
              <a:rPr sz="750" b="1">
                <a:solidFill>
                  <a:srgbClr val="EA580C"/>
                </a:solidFill>
                <a:latin typeface="Malgun Gothic"/>
              </a:rPr>
              <a:t>● </a:t>
            </a:r>
            <a:r>
              <a:rPr sz="950">
                <a:solidFill>
                  <a:srgbClr val="334155"/>
                </a:solidFill>
                <a:latin typeface="Malgun Gothic"/>
              </a:rPr>
              <a:t>Record today's lesson on the review screen.</a:t>
            </a:r>
          </a:p>
          <a:p>
            <a:pPr>
              <a:lnSpc>
                <a:spcPct val="115000"/>
              </a:lnSpc>
              <a:spcAft>
                <a:spcPts val="300"/>
              </a:spcAft>
            </a:pPr>
            <a:r>
              <a:rPr sz="750" b="1">
                <a:solidFill>
                  <a:srgbClr val="EA580C"/>
                </a:solidFill>
                <a:latin typeface="Malgun Gothic"/>
              </a:rPr>
              <a:t>● </a:t>
            </a:r>
            <a:r>
              <a:rPr sz="950">
                <a:solidFill>
                  <a:srgbClr val="334155"/>
                </a:solidFill>
                <a:latin typeface="Malgun Gothic"/>
              </a:rPr>
              <a:t>Leave per-item stars and comments.</a:t>
            </a:r>
          </a:p>
          <a:p>
            <a:pPr>
              <a:lnSpc>
                <a:spcPct val="115000"/>
              </a:lnSpc>
              <a:spcAft>
                <a:spcPts val="300"/>
              </a:spcAft>
            </a:pPr>
            <a:r>
              <a:rPr sz="750" b="1">
                <a:solidFill>
                  <a:srgbClr val="EA580C"/>
                </a:solidFill>
                <a:latin typeface="Malgun Gothic"/>
              </a:rPr>
              <a:t>● </a:t>
            </a:r>
            <a:r>
              <a:rPr sz="950">
                <a:solidFill>
                  <a:srgbClr val="334155"/>
                </a:solidFill>
                <a:latin typeface="Malgun Gothic"/>
              </a:rPr>
              <a:t>Once saved, it's reflected in the report/parent page.</a:t>
            </a:r>
          </a:p>
        </p:txBody>
      </p:sp>
      <p:sp>
        <p:nvSpPr>
          <p:cNvPr id="14" name="Rounded Rectangle 13"/>
          <p:cNvSpPr/>
          <p:nvPr/>
        </p:nvSpPr>
        <p:spPr>
          <a:xfrm>
            <a:off x="457200" y="4902098"/>
            <a:ext cx="5669280" cy="1011783"/>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947818"/>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194706"/>
            <a:ext cx="5394960" cy="682599"/>
          </a:xfrm>
          <a:prstGeom prst="rect">
            <a:avLst/>
          </a:prstGeom>
          <a:noFill/>
        </p:spPr>
        <p:txBody>
          <a:bodyPr wrap="square">
            <a:spAutoFit/>
          </a:bodyPr>
          <a:lstStyle/>
          <a:p>
            <a:pPr>
              <a:lnSpc>
                <a:spcPct val="115000"/>
              </a:lnSpc>
              <a:spcAft>
                <a:spcPts val="100"/>
              </a:spcAft>
            </a:pPr>
            <a:r>
              <a:rPr sz="700" b="1">
                <a:solidFill>
                  <a:srgbClr val="EA580C"/>
                </a:solidFill>
                <a:latin typeface="Malgun Gothic"/>
              </a:rPr>
              <a:t>● </a:t>
            </a:r>
            <a:r>
              <a:rPr sz="900">
                <a:solidFill>
                  <a:srgbClr val="334155"/>
                </a:solidFill>
                <a:latin typeface="Malgun Gothic"/>
              </a:rPr>
              <a:t>One praise + one improvement, short and specific.</a:t>
            </a:r>
          </a:p>
          <a:p>
            <a:pPr>
              <a:lnSpc>
                <a:spcPct val="115000"/>
              </a:lnSpc>
              <a:spcAft>
                <a:spcPts val="100"/>
              </a:spcAft>
            </a:pPr>
            <a:r>
              <a:rPr sz="700" b="1">
                <a:solidFill>
                  <a:srgbClr val="EA580C"/>
                </a:solidFill>
                <a:latin typeface="Malgun Gothic"/>
              </a:rPr>
              <a:t>● </a:t>
            </a:r>
            <a:r>
              <a:rPr sz="900">
                <a:solidFill>
                  <a:srgbClr val="334155"/>
                </a:solidFill>
                <a:latin typeface="Malgun Gothic"/>
              </a:rPr>
              <a:t>Writing right after class is most accurate.</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Adding a concrete example ('today's r sound was great') builds trust.</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eval.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76802" y="2670048"/>
            <a:ext cx="115580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5909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59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060850" y="2670048"/>
            <a:ext cx="7351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review</a:t>
            </a:r>
          </a:p>
        </p:txBody>
      </p:sp>
      <p:sp>
        <p:nvSpPr>
          <p:cNvPr id="26" name="TextBox 25"/>
          <p:cNvSpPr txBox="1"/>
          <p:nvPr/>
        </p:nvSpPr>
        <p:spPr>
          <a:xfrm>
            <a:off x="483260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015484"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09778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9778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39953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per-item s…</a:t>
            </a:r>
          </a:p>
        </p:txBody>
      </p:sp>
      <p:sp>
        <p:nvSpPr>
          <p:cNvPr id="31" name="TextBox 30"/>
          <p:cNvSpPr txBox="1"/>
          <p:nvPr/>
        </p:nvSpPr>
        <p:spPr>
          <a:xfrm>
            <a:off x="667237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855256"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93755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37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239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report/par…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Leave Student Praise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Stars · stickers · comments</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On the Teacher Praise screen, pick the student and items and leave stars, stickers and comments. It shows to the student and parents and motivates them.</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025956"/>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Pick the student and items in Teacher Praise.</a:t>
            </a:r>
          </a:p>
          <a:p>
            <a:pPr>
              <a:lnSpc>
                <a:spcPct val="115000"/>
              </a:lnSpc>
              <a:spcAft>
                <a:spcPts val="300"/>
              </a:spcAft>
            </a:pPr>
            <a:r>
              <a:rPr sz="700" b="1">
                <a:solidFill>
                  <a:srgbClr val="EA580C"/>
                </a:solidFill>
                <a:latin typeface="Malgun Gothic"/>
              </a:rPr>
              <a:t>● </a:t>
            </a:r>
            <a:r>
              <a:rPr sz="900">
                <a:solidFill>
                  <a:srgbClr val="334155"/>
                </a:solidFill>
                <a:latin typeface="Malgun Gothic"/>
              </a:rPr>
              <a:t>Leave stars (7 items) and stickers/comments.</a:t>
            </a:r>
          </a:p>
          <a:p>
            <a:pPr>
              <a:lnSpc>
                <a:spcPct val="115000"/>
              </a:lnSpc>
              <a:spcAft>
                <a:spcPts val="300"/>
              </a:spcAft>
            </a:pPr>
            <a:r>
              <a:rPr sz="700" b="1">
                <a:solidFill>
                  <a:srgbClr val="EA580C"/>
                </a:solidFill>
                <a:latin typeface="Malgun Gothic"/>
              </a:rPr>
              <a:t>● </a:t>
            </a:r>
            <a:r>
              <a:rPr sz="900">
                <a:solidFill>
                  <a:srgbClr val="334155"/>
                </a:solidFill>
                <a:latin typeface="Malgun Gothic"/>
              </a:rPr>
              <a:t>Once saved, it shows to the student and parents.</a:t>
            </a:r>
          </a:p>
        </p:txBody>
      </p:sp>
      <p:sp>
        <p:nvSpPr>
          <p:cNvPr id="14" name="Rounded Rectangle 13"/>
          <p:cNvSpPr/>
          <p:nvPr/>
        </p:nvSpPr>
        <p:spPr>
          <a:xfrm>
            <a:off x="457200" y="4866436"/>
            <a:ext cx="5669280" cy="985037"/>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912156"/>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159044"/>
            <a:ext cx="5394960" cy="655853"/>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Leaving it right after class is most effective.</a:t>
            </a:r>
          </a:p>
          <a:p>
            <a:pPr>
              <a:lnSpc>
                <a:spcPct val="115000"/>
              </a:lnSpc>
              <a:spcAft>
                <a:spcPts val="100"/>
              </a:spcAft>
            </a:pPr>
            <a:r>
              <a:rPr sz="650" b="1">
                <a:solidFill>
                  <a:srgbClr val="EA580C"/>
                </a:solidFill>
                <a:latin typeface="Malgun Gothic"/>
              </a:rPr>
              <a:t>● </a:t>
            </a:r>
            <a:r>
              <a:rPr sz="850">
                <a:solidFill>
                  <a:srgbClr val="334155"/>
                </a:solidFill>
                <a:latin typeface="Malgun Gothic"/>
              </a:rPr>
              <a:t>Specific praise beats vague praise.</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Praising even small wins improves participation next lesson.</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aise.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26256"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0855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 Pr…</a:t>
            </a:r>
          </a:p>
        </p:txBody>
      </p:sp>
      <p:sp>
        <p:nvSpPr>
          <p:cNvPr id="26" name="TextBox 25"/>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266029"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832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stars (7 i…</a:t>
            </a:r>
          </a:p>
        </p:txBody>
      </p:sp>
      <p:sp>
        <p:nvSpPr>
          <p:cNvPr id="31" name="TextBox 30"/>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105802"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8809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Once saved…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Game Learning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a student's weak words</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Look up by student ID to see the words most often missed in games. Adding those words to the next lesson's intro for review is effective.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061618"/>
          </a:xfrm>
          <a:prstGeom prst="rect">
            <a:avLst/>
          </a:prstGeom>
          <a:noFill/>
        </p:spPr>
        <p:txBody>
          <a:bodyPr wrap="square">
            <a:spAutoFit/>
          </a:bodyPr>
          <a:lstStyle/>
          <a:p>
            <a:pPr>
              <a:lnSpc>
                <a:spcPct val="115000"/>
              </a:lnSpc>
              <a:spcAft>
                <a:spcPts val="300"/>
              </a:spcAft>
            </a:pPr>
            <a:r>
              <a:rPr sz="750" b="1">
                <a:solidFill>
                  <a:srgbClr val="EA580C"/>
                </a:solidFill>
                <a:latin typeface="Malgun Gothic"/>
              </a:rPr>
              <a:t>● </a:t>
            </a:r>
            <a:r>
              <a:rPr sz="950">
                <a:solidFill>
                  <a:srgbClr val="334155"/>
                </a:solidFill>
                <a:latin typeface="Malgun Gothic"/>
              </a:rPr>
              <a:t>Enter the student ID in the game learning report and look up.</a:t>
            </a:r>
          </a:p>
          <a:p>
            <a:pPr>
              <a:lnSpc>
                <a:spcPct val="115000"/>
              </a:lnSpc>
              <a:spcAft>
                <a:spcPts val="300"/>
              </a:spcAft>
            </a:pPr>
            <a:r>
              <a:rPr sz="750" b="1">
                <a:solidFill>
                  <a:srgbClr val="EA580C"/>
                </a:solidFill>
                <a:latin typeface="Malgun Gothic"/>
              </a:rPr>
              <a:t>● </a:t>
            </a:r>
            <a:r>
              <a:rPr sz="950">
                <a:solidFill>
                  <a:srgbClr val="334155"/>
                </a:solidFill>
                <a:latin typeface="Malgun Gothic"/>
              </a:rPr>
              <a:t>Check the weak words (often missed).</a:t>
            </a:r>
          </a:p>
          <a:p>
            <a:pPr>
              <a:lnSpc>
                <a:spcPct val="115000"/>
              </a:lnSpc>
              <a:spcAft>
                <a:spcPts val="300"/>
              </a:spcAft>
            </a:pPr>
            <a:r>
              <a:rPr sz="750" b="1">
                <a:solidFill>
                  <a:srgbClr val="EA580C"/>
                </a:solidFill>
                <a:latin typeface="Malgun Gothic"/>
              </a:rPr>
              <a:t>● </a:t>
            </a:r>
            <a:r>
              <a:rPr sz="950">
                <a:solidFill>
                  <a:srgbClr val="334155"/>
                </a:solidFill>
                <a:latin typeface="Malgun Gothic"/>
              </a:rPr>
              <a:t>Review them intensively in the next lesson.</a:t>
            </a:r>
          </a:p>
        </p:txBody>
      </p:sp>
      <p:sp>
        <p:nvSpPr>
          <p:cNvPr id="14" name="Rounded Rectangle 13"/>
          <p:cNvSpPr/>
          <p:nvPr/>
        </p:nvSpPr>
        <p:spPr>
          <a:xfrm>
            <a:off x="457200" y="4902098"/>
            <a:ext cx="5669280" cy="85130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947818"/>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194706"/>
            <a:ext cx="5394960" cy="522122"/>
          </a:xfrm>
          <a:prstGeom prst="rect">
            <a:avLst/>
          </a:prstGeom>
          <a:noFill/>
        </p:spPr>
        <p:txBody>
          <a:bodyPr wrap="square">
            <a:spAutoFit/>
          </a:bodyPr>
          <a:lstStyle/>
          <a:p>
            <a:pPr>
              <a:lnSpc>
                <a:spcPct val="115000"/>
              </a:lnSpc>
              <a:spcAft>
                <a:spcPts val="100"/>
              </a:spcAft>
            </a:pPr>
            <a:r>
              <a:rPr sz="700" b="1">
                <a:solidFill>
                  <a:srgbClr val="EA580C"/>
                </a:solidFill>
                <a:latin typeface="Malgun Gothic"/>
              </a:rPr>
              <a:t>● </a:t>
            </a:r>
            <a:r>
              <a:rPr sz="900">
                <a:solidFill>
                  <a:srgbClr val="334155"/>
                </a:solidFill>
                <a:latin typeface="Malgun Gothic"/>
              </a:rPr>
              <a:t>Pinpoints weaknesses with data.</a:t>
            </a:r>
          </a:p>
          <a:p>
            <a:pPr>
              <a:lnSpc>
                <a:spcPct val="115000"/>
              </a:lnSpc>
              <a:spcAft>
                <a:spcPts val="100"/>
              </a:spcAft>
            </a:pPr>
            <a:r>
              <a:rPr sz="700" b="1">
                <a:solidFill>
                  <a:srgbClr val="EA580C"/>
                </a:solidFill>
                <a:latin typeface="Malgun Gothic"/>
              </a:rPr>
              <a:t>● </a:t>
            </a:r>
            <a:r>
              <a:rPr sz="900">
                <a:solidFill>
                  <a:srgbClr val="334155"/>
                </a:solidFill>
                <a:latin typeface="Malgun Gothic"/>
              </a:rPr>
              <a:t>Even 3 words gives a clear review effect.</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Put weak words on the chat/board and repeat them.</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gamerepor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04895"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8719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871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8894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game learn…</a:t>
            </a:r>
          </a:p>
        </p:txBody>
      </p:sp>
      <p:sp>
        <p:nvSpPr>
          <p:cNvPr id="26" name="TextBox 25"/>
          <p:cNvSpPr txBox="1"/>
          <p:nvPr/>
        </p:nvSpPr>
        <p:spPr>
          <a:xfrm>
            <a:off x="516178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344668" y="2670048"/>
            <a:ext cx="14996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42696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2696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728716"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weak words</a:t>
            </a:r>
          </a:p>
        </p:txBody>
      </p:sp>
      <p:sp>
        <p:nvSpPr>
          <p:cNvPr id="31" name="TextBox 30"/>
          <p:cNvSpPr txBox="1"/>
          <p:nvPr/>
        </p:nvSpPr>
        <p:spPr>
          <a:xfrm>
            <a:off x="684428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027164"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0945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094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112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Review the…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Reports · Lesson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progress &amp; performance</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Check a student's learning progress and performance in reports, and organize past/upcoming lessons and progress in lesson management. Use it to set the next lesson's goal.</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231011"/>
          </a:xfrm>
          <a:prstGeom prst="rect">
            <a:avLst/>
          </a:prstGeom>
          <a:noFill/>
        </p:spPr>
        <p:txBody>
          <a:bodyPr wrap="square">
            <a:spAutoFit/>
          </a:bodyPr>
          <a:lstStyle/>
          <a:p>
            <a:pPr>
              <a:lnSpc>
                <a:spcPct val="115000"/>
              </a:lnSpc>
              <a:spcAft>
                <a:spcPts val="300"/>
              </a:spcAft>
            </a:pPr>
            <a:r>
              <a:rPr sz="750" b="1">
                <a:solidFill>
                  <a:srgbClr val="EA580C"/>
                </a:solidFill>
                <a:latin typeface="Malgun Gothic"/>
              </a:rPr>
              <a:t>● </a:t>
            </a:r>
            <a:r>
              <a:rPr sz="950">
                <a:solidFill>
                  <a:srgbClr val="334155"/>
                </a:solidFill>
                <a:latin typeface="Malgun Gothic"/>
              </a:rPr>
              <a:t>Check learning progress/performance in reports.</a:t>
            </a:r>
          </a:p>
          <a:p>
            <a:pPr>
              <a:lnSpc>
                <a:spcPct val="115000"/>
              </a:lnSpc>
              <a:spcAft>
                <a:spcPts val="300"/>
              </a:spcAft>
            </a:pPr>
            <a:r>
              <a:rPr sz="750" b="1">
                <a:solidFill>
                  <a:srgbClr val="EA580C"/>
                </a:solidFill>
                <a:latin typeface="Malgun Gothic"/>
              </a:rPr>
              <a:t>● </a:t>
            </a:r>
            <a:r>
              <a:rPr sz="950">
                <a:solidFill>
                  <a:srgbClr val="334155"/>
                </a:solidFill>
                <a:latin typeface="Malgun Gothic"/>
              </a:rPr>
              <a:t>Organize past/upcoming lessons in lesson management.</a:t>
            </a:r>
          </a:p>
          <a:p>
            <a:pPr>
              <a:lnSpc>
                <a:spcPct val="115000"/>
              </a:lnSpc>
              <a:spcAft>
                <a:spcPts val="300"/>
              </a:spcAft>
            </a:pPr>
            <a:r>
              <a:rPr sz="750" b="1">
                <a:solidFill>
                  <a:srgbClr val="EA580C"/>
                </a:solidFill>
                <a:latin typeface="Malgun Gothic"/>
              </a:rPr>
              <a:t>● </a:t>
            </a:r>
            <a:r>
              <a:rPr sz="950">
                <a:solidFill>
                  <a:srgbClr val="334155"/>
                </a:solidFill>
                <a:latin typeface="Malgun Gothic"/>
              </a:rPr>
              <a:t>Set the next lesson goal in one line.</a:t>
            </a:r>
          </a:p>
        </p:txBody>
      </p:sp>
      <p:sp>
        <p:nvSpPr>
          <p:cNvPr id="14" name="Rounded Rectangle 13"/>
          <p:cNvSpPr/>
          <p:nvPr/>
        </p:nvSpPr>
        <p:spPr>
          <a:xfrm>
            <a:off x="457200" y="5071491"/>
            <a:ext cx="5669280" cy="85130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11721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364099"/>
            <a:ext cx="5394960" cy="522122"/>
          </a:xfrm>
          <a:prstGeom prst="rect">
            <a:avLst/>
          </a:prstGeom>
          <a:noFill/>
        </p:spPr>
        <p:txBody>
          <a:bodyPr wrap="square">
            <a:spAutoFit/>
          </a:bodyPr>
          <a:lstStyle/>
          <a:p>
            <a:pPr>
              <a:lnSpc>
                <a:spcPct val="115000"/>
              </a:lnSpc>
              <a:spcAft>
                <a:spcPts val="100"/>
              </a:spcAft>
            </a:pPr>
            <a:r>
              <a:rPr sz="700" b="1">
                <a:solidFill>
                  <a:srgbClr val="EA580C"/>
                </a:solidFill>
                <a:latin typeface="Malgun Gothic"/>
              </a:rPr>
              <a:t>● </a:t>
            </a:r>
            <a:r>
              <a:rPr sz="900">
                <a:solidFill>
                  <a:srgbClr val="334155"/>
                </a:solidFill>
                <a:latin typeface="Malgun Gothic"/>
              </a:rPr>
              <a:t>Progress continuity improves.</a:t>
            </a:r>
          </a:p>
          <a:p>
            <a:pPr>
              <a:lnSpc>
                <a:spcPct val="115000"/>
              </a:lnSpc>
              <a:spcAft>
                <a:spcPts val="100"/>
              </a:spcAft>
            </a:pPr>
            <a:r>
              <a:rPr sz="700" b="1">
                <a:solidFill>
                  <a:srgbClr val="EA580C"/>
                </a:solidFill>
                <a:latin typeface="Malgun Gothic"/>
              </a:rPr>
              <a:t>● </a:t>
            </a:r>
            <a:r>
              <a:rPr sz="900">
                <a:solidFill>
                  <a:srgbClr val="334155"/>
                </a:solidFill>
                <a:latin typeface="Malgun Gothic"/>
              </a:rPr>
              <a:t>Writing goals makes lesson direction clear.</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Noting the next goal at the end of each lesson makes handover easy too.</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33825" y="2670048"/>
            <a:ext cx="124175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1612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16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017873"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reports</a:t>
            </a:r>
          </a:p>
        </p:txBody>
      </p:sp>
      <p:sp>
        <p:nvSpPr>
          <p:cNvPr id="26" name="TextBox 25"/>
          <p:cNvSpPr txBox="1"/>
          <p:nvPr/>
        </p:nvSpPr>
        <p:spPr>
          <a:xfrm>
            <a:off x="487558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058460"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4075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4075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44250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lesson man…</a:t>
            </a:r>
          </a:p>
        </p:txBody>
      </p:sp>
      <p:sp>
        <p:nvSpPr>
          <p:cNvPr id="31" name="TextBox 30"/>
          <p:cNvSpPr txBox="1"/>
          <p:nvPr/>
        </p:nvSpPr>
        <p:spPr>
          <a:xfrm>
            <a:off x="671535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898233"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98052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80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282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goal in 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Handle Lesson Postpones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Respond to student requests</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Review students' postpone/change requests and adjust the schedule per policy. Changes are auto-announced to both sides.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892225"/>
          </a:xfrm>
          <a:prstGeom prst="rect">
            <a:avLst/>
          </a:prstGeom>
          <a:noFill/>
        </p:spPr>
        <p:txBody>
          <a:bodyPr wrap="square">
            <a:spAutoFit/>
          </a:bodyPr>
          <a:lstStyle/>
          <a:p>
            <a:pPr>
              <a:lnSpc>
                <a:spcPct val="115000"/>
              </a:lnSpc>
              <a:spcAft>
                <a:spcPts val="300"/>
              </a:spcAft>
            </a:pPr>
            <a:r>
              <a:rPr sz="750" b="1">
                <a:solidFill>
                  <a:srgbClr val="EA580C"/>
                </a:solidFill>
                <a:latin typeface="Malgun Gothic"/>
              </a:rPr>
              <a:t>● </a:t>
            </a:r>
            <a:r>
              <a:rPr sz="950">
                <a:solidFill>
                  <a:srgbClr val="334155"/>
                </a:solidFill>
                <a:latin typeface="Malgun Gothic"/>
              </a:rPr>
              <a:t>Check students' postpone/change requests.</a:t>
            </a:r>
          </a:p>
          <a:p>
            <a:pPr>
              <a:lnSpc>
                <a:spcPct val="115000"/>
              </a:lnSpc>
              <a:spcAft>
                <a:spcPts val="300"/>
              </a:spcAft>
            </a:pPr>
            <a:r>
              <a:rPr sz="750" b="1">
                <a:solidFill>
                  <a:srgbClr val="EA580C"/>
                </a:solidFill>
                <a:latin typeface="Malgun Gothic"/>
              </a:rPr>
              <a:t>● </a:t>
            </a:r>
            <a:r>
              <a:rPr sz="950">
                <a:solidFill>
                  <a:srgbClr val="334155"/>
                </a:solidFill>
                <a:latin typeface="Malgun Gothic"/>
              </a:rPr>
              <a:t>If within policy, adjust the schedule.</a:t>
            </a:r>
          </a:p>
          <a:p>
            <a:pPr>
              <a:lnSpc>
                <a:spcPct val="115000"/>
              </a:lnSpc>
              <a:spcAft>
                <a:spcPts val="300"/>
              </a:spcAft>
            </a:pPr>
            <a:r>
              <a:rPr sz="750" b="1">
                <a:solidFill>
                  <a:srgbClr val="EA580C"/>
                </a:solidFill>
                <a:latin typeface="Malgun Gothic"/>
              </a:rPr>
              <a:t>● </a:t>
            </a:r>
            <a:r>
              <a:rPr sz="950">
                <a:solidFill>
                  <a:srgbClr val="334155"/>
                </a:solidFill>
                <a:latin typeface="Malgun Gothic"/>
              </a:rPr>
              <a:t>Confirm the change is auto-announced.</a:t>
            </a:r>
          </a:p>
        </p:txBody>
      </p:sp>
      <p:sp>
        <p:nvSpPr>
          <p:cNvPr id="14" name="Rounded Rectangle 13"/>
          <p:cNvSpPr/>
          <p:nvPr/>
        </p:nvSpPr>
        <p:spPr>
          <a:xfrm>
            <a:off x="457200" y="4732705"/>
            <a:ext cx="5669280" cy="117226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778425"/>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025313"/>
            <a:ext cx="5394960" cy="843076"/>
          </a:xfrm>
          <a:prstGeom prst="rect">
            <a:avLst/>
          </a:prstGeom>
          <a:noFill/>
        </p:spPr>
        <p:txBody>
          <a:bodyPr wrap="square">
            <a:spAutoFit/>
          </a:bodyPr>
          <a:lstStyle/>
          <a:p>
            <a:pPr>
              <a:lnSpc>
                <a:spcPct val="115000"/>
              </a:lnSpc>
              <a:spcAft>
                <a:spcPts val="100"/>
              </a:spcAft>
            </a:pPr>
            <a:r>
              <a:rPr sz="700" b="1">
                <a:solidFill>
                  <a:srgbClr val="EA580C"/>
                </a:solidFill>
                <a:latin typeface="Malgun Gothic"/>
              </a:rPr>
              <a:t>● </a:t>
            </a:r>
            <a:r>
              <a:rPr sz="900">
                <a:solidFill>
                  <a:srgbClr val="334155"/>
                </a:solidFill>
                <a:latin typeface="Malgun Gothic"/>
              </a:rPr>
              <a:t>Guide out-of-policy last-minute requests per policy.</a:t>
            </a:r>
          </a:p>
          <a:p>
            <a:pPr>
              <a:lnSpc>
                <a:spcPct val="115000"/>
              </a:lnSpc>
              <a:spcAft>
                <a:spcPts val="100"/>
              </a:spcAft>
            </a:pPr>
            <a:r>
              <a:rPr sz="700" b="1">
                <a:solidFill>
                  <a:srgbClr val="EA580C"/>
                </a:solidFill>
                <a:latin typeface="Malgun Gothic"/>
              </a:rPr>
              <a:t>● </a:t>
            </a:r>
            <a:r>
              <a:rPr sz="900">
                <a:solidFill>
                  <a:srgbClr val="334155"/>
                </a:solidFill>
                <a:latin typeface="Malgun Gothic"/>
              </a:rPr>
              <a:t>Postponing preserves the student's lesson count.</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Tell students the postpone cutoff in advance.</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26256"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0855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08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103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postpone/c…</a:t>
            </a:r>
          </a:p>
        </p:txBody>
      </p:sp>
      <p:sp>
        <p:nvSpPr>
          <p:cNvPr id="26" name="TextBox 25"/>
          <p:cNvSpPr txBox="1"/>
          <p:nvPr/>
        </p:nvSpPr>
        <p:spPr>
          <a:xfrm>
            <a:off x="508314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266029"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832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83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500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adjust the…</a:t>
            </a:r>
          </a:p>
        </p:txBody>
      </p:sp>
      <p:sp>
        <p:nvSpPr>
          <p:cNvPr id="31" name="TextBox 30"/>
          <p:cNvSpPr txBox="1"/>
          <p:nvPr/>
        </p:nvSpPr>
        <p:spPr>
          <a:xfrm>
            <a:off x="692292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105802"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8809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80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8985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auto-annou…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Inquiries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something goes wrong</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If there's a technical issue or a question during class, contact support channels. Knowing common issues in advance lets you respond quickly.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Use phone, email, Kakao and remote support in Support.</a:t>
            </a:r>
          </a:p>
          <a:p>
            <a:pPr>
              <a:lnSpc>
                <a:spcPct val="115000"/>
              </a:lnSpc>
              <a:spcAft>
                <a:spcPts val="300"/>
              </a:spcAft>
            </a:pPr>
            <a:r>
              <a:rPr sz="700" b="1">
                <a:solidFill>
                  <a:srgbClr val="EA580C"/>
                </a:solidFill>
                <a:latin typeface="Malgun Gothic"/>
              </a:rPr>
              <a:t>● </a:t>
            </a:r>
            <a:r>
              <a:rPr sz="900">
                <a:solidFill>
                  <a:srgbClr val="334155"/>
                </a:solidFill>
                <a:latin typeface="Malgun Gothic"/>
              </a:rPr>
              <a:t>For urgent issues, get direct help via remote support.</a:t>
            </a:r>
          </a:p>
          <a:p>
            <a:pPr>
              <a:lnSpc>
                <a:spcPct val="115000"/>
              </a:lnSpc>
              <a:spcAft>
                <a:spcPts val="300"/>
              </a:spcAft>
            </a:pPr>
            <a:r>
              <a:rPr sz="700" b="1">
                <a:solidFill>
                  <a:srgbClr val="EA580C"/>
                </a:solidFill>
                <a:latin typeface="Malgun Gothic"/>
              </a:rPr>
              <a:t>● </a:t>
            </a:r>
            <a:r>
              <a:rPr sz="900">
                <a:solidFill>
                  <a:srgbClr val="334155"/>
                </a:solidFill>
                <a:latin typeface="Malgun Gothic"/>
              </a:rPr>
              <a:t>Note the fix for repeat issues.</a:t>
            </a:r>
          </a:p>
        </p:txBody>
      </p:sp>
      <p:sp>
        <p:nvSpPr>
          <p:cNvPr id="14" name="Rounded Rectangle 13"/>
          <p:cNvSpPr/>
          <p:nvPr/>
        </p:nvSpPr>
        <p:spPr>
          <a:xfrm>
            <a:off x="457200" y="5026914"/>
            <a:ext cx="5669280" cy="985037"/>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319522"/>
            <a:ext cx="5394960" cy="655853"/>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'No sound/video' — check permissions and browser first.</a:t>
            </a:r>
          </a:p>
          <a:p>
            <a:pPr>
              <a:lnSpc>
                <a:spcPct val="115000"/>
              </a:lnSpc>
              <a:spcAft>
                <a:spcPts val="100"/>
              </a:spcAft>
            </a:pPr>
            <a:r>
              <a:rPr sz="650" b="1">
                <a:solidFill>
                  <a:srgbClr val="EA580C"/>
                </a:solidFill>
                <a:latin typeface="Malgun Gothic"/>
              </a:rPr>
              <a:t>● </a:t>
            </a:r>
            <a:r>
              <a:rPr sz="850">
                <a:solidFill>
                  <a:srgbClr val="334155"/>
                </a:solidFill>
                <a:latin typeface="Malgun Gothic"/>
              </a:rPr>
              <a:t>Inquiries within business hours are faster.</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Keeping notes of common issues and fixes reduces lesson loss.</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33825" y="2670048"/>
            <a:ext cx="124175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71612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16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017873" y="2670048"/>
            <a:ext cx="8211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Support</a:t>
            </a:r>
          </a:p>
        </p:txBody>
      </p:sp>
      <p:sp>
        <p:nvSpPr>
          <p:cNvPr id="26" name="TextBox 25"/>
          <p:cNvSpPr txBox="1"/>
          <p:nvPr/>
        </p:nvSpPr>
        <p:spPr>
          <a:xfrm>
            <a:off x="487558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058460"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4075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4075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44250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remote sup…</a:t>
            </a:r>
          </a:p>
        </p:txBody>
      </p:sp>
      <p:sp>
        <p:nvSpPr>
          <p:cNvPr id="31" name="TextBox 30"/>
          <p:cNvSpPr txBox="1"/>
          <p:nvPr/>
        </p:nvSpPr>
        <p:spPr>
          <a:xfrm>
            <a:off x="671535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898233"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98052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80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282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Note the f…</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clock on screen shows 🇰🇷 Korea time and 🇵🇭 Philippines (local) time together. Students use Korea time, you use Philippines time — seeing both lets you match lesson times exactly.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On the on-screen dual clock, see 🇰🇷 Korea and 🇵🇭 Philippines time at once.</a:t>
            </a:r>
          </a:p>
          <a:p>
            <a:pPr>
              <a:lnSpc>
                <a:spcPct val="115000"/>
              </a:lnSpc>
              <a:spcAft>
                <a:spcPts val="300"/>
              </a:spcAft>
            </a:pPr>
            <a:r>
              <a:rPr sz="700" b="1">
                <a:solidFill>
                  <a:srgbClr val="EA580C"/>
                </a:solidFill>
                <a:latin typeface="Malgun Gothic"/>
              </a:rPr>
              <a:t>● </a:t>
            </a:r>
            <a:r>
              <a:rPr sz="900">
                <a:solidFill>
                  <a:srgbClr val="334155"/>
                </a:solidFill>
                <a:latin typeface="Malgun Gothic"/>
              </a:rPr>
              <a:t>Drag the clock to move it anywhere you like.</a:t>
            </a:r>
          </a:p>
          <a:p>
            <a:pPr>
              <a:lnSpc>
                <a:spcPct val="115000"/>
              </a:lnSpc>
              <a:spcAft>
                <a:spcPts val="300"/>
              </a:spcAft>
            </a:pPr>
            <a:r>
              <a:rPr sz="700" b="1">
                <a:solidFill>
                  <a:srgbClr val="EA580C"/>
                </a:solidFill>
                <a:latin typeface="Malgun Gothic"/>
              </a:rPr>
              <a:t>● </a:t>
            </a:r>
            <a:r>
              <a:rPr sz="900">
                <a:solidFill>
                  <a:srgbClr val="334155"/>
                </a:solidFill>
                <a:latin typeface="Malgun Gothic"/>
              </a:rPr>
              <a:t>Tap (click) the clock to go to the home screen.</a:t>
            </a:r>
          </a:p>
        </p:txBody>
      </p:sp>
      <p:sp>
        <p:nvSpPr>
          <p:cNvPr id="14" name="Rounded Rectangle 13"/>
          <p:cNvSpPr/>
          <p:nvPr/>
        </p:nvSpPr>
        <p:spPr>
          <a:xfrm>
            <a:off x="457200" y="5026914"/>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319522"/>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The Philippines is 1 hour behind Korea (−1 hour).</a:t>
            </a:r>
          </a:p>
          <a:p>
            <a:pPr>
              <a:lnSpc>
                <a:spcPct val="115000"/>
              </a:lnSpc>
              <a:spcAft>
                <a:spcPts val="100"/>
              </a:spcAft>
            </a:pPr>
            <a:r>
              <a:rPr sz="650" b="1">
                <a:solidFill>
                  <a:srgbClr val="EA580C"/>
                </a:solidFill>
                <a:latin typeface="Malgun Gothic"/>
              </a:rPr>
              <a:t>● </a:t>
            </a:r>
            <a:r>
              <a:rPr sz="850">
                <a:solidFill>
                  <a:srgbClr val="334155"/>
                </a:solidFill>
                <a:latin typeface="Malgun Gothic"/>
              </a:rPr>
              <a:t>You can check booking/entry times in both countries' time.</a:t>
            </a:r>
          </a:p>
        </p:txBody>
      </p:sp>
      <p:sp>
        <p:nvSpPr>
          <p:cNvPr id="17" name="Rounded Rectangle 16"/>
          <p:cNvSpPr/>
          <p:nvPr/>
        </p:nvSpPr>
        <p:spPr>
          <a:xfrm>
            <a:off x="365760" y="6172200"/>
            <a:ext cx="11457432"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842269" y="3255264"/>
            <a:ext cx="4512021"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897133" y="3310128"/>
            <a:ext cx="4402293"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841394" y="2670048"/>
            <a:ext cx="14996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92369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2369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225442"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dual clock</a:t>
            </a:r>
          </a:p>
        </p:txBody>
      </p:sp>
      <p:sp>
        <p:nvSpPr>
          <p:cNvPr id="26" name="TextBox 25"/>
          <p:cNvSpPr txBox="1"/>
          <p:nvPr/>
        </p:nvSpPr>
        <p:spPr>
          <a:xfrm>
            <a:off x="534101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523890" y="2670048"/>
            <a:ext cx="98389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60618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061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907938" y="2670048"/>
            <a:ext cx="5632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Drag</a:t>
            </a:r>
          </a:p>
        </p:txBody>
      </p:sp>
      <p:sp>
        <p:nvSpPr>
          <p:cNvPr id="31" name="TextBox 30"/>
          <p:cNvSpPr txBox="1"/>
          <p:nvPr/>
        </p:nvSpPr>
        <p:spPr>
          <a:xfrm>
            <a:off x="650778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690664"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77296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7296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0747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Tap (click…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If a student also learns Chinese, guide them to the Chinese pronunciation coach. They read Darakwon Chinese Master (Lv 1–20) sentences and compare with a native speaker to fix pronunciation and tones.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956358"/>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In the AI voice coach, pick the CN Chinese level (or go to the Chinese pronunciation coach).</a:t>
            </a:r>
          </a:p>
          <a:p>
            <a:pPr>
              <a:lnSpc>
                <a:spcPct val="115000"/>
              </a:lnSpc>
              <a:spcAft>
                <a:spcPts val="300"/>
              </a:spcAft>
            </a:pPr>
            <a:r>
              <a:rPr sz="700" b="1">
                <a:solidFill>
                  <a:srgbClr val="EA580C"/>
                </a:solidFill>
                <a:latin typeface="Malgun Gothic"/>
              </a:rPr>
              <a:t>● </a:t>
            </a:r>
            <a:r>
              <a:rPr sz="900">
                <a:solidFill>
                  <a:srgbClr val="334155"/>
                </a:solidFill>
                <a:latin typeface="Malgun Gothic"/>
              </a:rPr>
              <a:t>Choose a Master series (1–6, HSK 1–6) and a unit.</a:t>
            </a:r>
          </a:p>
          <a:p>
            <a:pPr>
              <a:lnSpc>
                <a:spcPct val="115000"/>
              </a:lnSpc>
              <a:spcAft>
                <a:spcPts val="300"/>
              </a:spcAft>
            </a:pPr>
            <a:r>
              <a:rPr sz="700" b="1">
                <a:solidFill>
                  <a:srgbClr val="EA580C"/>
                </a:solidFill>
                <a:latin typeface="Malgun Gothic"/>
              </a:rPr>
              <a:t>● </a:t>
            </a:r>
            <a:r>
              <a:rPr sz="900">
                <a:solidFill>
                  <a:srgbClr val="334155"/>
                </a:solidFill>
                <a:latin typeface="Malgun Gothic"/>
              </a:rPr>
              <a:t>Read the sentence (characters + pinyin) and compare with 'Play native audio'.</a:t>
            </a:r>
          </a:p>
          <a:p>
            <a:pPr>
              <a:lnSpc>
                <a:spcPct val="115000"/>
              </a:lnSpc>
              <a:spcAft>
                <a:spcPts val="300"/>
              </a:spcAft>
            </a:pPr>
            <a:r>
              <a:rPr sz="700" b="1">
                <a:solidFill>
                  <a:srgbClr val="EA580C"/>
                </a:solidFill>
                <a:latin typeface="Malgun Gothic"/>
              </a:rPr>
              <a:t>● </a:t>
            </a:r>
            <a:r>
              <a:rPr sz="900">
                <a:solidFill>
                  <a:srgbClr val="334155"/>
                </a:solidFill>
                <a:latin typeface="Malgun Gothic"/>
              </a:rPr>
              <a:t>Practice hard sounds/tones with repeat and slow (0.85x).</a:t>
            </a:r>
          </a:p>
        </p:txBody>
      </p:sp>
      <p:sp>
        <p:nvSpPr>
          <p:cNvPr id="14" name="Rounded Rectangle 13"/>
          <p:cNvSpPr/>
          <p:nvPr/>
        </p:nvSpPr>
        <p:spPr>
          <a:xfrm>
            <a:off x="457200" y="5796838"/>
            <a:ext cx="5669280" cy="1370457"/>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842558"/>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6089446"/>
            <a:ext cx="5394960" cy="1041273"/>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Characters and pinyin appear together, so it's easy to read.</a:t>
            </a:r>
          </a:p>
          <a:p>
            <a:pPr>
              <a:lnSpc>
                <a:spcPct val="115000"/>
              </a:lnSpc>
              <a:spcAft>
                <a:spcPts val="100"/>
              </a:spcAft>
            </a:pPr>
            <a:r>
              <a:rPr sz="650" b="1">
                <a:solidFill>
                  <a:srgbClr val="EA580C"/>
                </a:solidFill>
                <a:latin typeface="Malgun Gothic"/>
              </a:rPr>
              <a:t>● </a:t>
            </a:r>
            <a:r>
              <a:rPr sz="850">
                <a:solidFill>
                  <a:srgbClr val="334155"/>
                </a:solidFill>
                <a:latin typeface="Malgun Gothic"/>
              </a:rPr>
              <a:t>The AI recognizes your voice and compares it to a native speaker.</a:t>
            </a:r>
          </a:p>
          <a:p>
            <a:pPr>
              <a:lnSpc>
                <a:spcPct val="115000"/>
              </a:lnSpc>
              <a:spcAft>
                <a:spcPts val="100"/>
              </a:spcAft>
            </a:pPr>
            <a:r>
              <a:rPr sz="650" b="1">
                <a:solidFill>
                  <a:srgbClr val="EA580C"/>
                </a:solidFill>
                <a:latin typeface="Malgun Gothic"/>
              </a:rPr>
              <a:t>● </a:t>
            </a:r>
            <a:r>
              <a:rPr sz="850">
                <a:solidFill>
                  <a:srgbClr val="334155"/>
                </a:solidFill>
                <a:latin typeface="Malgun Gothic"/>
              </a:rPr>
              <a:t>The learning games hub supports Chinese too.</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Listen slowly and repeat clearly to nail the four tones.</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85008" y="2670048"/>
            <a:ext cx="14996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66730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66730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969056"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CN Chinese</a:t>
            </a:r>
          </a:p>
        </p:txBody>
      </p:sp>
      <p:sp>
        <p:nvSpPr>
          <p:cNvPr id="26" name="TextBox 25"/>
          <p:cNvSpPr txBox="1"/>
          <p:nvPr/>
        </p:nvSpPr>
        <p:spPr>
          <a:xfrm>
            <a:off x="408462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4267504"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34980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498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65155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Master ser…</a:t>
            </a:r>
          </a:p>
        </p:txBody>
      </p:sp>
      <p:sp>
        <p:nvSpPr>
          <p:cNvPr id="31" name="TextBox 30"/>
          <p:cNvSpPr txBox="1"/>
          <p:nvPr/>
        </p:nvSpPr>
        <p:spPr>
          <a:xfrm>
            <a:off x="592439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107277"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18957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895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49132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characters…</a:t>
            </a:r>
          </a:p>
        </p:txBody>
      </p:sp>
      <p:sp>
        <p:nvSpPr>
          <p:cNvPr id="36" name="TextBox 35"/>
          <p:cNvSpPr txBox="1"/>
          <p:nvPr/>
        </p:nvSpPr>
        <p:spPr>
          <a:xfrm>
            <a:off x="776417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7947050"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02934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934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33109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repeat and…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Coaching After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Strengths · areas to improve · one action for today</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When you finish and leave a class, the AI analyzes it and shows a coaching card with ‘What you did well / Areas to improve / One action for today’ in both Korean and English. Based on real class signals — talk ratio, engagement, praise count — it helps in a warm coaching tone, not surveillance.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2116836"/>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End the video class with ‘Leave’ and the coaching card appears automatically.</a:t>
            </a:r>
          </a:p>
          <a:p>
            <a:pPr>
              <a:lnSpc>
                <a:spcPct val="115000"/>
              </a:lnSpc>
              <a:spcAft>
                <a:spcPts val="300"/>
              </a:spcAft>
            </a:pPr>
            <a:r>
              <a:rPr sz="700" b="1">
                <a:solidFill>
                  <a:srgbClr val="EA580C"/>
                </a:solidFill>
                <a:latin typeface="Malgun Gothic"/>
              </a:rPr>
              <a:t>● </a:t>
            </a:r>
            <a:r>
              <a:rPr sz="900">
                <a:solidFill>
                  <a:srgbClr val="334155"/>
                </a:solidFill>
                <a:latin typeface="Malgun Gothic"/>
              </a:rPr>
              <a:t>Toggle 🇰🇷 Korean / 🇺🇸 English to read it in the language you prefer.</a:t>
            </a:r>
          </a:p>
          <a:p>
            <a:pPr>
              <a:lnSpc>
                <a:spcPct val="115000"/>
              </a:lnSpc>
              <a:spcAft>
                <a:spcPts val="300"/>
              </a:spcAft>
            </a:pPr>
            <a:r>
              <a:rPr sz="700" b="1">
                <a:solidFill>
                  <a:srgbClr val="EA580C"/>
                </a:solidFill>
                <a:latin typeface="Malgun Gothic"/>
              </a:rPr>
              <a:t>● </a:t>
            </a:r>
            <a:r>
              <a:rPr sz="900">
                <a:solidFill>
                  <a:srgbClr val="334155"/>
                </a:solidFill>
                <a:latin typeface="Malgun Gothic"/>
              </a:rPr>
              <a:t>Check the engagement · talk-ratio · praise-count summary and the strengths · improvements · one action.</a:t>
            </a:r>
          </a:p>
          <a:p>
            <a:pPr>
              <a:lnSpc>
                <a:spcPct val="115000"/>
              </a:lnSpc>
              <a:spcAft>
                <a:spcPts val="300"/>
              </a:spcAft>
            </a:pPr>
            <a:r>
              <a:rPr sz="700" b="1">
                <a:solidFill>
                  <a:srgbClr val="EA580C"/>
                </a:solidFill>
                <a:latin typeface="Malgun Gothic"/>
              </a:rPr>
              <a:t>● </a:t>
            </a:r>
            <a:r>
              <a:rPr sz="900">
                <a:solidFill>
                  <a:srgbClr val="334155"/>
                </a:solidFill>
                <a:latin typeface="Malgun Gothic"/>
              </a:rPr>
              <a:t>Press ‘Full report’ to see class details plus recent coaching history (quality score · summary).</a:t>
            </a:r>
          </a:p>
        </p:txBody>
      </p:sp>
      <p:sp>
        <p:nvSpPr>
          <p:cNvPr id="14" name="Rounded Rectangle 13"/>
          <p:cNvSpPr/>
          <p:nvPr/>
        </p:nvSpPr>
        <p:spPr>
          <a:xfrm>
            <a:off x="457200" y="5957316"/>
            <a:ext cx="5669280" cy="152201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003036"/>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6249924"/>
            <a:ext cx="5394960" cy="1192834"/>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English is the default for native-speaker teachers, with Korean provided alongside.</a:t>
            </a:r>
          </a:p>
          <a:p>
            <a:pPr>
              <a:lnSpc>
                <a:spcPct val="115000"/>
              </a:lnSpc>
              <a:spcAft>
                <a:spcPts val="100"/>
              </a:spcAft>
            </a:pPr>
            <a:r>
              <a:rPr sz="650" b="1">
                <a:solidFill>
                  <a:srgbClr val="EA580C"/>
                </a:solidFill>
                <a:latin typeface="Malgun Gothic"/>
              </a:rPr>
              <a:t>● </a:t>
            </a:r>
            <a:r>
              <a:rPr sz="850">
                <a:solidFill>
                  <a:srgbClr val="334155"/>
                </a:solidFill>
                <a:latin typeface="Malgun Gothic"/>
              </a:rPr>
              <a:t>A class-quality score (0–100) and a detailed summary help you find your own growth points.</a:t>
            </a:r>
          </a:p>
          <a:p>
            <a:pPr>
              <a:lnSpc>
                <a:spcPct val="115000"/>
              </a:lnSpc>
              <a:spcAft>
                <a:spcPts val="100"/>
              </a:spcAft>
            </a:pPr>
            <a:r>
              <a:rPr sz="650" b="1">
                <a:solidFill>
                  <a:srgbClr val="EA580C"/>
                </a:solidFill>
                <a:latin typeface="Malgun Gothic"/>
              </a:rPr>
              <a:t>● </a:t>
            </a:r>
            <a:r>
              <a:rPr sz="850">
                <a:solidFill>
                  <a:srgbClr val="334155"/>
                </a:solidFill>
                <a:latin typeface="Malgun Gothic"/>
              </a:rPr>
              <a:t>Even if the AI is briefly slow, baseline coaching in both languages is always provided.</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Coaching is meant to support your own growth. Admins only receive a monthly rollup.</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Trying just the ‘one action for today’ in your next class visibly improves how you draw out student speech.</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78608" y="2670048"/>
            <a:ext cx="1384401"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66090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090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962656" y="2670048"/>
            <a:ext cx="9637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‘Leave’</a:t>
            </a:r>
          </a:p>
        </p:txBody>
      </p:sp>
      <p:sp>
        <p:nvSpPr>
          <p:cNvPr id="28" name="TextBox 27"/>
          <p:cNvSpPr txBox="1"/>
          <p:nvPr/>
        </p:nvSpPr>
        <p:spPr>
          <a:xfrm>
            <a:off x="396300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4145889" y="2670048"/>
            <a:ext cx="171358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22818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2818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529937" y="2670048"/>
            <a:ext cx="12929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Korean…</a:t>
            </a:r>
          </a:p>
        </p:txBody>
      </p:sp>
      <p:sp>
        <p:nvSpPr>
          <p:cNvPr id="33" name="TextBox 32"/>
          <p:cNvSpPr txBox="1"/>
          <p:nvPr/>
        </p:nvSpPr>
        <p:spPr>
          <a:xfrm>
            <a:off x="585947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6042355"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2465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465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42640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engagement…</a:t>
            </a:r>
          </a:p>
        </p:txBody>
      </p:sp>
      <p:sp>
        <p:nvSpPr>
          <p:cNvPr id="38" name="TextBox 37"/>
          <p:cNvSpPr txBox="1"/>
          <p:nvPr/>
        </p:nvSpPr>
        <p:spPr>
          <a:xfrm>
            <a:off x="769924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7882127" y="2670048"/>
            <a:ext cx="17282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96442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6442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266175"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‘Full repo…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Tab Sync (Your Screen Leads)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Switch a tab and students follow instantly</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When you switch top tabs — Board → Video → Review Quiz — the students' screens follow to the same tab automatically. No more saying “tap the ○○ tab”; you carry the lesson flow yourself.</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507388"/>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Switch the top tabs as usual (Board · Video · Games · Background · AI Warm-up · Review Quiz).</a:t>
            </a:r>
          </a:p>
          <a:p>
            <a:pPr>
              <a:lnSpc>
                <a:spcPct val="115000"/>
              </a:lnSpc>
              <a:spcAft>
                <a:spcPts val="300"/>
              </a:spcAft>
            </a:pPr>
            <a:r>
              <a:rPr sz="700" b="1">
                <a:solidFill>
                  <a:srgbClr val="EA580C"/>
                </a:solidFill>
                <a:latin typeface="Malgun Gothic"/>
              </a:rPr>
              <a:t>● </a:t>
            </a:r>
            <a:r>
              <a:rPr sz="900">
                <a:solidFill>
                  <a:srgbClr val="334155"/>
                </a:solidFill>
                <a:latin typeface="Malgun Gothic"/>
              </a:rPr>
              <a:t>Watch the student's screen switch to the same tab automatically.</a:t>
            </a:r>
          </a:p>
          <a:p>
            <a:pPr>
              <a:lnSpc>
                <a:spcPct val="115000"/>
              </a:lnSpc>
              <a:spcAft>
                <a:spcPts val="300"/>
              </a:spcAft>
            </a:pPr>
            <a:r>
              <a:rPr sz="700" b="1">
                <a:solidFill>
                  <a:srgbClr val="EA580C"/>
                </a:solidFill>
                <a:latin typeface="Malgun Gothic"/>
              </a:rPr>
              <a:t>● </a:t>
            </a:r>
            <a:r>
              <a:rPr sz="900">
                <a:solidFill>
                  <a:srgbClr val="334155"/>
                </a:solidFill>
                <a:latin typeface="Malgun Gothic"/>
              </a:rPr>
              <a:t>Textbook and file sharing carry over to students the same way.</a:t>
            </a:r>
          </a:p>
        </p:txBody>
      </p:sp>
      <p:sp>
        <p:nvSpPr>
          <p:cNvPr id="14" name="Rounded Rectangle 13"/>
          <p:cNvSpPr/>
          <p:nvPr/>
        </p:nvSpPr>
        <p:spPr>
          <a:xfrm>
            <a:off x="457200" y="5347868"/>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93588"/>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640476"/>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Even young learners follow along without hunting for buttons.</a:t>
            </a:r>
          </a:p>
          <a:p>
            <a:pPr>
              <a:lnSpc>
                <a:spcPct val="115000"/>
              </a:lnSpc>
              <a:spcAft>
                <a:spcPts val="100"/>
              </a:spcAft>
            </a:pPr>
            <a:r>
              <a:rPr sz="650" b="1">
                <a:solidFill>
                  <a:srgbClr val="EA580C"/>
                </a:solidFill>
                <a:latin typeface="Malgun Gothic"/>
              </a:rPr>
              <a:t>● </a:t>
            </a:r>
            <a:r>
              <a:rPr sz="850">
                <a:solidFill>
                  <a:srgbClr val="334155"/>
                </a:solidFill>
                <a:latin typeface="Malgun Gothic"/>
              </a:rPr>
              <a:t>The lesson rhythm never breaks, so pacing gets faster.</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Sync works while you're in the room together. If a screen doesn't follow, ask the student to re-enter.</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A quick heads-up before jumping to a video or quiz keeps students from being startled.</a:t>
            </a:r>
          </a:p>
        </p:txBody>
      </p:sp>
      <p:sp>
        <p:nvSpPr>
          <p:cNvPr id="21" name="Rectangle 20"/>
          <p:cNvSpPr/>
          <p:nvPr/>
        </p:nvSpPr>
        <p:spPr>
          <a:xfrm>
            <a:off x="6870965" y="3255264"/>
            <a:ext cx="4454629"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925829" y="3310128"/>
            <a:ext cx="4344901"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469233"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55152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51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853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Switch the…</a:t>
            </a:r>
          </a:p>
        </p:txBody>
      </p:sp>
      <p:sp>
        <p:nvSpPr>
          <p:cNvPr id="28" name="TextBox 27"/>
          <p:cNvSpPr txBox="1"/>
          <p:nvPr/>
        </p:nvSpPr>
        <p:spPr>
          <a:xfrm>
            <a:off x="512612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5309006" y="2670048"/>
            <a:ext cx="1570939"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39130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91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693054"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switch to…</a:t>
            </a:r>
          </a:p>
        </p:txBody>
      </p:sp>
      <p:sp>
        <p:nvSpPr>
          <p:cNvPr id="33" name="TextBox 32"/>
          <p:cNvSpPr txBox="1"/>
          <p:nvPr/>
        </p:nvSpPr>
        <p:spPr>
          <a:xfrm>
            <a:off x="687994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7062825"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14512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45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44687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Textbook 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1:1 Private Chat &amp; File Sharing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Whisper messages only your student sees + share any file</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Class chat now supports 1:1 private messages (DM). Send a message only a specific student can see, and share any file — PDF, image, document — through chat; it appears on the other side as a download card.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Open 💬 Chat from the bottom dock.</a:t>
            </a:r>
          </a:p>
          <a:p>
            <a:pPr>
              <a:lnSpc>
                <a:spcPct val="115000"/>
              </a:lnSpc>
              <a:spcAft>
                <a:spcPts val="300"/>
              </a:spcAft>
            </a:pPr>
            <a:r>
              <a:rPr sz="700" b="1">
                <a:solidFill>
                  <a:srgbClr val="EA580C"/>
                </a:solidFill>
                <a:latin typeface="Malgun Gothic"/>
              </a:rPr>
              <a:t>● </a:t>
            </a:r>
            <a:r>
              <a:rPr sz="900">
                <a:solidFill>
                  <a:srgbClr val="334155"/>
                </a:solidFill>
                <a:latin typeface="Malgun Gothic"/>
              </a:rPr>
              <a:t>Switch the recipient from Everyone to a student's name to whisper 1:1.</a:t>
            </a:r>
          </a:p>
          <a:p>
            <a:pPr>
              <a:lnSpc>
                <a:spcPct val="115000"/>
              </a:lnSpc>
              <a:spcAft>
                <a:spcPts val="300"/>
              </a:spcAft>
            </a:pPr>
            <a:r>
              <a:rPr sz="700" b="1">
                <a:solidFill>
                  <a:srgbClr val="EA580C"/>
                </a:solidFill>
                <a:latin typeface="Malgun Gothic"/>
              </a:rPr>
              <a:t>● </a:t>
            </a:r>
            <a:r>
              <a:rPr sz="900">
                <a:solidFill>
                  <a:srgbClr val="334155"/>
                </a:solidFill>
                <a:latin typeface="Malgun Gothic"/>
              </a:rPr>
              <a:t>Use the 📎 file button to upload a PDF, photo, or document — a download card appears for them.</a:t>
            </a:r>
          </a:p>
          <a:p>
            <a:pPr>
              <a:lnSpc>
                <a:spcPct val="115000"/>
              </a:lnSpc>
              <a:spcAft>
                <a:spcPts val="300"/>
              </a:spcAft>
            </a:pPr>
            <a:r>
              <a:rPr sz="700" b="1">
                <a:solidFill>
                  <a:srgbClr val="EA580C"/>
                </a:solidFill>
                <a:latin typeface="Malgun Gothic"/>
              </a:rPr>
              <a:t>● </a:t>
            </a:r>
            <a:r>
              <a:rPr sz="900">
                <a:solidFill>
                  <a:srgbClr val="334155"/>
                </a:solidFill>
                <a:latin typeface="Malgun Gothic"/>
              </a:rPr>
              <a:t>Received files are saved with the card's ⬇ Save button.</a:t>
            </a:r>
          </a:p>
        </p:txBody>
      </p:sp>
      <p:sp>
        <p:nvSpPr>
          <p:cNvPr id="14" name="Rounded Rectangle 13"/>
          <p:cNvSpPr/>
          <p:nvPr/>
        </p:nvSpPr>
        <p:spPr>
          <a:xfrm>
            <a:off x="457200" y="5636361"/>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Private chats are visible only to the two of you.</a:t>
            </a:r>
          </a:p>
          <a:p>
            <a:pPr>
              <a:lnSpc>
                <a:spcPct val="115000"/>
              </a:lnSpc>
              <a:spcAft>
                <a:spcPts val="100"/>
              </a:spcAft>
            </a:pPr>
            <a:r>
              <a:rPr sz="650" b="1">
                <a:solidFill>
                  <a:srgbClr val="EA580C"/>
                </a:solidFill>
                <a:latin typeface="Malgun Gothic"/>
              </a:rPr>
              <a:t>● </a:t>
            </a:r>
            <a:r>
              <a:rPr sz="850">
                <a:solidFill>
                  <a:srgbClr val="334155"/>
                </a:solidFill>
                <a:latin typeface="Malgun Gothic"/>
              </a:rPr>
              <a:t>Homework files and notes get exchanged in one step during class.</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Private chats are not stored on the server and disappear after class. Keep important things as files.</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Perfect for quietly asking a question without interrupting anyone else.</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chat.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065068" y="2670048"/>
            <a:ext cx="122712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14736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14736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449116" y="2670048"/>
            <a:ext cx="8065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Chat</a:t>
            </a:r>
          </a:p>
        </p:txBody>
      </p:sp>
      <p:sp>
        <p:nvSpPr>
          <p:cNvPr id="28" name="TextBox 27"/>
          <p:cNvSpPr txBox="1"/>
          <p:nvPr/>
        </p:nvSpPr>
        <p:spPr>
          <a:xfrm>
            <a:off x="429219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4475073" y="2670048"/>
            <a:ext cx="132770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5736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736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859121"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Everyone</a:t>
            </a:r>
          </a:p>
        </p:txBody>
      </p:sp>
      <p:sp>
        <p:nvSpPr>
          <p:cNvPr id="33" name="TextBox 32"/>
          <p:cNvSpPr txBox="1"/>
          <p:nvPr/>
        </p:nvSpPr>
        <p:spPr>
          <a:xfrm>
            <a:off x="580278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5985662" y="2670048"/>
            <a:ext cx="17282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06795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679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369710"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file but…</a:t>
            </a:r>
          </a:p>
        </p:txBody>
      </p:sp>
      <p:sp>
        <p:nvSpPr>
          <p:cNvPr id="38" name="TextBox 37"/>
          <p:cNvSpPr txBox="1"/>
          <p:nvPr/>
        </p:nvSpPr>
        <p:spPr>
          <a:xfrm>
            <a:off x="771387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7896758" y="2670048"/>
            <a:ext cx="122712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97905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7905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280806" y="2670048"/>
            <a:ext cx="8065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Save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Requesting a Postpone / Change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Something came up? Submit right on the site</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When something urgent comes up, you can now request a class postponement or time change right on the site. Your request reaches the admin in real time, and once approved it's applied to the schedule automatically.</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Pick the class in My Page → class schedule.</a:t>
            </a:r>
          </a:p>
          <a:p>
            <a:pPr>
              <a:lnSpc>
                <a:spcPct val="115000"/>
              </a:lnSpc>
              <a:spcAft>
                <a:spcPts val="300"/>
              </a:spcAft>
            </a:pPr>
            <a:r>
              <a:rPr sz="700" b="1">
                <a:solidFill>
                  <a:srgbClr val="EA580C"/>
                </a:solidFill>
                <a:latin typeface="Malgun Gothic"/>
              </a:rPr>
              <a:t>● </a:t>
            </a:r>
            <a:r>
              <a:rPr sz="900">
                <a:solidFill>
                  <a:srgbClr val="334155"/>
                </a:solidFill>
                <a:latin typeface="Malgun Gothic"/>
              </a:rPr>
              <a:t>Press Request postpone/change and write the reason and preferred time.</a:t>
            </a:r>
          </a:p>
          <a:p>
            <a:pPr>
              <a:lnSpc>
                <a:spcPct val="115000"/>
              </a:lnSpc>
              <a:spcAft>
                <a:spcPts val="300"/>
              </a:spcAft>
            </a:pPr>
            <a:r>
              <a:rPr sz="700" b="1">
                <a:solidFill>
                  <a:srgbClr val="EA580C"/>
                </a:solidFill>
                <a:latin typeface="Malgun Gothic"/>
              </a:rPr>
              <a:t>● </a:t>
            </a:r>
            <a:r>
              <a:rPr sz="900">
                <a:solidFill>
                  <a:srgbClr val="334155"/>
                </a:solidFill>
                <a:latin typeface="Malgun Gothic"/>
              </a:rPr>
              <a:t>After admin approval it's applied to the schedule automatically — you can track the status too.</a:t>
            </a:r>
          </a:p>
        </p:txBody>
      </p:sp>
      <p:sp>
        <p:nvSpPr>
          <p:cNvPr id="14" name="Rounded Rectangle 13"/>
          <p:cNvSpPr/>
          <p:nvPr/>
        </p:nvSpPr>
        <p:spPr>
          <a:xfrm>
            <a:off x="457200" y="5187391"/>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479999"/>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It's an official, recorded request — no phone calls or messengers needed.</a:t>
            </a:r>
          </a:p>
          <a:p>
            <a:pPr>
              <a:lnSpc>
                <a:spcPct val="115000"/>
              </a:lnSpc>
              <a:spcAft>
                <a:spcPts val="100"/>
              </a:spcAft>
            </a:pPr>
            <a:r>
              <a:rPr sz="650" b="1">
                <a:solidFill>
                  <a:srgbClr val="EA580C"/>
                </a:solidFill>
                <a:latin typeface="Malgun Gothic"/>
              </a:rPr>
              <a:t>● </a:t>
            </a:r>
            <a:r>
              <a:rPr sz="850">
                <a:solidFill>
                  <a:srgbClr val="334155"/>
                </a:solidFill>
                <a:latin typeface="Malgun Gothic"/>
              </a:rPr>
              <a:t>The original schedule holds until approval, so request early (ideally a day ahead).</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Last-minute changes need time to notify students and parents. If it's urgent, also alert support.</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Offering 2–3 preferred times gets you approved much faster.</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postpone.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433571" y="2670048"/>
            <a:ext cx="164226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51586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1586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817620" y="2670048"/>
            <a:ext cx="122163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My Page →…</a:t>
            </a:r>
          </a:p>
        </p:txBody>
      </p:sp>
      <p:sp>
        <p:nvSpPr>
          <p:cNvPr id="28" name="TextBox 27"/>
          <p:cNvSpPr txBox="1"/>
          <p:nvPr/>
        </p:nvSpPr>
        <p:spPr>
          <a:xfrm>
            <a:off x="507583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5258714"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34101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101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64276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Request po…</a:t>
            </a:r>
          </a:p>
        </p:txBody>
      </p:sp>
      <p:sp>
        <p:nvSpPr>
          <p:cNvPr id="33" name="TextBox 32"/>
          <p:cNvSpPr txBox="1"/>
          <p:nvPr/>
        </p:nvSpPr>
        <p:spPr>
          <a:xfrm>
            <a:off x="6915607"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7098487"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18078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8078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48253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applied to…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Checking My Lesson-Fee Settlement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See this month's classes and pay yourself</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In My Page's 🧾 Settlement tab, you can check this month's class count and lesson-fee settlement yourself. Settlement data is protected so only you can see yours, and past months are available too.</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Open the 🧾 Settlement tab in My Page.</a:t>
            </a:r>
          </a:p>
          <a:p>
            <a:pPr>
              <a:lnSpc>
                <a:spcPct val="115000"/>
              </a:lnSpc>
              <a:spcAft>
                <a:spcPts val="300"/>
              </a:spcAft>
            </a:pPr>
            <a:r>
              <a:rPr sz="700" b="1">
                <a:solidFill>
                  <a:srgbClr val="EA580C"/>
                </a:solidFill>
                <a:latin typeface="Malgun Gothic"/>
              </a:rPr>
              <a:t>● </a:t>
            </a:r>
            <a:r>
              <a:rPr sz="900">
                <a:solidFill>
                  <a:srgbClr val="334155"/>
                </a:solidFill>
                <a:latin typeface="Malgun Gothic"/>
              </a:rPr>
              <a:t>Check this month's class count and settlement amount.</a:t>
            </a:r>
          </a:p>
          <a:p>
            <a:pPr>
              <a:lnSpc>
                <a:spcPct val="115000"/>
              </a:lnSpc>
              <a:spcAft>
                <a:spcPts val="300"/>
              </a:spcAft>
            </a:pPr>
            <a:r>
              <a:rPr sz="700" b="1">
                <a:solidFill>
                  <a:srgbClr val="EA580C"/>
                </a:solidFill>
                <a:latin typeface="Malgun Gothic"/>
              </a:rPr>
              <a:t>● </a:t>
            </a:r>
            <a:r>
              <a:rPr sz="900">
                <a:solidFill>
                  <a:srgbClr val="334155"/>
                </a:solidFill>
                <a:latin typeface="Malgun Gothic"/>
              </a:rPr>
              <a:t>Switch the month to review previous months as well.</a:t>
            </a:r>
          </a:p>
        </p:txBody>
      </p:sp>
      <p:sp>
        <p:nvSpPr>
          <p:cNvPr id="14" name="Rounded Rectangle 13"/>
          <p:cNvSpPr/>
          <p:nvPr/>
        </p:nvSpPr>
        <p:spPr>
          <a:xfrm>
            <a:off x="457200" y="5026914"/>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319522"/>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Settlement details are visible only to you — safe and private.</a:t>
            </a:r>
          </a:p>
          <a:p>
            <a:pPr>
              <a:lnSpc>
                <a:spcPct val="115000"/>
              </a:lnSpc>
              <a:spcAft>
                <a:spcPts val="100"/>
              </a:spcAft>
            </a:pPr>
            <a:r>
              <a:rPr sz="650" b="1">
                <a:solidFill>
                  <a:srgbClr val="EA580C"/>
                </a:solidFill>
                <a:latin typeface="Malgun Gothic"/>
              </a:rPr>
              <a:t>● </a:t>
            </a:r>
            <a:r>
              <a:rPr sz="850">
                <a:solidFill>
                  <a:srgbClr val="334155"/>
                </a:solidFill>
                <a:latin typeface="Malgun Gothic"/>
              </a:rPr>
              <a:t>Class records connect to settlement automatically, so nothing gets missed.</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If a figure looks wrong, don't fix it yourself — contact the admin (HQ).</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Make it a habit to skim last month's statement at the start of each month.</a:t>
            </a:r>
          </a:p>
        </p:txBody>
      </p:sp>
      <p:sp>
        <p:nvSpPr>
          <p:cNvPr id="21" name="Rectangle 20"/>
          <p:cNvSpPr/>
          <p:nvPr/>
        </p:nvSpPr>
        <p:spPr>
          <a:xfrm>
            <a:off x="6300216" y="4193563"/>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mypage.jpg"/>
          <p:cNvPicPr>
            <a:picLocks noChangeAspect="1"/>
          </p:cNvPicPr>
          <p:nvPr/>
        </p:nvPicPr>
        <p:blipFill>
          <a:blip r:embed="rId2"/>
          <a:stretch>
            <a:fillRect/>
          </a:stretch>
        </p:blipFill>
        <p:spPr>
          <a:xfrm>
            <a:off x="6355080" y="4248427"/>
            <a:ext cx="5486400" cy="706581"/>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90595" y="2670048"/>
            <a:ext cx="17282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47289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28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774643"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Settleme…</a:t>
            </a:r>
          </a:p>
        </p:txBody>
      </p:sp>
      <p:sp>
        <p:nvSpPr>
          <p:cNvPr id="28" name="TextBox 27"/>
          <p:cNvSpPr txBox="1"/>
          <p:nvPr/>
        </p:nvSpPr>
        <p:spPr>
          <a:xfrm>
            <a:off x="511881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5301691"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38398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8398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68573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this month…</a:t>
            </a:r>
          </a:p>
        </p:txBody>
      </p:sp>
      <p:sp>
        <p:nvSpPr>
          <p:cNvPr id="33" name="TextBox 32"/>
          <p:cNvSpPr txBox="1"/>
          <p:nvPr/>
        </p:nvSpPr>
        <p:spPr>
          <a:xfrm>
            <a:off x="695858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7141464"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22375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237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52551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previous 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Three class controls (focus · background lock · exit guard)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Fewer distractions and accidental exits</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Three controls the teacher can switch on and off. Focus mode stops the student drifting to other screens during the lesson, background lock stops them changing backgrounds and face decorations over and over, and exit guard catches an accidental back-button press before they leave the lesson.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2244852"/>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Open ⚙️ Settings in the bottom dock of the lesson screen.</a:t>
            </a:r>
          </a:p>
          <a:p>
            <a:pPr>
              <a:lnSpc>
                <a:spcPct val="115000"/>
              </a:lnSpc>
              <a:spcAft>
                <a:spcPts val="300"/>
              </a:spcAft>
            </a:pPr>
            <a:r>
              <a:rPr sz="700" b="1">
                <a:solidFill>
                  <a:srgbClr val="EA580C"/>
                </a:solidFill>
                <a:latin typeface="Malgun Gothic"/>
              </a:rPr>
              <a:t>● </a:t>
            </a:r>
            <a:r>
              <a:rPr sz="900">
                <a:solidFill>
                  <a:srgbClr val="334155"/>
                </a:solidFill>
                <a:latin typeface="Malgun Gothic"/>
              </a:rPr>
              <a:t>Turn on Focus mode to pin the student's screen to the lesson.</a:t>
            </a:r>
          </a:p>
          <a:p>
            <a:pPr>
              <a:lnSpc>
                <a:spcPct val="115000"/>
              </a:lnSpc>
              <a:spcAft>
                <a:spcPts val="300"/>
              </a:spcAft>
            </a:pPr>
            <a:r>
              <a:rPr sz="700" b="1">
                <a:solidFill>
                  <a:srgbClr val="EA580C"/>
                </a:solidFill>
                <a:latin typeface="Malgun Gothic"/>
              </a:rPr>
              <a:t>● </a:t>
            </a:r>
            <a:r>
              <a:rPr sz="900">
                <a:solidFill>
                  <a:srgbClr val="334155"/>
                </a:solidFill>
                <a:latin typeface="Malgun Gothic"/>
              </a:rPr>
              <a:t>Turn on Background lock so backgrounds and face decorations can't be changed.</a:t>
            </a:r>
          </a:p>
          <a:p>
            <a:pPr>
              <a:lnSpc>
                <a:spcPct val="115000"/>
              </a:lnSpc>
              <a:spcAft>
                <a:spcPts val="300"/>
              </a:spcAft>
            </a:pPr>
            <a:r>
              <a:rPr sz="700" b="1">
                <a:solidFill>
                  <a:srgbClr val="EA580C"/>
                </a:solidFill>
                <a:latin typeface="Malgun Gothic"/>
              </a:rPr>
              <a:t>● </a:t>
            </a:r>
            <a:r>
              <a:rPr sz="900">
                <a:solidFill>
                  <a:srgbClr val="334155"/>
                </a:solidFill>
                <a:latin typeface="Malgun Gothic"/>
              </a:rPr>
              <a:t>Leave Exit guard on and the student is asked to confirm before leaving.</a:t>
            </a:r>
          </a:p>
          <a:p>
            <a:pPr>
              <a:lnSpc>
                <a:spcPct val="115000"/>
              </a:lnSpc>
              <a:spcAft>
                <a:spcPts val="300"/>
              </a:spcAft>
            </a:pPr>
            <a:r>
              <a:rPr sz="700" b="1">
                <a:solidFill>
                  <a:srgbClr val="EA580C"/>
                </a:solidFill>
                <a:latin typeface="Malgun Gothic"/>
              </a:rPr>
              <a:t>● </a:t>
            </a:r>
            <a:r>
              <a:rPr sz="900">
                <a:solidFill>
                  <a:srgbClr val="334155"/>
                </a:solidFill>
                <a:latin typeface="Malgun Gothic"/>
              </a:rPr>
              <a:t>All three release automatically when the lesson ends.</a:t>
            </a:r>
          </a:p>
        </p:txBody>
      </p:sp>
      <p:sp>
        <p:nvSpPr>
          <p:cNvPr id="14" name="Rounded Rectangle 13"/>
          <p:cNvSpPr/>
          <p:nvPr/>
        </p:nvSpPr>
        <p:spPr>
          <a:xfrm>
            <a:off x="457200" y="6085332"/>
            <a:ext cx="5669280" cy="1370457"/>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131052"/>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6377940"/>
            <a:ext cx="5394960" cy="1041273"/>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A brief disconnection does not end the lesson — the student picks up where they left off.</a:t>
            </a:r>
          </a:p>
          <a:p>
            <a:pPr>
              <a:lnSpc>
                <a:spcPct val="115000"/>
              </a:lnSpc>
              <a:spcAft>
                <a:spcPts val="100"/>
              </a:spcAft>
            </a:pPr>
            <a:r>
              <a:rPr sz="650" b="1">
                <a:solidFill>
                  <a:srgbClr val="EA580C"/>
                </a:solidFill>
                <a:latin typeface="Malgun Gothic"/>
              </a:rPr>
              <a:t>● </a:t>
            </a:r>
            <a:r>
              <a:rPr sz="850">
                <a:solidFill>
                  <a:srgbClr val="334155"/>
                </a:solidFill>
                <a:latin typeface="Malgun Gothic"/>
              </a:rPr>
              <a:t>No-shows are counted automatically and appear on the admin screen.</a:t>
            </a:r>
          </a:p>
          <a:p>
            <a:pPr>
              <a:lnSpc>
                <a:spcPct val="115000"/>
              </a:lnSpc>
              <a:spcAft>
                <a:spcPts val="100"/>
              </a:spcAft>
            </a:pPr>
            <a:r>
              <a:rPr sz="650" b="1">
                <a:solidFill>
                  <a:srgbClr val="EA580C"/>
                </a:solidFill>
                <a:latin typeface="Malgun Gothic"/>
              </a:rPr>
              <a:t>● </a:t>
            </a:r>
            <a:r>
              <a:rPr sz="850">
                <a:solidFill>
                  <a:srgbClr val="334155"/>
                </a:solidFill>
                <a:latin typeface="Malgun Gothic"/>
              </a:rPr>
              <a:t>Especially effective with younger classes.</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These are tools for helping focus, not for punishing. Explain them to the student at the start of the lesson.</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Rather than switching them on only for restless students, leave them on from lesson one — it feels more natural.</a:t>
            </a:r>
          </a:p>
        </p:txBody>
      </p:sp>
      <p:sp>
        <p:nvSpPr>
          <p:cNvPr id="21" name="Rectangle 20"/>
          <p:cNvSpPr/>
          <p:nvPr/>
        </p:nvSpPr>
        <p:spPr>
          <a:xfrm>
            <a:off x="6870965" y="3255264"/>
            <a:ext cx="4454629"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925829" y="3310128"/>
            <a:ext cx="4344901"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715414" y="2670048"/>
            <a:ext cx="1799539"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79771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9771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099462" y="2670048"/>
            <a:ext cx="13789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Setting…</a:t>
            </a:r>
          </a:p>
        </p:txBody>
      </p:sp>
      <p:sp>
        <p:nvSpPr>
          <p:cNvPr id="28" name="TextBox 27"/>
          <p:cNvSpPr txBox="1"/>
          <p:nvPr/>
        </p:nvSpPr>
        <p:spPr>
          <a:xfrm>
            <a:off x="351495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3697833" y="2670048"/>
            <a:ext cx="14996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78012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801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081881"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Focus mode</a:t>
            </a:r>
          </a:p>
        </p:txBody>
      </p:sp>
      <p:sp>
        <p:nvSpPr>
          <p:cNvPr id="33" name="TextBox 32"/>
          <p:cNvSpPr txBox="1"/>
          <p:nvPr/>
        </p:nvSpPr>
        <p:spPr>
          <a:xfrm>
            <a:off x="519744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5380329"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6262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626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76437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Background…</a:t>
            </a:r>
          </a:p>
        </p:txBody>
      </p:sp>
      <p:sp>
        <p:nvSpPr>
          <p:cNvPr id="38" name="TextBox 37"/>
          <p:cNvSpPr txBox="1"/>
          <p:nvPr/>
        </p:nvSpPr>
        <p:spPr>
          <a:xfrm>
            <a:off x="703722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7220102" y="2670048"/>
            <a:ext cx="14996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30239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0239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604150"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Exit guard</a:t>
            </a:r>
          </a:p>
        </p:txBody>
      </p:sp>
      <p:sp>
        <p:nvSpPr>
          <p:cNvPr id="43" name="TextBox 42"/>
          <p:cNvSpPr txBox="1"/>
          <p:nvPr/>
        </p:nvSpPr>
        <p:spPr>
          <a:xfrm>
            <a:off x="871971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4" name="Rounded Rectangle 43"/>
          <p:cNvSpPr/>
          <p:nvPr/>
        </p:nvSpPr>
        <p:spPr>
          <a:xfrm>
            <a:off x="8902598" y="2670048"/>
            <a:ext cx="1570939"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98489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8489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286646"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All three…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Textbook PDF — annotations that stay · faster page jumps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Turn the page and come back; your marks are still there</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Annotations you draw on a textbook PDF now survive turning the page and coming back. Navigation is faster with ◀ ▶ buttons and direct page-number entry, and a new light mode keeps page turns smooth on older devices and slow connections.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602943"/>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Open the Textbook tab and load the PDF.</a:t>
            </a:r>
          </a:p>
          <a:p>
            <a:pPr>
              <a:lnSpc>
                <a:spcPct val="115000"/>
              </a:lnSpc>
              <a:spcAft>
                <a:spcPts val="300"/>
              </a:spcAft>
            </a:pPr>
            <a:r>
              <a:rPr sz="700" b="1">
                <a:solidFill>
                  <a:srgbClr val="EA580C"/>
                </a:solidFill>
                <a:latin typeface="Malgun Gothic"/>
              </a:rPr>
              <a:t>● </a:t>
            </a:r>
            <a:r>
              <a:rPr sz="900">
                <a:solidFill>
                  <a:srgbClr val="334155"/>
                </a:solidFill>
                <a:latin typeface="Malgun Gothic"/>
              </a:rPr>
              <a:t>Underline and circle with the writing tools.</a:t>
            </a:r>
          </a:p>
          <a:p>
            <a:pPr>
              <a:lnSpc>
                <a:spcPct val="115000"/>
              </a:lnSpc>
              <a:spcAft>
                <a:spcPts val="300"/>
              </a:spcAft>
            </a:pPr>
            <a:r>
              <a:rPr sz="700" b="1">
                <a:solidFill>
                  <a:srgbClr val="EA580C"/>
                </a:solidFill>
                <a:latin typeface="Malgun Gothic"/>
              </a:rPr>
              <a:t>● </a:t>
            </a:r>
            <a:r>
              <a:rPr sz="900">
                <a:solidFill>
                  <a:srgbClr val="334155"/>
                </a:solidFill>
                <a:latin typeface="Malgun Gothic"/>
              </a:rPr>
              <a:t>Move with ◀ ▶, or type a page number to jump.</a:t>
            </a:r>
          </a:p>
          <a:p>
            <a:pPr>
              <a:lnSpc>
                <a:spcPct val="115000"/>
              </a:lnSpc>
              <a:spcAft>
                <a:spcPts val="300"/>
              </a:spcAft>
            </a:pPr>
            <a:r>
              <a:rPr sz="700" b="1">
                <a:solidFill>
                  <a:srgbClr val="EA580C"/>
                </a:solidFill>
                <a:latin typeface="Malgun Gothic"/>
              </a:rPr>
              <a:t>● </a:t>
            </a:r>
            <a:r>
              <a:rPr sz="900">
                <a:solidFill>
                  <a:srgbClr val="334155"/>
                </a:solidFill>
                <a:latin typeface="Malgun Gothic"/>
              </a:rPr>
              <a:t>Go back a page and your earlier marks are still there.</a:t>
            </a:r>
          </a:p>
          <a:p>
            <a:pPr>
              <a:lnSpc>
                <a:spcPct val="115000"/>
              </a:lnSpc>
              <a:spcAft>
                <a:spcPts val="300"/>
              </a:spcAft>
            </a:pPr>
            <a:r>
              <a:rPr sz="700" b="1">
                <a:solidFill>
                  <a:srgbClr val="EA580C"/>
                </a:solidFill>
                <a:latin typeface="Malgun Gothic"/>
              </a:rPr>
              <a:t>● </a:t>
            </a:r>
            <a:r>
              <a:rPr sz="900">
                <a:solidFill>
                  <a:srgbClr val="334155"/>
                </a:solidFill>
                <a:latin typeface="Malgun Gothic"/>
              </a:rPr>
              <a:t>If the screen feels slow, turn on light mode.</a:t>
            </a:r>
          </a:p>
        </p:txBody>
      </p:sp>
      <p:sp>
        <p:nvSpPr>
          <p:cNvPr id="14" name="Rounded Rectangle 13"/>
          <p:cNvSpPr/>
          <p:nvPr/>
        </p:nvSpPr>
        <p:spPr>
          <a:xfrm>
            <a:off x="457200" y="5443423"/>
            <a:ext cx="5669280" cy="152201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489143"/>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736031"/>
            <a:ext cx="5394960" cy="1192834"/>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Annotations are stored per page, so they never mix up.</a:t>
            </a:r>
          </a:p>
          <a:p>
            <a:pPr>
              <a:lnSpc>
                <a:spcPct val="115000"/>
              </a:lnSpc>
              <a:spcAft>
                <a:spcPts val="100"/>
              </a:spcAft>
            </a:pPr>
            <a:r>
              <a:rPr sz="650" b="1">
                <a:solidFill>
                  <a:srgbClr val="EA580C"/>
                </a:solidFill>
                <a:latin typeface="Malgun Gothic"/>
              </a:rPr>
              <a:t>● </a:t>
            </a:r>
            <a:r>
              <a:rPr sz="850">
                <a:solidFill>
                  <a:srgbClr val="334155"/>
                </a:solidFill>
                <a:latin typeface="Malgun Gothic"/>
              </a:rPr>
              <a:t>Light mode trades a little sharpness for much smoother page turns.</a:t>
            </a:r>
          </a:p>
          <a:p>
            <a:pPr>
              <a:lnSpc>
                <a:spcPct val="115000"/>
              </a:lnSpc>
              <a:spcAft>
                <a:spcPts val="100"/>
              </a:spcAft>
            </a:pPr>
            <a:r>
              <a:rPr sz="650" b="1">
                <a:solidFill>
                  <a:srgbClr val="EA580C"/>
                </a:solidFill>
                <a:latin typeface="Malgun Gothic"/>
              </a:rPr>
              <a:t>● </a:t>
            </a:r>
            <a:r>
              <a:rPr sz="850">
                <a:solidFill>
                  <a:srgbClr val="334155"/>
                </a:solidFill>
                <a:latin typeface="Malgun Gothic"/>
              </a:rPr>
              <a:t>The student sees the same page with the same annotations.</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Note down the page numbers you use most before class and jumping becomes instant.</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137867" y="2670048"/>
            <a:ext cx="132770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2016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2016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521915"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Textbook</a:t>
            </a:r>
          </a:p>
        </p:txBody>
      </p:sp>
      <p:sp>
        <p:nvSpPr>
          <p:cNvPr id="26" name="TextBox 25"/>
          <p:cNvSpPr txBox="1"/>
          <p:nvPr/>
        </p:nvSpPr>
        <p:spPr>
          <a:xfrm>
            <a:off x="346557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3648456"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73075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307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03250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writing to…</a:t>
            </a:r>
          </a:p>
        </p:txBody>
      </p:sp>
      <p:sp>
        <p:nvSpPr>
          <p:cNvPr id="31" name="TextBox 30"/>
          <p:cNvSpPr txBox="1"/>
          <p:nvPr/>
        </p:nvSpPr>
        <p:spPr>
          <a:xfrm>
            <a:off x="530534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5488228" y="2670048"/>
            <a:ext cx="1040587"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57052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57052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5872276" y="2670048"/>
            <a:ext cx="6199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a:t>
            </a:r>
          </a:p>
        </p:txBody>
      </p:sp>
      <p:sp>
        <p:nvSpPr>
          <p:cNvPr id="36" name="TextBox 35"/>
          <p:cNvSpPr txBox="1"/>
          <p:nvPr/>
        </p:nvSpPr>
        <p:spPr>
          <a:xfrm>
            <a:off x="652881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6711696"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79399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9399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09574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your earli…</a:t>
            </a:r>
          </a:p>
        </p:txBody>
      </p:sp>
      <p:sp>
        <p:nvSpPr>
          <p:cNvPr id="41" name="TextBox 40"/>
          <p:cNvSpPr txBox="1"/>
          <p:nvPr/>
        </p:nvSpPr>
        <p:spPr>
          <a:xfrm>
            <a:off x="836858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2" name="Rounded Rectangle 41"/>
          <p:cNvSpPr/>
          <p:nvPr/>
        </p:nvSpPr>
        <p:spPr>
          <a:xfrm>
            <a:off x="8551468" y="2670048"/>
            <a:ext cx="14996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63376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3376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5" name="TextBox 44"/>
          <p:cNvSpPr txBox="1"/>
          <p:nvPr/>
        </p:nvSpPr>
        <p:spPr>
          <a:xfrm>
            <a:off x="8935516"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light mode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It rides out a slow connection by itself</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Video may fold away, but the voice keeps going</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When the line degrades, the system lowers video quality by itself, and if that isn't enough it switches automatically to a voice-first (audio-only) mode so the lesson doesn't break. When the connection recovers, video comes back. Built with unstable connections — like on-site in the Philippines — in mind.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There is nothing to press — it happens automatically.</a:t>
            </a:r>
          </a:p>
          <a:p>
            <a:pPr>
              <a:lnSpc>
                <a:spcPct val="115000"/>
              </a:lnSpc>
              <a:spcAft>
                <a:spcPts val="300"/>
              </a:spcAft>
            </a:pPr>
            <a:r>
              <a:rPr sz="700" b="1">
                <a:solidFill>
                  <a:srgbClr val="EA580C"/>
                </a:solidFill>
                <a:latin typeface="Malgun Gothic"/>
              </a:rPr>
              <a:t>● </a:t>
            </a:r>
            <a:r>
              <a:rPr sz="900">
                <a:solidFill>
                  <a:srgbClr val="334155"/>
                </a:solidFill>
                <a:latin typeface="Malgun Gothic"/>
              </a:rPr>
              <a:t>If the picture blurs or freezes, carry on by voice.</a:t>
            </a:r>
          </a:p>
          <a:p>
            <a:pPr>
              <a:lnSpc>
                <a:spcPct val="115000"/>
              </a:lnSpc>
              <a:spcAft>
                <a:spcPts val="300"/>
              </a:spcAft>
            </a:pPr>
            <a:r>
              <a:rPr sz="700" b="1">
                <a:solidFill>
                  <a:srgbClr val="EA580C"/>
                </a:solidFill>
                <a:latin typeface="Malgun Gothic"/>
              </a:rPr>
              <a:t>● </a:t>
            </a:r>
            <a:r>
              <a:rPr sz="900">
                <a:solidFill>
                  <a:srgbClr val="334155"/>
                </a:solidFill>
                <a:latin typeface="Malgun Gothic"/>
              </a:rPr>
              <a:t>Video returns on its own once the line improves.</a:t>
            </a:r>
          </a:p>
          <a:p>
            <a:pPr>
              <a:lnSpc>
                <a:spcPct val="115000"/>
              </a:lnSpc>
              <a:spcAft>
                <a:spcPts val="300"/>
              </a:spcAft>
            </a:pPr>
            <a:r>
              <a:rPr sz="700" b="1">
                <a:solidFill>
                  <a:srgbClr val="EA580C"/>
                </a:solidFill>
                <a:latin typeface="Malgun Gothic"/>
              </a:rPr>
              <a:t>● </a:t>
            </a:r>
            <a:r>
              <a:rPr sz="900">
                <a:solidFill>
                  <a:srgbClr val="334155"/>
                </a:solidFill>
                <a:latin typeface="Malgun Gothic"/>
              </a:rPr>
              <a:t>If it stays unstable, ask the student to move closer to their Wi-Fi.</a:t>
            </a:r>
          </a:p>
        </p:txBody>
      </p:sp>
      <p:sp>
        <p:nvSpPr>
          <p:cNvPr id="14" name="Rounded Rectangle 13"/>
          <p:cNvSpPr/>
          <p:nvPr/>
        </p:nvSpPr>
        <p:spPr>
          <a:xfrm>
            <a:off x="457200" y="5636361"/>
            <a:ext cx="5669280" cy="1370457"/>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928969"/>
            <a:ext cx="5394960" cy="1041273"/>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Voice is protected to the very last — the lesson can continue by speech alone.</a:t>
            </a:r>
          </a:p>
          <a:p>
            <a:pPr>
              <a:lnSpc>
                <a:spcPct val="115000"/>
              </a:lnSpc>
              <a:spcAft>
                <a:spcPts val="100"/>
              </a:spcAft>
            </a:pPr>
            <a:r>
              <a:rPr sz="650" b="1">
                <a:solidFill>
                  <a:srgbClr val="EA580C"/>
                </a:solidFill>
                <a:latin typeface="Malgun Gothic"/>
              </a:rPr>
              <a:t>● </a:t>
            </a:r>
            <a:r>
              <a:rPr sz="850">
                <a:solidFill>
                  <a:srgbClr val="334155"/>
                </a:solidFill>
                <a:latin typeface="Malgun Gothic"/>
              </a:rPr>
              <a:t>A brief drop never auto-ends the lesson.</a:t>
            </a:r>
          </a:p>
          <a:p>
            <a:pPr>
              <a:lnSpc>
                <a:spcPct val="115000"/>
              </a:lnSpc>
              <a:spcAft>
                <a:spcPts val="100"/>
              </a:spcAft>
            </a:pPr>
            <a:r>
              <a:rPr sz="650" b="1">
                <a:solidFill>
                  <a:srgbClr val="EA580C"/>
                </a:solidFill>
                <a:latin typeface="Malgun Gothic"/>
              </a:rPr>
              <a:t>● </a:t>
            </a:r>
            <a:r>
              <a:rPr sz="850">
                <a:solidFill>
                  <a:srgbClr val="334155"/>
                </a:solidFill>
                <a:latin typeface="Malgun Gothic"/>
              </a:rPr>
              <a:t>If the far side freezes to black, it attempts self-recovery.</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If nothing returns after 90 seconds, a notice card appears. That's the moment to contact the student.</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For students who drop often, have them run the device check screen once before class.</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06370"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8866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8866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9041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it happens…</a:t>
            </a:r>
          </a:p>
        </p:txBody>
      </p:sp>
      <p:sp>
        <p:nvSpPr>
          <p:cNvPr id="28" name="TextBox 27"/>
          <p:cNvSpPr txBox="1"/>
          <p:nvPr/>
        </p:nvSpPr>
        <p:spPr>
          <a:xfrm>
            <a:off x="416326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4346143"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42843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84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73019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carry on b…</a:t>
            </a:r>
          </a:p>
        </p:txBody>
      </p:sp>
      <p:sp>
        <p:nvSpPr>
          <p:cNvPr id="33" name="TextBox 32"/>
          <p:cNvSpPr txBox="1"/>
          <p:nvPr/>
        </p:nvSpPr>
        <p:spPr>
          <a:xfrm>
            <a:off x="600303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6185916"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26821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821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569964"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returns on…</a:t>
            </a:r>
          </a:p>
        </p:txBody>
      </p:sp>
      <p:sp>
        <p:nvSpPr>
          <p:cNvPr id="38" name="TextBox 37"/>
          <p:cNvSpPr txBox="1"/>
          <p:nvPr/>
        </p:nvSpPr>
        <p:spPr>
          <a:xfrm>
            <a:off x="784280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8025688"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10798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79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40973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move close…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Using Judgment Training in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Turn the student's reasoning into lesson material</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Judgment Training works well as an in-class activity. Because the student's choice and their stated reason are both recorded, you can respond to *how they thought* rather than just right/wrong. Judgments made during class feed into the student's growth metrics.</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Ask the student to open 🧠 Judgment Training and solve one question together.</a:t>
            </a:r>
          </a:p>
          <a:p>
            <a:pPr>
              <a:lnSpc>
                <a:spcPct val="115000"/>
              </a:lnSpc>
              <a:spcAft>
                <a:spcPts val="300"/>
              </a:spcAft>
            </a:pPr>
            <a:r>
              <a:rPr sz="700" b="1">
                <a:solidFill>
                  <a:srgbClr val="EA580C"/>
                </a:solidFill>
                <a:latin typeface="Malgun Gothic"/>
              </a:rPr>
              <a:t>● </a:t>
            </a:r>
            <a:r>
              <a:rPr sz="900">
                <a:solidFill>
                  <a:srgbClr val="334155"/>
                </a:solidFill>
                <a:latin typeface="Malgun Gothic"/>
              </a:rPr>
              <a:t>Have them read out their choice and the reason they wrote.</a:t>
            </a:r>
          </a:p>
          <a:p>
            <a:pPr>
              <a:lnSpc>
                <a:spcPct val="115000"/>
              </a:lnSpc>
              <a:spcAft>
                <a:spcPts val="300"/>
              </a:spcAft>
            </a:pPr>
            <a:r>
              <a:rPr sz="700" b="1">
                <a:solidFill>
                  <a:srgbClr val="EA580C"/>
                </a:solidFill>
                <a:latin typeface="Malgun Gothic"/>
              </a:rPr>
              <a:t>● </a:t>
            </a:r>
            <a:r>
              <a:rPr sz="900">
                <a:solidFill>
                  <a:srgbClr val="334155"/>
                </a:solidFill>
                <a:latin typeface="Malgun Gothic"/>
              </a:rPr>
              <a:t>Explain why the other options fit less well — by listener, tone, and situation.</a:t>
            </a:r>
          </a:p>
          <a:p>
            <a:pPr>
              <a:lnSpc>
                <a:spcPct val="115000"/>
              </a:lnSpc>
              <a:spcAft>
                <a:spcPts val="300"/>
              </a:spcAft>
            </a:pPr>
            <a:r>
              <a:rPr sz="700" b="1">
                <a:solidFill>
                  <a:srgbClr val="EA580C"/>
                </a:solidFill>
                <a:latin typeface="Malgun Gothic"/>
              </a:rPr>
              <a:t>● </a:t>
            </a:r>
            <a:r>
              <a:rPr sz="900">
                <a:solidFill>
                  <a:srgbClr val="334155"/>
                </a:solidFill>
                <a:latin typeface="Malgun Gothic"/>
              </a:rPr>
              <a:t>After class, check the judgment index trend in the student report.</a:t>
            </a:r>
          </a:p>
        </p:txBody>
      </p:sp>
      <p:sp>
        <p:nvSpPr>
          <p:cNvPr id="14" name="Rounded Rectangle 13"/>
          <p:cNvSpPr/>
          <p:nvPr/>
        </p:nvSpPr>
        <p:spPr>
          <a:xfrm>
            <a:off x="457200" y="5636361"/>
            <a:ext cx="5669280" cy="152201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928969"/>
            <a:ext cx="5394960" cy="1192834"/>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Partial credit means a near-miss still earns points — students don't feel punished.</a:t>
            </a:r>
          </a:p>
          <a:p>
            <a:pPr>
              <a:lnSpc>
                <a:spcPct val="115000"/>
              </a:lnSpc>
              <a:spcAft>
                <a:spcPts val="100"/>
              </a:spcAft>
            </a:pPr>
            <a:r>
              <a:rPr sz="650" b="1">
                <a:solidFill>
                  <a:srgbClr val="EA580C"/>
                </a:solidFill>
                <a:latin typeface="Malgun Gothic"/>
              </a:rPr>
              <a:t>● </a:t>
            </a:r>
            <a:r>
              <a:rPr sz="850">
                <a:solidFill>
                  <a:srgbClr val="334155"/>
                </a:solidFill>
                <a:latin typeface="Malgun Gothic"/>
              </a:rPr>
              <a:t>Recent answers are weighted more heavily, so a student who improves lately climbs quickly.</a:t>
            </a:r>
          </a:p>
          <a:p>
            <a:pPr>
              <a:lnSpc>
                <a:spcPct val="115000"/>
              </a:lnSpc>
              <a:spcAft>
                <a:spcPts val="100"/>
              </a:spcAft>
            </a:pPr>
            <a:r>
              <a:rPr sz="650" b="1">
                <a:solidFill>
                  <a:srgbClr val="EA580C"/>
                </a:solidFill>
                <a:latin typeface="Malgun Gothic"/>
              </a:rPr>
              <a:t>● </a:t>
            </a:r>
            <a:r>
              <a:rPr sz="850">
                <a:solidFill>
                  <a:srgbClr val="334155"/>
                </a:solidFill>
                <a:latin typeface="Malgun Gothic"/>
              </a:rPr>
              <a:t>Students who recover after a wrong answer are identified separately.</a:t>
            </a:r>
          </a:p>
        </p:txBody>
      </p:sp>
      <p:sp>
        <p:nvSpPr>
          <p:cNvPr id="17" name="Rounded Rectangle 16"/>
          <p:cNvSpPr/>
          <p:nvPr/>
        </p:nvSpPr>
        <p:spPr>
          <a:xfrm>
            <a:off x="365760" y="6172200"/>
            <a:ext cx="11457432"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Ask “Why did you think so?” in English and let them answer in their own language. The reasoning comes first.</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judgment.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13685" y="2670048"/>
            <a:ext cx="17282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59598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9598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897733"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Judgment…</a:t>
            </a:r>
          </a:p>
        </p:txBody>
      </p:sp>
      <p:sp>
        <p:nvSpPr>
          <p:cNvPr id="26" name="TextBox 25"/>
          <p:cNvSpPr txBox="1"/>
          <p:nvPr/>
        </p:nvSpPr>
        <p:spPr>
          <a:xfrm>
            <a:off x="424190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4424781"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50707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0707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80882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and the re…</a:t>
            </a:r>
          </a:p>
        </p:txBody>
      </p:sp>
      <p:sp>
        <p:nvSpPr>
          <p:cNvPr id="31" name="TextBox 30"/>
          <p:cNvSpPr txBox="1"/>
          <p:nvPr/>
        </p:nvSpPr>
        <p:spPr>
          <a:xfrm>
            <a:off x="608167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264554" y="2670048"/>
            <a:ext cx="1570939"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4685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685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648602"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listener,…</a:t>
            </a:r>
          </a:p>
        </p:txBody>
      </p:sp>
      <p:sp>
        <p:nvSpPr>
          <p:cNvPr id="36" name="TextBox 35"/>
          <p:cNvSpPr txBox="1"/>
          <p:nvPr/>
        </p:nvSpPr>
        <p:spPr>
          <a:xfrm>
            <a:off x="783549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8018373"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10066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0066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40242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judgment 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Replay a recorded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Play back a recording where you found it</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lesson recorded with REC can now be played back directly from the management screen. No download needed — one click plays it, and the old bug that threw you back to the login screen is fixed.</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Press REC at the top during the lesson to record.</a:t>
            </a:r>
          </a:p>
          <a:p>
            <a:pPr>
              <a:lnSpc>
                <a:spcPct val="115000"/>
              </a:lnSpc>
              <a:spcAft>
                <a:spcPts val="300"/>
              </a:spcAft>
            </a:pPr>
            <a:r>
              <a:rPr sz="700" b="1">
                <a:solidFill>
                  <a:srgbClr val="EA580C"/>
                </a:solidFill>
                <a:latin typeface="Malgun Gothic"/>
              </a:rPr>
              <a:t>● </a:t>
            </a:r>
            <a:r>
              <a:rPr sz="900">
                <a:solidFill>
                  <a:srgbClr val="334155"/>
                </a:solidFill>
                <a:latin typeface="Malgun Gothic"/>
              </a:rPr>
              <a:t>After class, find the lesson under Lesson log / Recordings.</a:t>
            </a:r>
          </a:p>
          <a:p>
            <a:pPr>
              <a:lnSpc>
                <a:spcPct val="115000"/>
              </a:lnSpc>
              <a:spcAft>
                <a:spcPts val="300"/>
              </a:spcAft>
            </a:pPr>
            <a:r>
              <a:rPr sz="700" b="1">
                <a:solidFill>
                  <a:srgbClr val="EA580C"/>
                </a:solidFill>
                <a:latin typeface="Malgun Gothic"/>
              </a:rPr>
              <a:t>● </a:t>
            </a:r>
            <a:r>
              <a:rPr sz="900">
                <a:solidFill>
                  <a:srgbClr val="334155"/>
                </a:solidFill>
                <a:latin typeface="Malgun Gothic"/>
              </a:rPr>
              <a:t>Press ▶ Play to review it right there.</a:t>
            </a:r>
          </a:p>
          <a:p>
            <a:pPr>
              <a:lnSpc>
                <a:spcPct val="115000"/>
              </a:lnSpc>
              <a:spcAft>
                <a:spcPts val="300"/>
              </a:spcAft>
            </a:pPr>
            <a:r>
              <a:rPr sz="700" b="1">
                <a:solidFill>
                  <a:srgbClr val="EA580C"/>
                </a:solidFill>
                <a:latin typeface="Malgun Gothic"/>
              </a:rPr>
              <a:t>● </a:t>
            </a:r>
            <a:r>
              <a:rPr sz="900">
                <a:solidFill>
                  <a:srgbClr val="334155"/>
                </a:solidFill>
                <a:latin typeface="Malgun Gothic"/>
              </a:rPr>
              <a:t>If a parent needs a copy, ask an administrator.</a:t>
            </a:r>
          </a:p>
        </p:txBody>
      </p:sp>
      <p:sp>
        <p:nvSpPr>
          <p:cNvPr id="14" name="Rounded Rectangle 13"/>
          <p:cNvSpPr/>
          <p:nvPr/>
        </p:nvSpPr>
        <p:spPr>
          <a:xfrm>
            <a:off x="457200" y="5475884"/>
            <a:ext cx="5669280" cy="152201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768492"/>
            <a:ext cx="5394960" cy="1192834"/>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Playback no longer bounces you to the login screen.</a:t>
            </a:r>
          </a:p>
          <a:p>
            <a:pPr>
              <a:lnSpc>
                <a:spcPct val="115000"/>
              </a:lnSpc>
              <a:spcAft>
                <a:spcPts val="100"/>
              </a:spcAft>
            </a:pPr>
            <a:r>
              <a:rPr sz="650" b="1">
                <a:solidFill>
                  <a:srgbClr val="EA580C"/>
                </a:solidFill>
                <a:latin typeface="Malgun Gothic"/>
              </a:rPr>
              <a:t>● </a:t>
            </a:r>
            <a:r>
              <a:rPr sz="850">
                <a:solidFill>
                  <a:srgbClr val="334155"/>
                </a:solidFill>
                <a:latin typeface="Malgun Gothic"/>
              </a:rPr>
              <a:t>Recordings are kept on the server and cleaned up per the storage policy.</a:t>
            </a:r>
          </a:p>
          <a:p>
            <a:pPr>
              <a:lnSpc>
                <a:spcPct val="115000"/>
              </a:lnSpc>
              <a:spcAft>
                <a:spcPts val="100"/>
              </a:spcAft>
            </a:pPr>
            <a:r>
              <a:rPr sz="650" b="1">
                <a:solidFill>
                  <a:srgbClr val="EA580C"/>
                </a:solidFill>
                <a:latin typeface="Malgun Gothic"/>
              </a:rPr>
              <a:t>● </a:t>
            </a:r>
            <a:r>
              <a:rPr sz="850">
                <a:solidFill>
                  <a:srgbClr val="334155"/>
                </a:solidFill>
                <a:latin typeface="Malgun Gothic"/>
              </a:rPr>
              <a:t>They contain student faces — external sharing is prohibited.</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Record only with student and parent consent.</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Watching five minutes of your own lesson afterwards visibly improves your pace and question ratio.</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lessons.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100730" y="2670048"/>
            <a:ext cx="897940"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18302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18302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484778" y="2670048"/>
            <a:ext cx="4773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REC</a:t>
            </a:r>
          </a:p>
        </p:txBody>
      </p:sp>
      <p:sp>
        <p:nvSpPr>
          <p:cNvPr id="28" name="TextBox 27"/>
          <p:cNvSpPr txBox="1"/>
          <p:nvPr/>
        </p:nvSpPr>
        <p:spPr>
          <a:xfrm>
            <a:off x="399867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4181551"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26384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6384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56559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Lesson log…</a:t>
            </a:r>
          </a:p>
        </p:txBody>
      </p:sp>
      <p:sp>
        <p:nvSpPr>
          <p:cNvPr id="33" name="TextBox 32"/>
          <p:cNvSpPr txBox="1"/>
          <p:nvPr/>
        </p:nvSpPr>
        <p:spPr>
          <a:xfrm>
            <a:off x="583844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6021324" y="2670048"/>
            <a:ext cx="1227124"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0362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036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405372" y="2670048"/>
            <a:ext cx="8065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Play</a:t>
            </a:r>
          </a:p>
        </p:txBody>
      </p:sp>
      <p:sp>
        <p:nvSpPr>
          <p:cNvPr id="38" name="TextBox 37"/>
          <p:cNvSpPr txBox="1"/>
          <p:nvPr/>
        </p:nvSpPr>
        <p:spPr>
          <a:xfrm>
            <a:off x="724844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7431328"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51362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1362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81537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ask an adm…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Your account (password · interface language)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you forget your password · English screen</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If you forget your password, ask an administrator and it's reset straight away. Teacher accounts also now always open in English, so no one gets lost looking for a menu on a Korean screen.</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Forgot your password? Ask the admin (operations team) for a reset.</a:t>
            </a:r>
          </a:p>
          <a:p>
            <a:pPr>
              <a:lnSpc>
                <a:spcPct val="115000"/>
              </a:lnSpc>
              <a:spcAft>
                <a:spcPts val="300"/>
              </a:spcAft>
            </a:pPr>
            <a:r>
              <a:rPr sz="700" b="1">
                <a:solidFill>
                  <a:srgbClr val="EA580C"/>
                </a:solidFill>
                <a:latin typeface="Malgun Gothic"/>
              </a:rPr>
              <a:t>● </a:t>
            </a:r>
            <a:r>
              <a:rPr sz="900">
                <a:solidFill>
                  <a:srgbClr val="334155"/>
                </a:solidFill>
                <a:latin typeface="Malgun Gothic"/>
              </a:rPr>
              <a:t>Once you receive a temporary password, log in and change it immediately.</a:t>
            </a:r>
          </a:p>
          <a:p>
            <a:pPr>
              <a:lnSpc>
                <a:spcPct val="115000"/>
              </a:lnSpc>
              <a:spcAft>
                <a:spcPts val="300"/>
              </a:spcAft>
            </a:pPr>
            <a:r>
              <a:rPr sz="700" b="1">
                <a:solidFill>
                  <a:srgbClr val="EA580C"/>
                </a:solidFill>
                <a:latin typeface="Malgun Gothic"/>
              </a:rPr>
              <a:t>● </a:t>
            </a:r>
            <a:r>
              <a:rPr sz="900">
                <a:solidFill>
                  <a:srgbClr val="334155"/>
                </a:solidFill>
                <a:latin typeface="Malgun Gothic"/>
              </a:rPr>
              <a:t>Switch the interface language with the 🌐 EN / KR button at the top.</a:t>
            </a:r>
          </a:p>
          <a:p>
            <a:pPr>
              <a:lnSpc>
                <a:spcPct val="115000"/>
              </a:lnSpc>
              <a:spcAft>
                <a:spcPts val="300"/>
              </a:spcAft>
            </a:pPr>
            <a:r>
              <a:rPr sz="700" b="1">
                <a:solidFill>
                  <a:srgbClr val="EA580C"/>
                </a:solidFill>
                <a:latin typeface="Malgun Gothic"/>
              </a:rPr>
              <a:t>● </a:t>
            </a:r>
            <a:r>
              <a:rPr sz="900">
                <a:solidFill>
                  <a:srgbClr val="334155"/>
                </a:solidFill>
                <a:latin typeface="Malgun Gothic"/>
              </a:rPr>
              <a:t>If you use the app, registering a face / fingerprint passkey is the easiest option.</a:t>
            </a:r>
          </a:p>
        </p:txBody>
      </p:sp>
      <p:sp>
        <p:nvSpPr>
          <p:cNvPr id="14" name="Rounded Rectangle 13"/>
          <p:cNvSpPr/>
          <p:nvPr/>
        </p:nvSpPr>
        <p:spPr>
          <a:xfrm>
            <a:off x="457200" y="5636361"/>
            <a:ext cx="5669280" cy="1370457"/>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928969"/>
            <a:ext cx="5394960" cy="1041273"/>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Teacher accounts default to the English interface.</a:t>
            </a:r>
          </a:p>
          <a:p>
            <a:pPr>
              <a:lnSpc>
                <a:spcPct val="115000"/>
              </a:lnSpc>
              <a:spcAft>
                <a:spcPts val="100"/>
              </a:spcAft>
            </a:pPr>
            <a:r>
              <a:rPr sz="650" b="1">
                <a:solidFill>
                  <a:srgbClr val="EA580C"/>
                </a:solidFill>
                <a:latin typeface="Malgun Gothic"/>
              </a:rPr>
              <a:t>● </a:t>
            </a:r>
            <a:r>
              <a:rPr sz="850">
                <a:solidFill>
                  <a:srgbClr val="334155"/>
                </a:solidFill>
                <a:latin typeface="Malgun Gothic"/>
              </a:rPr>
              <a:t>A language you pick yourself is saved to your account only.</a:t>
            </a:r>
          </a:p>
          <a:p>
            <a:pPr>
              <a:lnSpc>
                <a:spcPct val="115000"/>
              </a:lnSpc>
              <a:spcAft>
                <a:spcPts val="100"/>
              </a:spcAft>
            </a:pPr>
            <a:r>
              <a:rPr sz="650" b="1">
                <a:solidFill>
                  <a:srgbClr val="EA580C"/>
                </a:solidFill>
                <a:latin typeface="Malgun Gothic"/>
              </a:rPr>
              <a:t>● </a:t>
            </a:r>
            <a:r>
              <a:rPr sz="850">
                <a:solidFill>
                  <a:srgbClr val="334155"/>
                </a:solidFill>
                <a:latin typeface="Malgun Gothic"/>
              </a:rPr>
              <a:t>Always replace the temporary password.</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If you forget passwords often, register an app passkey — a glance gets you in.</a:t>
            </a:r>
          </a:p>
        </p:txBody>
      </p:sp>
      <p:sp>
        <p:nvSpPr>
          <p:cNvPr id="19" name="Rectangle 18"/>
          <p:cNvSpPr/>
          <p:nvPr/>
        </p:nvSpPr>
        <p:spPr>
          <a:xfrm>
            <a:off x="6300216" y="4291861"/>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4346725"/>
            <a:ext cx="5486400" cy="706581"/>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635300"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71759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1759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01934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Ask the ad…</a:t>
            </a:r>
          </a:p>
        </p:txBody>
      </p:sp>
      <p:sp>
        <p:nvSpPr>
          <p:cNvPr id="26" name="TextBox 25"/>
          <p:cNvSpPr txBox="1"/>
          <p:nvPr/>
        </p:nvSpPr>
        <p:spPr>
          <a:xfrm>
            <a:off x="4292193"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4475073" y="2670048"/>
            <a:ext cx="1570939"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55736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5736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859121"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change it…</a:t>
            </a:r>
          </a:p>
        </p:txBody>
      </p:sp>
      <p:sp>
        <p:nvSpPr>
          <p:cNvPr id="31" name="TextBox 30"/>
          <p:cNvSpPr txBox="1"/>
          <p:nvPr/>
        </p:nvSpPr>
        <p:spPr>
          <a:xfrm>
            <a:off x="604601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228892" y="2670048"/>
            <a:ext cx="148498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1118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1118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612940" y="2670048"/>
            <a:ext cx="10643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EN / KR</a:t>
            </a:r>
          </a:p>
        </p:txBody>
      </p:sp>
      <p:sp>
        <p:nvSpPr>
          <p:cNvPr id="36" name="TextBox 35"/>
          <p:cNvSpPr txBox="1"/>
          <p:nvPr/>
        </p:nvSpPr>
        <p:spPr>
          <a:xfrm>
            <a:off x="7713878"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7896758"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979054"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97905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280806"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face / fin…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Monthly Report (built from your evaluations)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five axes come from the evaluations you leave</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five axes of the pentagon monthly report parents receive (Pronunciation &amp; Fluency / Vocabulary / Sentence Building / Class Attitude / Participation) are filled from the lesson evaluations and pronunciation records you leave. The more consistently you evaluate, the more accurate and complete the report. The Teacher's Note is an AI draft you review and adjust before it goes out.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795881"/>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Fill in the lesson evaluation conscientiously, as usual.</a:t>
            </a:r>
          </a:p>
          <a:p>
            <a:pPr>
              <a:lnSpc>
                <a:spcPct val="115000"/>
              </a:lnSpc>
              <a:spcAft>
                <a:spcPts val="300"/>
              </a:spcAft>
            </a:pPr>
            <a:r>
              <a:rPr sz="700" b="1">
                <a:solidFill>
                  <a:srgbClr val="EA580C"/>
                </a:solidFill>
                <a:latin typeface="Malgun Gothic"/>
              </a:rPr>
              <a:t>● </a:t>
            </a:r>
            <a:r>
              <a:rPr sz="900">
                <a:solidFill>
                  <a:srgbClr val="334155"/>
                </a:solidFill>
                <a:latin typeface="Malgun Gothic"/>
              </a:rPr>
              <a:t>Pronunciation practice and judgment-training records feed the axes automatically.</a:t>
            </a:r>
          </a:p>
          <a:p>
            <a:pPr>
              <a:lnSpc>
                <a:spcPct val="115000"/>
              </a:lnSpc>
              <a:spcAft>
                <a:spcPts val="300"/>
              </a:spcAft>
            </a:pPr>
            <a:r>
              <a:rPr sz="700" b="1">
                <a:solidFill>
                  <a:srgbClr val="EA580C"/>
                </a:solidFill>
                <a:latin typeface="Malgun Gothic"/>
              </a:rPr>
              <a:t>● </a:t>
            </a:r>
            <a:r>
              <a:rPr sz="900">
                <a:solidFill>
                  <a:srgbClr val="334155"/>
                </a:solidFill>
                <a:latin typeface="Malgun Gothic"/>
              </a:rPr>
              <a:t>Review and refine the Teacher's Note AI draft on the report.</a:t>
            </a:r>
          </a:p>
          <a:p>
            <a:pPr>
              <a:lnSpc>
                <a:spcPct val="115000"/>
              </a:lnSpc>
              <a:spcAft>
                <a:spcPts val="300"/>
              </a:spcAft>
            </a:pPr>
            <a:r>
              <a:rPr sz="700" b="1">
                <a:solidFill>
                  <a:srgbClr val="EA580C"/>
                </a:solidFill>
                <a:latin typeface="Malgun Gothic"/>
              </a:rPr>
              <a:t>● </a:t>
            </a:r>
            <a:r>
              <a:rPr sz="900">
                <a:solidFill>
                  <a:srgbClr val="334155"/>
                </a:solidFill>
                <a:latin typeface="Malgun Gothic"/>
              </a:rPr>
              <a:t>Preview to confirm the pentagon is well filled in.</a:t>
            </a:r>
          </a:p>
        </p:txBody>
      </p:sp>
      <p:sp>
        <p:nvSpPr>
          <p:cNvPr id="14" name="Rounded Rectangle 13"/>
          <p:cNvSpPr/>
          <p:nvPr/>
        </p:nvSpPr>
        <p:spPr>
          <a:xfrm>
            <a:off x="457200" y="5636361"/>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8208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928969"/>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Only axes with values are filled — no evaluation means that axis looks empty.</a:t>
            </a:r>
          </a:p>
          <a:p>
            <a:pPr>
              <a:lnSpc>
                <a:spcPct val="115000"/>
              </a:lnSpc>
              <a:spcAft>
                <a:spcPts val="100"/>
              </a:spcAft>
            </a:pPr>
            <a:r>
              <a:rPr sz="650" b="1">
                <a:solidFill>
                  <a:srgbClr val="EA580C"/>
                </a:solidFill>
                <a:latin typeface="Malgun Gothic"/>
              </a:rPr>
              <a:t>● </a:t>
            </a:r>
            <a:r>
              <a:rPr sz="850">
                <a:solidFill>
                  <a:srgbClr val="334155"/>
                </a:solidFill>
                <a:latin typeface="Malgun Gothic"/>
              </a:rPr>
              <a:t>Consistent evaluations matter more than a long comment.</a:t>
            </a:r>
          </a:p>
        </p:txBody>
      </p:sp>
      <p:sp>
        <p:nvSpPr>
          <p:cNvPr id="17" name="Rounded Rectangle 16"/>
          <p:cNvSpPr/>
          <p:nvPr/>
        </p:nvSpPr>
        <p:spPr>
          <a:xfrm>
            <a:off x="365760" y="6217920"/>
            <a:ext cx="11457432" cy="47548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Tip · Even a one-line evaluation each lesson makes the month-end report complete itself.</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report_pentagon.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49347"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631643"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6316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933395"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lesson eva…</a:t>
            </a:r>
          </a:p>
        </p:txBody>
      </p:sp>
      <p:sp>
        <p:nvSpPr>
          <p:cNvPr id="26" name="TextBox 25"/>
          <p:cNvSpPr txBox="1"/>
          <p:nvPr/>
        </p:nvSpPr>
        <p:spPr>
          <a:xfrm>
            <a:off x="420624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4389120"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7141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7141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773168"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Pronunciat…</a:t>
            </a:r>
          </a:p>
        </p:txBody>
      </p:sp>
      <p:sp>
        <p:nvSpPr>
          <p:cNvPr id="31" name="TextBox 30"/>
          <p:cNvSpPr txBox="1"/>
          <p:nvPr/>
        </p:nvSpPr>
        <p:spPr>
          <a:xfrm>
            <a:off x="604601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6228892" y="2670048"/>
            <a:ext cx="1570939"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1118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1118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612940"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Teacher's…</a:t>
            </a:r>
          </a:p>
        </p:txBody>
      </p:sp>
      <p:sp>
        <p:nvSpPr>
          <p:cNvPr id="36" name="TextBox 35"/>
          <p:cNvSpPr txBox="1"/>
          <p:nvPr/>
        </p:nvSpPr>
        <p:spPr>
          <a:xfrm>
            <a:off x="7799831"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7" name="Rounded Rectangle 36"/>
          <p:cNvSpPr/>
          <p:nvPr/>
        </p:nvSpPr>
        <p:spPr>
          <a:xfrm>
            <a:off x="7982711"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065007"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6500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366759"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Preview to…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Escape by Voice (using it in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room with no buttons — it only opens when they speak</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A new escape game where the room opens only when the student speaks English out loud. Clicking does nothing, which makes it unusually effective at raising talk time for quiet students. Looking around the room reveals clues, and each clue tells them what to say next.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2405329"/>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In class, have the student open Games → 🚪 Escape.</a:t>
            </a:r>
          </a:p>
          <a:p>
            <a:pPr>
              <a:lnSpc>
                <a:spcPct val="115000"/>
              </a:lnSpc>
              <a:spcAft>
                <a:spcPts val="300"/>
              </a:spcAft>
            </a:pPr>
            <a:r>
              <a:rPr sz="700" b="1">
                <a:solidFill>
                  <a:srgbClr val="EA580C"/>
                </a:solidFill>
                <a:latin typeface="Malgun Gothic"/>
              </a:rPr>
              <a:t>● </a:t>
            </a:r>
            <a:r>
              <a:rPr sz="900">
                <a:solidFill>
                  <a:srgbClr val="334155"/>
                </a:solidFill>
                <a:latin typeface="Malgun Gothic"/>
              </a:rPr>
              <a:t>The student presses the 🎤 microphone button and says the line shown.</a:t>
            </a:r>
          </a:p>
          <a:p>
            <a:pPr>
              <a:lnSpc>
                <a:spcPct val="115000"/>
              </a:lnSpc>
              <a:spcAft>
                <a:spcPts val="300"/>
              </a:spcAft>
            </a:pPr>
            <a:r>
              <a:rPr sz="700" b="1">
                <a:solidFill>
                  <a:srgbClr val="EA580C"/>
                </a:solidFill>
                <a:latin typeface="Malgun Gothic"/>
              </a:rPr>
              <a:t>● </a:t>
            </a:r>
            <a:r>
              <a:rPr sz="900">
                <a:solidFill>
                  <a:srgbClr val="334155"/>
                </a:solidFill>
                <a:latin typeface="Malgun Gothic"/>
              </a:rPr>
              <a:t>If it is right, the room reacts and moves to the next stage.</a:t>
            </a:r>
          </a:p>
          <a:p>
            <a:pPr>
              <a:lnSpc>
                <a:spcPct val="115000"/>
              </a:lnSpc>
              <a:spcAft>
                <a:spcPts val="300"/>
              </a:spcAft>
            </a:pPr>
            <a:r>
              <a:rPr sz="700" b="1">
                <a:solidFill>
                  <a:srgbClr val="EA580C"/>
                </a:solidFill>
                <a:latin typeface="Malgun Gothic"/>
              </a:rPr>
              <a:t>● </a:t>
            </a:r>
            <a:r>
              <a:rPr sz="900">
                <a:solidFill>
                  <a:srgbClr val="334155"/>
                </a:solidFill>
                <a:latin typeface="Malgun Gothic"/>
              </a:rPr>
              <a:t>If they are stuck, let them use the Hint button (no penalty).</a:t>
            </a:r>
          </a:p>
          <a:p>
            <a:pPr>
              <a:lnSpc>
                <a:spcPct val="115000"/>
              </a:lnSpc>
              <a:spcAft>
                <a:spcPts val="300"/>
              </a:spcAft>
            </a:pPr>
            <a:r>
              <a:rPr sz="700" b="1">
                <a:solidFill>
                  <a:srgbClr val="EA580C"/>
                </a:solidFill>
                <a:latin typeface="Malgun Gothic"/>
              </a:rPr>
              <a:t>● </a:t>
            </a:r>
            <a:r>
              <a:rPr sz="900">
                <a:solidFill>
                  <a:srgbClr val="334155"/>
                </a:solidFill>
                <a:latin typeface="Malgun Gothic"/>
              </a:rPr>
              <a:t>At the end, how many times they spoke and their success rate appear — praise them on the spot.</a:t>
            </a:r>
          </a:p>
        </p:txBody>
      </p:sp>
      <p:sp>
        <p:nvSpPr>
          <p:cNvPr id="14" name="Rounded Rectangle 13"/>
          <p:cNvSpPr/>
          <p:nvPr/>
        </p:nvSpPr>
        <p:spPr>
          <a:xfrm>
            <a:off x="457200" y="6245809"/>
            <a:ext cx="5669280" cy="1522018"/>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291529"/>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6538417"/>
            <a:ext cx="5394960" cy="1192834"/>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Clicking never advances it — only speaking opens the room.</a:t>
            </a:r>
          </a:p>
          <a:p>
            <a:pPr>
              <a:lnSpc>
                <a:spcPct val="115000"/>
              </a:lnSpc>
              <a:spcAft>
                <a:spcPts val="100"/>
              </a:spcAft>
            </a:pPr>
            <a:r>
              <a:rPr sz="650" b="1">
                <a:solidFill>
                  <a:srgbClr val="EA580C"/>
                </a:solidFill>
                <a:latin typeface="Malgun Gothic"/>
              </a:rPr>
              <a:t>● </a:t>
            </a:r>
            <a:r>
              <a:rPr sz="850">
                <a:solidFill>
                  <a:srgbClr val="334155"/>
                </a:solidFill>
                <a:latin typeface="Malgun Gothic"/>
              </a:rPr>
              <a:t>As time runs down the room darkens, adding just enough tension.</a:t>
            </a:r>
          </a:p>
          <a:p>
            <a:pPr>
              <a:lnSpc>
                <a:spcPct val="115000"/>
              </a:lnSpc>
              <a:spcAft>
                <a:spcPts val="100"/>
              </a:spcAft>
            </a:pPr>
            <a:r>
              <a:rPr sz="650" b="1">
                <a:solidFill>
                  <a:srgbClr val="EA580C"/>
                </a:solidFill>
                <a:latin typeface="Malgun Gothic"/>
              </a:rPr>
              <a:t>● </a:t>
            </a:r>
            <a:r>
              <a:rPr sz="850">
                <a:solidFill>
                  <a:srgbClr val="334155"/>
                </a:solidFill>
                <a:latin typeface="Malgun Gothic"/>
              </a:rPr>
              <a:t>The end screen leaves spoken-attempt and success counts you can use for coaching.</a:t>
            </a:r>
          </a:p>
        </p:txBody>
      </p:sp>
      <p:sp>
        <p:nvSpPr>
          <p:cNvPr id="17" name="Rounded Rectangle 16"/>
          <p:cNvSpPr/>
          <p:nvPr/>
        </p:nvSpPr>
        <p:spPr>
          <a:xfrm>
            <a:off x="365760" y="5870448"/>
            <a:ext cx="5646420" cy="82296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5916168"/>
            <a:ext cx="5372100" cy="731520"/>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Microphone permission is required. If nothing is picked up, check that the browser is allowed to use the mic.</a:t>
            </a:r>
          </a:p>
        </p:txBody>
      </p:sp>
      <p:sp>
        <p:nvSpPr>
          <p:cNvPr id="19" name="Rounded Rectangle 18"/>
          <p:cNvSpPr/>
          <p:nvPr/>
        </p:nvSpPr>
        <p:spPr>
          <a:xfrm>
            <a:off x="6176772" y="5870448"/>
            <a:ext cx="5646420" cy="822960"/>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5916168"/>
            <a:ext cx="5372100" cy="731520"/>
          </a:xfrm>
          <a:prstGeom prst="rect">
            <a:avLst/>
          </a:prstGeom>
          <a:noFill/>
        </p:spPr>
        <p:txBody>
          <a:bodyPr wrap="square" anchor="t">
            <a:spAutoFit/>
          </a:bodyPr>
          <a:lstStyle/>
          <a:p>
            <a:pPr algn="l">
              <a:lnSpc>
                <a:spcPct val="100000"/>
              </a:lnSpc>
            </a:pPr>
            <a:r>
              <a:rPr sz="950" b="0">
                <a:solidFill>
                  <a:srgbClr val="5B4A2A"/>
                </a:solidFill>
                <a:latin typeface="Malgun Gothic"/>
              </a:rPr>
              <a:t>💡 Tip · Give a reluctant speaker exactly one room in their first session. The moment they realise speaking really opens the door changes every lesson after.</a:t>
            </a:r>
          </a:p>
        </p:txBody>
      </p:sp>
      <p:sp>
        <p:nvSpPr>
          <p:cNvPr id="21" name="Rectangle 20"/>
          <p:cNvSpPr/>
          <p:nvPr/>
        </p:nvSpPr>
        <p:spPr>
          <a:xfrm>
            <a:off x="7097572" y="3255264"/>
            <a:ext cx="4001414" cy="25420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escape.jpg"/>
          <p:cNvPicPr>
            <a:picLocks noChangeAspect="1"/>
          </p:cNvPicPr>
          <p:nvPr/>
        </p:nvPicPr>
        <p:blipFill>
          <a:blip r:embed="rId2"/>
          <a:stretch>
            <a:fillRect/>
          </a:stretch>
        </p:blipFill>
        <p:spPr>
          <a:xfrm>
            <a:off x="7152436" y="3310128"/>
            <a:ext cx="3891686" cy="2432304"/>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601114" y="2670048"/>
            <a:ext cx="171358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68341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8341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985162" y="2670048"/>
            <a:ext cx="12929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Games → 🚪…</a:t>
            </a:r>
          </a:p>
        </p:txBody>
      </p:sp>
      <p:sp>
        <p:nvSpPr>
          <p:cNvPr id="28" name="TextBox 27"/>
          <p:cNvSpPr txBox="1"/>
          <p:nvPr/>
        </p:nvSpPr>
        <p:spPr>
          <a:xfrm>
            <a:off x="3314700"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3497580" y="2670048"/>
            <a:ext cx="17282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7987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7987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881628" y="2670048"/>
            <a:ext cx="13075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micropho…</a:t>
            </a:r>
          </a:p>
        </p:txBody>
      </p:sp>
      <p:sp>
        <p:nvSpPr>
          <p:cNvPr id="33" name="TextBox 32"/>
          <p:cNvSpPr txBox="1"/>
          <p:nvPr/>
        </p:nvSpPr>
        <p:spPr>
          <a:xfrm>
            <a:off x="522579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5408676" y="2670048"/>
            <a:ext cx="14996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9097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9097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792724"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next stage</a:t>
            </a:r>
          </a:p>
        </p:txBody>
      </p:sp>
      <p:sp>
        <p:nvSpPr>
          <p:cNvPr id="38" name="TextBox 37"/>
          <p:cNvSpPr txBox="1"/>
          <p:nvPr/>
        </p:nvSpPr>
        <p:spPr>
          <a:xfrm>
            <a:off x="690829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7091172"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17346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734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47522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Hint butto…</a:t>
            </a:r>
          </a:p>
        </p:txBody>
      </p:sp>
      <p:sp>
        <p:nvSpPr>
          <p:cNvPr id="43" name="TextBox 42"/>
          <p:cNvSpPr txBox="1"/>
          <p:nvPr/>
        </p:nvSpPr>
        <p:spPr>
          <a:xfrm>
            <a:off x="8748064"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44" name="Rounded Rectangle 43"/>
          <p:cNvSpPr/>
          <p:nvPr/>
        </p:nvSpPr>
        <p:spPr>
          <a:xfrm>
            <a:off x="8930944"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01324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132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31499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how many 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Vocabulary, Redesigned (Preview tab · 6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Let students meet next lesson's sentences early</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student vocabulary page is now one screen with six tabs. Most notably a new 🔮 Preview tab lets a student hear the textbook sentences from their next lesson in advance and add any word straight to their list. First-time visitors get a 30-second onboarding guide.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635404"/>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Have the student open My Vocabulary.</a:t>
            </a:r>
          </a:p>
          <a:p>
            <a:pPr>
              <a:lnSpc>
                <a:spcPct val="115000"/>
              </a:lnSpc>
              <a:spcAft>
                <a:spcPts val="300"/>
              </a:spcAft>
            </a:pPr>
            <a:r>
              <a:rPr sz="700" b="1">
                <a:solidFill>
                  <a:srgbClr val="EA580C"/>
                </a:solidFill>
                <a:latin typeface="Malgun Gothic"/>
              </a:rPr>
              <a:t>● </a:t>
            </a:r>
            <a:r>
              <a:rPr sz="900">
                <a:solidFill>
                  <a:srgbClr val="334155"/>
                </a:solidFill>
                <a:latin typeface="Malgun Gothic"/>
              </a:rPr>
              <a:t>In the 🔮 Preview tab, let them hear next lesson's textbook sentences.</a:t>
            </a:r>
          </a:p>
          <a:p>
            <a:pPr>
              <a:lnSpc>
                <a:spcPct val="115000"/>
              </a:lnSpc>
              <a:spcAft>
                <a:spcPts val="300"/>
              </a:spcAft>
            </a:pPr>
            <a:r>
              <a:rPr sz="700" b="1">
                <a:solidFill>
                  <a:srgbClr val="EA580C"/>
                </a:solidFill>
                <a:latin typeface="Malgun Gothic"/>
              </a:rPr>
              <a:t>● </a:t>
            </a:r>
            <a:r>
              <a:rPr sz="900">
                <a:solidFill>
                  <a:srgbClr val="334155"/>
                </a:solidFill>
                <a:latin typeface="Malgun Gothic"/>
              </a:rPr>
              <a:t>Have them tap words they like to add them to their list.</a:t>
            </a:r>
          </a:p>
          <a:p>
            <a:pPr>
              <a:lnSpc>
                <a:spcPct val="115000"/>
              </a:lnSpc>
              <a:spcAft>
                <a:spcPts val="300"/>
              </a:spcAft>
            </a:pPr>
            <a:r>
              <a:rPr sz="700" b="1">
                <a:solidFill>
                  <a:srgbClr val="EA580C"/>
                </a:solidFill>
                <a:latin typeface="Malgun Gothic"/>
              </a:rPr>
              <a:t>● </a:t>
            </a:r>
            <a:r>
              <a:rPr sz="900">
                <a:solidFill>
                  <a:srgbClr val="334155"/>
                </a:solidFill>
                <a:latin typeface="Malgun Gothic"/>
              </a:rPr>
              <a:t>After class, move them on to the Review Game tab.</a:t>
            </a:r>
          </a:p>
        </p:txBody>
      </p:sp>
      <p:sp>
        <p:nvSpPr>
          <p:cNvPr id="14" name="Rounded Rectangle 13"/>
          <p:cNvSpPr/>
          <p:nvPr/>
        </p:nvSpPr>
        <p:spPr>
          <a:xfrm>
            <a:off x="457200" y="5475884"/>
            <a:ext cx="5669280" cy="167358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521604"/>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768492"/>
            <a:ext cx="5394960" cy="1344396"/>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The Preview tab is visible to logged-in students only.</a:t>
            </a:r>
          </a:p>
          <a:p>
            <a:pPr>
              <a:lnSpc>
                <a:spcPct val="115000"/>
              </a:lnSpc>
              <a:spcAft>
                <a:spcPts val="100"/>
              </a:spcAft>
            </a:pPr>
            <a:r>
              <a:rPr sz="650" b="1">
                <a:solidFill>
                  <a:srgbClr val="EA580C"/>
                </a:solidFill>
                <a:latin typeface="Malgun Gothic"/>
              </a:rPr>
              <a:t>● </a:t>
            </a:r>
            <a:r>
              <a:rPr sz="850">
                <a:solidFill>
                  <a:srgbClr val="334155"/>
                </a:solidFill>
                <a:latin typeface="Malgun Gothic"/>
              </a:rPr>
              <a:t>If no textbook sentences are registered it shows 'Preview coming soon'.</a:t>
            </a:r>
          </a:p>
          <a:p>
            <a:pPr>
              <a:lnSpc>
                <a:spcPct val="115000"/>
              </a:lnSpc>
              <a:spcAft>
                <a:spcPts val="100"/>
              </a:spcAft>
            </a:pPr>
            <a:r>
              <a:rPr sz="650" b="1">
                <a:solidFill>
                  <a:srgbClr val="EA580C"/>
                </a:solidFill>
                <a:latin typeface="Malgun Gothic"/>
              </a:rPr>
              <a:t>● </a:t>
            </a:r>
            <a:r>
              <a:rPr sz="850">
                <a:solidFill>
                  <a:srgbClr val="334155"/>
                </a:solidFill>
                <a:latin typeface="Malgun Gothic"/>
              </a:rPr>
              <a:t>If the meaning field is left blank, AI generates the Korean meaning and an example sentence automatically.</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Preview content depends on textbook and lesson registration. If it is empty, check the assigned textbook.</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Make 'add three of today's words to your list' the last minute of class — it builds the review habit fast.</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vocab.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92324"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674620"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746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97637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My Vocabul…</a:t>
            </a:r>
          </a:p>
        </p:txBody>
      </p:sp>
      <p:sp>
        <p:nvSpPr>
          <p:cNvPr id="28" name="TextBox 27"/>
          <p:cNvSpPr txBox="1"/>
          <p:nvPr/>
        </p:nvSpPr>
        <p:spPr>
          <a:xfrm>
            <a:off x="424921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4432096" y="2670048"/>
            <a:ext cx="148498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1439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439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816144" y="2670048"/>
            <a:ext cx="10643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Preview</a:t>
            </a:r>
          </a:p>
        </p:txBody>
      </p:sp>
      <p:sp>
        <p:nvSpPr>
          <p:cNvPr id="33" name="TextBox 32"/>
          <p:cNvSpPr txBox="1"/>
          <p:nvPr/>
        </p:nvSpPr>
        <p:spPr>
          <a:xfrm>
            <a:off x="591708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6099962"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8225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822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48401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add them t…</a:t>
            </a:r>
          </a:p>
        </p:txBody>
      </p:sp>
      <p:sp>
        <p:nvSpPr>
          <p:cNvPr id="38" name="TextBox 37"/>
          <p:cNvSpPr txBox="1"/>
          <p:nvPr/>
        </p:nvSpPr>
        <p:spPr>
          <a:xfrm>
            <a:off x="775685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7939735"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2203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220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32378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Review Gam…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Registering Work Hours, Breaks and Leave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Now reachable directly from Teachers</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screen for registering work hours, breaks and leave always existed — but there was no entry point in the teacher's path, so nobody could find it. A shortcut has now been added to the Teachers screen, so you can get there in one step.</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474927"/>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Open the Teachers screen.</a:t>
            </a:r>
          </a:p>
          <a:p>
            <a:pPr>
              <a:lnSpc>
                <a:spcPct val="115000"/>
              </a:lnSpc>
              <a:spcAft>
                <a:spcPts val="300"/>
              </a:spcAft>
            </a:pPr>
            <a:r>
              <a:rPr sz="700" b="1">
                <a:solidFill>
                  <a:srgbClr val="EA580C"/>
                </a:solidFill>
                <a:latin typeface="Malgun Gothic"/>
              </a:rPr>
              <a:t>● </a:t>
            </a:r>
            <a:r>
              <a:rPr sz="900">
                <a:solidFill>
                  <a:srgbClr val="334155"/>
                </a:solidFill>
                <a:latin typeface="Malgun Gothic"/>
              </a:rPr>
              <a:t>Press the Work / Break / Leave shortcut.</a:t>
            </a:r>
          </a:p>
          <a:p>
            <a:pPr>
              <a:lnSpc>
                <a:spcPct val="115000"/>
              </a:lnSpc>
              <a:spcAft>
                <a:spcPts val="300"/>
              </a:spcAft>
            </a:pPr>
            <a:r>
              <a:rPr sz="700" b="1">
                <a:solidFill>
                  <a:srgbClr val="EA580C"/>
                </a:solidFill>
                <a:latin typeface="Malgun Gothic"/>
              </a:rPr>
              <a:t>● </a:t>
            </a:r>
            <a:r>
              <a:rPr sz="900">
                <a:solidFill>
                  <a:srgbClr val="334155"/>
                </a:solidFill>
                <a:latin typeface="Malgun Gothic"/>
              </a:rPr>
              <a:t>Pick the date and time on the calendar and register.</a:t>
            </a:r>
          </a:p>
          <a:p>
            <a:pPr>
              <a:lnSpc>
                <a:spcPct val="115000"/>
              </a:lnSpc>
              <a:spcAft>
                <a:spcPts val="300"/>
              </a:spcAft>
            </a:pPr>
            <a:r>
              <a:rPr sz="700" b="1">
                <a:solidFill>
                  <a:srgbClr val="EA580C"/>
                </a:solidFill>
                <a:latin typeface="Malgun Gothic"/>
              </a:rPr>
              <a:t>● </a:t>
            </a:r>
            <a:r>
              <a:rPr sz="900">
                <a:solidFill>
                  <a:srgbClr val="334155"/>
                </a:solidFill>
                <a:latin typeface="Malgun Gothic"/>
              </a:rPr>
              <a:t>What you register affects assignment — please enter it in advance.</a:t>
            </a:r>
          </a:p>
        </p:txBody>
      </p:sp>
      <p:sp>
        <p:nvSpPr>
          <p:cNvPr id="14" name="Rounded Rectangle 13"/>
          <p:cNvSpPr/>
          <p:nvPr/>
        </p:nvSpPr>
        <p:spPr>
          <a:xfrm>
            <a:off x="457200" y="5315407"/>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61127"/>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608015"/>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The feature was never missing — only the route to it was. How you register has not changed.</a:t>
            </a:r>
          </a:p>
          <a:p>
            <a:pPr>
              <a:lnSpc>
                <a:spcPct val="115000"/>
              </a:lnSpc>
              <a:spcAft>
                <a:spcPts val="100"/>
              </a:spcAft>
            </a:pPr>
            <a:r>
              <a:rPr sz="650" b="1">
                <a:solidFill>
                  <a:srgbClr val="EA580C"/>
                </a:solidFill>
                <a:latin typeface="Malgun Gothic"/>
              </a:rPr>
              <a:t>● </a:t>
            </a:r>
            <a:r>
              <a:rPr sz="850">
                <a:solidFill>
                  <a:srgbClr val="334155"/>
                </a:solidFill>
                <a:latin typeface="Malgun Gothic"/>
              </a:rPr>
              <a:t>The earlier you register leave, the more reliably it is reflected in assignments.</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Good to know · For time slots that already have assigned lessons, please check with an admin before registering.</a:t>
            </a:r>
          </a:p>
        </p:txBody>
      </p:sp>
      <p:sp>
        <p:nvSpPr>
          <p:cNvPr id="19" name="Rounded Rectangle 18"/>
          <p:cNvSpPr/>
          <p:nvPr/>
        </p:nvSpPr>
        <p:spPr>
          <a:xfrm>
            <a:off x="6176772" y="6021324"/>
            <a:ext cx="5646420" cy="672084"/>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Tip · Register the whole month's leave at the start of each month and scheduling conflicts almost disappear.</a:t>
            </a:r>
          </a:p>
        </p:txBody>
      </p:sp>
      <p:sp>
        <p:nvSpPr>
          <p:cNvPr id="21" name="Rectangle 20"/>
          <p:cNvSpPr/>
          <p:nvPr/>
        </p:nvSpPr>
        <p:spPr>
          <a:xfrm>
            <a:off x="6300216" y="4193563"/>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mypage.jpg"/>
          <p:cNvPicPr>
            <a:picLocks noChangeAspect="1"/>
          </p:cNvPicPr>
          <p:nvPr/>
        </p:nvPicPr>
        <p:blipFill>
          <a:blip r:embed="rId2"/>
          <a:stretch>
            <a:fillRect/>
          </a:stretch>
        </p:blipFill>
        <p:spPr>
          <a:xfrm>
            <a:off x="6355080" y="4248427"/>
            <a:ext cx="5486400" cy="706581"/>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749600" y="2670048"/>
            <a:ext cx="1327708"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831896"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3189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133648" y="2670048"/>
            <a:ext cx="9070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Teachers</a:t>
            </a:r>
          </a:p>
        </p:txBody>
      </p:sp>
      <p:sp>
        <p:nvSpPr>
          <p:cNvPr id="28" name="TextBox 27"/>
          <p:cNvSpPr txBox="1"/>
          <p:nvPr/>
        </p:nvSpPr>
        <p:spPr>
          <a:xfrm>
            <a:off x="4077309"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9" name="Rounded Rectangle 28"/>
          <p:cNvSpPr/>
          <p:nvPr/>
        </p:nvSpPr>
        <p:spPr>
          <a:xfrm>
            <a:off x="4260189"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342485"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4248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644237"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Work / Bre…</a:t>
            </a:r>
          </a:p>
        </p:txBody>
      </p:sp>
      <p:sp>
        <p:nvSpPr>
          <p:cNvPr id="33" name="TextBox 32"/>
          <p:cNvSpPr txBox="1"/>
          <p:nvPr/>
        </p:nvSpPr>
        <p:spPr>
          <a:xfrm>
            <a:off x="5917082"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4" name="Rounded Rectangle 33"/>
          <p:cNvSpPr/>
          <p:nvPr/>
        </p:nvSpPr>
        <p:spPr>
          <a:xfrm>
            <a:off x="6099962"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82258"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822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484010"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Pick the d…</a:t>
            </a:r>
          </a:p>
        </p:txBody>
      </p:sp>
      <p:sp>
        <p:nvSpPr>
          <p:cNvPr id="38" name="TextBox 37"/>
          <p:cNvSpPr txBox="1"/>
          <p:nvPr/>
        </p:nvSpPr>
        <p:spPr>
          <a:xfrm>
            <a:off x="775685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9" name="Rounded Rectangle 38"/>
          <p:cNvSpPr/>
          <p:nvPr/>
        </p:nvSpPr>
        <p:spPr>
          <a:xfrm>
            <a:off x="7939735" y="2670048"/>
            <a:ext cx="1499615"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2203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220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323783" y="2670048"/>
            <a:ext cx="107899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in advance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Learn the Screens with a Sample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Even when you have no class today</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Previously, with no lesson assigned today you could not open the textbook, video, quiz or report screens at all. Now an admin can create a sample lesson on the demo student account, so you can learn the screens without affecting any real student.</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186434"/>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Ask an admin to create a sample lesson.</a:t>
            </a:r>
          </a:p>
          <a:p>
            <a:pPr>
              <a:lnSpc>
                <a:spcPct val="115000"/>
              </a:lnSpc>
              <a:spcAft>
                <a:spcPts val="300"/>
              </a:spcAft>
            </a:pPr>
            <a:r>
              <a:rPr sz="700" b="1">
                <a:solidFill>
                  <a:srgbClr val="EA580C"/>
                </a:solidFill>
                <a:latin typeface="Malgun Gothic"/>
              </a:rPr>
              <a:t>● </a:t>
            </a:r>
            <a:r>
              <a:rPr sz="900">
                <a:solidFill>
                  <a:srgbClr val="334155"/>
                </a:solidFill>
                <a:latin typeface="Malgun Gothic"/>
              </a:rPr>
              <a:t>Use it to open the textbook, video, quiz and report screens.</a:t>
            </a:r>
          </a:p>
          <a:p>
            <a:pPr>
              <a:lnSpc>
                <a:spcPct val="115000"/>
              </a:lnSpc>
              <a:spcAft>
                <a:spcPts val="300"/>
              </a:spcAft>
            </a:pPr>
            <a:r>
              <a:rPr sz="700" b="1">
                <a:solidFill>
                  <a:srgbClr val="EA580C"/>
                </a:solidFill>
                <a:latin typeface="Malgun Gothic"/>
              </a:rPr>
              <a:t>● </a:t>
            </a:r>
            <a:r>
              <a:rPr sz="900">
                <a:solidFill>
                  <a:srgbClr val="334155"/>
                </a:solidFill>
                <a:latin typeface="Malgun Gothic"/>
              </a:rPr>
              <a:t>Once you are comfortable, use them the same way in a real lesson.</a:t>
            </a:r>
          </a:p>
        </p:txBody>
      </p:sp>
      <p:sp>
        <p:nvSpPr>
          <p:cNvPr id="14" name="Rounded Rectangle 13"/>
          <p:cNvSpPr/>
          <p:nvPr/>
        </p:nvSpPr>
        <p:spPr>
          <a:xfrm>
            <a:off x="457200" y="5026914"/>
            <a:ext cx="5669280" cy="1288161"/>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2634"/>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319522"/>
            <a:ext cx="5394960" cy="958977"/>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Sample lessons are created only on the demo student account (student) — no real student data is touched.</a:t>
            </a:r>
          </a:p>
          <a:p>
            <a:pPr>
              <a:lnSpc>
                <a:spcPct val="115000"/>
              </a:lnSpc>
              <a:spcAft>
                <a:spcPts val="100"/>
              </a:spcAft>
            </a:pPr>
            <a:r>
              <a:rPr sz="650" b="1">
                <a:solidFill>
                  <a:srgbClr val="EA580C"/>
                </a:solidFill>
                <a:latin typeface="Malgun Gothic"/>
              </a:rPr>
              <a:t>● </a:t>
            </a:r>
            <a:r>
              <a:rPr sz="850">
                <a:solidFill>
                  <a:srgbClr val="334155"/>
                </a:solidFill>
                <a:latin typeface="Malgun Gothic"/>
              </a:rPr>
              <a:t>Creating a sample lesson does not send any KakaoTalk or push notification.</a:t>
            </a:r>
          </a:p>
        </p:txBody>
      </p:sp>
      <p:sp>
        <p:nvSpPr>
          <p:cNvPr id="17" name="Rounded Rectangle 16"/>
          <p:cNvSpPr/>
          <p:nvPr/>
        </p:nvSpPr>
        <p:spPr>
          <a:xfrm>
            <a:off x="365760" y="6172200"/>
            <a:ext cx="11457432"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Ask for one sample lesson on a new teacher's first day. A 30-minute explanation becomes a 5-minute hands-on.</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69233"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5152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1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53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create a s…</a:t>
            </a:r>
          </a:p>
        </p:txBody>
      </p:sp>
      <p:sp>
        <p:nvSpPr>
          <p:cNvPr id="26" name="TextBox 25"/>
          <p:cNvSpPr txBox="1"/>
          <p:nvPr/>
        </p:nvSpPr>
        <p:spPr>
          <a:xfrm>
            <a:off x="512612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309006" y="2670048"/>
            <a:ext cx="1570939"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9130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1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93054"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textbook,…</a:t>
            </a:r>
          </a:p>
        </p:txBody>
      </p:sp>
      <p:sp>
        <p:nvSpPr>
          <p:cNvPr id="31" name="TextBox 30"/>
          <p:cNvSpPr txBox="1"/>
          <p:nvPr/>
        </p:nvSpPr>
        <p:spPr>
          <a:xfrm>
            <a:off x="687994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062825"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4512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45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4687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Once you 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Weekly Report (your lessons are the evidence)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week of growth, sent to parents every week</a:t>
            </a:r>
          </a:p>
        </p:txBody>
      </p:sp>
      <p:sp>
        <p:nvSpPr>
          <p:cNvPr id="10" name="Rounded Rectangle 9"/>
          <p:cNvSpPr/>
          <p:nvPr/>
        </p:nvSpPr>
        <p:spPr>
          <a:xfrm>
            <a:off x="365760" y="1828800"/>
            <a:ext cx="11430000" cy="73152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The report parents receive every week contains the child's activity for that week — attendance days · attendance streak · AI friend chats · judgment training · words conquered · pronunciation practice. What you create in class becomes the evidence of growth parents actually see.</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749040"/>
            <a:ext cx="5669280" cy="1346911"/>
          </a:xfrm>
          <a:prstGeom prst="rect">
            <a:avLst/>
          </a:prstGeom>
          <a:noFill/>
        </p:spPr>
        <p:txBody>
          <a:bodyPr wrap="square">
            <a:spAutoFit/>
          </a:bodyPr>
          <a:lstStyle/>
          <a:p>
            <a:pPr>
              <a:lnSpc>
                <a:spcPct val="115000"/>
              </a:lnSpc>
              <a:spcAft>
                <a:spcPts val="300"/>
              </a:spcAft>
            </a:pPr>
            <a:r>
              <a:rPr sz="700" b="1">
                <a:solidFill>
                  <a:srgbClr val="EA580C"/>
                </a:solidFill>
                <a:latin typeface="Malgun Gothic"/>
              </a:rPr>
              <a:t>● </a:t>
            </a:r>
            <a:r>
              <a:rPr sz="900">
                <a:solidFill>
                  <a:srgbClr val="334155"/>
                </a:solidFill>
                <a:latin typeface="Malgun Gothic"/>
              </a:rPr>
              <a:t>Teach as usual and leave your evaluation and pronunciation records.</a:t>
            </a:r>
          </a:p>
          <a:p>
            <a:pPr>
              <a:lnSpc>
                <a:spcPct val="115000"/>
              </a:lnSpc>
              <a:spcAft>
                <a:spcPts val="300"/>
              </a:spcAft>
            </a:pPr>
            <a:r>
              <a:rPr sz="700" b="1">
                <a:solidFill>
                  <a:srgbClr val="EA580C"/>
                </a:solidFill>
                <a:latin typeface="Malgun Gothic"/>
              </a:rPr>
              <a:t>● </a:t>
            </a:r>
            <a:r>
              <a:rPr sz="900">
                <a:solidFill>
                  <a:srgbClr val="334155"/>
                </a:solidFill>
                <a:latin typeface="Malgun Gothic"/>
              </a:rPr>
              <a:t>Encourage students to use AI Friend chat, judgment training and the vocabulary list.</a:t>
            </a:r>
          </a:p>
          <a:p>
            <a:pPr>
              <a:lnSpc>
                <a:spcPct val="115000"/>
              </a:lnSpc>
              <a:spcAft>
                <a:spcPts val="300"/>
              </a:spcAft>
            </a:pPr>
            <a:r>
              <a:rPr sz="700" b="1">
                <a:solidFill>
                  <a:srgbClr val="EA580C"/>
                </a:solidFill>
                <a:latin typeface="Malgun Gothic"/>
              </a:rPr>
              <a:t>● </a:t>
            </a:r>
            <a:r>
              <a:rPr sz="900">
                <a:solidFill>
                  <a:srgbClr val="334155"/>
                </a:solidFill>
                <a:latin typeface="Malgun Gothic"/>
              </a:rPr>
              <a:t>Those activities are counted into the weekly report automatically.</a:t>
            </a:r>
          </a:p>
        </p:txBody>
      </p:sp>
      <p:sp>
        <p:nvSpPr>
          <p:cNvPr id="14" name="Rounded Rectangle 13"/>
          <p:cNvSpPr/>
          <p:nvPr/>
        </p:nvSpPr>
        <p:spPr>
          <a:xfrm>
            <a:off x="457200" y="5187391"/>
            <a:ext cx="5669280" cy="1136599"/>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33111"/>
            <a:ext cx="5394960" cy="274320"/>
          </a:xfrm>
          <a:prstGeom prst="rect">
            <a:avLst/>
          </a:prstGeom>
          <a:noFill/>
        </p:spPr>
        <p:txBody>
          <a:bodyPr wrap="square" anchor="t">
            <a:spAutoFit/>
          </a:bodyPr>
          <a:lstStyle/>
          <a:p>
            <a:pPr algn="l">
              <a:lnSpc>
                <a:spcPct val="100000"/>
              </a:lnSpc>
            </a:pPr>
            <a:r>
              <a:rPr sz="1100" b="1">
                <a:solidFill>
                  <a:srgbClr val="EA580C"/>
                </a:solidFill>
                <a:latin typeface="Malgun Gothic"/>
              </a:rPr>
              <a:t>✅ Key Points</a:t>
            </a:r>
          </a:p>
        </p:txBody>
      </p:sp>
      <p:sp>
        <p:nvSpPr>
          <p:cNvPr id="16" name="TextBox 15"/>
          <p:cNvSpPr txBox="1"/>
          <p:nvPr/>
        </p:nvSpPr>
        <p:spPr>
          <a:xfrm>
            <a:off x="594360" y="5479999"/>
            <a:ext cx="5394960" cy="807415"/>
          </a:xfrm>
          <a:prstGeom prst="rect">
            <a:avLst/>
          </a:prstGeom>
          <a:noFill/>
        </p:spPr>
        <p:txBody>
          <a:bodyPr wrap="square">
            <a:spAutoFit/>
          </a:bodyPr>
          <a:lstStyle/>
          <a:p>
            <a:pPr>
              <a:lnSpc>
                <a:spcPct val="115000"/>
              </a:lnSpc>
              <a:spcAft>
                <a:spcPts val="100"/>
              </a:spcAft>
            </a:pPr>
            <a:r>
              <a:rPr sz="650" b="1">
                <a:solidFill>
                  <a:srgbClr val="EA580C"/>
                </a:solidFill>
                <a:latin typeface="Malgun Gothic"/>
              </a:rPr>
              <a:t>● </a:t>
            </a:r>
            <a:r>
              <a:rPr sz="850">
                <a:solidFill>
                  <a:srgbClr val="334155"/>
                </a:solidFill>
                <a:latin typeface="Malgun Gothic"/>
              </a:rPr>
              <a:t>Only items with real attendance and activity are filled in — no invented numbers.</a:t>
            </a:r>
          </a:p>
          <a:p>
            <a:pPr>
              <a:lnSpc>
                <a:spcPct val="115000"/>
              </a:lnSpc>
              <a:spcAft>
                <a:spcPts val="100"/>
              </a:spcAft>
            </a:pPr>
            <a:r>
              <a:rPr sz="650" b="1">
                <a:solidFill>
                  <a:srgbClr val="EA580C"/>
                </a:solidFill>
                <a:latin typeface="Malgun Gothic"/>
              </a:rPr>
              <a:t>● </a:t>
            </a:r>
            <a:r>
              <a:rPr sz="850">
                <a:solidFill>
                  <a:srgbClr val="334155"/>
                </a:solidFill>
                <a:latin typeface="Malgun Gothic"/>
              </a:rPr>
              <a:t>The more students play the games and use their word list, the richer the report.</a:t>
            </a:r>
          </a:p>
        </p:txBody>
      </p:sp>
      <p:sp>
        <p:nvSpPr>
          <p:cNvPr id="17" name="Rounded Rectangle 16"/>
          <p:cNvSpPr/>
          <p:nvPr/>
        </p:nvSpPr>
        <p:spPr>
          <a:xfrm>
            <a:off x="365760" y="6172200"/>
            <a:ext cx="11457432" cy="52120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11183111" cy="429768"/>
          </a:xfrm>
          <a:prstGeom prst="rect">
            <a:avLst/>
          </a:prstGeom>
          <a:noFill/>
        </p:spPr>
        <p:txBody>
          <a:bodyPr wrap="square" anchor="t">
            <a:spAutoFit/>
          </a:bodyPr>
          <a:lstStyle/>
          <a:p>
            <a:pPr algn="l">
              <a:lnSpc>
                <a:spcPct val="100000"/>
              </a:lnSpc>
            </a:pPr>
            <a:r>
              <a:rPr sz="950" b="0">
                <a:solidFill>
                  <a:srgbClr val="5B4A2A"/>
                </a:solidFill>
                <a:latin typeface="Malgun Gothic"/>
              </a:rPr>
              <a:t>💡 Tip · One line at the end of class — 'just three words into your list today' — makes the weekly report noticeably better.</a:t>
            </a:r>
          </a:p>
        </p:txBody>
      </p:sp>
      <p:sp>
        <p:nvSpPr>
          <p:cNvPr id="19" name="Rectangle 18"/>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911035" y="3310128"/>
            <a:ext cx="4374489" cy="273405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69233"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51529"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15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53281"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evaluation…</a:t>
            </a:r>
          </a:p>
        </p:txBody>
      </p:sp>
      <p:sp>
        <p:nvSpPr>
          <p:cNvPr id="26" name="TextBox 25"/>
          <p:cNvSpPr txBox="1"/>
          <p:nvPr/>
        </p:nvSpPr>
        <p:spPr>
          <a:xfrm>
            <a:off x="5126126"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27" name="Rounded Rectangle 26"/>
          <p:cNvSpPr/>
          <p:nvPr/>
        </p:nvSpPr>
        <p:spPr>
          <a:xfrm>
            <a:off x="5309006" y="2670048"/>
            <a:ext cx="1570939"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91302"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13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93054" y="2670048"/>
            <a:ext cx="11503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Friend…</a:t>
            </a:r>
          </a:p>
        </p:txBody>
      </p:sp>
      <p:sp>
        <p:nvSpPr>
          <p:cNvPr id="31" name="TextBox 30"/>
          <p:cNvSpPr txBox="1"/>
          <p:nvPr/>
        </p:nvSpPr>
        <p:spPr>
          <a:xfrm>
            <a:off x="6879945" y="2670048"/>
            <a:ext cx="182880" cy="457200"/>
          </a:xfrm>
          <a:prstGeom prst="rect">
            <a:avLst/>
          </a:prstGeom>
          <a:noFill/>
        </p:spPr>
        <p:txBody>
          <a:bodyPr wrap="square" anchor="ctr">
            <a:spAutoFit/>
          </a:bodyPr>
          <a:lstStyle/>
          <a:p>
            <a:pPr algn="ctr">
              <a:lnSpc>
                <a:spcPct val="100000"/>
              </a:lnSpc>
            </a:pPr>
            <a:r>
              <a:rPr sz="1500" b="1">
                <a:solidFill>
                  <a:srgbClr val="EA580C"/>
                </a:solidFill>
                <a:latin typeface="Malgun Gothic"/>
              </a:rPr>
              <a:t>›</a:t>
            </a:r>
          </a:p>
        </p:txBody>
      </p:sp>
      <p:sp>
        <p:nvSpPr>
          <p:cNvPr id="32" name="Rounded Rectangle 31"/>
          <p:cNvSpPr/>
          <p:nvPr/>
        </p:nvSpPr>
        <p:spPr>
          <a:xfrm>
            <a:off x="7062825" y="2670048"/>
            <a:ext cx="1656892" cy="45720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45121" y="2761488"/>
            <a:ext cx="274320" cy="27432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451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46873"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counted 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43</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Tools by Lesson Stage</a:t>
            </a:r>
          </a:p>
        </p:txBody>
      </p:sp>
      <p:graphicFrame>
        <p:nvGraphicFramePr>
          <p:cNvPr id="9" name="Table 8"/>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Stage</a:t>
                      </a:r>
                    </a:p>
                  </a:txBody>
                  <a:tcPr>
                    <a:solidFill>
                      <a:srgbClr val="EA580C"/>
                    </a:solidFill>
                  </a:tcPr>
                </a:tc>
                <a:tc>
                  <a:txBody>
                    <a:bodyPr/>
                    <a:lstStyle/>
                    <a:p>
                      <a:pPr algn="ctr"/>
                      <a:r>
                        <a:rPr sz="1300" b="1">
                          <a:solidFill>
                            <a:srgbClr val="FFFFFF"/>
                          </a:solidFill>
                          <a:latin typeface="Malgun Gothic"/>
                        </a:rPr>
                        <a:t>Screen used</a:t>
                      </a:r>
                    </a:p>
                  </a:txBody>
                  <a:tcPr>
                    <a:solidFill>
                      <a:srgbClr val="EA580C"/>
                    </a:solidFill>
                  </a:tcPr>
                </a:tc>
                <a:tc>
                  <a:txBody>
                    <a:bodyPr/>
                    <a:lstStyle/>
                    <a:p>
                      <a:pPr algn="ctr"/>
                      <a:r>
                        <a:rPr sz="1300" b="1">
                          <a:solidFill>
                            <a:srgbClr val="FFFFFF"/>
                          </a:solidFill>
                          <a:latin typeface="Malgun Gothic"/>
                        </a:rPr>
                        <a:t>What you do</a:t>
                      </a:r>
                    </a:p>
                  </a:txBody>
                  <a:tcPr>
                    <a:solidFill>
                      <a:srgbClr val="EA580C"/>
                    </a:solidFill>
                  </a:tcPr>
                </a:tc>
                <a:tc>
                  <a:txBody>
                    <a:bodyPr/>
                    <a:lstStyle/>
                    <a:p>
                      <a:pPr algn="ctr"/>
                      <a:r>
                        <a:rPr sz="1300" b="1">
                          <a:solidFill>
                            <a:srgbClr val="FFFFFF"/>
                          </a:solidFill>
                          <a:latin typeface="Malgun Gothic"/>
                        </a:rPr>
                        <a:t>Tip</a:t>
                      </a:r>
                    </a:p>
                  </a:txBody>
                  <a:tcPr>
                    <a:solidFill>
                      <a:srgbClr val="EA580C"/>
                    </a:solidFill>
                  </a:tcPr>
                </a:tc>
              </a:tr>
              <a:tr h="502920">
                <a:tc>
                  <a:txBody>
                    <a:bodyPr/>
                    <a:lstStyle/>
                    <a:p>
                      <a:pPr algn="l"/>
                      <a:r>
                        <a:rPr sz="1200" b="1">
                          <a:solidFill>
                            <a:srgbClr val="334155"/>
                          </a:solidFill>
                          <a:latin typeface="Malgun Gothic"/>
                        </a:rPr>
                        <a:t>Before class</a:t>
                      </a:r>
                    </a:p>
                  </a:txBody>
                  <a:tcPr>
                    <a:solidFill>
                      <a:srgbClr val="FFFFFF"/>
                    </a:solidFill>
                  </a:tcPr>
                </a:tc>
                <a:tc>
                  <a:txBody>
                    <a:bodyPr/>
                    <a:lstStyle/>
                    <a:p>
                      <a:pPr algn="ctr"/>
                      <a:r>
                        <a:rPr sz="1200">
                          <a:solidFill>
                            <a:srgbClr val="334155"/>
                          </a:solidFill>
                          <a:latin typeface="Malgun Gothic"/>
                        </a:rPr>
                        <a:t>Detailed check</a:t>
                      </a:r>
                    </a:p>
                  </a:txBody>
                  <a:tcPr>
                    <a:solidFill>
                      <a:srgbClr val="FFFFFF"/>
                    </a:solidFill>
                  </a:tcPr>
                </a:tc>
                <a:tc>
                  <a:txBody>
                    <a:bodyPr/>
                    <a:lstStyle/>
                    <a:p>
                      <a:pPr algn="ctr"/>
                      <a:r>
                        <a:rPr sz="1200">
                          <a:solidFill>
                            <a:srgbClr val="334155"/>
                          </a:solidFill>
                          <a:latin typeface="Malgun Gothic"/>
                        </a:rPr>
                        <a:t>Check devices·lighting</a:t>
                      </a:r>
                    </a:p>
                  </a:txBody>
                  <a:tcPr>
                    <a:solidFill>
                      <a:srgbClr val="FFFFFF"/>
                    </a:solidFill>
                  </a:tcPr>
                </a:tc>
                <a:tc>
                  <a:txBody>
                    <a:bodyPr/>
                    <a:lstStyle/>
                    <a:p>
                      <a:pPr algn="ctr"/>
                      <a:r>
                        <a:rPr sz="1200">
                          <a:solidFill>
                            <a:srgbClr val="334155"/>
                          </a:solidFill>
                          <a:latin typeface="Malgun Gothic"/>
                        </a:rPr>
                        <a:t>5–10 min early</a:t>
                      </a:r>
                    </a:p>
                  </a:txBody>
                  <a:tcPr>
                    <a:solidFill>
                      <a:srgbClr val="FFFFFF"/>
                    </a:solidFill>
                  </a:tcPr>
                </a:tc>
              </a:tr>
              <a:tr h="502920">
                <a:tc>
                  <a:txBody>
                    <a:bodyPr/>
                    <a:lstStyle/>
                    <a:p>
                      <a:pPr algn="l"/>
                      <a:r>
                        <a:rPr sz="1200" b="1">
                          <a:solidFill>
                            <a:srgbClr val="334155"/>
                          </a:solidFill>
                          <a:latin typeface="Malgun Gothic"/>
                        </a:rPr>
                        <a:t>Entry</a:t>
                      </a:r>
                    </a:p>
                  </a:txBody>
                  <a:tcPr>
                    <a:solidFill>
                      <a:srgbClr val="F8FAFC"/>
                    </a:solidFill>
                  </a:tcPr>
                </a:tc>
                <a:tc>
                  <a:txBody>
                    <a:bodyPr/>
                    <a:lstStyle/>
                    <a:p>
                      <a:pPr algn="ctr"/>
                      <a:r>
                        <a:rPr sz="1200">
                          <a:solidFill>
                            <a:srgbClr val="334155"/>
                          </a:solidFill>
                          <a:latin typeface="Malgun Gothic"/>
                        </a:rPr>
                        <a:t>Classroom</a:t>
                      </a:r>
                    </a:p>
                  </a:txBody>
                  <a:tcPr>
                    <a:solidFill>
                      <a:srgbClr val="F8FAFC"/>
                    </a:solidFill>
                  </a:tcPr>
                </a:tc>
                <a:tc>
                  <a:txBody>
                    <a:bodyPr/>
                    <a:lstStyle/>
                    <a:p>
                      <a:pPr algn="ctr"/>
                      <a:r>
                        <a:rPr sz="1200">
                          <a:solidFill>
                            <a:srgbClr val="334155"/>
                          </a:solidFill>
                          <a:latin typeface="Malgun Gothic"/>
                        </a:rPr>
                        <a:t>Enter name·allow</a:t>
                      </a:r>
                    </a:p>
                  </a:txBody>
                  <a:tcPr>
                    <a:solidFill>
                      <a:srgbClr val="F8FAFC"/>
                    </a:solidFill>
                  </a:tcPr>
                </a:tc>
                <a:tc>
                  <a:txBody>
                    <a:bodyPr/>
                    <a:lstStyle/>
                    <a:p>
                      <a:pPr algn="ctr"/>
                      <a:r>
                        <a:rPr sz="1200">
                          <a:solidFill>
                            <a:srgbClr val="334155"/>
                          </a:solidFill>
                          <a:latin typeface="Malgun Gothic"/>
                        </a:rPr>
                        <a:t>Enter early</a:t>
                      </a:r>
                    </a:p>
                  </a:txBody>
                  <a:tcPr>
                    <a:solidFill>
                      <a:srgbClr val="F8FAFC"/>
                    </a:solidFill>
                  </a:tcPr>
                </a:tc>
              </a:tr>
              <a:tr h="502920">
                <a:tc>
                  <a:txBody>
                    <a:bodyPr/>
                    <a:lstStyle/>
                    <a:p>
                      <a:pPr algn="l"/>
                      <a:r>
                        <a:rPr sz="1200" b="1">
                          <a:solidFill>
                            <a:srgbClr val="334155"/>
                          </a:solidFill>
                          <a:latin typeface="Malgun Gothic"/>
                        </a:rPr>
                        <a:t>Toolbar</a:t>
                      </a:r>
                    </a:p>
                  </a:txBody>
                  <a:tcPr>
                    <a:solidFill>
                      <a:srgbClr val="FFFFFF"/>
                    </a:solidFill>
                  </a:tcPr>
                </a:tc>
                <a:tc>
                  <a:txBody>
                    <a:bodyPr/>
                    <a:lstStyle/>
                    <a:p>
                      <a:pPr algn="ctr"/>
                      <a:r>
                        <a:rPr sz="1200">
                          <a:solidFill>
                            <a:srgbClr val="334155"/>
                          </a:solidFill>
                          <a:latin typeface="Malgun Gothic"/>
                        </a:rPr>
                        <a:t>Board·materials·video</a:t>
                      </a:r>
                    </a:p>
                  </a:txBody>
                  <a:tcPr>
                    <a:solidFill>
                      <a:srgbClr val="FFFFFF"/>
                    </a:solidFill>
                  </a:tcPr>
                </a:tc>
                <a:tc>
                  <a:txBody>
                    <a:bodyPr/>
                    <a:lstStyle/>
                    <a:p>
                      <a:pPr algn="ctr"/>
                      <a:r>
                        <a:rPr sz="1200">
                          <a:solidFill>
                            <a:srgbClr val="334155"/>
                          </a:solidFill>
                          <a:latin typeface="Malgun Gothic"/>
                        </a:rPr>
                        <a:t>Switch·control screen</a:t>
                      </a:r>
                    </a:p>
                  </a:txBody>
                  <a:tcPr>
                    <a:solidFill>
                      <a:srgbClr val="FFFFFF"/>
                    </a:solidFill>
                  </a:tcPr>
                </a:tc>
                <a:tc>
                  <a:txBody>
                    <a:bodyPr/>
                    <a:lstStyle/>
                    <a:p>
                      <a:pPr algn="ctr"/>
                      <a:r>
                        <a:rPr sz="1200">
                          <a:solidFill>
                            <a:srgbClr val="334155"/>
                          </a:solidFill>
                          <a:latin typeface="Malgun Gothic"/>
                        </a:rPr>
                        <a:t>Guide tabs</a:t>
                      </a:r>
                    </a:p>
                  </a:txBody>
                  <a:tcPr>
                    <a:solidFill>
                      <a:srgbClr val="FFFFFF"/>
                    </a:solidFill>
                  </a:tcPr>
                </a:tc>
              </a:tr>
              <a:tr h="502920">
                <a:tc>
                  <a:txBody>
                    <a:bodyPr/>
                    <a:lstStyle/>
                    <a:p>
                      <a:pPr algn="l"/>
                      <a:r>
                        <a:rPr sz="1200" b="1">
                          <a:solidFill>
                            <a:srgbClr val="334155"/>
                          </a:solidFill>
                          <a:latin typeface="Malgun Gothic"/>
                        </a:rPr>
                        <a:t>Prep</a:t>
                      </a:r>
                    </a:p>
                  </a:txBody>
                  <a:tcPr>
                    <a:solidFill>
                      <a:srgbClr val="F8FAFC"/>
                    </a:solidFill>
                  </a:tcPr>
                </a:tc>
                <a:tc>
                  <a:txBody>
                    <a:bodyPr/>
                    <a:lstStyle/>
                    <a:p>
                      <a:pPr algn="ctr"/>
                      <a:r>
                        <a:rPr sz="1200">
                          <a:solidFill>
                            <a:srgbClr val="334155"/>
                          </a:solidFill>
                          <a:latin typeface="Malgun Gothic"/>
                        </a:rPr>
                        <a:t>Materials uploader</a:t>
                      </a:r>
                    </a:p>
                  </a:txBody>
                  <a:tcPr>
                    <a:solidFill>
                      <a:srgbClr val="F8FAFC"/>
                    </a:solidFill>
                  </a:tcPr>
                </a:tc>
                <a:tc>
                  <a:txBody>
                    <a:bodyPr/>
                    <a:lstStyle/>
                    <a:p>
                      <a:pPr algn="ctr"/>
                      <a:r>
                        <a:rPr sz="1200">
                          <a:solidFill>
                            <a:srgbClr val="334155"/>
                          </a:solidFill>
                          <a:latin typeface="Malgun Gothic"/>
                        </a:rPr>
                        <a:t>Upload·share files</a:t>
                      </a:r>
                    </a:p>
                  </a:txBody>
                  <a:tcPr>
                    <a:solidFill>
                      <a:srgbClr val="F8FAFC"/>
                    </a:solidFill>
                  </a:tcPr>
                </a:tc>
                <a:tc>
                  <a:txBody>
                    <a:bodyPr/>
                    <a:lstStyle/>
                    <a:p>
                      <a:pPr algn="ctr"/>
                      <a:r>
                        <a:rPr sz="1200">
                          <a:solidFill>
                            <a:srgbClr val="334155"/>
                          </a:solidFill>
                          <a:latin typeface="Malgun Gothic"/>
                        </a:rPr>
                        <a:t>Pre-upload</a:t>
                      </a:r>
                    </a:p>
                  </a:txBody>
                  <a:tcPr>
                    <a:solidFill>
                      <a:srgbClr val="F8FAFC"/>
                    </a:solidFill>
                  </a:tcPr>
                </a:tc>
              </a:tr>
              <a:tr h="502920">
                <a:tc>
                  <a:txBody>
                    <a:bodyPr/>
                    <a:lstStyle/>
                    <a:p>
                      <a:pPr algn="l"/>
                      <a:r>
                        <a:rPr sz="1200" b="1">
                          <a:solidFill>
                            <a:srgbClr val="334155"/>
                          </a:solidFill>
                          <a:latin typeface="Malgun Gothic"/>
                        </a:rPr>
                        <a:t>Intro</a:t>
                      </a:r>
                    </a:p>
                  </a:txBody>
                  <a:tcPr>
                    <a:solidFill>
                      <a:srgbClr val="FFFFFF"/>
                    </a:solidFill>
                  </a:tcPr>
                </a:tc>
                <a:tc>
                  <a:txBody>
                    <a:bodyPr/>
                    <a:lstStyle/>
                    <a:p>
                      <a:pPr algn="ctr"/>
                      <a:r>
                        <a:rPr sz="1200">
                          <a:solidFill>
                            <a:srgbClr val="334155"/>
                          </a:solidFill>
                          <a:latin typeface="Malgun Gothic"/>
                        </a:rPr>
                        <a:t>AI warm-up</a:t>
                      </a:r>
                    </a:p>
                  </a:txBody>
                  <a:tcPr>
                    <a:solidFill>
                      <a:srgbClr val="FFFFFF"/>
                    </a:solidFill>
                  </a:tcPr>
                </a:tc>
                <a:tc>
                  <a:txBody>
                    <a:bodyPr/>
                    <a:lstStyle/>
                    <a:p>
                      <a:pPr algn="ctr"/>
                      <a:r>
                        <a:rPr sz="1200">
                          <a:solidFill>
                            <a:srgbClr val="334155"/>
                          </a:solidFill>
                          <a:latin typeface="Malgun Gothic"/>
                        </a:rPr>
                        <a:t>Icebreaker</a:t>
                      </a:r>
                    </a:p>
                  </a:txBody>
                  <a:tcPr>
                    <a:solidFill>
                      <a:srgbClr val="FFFFFF"/>
                    </a:solidFill>
                  </a:tcPr>
                </a:tc>
                <a:tc>
                  <a:txBody>
                    <a:bodyPr/>
                    <a:lstStyle/>
                    <a:p>
                      <a:pPr algn="ctr"/>
                      <a:r>
                        <a:rPr sz="1200">
                          <a:solidFill>
                            <a:srgbClr val="334155"/>
                          </a:solidFill>
                          <a:latin typeface="Malgun Gothic"/>
                        </a:rPr>
                        <a:t>Mention warm-up</a:t>
                      </a:r>
                    </a:p>
                  </a:txBody>
                  <a:tcPr>
                    <a:solidFill>
                      <a:srgbClr val="FFFFFF"/>
                    </a:solidFill>
                  </a:tcPr>
                </a:tc>
              </a:tr>
              <a:tr h="502920">
                <a:tc>
                  <a:txBody>
                    <a:bodyPr/>
                    <a:lstStyle/>
                    <a:p>
                      <a:pPr algn="l"/>
                      <a:r>
                        <a:rPr sz="1200" b="1">
                          <a:solidFill>
                            <a:srgbClr val="334155"/>
                          </a:solidFill>
                          <a:latin typeface="Malgun Gothic"/>
                        </a:rPr>
                        <a:t>Main</a:t>
                      </a:r>
                    </a:p>
                  </a:txBody>
                  <a:tcPr>
                    <a:solidFill>
                      <a:srgbClr val="F8FAFC"/>
                    </a:solidFill>
                  </a:tcPr>
                </a:tc>
                <a:tc>
                  <a:txBody>
                    <a:bodyPr/>
                    <a:lstStyle/>
                    <a:p>
                      <a:pPr algn="ctr"/>
                      <a:r>
                        <a:rPr sz="1200">
                          <a:solidFill>
                            <a:srgbClr val="334155"/>
                          </a:solidFill>
                          <a:latin typeface="Malgun Gothic"/>
                        </a:rPr>
                        <a:t>Materials·board·chat</a:t>
                      </a:r>
                    </a:p>
                  </a:txBody>
                  <a:tcPr>
                    <a:solidFill>
                      <a:srgbClr val="F8FAFC"/>
                    </a:solidFill>
                  </a:tcPr>
                </a:tc>
                <a:tc>
                  <a:txBody>
                    <a:bodyPr/>
                    <a:lstStyle/>
                    <a:p>
                      <a:pPr algn="ctr"/>
                      <a:r>
                        <a:rPr sz="1200">
                          <a:solidFill>
                            <a:srgbClr val="334155"/>
                          </a:solidFill>
                          <a:latin typeface="Malgun Gothic"/>
                        </a:rPr>
                        <a:t>Explain together</a:t>
                      </a:r>
                    </a:p>
                  </a:txBody>
                  <a:tcPr>
                    <a:solidFill>
                      <a:srgbClr val="F8FAFC"/>
                    </a:solidFill>
                  </a:tcPr>
                </a:tc>
                <a:tc>
                  <a:txBody>
                    <a:bodyPr/>
                    <a:lstStyle/>
                    <a:p>
                      <a:pPr algn="ctr"/>
                      <a:r>
                        <a:rPr sz="1200">
                          <a:solidFill>
                            <a:srgbClr val="334155"/>
                          </a:solidFill>
                          <a:latin typeface="Malgun Gothic"/>
                        </a:rPr>
                        <a:t>Same page</a:t>
                      </a:r>
                    </a:p>
                  </a:txBody>
                  <a:tcPr>
                    <a:solidFill>
                      <a:srgbClr val="F8FAFC"/>
                    </a:solidFill>
                  </a:tcPr>
                </a:tc>
              </a:tr>
              <a:tr h="502920">
                <a:tc>
                  <a:txBody>
                    <a:bodyPr/>
                    <a:lstStyle/>
                    <a:p>
                      <a:pPr algn="l"/>
                      <a:r>
                        <a:rPr sz="1200" b="1">
                          <a:solidFill>
                            <a:srgbClr val="334155"/>
                          </a:solidFill>
                          <a:latin typeface="Malgun Gothic"/>
                        </a:rPr>
                        <a:t>Practice</a:t>
                      </a:r>
                    </a:p>
                  </a:txBody>
                  <a:tcPr>
                    <a:solidFill>
                      <a:srgbClr val="FFFFFF"/>
                    </a:solidFill>
                  </a:tcPr>
                </a:tc>
                <a:tc>
                  <a:txBody>
                    <a:bodyPr/>
                    <a:lstStyle/>
                    <a:p>
                      <a:pPr algn="ctr"/>
                      <a:r>
                        <a:rPr sz="1200">
                          <a:solidFill>
                            <a:srgbClr val="334155"/>
                          </a:solidFill>
                          <a:latin typeface="Malgun Gothic"/>
                        </a:rPr>
                        <a:t>AI voice coach</a:t>
                      </a:r>
                    </a:p>
                  </a:txBody>
                  <a:tcPr>
                    <a:solidFill>
                      <a:srgbClr val="FFFFFF"/>
                    </a:solidFill>
                  </a:tcPr>
                </a:tc>
                <a:tc>
                  <a:txBody>
                    <a:bodyPr/>
                    <a:lstStyle/>
                    <a:p>
                      <a:pPr algn="ctr"/>
                      <a:r>
                        <a:rPr sz="1200">
                          <a:solidFill>
                            <a:srgbClr val="334155"/>
                          </a:solidFill>
                          <a:latin typeface="Malgun Gothic"/>
                        </a:rPr>
                        <a:t>Record·fix pronunciation</a:t>
                      </a:r>
                    </a:p>
                  </a:txBody>
                  <a:tcPr>
                    <a:solidFill>
                      <a:srgbClr val="FFFFFF"/>
                    </a:solidFill>
                  </a:tcPr>
                </a:tc>
                <a:tc>
                  <a:txBody>
                    <a:bodyPr/>
                    <a:lstStyle/>
                    <a:p>
                      <a:pPr algn="ctr"/>
                      <a:r>
                        <a:rPr sz="1200">
                          <a:solidFill>
                            <a:srgbClr val="334155"/>
                          </a:solidFill>
                          <a:latin typeface="Malgun Gothic"/>
                        </a:rPr>
                        <a:t>Link homework</a:t>
                      </a:r>
                    </a:p>
                  </a:txBody>
                  <a:tcPr>
                    <a:solidFill>
                      <a:srgbClr val="FFFFFF"/>
                    </a:solidFill>
                  </a:tcPr>
                </a:tc>
              </a:tr>
              <a:tr h="502920">
                <a:tc>
                  <a:txBody>
                    <a:bodyPr/>
                    <a:lstStyle/>
                    <a:p>
                      <a:pPr algn="l"/>
                      <a:r>
                        <a:rPr sz="1200" b="1">
                          <a:solidFill>
                            <a:srgbClr val="334155"/>
                          </a:solidFill>
                          <a:latin typeface="Malgun Gothic"/>
                        </a:rPr>
                        <a:t>Wrap-up</a:t>
                      </a:r>
                    </a:p>
                  </a:txBody>
                  <a:tcPr>
                    <a:solidFill>
                      <a:srgbClr val="F8FAFC"/>
                    </a:solidFill>
                  </a:tcPr>
                </a:tc>
                <a:tc>
                  <a:txBody>
                    <a:bodyPr/>
                    <a:lstStyle/>
                    <a:p>
                      <a:pPr algn="ctr"/>
                      <a:r>
                        <a:rPr sz="1200">
                          <a:solidFill>
                            <a:srgbClr val="334155"/>
                          </a:solidFill>
                          <a:latin typeface="Malgun Gothic"/>
                        </a:rPr>
                        <a:t>Review·praise</a:t>
                      </a:r>
                    </a:p>
                  </a:txBody>
                  <a:tcPr>
                    <a:solidFill>
                      <a:srgbClr val="F8FAFC"/>
                    </a:solidFill>
                  </a:tcPr>
                </a:tc>
                <a:tc>
                  <a:txBody>
                    <a:bodyPr/>
                    <a:lstStyle/>
                    <a:p>
                      <a:pPr algn="ctr"/>
                      <a:r>
                        <a:rPr sz="1200">
                          <a:solidFill>
                            <a:srgbClr val="334155"/>
                          </a:solidFill>
                          <a:latin typeface="Malgun Gothic"/>
                        </a:rPr>
                        <a:t>Feedback·stars</a:t>
                      </a:r>
                    </a:p>
                  </a:txBody>
                  <a:tcPr>
                    <a:solidFill>
                      <a:srgbClr val="F8FAFC"/>
                    </a:solidFill>
                  </a:tcPr>
                </a:tc>
                <a:tc>
                  <a:txBody>
                    <a:bodyPr/>
                    <a:lstStyle/>
                    <a:p>
                      <a:pPr algn="ctr"/>
                      <a:r>
                        <a:rPr sz="1200">
                          <a:solidFill>
                            <a:srgbClr val="334155"/>
                          </a:solidFill>
                          <a:latin typeface="Malgun Gothic"/>
                        </a:rPr>
                        <a:t>1 praise + 1 fix</a:t>
                      </a:r>
                    </a:p>
                  </a:txBody>
                  <a:tcPr>
                    <a:solidFill>
                      <a:srgbClr val="F8FAFC"/>
                    </a:solidFill>
                  </a:tcPr>
                </a:tc>
              </a:tr>
              <a:tr h="502920">
                <a:tc>
                  <a:txBody>
                    <a:bodyPr/>
                    <a:lstStyle/>
                    <a:p>
                      <a:pPr algn="l"/>
                      <a:r>
                        <a:rPr sz="1200" b="1">
                          <a:solidFill>
                            <a:srgbClr val="334155"/>
                          </a:solidFill>
                          <a:latin typeface="Malgun Gothic"/>
                        </a:rPr>
                        <a:t>After</a:t>
                      </a:r>
                    </a:p>
                  </a:txBody>
                  <a:tcPr>
                    <a:solidFill>
                      <a:srgbClr val="FFFFFF"/>
                    </a:solidFill>
                  </a:tcPr>
                </a:tc>
                <a:tc>
                  <a:txBody>
                    <a:bodyPr/>
                    <a:lstStyle/>
                    <a:p>
                      <a:pPr algn="ctr"/>
                      <a:r>
                        <a:rPr sz="1200">
                          <a:solidFill>
                            <a:srgbClr val="334155"/>
                          </a:solidFill>
                          <a:latin typeface="Malgun Gothic"/>
                        </a:rPr>
                        <a:t>Game report·reports</a:t>
                      </a:r>
                    </a:p>
                  </a:txBody>
                  <a:tcPr>
                    <a:solidFill>
                      <a:srgbClr val="FFFFFF"/>
                    </a:solidFill>
                  </a:tcPr>
                </a:tc>
                <a:tc>
                  <a:txBody>
                    <a:bodyPr/>
                    <a:lstStyle/>
                    <a:p>
                      <a:pPr algn="ctr"/>
                      <a:r>
                        <a:rPr sz="1200">
                          <a:solidFill>
                            <a:srgbClr val="334155"/>
                          </a:solidFill>
                          <a:latin typeface="Malgun Gothic"/>
                        </a:rPr>
                        <a:t>Check weak points·progress</a:t>
                      </a:r>
                    </a:p>
                  </a:txBody>
                  <a:tcPr>
                    <a:solidFill>
                      <a:srgbClr val="FFFFFF"/>
                    </a:solidFill>
                  </a:tcPr>
                </a:tc>
                <a:tc>
                  <a:txBody>
                    <a:bodyPr/>
                    <a:lstStyle/>
                    <a:p>
                      <a:pPr algn="ctr"/>
                      <a:r>
                        <a:rPr sz="1200">
                          <a:solidFill>
                            <a:srgbClr val="334155"/>
                          </a:solidFill>
                          <a:latin typeface="Malgun Gothic"/>
                        </a:rPr>
                        <a:t>Next goal</a:t>
                      </a:r>
                    </a:p>
                  </a:txBody>
                  <a:tcPr>
                    <a:solidFill>
                      <a:srgbClr val="FFFFF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44</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Data at a Glance</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Pre-check Items (example scores)</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Elements of a Good Lesson</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45</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Frequently Asked Questions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enter a lesson?</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On the classroom entry screen, enter your name, press 'Enter', then allow camera and mic.</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share materials?</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materials tab, upload PDF/JPEG/PNG to share with all participants. Use prev/next and fit-to-screen to view larger.</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use the board?</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board tab, write with pen/shapes/color/thickness, and save the board as an image if needed.</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A student can't enter.</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Often a browser permission issue. Advise reconnecting in Chrome/Edge and allowing camera/mic.</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When do I write the review?</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Writing right after class is most accurate. Leave stars and a short comment and it's reflected in the report.</a:t>
            </a:r>
          </a:p>
        </p:txBody>
      </p:sp>
      <p:sp>
        <p:nvSpPr>
          <p:cNvPr id="24" name="Rounded Rectangle 23"/>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know a student's weak points?</a:t>
            </a:r>
          </a:p>
        </p:txBody>
      </p:sp>
      <p:sp>
        <p:nvSpPr>
          <p:cNvPr id="26" name="TextBox 25"/>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 up by student ID in the game learning report to see often-missed weak words.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4E6"/>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46</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Lesson Checklist</a:t>
            </a:r>
          </a:p>
        </p:txBody>
      </p:sp>
      <p:sp>
        <p:nvSpPr>
          <p:cNvPr id="9" name="Rounded Rectangle 8"/>
          <p:cNvSpPr/>
          <p:nvPr/>
        </p:nvSpPr>
        <p:spPr>
          <a:xfrm>
            <a:off x="457200" y="164592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run the detailed check 5–10 min before class?</a:t>
            </a:r>
          </a:p>
        </p:txBody>
      </p:sp>
      <p:sp>
        <p:nvSpPr>
          <p:cNvPr id="11" name="Rounded Rectangle 10"/>
          <p:cNvSpPr/>
          <p:nvPr/>
        </p:nvSpPr>
        <p:spPr>
          <a:xfrm>
            <a:off x="457200" y="221284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pre-upload the materials?</a:t>
            </a:r>
          </a:p>
        </p:txBody>
      </p:sp>
      <p:sp>
        <p:nvSpPr>
          <p:cNvPr id="13" name="Rounded Rectangle 12"/>
          <p:cNvSpPr/>
          <p:nvPr/>
        </p:nvSpPr>
        <p:spPr>
          <a:xfrm>
            <a:off x="457200" y="277977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camera framing and sound?</a:t>
            </a:r>
          </a:p>
        </p:txBody>
      </p:sp>
      <p:sp>
        <p:nvSpPr>
          <p:cNvPr id="15" name="Rounded Rectangle 14"/>
          <p:cNvSpPr/>
          <p:nvPr/>
        </p:nvSpPr>
        <p:spPr>
          <a:xfrm>
            <a:off x="457200" y="3346704"/>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student's AI warm-up?</a:t>
            </a:r>
          </a:p>
        </p:txBody>
      </p:sp>
      <p:sp>
        <p:nvSpPr>
          <p:cNvPr id="17" name="Rounded Rectangle 16"/>
          <p:cNvSpPr/>
          <p:nvPr/>
        </p:nvSpPr>
        <p:spPr>
          <a:xfrm>
            <a:off x="457200" y="3913632"/>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prepare the materials/board/chat tools?</a:t>
            </a:r>
          </a:p>
        </p:txBody>
      </p:sp>
      <p:sp>
        <p:nvSpPr>
          <p:cNvPr id="19" name="Rounded Rectangle 18"/>
          <p:cNvSpPr/>
          <p:nvPr/>
        </p:nvSpPr>
        <p:spPr>
          <a:xfrm>
            <a:off x="457200" y="448056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write the lesson review after class?</a:t>
            </a:r>
          </a:p>
        </p:txBody>
      </p:sp>
      <p:sp>
        <p:nvSpPr>
          <p:cNvPr id="21" name="Rounded Rectangle 20"/>
          <p:cNvSpPr/>
          <p:nvPr/>
        </p:nvSpPr>
        <p:spPr>
          <a:xfrm>
            <a:off x="457200" y="504748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leave praise (stars/comment)?</a:t>
            </a:r>
          </a:p>
        </p:txBody>
      </p:sp>
      <p:sp>
        <p:nvSpPr>
          <p:cNvPr id="23" name="Rounded Rectangle 22"/>
          <p:cNvSpPr/>
          <p:nvPr/>
        </p:nvSpPr>
        <p:spPr>
          <a:xfrm>
            <a:off x="457200" y="561441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weak words in the game report?</a:t>
            </a:r>
          </a:p>
        </p:txBody>
      </p:sp>
      <p:pic>
        <p:nvPicPr>
          <p:cNvPr id="25" name="Picture 24"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47</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EA580C"/>
                </a:solidFill>
                <a:latin typeface="Malgun Gothic"/>
              </a:rPr>
              <a:t>🏁 Conclusion · A Practical Guide to Great Lessons</a:t>
            </a:r>
          </a:p>
        </p:txBody>
      </p:sp>
      <p:sp>
        <p:nvSpPr>
          <p:cNvPr id="9" name="Rounded Rectangle 8"/>
          <p:cNvSpPr/>
          <p:nvPr/>
        </p:nvSpPr>
        <p:spPr>
          <a:xfrm>
            <a:off x="365760" y="1371600"/>
            <a:ext cx="11430000" cy="8686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learned how to use the Mangoi site 'along the real lesson flow.' Finally, here's one page summarizing how a single lesson unfolds and the principles to keep every time. Keep just this page nearby and your lessons will run far more smoothly and reliably.</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A580C"/>
                </a:solidFill>
                <a:latin typeface="Malgun Gothic"/>
              </a:rPr>
              <a:t>🔄 The Flow at a Glance</a:t>
            </a:r>
          </a:p>
        </p:txBody>
      </p:sp>
      <p:sp>
        <p:nvSpPr>
          <p:cNvPr id="12" name="Rounded Rectangle 11"/>
          <p:cNvSpPr/>
          <p:nvPr/>
        </p:nvSpPr>
        <p:spPr>
          <a:xfrm>
            <a:off x="457200" y="2788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Before class (5–10 min)</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My Page → 🎥 Pre-check camera, mic, network, lighting; pre-upload the textbook</a:t>
            </a:r>
          </a:p>
        </p:txBody>
      </p:sp>
      <p:sp>
        <p:nvSpPr>
          <p:cNvPr id="15" name="Rounded Rectangle 14"/>
          <p:cNvSpPr/>
          <p:nvPr/>
        </p:nvSpPr>
        <p:spPr>
          <a:xfrm>
            <a:off x="457200" y="3246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Enter</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Enter Class → confirm name → allow camera/mic → check background/sound while waiting</a:t>
            </a:r>
          </a:p>
        </p:txBody>
      </p:sp>
      <p:sp>
        <p:nvSpPr>
          <p:cNvPr id="18" name="Rounded Rectangle 17"/>
          <p:cNvSpPr/>
          <p:nvPr/>
        </p:nvSpPr>
        <p:spPr>
          <a:xfrm>
            <a:off x="457200" y="3703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Intro (2–3 min)</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Open lightly by mentioning the student's AI warm-up; state today's goal in one line</a:t>
            </a:r>
          </a:p>
        </p:txBody>
      </p:sp>
      <p:sp>
        <p:nvSpPr>
          <p:cNvPr id="21" name="Rounded Rectangle 20"/>
          <p:cNvSpPr/>
          <p:nvPr/>
        </p:nvSpPr>
        <p:spPr>
          <a:xfrm>
            <a:off x="457200" y="41605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Main lesson</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Share the same page via materials tools · write on the board · key words in chat; draw out plenty of student speech</a:t>
            </a:r>
          </a:p>
        </p:txBody>
      </p:sp>
      <p:sp>
        <p:nvSpPr>
          <p:cNvPr id="24" name="Rounded Rectangle 23"/>
          <p:cNvSpPr/>
          <p:nvPr/>
        </p:nvSpPr>
        <p:spPr>
          <a:xfrm>
            <a:off x="457200" y="46177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Praise</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The moment they do well, tap the 🌟 Praise button (+1P) → piles up live in the 🧺 basket</a:t>
            </a:r>
          </a:p>
        </p:txBody>
      </p:sp>
      <p:sp>
        <p:nvSpPr>
          <p:cNvPr id="27" name="Rounded Rectangle 26"/>
          <p:cNvSpPr/>
          <p:nvPr/>
        </p:nvSpPr>
        <p:spPr>
          <a:xfrm>
            <a:off x="457200" y="5074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074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Practice</a:t>
            </a:r>
          </a:p>
        </p:txBody>
      </p:sp>
      <p:sp>
        <p:nvSpPr>
          <p:cNvPr id="29" name="TextBox 28"/>
          <p:cNvSpPr txBox="1"/>
          <p:nvPr/>
        </p:nvSpPr>
        <p:spPr>
          <a:xfrm>
            <a:off x="2148840" y="5056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Link weak-pronunciation sentences to AI voice-coach homework for repetition</a:t>
            </a:r>
          </a:p>
        </p:txBody>
      </p:sp>
      <p:sp>
        <p:nvSpPr>
          <p:cNvPr id="30" name="Rounded Rectangle 29"/>
          <p:cNvSpPr/>
          <p:nvPr/>
        </p:nvSpPr>
        <p:spPr>
          <a:xfrm>
            <a:off x="457200" y="5532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5532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Wrap-up (3 min)</a:t>
            </a:r>
          </a:p>
        </p:txBody>
      </p:sp>
      <p:sp>
        <p:nvSpPr>
          <p:cNvPr id="32" name="TextBox 31"/>
          <p:cNvSpPr txBox="1"/>
          <p:nvPr/>
        </p:nvSpPr>
        <p:spPr>
          <a:xfrm>
            <a:off x="2148840" y="5513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Summarize today → prompt the review quiz &amp; rating (+10P) → leave the next goal in one line</a:t>
            </a:r>
          </a:p>
        </p:txBody>
      </p:sp>
      <p:sp>
        <p:nvSpPr>
          <p:cNvPr id="33" name="Rounded Rectangle 32"/>
          <p:cNvSpPr/>
          <p:nvPr/>
        </p:nvSpPr>
        <p:spPr>
          <a:xfrm>
            <a:off x="457200" y="5989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5989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 class</a:t>
            </a:r>
          </a:p>
        </p:txBody>
      </p:sp>
      <p:sp>
        <p:nvSpPr>
          <p:cNvPr id="35" name="TextBox 34"/>
          <p:cNvSpPr txBox="1"/>
          <p:nvPr/>
        </p:nvSpPr>
        <p:spPr>
          <a:xfrm>
            <a:off x="2148840" y="5971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Write the review (1 praise + 1 improvement) · leave praise · check weak words in the game report</a:t>
            </a:r>
          </a:p>
        </p:txBody>
      </p:sp>
      <p:sp>
        <p:nvSpPr>
          <p:cNvPr id="36" name="TextBox 35"/>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Key Principles</a:t>
            </a:r>
          </a:p>
        </p:txBody>
      </p:sp>
      <p:sp>
        <p:nvSpPr>
          <p:cNvPr id="37" name="TextBox 36"/>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A580C"/>
                </a:solidFill>
                <a:latin typeface="Malgun Gothic"/>
              </a:rPr>
              <a:t>● </a:t>
            </a:r>
            <a:r>
              <a:rPr sz="1100">
                <a:solidFill>
                  <a:srgbClr val="334155"/>
                </a:solidFill>
                <a:latin typeface="Malgun Gothic"/>
              </a:rPr>
              <a:t>Preparation is half the battle — pre-check and pre-upload keep the lesson from stalling.</a:t>
            </a:r>
          </a:p>
          <a:p>
            <a:pPr>
              <a:lnSpc>
                <a:spcPct val="115000"/>
              </a:lnSpc>
              <a:spcAft>
                <a:spcPts val="500"/>
              </a:spcAft>
            </a:pPr>
            <a:r>
              <a:rPr sz="900" b="1">
                <a:solidFill>
                  <a:srgbClr val="EA580C"/>
                </a:solidFill>
                <a:latin typeface="Malgun Gothic"/>
              </a:rPr>
              <a:t>● </a:t>
            </a:r>
            <a:r>
              <a:rPr sz="1100">
                <a:solidFill>
                  <a:srgbClr val="334155"/>
                </a:solidFill>
                <a:latin typeface="Malgun Gothic"/>
              </a:rPr>
              <a:t>Make them speak a lot — students should speak more than the teacher to improve.</a:t>
            </a:r>
          </a:p>
          <a:p>
            <a:pPr>
              <a:lnSpc>
                <a:spcPct val="115000"/>
              </a:lnSpc>
              <a:spcAft>
                <a:spcPts val="500"/>
              </a:spcAft>
            </a:pPr>
            <a:r>
              <a:rPr sz="900" b="1">
                <a:solidFill>
                  <a:srgbClr val="EA580C"/>
                </a:solidFill>
                <a:latin typeface="Malgun Gothic"/>
              </a:rPr>
              <a:t>● </a:t>
            </a:r>
            <a:r>
              <a:rPr sz="1100">
                <a:solidFill>
                  <a:srgbClr val="334155"/>
                </a:solidFill>
                <a:latin typeface="Malgun Gothic"/>
              </a:rPr>
              <a:t>Praise instantly — the moment they do well, 🌟praise! Instant rewards are the strongest motivator.</a:t>
            </a:r>
          </a:p>
          <a:p>
            <a:pPr>
              <a:lnSpc>
                <a:spcPct val="115000"/>
              </a:lnSpc>
              <a:spcAft>
                <a:spcPts val="500"/>
              </a:spcAft>
            </a:pPr>
            <a:r>
              <a:rPr sz="900" b="1">
                <a:solidFill>
                  <a:srgbClr val="EA580C"/>
                </a:solidFill>
                <a:latin typeface="Malgun Gothic"/>
              </a:rPr>
              <a:t>● </a:t>
            </a:r>
            <a:r>
              <a:rPr sz="1100">
                <a:solidFill>
                  <a:srgbClr val="334155"/>
                </a:solidFill>
                <a:latin typeface="Malgun Gothic"/>
              </a:rPr>
              <a:t>Keep records — the review and 'next goal in one line' power the next lesson and handovers.</a:t>
            </a:r>
          </a:p>
          <a:p>
            <a:pPr>
              <a:lnSpc>
                <a:spcPct val="115000"/>
              </a:lnSpc>
              <a:spcAft>
                <a:spcPts val="500"/>
              </a:spcAft>
            </a:pPr>
            <a:r>
              <a:rPr sz="900" b="1">
                <a:solidFill>
                  <a:srgbClr val="EA580C"/>
                </a:solidFill>
                <a:latin typeface="Malgun Gothic"/>
              </a:rPr>
              <a:t>● </a:t>
            </a:r>
            <a:r>
              <a:rPr sz="1100">
                <a:solidFill>
                  <a:srgbClr val="334155"/>
                </a:solidFill>
                <a:latin typeface="Malgun Gothic"/>
              </a:rPr>
              <a:t>Reinforce with data — put the game report's weak words into the next lesson's intro.</a:t>
            </a:r>
          </a:p>
        </p:txBody>
      </p:sp>
      <p:sp>
        <p:nvSpPr>
          <p:cNvPr id="38" name="TextBox 37"/>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Remember</a:t>
            </a:r>
          </a:p>
        </p:txBody>
      </p:sp>
      <p:sp>
        <p:nvSpPr>
          <p:cNvPr id="39" name="TextBox 38"/>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B020"/>
                </a:solidFill>
                <a:latin typeface="Malgun Gothic"/>
              </a:rPr>
              <a:t>● </a:t>
            </a:r>
            <a:r>
              <a:rPr sz="1050">
                <a:solidFill>
                  <a:srgbClr val="334155"/>
                </a:solidFill>
                <a:latin typeface="Malgun Gothic"/>
              </a:rPr>
              <a:t>No sound/video → check Chrome/Edge + camera·mic permission first (KakaoTalk in-app → external browser)</a:t>
            </a:r>
          </a:p>
          <a:p>
            <a:pPr>
              <a:lnSpc>
                <a:spcPct val="115000"/>
              </a:lnSpc>
              <a:spcAft>
                <a:spcPts val="400"/>
              </a:spcAft>
            </a:pPr>
            <a:r>
              <a:rPr sz="850" b="1">
                <a:solidFill>
                  <a:srgbClr val="FFB020"/>
                </a:solidFill>
                <a:latin typeface="Malgun Gothic"/>
              </a:rPr>
              <a:t>● </a:t>
            </a:r>
            <a:r>
              <a:rPr sz="1050">
                <a:solidFill>
                  <a:srgbClr val="334155"/>
                </a:solidFill>
                <a:latin typeface="Malgun Gothic"/>
              </a:rPr>
              <a:t>Praise points are given by the teacher; the student's star rating earns +10P</a:t>
            </a:r>
          </a:p>
          <a:p>
            <a:pPr>
              <a:lnSpc>
                <a:spcPct val="115000"/>
              </a:lnSpc>
              <a:spcAft>
                <a:spcPts val="400"/>
              </a:spcAft>
            </a:pPr>
            <a:r>
              <a:rPr sz="850" b="1">
                <a:solidFill>
                  <a:srgbClr val="FFB020"/>
                </a:solidFill>
                <a:latin typeface="Malgun Gothic"/>
              </a:rPr>
              <a:t>● </a:t>
            </a:r>
            <a:r>
              <a:rPr sz="1050">
                <a:solidFill>
                  <a:srgbClr val="334155"/>
                </a:solidFill>
                <a:latin typeface="Malgun Gothic"/>
              </a:rPr>
              <a:t>Handle postpone requests after checking policy; guide out-of-policy last-minute requests per policy</a:t>
            </a:r>
          </a:p>
          <a:p>
            <a:pPr>
              <a:lnSpc>
                <a:spcPct val="115000"/>
              </a:lnSpc>
              <a:spcAft>
                <a:spcPts val="400"/>
              </a:spcAft>
            </a:pPr>
            <a:r>
              <a:rPr sz="850" b="1">
                <a:solidFill>
                  <a:srgbClr val="FFB020"/>
                </a:solidFill>
                <a:latin typeface="Malgun Gothic"/>
              </a:rPr>
              <a:t>● </a:t>
            </a:r>
            <a:r>
              <a:rPr sz="1050">
                <a:solidFill>
                  <a:srgbClr val="334155"/>
                </a:solidFill>
                <a:latin typeface="Malgun Gothic"/>
              </a:rPr>
              <a:t>Run every lesson in the rhythm of 'Check → Engage → Praise → Record'!</a:t>
            </a:r>
          </a:p>
        </p:txBody>
      </p:sp>
      <p:sp>
        <p:nvSpPr>
          <p:cNvPr id="40" name="Rounded Rectangle 39"/>
          <p:cNvSpPr/>
          <p:nvPr/>
        </p:nvSpPr>
        <p:spPr>
          <a:xfrm>
            <a:off x="457200" y="6172200"/>
            <a:ext cx="11338560" cy="566928"/>
          </a:xfrm>
          <a:prstGeom prst="roundRect">
            <a:avLst/>
          </a:prstGeom>
          <a:solidFill>
            <a:srgbClr val="FFF4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A teacher's warm words and instant praise build a child's confidence in English. Keep this guide beside you and lead every lesson with it. Praise even the small wins and students will look forward to the next class. Questions? Contact support anytime — cheering you on for lessons that grow together!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