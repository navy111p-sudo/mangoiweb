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F59E0B"/>
              </a:solidFill>
            </c:spPr>
          </c:dPt>
          <c:dPt>
            <c:idx val="1"/>
            <c:spPr>
              <a:solidFill>
                <a:srgbClr val="EA580C"/>
              </a:solidFill>
            </c:spPr>
          </c:dPt>
          <c:dPt>
            <c:idx val="2"/>
            <c:spPr>
              <a:solidFill>
                <a:srgbClr val="059669"/>
              </a:solidFill>
            </c:spPr>
          </c:dPt>
          <c:dPt>
            <c:idx val="3"/>
            <c:spPr>
              <a:solidFill>
                <a:srgbClr val="4F46E5"/>
              </a:solidFill>
            </c:spPr>
          </c:dPt>
          <c:cat>
            <c:strRef>
              <c:f>Sheet1!$A$2:$A$5</c:f>
              <c:strCache>
                <c:ptCount val="4"/>
                <c:pt idx="0">
                  <c:v>Warm-up/greeting</c:v>
                </c:pt>
                <c:pt idx="1">
                  <c:v>Main lesson</c:v>
                </c:pt>
                <c:pt idx="2">
                  <c:v>Speaking practice</c:v>
                </c:pt>
                <c:pt idx="3">
                  <c:v>Wrap-up/review</c:v>
                </c:pt>
              </c:strCache>
            </c:strRef>
          </c:cat>
          <c:val>
            <c:numRef>
              <c:f>Sheet1!$B$2:$B$5</c:f>
              <c:numCache>
                <c:formatCode>General</c:formatCode>
                <c:ptCount val="4"/>
                <c:pt idx="0">
                  <c:v>3</c:v>
                </c:pt>
                <c:pt idx="1">
                  <c:v>14</c:v>
                </c:pt>
                <c:pt idx="2">
                  <c:v>5</c:v>
                </c:pt>
                <c:pt idx="3">
                  <c:v>3</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EA580C"/>
              </a:solidFill>
            </c:spPr>
          </c:dPt>
          <c:dPt>
            <c:idx val="1"/>
            <c:spPr>
              <a:solidFill>
                <a:srgbClr val="F59E0B"/>
              </a:solidFill>
            </c:spPr>
          </c:dPt>
          <c:dPt>
            <c:idx val="2"/>
            <c:spPr>
              <a:solidFill>
                <a:srgbClr val="059669"/>
              </a:solidFill>
            </c:spPr>
          </c:dPt>
          <c:dPt>
            <c:idx val="3"/>
            <c:spPr>
              <a:solidFill>
                <a:srgbClr val="0EA5E9"/>
              </a:solidFill>
            </c:spPr>
          </c:dPt>
          <c:cat>
            <c:strRef>
              <c:f>Sheet1!$A$2:$A$5</c:f>
              <c:strCache>
                <c:ptCount val="4"/>
                <c:pt idx="0">
                  <c:v>Camera</c:v>
                </c:pt>
                <c:pt idx="1">
                  <c:v>Mic</c:v>
                </c:pt>
                <c:pt idx="2">
                  <c:v>Network</c:v>
                </c:pt>
                <c:pt idx="3">
                  <c:v>Lighting</c:v>
                </c:pt>
              </c:strCache>
            </c:strRef>
          </c:cat>
          <c:val>
            <c:numRef>
              <c:f>Sheet1!$B$2:$B$5</c:f>
              <c:numCache>
                <c:formatCode>General</c:formatCode>
                <c:ptCount val="4"/>
                <c:pt idx="0">
                  <c:v>100</c:v>
                </c:pt>
                <c:pt idx="1">
                  <c:v>100</c:v>
                </c:pt>
                <c:pt idx="2">
                  <c:v>90</c:v>
                </c:pt>
                <c:pt idx="3">
                  <c:v>80</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EA580C"/>
              </a:solidFill>
            </c:spPr>
          </c:dPt>
          <c:dPt>
            <c:idx val="1"/>
            <c:spPr>
              <a:solidFill>
                <a:srgbClr val="EA580C"/>
              </a:solidFill>
            </c:spPr>
          </c:dPt>
          <c:dPt>
            <c:idx val="2"/>
            <c:spPr>
              <a:solidFill>
                <a:srgbClr val="EA580C"/>
              </a:solidFill>
            </c:spPr>
          </c:dPt>
          <c:dPt>
            <c:idx val="3"/>
            <c:spPr>
              <a:solidFill>
                <a:srgbClr val="EA580C"/>
              </a:solidFill>
            </c:spPr>
          </c:dPt>
          <c:dPt>
            <c:idx val="4"/>
            <c:spPr>
              <a:solidFill>
                <a:srgbClr val="EA580C"/>
              </a:solidFill>
            </c:spPr>
          </c:dPt>
          <c:cat>
            <c:strRef>
              <c:f>Sheet1!$A$2:$A$6</c:f>
              <c:strCache>
                <c:ptCount val="5"/>
                <c:pt idx="0">
                  <c:v>Prep</c:v>
                </c:pt>
                <c:pt idx="1">
                  <c:v>Interaction</c:v>
                </c:pt>
                <c:pt idx="2">
                  <c:v>Feedback</c:v>
                </c:pt>
                <c:pt idx="3">
                  <c:v>Pronunciation</c:v>
                </c:pt>
                <c:pt idx="4">
                  <c:v>Records</c:v>
                </c:pt>
              </c:strCache>
            </c:strRef>
          </c:cat>
          <c:val>
            <c:numRef>
              <c:f>Sheet1!$B$2:$B$6</c:f>
              <c:numCache>
                <c:formatCode>General</c:formatCode>
                <c:ptCount val="5"/>
                <c:pt idx="0">
                  <c:v>9</c:v>
                </c:pt>
                <c:pt idx="1">
                  <c:v>8</c:v>
                </c:pt>
                <c:pt idx="2">
                  <c:v>9</c:v>
                </c:pt>
                <c:pt idx="3">
                  <c:v>8</c:v>
                </c:pt>
                <c:pt idx="4">
                  <c:v>7</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A580C"/>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EA580C"/>
                </a:solidFill>
                <a:latin typeface="Malgun Gothic"/>
              </a:rPr>
              <a:t>👩‍🏫 TEACHER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Teacher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Follow the lesson flow — how to use the site</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Native-speaker teachers and Korean instructors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EA580C"/>
                </a:solidFill>
                <a:latin typeface="Malgun Gothic"/>
              </a:rPr>
              <a:t>What is the Teacher Site Guide?</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This guide explains how a teacher who runs video lessons uses the Mangoi site. From pre-class device checks to entering the classroom, the materials/board/chat tools, using the AI warm-up and pronunciation coach, writing lesson reviews, praising students and learning reports — it follows the real lesson flow. (This is a 'how to use the site' guide, not a teaching methodology.)</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Pre-class detailed check</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Camera·mic·network·lighting scores.</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Classroom tools</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Video·materials·board·chat·recording.</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Lesson review · praise</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Post-class review and star/sticker praise.</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Learning reports</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Game weak words·reports for next lesson prep.</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EA580C"/>
                </a:solidFill>
                <a:latin typeface="Malgun Gothic"/>
              </a:rPr>
              <a:t>25-min Lesson Time Split (ex., min)</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teacher_precheck.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Contents  (1/2)</a:t>
            </a:r>
          </a:p>
        </p:txBody>
      </p:sp>
      <p:sp>
        <p:nvSpPr>
          <p:cNvPr id="7" name="TextBox 6"/>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Introduction</a:t>
            </a:r>
          </a:p>
        </p:txBody>
      </p:sp>
      <p:sp>
        <p:nvSpPr>
          <p:cNvPr id="8" name="TextBox 7"/>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a:t>
            </a:r>
          </a:p>
        </p:txBody>
      </p:sp>
      <p:sp>
        <p:nvSpPr>
          <p:cNvPr id="9" name="Rounded Rectangle 8"/>
          <p:cNvSpPr/>
          <p:nvPr/>
        </p:nvSpPr>
        <p:spPr>
          <a:xfrm>
            <a:off x="411480" y="17556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01</a:t>
            </a:r>
          </a:p>
        </p:txBody>
      </p:sp>
      <p:sp>
        <p:nvSpPr>
          <p:cNvPr id="11" name="TextBox 10"/>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Pre-class Detailed Check</a:t>
            </a:r>
          </a:p>
        </p:txBody>
      </p:sp>
      <p:sp>
        <p:nvSpPr>
          <p:cNvPr id="12" name="TextBox 11"/>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5</a:t>
            </a:r>
          </a:p>
        </p:txBody>
      </p:sp>
      <p:sp>
        <p:nvSpPr>
          <p:cNvPr id="13" name="Rounded Rectangle 12"/>
          <p:cNvSpPr/>
          <p:nvPr/>
        </p:nvSpPr>
        <p:spPr>
          <a:xfrm>
            <a:off x="411480" y="20299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02</a:t>
            </a:r>
          </a:p>
        </p:txBody>
      </p:sp>
      <p:sp>
        <p:nvSpPr>
          <p:cNvPr id="15" name="TextBox 14"/>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Enter a Lesson from My Page</a:t>
            </a:r>
          </a:p>
        </p:txBody>
      </p:sp>
      <p:sp>
        <p:nvSpPr>
          <p:cNvPr id="16" name="TextBox 15"/>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6</a:t>
            </a:r>
          </a:p>
        </p:txBody>
      </p:sp>
      <p:sp>
        <p:nvSpPr>
          <p:cNvPr id="17" name="Rounded Rectangle 16"/>
          <p:cNvSpPr/>
          <p:nvPr/>
        </p:nvSpPr>
        <p:spPr>
          <a:xfrm>
            <a:off x="411480" y="230428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03</a:t>
            </a:r>
          </a:p>
        </p:txBody>
      </p:sp>
      <p:sp>
        <p:nvSpPr>
          <p:cNvPr id="19" name="TextBox 18"/>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Make the Most of My Page</a:t>
            </a:r>
          </a:p>
        </p:txBody>
      </p:sp>
      <p:sp>
        <p:nvSpPr>
          <p:cNvPr id="20" name="TextBox 19"/>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7</a:t>
            </a:r>
          </a:p>
        </p:txBody>
      </p:sp>
      <p:sp>
        <p:nvSpPr>
          <p:cNvPr id="21" name="Rounded Rectangle 20"/>
          <p:cNvSpPr/>
          <p:nvPr/>
        </p:nvSpPr>
        <p:spPr>
          <a:xfrm>
            <a:off x="411480" y="25786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04</a:t>
            </a:r>
          </a:p>
        </p:txBody>
      </p:sp>
      <p:sp>
        <p:nvSpPr>
          <p:cNvPr id="23" name="TextBox 22"/>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Enter the Classroom</a:t>
            </a:r>
          </a:p>
        </p:txBody>
      </p:sp>
      <p:sp>
        <p:nvSpPr>
          <p:cNvPr id="24" name="TextBox 23"/>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8</a:t>
            </a:r>
          </a:p>
        </p:txBody>
      </p:sp>
      <p:sp>
        <p:nvSpPr>
          <p:cNvPr id="25" name="Rounded Rectangle 24"/>
          <p:cNvSpPr/>
          <p:nvPr/>
        </p:nvSpPr>
        <p:spPr>
          <a:xfrm>
            <a:off x="411480" y="28529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05</a:t>
            </a:r>
          </a:p>
        </p:txBody>
      </p:sp>
      <p:sp>
        <p:nvSpPr>
          <p:cNvPr id="27" name="TextBox 26"/>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The Classroom at a Glance</a:t>
            </a:r>
          </a:p>
        </p:txBody>
      </p:sp>
      <p:sp>
        <p:nvSpPr>
          <p:cNvPr id="28" name="TextBox 27"/>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9</a:t>
            </a:r>
          </a:p>
        </p:txBody>
      </p:sp>
      <p:sp>
        <p:nvSpPr>
          <p:cNvPr id="29" name="Rounded Rectangle 28"/>
          <p:cNvSpPr/>
          <p:nvPr/>
        </p:nvSpPr>
        <p:spPr>
          <a:xfrm>
            <a:off x="411480" y="31272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06</a:t>
            </a:r>
          </a:p>
        </p:txBody>
      </p:sp>
      <p:sp>
        <p:nvSpPr>
          <p:cNvPr id="31" name="TextBox 30"/>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Switching the 6 Top Tabs</a:t>
            </a:r>
          </a:p>
        </p:txBody>
      </p:sp>
      <p:sp>
        <p:nvSpPr>
          <p:cNvPr id="32" name="TextBox 31"/>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10</a:t>
            </a:r>
          </a:p>
        </p:txBody>
      </p:sp>
      <p:sp>
        <p:nvSpPr>
          <p:cNvPr id="33" name="Rounded Rectangle 32"/>
          <p:cNvSpPr/>
          <p:nvPr/>
        </p:nvSpPr>
        <p:spPr>
          <a:xfrm>
            <a:off x="411480" y="34015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07</a:t>
            </a:r>
          </a:p>
        </p:txBody>
      </p:sp>
      <p:sp>
        <p:nvSpPr>
          <p:cNvPr id="35" name="TextBox 34"/>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Board Tools, One by One</a:t>
            </a:r>
          </a:p>
        </p:txBody>
      </p:sp>
      <p:sp>
        <p:nvSpPr>
          <p:cNvPr id="36" name="TextBox 35"/>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11</a:t>
            </a:r>
          </a:p>
        </p:txBody>
      </p:sp>
      <p:sp>
        <p:nvSpPr>
          <p:cNvPr id="37" name="Rounded Rectangle 36"/>
          <p:cNvSpPr/>
          <p:nvPr/>
        </p:nvSpPr>
        <p:spPr>
          <a:xfrm>
            <a:off x="411480" y="3675887"/>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08</a:t>
            </a:r>
          </a:p>
        </p:txBody>
      </p:sp>
      <p:sp>
        <p:nvSpPr>
          <p:cNvPr id="39" name="TextBox 38"/>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Materials Tools (share PDF/photos)</a:t>
            </a:r>
          </a:p>
        </p:txBody>
      </p:sp>
      <p:sp>
        <p:nvSpPr>
          <p:cNvPr id="40" name="TextBox 39"/>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12</a:t>
            </a:r>
          </a:p>
        </p:txBody>
      </p:sp>
      <p:sp>
        <p:nvSpPr>
          <p:cNvPr id="41" name="Rounded Rectangle 40"/>
          <p:cNvSpPr/>
          <p:nvPr/>
        </p:nvSpPr>
        <p:spPr>
          <a:xfrm>
            <a:off x="411480" y="39502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09</a:t>
            </a:r>
          </a:p>
        </p:txBody>
      </p:sp>
      <p:sp>
        <p:nvSpPr>
          <p:cNvPr id="43" name="TextBox 42"/>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Writing Tools (annotate on top)</a:t>
            </a:r>
          </a:p>
        </p:txBody>
      </p:sp>
      <p:sp>
        <p:nvSpPr>
          <p:cNvPr id="44" name="TextBox 43"/>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13</a:t>
            </a:r>
          </a:p>
        </p:txBody>
      </p:sp>
      <p:sp>
        <p:nvSpPr>
          <p:cNvPr id="45" name="Rounded Rectangle 44"/>
          <p:cNvSpPr/>
          <p:nvPr/>
        </p:nvSpPr>
        <p:spPr>
          <a:xfrm>
            <a:off x="411480" y="42245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10</a:t>
            </a:r>
          </a:p>
        </p:txBody>
      </p:sp>
      <p:sp>
        <p:nvSpPr>
          <p:cNvPr id="47" name="TextBox 46"/>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Watch Video Together</a:t>
            </a:r>
          </a:p>
        </p:txBody>
      </p:sp>
      <p:sp>
        <p:nvSpPr>
          <p:cNvPr id="48" name="TextBox 47"/>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14</a:t>
            </a:r>
          </a:p>
        </p:txBody>
      </p:sp>
      <p:sp>
        <p:nvSpPr>
          <p:cNvPr id="49" name="Rounded Rectangle 48"/>
          <p:cNvSpPr/>
          <p:nvPr/>
        </p:nvSpPr>
        <p:spPr>
          <a:xfrm>
            <a:off x="6141567" y="14813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11</a:t>
            </a:r>
          </a:p>
        </p:txBody>
      </p:sp>
      <p:sp>
        <p:nvSpPr>
          <p:cNvPr id="51" name="TextBox 50"/>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Background &amp; Face Decorations</a:t>
            </a:r>
          </a:p>
        </p:txBody>
      </p:sp>
      <p:sp>
        <p:nvSpPr>
          <p:cNvPr id="52" name="TextBox 51"/>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15</a:t>
            </a:r>
          </a:p>
        </p:txBody>
      </p:sp>
      <p:sp>
        <p:nvSpPr>
          <p:cNvPr id="53" name="Rounded Rectangle 52"/>
          <p:cNvSpPr/>
          <p:nvPr/>
        </p:nvSpPr>
        <p:spPr>
          <a:xfrm>
            <a:off x="6141567" y="17556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12</a:t>
            </a:r>
          </a:p>
        </p:txBody>
      </p:sp>
      <p:sp>
        <p:nvSpPr>
          <p:cNvPr id="55" name="TextBox 54"/>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Resize &amp; Arrange the Screen</a:t>
            </a:r>
          </a:p>
        </p:txBody>
      </p:sp>
      <p:sp>
        <p:nvSpPr>
          <p:cNvPr id="56" name="TextBox 55"/>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16</a:t>
            </a:r>
          </a:p>
        </p:txBody>
      </p:sp>
      <p:sp>
        <p:nvSpPr>
          <p:cNvPr id="57" name="Rounded Rectangle 56"/>
          <p:cNvSpPr/>
          <p:nvPr/>
        </p:nvSpPr>
        <p:spPr>
          <a:xfrm>
            <a:off x="6141567" y="20299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13</a:t>
            </a:r>
          </a:p>
        </p:txBody>
      </p:sp>
      <p:sp>
        <p:nvSpPr>
          <p:cNvPr id="59" name="TextBox 58"/>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Praise Points During Class</a:t>
            </a:r>
          </a:p>
        </p:txBody>
      </p:sp>
      <p:sp>
        <p:nvSpPr>
          <p:cNvPr id="60" name="TextBox 59"/>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17</a:t>
            </a:r>
          </a:p>
        </p:txBody>
      </p:sp>
      <p:sp>
        <p:nvSpPr>
          <p:cNvPr id="61" name="Rounded Rectangle 60"/>
          <p:cNvSpPr/>
          <p:nvPr/>
        </p:nvSpPr>
        <p:spPr>
          <a:xfrm>
            <a:off x="6141567" y="230428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14</a:t>
            </a:r>
          </a:p>
        </p:txBody>
      </p:sp>
      <p:sp>
        <p:nvSpPr>
          <p:cNvPr id="63" name="TextBox 62"/>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Bottom Dock &amp; Praise Basket</a:t>
            </a:r>
          </a:p>
        </p:txBody>
      </p:sp>
      <p:sp>
        <p:nvSpPr>
          <p:cNvPr id="64" name="TextBox 63"/>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18</a:t>
            </a:r>
          </a:p>
        </p:txBody>
      </p:sp>
      <p:sp>
        <p:nvSpPr>
          <p:cNvPr id="65" name="Rounded Rectangle 64"/>
          <p:cNvSpPr/>
          <p:nvPr/>
        </p:nvSpPr>
        <p:spPr>
          <a:xfrm>
            <a:off x="6141567" y="25786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15</a:t>
            </a:r>
          </a:p>
        </p:txBody>
      </p:sp>
      <p:sp>
        <p:nvSpPr>
          <p:cNvPr id="67" name="TextBox 66"/>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Pre-upload Materials</a:t>
            </a:r>
          </a:p>
        </p:txBody>
      </p:sp>
      <p:sp>
        <p:nvSpPr>
          <p:cNvPr id="68" name="TextBox 67"/>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19</a:t>
            </a:r>
          </a:p>
        </p:txBody>
      </p:sp>
      <p:sp>
        <p:nvSpPr>
          <p:cNvPr id="69" name="Rounded Rectangle 68"/>
          <p:cNvSpPr/>
          <p:nvPr/>
        </p:nvSpPr>
        <p:spPr>
          <a:xfrm>
            <a:off x="6141567" y="28529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16</a:t>
            </a:r>
          </a:p>
        </p:txBody>
      </p:sp>
      <p:sp>
        <p:nvSpPr>
          <p:cNvPr id="71" name="TextBox 70"/>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Start with the AI Warm-up</a:t>
            </a:r>
          </a:p>
        </p:txBody>
      </p:sp>
      <p:sp>
        <p:nvSpPr>
          <p:cNvPr id="72" name="TextBox 71"/>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20</a:t>
            </a:r>
          </a:p>
        </p:txBody>
      </p:sp>
      <p:sp>
        <p:nvSpPr>
          <p:cNvPr id="73" name="Rounded Rectangle 72"/>
          <p:cNvSpPr/>
          <p:nvPr/>
        </p:nvSpPr>
        <p:spPr>
          <a:xfrm>
            <a:off x="6141567" y="31272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17</a:t>
            </a:r>
          </a:p>
        </p:txBody>
      </p:sp>
      <p:sp>
        <p:nvSpPr>
          <p:cNvPr id="75" name="TextBox 74"/>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Use the Pronunciation Coach</a:t>
            </a:r>
          </a:p>
        </p:txBody>
      </p:sp>
      <p:sp>
        <p:nvSpPr>
          <p:cNvPr id="76" name="TextBox 75"/>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21</a:t>
            </a:r>
          </a:p>
        </p:txBody>
      </p:sp>
      <p:sp>
        <p:nvSpPr>
          <p:cNvPr id="77" name="Rounded Rectangle 76"/>
          <p:cNvSpPr/>
          <p:nvPr/>
        </p:nvSpPr>
        <p:spPr>
          <a:xfrm>
            <a:off x="6141567" y="34015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18</a:t>
            </a:r>
          </a:p>
        </p:txBody>
      </p:sp>
      <p:sp>
        <p:nvSpPr>
          <p:cNvPr id="79" name="TextBox 78"/>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Write the Lesson Review</a:t>
            </a:r>
          </a:p>
        </p:txBody>
      </p:sp>
      <p:sp>
        <p:nvSpPr>
          <p:cNvPr id="80" name="TextBox 79"/>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22</a:t>
            </a:r>
          </a:p>
        </p:txBody>
      </p:sp>
      <p:sp>
        <p:nvSpPr>
          <p:cNvPr id="81" name="Rounded Rectangle 80"/>
          <p:cNvSpPr/>
          <p:nvPr/>
        </p:nvSpPr>
        <p:spPr>
          <a:xfrm>
            <a:off x="6141567" y="3675887"/>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19</a:t>
            </a:r>
          </a:p>
        </p:txBody>
      </p:sp>
      <p:sp>
        <p:nvSpPr>
          <p:cNvPr id="83" name="TextBox 82"/>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Leave Student Praise</a:t>
            </a:r>
          </a:p>
        </p:txBody>
      </p:sp>
      <p:sp>
        <p:nvSpPr>
          <p:cNvPr id="84" name="TextBox 83"/>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23</a:t>
            </a:r>
          </a:p>
        </p:txBody>
      </p:sp>
      <p:sp>
        <p:nvSpPr>
          <p:cNvPr id="85" name="Rounded Rectangle 84"/>
          <p:cNvSpPr/>
          <p:nvPr/>
        </p:nvSpPr>
        <p:spPr>
          <a:xfrm>
            <a:off x="6141567" y="39502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20</a:t>
            </a:r>
          </a:p>
        </p:txBody>
      </p:sp>
      <p:sp>
        <p:nvSpPr>
          <p:cNvPr id="87" name="TextBox 86"/>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Game Learning Report</a:t>
            </a:r>
          </a:p>
        </p:txBody>
      </p:sp>
      <p:sp>
        <p:nvSpPr>
          <p:cNvPr id="88" name="TextBox 87"/>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Contents  (2/2)</a:t>
            </a:r>
          </a:p>
        </p:txBody>
      </p:sp>
      <p:sp>
        <p:nvSpPr>
          <p:cNvPr id="7" name="Rounded Rectangle 6"/>
          <p:cNvSpPr/>
          <p:nvPr/>
        </p:nvSpPr>
        <p:spPr>
          <a:xfrm>
            <a:off x="411480" y="14813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21</a:t>
            </a:r>
          </a:p>
        </p:txBody>
      </p:sp>
      <p:sp>
        <p:nvSpPr>
          <p:cNvPr id="9" name="TextBox 8"/>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Reports · Lesson Management</a:t>
            </a:r>
          </a:p>
        </p:txBody>
      </p:sp>
      <p:sp>
        <p:nvSpPr>
          <p:cNvPr id="10" name="TextBox 9"/>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25</a:t>
            </a:r>
          </a:p>
        </p:txBody>
      </p:sp>
      <p:sp>
        <p:nvSpPr>
          <p:cNvPr id="11" name="Rounded Rectangle 10"/>
          <p:cNvSpPr/>
          <p:nvPr/>
        </p:nvSpPr>
        <p:spPr>
          <a:xfrm>
            <a:off x="411480" y="17556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22</a:t>
            </a:r>
          </a:p>
        </p:txBody>
      </p:sp>
      <p:sp>
        <p:nvSpPr>
          <p:cNvPr id="13" name="TextBox 12"/>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Handle Lesson Postpones</a:t>
            </a:r>
          </a:p>
        </p:txBody>
      </p:sp>
      <p:sp>
        <p:nvSpPr>
          <p:cNvPr id="14" name="TextBox 13"/>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26</a:t>
            </a:r>
          </a:p>
        </p:txBody>
      </p:sp>
      <p:sp>
        <p:nvSpPr>
          <p:cNvPr id="15" name="Rounded Rectangle 14"/>
          <p:cNvSpPr/>
          <p:nvPr/>
        </p:nvSpPr>
        <p:spPr>
          <a:xfrm>
            <a:off x="411480" y="20299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23</a:t>
            </a:r>
          </a:p>
        </p:txBody>
      </p:sp>
      <p:sp>
        <p:nvSpPr>
          <p:cNvPr id="17" name="TextBox 16"/>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Support · Inquiries</a:t>
            </a:r>
          </a:p>
        </p:txBody>
      </p:sp>
      <p:sp>
        <p:nvSpPr>
          <p:cNvPr id="18" name="TextBox 17"/>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27</a:t>
            </a:r>
          </a:p>
        </p:txBody>
      </p:sp>
      <p:sp>
        <p:nvSpPr>
          <p:cNvPr id="19" name="Rounded Rectangle 18"/>
          <p:cNvSpPr/>
          <p:nvPr/>
        </p:nvSpPr>
        <p:spPr>
          <a:xfrm>
            <a:off x="411480" y="230428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24</a:t>
            </a:r>
          </a:p>
        </p:txBody>
      </p:sp>
      <p:sp>
        <p:nvSpPr>
          <p:cNvPr id="21" name="TextBox 20"/>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Korea·Philippines Dual Clock</a:t>
            </a:r>
          </a:p>
        </p:txBody>
      </p:sp>
      <p:sp>
        <p:nvSpPr>
          <p:cNvPr id="22" name="TextBox 21"/>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28</a:t>
            </a:r>
          </a:p>
        </p:txBody>
      </p:sp>
      <p:sp>
        <p:nvSpPr>
          <p:cNvPr id="23" name="Rounded Rectangle 22"/>
          <p:cNvSpPr/>
          <p:nvPr/>
        </p:nvSpPr>
        <p:spPr>
          <a:xfrm>
            <a:off x="411480" y="25786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25</a:t>
            </a:r>
          </a:p>
        </p:txBody>
      </p:sp>
      <p:sp>
        <p:nvSpPr>
          <p:cNvPr id="25" name="TextBox 24"/>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Chinese Pronunciation Coach</a:t>
            </a:r>
          </a:p>
        </p:txBody>
      </p:sp>
      <p:sp>
        <p:nvSpPr>
          <p:cNvPr id="26" name="TextBox 25"/>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29</a:t>
            </a:r>
          </a:p>
        </p:txBody>
      </p:sp>
      <p:sp>
        <p:nvSpPr>
          <p:cNvPr id="27" name="Rounded Rectangle 26"/>
          <p:cNvSpPr/>
          <p:nvPr/>
        </p:nvSpPr>
        <p:spPr>
          <a:xfrm>
            <a:off x="411480" y="28529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26</a:t>
            </a:r>
          </a:p>
        </p:txBody>
      </p:sp>
      <p:sp>
        <p:nvSpPr>
          <p:cNvPr id="29" name="TextBox 28"/>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Coaching After Class</a:t>
            </a:r>
          </a:p>
        </p:txBody>
      </p:sp>
      <p:sp>
        <p:nvSpPr>
          <p:cNvPr id="30" name="TextBox 29"/>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30</a:t>
            </a:r>
          </a:p>
        </p:txBody>
      </p:sp>
      <p:sp>
        <p:nvSpPr>
          <p:cNvPr id="31" name="Rounded Rectangle 30"/>
          <p:cNvSpPr/>
          <p:nvPr/>
        </p:nvSpPr>
        <p:spPr>
          <a:xfrm>
            <a:off x="411480" y="31272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27</a:t>
            </a:r>
          </a:p>
        </p:txBody>
      </p:sp>
      <p:sp>
        <p:nvSpPr>
          <p:cNvPr id="33" name="TextBox 32"/>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Tab Sync (Your Screen Leads)</a:t>
            </a:r>
          </a:p>
        </p:txBody>
      </p:sp>
      <p:sp>
        <p:nvSpPr>
          <p:cNvPr id="34" name="TextBox 33"/>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31</a:t>
            </a:r>
          </a:p>
        </p:txBody>
      </p:sp>
      <p:sp>
        <p:nvSpPr>
          <p:cNvPr id="35" name="Rounded Rectangle 34"/>
          <p:cNvSpPr/>
          <p:nvPr/>
        </p:nvSpPr>
        <p:spPr>
          <a:xfrm>
            <a:off x="411480" y="34015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28</a:t>
            </a:r>
          </a:p>
        </p:txBody>
      </p:sp>
      <p:sp>
        <p:nvSpPr>
          <p:cNvPr id="37" name="TextBox 36"/>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1:1 Private Chat &amp; File Sharing</a:t>
            </a:r>
          </a:p>
        </p:txBody>
      </p:sp>
      <p:sp>
        <p:nvSpPr>
          <p:cNvPr id="38" name="TextBox 37"/>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32</a:t>
            </a:r>
          </a:p>
        </p:txBody>
      </p:sp>
      <p:sp>
        <p:nvSpPr>
          <p:cNvPr id="39" name="Rounded Rectangle 38"/>
          <p:cNvSpPr/>
          <p:nvPr/>
        </p:nvSpPr>
        <p:spPr>
          <a:xfrm>
            <a:off x="411480" y="3675887"/>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29</a:t>
            </a:r>
          </a:p>
        </p:txBody>
      </p:sp>
      <p:sp>
        <p:nvSpPr>
          <p:cNvPr id="41" name="TextBox 40"/>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Requesting a Postpone / Change</a:t>
            </a:r>
          </a:p>
        </p:txBody>
      </p:sp>
      <p:sp>
        <p:nvSpPr>
          <p:cNvPr id="42" name="TextBox 41"/>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33</a:t>
            </a:r>
          </a:p>
        </p:txBody>
      </p:sp>
      <p:sp>
        <p:nvSpPr>
          <p:cNvPr id="43" name="Rounded Rectangle 42"/>
          <p:cNvSpPr/>
          <p:nvPr/>
        </p:nvSpPr>
        <p:spPr>
          <a:xfrm>
            <a:off x="411480" y="39502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30</a:t>
            </a:r>
          </a:p>
        </p:txBody>
      </p:sp>
      <p:sp>
        <p:nvSpPr>
          <p:cNvPr id="45" name="TextBox 44"/>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Checking My Lesson-Fee Settlement</a:t>
            </a:r>
          </a:p>
        </p:txBody>
      </p:sp>
      <p:sp>
        <p:nvSpPr>
          <p:cNvPr id="46" name="TextBox 45"/>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34</a:t>
            </a:r>
          </a:p>
        </p:txBody>
      </p:sp>
      <p:sp>
        <p:nvSpPr>
          <p:cNvPr id="47" name="Rounded Rectangle 46"/>
          <p:cNvSpPr/>
          <p:nvPr/>
        </p:nvSpPr>
        <p:spPr>
          <a:xfrm>
            <a:off x="411480" y="42245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31</a:t>
            </a:r>
          </a:p>
        </p:txBody>
      </p:sp>
      <p:sp>
        <p:nvSpPr>
          <p:cNvPr id="49" name="TextBox 48"/>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Three class controls (focus · background lock · exit guard)</a:t>
            </a:r>
          </a:p>
        </p:txBody>
      </p:sp>
      <p:sp>
        <p:nvSpPr>
          <p:cNvPr id="50" name="TextBox 49"/>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35</a:t>
            </a:r>
          </a:p>
        </p:txBody>
      </p:sp>
      <p:sp>
        <p:nvSpPr>
          <p:cNvPr id="51" name="Rounded Rectangle 50"/>
          <p:cNvSpPr/>
          <p:nvPr/>
        </p:nvSpPr>
        <p:spPr>
          <a:xfrm>
            <a:off x="6141567" y="14813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32</a:t>
            </a:r>
          </a:p>
        </p:txBody>
      </p:sp>
      <p:sp>
        <p:nvSpPr>
          <p:cNvPr id="53" name="TextBox 52"/>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Textbook PDF — annotations that stay · faster page jumps</a:t>
            </a:r>
          </a:p>
        </p:txBody>
      </p:sp>
      <p:sp>
        <p:nvSpPr>
          <p:cNvPr id="54" name="TextBox 53"/>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36</a:t>
            </a:r>
          </a:p>
        </p:txBody>
      </p:sp>
      <p:sp>
        <p:nvSpPr>
          <p:cNvPr id="55" name="Rounded Rectangle 54"/>
          <p:cNvSpPr/>
          <p:nvPr/>
        </p:nvSpPr>
        <p:spPr>
          <a:xfrm>
            <a:off x="6141567" y="17556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33</a:t>
            </a:r>
          </a:p>
        </p:txBody>
      </p:sp>
      <p:sp>
        <p:nvSpPr>
          <p:cNvPr id="57" name="TextBox 56"/>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It rides out a slow connection by itself</a:t>
            </a:r>
          </a:p>
        </p:txBody>
      </p:sp>
      <p:sp>
        <p:nvSpPr>
          <p:cNvPr id="58" name="TextBox 57"/>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37</a:t>
            </a:r>
          </a:p>
        </p:txBody>
      </p:sp>
      <p:sp>
        <p:nvSpPr>
          <p:cNvPr id="59" name="Rounded Rectangle 58"/>
          <p:cNvSpPr/>
          <p:nvPr/>
        </p:nvSpPr>
        <p:spPr>
          <a:xfrm>
            <a:off x="6141567" y="20299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34</a:t>
            </a:r>
          </a:p>
        </p:txBody>
      </p:sp>
      <p:sp>
        <p:nvSpPr>
          <p:cNvPr id="61" name="TextBox 60"/>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Using Judgment Training in class</a:t>
            </a:r>
          </a:p>
        </p:txBody>
      </p:sp>
      <p:sp>
        <p:nvSpPr>
          <p:cNvPr id="62" name="TextBox 61"/>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38</a:t>
            </a:r>
          </a:p>
        </p:txBody>
      </p:sp>
      <p:sp>
        <p:nvSpPr>
          <p:cNvPr id="63" name="Rounded Rectangle 62"/>
          <p:cNvSpPr/>
          <p:nvPr/>
        </p:nvSpPr>
        <p:spPr>
          <a:xfrm>
            <a:off x="6141567" y="230428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35</a:t>
            </a:r>
          </a:p>
        </p:txBody>
      </p:sp>
      <p:sp>
        <p:nvSpPr>
          <p:cNvPr id="65" name="TextBox 64"/>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Replay a recorded lesson</a:t>
            </a:r>
          </a:p>
        </p:txBody>
      </p:sp>
      <p:sp>
        <p:nvSpPr>
          <p:cNvPr id="66" name="TextBox 65"/>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39</a:t>
            </a:r>
          </a:p>
        </p:txBody>
      </p:sp>
      <p:sp>
        <p:nvSpPr>
          <p:cNvPr id="67" name="Rounded Rectangle 66"/>
          <p:cNvSpPr/>
          <p:nvPr/>
        </p:nvSpPr>
        <p:spPr>
          <a:xfrm>
            <a:off x="6141567" y="25786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36</a:t>
            </a:r>
          </a:p>
        </p:txBody>
      </p:sp>
      <p:sp>
        <p:nvSpPr>
          <p:cNvPr id="69" name="TextBox 68"/>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Your account (password · interface language)</a:t>
            </a:r>
          </a:p>
        </p:txBody>
      </p:sp>
      <p:sp>
        <p:nvSpPr>
          <p:cNvPr id="70" name="TextBox 69"/>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40</a:t>
            </a:r>
          </a:p>
        </p:txBody>
      </p:sp>
      <p:sp>
        <p:nvSpPr>
          <p:cNvPr id="71" name="Rounded Rectangle 70"/>
          <p:cNvSpPr/>
          <p:nvPr/>
        </p:nvSpPr>
        <p:spPr>
          <a:xfrm>
            <a:off x="6141567" y="28529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37</a:t>
            </a:r>
          </a:p>
        </p:txBody>
      </p:sp>
      <p:sp>
        <p:nvSpPr>
          <p:cNvPr id="73" name="TextBox 72"/>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Feature Summary · Data</a:t>
            </a:r>
          </a:p>
        </p:txBody>
      </p:sp>
      <p:sp>
        <p:nvSpPr>
          <p:cNvPr id="74" name="TextBox 73"/>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41</a:t>
            </a:r>
          </a:p>
        </p:txBody>
      </p:sp>
      <p:sp>
        <p:nvSpPr>
          <p:cNvPr id="75" name="Rounded Rectangle 74"/>
          <p:cNvSpPr/>
          <p:nvPr/>
        </p:nvSpPr>
        <p:spPr>
          <a:xfrm>
            <a:off x="6141567" y="31272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38</a:t>
            </a:r>
          </a:p>
        </p:txBody>
      </p:sp>
      <p:sp>
        <p:nvSpPr>
          <p:cNvPr id="77" name="TextBox 76"/>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Data at a Glance</a:t>
            </a:r>
          </a:p>
        </p:txBody>
      </p:sp>
      <p:sp>
        <p:nvSpPr>
          <p:cNvPr id="78" name="TextBox 77"/>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42</a:t>
            </a:r>
          </a:p>
        </p:txBody>
      </p:sp>
      <p:sp>
        <p:nvSpPr>
          <p:cNvPr id="79" name="Rounded Rectangle 78"/>
          <p:cNvSpPr/>
          <p:nvPr/>
        </p:nvSpPr>
        <p:spPr>
          <a:xfrm>
            <a:off x="6141567" y="34015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39</a:t>
            </a:r>
          </a:p>
        </p:txBody>
      </p:sp>
      <p:sp>
        <p:nvSpPr>
          <p:cNvPr id="81" name="TextBox 80"/>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Frequently Asked Questions (FAQ)</a:t>
            </a:r>
          </a:p>
        </p:txBody>
      </p:sp>
      <p:sp>
        <p:nvSpPr>
          <p:cNvPr id="82" name="TextBox 81"/>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43</a:t>
            </a:r>
          </a:p>
        </p:txBody>
      </p:sp>
      <p:sp>
        <p:nvSpPr>
          <p:cNvPr id="83" name="Rounded Rectangle 82"/>
          <p:cNvSpPr/>
          <p:nvPr/>
        </p:nvSpPr>
        <p:spPr>
          <a:xfrm>
            <a:off x="6141567" y="3675887"/>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40</a:t>
            </a:r>
          </a:p>
        </p:txBody>
      </p:sp>
      <p:sp>
        <p:nvSpPr>
          <p:cNvPr id="85" name="TextBox 84"/>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Checklist</a:t>
            </a:r>
          </a:p>
        </p:txBody>
      </p:sp>
      <p:sp>
        <p:nvSpPr>
          <p:cNvPr id="86" name="TextBox 85"/>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44</a:t>
            </a:r>
          </a:p>
        </p:txBody>
      </p:sp>
      <p:sp>
        <p:nvSpPr>
          <p:cNvPr id="87" name="Rounded Rectangle 86"/>
          <p:cNvSpPr/>
          <p:nvPr/>
        </p:nvSpPr>
        <p:spPr>
          <a:xfrm>
            <a:off x="6141567" y="39502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41</a:t>
            </a:r>
          </a:p>
        </p:txBody>
      </p:sp>
      <p:sp>
        <p:nvSpPr>
          <p:cNvPr id="89" name="TextBox 88"/>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Conclusion</a:t>
            </a:r>
          </a:p>
        </p:txBody>
      </p:sp>
      <p:sp>
        <p:nvSpPr>
          <p:cNvPr id="90" name="TextBox 89"/>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Pre-class Detailed Check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devices before entering</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screen that checks camera, mic, network and lighting at once before class. An overall score and per-item signals catch problems early and prevent drop-outs mid-lesson.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Check camera, mic, network and lighting on the check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Read the overall score and each item's signal (normal/warning).</a:t>
            </a:r>
          </a:p>
          <a:p>
            <a:pPr>
              <a:lnSpc>
                <a:spcPct val="115000"/>
              </a:lnSpc>
              <a:spcAft>
                <a:spcPts val="600"/>
              </a:spcAft>
            </a:pPr>
            <a:r>
              <a:rPr sz="1050" b="1">
                <a:solidFill>
                  <a:srgbClr val="EA580C"/>
                </a:solidFill>
                <a:latin typeface="Malgun Gothic"/>
              </a:rPr>
              <a:t>● </a:t>
            </a:r>
            <a:r>
              <a:rPr sz="1250">
                <a:solidFill>
                  <a:srgbClr val="334155"/>
                </a:solidFill>
                <a:latin typeface="Malgun Gothic"/>
              </a:rPr>
              <a:t>For red items, adjust lighting, seat or connection and check again.</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Do the check 5–10 minutes before class.</a:t>
            </a:r>
          </a:p>
          <a:p>
            <a:pPr>
              <a:lnSpc>
                <a:spcPct val="115000"/>
              </a:lnSpc>
              <a:spcAft>
                <a:spcPts val="200"/>
              </a:spcAft>
            </a:pPr>
            <a:r>
              <a:rPr sz="900" b="1">
                <a:solidFill>
                  <a:srgbClr val="EA580C"/>
                </a:solidFill>
                <a:latin typeface="Malgun Gothic"/>
              </a:rPr>
              <a:t>● </a:t>
            </a:r>
            <a:r>
              <a:rPr sz="1100">
                <a:solidFill>
                  <a:srgbClr val="334155"/>
                </a:solidFill>
                <a:latin typeface="Malgun Gothic"/>
              </a:rPr>
              <a:t>Fix issues before the student enters.</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Put the light in front of your face so your expression shows and student focus rises.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echec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Enter a Lesson from My Page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The first button to the lesson room</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Teachers enter a lesson the same way students do — with the 'Enter Class' button on My Page. After logging in, open My Page and you'll find the gold 'Enter Class' button; pressing it takes you to the video-class lobby.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After logging in, press the '👤 My Page' button.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Find the gold '🎥 Enter Class' button below (in a row with '💳 Payment').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'Enter Class' and you go to the video-class lobby.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the hint '🎥 Enter video class lobby · 📹 Mic/Camera required'.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Then in the lobby, confirm your name → Allow camera/mic → enter the classroom (see next page).</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One 'Enter Class' button takes you straight to the lobby.</a:t>
            </a:r>
          </a:p>
          <a:p>
            <a:pPr>
              <a:lnSpc>
                <a:spcPct val="115000"/>
              </a:lnSpc>
              <a:spcAft>
                <a:spcPts val="200"/>
              </a:spcAft>
            </a:pPr>
            <a:r>
              <a:rPr sz="900" b="1">
                <a:solidFill>
                  <a:srgbClr val="EA580C"/>
                </a:solidFill>
                <a:latin typeface="Malgun Gothic"/>
              </a:rPr>
              <a:t>● </a:t>
            </a:r>
            <a:r>
              <a:rPr sz="1100">
                <a:solidFill>
                  <a:srgbClr val="334155"/>
                </a:solidFill>
                <a:latin typeface="Malgun Gothic"/>
              </a:rPr>
              <a:t>My Page also has pre-check, postpone/change, all-menu and more.</a:t>
            </a:r>
          </a:p>
          <a:p>
            <a:pPr>
              <a:lnSpc>
                <a:spcPct val="115000"/>
              </a:lnSpc>
              <a:spcAft>
                <a:spcPts val="200"/>
              </a:spcAft>
            </a:pPr>
            <a:r>
              <a:rPr sz="900" b="1">
                <a:solidFill>
                  <a:srgbClr val="EA580C"/>
                </a:solidFill>
                <a:latin typeface="Malgun Gothic"/>
              </a:rPr>
              <a:t>● </a:t>
            </a:r>
            <a:r>
              <a:rPr sz="1100">
                <a:solidFill>
                  <a:srgbClr val="334155"/>
                </a:solidFill>
                <a:latin typeface="Malgun Gothic"/>
              </a:rPr>
              <a:t>Students enter with the same 'Enter Class' button.</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Even after pressing the button, your face/sound won't connect unless you allow camera/mic.</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Enter early from My Page 5–10 minutes before class to check your devices.</a:t>
            </a:r>
          </a:p>
        </p:txBody>
      </p:sp>
      <p:sp>
        <p:nvSpPr>
          <p:cNvPr id="21" name="Rectangle 20"/>
          <p:cNvSpPr/>
          <p:nvPr/>
        </p:nvSpPr>
        <p:spPr>
          <a:xfrm>
            <a:off x="6300216" y="3363420"/>
            <a:ext cx="5596128" cy="150275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ypage_enter.jpg"/>
          <p:cNvPicPr>
            <a:picLocks noChangeAspect="1"/>
          </p:cNvPicPr>
          <p:nvPr/>
        </p:nvPicPr>
        <p:blipFill>
          <a:blip r:embed="rId2"/>
          <a:stretch>
            <a:fillRect/>
          </a:stretch>
        </p:blipFill>
        <p:spPr>
          <a:xfrm>
            <a:off x="6355080" y="3418284"/>
            <a:ext cx="5486400" cy="1393031"/>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Make the Most of My Page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Every entry point you need for class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My Page has more than just 'Enter Class' — every menu you need for a lesson is gathered here. Knowing the buttons you use most makes prep much faster.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Pre-check: check camera, mic, network and lighting before class. (a must 5–10 min before)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Enter Class: go to the video-class lobby. (see earlier page)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Postpone/Change: adjust the schedule per a student's request or your situation.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Review Quiz · 🎤 Curriculum Pronunciation: preview review/pronunciation material for students.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New Inquiry · 🏠 All Menu · 📝 Book Class: go to intake and all features.</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Make 'Pre-check → Enter Class' a habit.</a:t>
            </a:r>
          </a:p>
          <a:p>
            <a:pPr>
              <a:lnSpc>
                <a:spcPct val="115000"/>
              </a:lnSpc>
              <a:spcAft>
                <a:spcPts val="200"/>
              </a:spcAft>
            </a:pPr>
            <a:r>
              <a:rPr sz="900" b="1">
                <a:solidFill>
                  <a:srgbClr val="EA580C"/>
                </a:solidFill>
                <a:latin typeface="Malgun Gothic"/>
              </a:rPr>
              <a:t>● </a:t>
            </a:r>
            <a:r>
              <a:rPr sz="1100">
                <a:solidFill>
                  <a:srgbClr val="334155"/>
                </a:solidFill>
                <a:latin typeface="Malgun Gothic"/>
              </a:rPr>
              <a:t>If text looks Korean, switch to English with the EN button.</a:t>
            </a:r>
          </a:p>
          <a:p>
            <a:pPr>
              <a:lnSpc>
                <a:spcPct val="115000"/>
              </a:lnSpc>
              <a:spcAft>
                <a:spcPts val="200"/>
              </a:spcAft>
            </a:pPr>
            <a:r>
              <a:rPr sz="900" b="1">
                <a:solidFill>
                  <a:srgbClr val="EA580C"/>
                </a:solidFill>
                <a:latin typeface="Malgun Gothic"/>
              </a:rPr>
              <a:t>● </a:t>
            </a:r>
            <a:r>
              <a:rPr sz="1100">
                <a:solidFill>
                  <a:srgbClr val="334155"/>
                </a:solidFill>
                <a:latin typeface="Malgun Gothic"/>
              </a:rPr>
              <a:t>You can also tell the AI search/assistant 'open ○○' to jump there.</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Pre-class routine: ① Pre-check devices → ② pre-upload the textbook → ③ Enter Class.</a:t>
            </a:r>
          </a:p>
        </p:txBody>
      </p:sp>
      <p:sp>
        <p:nvSpPr>
          <p:cNvPr id="19" name="Rectangle 18"/>
          <p:cNvSpPr/>
          <p:nvPr/>
        </p:nvSpPr>
        <p:spPr>
          <a:xfrm>
            <a:off x="6300216" y="3706645"/>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mypage.jpg"/>
          <p:cNvPicPr>
            <a:picLocks noChangeAspect="1"/>
          </p:cNvPicPr>
          <p:nvPr/>
        </p:nvPicPr>
        <p:blipFill>
          <a:blip r:embed="rId2"/>
          <a:stretch>
            <a:fillRect/>
          </a:stretch>
        </p:blipFill>
        <p:spPr>
          <a:xfrm>
            <a:off x="6355080" y="3761509"/>
            <a:ext cx="5486400" cy="70658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Enter the Classroom</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Getting into the lesson room</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On the entry screen, enter your name and room code to join. Allow camera and mic, then wait for the student.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Enter your name on the entry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the room code (empty = shared lesson room).</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Enter and click Allow for camera/mic.</a:t>
            </a:r>
          </a:p>
          <a:p>
            <a:pPr>
              <a:lnSpc>
                <a:spcPct val="115000"/>
              </a:lnSpc>
              <a:spcAft>
                <a:spcPts val="600"/>
              </a:spcAft>
            </a:pPr>
            <a:r>
              <a:rPr sz="1050" b="1">
                <a:solidFill>
                  <a:srgbClr val="EA580C"/>
                </a:solidFill>
                <a:latin typeface="Malgun Gothic"/>
              </a:rPr>
              <a:t>● </a:t>
            </a:r>
            <a:r>
              <a:rPr sz="1250">
                <a:solidFill>
                  <a:srgbClr val="334155"/>
                </a:solidFill>
                <a:latin typeface="Malgun Gothic"/>
              </a:rPr>
              <a:t>Wait for the student and check screen/sound.</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Enter early to check your camera framing and sound.</a:t>
            </a:r>
          </a:p>
          <a:p>
            <a:pPr>
              <a:lnSpc>
                <a:spcPct val="115000"/>
              </a:lnSpc>
              <a:spcAft>
                <a:spcPts val="200"/>
              </a:spcAft>
            </a:pPr>
            <a:r>
              <a:rPr sz="900" b="1">
                <a:solidFill>
                  <a:srgbClr val="EA580C"/>
                </a:solidFill>
                <a:latin typeface="Malgun Gothic"/>
              </a:rPr>
              <a:t>● </a:t>
            </a:r>
            <a:r>
              <a:rPr sz="1100">
                <a:solidFill>
                  <a:srgbClr val="334155"/>
                </a:solidFill>
                <a:latin typeface="Malgun Gothic"/>
              </a:rPr>
              <a:t>Chrome/Edge recommended; avoid the KakaoTalk in-app browser.</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If a student can't enter, have them check browser permissions and type first.</a:t>
            </a:r>
          </a:p>
        </p:txBody>
      </p:sp>
      <p:sp>
        <p:nvSpPr>
          <p:cNvPr id="19" name="Rounded Rectangle 18"/>
          <p:cNvSpPr/>
          <p:nvPr/>
        </p:nvSpPr>
        <p:spPr>
          <a:xfrm>
            <a:off x="457200" y="662939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 30-second check of background, lighting and sound after entering makes the lesson smooth.</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Classroom at a Glance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What does the lesson screen look like?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enter a lesson, the screen has three main areas: ① the top bar (room info, timer, language, dark mode), ② the large center workspace (where the board, materials, video, etc. open), and ③ the bottom control dock (camera, chat, leave). Your face video and the praise basket sit in a small window at the top-left.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Top-left: `Room: mangoi-class · Users: 2` — the room name and how many people are connected.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Top-right: ⏰ Timer (lesson time), 🔴 REC (recording indicator), 🌐 EN (switch language), 🌙 Dark (dark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Center: the tool you pick from the top tabs (board, materials, video…) opens here.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Bottom-center: the control dock — camera, screen share, chat and leave buttons.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Small window, top-left: your face video and the 🧺 praise basket (how many praises you received).</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Hover over a button to see its name (tooltip).</a:t>
            </a:r>
          </a:p>
          <a:p>
            <a:pPr>
              <a:lnSpc>
                <a:spcPct val="115000"/>
              </a:lnSpc>
              <a:spcAft>
                <a:spcPts val="200"/>
              </a:spcAft>
            </a:pPr>
            <a:r>
              <a:rPr sz="900" b="1">
                <a:solidFill>
                  <a:srgbClr val="EA580C"/>
                </a:solidFill>
                <a:latin typeface="Malgun Gothic"/>
              </a:rPr>
              <a:t>● </a:t>
            </a:r>
            <a:r>
              <a:rPr sz="1100">
                <a:solidFill>
                  <a:srgbClr val="334155"/>
                </a:solidFill>
                <a:latin typeface="Malgun Gothic"/>
              </a:rPr>
              <a:t>If text looks Korean, press EN at the top-right to switch language.</a:t>
            </a:r>
          </a:p>
          <a:p>
            <a:pPr>
              <a:lnSpc>
                <a:spcPct val="115000"/>
              </a:lnSpc>
              <a:spcAft>
                <a:spcPts val="200"/>
              </a:spcAft>
            </a:pPr>
            <a:r>
              <a:rPr sz="900" b="1">
                <a:solidFill>
                  <a:srgbClr val="EA580C"/>
                </a:solidFill>
                <a:latin typeface="Malgun Gothic"/>
              </a:rPr>
              <a:t>● </a:t>
            </a:r>
            <a:r>
              <a:rPr sz="1100">
                <a:solidFill>
                  <a:srgbClr val="334155"/>
                </a:solidFill>
                <a:latin typeface="Malgun Gothic"/>
              </a:rPr>
              <a:t>If the screen is too bright, switch to 🌙 Dark.</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It looks like a lot of buttons at first, but the four you use most are board, materials, camera and chat.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Switching the 6 Top Tabs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Board · Video · Games · Background · AI Warm-up · Review Quiz</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At the top of the center workspace there are six tab buttons. Click one to switch to that tool. The active tab is highlighted.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Board: a whiteboard for writing and drawing while explaining.</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Video: watch a YouTube link or a video file together.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Games: open learning games during class (may be limited during lesson time).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Background: change the backdrop behind your video and decorate your face.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Warm-up: an English warm-up before the lesson.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Review Quiz: an AI-made quiz matched to this lesson's textbook and level.</a:t>
            </a:r>
          </a:p>
        </p:txBody>
      </p:sp>
      <p:sp>
        <p:nvSpPr>
          <p:cNvPr id="14" name="Rounded Rectangle 13"/>
          <p:cNvSpPr/>
          <p:nvPr/>
        </p:nvSpPr>
        <p:spPr>
          <a:xfrm>
            <a:off x="457200" y="5550408"/>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Your face video stays visible even after switching tabs.</a:t>
            </a:r>
          </a:p>
          <a:p>
            <a:pPr>
              <a:lnSpc>
                <a:spcPct val="115000"/>
              </a:lnSpc>
              <a:spcAft>
                <a:spcPts val="200"/>
              </a:spcAft>
            </a:pPr>
            <a:r>
              <a:rPr sz="900" b="1">
                <a:solidFill>
                  <a:srgbClr val="EA580C"/>
                </a:solidFill>
                <a:latin typeface="Malgun Gothic"/>
              </a:rPr>
              <a:t>● </a:t>
            </a:r>
            <a:r>
              <a:rPr sz="1100">
                <a:solidFill>
                  <a:srgbClr val="334155"/>
                </a:solidFill>
                <a:latin typeface="Malgun Gothic"/>
              </a:rPr>
              <a:t>At the far right of the tabs there are also 📚 Materials Tools ▾ and ✍️ Writing Tools ▾.</a:t>
            </a:r>
          </a:p>
        </p:txBody>
      </p:sp>
      <p:sp>
        <p:nvSpPr>
          <p:cNvPr id="17" name="Rounded Rectangle 16"/>
          <p:cNvSpPr/>
          <p:nvPr/>
        </p:nvSpPr>
        <p:spPr>
          <a:xfrm>
            <a:off x="457200" y="6665976"/>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Lessons mostly use the 🖊 Board and 📚 Materials the most.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Board Tools, One by One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eraser · shapes · text · save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Open the 🖊 Board tab and a row of drawing tools appears at the top. Let's go through each button from left to right.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Pen: draw freely. / 🧽 Eraser: erase what you drew.</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Line / ⬜ Rectangle / ⭕ Circle: draw straight lines and shapes.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Text: type letters with the keyboard.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Color (color box): pick the pen color. / Thickness (slider): adjust line width.</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Shapes: even rough drawings snap into neat shapes automatically.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Text: recognizes handwriting and turns it into clean typed text.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Clear All: wipe the whole board. / 💾 Save: save the board as an image.</a:t>
            </a:r>
          </a:p>
        </p:txBody>
      </p:sp>
      <p:sp>
        <p:nvSpPr>
          <p:cNvPr id="14" name="Rounded Rectangle 13"/>
          <p:cNvSpPr/>
          <p:nvPr/>
        </p:nvSpPr>
        <p:spPr>
          <a:xfrm>
            <a:off x="457200" y="5934456"/>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Change color and thickness to highlight key parts so they stick.</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 Shapes / AI Text auto-tidy when turned on (experimental).</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Pressing Save (💾) downloads the current board as an image you can use for review.</a:t>
            </a:r>
          </a:p>
        </p:txBody>
      </p:sp>
      <p:sp>
        <p:nvSpPr>
          <p:cNvPr id="19" name="Rounded Rectangle 18"/>
          <p:cNvSpPr/>
          <p:nvPr/>
        </p:nvSpPr>
        <p:spPr>
          <a:xfrm>
            <a:off x="457200" y="77815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Save (💾) the board before class ends to keep exactly what you learned today.</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Materials Tools (share PDF/photos)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Upload · library · turn pages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Click 📚 Materials Tools ▾ at the right of the tabs and a menu drops down. This is where you upload textbooks (PDF/photos) to view together.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Upload (PDF/JPG/PNG): upload a textbook file from your device to share.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Library: pick from textbooks the academy (admin) uploaded.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Download: download the file you're currently viewing.</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Prev / Next ▶: turn textbook pages.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Fit / 100% / 1:1: fit the page to the screen or view at real size.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Stop sharing: end textbook sharing.</a:t>
            </a:r>
          </a:p>
        </p:txBody>
      </p:sp>
      <p:sp>
        <p:nvSpPr>
          <p:cNvPr id="14" name="Rounded Rectangle 13"/>
          <p:cNvSpPr/>
          <p:nvPr/>
        </p:nvSpPr>
        <p:spPr>
          <a:xfrm>
            <a:off x="457200" y="5550408"/>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moment you upload, the other person sees the exact same page.</a:t>
            </a:r>
          </a:p>
          <a:p>
            <a:pPr>
              <a:lnSpc>
                <a:spcPct val="115000"/>
              </a:lnSpc>
              <a:spcAft>
                <a:spcPts val="200"/>
              </a:spcAft>
            </a:pPr>
            <a:r>
              <a:rPr sz="900" b="1">
                <a:solidFill>
                  <a:srgbClr val="EA580C"/>
                </a:solidFill>
                <a:latin typeface="Malgun Gothic"/>
              </a:rPr>
              <a:t>● </a:t>
            </a:r>
            <a:r>
              <a:rPr sz="1100">
                <a:solidFill>
                  <a:srgbClr val="334155"/>
                </a:solidFill>
                <a:latin typeface="Malgun Gothic"/>
              </a:rPr>
              <a:t>Not only PDFs — JPG and PNG photos work too.</a:t>
            </a:r>
          </a:p>
        </p:txBody>
      </p:sp>
      <p:sp>
        <p:nvSpPr>
          <p:cNvPr id="17" name="Rounded Rectangle 16"/>
          <p:cNvSpPr/>
          <p:nvPr/>
        </p:nvSpPr>
        <p:spPr>
          <a:xfrm>
            <a:off x="457200" y="6665976"/>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Upload the textbook before class for a smooth start.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materials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Writing Tools (annotate on top)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highlighter · text · undo</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Click ✍️ Writing Tools ▾ at the right of the tabs and the writing menu drops down. Use it to write directly on top of a textbook or the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Pen: write freely on the screen. / 🖍 Highlighter: brightly mark important spots.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Eraser: erase your writing. / 📝 Text: type letters.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Shapes: tidy your drawn shapes.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Thickness (slider): adjust the pen width.</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Undo: cancel your last mark. / 🗑 Clear: erase all writing.</a:t>
            </a:r>
          </a:p>
        </p:txBody>
      </p:sp>
      <p:sp>
        <p:nvSpPr>
          <p:cNvPr id="14" name="Rounded Rectangle 13"/>
          <p:cNvSpPr/>
          <p:nvPr/>
        </p:nvSpPr>
        <p:spPr>
          <a:xfrm>
            <a:off x="457200" y="5166360"/>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With a textbook open, your writing appears right on top of it.</a:t>
            </a:r>
          </a:p>
          <a:p>
            <a:pPr>
              <a:lnSpc>
                <a:spcPct val="115000"/>
              </a:lnSpc>
              <a:spcAft>
                <a:spcPts val="200"/>
              </a:spcAft>
            </a:pPr>
            <a:r>
              <a:rPr sz="900" b="1">
                <a:solidFill>
                  <a:srgbClr val="EA580C"/>
                </a:solidFill>
                <a:latin typeface="Malgun Gothic"/>
              </a:rPr>
              <a:t>● </a:t>
            </a:r>
            <a:r>
              <a:rPr sz="1100">
                <a:solidFill>
                  <a:srgbClr val="334155"/>
                </a:solidFill>
                <a:latin typeface="Malgun Gothic"/>
              </a:rPr>
              <a:t>Highlight key words to make them stand out.</a:t>
            </a:r>
          </a:p>
        </p:txBody>
      </p:sp>
      <p:sp>
        <p:nvSpPr>
          <p:cNvPr id="17" name="Rounded Rectangle 16"/>
          <p:cNvSpPr/>
          <p:nvPr/>
        </p:nvSpPr>
        <p:spPr>
          <a:xfrm>
            <a:off x="457200" y="6281928"/>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Made a mistake? One tap on ↩ Undo cleans it up.</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Watch Video Together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Share YouTube · video files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the 📹 Video tab you can paste a YouTube link or upload a video file to watch together — great for songs and video materials.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Paste a YouTube link (URL) into the box, or upload a video file.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 Play URL / Play to start the video.</a:t>
            </a:r>
          </a:p>
          <a:p>
            <a:pPr>
              <a:lnSpc>
                <a:spcPct val="115000"/>
              </a:lnSpc>
              <a:spcAft>
                <a:spcPts val="600"/>
              </a:spcAft>
            </a:pPr>
            <a:r>
              <a:rPr sz="1050" b="1">
                <a:solidFill>
                  <a:srgbClr val="EA580C"/>
                </a:solidFill>
                <a:latin typeface="Malgun Gothic"/>
              </a:rPr>
              <a:t>● </a:t>
            </a:r>
            <a:r>
              <a:rPr sz="1250">
                <a:solidFill>
                  <a:srgbClr val="334155"/>
                </a:solidFill>
                <a:latin typeface="Malgun Gothic"/>
              </a:rPr>
              <a:t>Use New video to switch to a different one.</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video plays on the other person's screen too.</a:t>
            </a:r>
          </a:p>
          <a:p>
            <a:pPr>
              <a:lnSpc>
                <a:spcPct val="115000"/>
              </a:lnSpc>
              <a:spcAft>
                <a:spcPts val="200"/>
              </a:spcAft>
            </a:pPr>
            <a:r>
              <a:rPr sz="900" b="1">
                <a:solidFill>
                  <a:srgbClr val="EA580C"/>
                </a:solidFill>
                <a:latin typeface="Malgun Gothic"/>
              </a:rPr>
              <a:t>● </a:t>
            </a:r>
            <a:r>
              <a:rPr sz="1100">
                <a:solidFill>
                  <a:srgbClr val="334155"/>
                </a:solidFill>
                <a:latin typeface="Malgun Gothic"/>
              </a:rPr>
              <a:t>For sound-heavy material, earphones help you hear better.</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Prepare the video link in advance so you can play it instantly in class.</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video.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Background &amp; Face Decorations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Change backdrop · masks · accessories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the 🎨 Background tab you can change the backdrop behind your face and add fun decorations. Just click what you want in the grid.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In the background grid, tap a backdrop (space, desert, forest, cherry blossom, beach, pyramids…).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Tap Background off to return to your normal camera view.</a:t>
            </a:r>
          </a:p>
          <a:p>
            <a:pPr>
              <a:lnSpc>
                <a:spcPct val="115000"/>
              </a:lnSpc>
              <a:spcAft>
                <a:spcPts val="600"/>
              </a:spcAft>
            </a:pPr>
            <a:r>
              <a:rPr sz="1050" b="1">
                <a:solidFill>
                  <a:srgbClr val="EA580C"/>
                </a:solidFill>
                <a:latin typeface="Malgun Gothic"/>
              </a:rPr>
              <a:t>● </a:t>
            </a:r>
            <a:r>
              <a:rPr sz="1250">
                <a:solidFill>
                  <a:srgbClr val="334155"/>
                </a:solidFill>
                <a:latin typeface="Malgun Gothic"/>
              </a:rPr>
              <a:t>Below, in Face Decorations (masks/accessories), pick glasses, hats, animals and more.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Don't like it? Tap again to turn it off.</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Changing the background keeps your face visible.</a:t>
            </a:r>
          </a:p>
          <a:p>
            <a:pPr>
              <a:lnSpc>
                <a:spcPct val="115000"/>
              </a:lnSpc>
              <a:spcAft>
                <a:spcPts val="200"/>
              </a:spcAft>
            </a:pPr>
            <a:r>
              <a:rPr sz="900" b="1">
                <a:solidFill>
                  <a:srgbClr val="EA580C"/>
                </a:solidFill>
                <a:latin typeface="Malgun Gothic"/>
              </a:rPr>
              <a:t>● </a:t>
            </a:r>
            <a:r>
              <a:rPr sz="1100">
                <a:solidFill>
                  <a:srgbClr val="334155"/>
                </a:solidFill>
                <a:latin typeface="Malgun Gothic"/>
              </a:rPr>
              <a:t>Very flashy decorations can distract from the lesson.</a:t>
            </a:r>
          </a:p>
        </p:txBody>
      </p:sp>
      <p:sp>
        <p:nvSpPr>
          <p:cNvPr id="17" name="Rounded Rectangle 16"/>
          <p:cNvSpPr/>
          <p:nvPr/>
        </p:nvSpPr>
        <p:spPr>
          <a:xfrm>
            <a:off x="457200" y="589787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Use a clean background for class and fun decorations for break time.</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g.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Resize &amp; Arrange the Screen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1/4 · 1/2 · 3/4 · Full · PIP · Solo · Free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size bar above the video lets you change the size and layout of your face-video window. The current size is shown in blue.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1/4 · 1/2 · 3/4 · Full: make the video window 1/4 up to full-screen.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PIP: float the video as a small overlay on top of the board/materials.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Solo: hide others and see only your own screen larger.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Free: drag the title bar to move it, drag the bottom-right corner to resize freely.</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Make the video small (1/4) when reading materials, large (Full) when presenting.</a:t>
            </a:r>
          </a:p>
          <a:p>
            <a:pPr>
              <a:lnSpc>
                <a:spcPct val="115000"/>
              </a:lnSpc>
              <a:spcAft>
                <a:spcPts val="200"/>
              </a:spcAft>
            </a:pPr>
            <a:r>
              <a:rPr sz="900" b="1">
                <a:solidFill>
                  <a:srgbClr val="EA580C"/>
                </a:solidFill>
                <a:latin typeface="Malgun Gothic"/>
              </a:rPr>
              <a:t>● </a:t>
            </a:r>
            <a:r>
              <a:rPr sz="1100">
                <a:solidFill>
                  <a:srgbClr val="334155"/>
                </a:solidFill>
                <a:latin typeface="Malgun Gothic"/>
              </a:rPr>
              <a:t>📌 PIP is great when you want to see the textbook and faces at once.</a:t>
            </a:r>
          </a:p>
        </p:txBody>
      </p:sp>
      <p:sp>
        <p:nvSpPr>
          <p:cNvPr id="17" name="Rounded Rectangle 16"/>
          <p:cNvSpPr/>
          <p:nvPr/>
        </p:nvSpPr>
        <p:spPr>
          <a:xfrm>
            <a:off x="457200" y="589787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On a small screen, shrink the video to 1/4 and view the textbook large.</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layout_full.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Praise Points During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Teacher gives → +1P in student's basket</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do well, the teacher can give praise points on the spot. When the teacher taps the 🌟 'Praise' star button on your video, that student instantly gets +1P, and it piles up in real time in the 🧺 point basket on the student's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Teacher: tap the 🌟 'Praise' button at the top-left of a student's video → that student gets +1P. (the count builds up next to the star)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With several students, you can also pick a student from the 'Give Praise' bar.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Student: +1P flies into the 🧺 point basket at the top-left of your screen in real time.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When class ends, the student leaves a star rating to get an extra +10P.</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Collected points are spent as rewards in the point shop, roulette, etc.</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more praise you get, the faster points pile up.</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praise star has an anti-spam cooldown, so it may briefly turn gray.</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basket shows points earned this class; your total P (top bar) is the running sum.</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Praise points are given by the teacher — students can't add them by themselves.</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Teachers: praise 🌟 the moment a student does well — instant rewards motivate best.</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Bottom Dock &amp; Praise Basket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Camera · screen share · chat · leave · praise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control dock at the bottom-center holds the buttons you use most during class. Let's also look at the small 🧺 praise basket at the top-left.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Settings: pick camera/mic devices and check their status.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Camera / 🎤 Mic: turn your face and sound on/off.</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Screen Share: show your computer screen to the other person.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Chat: talk in text (great for words and links).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Native: call the native-speaker helper / interpreter feature.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Leave: end the lesson and exit the room.</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Praise Basket (top-left): the praise (stars/stickers) you receive during class collects here.</a:t>
            </a:r>
          </a:p>
        </p:txBody>
      </p:sp>
      <p:sp>
        <p:nvSpPr>
          <p:cNvPr id="14" name="Rounded Rectangle 13"/>
          <p:cNvSpPr/>
          <p:nvPr/>
        </p:nvSpPr>
        <p:spPr>
          <a:xfrm>
            <a:off x="457200" y="5934456"/>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Before leaving (🚪), make sure you saved the board / notes.</a:t>
            </a:r>
          </a:p>
          <a:p>
            <a:pPr>
              <a:lnSpc>
                <a:spcPct val="115000"/>
              </a:lnSpc>
              <a:spcAft>
                <a:spcPts val="200"/>
              </a:spcAft>
            </a:pPr>
            <a:r>
              <a:rPr sz="900" b="1">
                <a:solidFill>
                  <a:srgbClr val="EA580C"/>
                </a:solidFill>
                <a:latin typeface="Malgun Gothic"/>
              </a:rPr>
              <a:t>● </a:t>
            </a:r>
            <a:r>
              <a:rPr sz="1100">
                <a:solidFill>
                  <a:srgbClr val="334155"/>
                </a:solidFill>
                <a:latin typeface="Malgun Gothic"/>
              </a:rPr>
              <a:t>No sound? Check the mic/speaker devices in ⚙️ Settings.</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Screen share asks the browser which window to share — pick the screen and allow it.</a:t>
            </a:r>
          </a:p>
        </p:txBody>
      </p:sp>
      <p:sp>
        <p:nvSpPr>
          <p:cNvPr id="19" name="Rounded Rectangle 18"/>
          <p:cNvSpPr/>
          <p:nvPr/>
        </p:nvSpPr>
        <p:spPr>
          <a:xfrm>
            <a:off x="457200" y="77815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your praise basket fills up, it means you're doing great!</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Pre-upload Materials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Prepare lesson files in advance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Pre-upload lesson files to the materials uploader so you can share them instantly in class. Being prepared makes the lesson far smoother.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Drag files into or select them in the materials uploader to upload.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Review uploaded materials in the materials viewer.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In class, bring them up instantly via materials-tab sharing.</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Uploading before class saves time.</a:t>
            </a:r>
          </a:p>
          <a:p>
            <a:pPr>
              <a:lnSpc>
                <a:spcPct val="115000"/>
              </a:lnSpc>
              <a:spcAft>
                <a:spcPts val="200"/>
              </a:spcAft>
            </a:pPr>
            <a:r>
              <a:rPr sz="900" b="1">
                <a:solidFill>
                  <a:srgbClr val="EA580C"/>
                </a:solidFill>
                <a:latin typeface="Malgun Gothic"/>
              </a:rPr>
              <a:t>● </a:t>
            </a:r>
            <a:r>
              <a:rPr sz="1100">
                <a:solidFill>
                  <a:srgbClr val="334155"/>
                </a:solidFill>
                <a:latin typeface="Malgun Gothic"/>
              </a:rPr>
              <a:t>Both PDFs and images are supported.</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Naming files by lesson number makes them easy to find.</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textbook_uploa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Start with the AI Warm-up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 3-minute icebreaker</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Use the student's pre-class AI warm-up to open the conversation naturally. The warm-up is tied to today's textbook, so it leads straight into the main lesson.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Open the conversation using the student's AI warm-up content.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Carry the warm-up questions into the main lesson topic.</a:t>
            </a:r>
          </a:p>
          <a:p>
            <a:pPr>
              <a:lnSpc>
                <a:spcPct val="115000"/>
              </a:lnSpc>
              <a:spcAft>
                <a:spcPts val="600"/>
              </a:spcAft>
            </a:pPr>
            <a:r>
              <a:rPr sz="1050" b="1">
                <a:solidFill>
                  <a:srgbClr val="EA580C"/>
                </a:solidFill>
                <a:latin typeface="Malgun Gothic"/>
              </a:rPr>
              <a:t>● </a:t>
            </a:r>
            <a:r>
              <a:rPr sz="1250">
                <a:solidFill>
                  <a:srgbClr val="334155"/>
                </a:solidFill>
                <a:latin typeface="Malgun Gothic"/>
              </a:rPr>
              <a:t>For students who skipped it, ease in with 1–2 light questions.</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Mentioning the warm-up raises student engagement.</a:t>
            </a:r>
          </a:p>
          <a:p>
            <a:pPr>
              <a:lnSpc>
                <a:spcPct val="115000"/>
              </a:lnSpc>
              <a:spcAft>
                <a:spcPts val="200"/>
              </a:spcAft>
            </a:pPr>
            <a:r>
              <a:rPr sz="900" b="1">
                <a:solidFill>
                  <a:srgbClr val="EA580C"/>
                </a:solidFill>
                <a:latin typeface="Malgun Gothic"/>
              </a:rPr>
              <a:t>● </a:t>
            </a:r>
            <a:r>
              <a:rPr sz="1100">
                <a:solidFill>
                  <a:srgbClr val="334155"/>
                </a:solidFill>
                <a:latin typeface="Malgun Gothic"/>
              </a:rPr>
              <a:t>A smooth intro improves the lesson rhythm.</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'You said … in the warm-up, right?' instantly breaks the ice.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armup.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Use the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Correct with the AI voice coach</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Practice AI voice-coach sentences with students who struggle with pronunciation. Guide them to self-correct through record → score → replay.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Pick voice-coach sentences at the student's level together.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Have them self-correct via record → score → replay.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Link the lesson sentences to voice-coach homework.</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'lesson sentence → voice-coach repeat' routine is effective.</a:t>
            </a:r>
          </a:p>
          <a:p>
            <a:pPr>
              <a:lnSpc>
                <a:spcPct val="115000"/>
              </a:lnSpc>
              <a:spcAft>
                <a:spcPts val="200"/>
              </a:spcAft>
            </a:pPr>
            <a:r>
              <a:rPr sz="900" b="1">
                <a:solidFill>
                  <a:srgbClr val="EA580C"/>
                </a:solidFill>
                <a:latin typeface="Malgun Gothic"/>
              </a:rPr>
              <a:t>● </a:t>
            </a:r>
            <a:r>
              <a:rPr sz="1100">
                <a:solidFill>
                  <a:srgbClr val="334155"/>
                </a:solidFill>
                <a:latin typeface="Malgun Gothic"/>
              </a:rPr>
              <a:t>Scores give a sense of achievement to keep going.</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For tough sounds (r, th), repeat with short words first.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Write the Lesson Review</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Record post-class feedback</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class, record today's lesson in the review. Leave per-item stars and comments on strengths and areas to improve; it's reflected in the parent my-page and reports.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Record today's lesson on the review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Leave per-item stars and comments.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Once saved, it's reflected in the report/parent page.</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One praise + one improvement, short and specific.</a:t>
            </a:r>
          </a:p>
          <a:p>
            <a:pPr>
              <a:lnSpc>
                <a:spcPct val="115000"/>
              </a:lnSpc>
              <a:spcAft>
                <a:spcPts val="200"/>
              </a:spcAft>
            </a:pPr>
            <a:r>
              <a:rPr sz="900" b="1">
                <a:solidFill>
                  <a:srgbClr val="EA580C"/>
                </a:solidFill>
                <a:latin typeface="Malgun Gothic"/>
              </a:rPr>
              <a:t>● </a:t>
            </a:r>
            <a:r>
              <a:rPr sz="1100">
                <a:solidFill>
                  <a:srgbClr val="334155"/>
                </a:solidFill>
                <a:latin typeface="Malgun Gothic"/>
              </a:rPr>
              <a:t>Writing right after class is most accurate.</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Adding a concrete example ('today's r sound was great') builds trust.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eva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Leave Student Praise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Stars · stickers · comments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On the Teacher Praise screen, pick the student and items and leave stars, stickers and comments. It shows to the student and parents and motivates them.</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Pick the student and items in Teacher Praise.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Leave stars (7 items) and stickers/comments.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Once saved, it shows to the student and parents.</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Leaving it right after class is most effective.</a:t>
            </a:r>
          </a:p>
          <a:p>
            <a:pPr>
              <a:lnSpc>
                <a:spcPct val="115000"/>
              </a:lnSpc>
              <a:spcAft>
                <a:spcPts val="200"/>
              </a:spcAft>
            </a:pPr>
            <a:r>
              <a:rPr sz="900" b="1">
                <a:solidFill>
                  <a:srgbClr val="EA580C"/>
                </a:solidFill>
                <a:latin typeface="Malgun Gothic"/>
              </a:rPr>
              <a:t>● </a:t>
            </a:r>
            <a:r>
              <a:rPr sz="1100">
                <a:solidFill>
                  <a:srgbClr val="334155"/>
                </a:solidFill>
                <a:latin typeface="Malgun Gothic"/>
              </a:rPr>
              <a:t>Specific praise beats vague praise.</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Praising even small wins improves participation next lesson.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ais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Game Learning Report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a student's weak words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Look up by student ID to see the words most often missed in games. Adding those words to the next lesson's intro for review is effective.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Enter the student ID in the game learning report and look up.</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the weak words (often missed).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Review them intensively in the next lesson.</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Pinpoints weaknesses with data.</a:t>
            </a:r>
          </a:p>
          <a:p>
            <a:pPr>
              <a:lnSpc>
                <a:spcPct val="115000"/>
              </a:lnSpc>
              <a:spcAft>
                <a:spcPts val="200"/>
              </a:spcAft>
            </a:pPr>
            <a:r>
              <a:rPr sz="900" b="1">
                <a:solidFill>
                  <a:srgbClr val="EA580C"/>
                </a:solidFill>
                <a:latin typeface="Malgun Gothic"/>
              </a:rPr>
              <a:t>● </a:t>
            </a:r>
            <a:r>
              <a:rPr sz="1100">
                <a:solidFill>
                  <a:srgbClr val="334155"/>
                </a:solidFill>
                <a:latin typeface="Malgun Gothic"/>
              </a:rPr>
              <a:t>Even 3 words gives a clear review effect.</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Put weak words on the chat/board and repeat them.</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game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Reports · Lesson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progress &amp; performance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Check a student's learning progress and performance in reports, and organize past/upcoming lessons and progress in lesson management. Use it to set the next lesson's goal.</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Check learning progress/performance in reports.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Organize past/upcoming lessons in lesson management.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Set the next lesson goal in one line.</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Progress continuity improves.</a:t>
            </a:r>
          </a:p>
          <a:p>
            <a:pPr>
              <a:lnSpc>
                <a:spcPct val="115000"/>
              </a:lnSpc>
              <a:spcAft>
                <a:spcPts val="200"/>
              </a:spcAft>
            </a:pPr>
            <a:r>
              <a:rPr sz="900" b="1">
                <a:solidFill>
                  <a:srgbClr val="EA580C"/>
                </a:solidFill>
                <a:latin typeface="Malgun Gothic"/>
              </a:rPr>
              <a:t>● </a:t>
            </a:r>
            <a:r>
              <a:rPr sz="1100">
                <a:solidFill>
                  <a:srgbClr val="334155"/>
                </a:solidFill>
                <a:latin typeface="Malgun Gothic"/>
              </a:rPr>
              <a:t>Writing goals makes lesson direction clear.</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Noting the next goal at the end of each lesson makes handover easy too.</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lesson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Handle Lesson Postpones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Respond to student requests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Review students' postpone/change requests and adjust the schedule per policy. Changes are auto-announced to both sides.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Check students' postpone/change requests.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If within policy, adjust the schedule.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Confirm the change is auto-announced.</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Guide out-of-policy last-minute requests per policy.</a:t>
            </a:r>
          </a:p>
          <a:p>
            <a:pPr>
              <a:lnSpc>
                <a:spcPct val="115000"/>
              </a:lnSpc>
              <a:spcAft>
                <a:spcPts val="200"/>
              </a:spcAft>
            </a:pPr>
            <a:r>
              <a:rPr sz="900" b="1">
                <a:solidFill>
                  <a:srgbClr val="EA580C"/>
                </a:solidFill>
                <a:latin typeface="Malgun Gothic"/>
              </a:rPr>
              <a:t>● </a:t>
            </a:r>
            <a:r>
              <a:rPr sz="1100">
                <a:solidFill>
                  <a:srgbClr val="334155"/>
                </a:solidFill>
                <a:latin typeface="Malgun Gothic"/>
              </a:rPr>
              <a:t>Postponing preserves the student's lesson count.</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Tell students the postpone cutoff in advance.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Support · Inquiries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When something goes wrong</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If there's a technical issue or a question during class, contact support channels. Knowing common issues in advance lets you respond quickly.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Use phone, email, Kakao and remote support in Support.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For urgent issues, get direct help via remote support.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Note the fix for repeat issues.</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'No sound/video' — check permissions and browser first.</a:t>
            </a:r>
          </a:p>
          <a:p>
            <a:pPr>
              <a:lnSpc>
                <a:spcPct val="115000"/>
              </a:lnSpc>
              <a:spcAft>
                <a:spcPts val="200"/>
              </a:spcAft>
            </a:pPr>
            <a:r>
              <a:rPr sz="900" b="1">
                <a:solidFill>
                  <a:srgbClr val="EA580C"/>
                </a:solidFill>
                <a:latin typeface="Malgun Gothic"/>
              </a:rPr>
              <a:t>● </a:t>
            </a:r>
            <a:r>
              <a:rPr sz="1100">
                <a:solidFill>
                  <a:srgbClr val="334155"/>
                </a:solidFill>
                <a:latin typeface="Malgun Gothic"/>
              </a:rPr>
              <a:t>Inquiries within business hours are faster.</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Keeping notes of common issues and fixes reduces lesson loss.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clock on screen shows 🇰🇷 Korea time and 🇵🇭 Philippines (local) time together. Students use Korea time, you use Philippines time — seeing both lets you match lesson times exactly.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On the on-screen dual clock, see 🇰🇷 Korea and 🇵🇭 Philippines time at once.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Drag the clock to move it anywhere you like.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Tap (click) the clock to go to the home screen.</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Philippines is 1 hour behind Korea (−1 hour).</a:t>
            </a:r>
          </a:p>
          <a:p>
            <a:pPr>
              <a:lnSpc>
                <a:spcPct val="115000"/>
              </a:lnSpc>
              <a:spcAft>
                <a:spcPts val="200"/>
              </a:spcAft>
            </a:pPr>
            <a:r>
              <a:rPr sz="900" b="1">
                <a:solidFill>
                  <a:srgbClr val="EA580C"/>
                </a:solidFill>
                <a:latin typeface="Malgun Gothic"/>
              </a:rPr>
              <a:t>● </a:t>
            </a:r>
            <a:r>
              <a:rPr sz="1100">
                <a:solidFill>
                  <a:srgbClr val="334155"/>
                </a:solidFill>
                <a:latin typeface="Malgun Gothic"/>
              </a:rPr>
              <a:t>You can check booking/entry times in both countries' time.</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If a student also learns Chinese, guide them to the Chinese pronunciation coach. They read Darakwon Chinese Master (Lv 1–20) sentences and compare with a native speaker to fix pronunciation and tones.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In the AI voice coach, pick the CN Chinese level (or go to the Chinese pronunciation coach).</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Choose a Master series (1–6, HSK 1–6) and a unit.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Read the sentence (characters + pinyin) and compare with 'Play native audio'.</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Practice hard sounds/tones with repeat and slow (0.85x).</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Characters and pinyin appear together, so it's easy to read.</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AI recognizes your voice and compares it to a native speaker.</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learning games hub supports Chinese too.</a:t>
            </a:r>
          </a:p>
        </p:txBody>
      </p:sp>
      <p:sp>
        <p:nvSpPr>
          <p:cNvPr id="17" name="Rounded Rectangle 16"/>
          <p:cNvSpPr/>
          <p:nvPr/>
        </p:nvSpPr>
        <p:spPr>
          <a:xfrm>
            <a:off x="457200" y="620877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Listen slowly and repeat clearly to nail the four tones.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Coaching After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Strengths · areas to improve · one action for today</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finish and leave a class, the AI analyzes it and shows a coaching card with ‘What you did well / Areas to improve / One action for today’ in both Korean and English. Based on real class signals — talk ratio, engagement, praise count — it helps in a warm coaching tone, not surveillance.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End the video class with ‘Leave’ and the coaching card appears automatically.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Toggle 🇰🇷 Korean / 🇺🇸 English to read it in the language you prefer.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the engagement · talk-ratio · praise-count summary and the strengths · improvements · one action.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‘Full report’ to see class details plus recent coaching history (quality score · summary).</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English is the default for native-speaker teachers, with Korean provided alongside.</a:t>
            </a:r>
          </a:p>
          <a:p>
            <a:pPr>
              <a:lnSpc>
                <a:spcPct val="115000"/>
              </a:lnSpc>
              <a:spcAft>
                <a:spcPts val="200"/>
              </a:spcAft>
            </a:pPr>
            <a:r>
              <a:rPr sz="900" b="1">
                <a:solidFill>
                  <a:srgbClr val="EA580C"/>
                </a:solidFill>
                <a:latin typeface="Malgun Gothic"/>
              </a:rPr>
              <a:t>● </a:t>
            </a:r>
            <a:r>
              <a:rPr sz="1100">
                <a:solidFill>
                  <a:srgbClr val="334155"/>
                </a:solidFill>
                <a:latin typeface="Malgun Gothic"/>
              </a:rPr>
              <a:t>A class-quality score (0–100) and a detailed summary help you find your own growth points.</a:t>
            </a:r>
          </a:p>
          <a:p>
            <a:pPr>
              <a:lnSpc>
                <a:spcPct val="115000"/>
              </a:lnSpc>
              <a:spcAft>
                <a:spcPts val="200"/>
              </a:spcAft>
            </a:pPr>
            <a:r>
              <a:rPr sz="900" b="1">
                <a:solidFill>
                  <a:srgbClr val="EA580C"/>
                </a:solidFill>
                <a:latin typeface="Malgun Gothic"/>
              </a:rPr>
              <a:t>● </a:t>
            </a:r>
            <a:r>
              <a:rPr sz="1100">
                <a:solidFill>
                  <a:srgbClr val="334155"/>
                </a:solidFill>
                <a:latin typeface="Malgun Gothic"/>
              </a:rPr>
              <a:t>Even if the AI is briefly slow, baseline coaching in both languages is always provided.</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Coaching is meant to support your own growth. Admins only receive a monthly rollup.</a:t>
            </a:r>
          </a:p>
        </p:txBody>
      </p:sp>
      <p:sp>
        <p:nvSpPr>
          <p:cNvPr id="19" name="Rounded Rectangle 18"/>
          <p:cNvSpPr/>
          <p:nvPr/>
        </p:nvSpPr>
        <p:spPr>
          <a:xfrm>
            <a:off x="457200" y="694029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Trying just the ‘one action for today’ in your next class visibly improves how you draw out student speech.</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ai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Tab Sync (Your Screen Leads)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Switch a tab and students follow instantly</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switch top tabs — Board → Video → Review Quiz — the students' screens follow to the same tab automatically. No more saying “tap the ○○ tab”; you carry the lesson flow yourself.</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Switch the top tabs as usual (Board · Video · Games · Background · AI Warm-up · Review Quiz).</a:t>
            </a:r>
          </a:p>
          <a:p>
            <a:pPr>
              <a:lnSpc>
                <a:spcPct val="115000"/>
              </a:lnSpc>
              <a:spcAft>
                <a:spcPts val="600"/>
              </a:spcAft>
            </a:pPr>
            <a:r>
              <a:rPr sz="1050" b="1">
                <a:solidFill>
                  <a:srgbClr val="EA580C"/>
                </a:solidFill>
                <a:latin typeface="Malgun Gothic"/>
              </a:rPr>
              <a:t>● </a:t>
            </a:r>
            <a:r>
              <a:rPr sz="1250">
                <a:solidFill>
                  <a:srgbClr val="334155"/>
                </a:solidFill>
                <a:latin typeface="Malgun Gothic"/>
              </a:rPr>
              <a:t>Watch the student's screen switch to the same tab automatically.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Textbook and file sharing carry over to students the same way.</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Even young learners follow along without hunting for buttons.</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lesson rhythm never breaks, so pacing gets faster.</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Sync works while you're in the room together. If a screen doesn't follow, ask the student to re-enter.</a:t>
            </a:r>
          </a:p>
        </p:txBody>
      </p:sp>
      <p:sp>
        <p:nvSpPr>
          <p:cNvPr id="19" name="Rounded Rectangle 18"/>
          <p:cNvSpPr/>
          <p:nvPr/>
        </p:nvSpPr>
        <p:spPr>
          <a:xfrm>
            <a:off x="457200" y="624535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 quick heads-up before jumping to a video or quiz keeps students from being startled.</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1:1 Private Chat &amp; File Sharing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Whisper messages only your student sees + share any file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Class chat now supports 1:1 private messages (DM). Send a message only a specific student can see, and share any file — PDF, image, document — through chat; it appears on the other side as a download card.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Open 💬 Chat from the bottom dock.</a:t>
            </a:r>
          </a:p>
          <a:p>
            <a:pPr>
              <a:lnSpc>
                <a:spcPct val="115000"/>
              </a:lnSpc>
              <a:spcAft>
                <a:spcPts val="600"/>
              </a:spcAft>
            </a:pPr>
            <a:r>
              <a:rPr sz="1050" b="1">
                <a:solidFill>
                  <a:srgbClr val="EA580C"/>
                </a:solidFill>
                <a:latin typeface="Malgun Gothic"/>
              </a:rPr>
              <a:t>● </a:t>
            </a:r>
            <a:r>
              <a:rPr sz="1250">
                <a:solidFill>
                  <a:srgbClr val="334155"/>
                </a:solidFill>
                <a:latin typeface="Malgun Gothic"/>
              </a:rPr>
              <a:t>Switch the recipient from Everyone to a student's name to whisper 1:1.</a:t>
            </a:r>
          </a:p>
          <a:p>
            <a:pPr>
              <a:lnSpc>
                <a:spcPct val="115000"/>
              </a:lnSpc>
              <a:spcAft>
                <a:spcPts val="600"/>
              </a:spcAft>
            </a:pPr>
            <a:r>
              <a:rPr sz="1050" b="1">
                <a:solidFill>
                  <a:srgbClr val="EA580C"/>
                </a:solidFill>
                <a:latin typeface="Malgun Gothic"/>
              </a:rPr>
              <a:t>● </a:t>
            </a:r>
            <a:r>
              <a:rPr sz="1250">
                <a:solidFill>
                  <a:srgbClr val="334155"/>
                </a:solidFill>
                <a:latin typeface="Malgun Gothic"/>
              </a:rPr>
              <a:t>Use the 📎 file button to upload a PDF, photo, or document — a download card appears for them.</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Received files are saved with the card's ⬇ Save button.</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Private chats are visible only to the two of you.</a:t>
            </a:r>
          </a:p>
          <a:p>
            <a:pPr>
              <a:lnSpc>
                <a:spcPct val="115000"/>
              </a:lnSpc>
              <a:spcAft>
                <a:spcPts val="200"/>
              </a:spcAft>
            </a:pPr>
            <a:r>
              <a:rPr sz="900" b="1">
                <a:solidFill>
                  <a:srgbClr val="EA580C"/>
                </a:solidFill>
                <a:latin typeface="Malgun Gothic"/>
              </a:rPr>
              <a:t>● </a:t>
            </a:r>
            <a:r>
              <a:rPr sz="1100">
                <a:solidFill>
                  <a:srgbClr val="334155"/>
                </a:solidFill>
                <a:latin typeface="Malgun Gothic"/>
              </a:rPr>
              <a:t>Homework files and notes get exchanged in one step during class.</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Private chats are not stored on the server and disappear after class. Keep important things as files.</a:t>
            </a:r>
          </a:p>
        </p:txBody>
      </p:sp>
      <p:sp>
        <p:nvSpPr>
          <p:cNvPr id="19" name="Rounded Rectangle 18"/>
          <p:cNvSpPr/>
          <p:nvPr/>
        </p:nvSpPr>
        <p:spPr>
          <a:xfrm>
            <a:off x="457200" y="662939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Perfect for quietly asking a question without interrupting anyone else.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cha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Requesting a Postpone / Change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Something came up? Submit right on the site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something urgent comes up, you can now request a class postponement or time change right on the site. Your request reaches the admin in real time, and once approved it's applied to the schedule automatically.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Pick the class in My Page → class schedule.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Request postpone/change and write the reason and preferred time.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After admin approval it's applied to the schedule automatically — you can track the status too.</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It's an official, recorded request — no phone calls or messengers needed.</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original schedule holds until approval, so request early (ideally a day ahead).</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Last-minute changes need time to notify students and parents. If it's urgent, also alert support.</a:t>
            </a:r>
          </a:p>
        </p:txBody>
      </p:sp>
      <p:sp>
        <p:nvSpPr>
          <p:cNvPr id="19" name="Rounded Rectangle 18"/>
          <p:cNvSpPr/>
          <p:nvPr/>
        </p:nvSpPr>
        <p:spPr>
          <a:xfrm>
            <a:off x="457200" y="624535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Offering 2–3 preferred times gets you approved much faster.</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Checking My Lesson-Fee Settlement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See this month's classes and pay yourself</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My Page's 🧾 Settlement tab, you can check this month's class count and lesson-fee settlement yourself. Settlement data is protected so only you can see yours, and past months are available too.</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Open the 🧾 Settlement tab in My Page.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this month's class count and settlement amount.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Switch the month to review previous months as well.</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Settlement details are visible only to you — safe and private.</a:t>
            </a:r>
          </a:p>
          <a:p>
            <a:pPr>
              <a:lnSpc>
                <a:spcPct val="115000"/>
              </a:lnSpc>
              <a:spcAft>
                <a:spcPts val="200"/>
              </a:spcAft>
            </a:pPr>
            <a:r>
              <a:rPr sz="900" b="1">
                <a:solidFill>
                  <a:srgbClr val="EA580C"/>
                </a:solidFill>
                <a:latin typeface="Malgun Gothic"/>
              </a:rPr>
              <a:t>● </a:t>
            </a:r>
            <a:r>
              <a:rPr sz="1100">
                <a:solidFill>
                  <a:srgbClr val="334155"/>
                </a:solidFill>
                <a:latin typeface="Malgun Gothic"/>
              </a:rPr>
              <a:t>Class records connect to settlement automatically, so nothing gets missed.</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If a figure looks wrong, don't fix it yourself — contact the admin (HQ).</a:t>
            </a:r>
          </a:p>
        </p:txBody>
      </p:sp>
      <p:sp>
        <p:nvSpPr>
          <p:cNvPr id="19" name="Rounded Rectangle 18"/>
          <p:cNvSpPr/>
          <p:nvPr/>
        </p:nvSpPr>
        <p:spPr>
          <a:xfrm>
            <a:off x="457200" y="624535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Make it a habit to skim last month's statement at the start of each month.</a:t>
            </a:r>
          </a:p>
        </p:txBody>
      </p:sp>
      <p:sp>
        <p:nvSpPr>
          <p:cNvPr id="21" name="Rectangle 20"/>
          <p:cNvSpPr/>
          <p:nvPr/>
        </p:nvSpPr>
        <p:spPr>
          <a:xfrm>
            <a:off x="6300216" y="3706645"/>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mypage.jpg"/>
          <p:cNvPicPr>
            <a:picLocks noChangeAspect="1"/>
          </p:cNvPicPr>
          <p:nvPr/>
        </p:nvPicPr>
        <p:blipFill>
          <a:blip r:embed="rId2"/>
          <a:stretch>
            <a:fillRect/>
          </a:stretch>
        </p:blipFill>
        <p:spPr>
          <a:xfrm>
            <a:off x="6355080" y="3761509"/>
            <a:ext cx="5486400" cy="706581"/>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Three class controls (focus · background lock · exit guard)</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Fewer distractions and accidental exits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Three controls the teacher can switch on and off. Focus mode stops the student drifting to other screens during the lesson, background lock stops them changing backgrounds and face decorations over and over, and exit guard catches an accidental back-button press before they leave the lesson.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Open ⚙️ Settings in the bottom dock of the lesson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Turn on Focus mode to pin the student's screen to the lesson.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Turn on Background lock so backgrounds and face decorations can't be changed.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Leave Exit guard on and the student is asked to confirm before leaving.</a:t>
            </a:r>
          </a:p>
          <a:p>
            <a:pPr>
              <a:lnSpc>
                <a:spcPct val="115000"/>
              </a:lnSpc>
              <a:spcAft>
                <a:spcPts val="600"/>
              </a:spcAft>
            </a:pPr>
            <a:r>
              <a:rPr sz="1050" b="1">
                <a:solidFill>
                  <a:srgbClr val="EA580C"/>
                </a:solidFill>
                <a:latin typeface="Malgun Gothic"/>
              </a:rPr>
              <a:t>● </a:t>
            </a:r>
            <a:r>
              <a:rPr sz="1250">
                <a:solidFill>
                  <a:srgbClr val="334155"/>
                </a:solidFill>
                <a:latin typeface="Malgun Gothic"/>
              </a:rPr>
              <a:t>All three release automatically when the lesson ends.</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A brief disconnection does not end the lesson — the student picks up where they left off.</a:t>
            </a:r>
          </a:p>
          <a:p>
            <a:pPr>
              <a:lnSpc>
                <a:spcPct val="115000"/>
              </a:lnSpc>
              <a:spcAft>
                <a:spcPts val="200"/>
              </a:spcAft>
            </a:pPr>
            <a:r>
              <a:rPr sz="900" b="1">
                <a:solidFill>
                  <a:srgbClr val="EA580C"/>
                </a:solidFill>
                <a:latin typeface="Malgun Gothic"/>
              </a:rPr>
              <a:t>● </a:t>
            </a:r>
            <a:r>
              <a:rPr sz="1100">
                <a:solidFill>
                  <a:srgbClr val="334155"/>
                </a:solidFill>
                <a:latin typeface="Malgun Gothic"/>
              </a:rPr>
              <a:t>No-shows are counted automatically and appear on the admin screen.</a:t>
            </a:r>
          </a:p>
          <a:p>
            <a:pPr>
              <a:lnSpc>
                <a:spcPct val="115000"/>
              </a:lnSpc>
              <a:spcAft>
                <a:spcPts val="200"/>
              </a:spcAft>
            </a:pPr>
            <a:r>
              <a:rPr sz="900" b="1">
                <a:solidFill>
                  <a:srgbClr val="EA580C"/>
                </a:solidFill>
                <a:latin typeface="Malgun Gothic"/>
              </a:rPr>
              <a:t>● </a:t>
            </a:r>
            <a:r>
              <a:rPr sz="1100">
                <a:solidFill>
                  <a:srgbClr val="334155"/>
                </a:solidFill>
                <a:latin typeface="Malgun Gothic"/>
              </a:rPr>
              <a:t>Especially effective with younger classes.</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These are tools for helping focus, not for punishing. Explain them to the student at the start of the lesson.</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Rather than switching them on only for restless students, leave them on from lesson one — it feels more natural.</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Textbook PDF — annotations that stay · faster page jumps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Turn the page and come back; your marks are still there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Annotations you draw on a textbook PDF now survive turning the page and coming back. Navigation is faster with ◀ ▶ buttons and direct page-number entry, and a new light mode keeps page turns smooth on older devices and slow connections.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Open the Textbook tab and load the PDF.</a:t>
            </a:r>
          </a:p>
          <a:p>
            <a:pPr>
              <a:lnSpc>
                <a:spcPct val="115000"/>
              </a:lnSpc>
              <a:spcAft>
                <a:spcPts val="600"/>
              </a:spcAft>
            </a:pPr>
            <a:r>
              <a:rPr sz="1050" b="1">
                <a:solidFill>
                  <a:srgbClr val="EA580C"/>
                </a:solidFill>
                <a:latin typeface="Malgun Gothic"/>
              </a:rPr>
              <a:t>● </a:t>
            </a:r>
            <a:r>
              <a:rPr sz="1250">
                <a:solidFill>
                  <a:srgbClr val="334155"/>
                </a:solidFill>
                <a:latin typeface="Malgun Gothic"/>
              </a:rPr>
              <a:t>Underline and circle with the writing tools.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Move with ◀ ▶, or type a page number to jump.</a:t>
            </a:r>
          </a:p>
          <a:p>
            <a:pPr>
              <a:lnSpc>
                <a:spcPct val="115000"/>
              </a:lnSpc>
              <a:spcAft>
                <a:spcPts val="600"/>
              </a:spcAft>
            </a:pPr>
            <a:r>
              <a:rPr sz="1050" b="1">
                <a:solidFill>
                  <a:srgbClr val="EA580C"/>
                </a:solidFill>
                <a:latin typeface="Malgun Gothic"/>
              </a:rPr>
              <a:t>● </a:t>
            </a:r>
            <a:r>
              <a:rPr sz="1250">
                <a:solidFill>
                  <a:srgbClr val="334155"/>
                </a:solidFill>
                <a:latin typeface="Malgun Gothic"/>
              </a:rPr>
              <a:t>Go back a page and your earlier marks are still there.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If the screen feels slow, turn on light mode.</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Annotations are stored per page, so they never mix up.</a:t>
            </a:r>
          </a:p>
          <a:p>
            <a:pPr>
              <a:lnSpc>
                <a:spcPct val="115000"/>
              </a:lnSpc>
              <a:spcAft>
                <a:spcPts val="200"/>
              </a:spcAft>
            </a:pPr>
            <a:r>
              <a:rPr sz="900" b="1">
                <a:solidFill>
                  <a:srgbClr val="EA580C"/>
                </a:solidFill>
                <a:latin typeface="Malgun Gothic"/>
              </a:rPr>
              <a:t>● </a:t>
            </a:r>
            <a:r>
              <a:rPr sz="1100">
                <a:solidFill>
                  <a:srgbClr val="334155"/>
                </a:solidFill>
                <a:latin typeface="Malgun Gothic"/>
              </a:rPr>
              <a:t>Light mode trades a little sharpness for much smoother page turns.</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student sees the same page with the same annotations.</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Note down the page numbers you use most before class and jumping becomes instant.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It rides out a slow connection by itself</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Video may fold away, but the voice keeps going</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the line degrades, the system lowers video quality by itself, and if that isn't enough it switches automatically to a voice-first (audio-only) mode so the lesson doesn't break. When the connection recovers, video comes back. Built with unstable connections — like on-site in the Philippines — in mind.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There is nothing to press — it happens automatically.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If the picture blurs or freezes, carry on by voice.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Video returns on its own once the line improves.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If it stays unstable, ask the student to move closer to their Wi-Fi.</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Voice is protected to the very last — the lesson can continue by speech alone.</a:t>
            </a:r>
          </a:p>
          <a:p>
            <a:pPr>
              <a:lnSpc>
                <a:spcPct val="115000"/>
              </a:lnSpc>
              <a:spcAft>
                <a:spcPts val="200"/>
              </a:spcAft>
            </a:pPr>
            <a:r>
              <a:rPr sz="900" b="1">
                <a:solidFill>
                  <a:srgbClr val="EA580C"/>
                </a:solidFill>
                <a:latin typeface="Malgun Gothic"/>
              </a:rPr>
              <a:t>● </a:t>
            </a:r>
            <a:r>
              <a:rPr sz="1100">
                <a:solidFill>
                  <a:srgbClr val="334155"/>
                </a:solidFill>
                <a:latin typeface="Malgun Gothic"/>
              </a:rPr>
              <a:t>A brief drop never auto-ends the lesson.</a:t>
            </a:r>
          </a:p>
          <a:p>
            <a:pPr>
              <a:lnSpc>
                <a:spcPct val="115000"/>
              </a:lnSpc>
              <a:spcAft>
                <a:spcPts val="200"/>
              </a:spcAft>
            </a:pPr>
            <a:r>
              <a:rPr sz="900" b="1">
                <a:solidFill>
                  <a:srgbClr val="EA580C"/>
                </a:solidFill>
                <a:latin typeface="Malgun Gothic"/>
              </a:rPr>
              <a:t>● </a:t>
            </a:r>
            <a:r>
              <a:rPr sz="1100">
                <a:solidFill>
                  <a:srgbClr val="334155"/>
                </a:solidFill>
                <a:latin typeface="Malgun Gothic"/>
              </a:rPr>
              <a:t>If the far side freezes to black, it attempts self-recovery.</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If nothing returns after 90 seconds, a notice card appears. That's the moment to contact the student.</a:t>
            </a:r>
          </a:p>
        </p:txBody>
      </p:sp>
      <p:sp>
        <p:nvSpPr>
          <p:cNvPr id="19" name="Rounded Rectangle 18"/>
          <p:cNvSpPr/>
          <p:nvPr/>
        </p:nvSpPr>
        <p:spPr>
          <a:xfrm>
            <a:off x="457200" y="694029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For students who drop often, have them run the device check screen once before class.</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Using Judgment Training in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Turn the student's reasoning into lesson material</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Judgment Training works well as an in-class activity. Because the student's choice and their stated reason are both recorded, you can respond to *how they thought* rather than just right/wrong. Judgments made during class feed into the student's growth metrics.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Ask the student to open 🧠 Judgment Training and solve one question together.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Have them read out their choice and the reason they wrote.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Explain why the other options fit less well — by listener, tone, and situation.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After class, check the judgment index trend in the student report.</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Partial credit means a near-miss still earns points — students don't feel punished.</a:t>
            </a:r>
          </a:p>
          <a:p>
            <a:pPr>
              <a:lnSpc>
                <a:spcPct val="115000"/>
              </a:lnSpc>
              <a:spcAft>
                <a:spcPts val="200"/>
              </a:spcAft>
            </a:pPr>
            <a:r>
              <a:rPr sz="900" b="1">
                <a:solidFill>
                  <a:srgbClr val="EA580C"/>
                </a:solidFill>
                <a:latin typeface="Malgun Gothic"/>
              </a:rPr>
              <a:t>● </a:t>
            </a:r>
            <a:r>
              <a:rPr sz="1100">
                <a:solidFill>
                  <a:srgbClr val="334155"/>
                </a:solidFill>
                <a:latin typeface="Malgun Gothic"/>
              </a:rPr>
              <a:t>Recent answers are weighted more heavily, so a student who improves lately climbs quickly.</a:t>
            </a:r>
          </a:p>
          <a:p>
            <a:pPr>
              <a:lnSpc>
                <a:spcPct val="115000"/>
              </a:lnSpc>
              <a:spcAft>
                <a:spcPts val="200"/>
              </a:spcAft>
            </a:pPr>
            <a:r>
              <a:rPr sz="900" b="1">
                <a:solidFill>
                  <a:srgbClr val="EA580C"/>
                </a:solidFill>
                <a:latin typeface="Malgun Gothic"/>
              </a:rPr>
              <a:t>● </a:t>
            </a:r>
            <a:r>
              <a:rPr sz="1100">
                <a:solidFill>
                  <a:srgbClr val="334155"/>
                </a:solidFill>
                <a:latin typeface="Malgun Gothic"/>
              </a:rPr>
              <a:t>Students who recover after a wrong answer are identified separately.</a:t>
            </a:r>
          </a:p>
        </p:txBody>
      </p:sp>
      <p:sp>
        <p:nvSpPr>
          <p:cNvPr id="17" name="Rounded Rectangle 16"/>
          <p:cNvSpPr/>
          <p:nvPr/>
        </p:nvSpPr>
        <p:spPr>
          <a:xfrm>
            <a:off x="457200" y="620877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Ask “Why did you think so?” in English and let them answer in their own language. The reasoning comes first.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judgm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Replay a recorded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Play back a recording where you found it</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lesson recorded with REC can now be played back directly from the management screen. No download needed — one click plays it, and the old bug that threw you back to the login screen is fixed.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Press REC at the top during the lesson to record.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After class, find the lesson under Lesson log / Recordings.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 Play to review it right there.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If a parent needs a copy, ask an administrator.</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Playback no longer bounces you to the login screen.</a:t>
            </a:r>
          </a:p>
          <a:p>
            <a:pPr>
              <a:lnSpc>
                <a:spcPct val="115000"/>
              </a:lnSpc>
              <a:spcAft>
                <a:spcPts val="200"/>
              </a:spcAft>
            </a:pPr>
            <a:r>
              <a:rPr sz="900" b="1">
                <a:solidFill>
                  <a:srgbClr val="EA580C"/>
                </a:solidFill>
                <a:latin typeface="Malgun Gothic"/>
              </a:rPr>
              <a:t>● </a:t>
            </a:r>
            <a:r>
              <a:rPr sz="1100">
                <a:solidFill>
                  <a:srgbClr val="334155"/>
                </a:solidFill>
                <a:latin typeface="Malgun Gothic"/>
              </a:rPr>
              <a:t>Recordings are kept on the server and cleaned up per the storage policy.</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They contain student faces — external sharing is prohibited.</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Record only with student and parent consent.</a:t>
            </a:r>
          </a:p>
        </p:txBody>
      </p:sp>
      <p:sp>
        <p:nvSpPr>
          <p:cNvPr id="19" name="Rounded Rectangle 18"/>
          <p:cNvSpPr/>
          <p:nvPr/>
        </p:nvSpPr>
        <p:spPr>
          <a:xfrm>
            <a:off x="457200" y="694029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Watching five minutes of your own lesson afterwards visibly improves your pace and question ratio.</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lesson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Your account (password · interface language)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When you forget your password · English screen</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If you forget your password, ask an administrator and it's reset straight away. Teacher accounts also now always open in English, so no one gets lost looking for a menu on a Korean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Forgot your password? Ask the admin (operations team) for a reset.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Once you receive a temporary password, log in and change it immediately.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Switch the interface language with the 🌐 EN / KR button at the top.</a:t>
            </a:r>
          </a:p>
          <a:p>
            <a:pPr>
              <a:lnSpc>
                <a:spcPct val="115000"/>
              </a:lnSpc>
              <a:spcAft>
                <a:spcPts val="600"/>
              </a:spcAft>
            </a:pPr>
            <a:r>
              <a:rPr sz="1050" b="1">
                <a:solidFill>
                  <a:srgbClr val="EA580C"/>
                </a:solidFill>
                <a:latin typeface="Malgun Gothic"/>
              </a:rPr>
              <a:t>● </a:t>
            </a:r>
            <a:r>
              <a:rPr sz="1250">
                <a:solidFill>
                  <a:srgbClr val="334155"/>
                </a:solidFill>
                <a:latin typeface="Malgun Gothic"/>
              </a:rPr>
              <a:t>If you use the app, registering a face / fingerprint passkey is the easiest option.</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Teacher accounts default to the English interface.</a:t>
            </a:r>
          </a:p>
          <a:p>
            <a:pPr>
              <a:lnSpc>
                <a:spcPct val="115000"/>
              </a:lnSpc>
              <a:spcAft>
                <a:spcPts val="200"/>
              </a:spcAft>
            </a:pPr>
            <a:r>
              <a:rPr sz="900" b="1">
                <a:solidFill>
                  <a:srgbClr val="EA580C"/>
                </a:solidFill>
                <a:latin typeface="Malgun Gothic"/>
              </a:rPr>
              <a:t>● </a:t>
            </a:r>
            <a:r>
              <a:rPr sz="1100">
                <a:solidFill>
                  <a:srgbClr val="334155"/>
                </a:solidFill>
                <a:latin typeface="Malgun Gothic"/>
              </a:rPr>
              <a:t>A language you pick yourself is saved to your account only.</a:t>
            </a:r>
          </a:p>
          <a:p>
            <a:pPr>
              <a:lnSpc>
                <a:spcPct val="115000"/>
              </a:lnSpc>
              <a:spcAft>
                <a:spcPts val="200"/>
              </a:spcAft>
            </a:pPr>
            <a:r>
              <a:rPr sz="900" b="1">
                <a:solidFill>
                  <a:srgbClr val="EA580C"/>
                </a:solidFill>
                <a:latin typeface="Malgun Gothic"/>
              </a:rPr>
              <a:t>● </a:t>
            </a:r>
            <a:r>
              <a:rPr sz="1100">
                <a:solidFill>
                  <a:srgbClr val="334155"/>
                </a:solidFill>
                <a:latin typeface="Malgun Gothic"/>
              </a:rPr>
              <a:t>Always replace the temporary password.</a:t>
            </a:r>
          </a:p>
        </p:txBody>
      </p:sp>
      <p:sp>
        <p:nvSpPr>
          <p:cNvPr id="17" name="Rounded Rectangle 16"/>
          <p:cNvSpPr/>
          <p:nvPr/>
        </p:nvSpPr>
        <p:spPr>
          <a:xfrm>
            <a:off x="457200" y="620877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If you forget passwords often, register an app passkey — a glance gets you in.</a:t>
            </a:r>
          </a:p>
        </p:txBody>
      </p:sp>
      <p:sp>
        <p:nvSpPr>
          <p:cNvPr id="19" name="Rectangle 18"/>
          <p:cNvSpPr/>
          <p:nvPr/>
        </p:nvSpPr>
        <p:spPr>
          <a:xfrm>
            <a:off x="6300216" y="3706645"/>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mypage.jpg"/>
          <p:cNvPicPr>
            <a:picLocks noChangeAspect="1"/>
          </p:cNvPicPr>
          <p:nvPr/>
        </p:nvPicPr>
        <p:blipFill>
          <a:blip r:embed="rId2"/>
          <a:stretch>
            <a:fillRect/>
          </a:stretch>
        </p:blipFill>
        <p:spPr>
          <a:xfrm>
            <a:off x="6355080" y="3761509"/>
            <a:ext cx="5486400" cy="706581"/>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Rounded Rectangle 5"/>
          <p:cNvSpPr/>
          <p:nvPr/>
        </p:nvSpPr>
        <p:spPr>
          <a:xfrm>
            <a:off x="365760" y="841248"/>
            <a:ext cx="658368" cy="512064"/>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37</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Tools by Lesson Stage</a:t>
            </a:r>
          </a:p>
        </p:txBody>
      </p:sp>
      <p:graphicFrame>
        <p:nvGraphicFramePr>
          <p:cNvPr id="9" name="Table 8"/>
          <p:cNvGraphicFramePr>
            <a:graphicFrameLocks noGrp="1"/>
          </p:cNvGraphicFramePr>
          <p:nvPr/>
        </p:nvGraphicFramePr>
        <p:xfrm>
          <a:off x="365760" y="1463040"/>
          <a:ext cx="11460175" cy="5029200"/>
        </p:xfrm>
        <a:graphic>
          <a:graphicData uri="http://schemas.openxmlformats.org/drawingml/2006/table">
            <a:tbl>
              <a:tblPr firstRow="1" bandRow="1">
                <a:tableStyleId>{5C22544A-7EE6-4342-B048-85BDC9FD1C3A}</a:tableStyleId>
              </a:tblPr>
              <a:tblGrid>
                <a:gridCol w="2865043"/>
                <a:gridCol w="2865043"/>
                <a:gridCol w="2865043"/>
                <a:gridCol w="2865046"/>
              </a:tblGrid>
              <a:tr h="502920">
                <a:tc>
                  <a:txBody>
                    <a:bodyPr/>
                    <a:lstStyle/>
                    <a:p>
                      <a:pPr algn="ctr"/>
                      <a:r>
                        <a:rPr sz="1300" b="1">
                          <a:solidFill>
                            <a:srgbClr val="FFFFFF"/>
                          </a:solidFill>
                          <a:latin typeface="Malgun Gothic"/>
                        </a:rPr>
                        <a:t>Stage</a:t>
                      </a:r>
                    </a:p>
                  </a:txBody>
                  <a:tcPr>
                    <a:solidFill>
                      <a:srgbClr val="EA580C"/>
                    </a:solidFill>
                  </a:tcPr>
                </a:tc>
                <a:tc>
                  <a:txBody>
                    <a:bodyPr/>
                    <a:lstStyle/>
                    <a:p>
                      <a:pPr algn="ctr"/>
                      <a:r>
                        <a:rPr sz="1300" b="1">
                          <a:solidFill>
                            <a:srgbClr val="FFFFFF"/>
                          </a:solidFill>
                          <a:latin typeface="Malgun Gothic"/>
                        </a:rPr>
                        <a:t>Screen used</a:t>
                      </a:r>
                    </a:p>
                  </a:txBody>
                  <a:tcPr>
                    <a:solidFill>
                      <a:srgbClr val="EA580C"/>
                    </a:solidFill>
                  </a:tcPr>
                </a:tc>
                <a:tc>
                  <a:txBody>
                    <a:bodyPr/>
                    <a:lstStyle/>
                    <a:p>
                      <a:pPr algn="ctr"/>
                      <a:r>
                        <a:rPr sz="1300" b="1">
                          <a:solidFill>
                            <a:srgbClr val="FFFFFF"/>
                          </a:solidFill>
                          <a:latin typeface="Malgun Gothic"/>
                        </a:rPr>
                        <a:t>What you do</a:t>
                      </a:r>
                    </a:p>
                  </a:txBody>
                  <a:tcPr>
                    <a:solidFill>
                      <a:srgbClr val="EA580C"/>
                    </a:solidFill>
                  </a:tcPr>
                </a:tc>
                <a:tc>
                  <a:txBody>
                    <a:bodyPr/>
                    <a:lstStyle/>
                    <a:p>
                      <a:pPr algn="ctr"/>
                      <a:r>
                        <a:rPr sz="1300" b="1">
                          <a:solidFill>
                            <a:srgbClr val="FFFFFF"/>
                          </a:solidFill>
                          <a:latin typeface="Malgun Gothic"/>
                        </a:rPr>
                        <a:t>Tip</a:t>
                      </a:r>
                    </a:p>
                  </a:txBody>
                  <a:tcPr>
                    <a:solidFill>
                      <a:srgbClr val="EA580C"/>
                    </a:solidFill>
                  </a:tcPr>
                </a:tc>
              </a:tr>
              <a:tr h="502920">
                <a:tc>
                  <a:txBody>
                    <a:bodyPr/>
                    <a:lstStyle/>
                    <a:p>
                      <a:pPr algn="l"/>
                      <a:r>
                        <a:rPr sz="1200" b="1">
                          <a:solidFill>
                            <a:srgbClr val="334155"/>
                          </a:solidFill>
                          <a:latin typeface="Malgun Gothic"/>
                        </a:rPr>
                        <a:t>Before class</a:t>
                      </a:r>
                    </a:p>
                  </a:txBody>
                  <a:tcPr>
                    <a:solidFill>
                      <a:srgbClr val="FFFFFF"/>
                    </a:solidFill>
                  </a:tcPr>
                </a:tc>
                <a:tc>
                  <a:txBody>
                    <a:bodyPr/>
                    <a:lstStyle/>
                    <a:p>
                      <a:pPr algn="ctr"/>
                      <a:r>
                        <a:rPr sz="1200">
                          <a:solidFill>
                            <a:srgbClr val="334155"/>
                          </a:solidFill>
                          <a:latin typeface="Malgun Gothic"/>
                        </a:rPr>
                        <a:t>Detailed check</a:t>
                      </a:r>
                    </a:p>
                  </a:txBody>
                  <a:tcPr>
                    <a:solidFill>
                      <a:srgbClr val="FFFFFF"/>
                    </a:solidFill>
                  </a:tcPr>
                </a:tc>
                <a:tc>
                  <a:txBody>
                    <a:bodyPr/>
                    <a:lstStyle/>
                    <a:p>
                      <a:pPr algn="ctr"/>
                      <a:r>
                        <a:rPr sz="1200">
                          <a:solidFill>
                            <a:srgbClr val="334155"/>
                          </a:solidFill>
                          <a:latin typeface="Malgun Gothic"/>
                        </a:rPr>
                        <a:t>Check devices·lighting</a:t>
                      </a:r>
                    </a:p>
                  </a:txBody>
                  <a:tcPr>
                    <a:solidFill>
                      <a:srgbClr val="FFFFFF"/>
                    </a:solidFill>
                  </a:tcPr>
                </a:tc>
                <a:tc>
                  <a:txBody>
                    <a:bodyPr/>
                    <a:lstStyle/>
                    <a:p>
                      <a:pPr algn="ctr"/>
                      <a:r>
                        <a:rPr sz="1200">
                          <a:solidFill>
                            <a:srgbClr val="334155"/>
                          </a:solidFill>
                          <a:latin typeface="Malgun Gothic"/>
                        </a:rPr>
                        <a:t>5–10 min early</a:t>
                      </a:r>
                    </a:p>
                  </a:txBody>
                  <a:tcPr>
                    <a:solidFill>
                      <a:srgbClr val="FFFFFF"/>
                    </a:solidFill>
                  </a:tcPr>
                </a:tc>
              </a:tr>
              <a:tr h="502920">
                <a:tc>
                  <a:txBody>
                    <a:bodyPr/>
                    <a:lstStyle/>
                    <a:p>
                      <a:pPr algn="l"/>
                      <a:r>
                        <a:rPr sz="1200" b="1">
                          <a:solidFill>
                            <a:srgbClr val="334155"/>
                          </a:solidFill>
                          <a:latin typeface="Malgun Gothic"/>
                        </a:rPr>
                        <a:t>Entry</a:t>
                      </a:r>
                    </a:p>
                  </a:txBody>
                  <a:tcPr>
                    <a:solidFill>
                      <a:srgbClr val="F8FAFC"/>
                    </a:solidFill>
                  </a:tcPr>
                </a:tc>
                <a:tc>
                  <a:txBody>
                    <a:bodyPr/>
                    <a:lstStyle/>
                    <a:p>
                      <a:pPr algn="ctr"/>
                      <a:r>
                        <a:rPr sz="1200">
                          <a:solidFill>
                            <a:srgbClr val="334155"/>
                          </a:solidFill>
                          <a:latin typeface="Malgun Gothic"/>
                        </a:rPr>
                        <a:t>Classroom</a:t>
                      </a:r>
                    </a:p>
                  </a:txBody>
                  <a:tcPr>
                    <a:solidFill>
                      <a:srgbClr val="F8FAFC"/>
                    </a:solidFill>
                  </a:tcPr>
                </a:tc>
                <a:tc>
                  <a:txBody>
                    <a:bodyPr/>
                    <a:lstStyle/>
                    <a:p>
                      <a:pPr algn="ctr"/>
                      <a:r>
                        <a:rPr sz="1200">
                          <a:solidFill>
                            <a:srgbClr val="334155"/>
                          </a:solidFill>
                          <a:latin typeface="Malgun Gothic"/>
                        </a:rPr>
                        <a:t>Enter name·allow</a:t>
                      </a:r>
                    </a:p>
                  </a:txBody>
                  <a:tcPr>
                    <a:solidFill>
                      <a:srgbClr val="F8FAFC"/>
                    </a:solidFill>
                  </a:tcPr>
                </a:tc>
                <a:tc>
                  <a:txBody>
                    <a:bodyPr/>
                    <a:lstStyle/>
                    <a:p>
                      <a:pPr algn="ctr"/>
                      <a:r>
                        <a:rPr sz="1200">
                          <a:solidFill>
                            <a:srgbClr val="334155"/>
                          </a:solidFill>
                          <a:latin typeface="Malgun Gothic"/>
                        </a:rPr>
                        <a:t>Enter early</a:t>
                      </a:r>
                    </a:p>
                  </a:txBody>
                  <a:tcPr>
                    <a:solidFill>
                      <a:srgbClr val="F8FAFC"/>
                    </a:solidFill>
                  </a:tcPr>
                </a:tc>
              </a:tr>
              <a:tr h="502920">
                <a:tc>
                  <a:txBody>
                    <a:bodyPr/>
                    <a:lstStyle/>
                    <a:p>
                      <a:pPr algn="l"/>
                      <a:r>
                        <a:rPr sz="1200" b="1">
                          <a:solidFill>
                            <a:srgbClr val="334155"/>
                          </a:solidFill>
                          <a:latin typeface="Malgun Gothic"/>
                        </a:rPr>
                        <a:t>Toolbar</a:t>
                      </a:r>
                    </a:p>
                  </a:txBody>
                  <a:tcPr>
                    <a:solidFill>
                      <a:srgbClr val="FFFFFF"/>
                    </a:solidFill>
                  </a:tcPr>
                </a:tc>
                <a:tc>
                  <a:txBody>
                    <a:bodyPr/>
                    <a:lstStyle/>
                    <a:p>
                      <a:pPr algn="ctr"/>
                      <a:r>
                        <a:rPr sz="1200">
                          <a:solidFill>
                            <a:srgbClr val="334155"/>
                          </a:solidFill>
                          <a:latin typeface="Malgun Gothic"/>
                        </a:rPr>
                        <a:t>Board·materials·video</a:t>
                      </a:r>
                    </a:p>
                  </a:txBody>
                  <a:tcPr>
                    <a:solidFill>
                      <a:srgbClr val="FFFFFF"/>
                    </a:solidFill>
                  </a:tcPr>
                </a:tc>
                <a:tc>
                  <a:txBody>
                    <a:bodyPr/>
                    <a:lstStyle/>
                    <a:p>
                      <a:pPr algn="ctr"/>
                      <a:r>
                        <a:rPr sz="1200">
                          <a:solidFill>
                            <a:srgbClr val="334155"/>
                          </a:solidFill>
                          <a:latin typeface="Malgun Gothic"/>
                        </a:rPr>
                        <a:t>Switch·control screen</a:t>
                      </a:r>
                    </a:p>
                  </a:txBody>
                  <a:tcPr>
                    <a:solidFill>
                      <a:srgbClr val="FFFFFF"/>
                    </a:solidFill>
                  </a:tcPr>
                </a:tc>
                <a:tc>
                  <a:txBody>
                    <a:bodyPr/>
                    <a:lstStyle/>
                    <a:p>
                      <a:pPr algn="ctr"/>
                      <a:r>
                        <a:rPr sz="1200">
                          <a:solidFill>
                            <a:srgbClr val="334155"/>
                          </a:solidFill>
                          <a:latin typeface="Malgun Gothic"/>
                        </a:rPr>
                        <a:t>Guide tabs</a:t>
                      </a:r>
                    </a:p>
                  </a:txBody>
                  <a:tcPr>
                    <a:solidFill>
                      <a:srgbClr val="FFFFFF"/>
                    </a:solidFill>
                  </a:tcPr>
                </a:tc>
              </a:tr>
              <a:tr h="502920">
                <a:tc>
                  <a:txBody>
                    <a:bodyPr/>
                    <a:lstStyle/>
                    <a:p>
                      <a:pPr algn="l"/>
                      <a:r>
                        <a:rPr sz="1200" b="1">
                          <a:solidFill>
                            <a:srgbClr val="334155"/>
                          </a:solidFill>
                          <a:latin typeface="Malgun Gothic"/>
                        </a:rPr>
                        <a:t>Prep</a:t>
                      </a:r>
                    </a:p>
                  </a:txBody>
                  <a:tcPr>
                    <a:solidFill>
                      <a:srgbClr val="F8FAFC"/>
                    </a:solidFill>
                  </a:tcPr>
                </a:tc>
                <a:tc>
                  <a:txBody>
                    <a:bodyPr/>
                    <a:lstStyle/>
                    <a:p>
                      <a:pPr algn="ctr"/>
                      <a:r>
                        <a:rPr sz="1200">
                          <a:solidFill>
                            <a:srgbClr val="334155"/>
                          </a:solidFill>
                          <a:latin typeface="Malgun Gothic"/>
                        </a:rPr>
                        <a:t>Materials uploader</a:t>
                      </a:r>
                    </a:p>
                  </a:txBody>
                  <a:tcPr>
                    <a:solidFill>
                      <a:srgbClr val="F8FAFC"/>
                    </a:solidFill>
                  </a:tcPr>
                </a:tc>
                <a:tc>
                  <a:txBody>
                    <a:bodyPr/>
                    <a:lstStyle/>
                    <a:p>
                      <a:pPr algn="ctr"/>
                      <a:r>
                        <a:rPr sz="1200">
                          <a:solidFill>
                            <a:srgbClr val="334155"/>
                          </a:solidFill>
                          <a:latin typeface="Malgun Gothic"/>
                        </a:rPr>
                        <a:t>Upload·share files</a:t>
                      </a:r>
                    </a:p>
                  </a:txBody>
                  <a:tcPr>
                    <a:solidFill>
                      <a:srgbClr val="F8FAFC"/>
                    </a:solidFill>
                  </a:tcPr>
                </a:tc>
                <a:tc>
                  <a:txBody>
                    <a:bodyPr/>
                    <a:lstStyle/>
                    <a:p>
                      <a:pPr algn="ctr"/>
                      <a:r>
                        <a:rPr sz="1200">
                          <a:solidFill>
                            <a:srgbClr val="334155"/>
                          </a:solidFill>
                          <a:latin typeface="Malgun Gothic"/>
                        </a:rPr>
                        <a:t>Pre-upload</a:t>
                      </a:r>
                    </a:p>
                  </a:txBody>
                  <a:tcPr>
                    <a:solidFill>
                      <a:srgbClr val="F8FAFC"/>
                    </a:solidFill>
                  </a:tcPr>
                </a:tc>
              </a:tr>
              <a:tr h="502920">
                <a:tc>
                  <a:txBody>
                    <a:bodyPr/>
                    <a:lstStyle/>
                    <a:p>
                      <a:pPr algn="l"/>
                      <a:r>
                        <a:rPr sz="1200" b="1">
                          <a:solidFill>
                            <a:srgbClr val="334155"/>
                          </a:solidFill>
                          <a:latin typeface="Malgun Gothic"/>
                        </a:rPr>
                        <a:t>Intro</a:t>
                      </a:r>
                    </a:p>
                  </a:txBody>
                  <a:tcPr>
                    <a:solidFill>
                      <a:srgbClr val="FFFFFF"/>
                    </a:solidFill>
                  </a:tcPr>
                </a:tc>
                <a:tc>
                  <a:txBody>
                    <a:bodyPr/>
                    <a:lstStyle/>
                    <a:p>
                      <a:pPr algn="ctr"/>
                      <a:r>
                        <a:rPr sz="1200">
                          <a:solidFill>
                            <a:srgbClr val="334155"/>
                          </a:solidFill>
                          <a:latin typeface="Malgun Gothic"/>
                        </a:rPr>
                        <a:t>AI warm-up</a:t>
                      </a:r>
                    </a:p>
                  </a:txBody>
                  <a:tcPr>
                    <a:solidFill>
                      <a:srgbClr val="FFFFFF"/>
                    </a:solidFill>
                  </a:tcPr>
                </a:tc>
                <a:tc>
                  <a:txBody>
                    <a:bodyPr/>
                    <a:lstStyle/>
                    <a:p>
                      <a:pPr algn="ctr"/>
                      <a:r>
                        <a:rPr sz="1200">
                          <a:solidFill>
                            <a:srgbClr val="334155"/>
                          </a:solidFill>
                          <a:latin typeface="Malgun Gothic"/>
                        </a:rPr>
                        <a:t>Icebreaker</a:t>
                      </a:r>
                    </a:p>
                  </a:txBody>
                  <a:tcPr>
                    <a:solidFill>
                      <a:srgbClr val="FFFFFF"/>
                    </a:solidFill>
                  </a:tcPr>
                </a:tc>
                <a:tc>
                  <a:txBody>
                    <a:bodyPr/>
                    <a:lstStyle/>
                    <a:p>
                      <a:pPr algn="ctr"/>
                      <a:r>
                        <a:rPr sz="1200">
                          <a:solidFill>
                            <a:srgbClr val="334155"/>
                          </a:solidFill>
                          <a:latin typeface="Malgun Gothic"/>
                        </a:rPr>
                        <a:t>Mention warm-up</a:t>
                      </a:r>
                    </a:p>
                  </a:txBody>
                  <a:tcPr>
                    <a:solidFill>
                      <a:srgbClr val="FFFFFF"/>
                    </a:solidFill>
                  </a:tcPr>
                </a:tc>
              </a:tr>
              <a:tr h="502920">
                <a:tc>
                  <a:txBody>
                    <a:bodyPr/>
                    <a:lstStyle/>
                    <a:p>
                      <a:pPr algn="l"/>
                      <a:r>
                        <a:rPr sz="1200" b="1">
                          <a:solidFill>
                            <a:srgbClr val="334155"/>
                          </a:solidFill>
                          <a:latin typeface="Malgun Gothic"/>
                        </a:rPr>
                        <a:t>Main</a:t>
                      </a:r>
                    </a:p>
                  </a:txBody>
                  <a:tcPr>
                    <a:solidFill>
                      <a:srgbClr val="F8FAFC"/>
                    </a:solidFill>
                  </a:tcPr>
                </a:tc>
                <a:tc>
                  <a:txBody>
                    <a:bodyPr/>
                    <a:lstStyle/>
                    <a:p>
                      <a:pPr algn="ctr"/>
                      <a:r>
                        <a:rPr sz="1200">
                          <a:solidFill>
                            <a:srgbClr val="334155"/>
                          </a:solidFill>
                          <a:latin typeface="Malgun Gothic"/>
                        </a:rPr>
                        <a:t>Materials·board·chat</a:t>
                      </a:r>
                    </a:p>
                  </a:txBody>
                  <a:tcPr>
                    <a:solidFill>
                      <a:srgbClr val="F8FAFC"/>
                    </a:solidFill>
                  </a:tcPr>
                </a:tc>
                <a:tc>
                  <a:txBody>
                    <a:bodyPr/>
                    <a:lstStyle/>
                    <a:p>
                      <a:pPr algn="ctr"/>
                      <a:r>
                        <a:rPr sz="1200">
                          <a:solidFill>
                            <a:srgbClr val="334155"/>
                          </a:solidFill>
                          <a:latin typeface="Malgun Gothic"/>
                        </a:rPr>
                        <a:t>Explain together</a:t>
                      </a:r>
                    </a:p>
                  </a:txBody>
                  <a:tcPr>
                    <a:solidFill>
                      <a:srgbClr val="F8FAFC"/>
                    </a:solidFill>
                  </a:tcPr>
                </a:tc>
                <a:tc>
                  <a:txBody>
                    <a:bodyPr/>
                    <a:lstStyle/>
                    <a:p>
                      <a:pPr algn="ctr"/>
                      <a:r>
                        <a:rPr sz="1200">
                          <a:solidFill>
                            <a:srgbClr val="334155"/>
                          </a:solidFill>
                          <a:latin typeface="Malgun Gothic"/>
                        </a:rPr>
                        <a:t>Same page</a:t>
                      </a:r>
                    </a:p>
                  </a:txBody>
                  <a:tcPr>
                    <a:solidFill>
                      <a:srgbClr val="F8FAFC"/>
                    </a:solidFill>
                  </a:tcPr>
                </a:tc>
              </a:tr>
              <a:tr h="502920">
                <a:tc>
                  <a:txBody>
                    <a:bodyPr/>
                    <a:lstStyle/>
                    <a:p>
                      <a:pPr algn="l"/>
                      <a:r>
                        <a:rPr sz="1200" b="1">
                          <a:solidFill>
                            <a:srgbClr val="334155"/>
                          </a:solidFill>
                          <a:latin typeface="Malgun Gothic"/>
                        </a:rPr>
                        <a:t>Practice</a:t>
                      </a:r>
                    </a:p>
                  </a:txBody>
                  <a:tcPr>
                    <a:solidFill>
                      <a:srgbClr val="FFFFFF"/>
                    </a:solidFill>
                  </a:tcPr>
                </a:tc>
                <a:tc>
                  <a:txBody>
                    <a:bodyPr/>
                    <a:lstStyle/>
                    <a:p>
                      <a:pPr algn="ctr"/>
                      <a:r>
                        <a:rPr sz="1200">
                          <a:solidFill>
                            <a:srgbClr val="334155"/>
                          </a:solidFill>
                          <a:latin typeface="Malgun Gothic"/>
                        </a:rPr>
                        <a:t>AI voice coach</a:t>
                      </a:r>
                    </a:p>
                  </a:txBody>
                  <a:tcPr>
                    <a:solidFill>
                      <a:srgbClr val="FFFFFF"/>
                    </a:solidFill>
                  </a:tcPr>
                </a:tc>
                <a:tc>
                  <a:txBody>
                    <a:bodyPr/>
                    <a:lstStyle/>
                    <a:p>
                      <a:pPr algn="ctr"/>
                      <a:r>
                        <a:rPr sz="1200">
                          <a:solidFill>
                            <a:srgbClr val="334155"/>
                          </a:solidFill>
                          <a:latin typeface="Malgun Gothic"/>
                        </a:rPr>
                        <a:t>Record·fix pronunciation</a:t>
                      </a:r>
                    </a:p>
                  </a:txBody>
                  <a:tcPr>
                    <a:solidFill>
                      <a:srgbClr val="FFFFFF"/>
                    </a:solidFill>
                  </a:tcPr>
                </a:tc>
                <a:tc>
                  <a:txBody>
                    <a:bodyPr/>
                    <a:lstStyle/>
                    <a:p>
                      <a:pPr algn="ctr"/>
                      <a:r>
                        <a:rPr sz="1200">
                          <a:solidFill>
                            <a:srgbClr val="334155"/>
                          </a:solidFill>
                          <a:latin typeface="Malgun Gothic"/>
                        </a:rPr>
                        <a:t>Link homework</a:t>
                      </a:r>
                    </a:p>
                  </a:txBody>
                  <a:tcPr>
                    <a:solidFill>
                      <a:srgbClr val="FFFFFF"/>
                    </a:solidFill>
                  </a:tcPr>
                </a:tc>
              </a:tr>
              <a:tr h="502920">
                <a:tc>
                  <a:txBody>
                    <a:bodyPr/>
                    <a:lstStyle/>
                    <a:p>
                      <a:pPr algn="l"/>
                      <a:r>
                        <a:rPr sz="1200" b="1">
                          <a:solidFill>
                            <a:srgbClr val="334155"/>
                          </a:solidFill>
                          <a:latin typeface="Malgun Gothic"/>
                        </a:rPr>
                        <a:t>Wrap-up</a:t>
                      </a:r>
                    </a:p>
                  </a:txBody>
                  <a:tcPr>
                    <a:solidFill>
                      <a:srgbClr val="F8FAFC"/>
                    </a:solidFill>
                  </a:tcPr>
                </a:tc>
                <a:tc>
                  <a:txBody>
                    <a:bodyPr/>
                    <a:lstStyle/>
                    <a:p>
                      <a:pPr algn="ctr"/>
                      <a:r>
                        <a:rPr sz="1200">
                          <a:solidFill>
                            <a:srgbClr val="334155"/>
                          </a:solidFill>
                          <a:latin typeface="Malgun Gothic"/>
                        </a:rPr>
                        <a:t>Review·praise</a:t>
                      </a:r>
                    </a:p>
                  </a:txBody>
                  <a:tcPr>
                    <a:solidFill>
                      <a:srgbClr val="F8FAFC"/>
                    </a:solidFill>
                  </a:tcPr>
                </a:tc>
                <a:tc>
                  <a:txBody>
                    <a:bodyPr/>
                    <a:lstStyle/>
                    <a:p>
                      <a:pPr algn="ctr"/>
                      <a:r>
                        <a:rPr sz="1200">
                          <a:solidFill>
                            <a:srgbClr val="334155"/>
                          </a:solidFill>
                          <a:latin typeface="Malgun Gothic"/>
                        </a:rPr>
                        <a:t>Feedback·stars</a:t>
                      </a:r>
                    </a:p>
                  </a:txBody>
                  <a:tcPr>
                    <a:solidFill>
                      <a:srgbClr val="F8FAFC"/>
                    </a:solidFill>
                  </a:tcPr>
                </a:tc>
                <a:tc>
                  <a:txBody>
                    <a:bodyPr/>
                    <a:lstStyle/>
                    <a:p>
                      <a:pPr algn="ctr"/>
                      <a:r>
                        <a:rPr sz="1200">
                          <a:solidFill>
                            <a:srgbClr val="334155"/>
                          </a:solidFill>
                          <a:latin typeface="Malgun Gothic"/>
                        </a:rPr>
                        <a:t>1 praise + 1 fix</a:t>
                      </a:r>
                    </a:p>
                  </a:txBody>
                  <a:tcPr>
                    <a:solidFill>
                      <a:srgbClr val="F8FAFC"/>
                    </a:solidFill>
                  </a:tcPr>
                </a:tc>
              </a:tr>
              <a:tr h="502920">
                <a:tc>
                  <a:txBody>
                    <a:bodyPr/>
                    <a:lstStyle/>
                    <a:p>
                      <a:pPr algn="l"/>
                      <a:r>
                        <a:rPr sz="1200" b="1">
                          <a:solidFill>
                            <a:srgbClr val="334155"/>
                          </a:solidFill>
                          <a:latin typeface="Malgun Gothic"/>
                        </a:rPr>
                        <a:t>After</a:t>
                      </a:r>
                    </a:p>
                  </a:txBody>
                  <a:tcPr>
                    <a:solidFill>
                      <a:srgbClr val="FFFFFF"/>
                    </a:solidFill>
                  </a:tcPr>
                </a:tc>
                <a:tc>
                  <a:txBody>
                    <a:bodyPr/>
                    <a:lstStyle/>
                    <a:p>
                      <a:pPr algn="ctr"/>
                      <a:r>
                        <a:rPr sz="1200">
                          <a:solidFill>
                            <a:srgbClr val="334155"/>
                          </a:solidFill>
                          <a:latin typeface="Malgun Gothic"/>
                        </a:rPr>
                        <a:t>Game report·reports</a:t>
                      </a:r>
                    </a:p>
                  </a:txBody>
                  <a:tcPr>
                    <a:solidFill>
                      <a:srgbClr val="FFFFFF"/>
                    </a:solidFill>
                  </a:tcPr>
                </a:tc>
                <a:tc>
                  <a:txBody>
                    <a:bodyPr/>
                    <a:lstStyle/>
                    <a:p>
                      <a:pPr algn="ctr"/>
                      <a:r>
                        <a:rPr sz="1200">
                          <a:solidFill>
                            <a:srgbClr val="334155"/>
                          </a:solidFill>
                          <a:latin typeface="Malgun Gothic"/>
                        </a:rPr>
                        <a:t>Check weak points·progress</a:t>
                      </a:r>
                    </a:p>
                  </a:txBody>
                  <a:tcPr>
                    <a:solidFill>
                      <a:srgbClr val="FFFFFF"/>
                    </a:solidFill>
                  </a:tcPr>
                </a:tc>
                <a:tc>
                  <a:txBody>
                    <a:bodyPr/>
                    <a:lstStyle/>
                    <a:p>
                      <a:pPr algn="ctr"/>
                      <a:r>
                        <a:rPr sz="1200">
                          <a:solidFill>
                            <a:srgbClr val="334155"/>
                          </a:solidFill>
                          <a:latin typeface="Malgun Gothic"/>
                        </a:rPr>
                        <a:t>Next goal</a:t>
                      </a:r>
                    </a:p>
                  </a:txBody>
                  <a:tcPr>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Rounded Rectangle 5"/>
          <p:cNvSpPr/>
          <p:nvPr/>
        </p:nvSpPr>
        <p:spPr>
          <a:xfrm>
            <a:off x="365760" y="841248"/>
            <a:ext cx="658368" cy="512064"/>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38</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Data at a Glance</a:t>
            </a:r>
          </a:p>
        </p:txBody>
      </p:sp>
      <p:sp>
        <p:nvSpPr>
          <p:cNvPr id="9" name="TextBox 8"/>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Pre-check Items (example scores)</a:t>
            </a:r>
          </a:p>
        </p:txBody>
      </p:sp>
      <p:graphicFrame>
        <p:nvGraphicFramePr>
          <p:cNvPr id="10" name="Chart 9"/>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11" name="TextBox 10"/>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Elements of a Good Lesson</a:t>
            </a:r>
          </a:p>
        </p:txBody>
      </p:sp>
      <p:graphicFrame>
        <p:nvGraphicFramePr>
          <p:cNvPr id="12" name="Chart 11"/>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Rounded Rectangle 5"/>
          <p:cNvSpPr/>
          <p:nvPr/>
        </p:nvSpPr>
        <p:spPr>
          <a:xfrm>
            <a:off x="365760" y="841248"/>
            <a:ext cx="658368" cy="512064"/>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39</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Frequently Asked Questions (FAQ)</a:t>
            </a:r>
          </a:p>
        </p:txBody>
      </p:sp>
      <p:sp>
        <p:nvSpPr>
          <p:cNvPr id="9" name="Rounded Rectangle 8"/>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enter a lesson?</a:t>
            </a:r>
          </a:p>
        </p:txBody>
      </p:sp>
      <p:sp>
        <p:nvSpPr>
          <p:cNvPr id="11" name="TextBox 10"/>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On the classroom entry screen, enter your name, press 'Enter', then allow camera and mic.</a:t>
            </a:r>
          </a:p>
        </p:txBody>
      </p:sp>
      <p:sp>
        <p:nvSpPr>
          <p:cNvPr id="12" name="Rounded Rectangle 11"/>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share materials?</a:t>
            </a:r>
          </a:p>
        </p:txBody>
      </p:sp>
      <p:sp>
        <p:nvSpPr>
          <p:cNvPr id="14" name="TextBox 13"/>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In the materials tab, upload PDF/JPEG/PNG to share with all participants. Use prev/next and fit-to-screen to view larger.</a:t>
            </a:r>
          </a:p>
        </p:txBody>
      </p:sp>
      <p:sp>
        <p:nvSpPr>
          <p:cNvPr id="15" name="Rounded Rectangle 14"/>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use the board?</a:t>
            </a:r>
          </a:p>
        </p:txBody>
      </p:sp>
      <p:sp>
        <p:nvSpPr>
          <p:cNvPr id="17" name="TextBox 16"/>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In the board tab, write with pen/shapes/color/thickness, and save the board as an image if needed.</a:t>
            </a:r>
          </a:p>
        </p:txBody>
      </p:sp>
      <p:sp>
        <p:nvSpPr>
          <p:cNvPr id="18" name="Rounded Rectangle 17"/>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A student can't enter.</a:t>
            </a:r>
          </a:p>
        </p:txBody>
      </p:sp>
      <p:sp>
        <p:nvSpPr>
          <p:cNvPr id="20" name="TextBox 19"/>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Often a browser permission issue. Advise reconnecting in Chrome/Edge and allowing camera/mic.</a:t>
            </a:r>
          </a:p>
        </p:txBody>
      </p:sp>
      <p:sp>
        <p:nvSpPr>
          <p:cNvPr id="21" name="Rounded Rectangle 20"/>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When do I write the review?</a:t>
            </a:r>
          </a:p>
        </p:txBody>
      </p:sp>
      <p:sp>
        <p:nvSpPr>
          <p:cNvPr id="23" name="TextBox 22"/>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Writing right after class is most accurate. Leave stars and a short comment and it's reflected in the report.</a:t>
            </a:r>
          </a:p>
        </p:txBody>
      </p:sp>
      <p:sp>
        <p:nvSpPr>
          <p:cNvPr id="24" name="Rounded Rectangle 23"/>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know a student's weak points?</a:t>
            </a:r>
          </a:p>
        </p:txBody>
      </p:sp>
      <p:sp>
        <p:nvSpPr>
          <p:cNvPr id="26" name="TextBox 25"/>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Look up by student ID in the game learning report to see often-missed weak words.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4E6"/>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Rounded Rectangle 5"/>
          <p:cNvSpPr/>
          <p:nvPr/>
        </p:nvSpPr>
        <p:spPr>
          <a:xfrm>
            <a:off x="365760" y="841248"/>
            <a:ext cx="658368" cy="512064"/>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40</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Lesson Checklist</a:t>
            </a:r>
          </a:p>
        </p:txBody>
      </p:sp>
      <p:sp>
        <p:nvSpPr>
          <p:cNvPr id="9" name="Rounded Rectangle 8"/>
          <p:cNvSpPr/>
          <p:nvPr/>
        </p:nvSpPr>
        <p:spPr>
          <a:xfrm>
            <a:off x="457200" y="164592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run the detailed check 5–10 min before class?</a:t>
            </a:r>
          </a:p>
        </p:txBody>
      </p:sp>
      <p:sp>
        <p:nvSpPr>
          <p:cNvPr id="11" name="Rounded Rectangle 10"/>
          <p:cNvSpPr/>
          <p:nvPr/>
        </p:nvSpPr>
        <p:spPr>
          <a:xfrm>
            <a:off x="457200" y="221284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pre-upload the materials?</a:t>
            </a:r>
          </a:p>
        </p:txBody>
      </p:sp>
      <p:sp>
        <p:nvSpPr>
          <p:cNvPr id="13" name="Rounded Rectangle 12"/>
          <p:cNvSpPr/>
          <p:nvPr/>
        </p:nvSpPr>
        <p:spPr>
          <a:xfrm>
            <a:off x="457200" y="277977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camera framing and sound?</a:t>
            </a:r>
          </a:p>
        </p:txBody>
      </p:sp>
      <p:sp>
        <p:nvSpPr>
          <p:cNvPr id="15" name="Rounded Rectangle 14"/>
          <p:cNvSpPr/>
          <p:nvPr/>
        </p:nvSpPr>
        <p:spPr>
          <a:xfrm>
            <a:off x="457200" y="3346704"/>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the student's AI warm-up?</a:t>
            </a:r>
          </a:p>
        </p:txBody>
      </p:sp>
      <p:sp>
        <p:nvSpPr>
          <p:cNvPr id="17" name="Rounded Rectangle 16"/>
          <p:cNvSpPr/>
          <p:nvPr/>
        </p:nvSpPr>
        <p:spPr>
          <a:xfrm>
            <a:off x="457200" y="3913632"/>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prepare the materials/board/chat tools?</a:t>
            </a:r>
          </a:p>
        </p:txBody>
      </p:sp>
      <p:sp>
        <p:nvSpPr>
          <p:cNvPr id="19" name="Rounded Rectangle 18"/>
          <p:cNvSpPr/>
          <p:nvPr/>
        </p:nvSpPr>
        <p:spPr>
          <a:xfrm>
            <a:off x="457200" y="448056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write the lesson review after class?</a:t>
            </a:r>
          </a:p>
        </p:txBody>
      </p:sp>
      <p:sp>
        <p:nvSpPr>
          <p:cNvPr id="21" name="Rounded Rectangle 20"/>
          <p:cNvSpPr/>
          <p:nvPr/>
        </p:nvSpPr>
        <p:spPr>
          <a:xfrm>
            <a:off x="457200" y="504748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leave praise (stars/comment)?</a:t>
            </a:r>
          </a:p>
        </p:txBody>
      </p:sp>
      <p:sp>
        <p:nvSpPr>
          <p:cNvPr id="23" name="Rounded Rectangle 22"/>
          <p:cNvSpPr/>
          <p:nvPr/>
        </p:nvSpPr>
        <p:spPr>
          <a:xfrm>
            <a:off x="457200" y="561441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5040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weak words in the game report?</a:t>
            </a:r>
          </a:p>
        </p:txBody>
      </p:sp>
      <p:pic>
        <p:nvPicPr>
          <p:cNvPr id="25" name="Picture 24"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Rounded Rectangle 5"/>
          <p:cNvSpPr/>
          <p:nvPr/>
        </p:nvSpPr>
        <p:spPr>
          <a:xfrm>
            <a:off x="365760" y="841248"/>
            <a:ext cx="658368" cy="512064"/>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41</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100" b="1">
                <a:solidFill>
                  <a:srgbClr val="EA580C"/>
                </a:solidFill>
                <a:latin typeface="Malgun Gothic"/>
              </a:rPr>
              <a:t>🏁 Conclusion · A Practical Guide to Great Lessons</a:t>
            </a:r>
          </a:p>
        </p:txBody>
      </p:sp>
      <p:sp>
        <p:nvSpPr>
          <p:cNvPr id="9" name="Rounded Rectangle 8"/>
          <p:cNvSpPr/>
          <p:nvPr/>
        </p:nvSpPr>
        <p:spPr>
          <a:xfrm>
            <a:off x="365760" y="1371600"/>
            <a:ext cx="11430000" cy="8686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You've now learned how to use the Mangoi site 'along the real lesson flow.' Finally, here's one page summarizing how a single lesson unfolds and the principles to keep every time. Keep just this page nearby and your lessons will run far more smoothly and reliably.</a:t>
            </a:r>
          </a:p>
        </p:txBody>
      </p:sp>
      <p:sp>
        <p:nvSpPr>
          <p:cNvPr id="11" name="TextBox 10"/>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EA580C"/>
                </a:solidFill>
                <a:latin typeface="Malgun Gothic"/>
              </a:rPr>
              <a:t>🔄 The Flow at a Glance</a:t>
            </a:r>
          </a:p>
        </p:txBody>
      </p:sp>
      <p:sp>
        <p:nvSpPr>
          <p:cNvPr id="12" name="Rounded Rectangle 11"/>
          <p:cNvSpPr/>
          <p:nvPr/>
        </p:nvSpPr>
        <p:spPr>
          <a:xfrm>
            <a:off x="457200" y="2788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Before class (5–10 min)</a:t>
            </a:r>
          </a:p>
        </p:txBody>
      </p:sp>
      <p:sp>
        <p:nvSpPr>
          <p:cNvPr id="14" name="TextBox 13"/>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My Page → 🎥 Pre-check camera, mic, network, lighting; pre-upload the textbook</a:t>
            </a:r>
          </a:p>
        </p:txBody>
      </p:sp>
      <p:sp>
        <p:nvSpPr>
          <p:cNvPr id="15" name="Rounded Rectangle 14"/>
          <p:cNvSpPr/>
          <p:nvPr/>
        </p:nvSpPr>
        <p:spPr>
          <a:xfrm>
            <a:off x="457200" y="3246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Enter</a:t>
            </a:r>
          </a:p>
        </p:txBody>
      </p:sp>
      <p:sp>
        <p:nvSpPr>
          <p:cNvPr id="17" name="TextBox 16"/>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Enter Class → confirm name → allow camera/mic → check background/sound while waiting</a:t>
            </a:r>
          </a:p>
        </p:txBody>
      </p:sp>
      <p:sp>
        <p:nvSpPr>
          <p:cNvPr id="18" name="Rounded Rectangle 17"/>
          <p:cNvSpPr/>
          <p:nvPr/>
        </p:nvSpPr>
        <p:spPr>
          <a:xfrm>
            <a:off x="457200" y="3703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Intro (2–3 min)</a:t>
            </a:r>
          </a:p>
        </p:txBody>
      </p:sp>
      <p:sp>
        <p:nvSpPr>
          <p:cNvPr id="20" name="TextBox 19"/>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Open lightly by mentioning the student's AI warm-up; state today's goal in one line</a:t>
            </a:r>
          </a:p>
        </p:txBody>
      </p:sp>
      <p:sp>
        <p:nvSpPr>
          <p:cNvPr id="21" name="Rounded Rectangle 20"/>
          <p:cNvSpPr/>
          <p:nvPr/>
        </p:nvSpPr>
        <p:spPr>
          <a:xfrm>
            <a:off x="457200" y="41605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Main lesson</a:t>
            </a:r>
          </a:p>
        </p:txBody>
      </p:sp>
      <p:sp>
        <p:nvSpPr>
          <p:cNvPr id="23" name="TextBox 22"/>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Share the same page via materials tools · write on the board · key words in chat; draw out plenty of student speech</a:t>
            </a:r>
          </a:p>
        </p:txBody>
      </p:sp>
      <p:sp>
        <p:nvSpPr>
          <p:cNvPr id="24" name="Rounded Rectangle 23"/>
          <p:cNvSpPr/>
          <p:nvPr/>
        </p:nvSpPr>
        <p:spPr>
          <a:xfrm>
            <a:off x="457200" y="46177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Praise</a:t>
            </a:r>
          </a:p>
        </p:txBody>
      </p:sp>
      <p:sp>
        <p:nvSpPr>
          <p:cNvPr id="26" name="TextBox 25"/>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The moment they do well, tap the 🌟 Praise button (+1P) → piles up live in the 🧺 basket</a:t>
            </a:r>
          </a:p>
        </p:txBody>
      </p:sp>
      <p:sp>
        <p:nvSpPr>
          <p:cNvPr id="27" name="Rounded Rectangle 26"/>
          <p:cNvSpPr/>
          <p:nvPr/>
        </p:nvSpPr>
        <p:spPr>
          <a:xfrm>
            <a:off x="457200" y="5074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5074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Practice</a:t>
            </a:r>
          </a:p>
        </p:txBody>
      </p:sp>
      <p:sp>
        <p:nvSpPr>
          <p:cNvPr id="29" name="TextBox 28"/>
          <p:cNvSpPr txBox="1"/>
          <p:nvPr/>
        </p:nvSpPr>
        <p:spPr>
          <a:xfrm>
            <a:off x="2148840" y="5056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Link weak-pronunciation sentences to AI voice-coach homework for repetition</a:t>
            </a:r>
          </a:p>
        </p:txBody>
      </p:sp>
      <p:sp>
        <p:nvSpPr>
          <p:cNvPr id="30" name="Rounded Rectangle 29"/>
          <p:cNvSpPr/>
          <p:nvPr/>
        </p:nvSpPr>
        <p:spPr>
          <a:xfrm>
            <a:off x="457200" y="5532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5532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Wrap-up (3 min)</a:t>
            </a:r>
          </a:p>
        </p:txBody>
      </p:sp>
      <p:sp>
        <p:nvSpPr>
          <p:cNvPr id="32" name="TextBox 31"/>
          <p:cNvSpPr txBox="1"/>
          <p:nvPr/>
        </p:nvSpPr>
        <p:spPr>
          <a:xfrm>
            <a:off x="2148840" y="5513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Summarize today → prompt the review quiz &amp; rating (+10P) → leave the next goal in one line</a:t>
            </a:r>
          </a:p>
        </p:txBody>
      </p:sp>
      <p:sp>
        <p:nvSpPr>
          <p:cNvPr id="33" name="Rounded Rectangle 32"/>
          <p:cNvSpPr/>
          <p:nvPr/>
        </p:nvSpPr>
        <p:spPr>
          <a:xfrm>
            <a:off x="457200" y="5989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5989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 class</a:t>
            </a:r>
          </a:p>
        </p:txBody>
      </p:sp>
      <p:sp>
        <p:nvSpPr>
          <p:cNvPr id="35" name="TextBox 34"/>
          <p:cNvSpPr txBox="1"/>
          <p:nvPr/>
        </p:nvSpPr>
        <p:spPr>
          <a:xfrm>
            <a:off x="2148840" y="5971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Write the review (1 praise + 1 improvement) · leave praise · check weak words in the game report</a:t>
            </a:r>
          </a:p>
        </p:txBody>
      </p:sp>
      <p:sp>
        <p:nvSpPr>
          <p:cNvPr id="36" name="TextBox 35"/>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Key Principles</a:t>
            </a:r>
          </a:p>
        </p:txBody>
      </p:sp>
      <p:sp>
        <p:nvSpPr>
          <p:cNvPr id="37" name="TextBox 36"/>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EA580C"/>
                </a:solidFill>
                <a:latin typeface="Malgun Gothic"/>
              </a:rPr>
              <a:t>● </a:t>
            </a:r>
            <a:r>
              <a:rPr sz="1100">
                <a:solidFill>
                  <a:srgbClr val="334155"/>
                </a:solidFill>
                <a:latin typeface="Malgun Gothic"/>
              </a:rPr>
              <a:t>Preparation is half the battle — pre-check and pre-upload keep the lesson from stalling.</a:t>
            </a:r>
          </a:p>
          <a:p>
            <a:pPr>
              <a:lnSpc>
                <a:spcPct val="115000"/>
              </a:lnSpc>
              <a:spcAft>
                <a:spcPts val="500"/>
              </a:spcAft>
            </a:pPr>
            <a:r>
              <a:rPr sz="900" b="1">
                <a:solidFill>
                  <a:srgbClr val="EA580C"/>
                </a:solidFill>
                <a:latin typeface="Malgun Gothic"/>
              </a:rPr>
              <a:t>● </a:t>
            </a:r>
            <a:r>
              <a:rPr sz="1100">
                <a:solidFill>
                  <a:srgbClr val="334155"/>
                </a:solidFill>
                <a:latin typeface="Malgun Gothic"/>
              </a:rPr>
              <a:t>Make them speak a lot — students should speak more than the teacher to improve.</a:t>
            </a:r>
          </a:p>
          <a:p>
            <a:pPr>
              <a:lnSpc>
                <a:spcPct val="115000"/>
              </a:lnSpc>
              <a:spcAft>
                <a:spcPts val="500"/>
              </a:spcAft>
            </a:pPr>
            <a:r>
              <a:rPr sz="900" b="1">
                <a:solidFill>
                  <a:srgbClr val="EA580C"/>
                </a:solidFill>
                <a:latin typeface="Malgun Gothic"/>
              </a:rPr>
              <a:t>● </a:t>
            </a:r>
            <a:r>
              <a:rPr sz="1100">
                <a:solidFill>
                  <a:srgbClr val="334155"/>
                </a:solidFill>
                <a:latin typeface="Malgun Gothic"/>
              </a:rPr>
              <a:t>Praise instantly — the moment they do well, 🌟praise! Instant rewards are the strongest motivator.</a:t>
            </a:r>
          </a:p>
          <a:p>
            <a:pPr>
              <a:lnSpc>
                <a:spcPct val="115000"/>
              </a:lnSpc>
              <a:spcAft>
                <a:spcPts val="500"/>
              </a:spcAft>
            </a:pPr>
            <a:r>
              <a:rPr sz="900" b="1">
                <a:solidFill>
                  <a:srgbClr val="EA580C"/>
                </a:solidFill>
                <a:latin typeface="Malgun Gothic"/>
              </a:rPr>
              <a:t>● </a:t>
            </a:r>
            <a:r>
              <a:rPr sz="1100">
                <a:solidFill>
                  <a:srgbClr val="334155"/>
                </a:solidFill>
                <a:latin typeface="Malgun Gothic"/>
              </a:rPr>
              <a:t>Keep records — the review and 'next goal in one line' power the next lesson and handovers.</a:t>
            </a:r>
          </a:p>
          <a:p>
            <a:pPr>
              <a:lnSpc>
                <a:spcPct val="115000"/>
              </a:lnSpc>
              <a:spcAft>
                <a:spcPts val="500"/>
              </a:spcAft>
            </a:pPr>
            <a:r>
              <a:rPr sz="900" b="1">
                <a:solidFill>
                  <a:srgbClr val="EA580C"/>
                </a:solidFill>
                <a:latin typeface="Malgun Gothic"/>
              </a:rPr>
              <a:t>● </a:t>
            </a:r>
            <a:r>
              <a:rPr sz="1100">
                <a:solidFill>
                  <a:srgbClr val="334155"/>
                </a:solidFill>
                <a:latin typeface="Malgun Gothic"/>
              </a:rPr>
              <a:t>Reinforce with data — put the game report's weak words into the next lesson's intro.</a:t>
            </a:r>
          </a:p>
        </p:txBody>
      </p:sp>
      <p:sp>
        <p:nvSpPr>
          <p:cNvPr id="38" name="TextBox 37"/>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Remember</a:t>
            </a:r>
          </a:p>
        </p:txBody>
      </p:sp>
      <p:sp>
        <p:nvSpPr>
          <p:cNvPr id="39" name="TextBox 38"/>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B020"/>
                </a:solidFill>
                <a:latin typeface="Malgun Gothic"/>
              </a:rPr>
              <a:t>● </a:t>
            </a:r>
            <a:r>
              <a:rPr sz="1050">
                <a:solidFill>
                  <a:srgbClr val="334155"/>
                </a:solidFill>
                <a:latin typeface="Malgun Gothic"/>
              </a:rPr>
              <a:t>No sound/video → check Chrome/Edge + camera·mic permission first (KakaoTalk in-app → external browser)</a:t>
            </a:r>
          </a:p>
          <a:p>
            <a:pPr>
              <a:lnSpc>
                <a:spcPct val="115000"/>
              </a:lnSpc>
              <a:spcAft>
                <a:spcPts val="400"/>
              </a:spcAft>
            </a:pPr>
            <a:r>
              <a:rPr sz="850" b="1">
                <a:solidFill>
                  <a:srgbClr val="FFB020"/>
                </a:solidFill>
                <a:latin typeface="Malgun Gothic"/>
              </a:rPr>
              <a:t>● </a:t>
            </a:r>
            <a:r>
              <a:rPr sz="1050">
                <a:solidFill>
                  <a:srgbClr val="334155"/>
                </a:solidFill>
                <a:latin typeface="Malgun Gothic"/>
              </a:rPr>
              <a:t>Praise points are given by the teacher; the student's star rating earns +10P</a:t>
            </a:r>
          </a:p>
          <a:p>
            <a:pPr>
              <a:lnSpc>
                <a:spcPct val="115000"/>
              </a:lnSpc>
              <a:spcAft>
                <a:spcPts val="400"/>
              </a:spcAft>
            </a:pPr>
            <a:r>
              <a:rPr sz="850" b="1">
                <a:solidFill>
                  <a:srgbClr val="FFB020"/>
                </a:solidFill>
                <a:latin typeface="Malgun Gothic"/>
              </a:rPr>
              <a:t>● </a:t>
            </a:r>
            <a:r>
              <a:rPr sz="1050">
                <a:solidFill>
                  <a:srgbClr val="334155"/>
                </a:solidFill>
                <a:latin typeface="Malgun Gothic"/>
              </a:rPr>
              <a:t>Handle postpone requests after checking policy; guide out-of-policy last-minute requests per policy</a:t>
            </a:r>
          </a:p>
          <a:p>
            <a:pPr>
              <a:lnSpc>
                <a:spcPct val="115000"/>
              </a:lnSpc>
              <a:spcAft>
                <a:spcPts val="400"/>
              </a:spcAft>
            </a:pPr>
            <a:r>
              <a:rPr sz="850" b="1">
                <a:solidFill>
                  <a:srgbClr val="FFB020"/>
                </a:solidFill>
                <a:latin typeface="Malgun Gothic"/>
              </a:rPr>
              <a:t>● </a:t>
            </a:r>
            <a:r>
              <a:rPr sz="1050">
                <a:solidFill>
                  <a:srgbClr val="334155"/>
                </a:solidFill>
                <a:latin typeface="Malgun Gothic"/>
              </a:rPr>
              <a:t>Run every lesson in the rhythm of 'Check → Engage → Praise → Record'!</a:t>
            </a:r>
          </a:p>
        </p:txBody>
      </p:sp>
      <p:sp>
        <p:nvSpPr>
          <p:cNvPr id="40" name="Rounded Rectangle 39"/>
          <p:cNvSpPr/>
          <p:nvPr/>
        </p:nvSpPr>
        <p:spPr>
          <a:xfrm>
            <a:off x="457200" y="6172200"/>
            <a:ext cx="11338560" cy="566928"/>
          </a:xfrm>
          <a:prstGeom prst="roundRect">
            <a:avLst/>
          </a:prstGeom>
          <a:solidFill>
            <a:srgbClr val="FFF4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A teacher's warm words and instant praise build a child's confidence in English. Keep this guide beside you and lead every lesson with it. Praise even the small wins and students will look forward to the next class. Questions? Contact support anytime — cheering you on for lessons that grow together! 🍊</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59E0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