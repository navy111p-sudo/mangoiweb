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차례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a:t>
            </a:r>
          </a:p>
        </p:txBody>
      </p:sp>
      <p:sp>
        <p:nvSpPr>
          <p:cNvPr id="9" name="Rounded Rectangle 8"/>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전 정밀 점검</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a:t>
            </a:r>
          </a:p>
        </p:txBody>
      </p:sp>
      <p:sp>
        <p:nvSpPr>
          <p:cNvPr id="13" name="Rounded Rectangle 12"/>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마이페이지에서 수업 입장</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6</a:t>
            </a:r>
          </a:p>
        </p:txBody>
      </p:sp>
      <p:sp>
        <p:nvSpPr>
          <p:cNvPr id="17" name="Rounded Rectangle 16"/>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 메뉴 100% 활용</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7</a:t>
            </a:r>
          </a:p>
        </p:txBody>
      </p:sp>
      <p:sp>
        <p:nvSpPr>
          <p:cNvPr id="21" name="Rounded Rectangle 20"/>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화상교실 입장하기</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8</a:t>
            </a:r>
          </a:p>
        </p:txBody>
      </p:sp>
      <p:sp>
        <p:nvSpPr>
          <p:cNvPr id="25" name="Rounded Rectangle 24"/>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교실 화면 한눈에 보기</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9</a:t>
            </a:r>
          </a:p>
        </p:txBody>
      </p:sp>
      <p:sp>
        <p:nvSpPr>
          <p:cNvPr id="29" name="Rounded Rectangle 28"/>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상단 탭 6가지 바꾸기</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10</a:t>
            </a:r>
          </a:p>
        </p:txBody>
      </p:sp>
      <p:sp>
        <p:nvSpPr>
          <p:cNvPr id="33" name="Rounded Rectangle 32"/>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칠판 도구 하나하나</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11</a:t>
            </a:r>
          </a:p>
        </p:txBody>
      </p:sp>
      <p:sp>
        <p:nvSpPr>
          <p:cNvPr id="37" name="Rounded Rectangle 36"/>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교재도구 (PDF·사진 공유)</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12</a:t>
            </a:r>
          </a:p>
        </p:txBody>
      </p:sp>
      <p:sp>
        <p:nvSpPr>
          <p:cNvPr id="41" name="Rounded Rectangle 40"/>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필기도구 (교재 위에 쓰기)</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13</a:t>
            </a:r>
          </a:p>
        </p:txBody>
      </p:sp>
      <p:sp>
        <p:nvSpPr>
          <p:cNvPr id="45" name="Rounded Rectangle 44"/>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동영상 함께 보기</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14</a:t>
            </a:r>
          </a:p>
        </p:txBody>
      </p:sp>
      <p:sp>
        <p:nvSpPr>
          <p:cNvPr id="49" name="Rounded Rectangle 48"/>
          <p:cNvSpPr/>
          <p:nvPr/>
        </p:nvSpPr>
        <p:spPr>
          <a:xfrm>
            <a:off x="411480"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배경화면 &amp; 얼굴 꾸미기</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15</a:t>
            </a:r>
          </a:p>
        </p:txBody>
      </p:sp>
      <p:sp>
        <p:nvSpPr>
          <p:cNvPr id="53" name="Rounded Rectangle 52"/>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크기·배치 바꾸기</a:t>
            </a:r>
          </a:p>
        </p:txBody>
      </p:sp>
      <p:sp>
        <p:nvSpPr>
          <p:cNvPr id="56" name="TextBox 5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16</a:t>
            </a:r>
          </a:p>
        </p:txBody>
      </p:sp>
      <p:sp>
        <p:nvSpPr>
          <p:cNvPr id="57" name="Rounded Rectangle 56"/>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a:t>
            </a:r>
          </a:p>
        </p:txBody>
      </p:sp>
      <p:sp>
        <p:nvSpPr>
          <p:cNvPr id="60" name="TextBox 5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17</a:t>
            </a:r>
          </a:p>
        </p:txBody>
      </p:sp>
      <p:sp>
        <p:nvSpPr>
          <p:cNvPr id="61" name="Rounded Rectangle 60"/>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하단 독 &amp; 칭찬 바구니</a:t>
            </a:r>
          </a:p>
        </p:txBody>
      </p:sp>
      <p:sp>
        <p:nvSpPr>
          <p:cNvPr id="64" name="TextBox 6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18</a:t>
            </a:r>
          </a:p>
        </p:txBody>
      </p:sp>
      <p:sp>
        <p:nvSpPr>
          <p:cNvPr id="65" name="Rounded Rectangle 64"/>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 사전 업로드</a:t>
            </a:r>
          </a:p>
        </p:txBody>
      </p:sp>
      <p:sp>
        <p:nvSpPr>
          <p:cNvPr id="68" name="TextBox 6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19</a:t>
            </a:r>
          </a:p>
        </p:txBody>
      </p:sp>
      <p:sp>
        <p:nvSpPr>
          <p:cNvPr id="69" name="Rounded Rectangle 68"/>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웜업으로 시작</a:t>
            </a:r>
          </a:p>
        </p:txBody>
      </p:sp>
      <p:sp>
        <p:nvSpPr>
          <p:cNvPr id="72" name="TextBox 7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20</a:t>
            </a:r>
          </a:p>
        </p:txBody>
      </p:sp>
      <p:sp>
        <p:nvSpPr>
          <p:cNvPr id="73" name="Rounded Rectangle 72"/>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발음 코치 활용</a:t>
            </a:r>
          </a:p>
        </p:txBody>
      </p:sp>
      <p:sp>
        <p:nvSpPr>
          <p:cNvPr id="76" name="TextBox 7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21</a:t>
            </a:r>
          </a:p>
        </p:txBody>
      </p:sp>
      <p:sp>
        <p:nvSpPr>
          <p:cNvPr id="77" name="Rounded Rectangle 76"/>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평가서 작성</a:t>
            </a:r>
          </a:p>
        </p:txBody>
      </p:sp>
      <p:sp>
        <p:nvSpPr>
          <p:cNvPr id="80" name="TextBox 7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22</a:t>
            </a:r>
          </a:p>
        </p:txBody>
      </p:sp>
      <p:sp>
        <p:nvSpPr>
          <p:cNvPr id="81" name="Rounded Rectangle 80"/>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칭찬 남기기</a:t>
            </a:r>
          </a:p>
        </p:txBody>
      </p:sp>
      <p:sp>
        <p:nvSpPr>
          <p:cNvPr id="84" name="TextBox 8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23</a:t>
            </a:r>
          </a:p>
        </p:txBody>
      </p:sp>
      <p:sp>
        <p:nvSpPr>
          <p:cNvPr id="85" name="Rounded Rectangle 84"/>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게임 학습 리포트</a:t>
            </a:r>
          </a:p>
        </p:txBody>
      </p:sp>
      <p:sp>
        <p:nvSpPr>
          <p:cNvPr id="88" name="TextBox 8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24</a:t>
            </a:r>
          </a:p>
        </p:txBody>
      </p:sp>
      <p:sp>
        <p:nvSpPr>
          <p:cNvPr id="89" name="Rounded Rectangle 88"/>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학습 리포트 · 레슨 관리</a:t>
            </a:r>
          </a:p>
        </p:txBody>
      </p:sp>
      <p:sp>
        <p:nvSpPr>
          <p:cNvPr id="92" name="TextBox 9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25</a:t>
            </a:r>
          </a:p>
        </p:txBody>
      </p:sp>
      <p:sp>
        <p:nvSpPr>
          <p:cNvPr id="93" name="Rounded Rectangle 92"/>
          <p:cNvSpPr/>
          <p:nvPr/>
        </p:nvSpPr>
        <p:spPr>
          <a:xfrm>
            <a:off x="6141567"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 처리</a:t>
            </a:r>
          </a:p>
        </p:txBody>
      </p:sp>
      <p:sp>
        <p:nvSpPr>
          <p:cNvPr id="96" name="TextBox 9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26</a:t>
            </a:r>
          </a:p>
        </p:txBody>
      </p:sp>
      <p:sp>
        <p:nvSpPr>
          <p:cNvPr id="97" name="Rounded Rectangle 96"/>
          <p:cNvSpPr/>
          <p:nvPr/>
        </p:nvSpPr>
        <p:spPr>
          <a:xfrm>
            <a:off x="6141567"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지원 · 문의</a:t>
            </a:r>
          </a:p>
        </p:txBody>
      </p:sp>
      <p:sp>
        <p:nvSpPr>
          <p:cNvPr id="100" name="TextBox 9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차례  (2/2)</a:t>
            </a:r>
          </a:p>
        </p:txBody>
      </p:sp>
      <p:sp>
        <p:nvSpPr>
          <p:cNvPr id="7" name="Rounded Rectangle 6"/>
          <p:cNvSpPr/>
          <p:nvPr/>
        </p:nvSpPr>
        <p:spPr>
          <a:xfrm>
            <a:off x="411480"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28</a:t>
            </a:r>
          </a:p>
        </p:txBody>
      </p:sp>
      <p:sp>
        <p:nvSpPr>
          <p:cNvPr id="11" name="Rounded Rectangle 10"/>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29</a:t>
            </a:r>
          </a:p>
        </p:txBody>
      </p:sp>
      <p:sp>
        <p:nvSpPr>
          <p:cNvPr id="15" name="Rounded Rectangle 14"/>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종료 후 AI 코칭</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30</a:t>
            </a:r>
          </a:p>
        </p:txBody>
      </p:sp>
      <p:sp>
        <p:nvSpPr>
          <p:cNvPr id="19" name="Rounded Rectangle 18"/>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탭 동기화 (내 화면 그대로 학생에게)</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31</a:t>
            </a:r>
          </a:p>
        </p:txBody>
      </p:sp>
      <p:sp>
        <p:nvSpPr>
          <p:cNvPr id="23" name="Rounded Rectangle 22"/>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개별 채팅 &amp; 파일 보내기</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32</a:t>
            </a:r>
          </a:p>
        </p:txBody>
      </p:sp>
      <p:sp>
        <p:nvSpPr>
          <p:cNvPr id="27" name="Rounded Rectangle 26"/>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연기·변경 요청하기</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33</a:t>
            </a:r>
          </a:p>
        </p:txBody>
      </p:sp>
      <p:sp>
        <p:nvSpPr>
          <p:cNvPr id="31" name="Rounded Rectangle 30"/>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내 수업료 정산 확인</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34</a:t>
            </a:r>
          </a:p>
        </p:txBody>
      </p:sp>
      <p:sp>
        <p:nvSpPr>
          <p:cNvPr id="35" name="Rounded Rectangle 34"/>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통제 3종 (집중 · 배경 잠금 · 이탈 방지)</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35</a:t>
            </a:r>
          </a:p>
        </p:txBody>
      </p:sp>
      <p:sp>
        <p:nvSpPr>
          <p:cNvPr id="39" name="Rounded Rectangle 38"/>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 PDF — 필기 이어가기 · 빠른 페이지 이동</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36</a:t>
            </a:r>
          </a:p>
        </p:txBody>
      </p:sp>
      <p:sp>
        <p:nvSpPr>
          <p:cNvPr id="43" name="Rounded Rectangle 42"/>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인터넷이 느릴 때 자동으로 버텨요</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37</a:t>
            </a:r>
          </a:p>
        </p:txBody>
      </p:sp>
      <p:sp>
        <p:nvSpPr>
          <p:cNvPr id="47" name="Rounded Rectangle 46"/>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판단력 훈련 함께하기 (수업 중)</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38</a:t>
            </a:r>
          </a:p>
        </p:txBody>
      </p:sp>
      <p:sp>
        <p:nvSpPr>
          <p:cNvPr id="51" name="Rounded Rectangle 50"/>
          <p:cNvSpPr/>
          <p:nvPr/>
        </p:nvSpPr>
        <p:spPr>
          <a:xfrm>
            <a:off x="411480"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지난 수업 녹화 다시보기</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39</a:t>
            </a:r>
          </a:p>
        </p:txBody>
      </p:sp>
      <p:sp>
        <p:nvSpPr>
          <p:cNvPr id="55" name="Rounded Rectangle 54"/>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57" name="TextBox 5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내 계정 관리 (비밀번호 · 화면 언어)</a:t>
            </a:r>
          </a:p>
        </p:txBody>
      </p:sp>
      <p:sp>
        <p:nvSpPr>
          <p:cNvPr id="58" name="TextBox 5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40</a:t>
            </a:r>
          </a:p>
        </p:txBody>
      </p:sp>
      <p:sp>
        <p:nvSpPr>
          <p:cNvPr id="59" name="Rounded Rectangle 58"/>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61" name="TextBox 6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월간 성적표 (내 평가가 반영돼요)</a:t>
            </a:r>
          </a:p>
        </p:txBody>
      </p:sp>
      <p:sp>
        <p:nvSpPr>
          <p:cNvPr id="62" name="TextBox 6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41</a:t>
            </a:r>
          </a:p>
        </p:txBody>
      </p:sp>
      <p:sp>
        <p:nvSpPr>
          <p:cNvPr id="63" name="Rounded Rectangle 62"/>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65" name="TextBox 6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탈출: 말해야 열린다 (수업 활용)</a:t>
            </a:r>
          </a:p>
        </p:txBody>
      </p:sp>
      <p:sp>
        <p:nvSpPr>
          <p:cNvPr id="66" name="TextBox 6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42</a:t>
            </a:r>
          </a:p>
        </p:txBody>
      </p:sp>
      <p:sp>
        <p:nvSpPr>
          <p:cNvPr id="67" name="Rounded Rectangle 66"/>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69" name="TextBox 6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 단어장 새 단장 (예습 탭 · 6개 탭)</a:t>
            </a:r>
          </a:p>
        </p:txBody>
      </p:sp>
      <p:sp>
        <p:nvSpPr>
          <p:cNvPr id="70" name="TextBox 6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43</a:t>
            </a:r>
          </a:p>
        </p:txBody>
      </p:sp>
      <p:sp>
        <p:nvSpPr>
          <p:cNvPr id="71" name="Rounded Rectangle 70"/>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73" name="TextBox 7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근무 · 휴식 · 휴가 등록하기</a:t>
            </a:r>
          </a:p>
        </p:txBody>
      </p:sp>
      <p:sp>
        <p:nvSpPr>
          <p:cNvPr id="74" name="TextBox 7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44</a:t>
            </a:r>
          </a:p>
        </p:txBody>
      </p:sp>
      <p:sp>
        <p:nvSpPr>
          <p:cNvPr id="75" name="Rounded Rectangle 74"/>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77" name="TextBox 7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샘플 수업으로 화면 미리 익히기</a:t>
            </a:r>
          </a:p>
        </p:txBody>
      </p:sp>
      <p:sp>
        <p:nvSpPr>
          <p:cNvPr id="78" name="TextBox 7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45</a:t>
            </a:r>
          </a:p>
        </p:txBody>
      </p:sp>
      <p:sp>
        <p:nvSpPr>
          <p:cNvPr id="79" name="Rounded Rectangle 78"/>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81" name="TextBox 8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주간 리포트 (내 수업이 근거가 돼요)</a:t>
            </a:r>
          </a:p>
        </p:txBody>
      </p:sp>
      <p:sp>
        <p:nvSpPr>
          <p:cNvPr id="82" name="TextBox 8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46</a:t>
            </a:r>
          </a:p>
        </p:txBody>
      </p:sp>
      <p:sp>
        <p:nvSpPr>
          <p:cNvPr id="83" name="Rounded Rectangle 82"/>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85" name="TextBox 8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86" name="TextBox 8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47</a:t>
            </a:r>
          </a:p>
        </p:txBody>
      </p:sp>
      <p:sp>
        <p:nvSpPr>
          <p:cNvPr id="87" name="Rounded Rectangle 86"/>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89" name="TextBox 8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90" name="TextBox 8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48</a:t>
            </a:r>
          </a:p>
        </p:txBody>
      </p:sp>
      <p:sp>
        <p:nvSpPr>
          <p:cNvPr id="91" name="Rounded Rectangle 90"/>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93" name="TextBox 9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94" name="TextBox 9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49</a:t>
            </a:r>
          </a:p>
        </p:txBody>
      </p:sp>
      <p:sp>
        <p:nvSpPr>
          <p:cNvPr id="95" name="Rounded Rectangle 94"/>
          <p:cNvSpPr/>
          <p:nvPr/>
        </p:nvSpPr>
        <p:spPr>
          <a:xfrm>
            <a:off x="6141567"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97" name="TextBox 9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98" name="TextBox 9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50</a:t>
            </a:r>
          </a:p>
        </p:txBody>
      </p:sp>
      <p:sp>
        <p:nvSpPr>
          <p:cNvPr id="99" name="Rounded Rectangle 98"/>
          <p:cNvSpPr/>
          <p:nvPr/>
        </p:nvSpPr>
        <p:spPr>
          <a:xfrm>
            <a:off x="6141567"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101" name="TextBox 10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102" name="TextBox 10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점검 화면에서 카메라·마이크·네트워크·조명을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종합 점수와 항목별 신호(정상/주의)를 봐요.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빨간 항목은 조명·자리·연결을 조정하고 다시 점검해요.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점검은 수업 5~10분 전에!</a:t>
            </a:r>
          </a:p>
          <a:p>
            <a:pPr>
              <a:lnSpc>
                <a:spcPct val="115000"/>
              </a:lnSpc>
              <a:spcAft>
                <a:spcPts val="100"/>
              </a:spcAft>
            </a:pPr>
            <a:r>
              <a:rPr sz="800" b="1">
                <a:solidFill>
                  <a:srgbClr val="EA580C"/>
                </a:solidFill>
                <a:latin typeface="Malgun Gothic"/>
              </a:rPr>
              <a:t>● </a:t>
            </a:r>
            <a:r>
              <a:rPr sz="1000">
                <a:solidFill>
                  <a:srgbClr val="334155"/>
                </a:solidFill>
                <a:latin typeface="Malgun Gothic"/>
              </a:rPr>
              <a:t>학생 입장 전에 문제를 해결해 두세요.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42462"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247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47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626510"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카메라·마이크·네트…</a:t>
            </a:r>
          </a:p>
        </p:txBody>
      </p:sp>
      <p:sp>
        <p:nvSpPr>
          <p:cNvPr id="26" name="TextBox 25"/>
          <p:cNvSpPr txBox="1"/>
          <p:nvPr/>
        </p:nvSpPr>
        <p:spPr>
          <a:xfrm>
            <a:off x="546994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652820"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73511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351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036868"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종합 점수</a:t>
            </a:r>
          </a:p>
        </p:txBody>
      </p:sp>
      <p:sp>
        <p:nvSpPr>
          <p:cNvPr id="31" name="TextBox 30"/>
          <p:cNvSpPr txBox="1"/>
          <p:nvPr/>
        </p:nvSpPr>
        <p:spPr>
          <a:xfrm>
            <a:off x="700796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90841"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7313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731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74889"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조명·자리·연결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602943"/>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로그인 후 화면에서 ‘👤 마이페이지’ 버튼을 눌러요.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아래쪽 골드색 ‘🎥 수업 입장’ 버튼을 찾아요. (옆의 ‘💳 결제하기’와 한 줄)</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 입장’을 누르면 화상수업 로비로 이동해요.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안내문구 ‘🎥 화상수업 로비로 입장 · 📹 마이크/카메라 사용’을 확인해요.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443423"/>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489143"/>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736031"/>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‘수업 입장’ 버튼 하나로 바로 화상수업 로비까지 가요.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마이페이지에는 수업 진단·연기/변경·전체메뉴 등도 함께 있어요.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학생도 똑같은 ‘수업 입장’ 버튼으로 들어와요.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버튼을 눌러도 카메라·마이크 허용을 안 하면 얼굴·소리가 연결되지 않아요.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925776"/>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980640"/>
            <a:ext cx="5486400" cy="139303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6442" y="2670048"/>
            <a:ext cx="19842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7873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873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180490" y="2670048"/>
            <a:ext cx="15636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마이페이지’</a:t>
            </a:r>
          </a:p>
        </p:txBody>
      </p:sp>
      <p:sp>
        <p:nvSpPr>
          <p:cNvPr id="28" name="TextBox 27"/>
          <p:cNvSpPr txBox="1"/>
          <p:nvPr/>
        </p:nvSpPr>
        <p:spPr>
          <a:xfrm>
            <a:off x="278069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2963570"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04586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458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34761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수업 입장’</a:t>
            </a:r>
          </a:p>
        </p:txBody>
      </p:sp>
      <p:sp>
        <p:nvSpPr>
          <p:cNvPr id="33" name="TextBox 32"/>
          <p:cNvSpPr txBox="1"/>
          <p:nvPr/>
        </p:nvSpPr>
        <p:spPr>
          <a:xfrm>
            <a:off x="487649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059375"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416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16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43423"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입장’</a:t>
            </a:r>
          </a:p>
        </p:txBody>
      </p:sp>
      <p:sp>
        <p:nvSpPr>
          <p:cNvPr id="38" name="TextBox 37"/>
          <p:cNvSpPr txBox="1"/>
          <p:nvPr/>
        </p:nvSpPr>
        <p:spPr>
          <a:xfrm>
            <a:off x="672906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6911949"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99424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942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295997"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화상수업 로비…</a:t>
            </a:r>
          </a:p>
        </p:txBody>
      </p:sp>
      <p:sp>
        <p:nvSpPr>
          <p:cNvPr id="43" name="TextBox 42"/>
          <p:cNvSpPr txBox="1"/>
          <p:nvPr/>
        </p:nvSpPr>
        <p:spPr>
          <a:xfrm>
            <a:off x="913942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9322307" y="2670048"/>
            <a:ext cx="20702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046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046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706355"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카메라·마이크 허용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763420"/>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수업 진단: 수업 전 카메라·마이크·네트워크·조명을 점검해요. (수업 5~10분 전 필수)</a:t>
            </a:r>
          </a:p>
          <a:p>
            <a:pPr>
              <a:lnSpc>
                <a:spcPct val="115000"/>
              </a:lnSpc>
              <a:spcAft>
                <a:spcPts val="300"/>
              </a:spcAft>
            </a:pPr>
            <a:r>
              <a:rPr sz="700" b="1">
                <a:solidFill>
                  <a:srgbClr val="EA580C"/>
                </a:solidFill>
                <a:latin typeface="Malgun Gothic"/>
              </a:rPr>
              <a:t>● </a:t>
            </a:r>
            <a:r>
              <a:rPr sz="900">
                <a:solidFill>
                  <a:srgbClr val="334155"/>
                </a:solidFill>
                <a:latin typeface="Malgun Gothic"/>
              </a:rPr>
              <a:t>🎥 수업 입장: 화상수업 로비로 들어가요. (앞 장 참고)</a:t>
            </a:r>
          </a:p>
          <a:p>
            <a:pPr>
              <a:lnSpc>
                <a:spcPct val="115000"/>
              </a:lnSpc>
              <a:spcAft>
                <a:spcPts val="300"/>
              </a:spcAft>
            </a:pPr>
            <a:r>
              <a:rPr sz="700" b="1">
                <a:solidFill>
                  <a:srgbClr val="EA580C"/>
                </a:solidFill>
                <a:latin typeface="Malgun Gothic"/>
              </a:rPr>
              <a:t>● </a:t>
            </a:r>
            <a:r>
              <a:rPr sz="900">
                <a:solidFill>
                  <a:srgbClr val="334155"/>
                </a:solidFill>
                <a:latin typeface="Malgun Gothic"/>
              </a:rPr>
              <a:t>📅 연기/변경: 학생 요청이나 사정에 따라 수업 일정을 조정해요.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복습퀴즈 · 🎤 단계별 발음: 학생에게 낼 복습·발음 자료를 미리 확인해요.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603900"/>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4962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896508"/>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‘수업 진단 → 수업 입장’ 순서를 습관으로 만드세요.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글자가 영어로 보이면 EN 버튼으로 한국어로 바꿔요.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AI 검색/비서에게 ‘○○ 열어줘’라고 말해도 바로 이동해요.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429186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4346725"/>
            <a:ext cx="5486400" cy="706581"/>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426817"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0911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091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10865"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진단</a:t>
            </a:r>
          </a:p>
        </p:txBody>
      </p:sp>
      <p:sp>
        <p:nvSpPr>
          <p:cNvPr id="26" name="TextBox 25"/>
          <p:cNvSpPr txBox="1"/>
          <p:nvPr/>
        </p:nvSpPr>
        <p:spPr>
          <a:xfrm>
            <a:off x="378195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964838"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04713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471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348886"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입장</a:t>
            </a:r>
          </a:p>
        </p:txBody>
      </p:sp>
      <p:sp>
        <p:nvSpPr>
          <p:cNvPr id="31" name="TextBox 30"/>
          <p:cNvSpPr txBox="1"/>
          <p:nvPr/>
        </p:nvSpPr>
        <p:spPr>
          <a:xfrm>
            <a:off x="531997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502859"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58515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851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886907"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연기/변경</a:t>
            </a:r>
          </a:p>
        </p:txBody>
      </p:sp>
      <p:sp>
        <p:nvSpPr>
          <p:cNvPr id="36" name="TextBox 35"/>
          <p:cNvSpPr txBox="1"/>
          <p:nvPr/>
        </p:nvSpPr>
        <p:spPr>
          <a:xfrm>
            <a:off x="68580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040880"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12317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231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424928"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복습퀴즈</a:t>
            </a:r>
          </a:p>
        </p:txBody>
      </p:sp>
      <p:sp>
        <p:nvSpPr>
          <p:cNvPr id="41" name="TextBox 40"/>
          <p:cNvSpPr txBox="1"/>
          <p:nvPr/>
        </p:nvSpPr>
        <p:spPr>
          <a:xfrm>
            <a:off x="83100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492947"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5752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752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876995"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신규상담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입장 화면에서 이름을 넣어요.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방 코드를 확인해요. (비우면 공용 수업방)</a:t>
            </a:r>
          </a:p>
          <a:p>
            <a:pPr>
              <a:lnSpc>
                <a:spcPct val="115000"/>
              </a:lnSpc>
              <a:spcAft>
                <a:spcPts val="300"/>
              </a:spcAft>
            </a:pPr>
            <a:r>
              <a:rPr sz="750" b="1">
                <a:solidFill>
                  <a:srgbClr val="EA580C"/>
                </a:solidFill>
                <a:latin typeface="Malgun Gothic"/>
              </a:rPr>
              <a:t>● </a:t>
            </a:r>
            <a:r>
              <a:rPr sz="950">
                <a:solidFill>
                  <a:srgbClr val="334155"/>
                </a:solidFill>
                <a:latin typeface="Malgun Gothic"/>
              </a:rPr>
              <a:t>입장하기를 누르고 카메라·마이크 허용을 눌러요.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학생 입장을 기다리며 화면·소리를 점검해요.</a:t>
            </a:r>
          </a:p>
        </p:txBody>
      </p:sp>
      <p:sp>
        <p:nvSpPr>
          <p:cNvPr id="14" name="Rounded Rectangle 13"/>
          <p:cNvSpPr/>
          <p:nvPr/>
        </p:nvSpPr>
        <p:spPr>
          <a:xfrm>
            <a:off x="457200" y="5030114"/>
            <a:ext cx="5669280" cy="85130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미리 입장해 카메라 구도·소리를 확인하세요.</a:t>
            </a:r>
          </a:p>
          <a:p>
            <a:pPr>
              <a:lnSpc>
                <a:spcPct val="115000"/>
              </a:lnSpc>
              <a:spcAft>
                <a:spcPts val="100"/>
              </a:spcAft>
            </a:pPr>
            <a:r>
              <a:rPr sz="700" b="1">
                <a:solidFill>
                  <a:srgbClr val="EA580C"/>
                </a:solidFill>
                <a:latin typeface="Malgun Gothic"/>
              </a:rPr>
              <a:t>● </a:t>
            </a:r>
            <a:r>
              <a:rPr sz="900">
                <a:solidFill>
                  <a:srgbClr val="334155"/>
                </a:solidFill>
                <a:latin typeface="Malgun Gothic"/>
              </a:rPr>
              <a:t>크롬/엣지 권장, 카카오톡 인앱은 피하세요.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학생이 입장이 안 되면 브라우저 권한·종류부터 확인하도록 안내하세요.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입장 후 배경·조명·소리를 30초만 점검하면 수업이 매끄러워요.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995574"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07787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778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379622"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이름</a:t>
            </a:r>
          </a:p>
        </p:txBody>
      </p:sp>
      <p:sp>
        <p:nvSpPr>
          <p:cNvPr id="28" name="TextBox 27"/>
          <p:cNvSpPr txBox="1"/>
          <p:nvPr/>
        </p:nvSpPr>
        <p:spPr>
          <a:xfrm>
            <a:off x="395020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133088"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1538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153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17136"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방 코드</a:t>
            </a:r>
          </a:p>
        </p:txBody>
      </p:sp>
      <p:sp>
        <p:nvSpPr>
          <p:cNvPr id="33" name="TextBox 32"/>
          <p:cNvSpPr txBox="1"/>
          <p:nvPr/>
        </p:nvSpPr>
        <p:spPr>
          <a:xfrm>
            <a:off x="533095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513832"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9612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9612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97880"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입장하기</a:t>
            </a:r>
          </a:p>
        </p:txBody>
      </p:sp>
      <p:sp>
        <p:nvSpPr>
          <p:cNvPr id="38" name="TextBox 37"/>
          <p:cNvSpPr txBox="1"/>
          <p:nvPr/>
        </p:nvSpPr>
        <p:spPr>
          <a:xfrm>
            <a:off x="678301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6965899"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4819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81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49947"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 입장을 기다리…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763420"/>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맨 위 왼쪽: `방: mangoi-class · 참여자: 2명` — 지금 방 이름과 접속 인원이에요.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맨 위 오른쪽: ⏰ 타이머(수업 진행 시간), 🔴 REC(녹화 중 표시), 🌐 EN(영어로 바꾸기), 🌙 다크(어두운 화면).</a:t>
            </a:r>
          </a:p>
          <a:p>
            <a:pPr>
              <a:lnSpc>
                <a:spcPct val="115000"/>
              </a:lnSpc>
              <a:spcAft>
                <a:spcPts val="300"/>
              </a:spcAft>
            </a:pPr>
            <a:r>
              <a:rPr sz="700" b="1">
                <a:solidFill>
                  <a:srgbClr val="EA580C"/>
                </a:solidFill>
                <a:latin typeface="Malgun Gothic"/>
              </a:rPr>
              <a:t>● </a:t>
            </a:r>
            <a:r>
              <a:rPr sz="900">
                <a:solidFill>
                  <a:srgbClr val="334155"/>
                </a:solidFill>
                <a:latin typeface="Malgun Gothic"/>
              </a:rPr>
              <a:t>가운데: 상단 탭에서 고른 도구(칠판·교재·영상 등)가 크게 열려요.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맨 아래 가운데: 컨트롤 독 — 카메라·화면공유·채팅·나가기 버튼이 모여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왼쪽 위 작은 창: 내 얼굴 영상과 🧺 칭찬 바구니(받은 칭찬 개수).</a:t>
            </a:r>
          </a:p>
        </p:txBody>
      </p:sp>
      <p:sp>
        <p:nvSpPr>
          <p:cNvPr id="14" name="Rounded Rectangle 13"/>
          <p:cNvSpPr/>
          <p:nvPr/>
        </p:nvSpPr>
        <p:spPr>
          <a:xfrm>
            <a:off x="457200" y="5603900"/>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4962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896508"/>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버튼 위에 마우스를 올리면 이름 설명(툴팁)이 떠요.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글씨가 영어로 보이면 오른쪽 위 EN을 눌러 한국어로 바꿔요.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화면이 눈부시면 🌙 다크로 바꾸면 편해요.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54403" y="2670048"/>
            <a:ext cx="14410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93669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366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238451" y="2670048"/>
            <a:ext cx="10204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맨 위 왼쪽</a:t>
            </a:r>
          </a:p>
        </p:txBody>
      </p:sp>
      <p:sp>
        <p:nvSpPr>
          <p:cNvPr id="26" name="TextBox 25"/>
          <p:cNvSpPr txBox="1"/>
          <p:nvPr/>
        </p:nvSpPr>
        <p:spPr>
          <a:xfrm>
            <a:off x="329549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478377" y="2670048"/>
            <a:ext cx="15983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5606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06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862425" y="2670048"/>
            <a:ext cx="11777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맨 위 오른쪽</a:t>
            </a:r>
          </a:p>
        </p:txBody>
      </p:sp>
      <p:sp>
        <p:nvSpPr>
          <p:cNvPr id="31" name="TextBox 30"/>
          <p:cNvSpPr txBox="1"/>
          <p:nvPr/>
        </p:nvSpPr>
        <p:spPr>
          <a:xfrm>
            <a:off x="50767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259628"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4192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419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643676"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가운데</a:t>
            </a:r>
          </a:p>
        </p:txBody>
      </p:sp>
      <p:sp>
        <p:nvSpPr>
          <p:cNvPr id="36" name="TextBox 35"/>
          <p:cNvSpPr txBox="1"/>
          <p:nvPr/>
        </p:nvSpPr>
        <p:spPr>
          <a:xfrm>
            <a:off x="637153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554419"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63671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3671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938467"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맨 아래 가운데</a:t>
            </a:r>
          </a:p>
        </p:txBody>
      </p:sp>
      <p:sp>
        <p:nvSpPr>
          <p:cNvPr id="41" name="TextBox 40"/>
          <p:cNvSpPr txBox="1"/>
          <p:nvPr/>
        </p:nvSpPr>
        <p:spPr>
          <a:xfrm>
            <a:off x="83100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492947" y="2670048"/>
            <a:ext cx="18416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5752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752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876995" y="2670048"/>
            <a:ext cx="14209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왼쪽 위 작은 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730959"/>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칠판: 글씨·그림을 그리며 설명하는 화이트보드예요.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동영상: 유튜브 주소나 영상 파일을 함께 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학생게임: 수업 중 학습 게임을 열어요. (수업 시간엔 제한될 수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배경화면: 내 영상 뒤 배경을 바꾸고 얼굴을 꾸며요.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웜업: 수업 전 영어로 입을 푸는 웜업이에요.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복습퀴즈: 이 수업 교재·레벨에 맞는 퀴즈를 AI가 내줘요.</a:t>
            </a:r>
          </a:p>
        </p:txBody>
      </p:sp>
      <p:sp>
        <p:nvSpPr>
          <p:cNvPr id="14" name="Rounded Rectangle 13"/>
          <p:cNvSpPr/>
          <p:nvPr/>
        </p:nvSpPr>
        <p:spPr>
          <a:xfrm>
            <a:off x="457200" y="5571439"/>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17159"/>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864047"/>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탭을 눌러도 얼굴 영상은 계속 보여요.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탭 오른쪽 끝에는 📚 교재도구 ▾, ✍️ 필기도구 ▾ 가 더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수업은 보통 🖊 칠판과 📚 교재를 가장 많이 써요.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93975"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762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762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478023"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칠판</a:t>
            </a:r>
          </a:p>
        </p:txBody>
      </p:sp>
      <p:sp>
        <p:nvSpPr>
          <p:cNvPr id="26" name="TextBox 25"/>
          <p:cNvSpPr txBox="1"/>
          <p:nvPr/>
        </p:nvSpPr>
        <p:spPr>
          <a:xfrm>
            <a:off x="304860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231489"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1378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137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615537"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동영상</a:t>
            </a:r>
          </a:p>
        </p:txBody>
      </p:sp>
      <p:sp>
        <p:nvSpPr>
          <p:cNvPr id="31" name="TextBox 30"/>
          <p:cNvSpPr txBox="1"/>
          <p:nvPr/>
        </p:nvSpPr>
        <p:spPr>
          <a:xfrm>
            <a:off x="43434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4526280"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0857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085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4910328"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학생게임</a:t>
            </a:r>
          </a:p>
        </p:txBody>
      </p:sp>
      <p:sp>
        <p:nvSpPr>
          <p:cNvPr id="36" name="TextBox 35"/>
          <p:cNvSpPr txBox="1"/>
          <p:nvPr/>
        </p:nvSpPr>
        <p:spPr>
          <a:xfrm>
            <a:off x="57954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5978347"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0606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60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362395"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배경화면</a:t>
            </a:r>
          </a:p>
        </p:txBody>
      </p:sp>
      <p:sp>
        <p:nvSpPr>
          <p:cNvPr id="41" name="TextBox 40"/>
          <p:cNvSpPr txBox="1"/>
          <p:nvPr/>
        </p:nvSpPr>
        <p:spPr>
          <a:xfrm>
            <a:off x="724753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7430414" y="2670048"/>
            <a:ext cx="12124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1271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12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7814462"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웜업</a:t>
            </a:r>
          </a:p>
        </p:txBody>
      </p:sp>
      <p:sp>
        <p:nvSpPr>
          <p:cNvPr id="46" name="TextBox 45"/>
          <p:cNvSpPr txBox="1"/>
          <p:nvPr/>
        </p:nvSpPr>
        <p:spPr>
          <a:xfrm>
            <a:off x="864290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7" name="Rounded Rectangle 46"/>
          <p:cNvSpPr/>
          <p:nvPr/>
        </p:nvSpPr>
        <p:spPr>
          <a:xfrm>
            <a:off x="8825788"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90808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080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209836"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복습퀴즈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2179929"/>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펜: 자유롭게 선을 그려요. / 🧽 지우개: 그린 것을 지워요.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선: 곧은 직선 / ⬜ 사각형 / ⭕ 원 을 그려요.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텍스트: 키보드로 글자를 입력해요.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색상(네모 색칸): 펜 색을 골라요. / 굵기(막대): 선 두께를 조절해요.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도형: 삐뚤게 그려도 반듯한 도형으로 자동 정리해줘요.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글자: 손글씨를 알아보고 깔끔한 글자로 바꿔줘요.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6020409"/>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66129"/>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6313017"/>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색과 굵기를 바꿔 중요한 부분을 강조하면 기억에 잘 남아요.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AI 도형·AI 글자는 켜면 자동으로 정리돼요(실험 기능).</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저장(💾)을 누르면 지금까지 그린 칠판이 이미지로 내려받아져 복습에 쓸 수 있어요.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798942" y="3310128"/>
            <a:ext cx="4598675"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46503" y="2670048"/>
            <a:ext cx="797356"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2879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7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130551"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펜</a:t>
            </a:r>
          </a:p>
        </p:txBody>
      </p:sp>
      <p:sp>
        <p:nvSpPr>
          <p:cNvPr id="28" name="TextBox 27"/>
          <p:cNvSpPr txBox="1"/>
          <p:nvPr/>
        </p:nvSpPr>
        <p:spPr>
          <a:xfrm>
            <a:off x="254386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2726740" y="2670048"/>
            <a:ext cx="797356"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80903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090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110788"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선</a:t>
            </a:r>
          </a:p>
        </p:txBody>
      </p:sp>
      <p:sp>
        <p:nvSpPr>
          <p:cNvPr id="33" name="TextBox 32"/>
          <p:cNvSpPr txBox="1"/>
          <p:nvPr/>
        </p:nvSpPr>
        <p:spPr>
          <a:xfrm>
            <a:off x="352409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3706977"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7892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892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091025"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텍스트</a:t>
            </a:r>
          </a:p>
        </p:txBody>
      </p:sp>
      <p:sp>
        <p:nvSpPr>
          <p:cNvPr id="38" name="TextBox 37"/>
          <p:cNvSpPr txBox="1"/>
          <p:nvPr/>
        </p:nvSpPr>
        <p:spPr>
          <a:xfrm>
            <a:off x="481888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5001767"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08406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840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5385815"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색상</a:t>
            </a:r>
          </a:p>
        </p:txBody>
      </p:sp>
      <p:sp>
        <p:nvSpPr>
          <p:cNvPr id="43" name="TextBox 42"/>
          <p:cNvSpPr txBox="1"/>
          <p:nvPr/>
        </p:nvSpPr>
        <p:spPr>
          <a:xfrm>
            <a:off x="595640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6139281" y="2670048"/>
            <a:ext cx="12124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22157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215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6523329"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도형</a:t>
            </a:r>
          </a:p>
        </p:txBody>
      </p:sp>
      <p:sp>
        <p:nvSpPr>
          <p:cNvPr id="48" name="TextBox 47"/>
          <p:cNvSpPr txBox="1"/>
          <p:nvPr/>
        </p:nvSpPr>
        <p:spPr>
          <a:xfrm>
            <a:off x="735177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9" name="Rounded Rectangle 48"/>
          <p:cNvSpPr/>
          <p:nvPr/>
        </p:nvSpPr>
        <p:spPr>
          <a:xfrm>
            <a:off x="7534655" y="2670048"/>
            <a:ext cx="12124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61695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169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7918703"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글자</a:t>
            </a:r>
          </a:p>
        </p:txBody>
      </p:sp>
      <p:sp>
        <p:nvSpPr>
          <p:cNvPr id="53" name="TextBox 52"/>
          <p:cNvSpPr txBox="1"/>
          <p:nvPr/>
        </p:nvSpPr>
        <p:spPr>
          <a:xfrm>
            <a:off x="874715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54" name="Rounded Rectangle 53"/>
          <p:cNvSpPr/>
          <p:nvPr/>
        </p:nvSpPr>
        <p:spPr>
          <a:xfrm>
            <a:off x="8930030"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01232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123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314078"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전체 지우기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89143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교재 업로드 (PDF/JPG/PNG): 내 기기의 교재 파일을 올려 공유해요.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라이브러리: 학원(관리자)이 올려둔 교재 중에서 골라요.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다운로드: 지금 보는 교재 파일을 내려받아요.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이전 / 다음 ▶: 교재 페이지를 넘겨요.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화면 맞춤 / 100% / 1:1: 교재 크기를 화면에 맞추거나 실제 크기로 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공유 중지: 교재 공유를 끝내요.</a:t>
            </a:r>
          </a:p>
        </p:txBody>
      </p:sp>
      <p:sp>
        <p:nvSpPr>
          <p:cNvPr id="14" name="Rounded Rectangle 13"/>
          <p:cNvSpPr/>
          <p:nvPr/>
        </p:nvSpPr>
        <p:spPr>
          <a:xfrm>
            <a:off x="457200" y="5731916"/>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77763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6024524"/>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올리는 즉시 상대방 화면에도 똑같은 페이지가 보여요.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PDF뿐 아니라 JPG·PNG 사진도 올릴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전에 교재를 미리 올려두면 시작이 매끄러워요.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450238" y="2670048"/>
            <a:ext cx="20135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53253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325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1834286"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 업로드 (PD…</a:t>
            </a:r>
          </a:p>
        </p:txBody>
      </p:sp>
      <p:sp>
        <p:nvSpPr>
          <p:cNvPr id="26" name="TextBox 25"/>
          <p:cNvSpPr txBox="1"/>
          <p:nvPr/>
        </p:nvSpPr>
        <p:spPr>
          <a:xfrm>
            <a:off x="346374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646627" y="2670048"/>
            <a:ext cx="142646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2892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289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30675" y="2670048"/>
            <a:ext cx="100583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라이브러리</a:t>
            </a:r>
          </a:p>
        </p:txBody>
      </p:sp>
      <p:sp>
        <p:nvSpPr>
          <p:cNvPr id="31" name="TextBox 30"/>
          <p:cNvSpPr txBox="1"/>
          <p:nvPr/>
        </p:nvSpPr>
        <p:spPr>
          <a:xfrm>
            <a:off x="507309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255971"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826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382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640019"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다운로드</a:t>
            </a:r>
          </a:p>
        </p:txBody>
      </p:sp>
      <p:sp>
        <p:nvSpPr>
          <p:cNvPr id="36" name="TextBox 35"/>
          <p:cNvSpPr txBox="1"/>
          <p:nvPr/>
        </p:nvSpPr>
        <p:spPr>
          <a:xfrm>
            <a:off x="652515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708038"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9033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033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092086"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이전</a:t>
            </a:r>
          </a:p>
        </p:txBody>
      </p:sp>
      <p:sp>
        <p:nvSpPr>
          <p:cNvPr id="41" name="TextBox 40"/>
          <p:cNvSpPr txBox="1"/>
          <p:nvPr/>
        </p:nvSpPr>
        <p:spPr>
          <a:xfrm>
            <a:off x="766267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7845552"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9278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278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229600"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화면 맞춤</a:t>
            </a:r>
          </a:p>
        </p:txBody>
      </p:sp>
      <p:sp>
        <p:nvSpPr>
          <p:cNvPr id="46" name="TextBox 45"/>
          <p:cNvSpPr txBox="1"/>
          <p:nvPr/>
        </p:nvSpPr>
        <p:spPr>
          <a:xfrm>
            <a:off x="920069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7" name="Rounded Rectangle 46"/>
          <p:cNvSpPr/>
          <p:nvPr/>
        </p:nvSpPr>
        <p:spPr>
          <a:xfrm>
            <a:off x="9383572"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46586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658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767620"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공유 중지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펜: 화면 위에 자유롭게 써요. / 🖍 형광펜: 중요한 곳을 밝게 칠해요.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지우개: 필기를 지워요. / 📝 텍스트: 글자를 입력해요.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도형: 그린 도형을 반듯하게 정리해요.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굵기(막대): 펜 두께를 조절해요.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282946"/>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575554"/>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교재를 띄운 상태에서 필기하면 교재 위에 바로 표시돼요.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형광펜으로 핵심 단어를 칠하면 눈에 잘 띄어요.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실수했을 땐 ↩ 되돌리기 한 번이면 깔끔하게 취소돼요.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055924" y="2670048"/>
            <a:ext cx="797356"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1382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382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439972"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펜</a:t>
            </a:r>
          </a:p>
        </p:txBody>
      </p:sp>
      <p:sp>
        <p:nvSpPr>
          <p:cNvPr id="26" name="TextBox 25"/>
          <p:cNvSpPr txBox="1"/>
          <p:nvPr/>
        </p:nvSpPr>
        <p:spPr>
          <a:xfrm>
            <a:off x="385328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036161"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11845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84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420209"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지우개</a:t>
            </a:r>
          </a:p>
        </p:txBody>
      </p:sp>
      <p:sp>
        <p:nvSpPr>
          <p:cNvPr id="31" name="TextBox 30"/>
          <p:cNvSpPr txBox="1"/>
          <p:nvPr/>
        </p:nvSpPr>
        <p:spPr>
          <a:xfrm>
            <a:off x="514807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330952" y="2670048"/>
            <a:ext cx="12124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4132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132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715000"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도형</a:t>
            </a:r>
          </a:p>
        </p:txBody>
      </p:sp>
      <p:sp>
        <p:nvSpPr>
          <p:cNvPr id="36" name="TextBox 35"/>
          <p:cNvSpPr txBox="1"/>
          <p:nvPr/>
        </p:nvSpPr>
        <p:spPr>
          <a:xfrm>
            <a:off x="654344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726326"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862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086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110374"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굵기</a:t>
            </a:r>
          </a:p>
        </p:txBody>
      </p:sp>
      <p:sp>
        <p:nvSpPr>
          <p:cNvPr id="41" name="TextBox 40"/>
          <p:cNvSpPr txBox="1"/>
          <p:nvPr/>
        </p:nvSpPr>
        <p:spPr>
          <a:xfrm>
            <a:off x="768096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7863840"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94613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461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247888"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되돌리기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입력칸에 유튜브 주소(URL)를 붙여넣기 하거나, 영상 파일을 업로드해요.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 URL 재생 / 전체 재생 버튼으로 영상을 틀어요.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새 영상 으로 다른 영상으로 바꿔요.</a:t>
            </a:r>
          </a:p>
        </p:txBody>
      </p:sp>
      <p:sp>
        <p:nvSpPr>
          <p:cNvPr id="14" name="Rounded Rectangle 13"/>
          <p:cNvSpPr/>
          <p:nvPr/>
        </p:nvSpPr>
        <p:spPr>
          <a:xfrm>
            <a:off x="457200" y="5044744"/>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영상은 상대방 화면에서도 함께 재생돼요.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소리가 중요한 자료는 이어폰을 끼면 더 잘 들려요.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미리 볼 영상 주소를 준비해두면 수업 중 바로 틀 수 있어요.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6685" y="2670048"/>
            <a:ext cx="20135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3898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8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40733"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유튜브 주소(URL…</a:t>
            </a:r>
          </a:p>
        </p:txBody>
      </p:sp>
      <p:sp>
        <p:nvSpPr>
          <p:cNvPr id="26" name="TextBox 25"/>
          <p:cNvSpPr txBox="1"/>
          <p:nvPr/>
        </p:nvSpPr>
        <p:spPr>
          <a:xfrm>
            <a:off x="567019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853074" y="2670048"/>
            <a:ext cx="12984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93537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3537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237122" y="2670048"/>
            <a:ext cx="8778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URL 재생</a:t>
            </a:r>
          </a:p>
        </p:txBody>
      </p:sp>
      <p:sp>
        <p:nvSpPr>
          <p:cNvPr id="31" name="TextBox 30"/>
          <p:cNvSpPr txBox="1"/>
          <p:nvPr/>
        </p:nvSpPr>
        <p:spPr>
          <a:xfrm>
            <a:off x="71515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334402"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4166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166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718450"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새 영상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위쪽 배경 그리드에서 원하는 배경(우주·사막·숲·벚꽃·백사장·피라미드 등)을 눌러요.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배경 끄기를 누르면 원래 카메라 화면으로 돌아와요.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아래쪽 얼굴 꾸미기(마스크·액세서리)에서 안경·모자·동물 같은 꾸미기를 골라요.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마음에 안 들면 다시 눌러 끄면 돼요.</a:t>
            </a:r>
          </a:p>
        </p:txBody>
      </p:sp>
      <p:sp>
        <p:nvSpPr>
          <p:cNvPr id="14" name="Rounded Rectangle 13"/>
          <p:cNvSpPr/>
          <p:nvPr/>
        </p:nvSpPr>
        <p:spPr>
          <a:xfrm>
            <a:off x="457200" y="5154930"/>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447538"/>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배경을 바꿔도 얼굴은 그대로 보여요.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너무 화려한 꾸미기는 수업 집중에 방해될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94560"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7685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768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578608"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배경 그리드</a:t>
            </a:r>
          </a:p>
        </p:txBody>
      </p:sp>
      <p:sp>
        <p:nvSpPr>
          <p:cNvPr id="26" name="TextBox 25"/>
          <p:cNvSpPr txBox="1"/>
          <p:nvPr/>
        </p:nvSpPr>
        <p:spPr>
          <a:xfrm>
            <a:off x="370697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889857"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97215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21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273905"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배경 끄기</a:t>
            </a:r>
          </a:p>
        </p:txBody>
      </p:sp>
      <p:sp>
        <p:nvSpPr>
          <p:cNvPr id="31" name="TextBox 30"/>
          <p:cNvSpPr txBox="1"/>
          <p:nvPr/>
        </p:nvSpPr>
        <p:spPr>
          <a:xfrm>
            <a:off x="524499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427878"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51017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1017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811926"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얼굴 꾸미기(마스크…</a:t>
            </a:r>
          </a:p>
        </p:txBody>
      </p:sp>
      <p:sp>
        <p:nvSpPr>
          <p:cNvPr id="36" name="TextBox 35"/>
          <p:cNvSpPr txBox="1"/>
          <p:nvPr/>
        </p:nvSpPr>
        <p:spPr>
          <a:xfrm>
            <a:off x="765535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838236"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2053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0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22284"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마음에 안 들면 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474927"/>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1/4 · 1/2 · 3/4 · 전체: 영상 창을 화면의 1/4~전체 크기로 키우거나 줄여요.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PIP: 영상을 교재·칠판 위에 작게 띄워 겹쳐 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솔로: 다른 사람은 숨기고 내 화면만 크게 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5315407"/>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61127"/>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608015"/>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교재를 볼 땐 영상을 작게(1/4), 발표할 땐 크게(전체)가 편해요.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 PIP는 교재를 보면서 얼굴도 같이 보고 싶을 때 좋아요.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화면이 좁으면 영상을 1/4로 줄이고 교재를 크게 보세요.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31082"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1337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33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15130"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1/4 · 1/2…</a:t>
            </a:r>
          </a:p>
        </p:txBody>
      </p:sp>
      <p:sp>
        <p:nvSpPr>
          <p:cNvPr id="26" name="TextBox 25"/>
          <p:cNvSpPr txBox="1"/>
          <p:nvPr/>
        </p:nvSpPr>
        <p:spPr>
          <a:xfrm>
            <a:off x="520202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84901"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6719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6719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68949"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PIP</a:t>
            </a:r>
          </a:p>
        </p:txBody>
      </p:sp>
      <p:sp>
        <p:nvSpPr>
          <p:cNvPr id="31" name="TextBox 30"/>
          <p:cNvSpPr txBox="1"/>
          <p:nvPr/>
        </p:nvSpPr>
        <p:spPr>
          <a:xfrm>
            <a:off x="628284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465722"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4801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80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49770"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솔로</a:t>
            </a:r>
          </a:p>
        </p:txBody>
      </p:sp>
      <p:sp>
        <p:nvSpPr>
          <p:cNvPr id="36" name="TextBox 35"/>
          <p:cNvSpPr txBox="1"/>
          <p:nvPr/>
        </p:nvSpPr>
        <p:spPr>
          <a:xfrm>
            <a:off x="742035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603236"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55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55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87283"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602943"/>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학생이 여러 명이면 ‘칭찬 주기’ 바에서 학생을 골라 줄 수도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학생: 내 화면 왼쪽 위 🧺 포인트 바구니에 +1P가 날아와 실시간으로 쌓여요.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수업이 끝나면 학생이 별점 평가를 남기면 +10P를 추가로 받아요.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모인 포인트는 포인트 상점·룰렛 등에서 보상으로 써요.</a:t>
            </a:r>
          </a:p>
        </p:txBody>
      </p:sp>
      <p:sp>
        <p:nvSpPr>
          <p:cNvPr id="14" name="Rounded Rectangle 13"/>
          <p:cNvSpPr/>
          <p:nvPr/>
        </p:nvSpPr>
        <p:spPr>
          <a:xfrm>
            <a:off x="457200" y="5443423"/>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489143"/>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736031"/>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칭찬을 많이 받을수록 포인트가 빨리 쌓여요.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칭찬 별에는 연타 방지 쿨다운이 있어 잠깐 회색이 될 수 있어요.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칭찬 포인트는 교사가 직접 눌러 주는 거예요. 학생이 스스로 올릴 수는 없어요.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828426"/>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83290"/>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26310"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0860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86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10358"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교사</a:t>
            </a:r>
          </a:p>
        </p:txBody>
      </p:sp>
      <p:sp>
        <p:nvSpPr>
          <p:cNvPr id="28" name="TextBox 27"/>
          <p:cNvSpPr txBox="1"/>
          <p:nvPr/>
        </p:nvSpPr>
        <p:spPr>
          <a:xfrm>
            <a:off x="298094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163824"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2461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61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547872"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‘칭찬 주기’ 바</a:t>
            </a:r>
          </a:p>
        </p:txBody>
      </p:sp>
      <p:sp>
        <p:nvSpPr>
          <p:cNvPr id="33" name="TextBox 32"/>
          <p:cNvSpPr txBox="1"/>
          <p:nvPr/>
        </p:nvSpPr>
        <p:spPr>
          <a:xfrm>
            <a:off x="50767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259628"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4192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419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43676"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a:t>
            </a:r>
          </a:p>
        </p:txBody>
      </p:sp>
      <p:sp>
        <p:nvSpPr>
          <p:cNvPr id="38" name="TextBox 37"/>
          <p:cNvSpPr txBox="1"/>
          <p:nvPr/>
        </p:nvSpPr>
        <p:spPr>
          <a:xfrm>
            <a:off x="621426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6397142"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47943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943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781190"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수업이 끝나면</a:t>
            </a:r>
          </a:p>
        </p:txBody>
      </p:sp>
      <p:sp>
        <p:nvSpPr>
          <p:cNvPr id="43" name="TextBox 42"/>
          <p:cNvSpPr txBox="1"/>
          <p:nvPr/>
        </p:nvSpPr>
        <p:spPr>
          <a:xfrm>
            <a:off x="806683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249716"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33201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320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633764"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포인트 상점·룰렛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201945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설정: 카메라·마이크 장치를 고르고 상태를 확인해요.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카메라 / 🎤 마이크: 내 얼굴·소리를 켜고 꺼요.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화면 공유: 내 컴퓨터 화면을 상대에게 보여줘요.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채팅: 글자로 대화해요(단어·링크 전달에 좋아요).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원어민: 원어민 도우미/통역 기능을 불러요.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나가기: 수업을 끝내고 방에서 나가요.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859932"/>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0565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6152540"/>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나가기(🚪) 전에 칠판·필기를 저장했는지 확인해요.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소리가 안 들리면 ⚙️ 설정에서 마이크·스피커 장치를 확인해요.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화면 공유는 브라우저가 ‘공유할 창’을 물어봐요 — 보여줄 화면을 고르고 허용하면 돼요.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칭찬 바구니에 칭찬이 쌓이면 그만큼 잘하고 있다는 뜻이에요!</a:t>
            </a:r>
          </a:p>
        </p:txBody>
      </p:sp>
      <p:sp>
        <p:nvSpPr>
          <p:cNvPr id="21" name="Rectangle 20"/>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798942" y="3310128"/>
            <a:ext cx="4598675"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489557"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7185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718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873605"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설정</a:t>
            </a:r>
          </a:p>
        </p:txBody>
      </p:sp>
      <p:sp>
        <p:nvSpPr>
          <p:cNvPr id="28" name="TextBox 27"/>
          <p:cNvSpPr txBox="1"/>
          <p:nvPr/>
        </p:nvSpPr>
        <p:spPr>
          <a:xfrm>
            <a:off x="244419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2627071"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0936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093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011119"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카메라</a:t>
            </a:r>
          </a:p>
        </p:txBody>
      </p:sp>
      <p:sp>
        <p:nvSpPr>
          <p:cNvPr id="33" name="TextBox 32"/>
          <p:cNvSpPr txBox="1"/>
          <p:nvPr/>
        </p:nvSpPr>
        <p:spPr>
          <a:xfrm>
            <a:off x="373898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3921861"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00415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41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30590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화면 공유</a:t>
            </a:r>
          </a:p>
        </p:txBody>
      </p:sp>
      <p:sp>
        <p:nvSpPr>
          <p:cNvPr id="38" name="TextBox 37"/>
          <p:cNvSpPr txBox="1"/>
          <p:nvPr/>
        </p:nvSpPr>
        <p:spPr>
          <a:xfrm>
            <a:off x="527700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5459882"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54217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5421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5843930"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채팅</a:t>
            </a:r>
          </a:p>
        </p:txBody>
      </p:sp>
      <p:sp>
        <p:nvSpPr>
          <p:cNvPr id="43" name="TextBox 42"/>
          <p:cNvSpPr txBox="1"/>
          <p:nvPr/>
        </p:nvSpPr>
        <p:spPr>
          <a:xfrm>
            <a:off x="641451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6597396"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67969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9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6981444"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원어민</a:t>
            </a:r>
          </a:p>
        </p:txBody>
      </p:sp>
      <p:sp>
        <p:nvSpPr>
          <p:cNvPr id="48" name="TextBox 47"/>
          <p:cNvSpPr txBox="1"/>
          <p:nvPr/>
        </p:nvSpPr>
        <p:spPr>
          <a:xfrm>
            <a:off x="770930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9" name="Rounded Rectangle 48"/>
          <p:cNvSpPr/>
          <p:nvPr/>
        </p:nvSpPr>
        <p:spPr>
          <a:xfrm>
            <a:off x="7892186"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97448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97448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8276234"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나가기</a:t>
            </a:r>
          </a:p>
        </p:txBody>
      </p:sp>
      <p:sp>
        <p:nvSpPr>
          <p:cNvPr id="53" name="TextBox 52"/>
          <p:cNvSpPr txBox="1"/>
          <p:nvPr/>
        </p:nvSpPr>
        <p:spPr>
          <a:xfrm>
            <a:off x="900409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54" name="Rounded Rectangle 53"/>
          <p:cNvSpPr/>
          <p:nvPr/>
        </p:nvSpPr>
        <p:spPr>
          <a:xfrm>
            <a:off x="9186976"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927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692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571024"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칭찬 바구니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교재 업로더에 파일을 끌어다 놓거나 선택해 올려요.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업로드한 교재는 교재 뷰어에서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수업 중 교재 탭 공유로 바로 띄워요.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수업 전에 올려두면 시간을 아껴요.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PDF·이미지 모두 지원돼요.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차시별로 파일 이름을 정해두면 찾기 쉬워요.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78631"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6092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609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267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 업로더</a:t>
            </a:r>
          </a:p>
        </p:txBody>
      </p:sp>
      <p:sp>
        <p:nvSpPr>
          <p:cNvPr id="26" name="TextBox 25"/>
          <p:cNvSpPr txBox="1"/>
          <p:nvPr/>
        </p:nvSpPr>
        <p:spPr>
          <a:xfrm>
            <a:off x="51910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73928"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5622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562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57976"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 뷰어</a:t>
            </a:r>
          </a:p>
        </p:txBody>
      </p:sp>
      <p:sp>
        <p:nvSpPr>
          <p:cNvPr id="31" name="TextBox 30"/>
          <p:cNvSpPr txBox="1"/>
          <p:nvPr/>
        </p:nvSpPr>
        <p:spPr>
          <a:xfrm>
            <a:off x="672906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911949" y="2670048"/>
            <a:ext cx="15983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9424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942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95997" y="2670048"/>
            <a:ext cx="11777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 탭 공유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학생의 AI 웜업 내용을 참고해 대화를 열어요.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웜업 질문을 본수업 주제로 이어가요.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웜업을 안 한 학생은 가벼운 질문 1~2개로 풀어줘요.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웜업을 언급하면 학생 몰입도가 올라가요.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도입이 매끄러워 수업 리듬이 좋아져요.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‘아까 웜업에서 …라고 했지?’ 한마디면 분위기가 풀려요.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42132" y="2670048"/>
            <a:ext cx="16130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2442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244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26180" y="2670048"/>
            <a:ext cx="11923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웜업 내용</a:t>
            </a:r>
          </a:p>
        </p:txBody>
      </p:sp>
      <p:sp>
        <p:nvSpPr>
          <p:cNvPr id="26" name="TextBox 25"/>
          <p:cNvSpPr txBox="1"/>
          <p:nvPr/>
        </p:nvSpPr>
        <p:spPr>
          <a:xfrm>
            <a:off x="495513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138013"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2030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03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22061"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본수업 주제</a:t>
            </a:r>
          </a:p>
        </p:txBody>
      </p:sp>
      <p:sp>
        <p:nvSpPr>
          <p:cNvPr id="31" name="TextBox 30"/>
          <p:cNvSpPr txBox="1"/>
          <p:nvPr/>
        </p:nvSpPr>
        <p:spPr>
          <a:xfrm>
            <a:off x="665043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33311" y="2670048"/>
            <a:ext cx="20135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1560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156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17359"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가벼운 질문 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학생 수준에 맞는 음성코치 문장을 함께 골라요.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학생이 녹음→점수→다시듣기로 교정하게 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수업 문장을 음성코치 숙제로 연결해요.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‘수업 문장 → 음성코치 반복’ 루틴이 효과적이에요.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점수로 성취감을 주면 꾸준히 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어려운 소리(r, th 등)는 짧은 단어부터 반복시키세요.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135477"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2177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77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519525"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음성코치 문장</a:t>
            </a:r>
          </a:p>
        </p:txBody>
      </p:sp>
      <p:sp>
        <p:nvSpPr>
          <p:cNvPr id="26" name="TextBox 25"/>
          <p:cNvSpPr txBox="1"/>
          <p:nvPr/>
        </p:nvSpPr>
        <p:spPr>
          <a:xfrm>
            <a:off x="480517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988052" y="2670048"/>
            <a:ext cx="22128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703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70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72100" y="2670048"/>
            <a:ext cx="17922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녹음→점수→다시듣기</a:t>
            </a:r>
          </a:p>
        </p:txBody>
      </p:sp>
      <p:sp>
        <p:nvSpPr>
          <p:cNvPr id="31" name="TextBox 30"/>
          <p:cNvSpPr txBox="1"/>
          <p:nvPr/>
        </p:nvSpPr>
        <p:spPr>
          <a:xfrm>
            <a:off x="72009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383779"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46607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66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767827"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음성코치 숙제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평가서 화면에서 오늘 수업을 기록해요.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항목별 별점과 코멘트를 남겨요.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저장하면 리포트·학부모 페이지에 반영돼요.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칭찬 1개 + 개선 1개 원칙으로 짧고 구체적으로.</a:t>
            </a:r>
          </a:p>
          <a:p>
            <a:pPr>
              <a:lnSpc>
                <a:spcPct val="115000"/>
              </a:lnSpc>
              <a:spcAft>
                <a:spcPts val="100"/>
              </a:spcAft>
            </a:pPr>
            <a:r>
              <a:rPr sz="800" b="1">
                <a:solidFill>
                  <a:srgbClr val="EA580C"/>
                </a:solidFill>
                <a:latin typeface="Malgun Gothic"/>
              </a:rPr>
              <a:t>● </a:t>
            </a:r>
            <a:r>
              <a:rPr sz="1000">
                <a:solidFill>
                  <a:srgbClr val="334155"/>
                </a:solidFill>
                <a:latin typeface="Malgun Gothic"/>
              </a:rPr>
              <a:t>수업 직후 작성해야 가장 정확해요.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구체적 사례(‘today’s r sound was great’)를 넣으면 신뢰가 커져요.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128162"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2104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04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512210"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평가서</a:t>
            </a:r>
          </a:p>
        </p:txBody>
      </p:sp>
      <p:sp>
        <p:nvSpPr>
          <p:cNvPr id="26" name="TextBox 25"/>
          <p:cNvSpPr txBox="1"/>
          <p:nvPr/>
        </p:nvSpPr>
        <p:spPr>
          <a:xfrm>
            <a:off x="424007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422952"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052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52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07000"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항목별 별점과 코멘…</a:t>
            </a:r>
          </a:p>
        </p:txBody>
      </p:sp>
      <p:sp>
        <p:nvSpPr>
          <p:cNvPr id="31" name="TextBox 30"/>
          <p:cNvSpPr txBox="1"/>
          <p:nvPr/>
        </p:nvSpPr>
        <p:spPr>
          <a:xfrm>
            <a:off x="665043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33311"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1560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156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17359"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리포트·학부모 페이…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Teacher Praise에서 학생과 항목을 골라요.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별점(7개 항목)과 스티커·코멘트를 남겨요.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저장하면 학생·학부모에게 보여요.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수업 직후 바로 남기면 효과가 커요.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구체적 칭찬이 두루뭉술한 칭찬보다 강해요.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작은 성취도 칭찬하면 다음 수업 참여가 좋아져요.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08427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16656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665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46831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Pr…</a:t>
            </a:r>
          </a:p>
        </p:txBody>
      </p:sp>
      <p:sp>
        <p:nvSpPr>
          <p:cNvPr id="26" name="TextBox 25"/>
          <p:cNvSpPr txBox="1"/>
          <p:nvPr/>
        </p:nvSpPr>
        <p:spPr>
          <a:xfrm>
            <a:off x="474116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924044" y="2670048"/>
            <a:ext cx="17702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0634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063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08092" y="2670048"/>
            <a:ext cx="13496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별점(7개 항목)</a:t>
            </a:r>
          </a:p>
        </p:txBody>
      </p:sp>
      <p:sp>
        <p:nvSpPr>
          <p:cNvPr id="31" name="TextBox 30"/>
          <p:cNvSpPr txBox="1"/>
          <p:nvPr/>
        </p:nvSpPr>
        <p:spPr>
          <a:xfrm>
            <a:off x="66943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77202"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594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594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61250"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저장하면 학생·학부…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게임 학습 리포트에 학생 ID를 넣고 조회해요.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약점 단어(자주 틀린 단어)를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다음 수업에서 집중 복습시켜요.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데이터 기반으로 약점을 정확히 짚어요.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3개만 골라도 복습 효과가 확실해요.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약점 단어를 채팅·칠판에 띄우고 반복하면 좋아요.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99992"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8228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22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84040"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게임 학습 리포트</a:t>
            </a:r>
          </a:p>
        </p:txBody>
      </p:sp>
      <p:sp>
        <p:nvSpPr>
          <p:cNvPr id="26" name="TextBox 25"/>
          <p:cNvSpPr txBox="1"/>
          <p:nvPr/>
        </p:nvSpPr>
        <p:spPr>
          <a:xfrm>
            <a:off x="551291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695797"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77809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80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079845"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약점 단어</a:t>
            </a:r>
          </a:p>
        </p:txBody>
      </p:sp>
      <p:sp>
        <p:nvSpPr>
          <p:cNvPr id="31" name="TextBox 30"/>
          <p:cNvSpPr txBox="1"/>
          <p:nvPr/>
        </p:nvSpPr>
        <p:spPr>
          <a:xfrm>
            <a:off x="705093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233818"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1611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61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17866"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집중 복습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리포트에서 학습 진행·성과를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레슨 관리에서 지난/예정 수업을 정리해요.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다음 수업 목표를 한 줄로 정해요.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진도 연속성이 좋아져요.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목표를 적어두면 수업 방향이 뚜렷해져요.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매 수업 끝에 다음 목표를 적어두면 인수인계도 쉬워요.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78884"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6118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611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62932"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리포트</a:t>
            </a:r>
          </a:p>
        </p:txBody>
      </p:sp>
      <p:sp>
        <p:nvSpPr>
          <p:cNvPr id="26" name="TextBox 25"/>
          <p:cNvSpPr txBox="1"/>
          <p:nvPr/>
        </p:nvSpPr>
        <p:spPr>
          <a:xfrm>
            <a:off x="499079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173675"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559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59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5772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레슨 관리</a:t>
            </a:r>
          </a:p>
        </p:txBody>
      </p:sp>
      <p:sp>
        <p:nvSpPr>
          <p:cNvPr id="31" name="TextBox 30"/>
          <p:cNvSpPr txBox="1"/>
          <p:nvPr/>
        </p:nvSpPr>
        <p:spPr>
          <a:xfrm>
            <a:off x="652881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711696" y="2670048"/>
            <a:ext cx="15983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9399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939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95744" y="2670048"/>
            <a:ext cx="11777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목표를 한 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학생의 연기/변경 요청을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규정에 맞으면 일정을 조정해요.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변경 내용이 자동 안내되는지 확인해요.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규정 위반 직전 요청은 정책대로 안내해요.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연기해도 학생 수업 횟수는 보존돼요.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연기 마감 규정을 학생에게 미리 안내하세요.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99992"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8228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22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84040"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연기/변경 요청</a:t>
            </a:r>
          </a:p>
        </p:txBody>
      </p:sp>
      <p:sp>
        <p:nvSpPr>
          <p:cNvPr id="26" name="TextBox 25"/>
          <p:cNvSpPr txBox="1"/>
          <p:nvPr/>
        </p:nvSpPr>
        <p:spPr>
          <a:xfrm>
            <a:off x="535564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538520"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2081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08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22568"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일정을 조정</a:t>
            </a:r>
          </a:p>
        </p:txBody>
      </p:sp>
      <p:sp>
        <p:nvSpPr>
          <p:cNvPr id="31" name="TextBox 30"/>
          <p:cNvSpPr txBox="1"/>
          <p:nvPr/>
        </p:nvSpPr>
        <p:spPr>
          <a:xfrm>
            <a:off x="705093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233818"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1611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61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17866"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자동 안내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고객센터에서 전화·이메일·카카오·원격지원을 이용해요.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긴급하면 원격지원으로 직접 도움받아요.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반복 문제는 대응 방법을 메모해 둬요.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‘소리/화면 안 됨’은 권한·브라우저부터 확인.</a:t>
            </a:r>
          </a:p>
          <a:p>
            <a:pPr>
              <a:lnSpc>
                <a:spcPct val="115000"/>
              </a:lnSpc>
              <a:spcAft>
                <a:spcPts val="100"/>
              </a:spcAft>
            </a:pPr>
            <a:r>
              <a:rPr sz="800" b="1">
                <a:solidFill>
                  <a:srgbClr val="EA580C"/>
                </a:solidFill>
                <a:latin typeface="Malgun Gothic"/>
              </a:rPr>
              <a:t>● </a:t>
            </a:r>
            <a:r>
              <a:rPr sz="1000">
                <a:solidFill>
                  <a:srgbClr val="334155"/>
                </a:solidFill>
                <a:latin typeface="Malgun Gothic"/>
              </a:rPr>
              <a:t>운영시간 내 문의가 빨라요.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자주 겪는 문제와 해결법을 정리해두면 수업 손실이 줄어요.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85946"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6824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682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9994"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고객센터</a:t>
            </a:r>
          </a:p>
        </p:txBody>
      </p:sp>
      <p:sp>
        <p:nvSpPr>
          <p:cNvPr id="26" name="TextBox 25"/>
          <p:cNvSpPr txBox="1"/>
          <p:nvPr/>
        </p:nvSpPr>
        <p:spPr>
          <a:xfrm>
            <a:off x="495513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138013"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2030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03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22061"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원격지원</a:t>
            </a:r>
          </a:p>
        </p:txBody>
      </p:sp>
      <p:sp>
        <p:nvSpPr>
          <p:cNvPr id="31" name="TextBox 30"/>
          <p:cNvSpPr txBox="1"/>
          <p:nvPr/>
        </p:nvSpPr>
        <p:spPr>
          <a:xfrm>
            <a:off x="64072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590080"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237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23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97412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대응 방법을 메모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화면에 떠 있는 듀얼 시계에서 🇰🇷 한국·🇵🇭 필리핀 시간을 동시에 봐요.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시계를 드래그하면 원하는 위치로 옮길 수 있어요.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시계를 탭(클릭)하면 홈으로 이동해요.</a:t>
            </a:r>
          </a:p>
        </p:txBody>
      </p:sp>
      <p:sp>
        <p:nvSpPr>
          <p:cNvPr id="14" name="Rounded Rectangle 13"/>
          <p:cNvSpPr/>
          <p:nvPr/>
        </p:nvSpPr>
        <p:spPr>
          <a:xfrm>
            <a:off x="457200" y="5044744"/>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필리핀은 한국보다 1시간 느려요(시차 −1시간).</a:t>
            </a:r>
          </a:p>
          <a:p>
            <a:pPr>
              <a:lnSpc>
                <a:spcPct val="115000"/>
              </a:lnSpc>
              <a:spcAft>
                <a:spcPts val="100"/>
              </a:spcAft>
            </a:pPr>
            <a:r>
              <a:rPr sz="800" b="1">
                <a:solidFill>
                  <a:srgbClr val="EA580C"/>
                </a:solidFill>
                <a:latin typeface="Malgun Gothic"/>
              </a:rPr>
              <a:t>● </a:t>
            </a:r>
            <a:r>
              <a:rPr sz="1000">
                <a:solidFill>
                  <a:srgbClr val="334155"/>
                </a:solidFill>
                <a:latin typeface="Malgun Gothic"/>
              </a:rPr>
              <a:t>수업 예약·입장 시간을 두 나라 시간으로 확인할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805460" y="3255264"/>
            <a:ext cx="4585638"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60324" y="3310128"/>
            <a:ext cx="4475910"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36161"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11845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84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42020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듀얼 시계</a:t>
            </a:r>
          </a:p>
        </p:txBody>
      </p:sp>
      <p:sp>
        <p:nvSpPr>
          <p:cNvPr id="26" name="TextBox 25"/>
          <p:cNvSpPr txBox="1"/>
          <p:nvPr/>
        </p:nvSpPr>
        <p:spPr>
          <a:xfrm>
            <a:off x="539130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574182" y="2670048"/>
            <a:ext cx="111191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5647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564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58230"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드래그</a:t>
            </a:r>
          </a:p>
        </p:txBody>
      </p:sp>
      <p:sp>
        <p:nvSpPr>
          <p:cNvPr id="31" name="TextBox 30"/>
          <p:cNvSpPr txBox="1"/>
          <p:nvPr/>
        </p:nvSpPr>
        <p:spPr>
          <a:xfrm>
            <a:off x="668609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68972" y="2670048"/>
            <a:ext cx="12838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5126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512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53020" y="2670048"/>
            <a:ext cx="8631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탭(클릭)</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AI 음성코치에서 CN 중국어 레벨을 골라요. (또는 중국어 발음 코치로 이동)</a:t>
            </a:r>
          </a:p>
          <a:p>
            <a:pPr>
              <a:lnSpc>
                <a:spcPct val="115000"/>
              </a:lnSpc>
              <a:spcAft>
                <a:spcPts val="300"/>
              </a:spcAft>
            </a:pPr>
            <a:r>
              <a:rPr sz="700" b="1">
                <a:solidFill>
                  <a:srgbClr val="EA580C"/>
                </a:solidFill>
                <a:latin typeface="Malgun Gothic"/>
              </a:rPr>
              <a:t>● </a:t>
            </a:r>
            <a:r>
              <a:rPr sz="900">
                <a:solidFill>
                  <a:srgbClr val="334155"/>
                </a:solidFill>
                <a:latin typeface="Malgun Gothic"/>
              </a:rPr>
              <a:t>다락원 마스터 시리즈(1~6, HSK 1~6)와 단원을 선택해요.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화면의 문장(한자 + 병음)을 따라 읽고, ‘원어민 발음 듣기’로 비교해요.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반복·느리게(0.85x) 기능으로 어려운 발음·성조를 연습해요.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한자와 병음(발음 표기)이 함께 나와 읽기 쉬워요.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AI가 음성을 인식해 원어민과 비교해줘요.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학습 게임 허브에서도 중국어를 지원해요.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느리게로 듣고 또박또박 따라 하면 성조(4성)가 잘 잡혀요.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51252" y="2670048"/>
            <a:ext cx="13697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335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335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635300" y="2670048"/>
            <a:ext cx="9491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중국어</a:t>
            </a:r>
          </a:p>
        </p:txBody>
      </p:sp>
      <p:sp>
        <p:nvSpPr>
          <p:cNvPr id="26" name="TextBox 25"/>
          <p:cNvSpPr txBox="1"/>
          <p:nvPr/>
        </p:nvSpPr>
        <p:spPr>
          <a:xfrm>
            <a:off x="362102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803903"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8619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861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18795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다락원 마스터 시리…</a:t>
            </a:r>
          </a:p>
        </p:txBody>
      </p:sp>
      <p:sp>
        <p:nvSpPr>
          <p:cNvPr id="31" name="TextBox 30"/>
          <p:cNvSpPr txBox="1"/>
          <p:nvPr/>
        </p:nvSpPr>
        <p:spPr>
          <a:xfrm>
            <a:off x="603138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214262" y="2670048"/>
            <a:ext cx="15270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965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65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98310" y="2670048"/>
            <a:ext cx="11064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한자 + 병음</a:t>
            </a:r>
          </a:p>
        </p:txBody>
      </p:sp>
      <p:sp>
        <p:nvSpPr>
          <p:cNvPr id="36" name="TextBox 35"/>
          <p:cNvSpPr txBox="1"/>
          <p:nvPr/>
        </p:nvSpPr>
        <p:spPr>
          <a:xfrm>
            <a:off x="774131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924190" y="2670048"/>
            <a:ext cx="20135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0648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064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08238"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반복·느리게(0.8…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화상수업을 ‘나가기’ 로 종료하면 코칭 카드가 자동으로 떠요.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한국어 / 🇺🇸 English 토글로 원하는 언어로 볼 수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참여도·발화비율·칭찬 횟수 요약과 잘한 점·개선점·실천 1가지를 확인해요.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5154930"/>
            <a:ext cx="5669280" cy="121889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447538"/>
            <a:ext cx="5394960" cy="88971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원어민 강사를 위해 영어가 기본, 한국어도 함께 제공돼요.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수업 품질 점수(0~100) 와 상세 총평으로 스스로 성장 포인트를 잡을 수 있어요.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AI가 잠시 느려도 양쪽 언어 기본 코칭은 항상 제공돼요.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코칭은 강사 본인의 성장을 돕기 위한 것이에요. 관리자에게는 월 누적 요약만 전달돼요.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37283" y="2670048"/>
            <a:ext cx="142646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1957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195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21331" y="2670048"/>
            <a:ext cx="100583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‘나가기’</a:t>
            </a:r>
          </a:p>
        </p:txBody>
      </p:sp>
      <p:sp>
        <p:nvSpPr>
          <p:cNvPr id="28" name="TextBox 27"/>
          <p:cNvSpPr txBox="1"/>
          <p:nvPr/>
        </p:nvSpPr>
        <p:spPr>
          <a:xfrm>
            <a:off x="346374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646627" y="2670048"/>
            <a:ext cx="208483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2892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289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30675"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한국어 / 🇺…</a:t>
            </a:r>
          </a:p>
        </p:txBody>
      </p:sp>
      <p:sp>
        <p:nvSpPr>
          <p:cNvPr id="33" name="TextBox 32"/>
          <p:cNvSpPr txBox="1"/>
          <p:nvPr/>
        </p:nvSpPr>
        <p:spPr>
          <a:xfrm>
            <a:off x="573145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914339"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9663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966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98387"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참여도·발화비율·칭…</a:t>
            </a:r>
          </a:p>
        </p:txBody>
      </p:sp>
      <p:sp>
        <p:nvSpPr>
          <p:cNvPr id="38" name="TextBox 37"/>
          <p:cNvSpPr txBox="1"/>
          <p:nvPr/>
        </p:nvSpPr>
        <p:spPr>
          <a:xfrm>
            <a:off x="814181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8324697" y="2670048"/>
            <a:ext cx="18269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0699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069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708745"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‘전체 리포트’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탭 동기화 (내 화면 그대로 학생에게)</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탭을 바꾸면 학생 화면도 함께</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중 교사가 칠판 → 동영상 → 복습퀴즈 처럼 상단 탭을 바꾸면, 학생 화면도 자동으로 같은 탭으로 넘어가요. “○○ 탭 눌러보세요”라고 말로 안내할 필요 없이, 수업 흐름을 교사가 그대로 끌고 갈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32941"/>
          </a:xfrm>
          <a:prstGeom prst="rect">
            <a:avLst/>
          </a:prstGeom>
          <a:noFill/>
        </p:spPr>
        <p:txBody>
          <a:bodyPr wrap="square">
            <a:spAutoFit/>
          </a:bodyPr>
          <a:lstStyle/>
          <a:p>
            <a:pPr>
              <a:lnSpc>
                <a:spcPct val="115000"/>
              </a:lnSpc>
              <a:spcAft>
                <a:spcPts val="300"/>
              </a:spcAft>
            </a:pPr>
            <a:r>
              <a:rPr sz="850" b="1">
                <a:solidFill>
                  <a:srgbClr val="EA580C"/>
                </a:solidFill>
                <a:latin typeface="Malgun Gothic"/>
              </a:rPr>
              <a:t>● </a:t>
            </a:r>
            <a:r>
              <a:rPr sz="1050">
                <a:solidFill>
                  <a:srgbClr val="334155"/>
                </a:solidFill>
                <a:latin typeface="Malgun Gothic"/>
              </a:rPr>
              <a:t>평소처럼 상단 탭(칠판·동영상·학생게임·배경화면·AI웜업·복습퀴즈)을 바꿔요.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학생 화면이 자동으로 같은 탭으로 전환되는 걸 확인해요.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교재·파일 공유도 마찬가지로 학생에게 그대로 반영돼요.</a:t>
            </a:r>
          </a:p>
        </p:txBody>
      </p:sp>
      <p:sp>
        <p:nvSpPr>
          <p:cNvPr id="14" name="Rounded Rectangle 13"/>
          <p:cNvSpPr/>
          <p:nvPr/>
        </p:nvSpPr>
        <p:spPr>
          <a:xfrm>
            <a:off x="457200" y="4973421"/>
            <a:ext cx="5669280" cy="8691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1914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66029"/>
            <a:ext cx="5394960" cy="539953"/>
          </a:xfrm>
          <a:prstGeom prst="rect">
            <a:avLst/>
          </a:prstGeom>
          <a:noFill/>
        </p:spPr>
        <p:txBody>
          <a:bodyPr wrap="square">
            <a:spAutoFit/>
          </a:bodyPr>
          <a:lstStyle/>
          <a:p>
            <a:pPr>
              <a:lnSpc>
                <a:spcPct val="115000"/>
              </a:lnSpc>
              <a:spcAft>
                <a:spcPts val="100"/>
              </a:spcAft>
            </a:pPr>
            <a:r>
              <a:rPr sz="750" b="1">
                <a:solidFill>
                  <a:srgbClr val="EA580C"/>
                </a:solidFill>
                <a:latin typeface="Malgun Gothic"/>
              </a:rPr>
              <a:t>● </a:t>
            </a:r>
            <a:r>
              <a:rPr sz="950">
                <a:solidFill>
                  <a:srgbClr val="334155"/>
                </a:solidFill>
                <a:latin typeface="Malgun Gothic"/>
              </a:rPr>
              <a:t>저학년 학생도 버튼을 못 찾아 헤매는 일 없이 따라와요.</a:t>
            </a:r>
          </a:p>
          <a:p>
            <a:pPr>
              <a:lnSpc>
                <a:spcPct val="115000"/>
              </a:lnSpc>
              <a:spcAft>
                <a:spcPts val="100"/>
              </a:spcAft>
            </a:pPr>
            <a:r>
              <a:rPr sz="750" b="1">
                <a:solidFill>
                  <a:srgbClr val="EA580C"/>
                </a:solidFill>
                <a:latin typeface="Malgun Gothic"/>
              </a:rPr>
              <a:t>● </a:t>
            </a:r>
            <a:r>
              <a:rPr sz="950">
                <a:solidFill>
                  <a:srgbClr val="334155"/>
                </a:solidFill>
                <a:latin typeface="Malgun Gothic"/>
              </a:rPr>
              <a:t>수업 리듬이 끊기지 않아 진행 속도가 빨라져요.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동기화는 수업방에 함께 있는 동안 동작해요. 화면이 안 따라오면 학생에게 재입장을 안내하세요.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동영상·퀴즈로 넘어가기 전에 한마디 예고해 주면 학생이 덜 놀라요.</a:t>
            </a:r>
          </a:p>
        </p:txBody>
      </p:sp>
      <p:sp>
        <p:nvSpPr>
          <p:cNvPr id="21" name="Rectangle 20"/>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798942" y="3310128"/>
            <a:ext cx="4598675"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1955"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2425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42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26003"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평소처럼 상단 탭(…</a:t>
            </a:r>
          </a:p>
        </p:txBody>
      </p:sp>
      <p:sp>
        <p:nvSpPr>
          <p:cNvPr id="28" name="TextBox 27"/>
          <p:cNvSpPr txBox="1"/>
          <p:nvPr/>
        </p:nvSpPr>
        <p:spPr>
          <a:xfrm>
            <a:off x="499811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5180990"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6328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632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56503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자동으로 같은 탭</a:t>
            </a:r>
          </a:p>
        </p:txBody>
      </p:sp>
      <p:sp>
        <p:nvSpPr>
          <p:cNvPr id="33" name="TextBox 32"/>
          <p:cNvSpPr txBox="1"/>
          <p:nvPr/>
        </p:nvSpPr>
        <p:spPr>
          <a:xfrm>
            <a:off x="709391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7276795" y="2670048"/>
            <a:ext cx="20702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3590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590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660843"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교재·파일 공유도…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개별 채팅 &amp; 파일 보내기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학생에게만 보이는 귓속말 + 모든 파일 공유</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채팅에 1:1 개별 채팅(DM) 이 생겼어요. 특정 학생에게만 보이는 메시지를 보낼 수 있고, PDF·이미지·문서 등 어떤 파일이든 채팅으로 공유하면 상대방 화면에 다운로드 카드로 떠요.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하단 독의 💬 채팅을 열어요.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받는 사람을 전체에서 학생 이름으로 바꾸면 1:1 귓속말이 돼요.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파일 버튼으로 PDF·사진·문서를 올리면 상대 화면에 다운로드 카드가 생겨요.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받은 파일은 카드의 ⬇ 저장을 눌러 내려받아요.</a:t>
            </a:r>
          </a:p>
        </p:txBody>
      </p:sp>
      <p:sp>
        <p:nvSpPr>
          <p:cNvPr id="14" name="Rounded Rectangle 13"/>
          <p:cNvSpPr/>
          <p:nvPr/>
        </p:nvSpPr>
        <p:spPr>
          <a:xfrm>
            <a:off x="457200" y="4994452"/>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개별 채팅은 당사자끼리만 보여요.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숙제 파일·오답 정리 등 수업 자료 주고받기가 한 번에 끝나요.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개별 채팅 내용은 서버에 저장되지 않아 수업이 끝나면 사라져요. 중요한 내용은 파일로 보관하세요.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중 궁금한 걸 다른 친구 방해 없이 조용히 물어볼 때 딱 좋아요.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45789"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2808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280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29837"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채팅</a:t>
            </a:r>
          </a:p>
        </p:txBody>
      </p:sp>
      <p:sp>
        <p:nvSpPr>
          <p:cNvPr id="28" name="TextBox 27"/>
          <p:cNvSpPr txBox="1"/>
          <p:nvPr/>
        </p:nvSpPr>
        <p:spPr>
          <a:xfrm>
            <a:off x="454365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726533"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8088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088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110581"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전체</a:t>
            </a:r>
          </a:p>
        </p:txBody>
      </p:sp>
      <p:sp>
        <p:nvSpPr>
          <p:cNvPr id="33" name="TextBox 32"/>
          <p:cNvSpPr txBox="1"/>
          <p:nvPr/>
        </p:nvSpPr>
        <p:spPr>
          <a:xfrm>
            <a:off x="56811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864047" y="2670048"/>
            <a:ext cx="15983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463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463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48095" y="2670048"/>
            <a:ext cx="11777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파일 버튼</a:t>
            </a:r>
          </a:p>
        </p:txBody>
      </p:sp>
      <p:sp>
        <p:nvSpPr>
          <p:cNvPr id="38" name="TextBox 37"/>
          <p:cNvSpPr txBox="1"/>
          <p:nvPr/>
        </p:nvSpPr>
        <p:spPr>
          <a:xfrm>
            <a:off x="746241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645298"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72759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275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029346"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저장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연기·변경 요청하기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사정이 생기면 사이트에서 바로 제출</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갑자기 사정이 생겼을 때, 이제 사이트에서 직접 수업 연기·시간 변경을 요청할 수 있어요. 제출한 요청은 관리자에게 실시간으로 전달되고, 승인되면 스케줄에 자동 반영돼요.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32941"/>
          </a:xfrm>
          <a:prstGeom prst="rect">
            <a:avLst/>
          </a:prstGeom>
          <a:noFill/>
        </p:spPr>
        <p:txBody>
          <a:bodyPr wrap="square">
            <a:spAutoFit/>
          </a:bodyPr>
          <a:lstStyle/>
          <a:p>
            <a:pPr>
              <a:lnSpc>
                <a:spcPct val="115000"/>
              </a:lnSpc>
              <a:spcAft>
                <a:spcPts val="300"/>
              </a:spcAft>
            </a:pPr>
            <a:r>
              <a:rPr sz="850" b="1">
                <a:solidFill>
                  <a:srgbClr val="EA580C"/>
                </a:solidFill>
                <a:latin typeface="Malgun Gothic"/>
              </a:rPr>
              <a:t>● </a:t>
            </a:r>
            <a:r>
              <a:rPr sz="1050">
                <a:solidFill>
                  <a:srgbClr val="334155"/>
                </a:solidFill>
                <a:latin typeface="Malgun Gothic"/>
              </a:rPr>
              <a:t>마이페이지의 수업 일정에서 해당 수업을 골라요.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연기/변경 요청 버튼을 누르고 사유와 희망 시간을 적어요.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제출하면 관리자 승인 후 스케줄에 자동 반영돼요. 처리 상태도 확인할 수 있어요.</a:t>
            </a:r>
          </a:p>
        </p:txBody>
      </p:sp>
      <p:sp>
        <p:nvSpPr>
          <p:cNvPr id="14" name="Rounded Rectangle 13"/>
          <p:cNvSpPr/>
          <p:nvPr/>
        </p:nvSpPr>
        <p:spPr>
          <a:xfrm>
            <a:off x="457200" y="4973421"/>
            <a:ext cx="5669280" cy="8691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1914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66029"/>
            <a:ext cx="5394960" cy="539953"/>
          </a:xfrm>
          <a:prstGeom prst="rect">
            <a:avLst/>
          </a:prstGeom>
          <a:noFill/>
        </p:spPr>
        <p:txBody>
          <a:bodyPr wrap="square">
            <a:spAutoFit/>
          </a:bodyPr>
          <a:lstStyle/>
          <a:p>
            <a:pPr>
              <a:lnSpc>
                <a:spcPct val="115000"/>
              </a:lnSpc>
              <a:spcAft>
                <a:spcPts val="100"/>
              </a:spcAft>
            </a:pPr>
            <a:r>
              <a:rPr sz="750" b="1">
                <a:solidFill>
                  <a:srgbClr val="EA580C"/>
                </a:solidFill>
                <a:latin typeface="Malgun Gothic"/>
              </a:rPr>
              <a:t>● </a:t>
            </a:r>
            <a:r>
              <a:rPr sz="950">
                <a:solidFill>
                  <a:srgbClr val="334155"/>
                </a:solidFill>
                <a:latin typeface="Malgun Gothic"/>
              </a:rPr>
              <a:t>전화·메신저 없이 기록이 남는 공식 요청으로 처리돼요.</a:t>
            </a:r>
          </a:p>
          <a:p>
            <a:pPr>
              <a:lnSpc>
                <a:spcPct val="115000"/>
              </a:lnSpc>
              <a:spcAft>
                <a:spcPts val="100"/>
              </a:spcAft>
            </a:pPr>
            <a:r>
              <a:rPr sz="750" b="1">
                <a:solidFill>
                  <a:srgbClr val="EA580C"/>
                </a:solidFill>
                <a:latin typeface="Malgun Gothic"/>
              </a:rPr>
              <a:t>● </a:t>
            </a:r>
            <a:r>
              <a:rPr sz="950">
                <a:solidFill>
                  <a:srgbClr val="334155"/>
                </a:solidFill>
                <a:latin typeface="Malgun Gothic"/>
              </a:rPr>
              <a:t>승인 전까지는 기존 일정이 유지되니 미리(가급적 하루 전) 요청하세요.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임박한 변경은 학생·학부모 안내 시간이 필요해요. 급한 경우 고객센터에도 함께 알려주세요.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희망 시간을 2~3개 적어주면 승인이 훨씬 빨라져요.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21100"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0339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33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05148"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일정</a:t>
            </a:r>
          </a:p>
        </p:txBody>
      </p:sp>
      <p:sp>
        <p:nvSpPr>
          <p:cNvPr id="28" name="TextBox 27"/>
          <p:cNvSpPr txBox="1"/>
          <p:nvPr/>
        </p:nvSpPr>
        <p:spPr>
          <a:xfrm>
            <a:off x="467624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859121"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94141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414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243169"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연기/변경 요청</a:t>
            </a:r>
          </a:p>
        </p:txBody>
      </p:sp>
      <p:sp>
        <p:nvSpPr>
          <p:cNvPr id="33" name="TextBox 32"/>
          <p:cNvSpPr txBox="1"/>
          <p:nvPr/>
        </p:nvSpPr>
        <p:spPr>
          <a:xfrm>
            <a:off x="661476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797649" y="2670048"/>
            <a:ext cx="20702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7994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99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181697"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스케줄에 자동 반영</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수업료 정산 확인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이번 달 수업·정산 내역을 내가 직접</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마이페이지의 🧾 정산 탭에서 이번 달 내 수업 횟수와 수업료 정산 내역을 직접 확인할 수 있어요. 정산 내역은 본인 것만 보이도록 보호되고, 월별로 지난 내역도 다시 볼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마이페이지에서 🧾 정산 탭을 열어요.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이번 달 수업 수·정산 금액을 확인해요.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월을 바꿔 지난 달 내역도 조회할 수 있어요.</a:t>
            </a:r>
          </a:p>
        </p:txBody>
      </p:sp>
      <p:sp>
        <p:nvSpPr>
          <p:cNvPr id="14" name="Rounded Rectangle 13"/>
          <p:cNvSpPr/>
          <p:nvPr/>
        </p:nvSpPr>
        <p:spPr>
          <a:xfrm>
            <a:off x="457200" y="4839690"/>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정산 내역은 본인만 열람할 수 있어 안전해요.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수업 기록과 정산이 자동으로 연결돼 누락 걱정이 없어요.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내역이 실제와 다르면 스스로 고치지 말고 관리자(본사)에게 문의하세요.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매월 초에 지난달 내역을 한 번 훑어보는 습관을 들이세요.</a:t>
            </a:r>
          </a:p>
        </p:txBody>
      </p:sp>
      <p:sp>
        <p:nvSpPr>
          <p:cNvPr id="21" name="Rectangle 20"/>
          <p:cNvSpPr/>
          <p:nvPr/>
        </p:nvSpPr>
        <p:spPr>
          <a:xfrm>
            <a:off x="6300216" y="426900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323865"/>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71062"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533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533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55110"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정산</a:t>
            </a:r>
          </a:p>
        </p:txBody>
      </p:sp>
      <p:sp>
        <p:nvSpPr>
          <p:cNvPr id="28" name="TextBox 27"/>
          <p:cNvSpPr txBox="1"/>
          <p:nvPr/>
        </p:nvSpPr>
        <p:spPr>
          <a:xfrm>
            <a:off x="46689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851806" y="2670048"/>
            <a:ext cx="208483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9341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41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235854"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이번 달 수업 수·…</a:t>
            </a:r>
          </a:p>
        </p:txBody>
      </p:sp>
      <p:sp>
        <p:nvSpPr>
          <p:cNvPr id="33" name="TextBox 32"/>
          <p:cNvSpPr txBox="1"/>
          <p:nvPr/>
        </p:nvSpPr>
        <p:spPr>
          <a:xfrm>
            <a:off x="693663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7119518" y="2670048"/>
            <a:ext cx="15983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0181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018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03566" y="2670048"/>
            <a:ext cx="11777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지난 달 내역</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통제 3종 (집중 · 배경 잠금 · 이탈 방지)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중 딴짓·실수 이탈을 줄여요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수업에 집중할 수 있도록 교사가 켜고 끄는 통제 기능 세 가지가 생겼어요. 집중 모드는 학생이 수업 중 다른 화면으로 새는 것을 막고, 배경 잠금은 학생이 배경화면·꾸미기를 계속 바꾸는 것을 잠급니다. 이탈 방지는 학생이 실수로 뒤로 가기를 눌러 수업에서 나가는 것을 한 번 잡아 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수업 화면 하단 독에서 ⚙️ 설정을 열어요.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집중 모드를 켜면 학생 화면이 수업에 고정돼요.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배경 잠금을 켜면 학생이 배경·얼굴 꾸미기를 바꿀 수 없어요.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이탈 방지는 켜 두면 학생이 뒤로 가기를 눌러도 정말 나갈지 한 번 물어봐요.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수업이 끝나면 세 가지 모두 자동으로 풀립니다.</a:t>
            </a:r>
          </a:p>
        </p:txBody>
      </p:sp>
      <p:sp>
        <p:nvSpPr>
          <p:cNvPr id="14" name="Rounded Rectangle 13"/>
          <p:cNvSpPr/>
          <p:nvPr/>
        </p:nvSpPr>
        <p:spPr>
          <a:xfrm>
            <a:off x="457200" y="5282946"/>
            <a:ext cx="5669280" cy="121889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575554"/>
            <a:ext cx="5394960" cy="88971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학생이 수업 중 잠깐 끊겨도 수업은 종료되지 않아요 — 되돌아오면 그대로 이어집니다.</a:t>
            </a:r>
          </a:p>
          <a:p>
            <a:pPr>
              <a:lnSpc>
                <a:spcPct val="115000"/>
              </a:lnSpc>
              <a:spcAft>
                <a:spcPts val="100"/>
              </a:spcAft>
            </a:pPr>
            <a:r>
              <a:rPr sz="650" b="1">
                <a:solidFill>
                  <a:srgbClr val="EA580C"/>
                </a:solidFill>
                <a:latin typeface="Malgun Gothic"/>
              </a:rPr>
              <a:t>● </a:t>
            </a:r>
            <a:r>
              <a:rPr sz="850">
                <a:solidFill>
                  <a:srgbClr val="334155"/>
                </a:solidFill>
                <a:latin typeface="Malgun Gothic"/>
              </a:rPr>
              <a:t>무단 결석은 자동으로 집계돼 관리자 화면에 남아요.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저학년 수업에서 특히 효과가 큽니다.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통제 기능은 학생을 벌주는 도구가 아니라 집중을 돕는 도구입니다. 수업 시작 때 학생에게 한 번 설명해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산만한 학생만 골라 켜는 것보다, 첫 수업부터 기본으로 켜 두는 편이 자연스럽습니다.</a:t>
            </a:r>
          </a:p>
        </p:txBody>
      </p:sp>
      <p:sp>
        <p:nvSpPr>
          <p:cNvPr id="21" name="Rectangle 20"/>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798942" y="3310128"/>
            <a:ext cx="4598675"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3333"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656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656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67381"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설정</a:t>
            </a:r>
          </a:p>
        </p:txBody>
      </p:sp>
      <p:sp>
        <p:nvSpPr>
          <p:cNvPr id="28" name="TextBox 27"/>
          <p:cNvSpPr txBox="1"/>
          <p:nvPr/>
        </p:nvSpPr>
        <p:spPr>
          <a:xfrm>
            <a:off x="333847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521354"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0365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036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90540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집중 모드</a:t>
            </a:r>
          </a:p>
        </p:txBody>
      </p:sp>
      <p:sp>
        <p:nvSpPr>
          <p:cNvPr id="33" name="TextBox 32"/>
          <p:cNvSpPr txBox="1"/>
          <p:nvPr/>
        </p:nvSpPr>
        <p:spPr>
          <a:xfrm>
            <a:off x="487649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059375"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416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416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44342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배경 잠금</a:t>
            </a:r>
          </a:p>
        </p:txBody>
      </p:sp>
      <p:sp>
        <p:nvSpPr>
          <p:cNvPr id="38" name="TextBox 37"/>
          <p:cNvSpPr txBox="1"/>
          <p:nvPr/>
        </p:nvSpPr>
        <p:spPr>
          <a:xfrm>
            <a:off x="641451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6597396"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67969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9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981444"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이탈 방지</a:t>
            </a:r>
          </a:p>
        </p:txBody>
      </p:sp>
      <p:sp>
        <p:nvSpPr>
          <p:cNvPr id="43" name="TextBox 42"/>
          <p:cNvSpPr txBox="1"/>
          <p:nvPr/>
        </p:nvSpPr>
        <p:spPr>
          <a:xfrm>
            <a:off x="795253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135416" y="2670048"/>
            <a:ext cx="20702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21771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177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519464"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수업이 끝나면 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PDF — 필기 이어가기 · 빠른 페이지 이동</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페이지를 넘겨도 필기가 남아요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교재 PDF에 쓴 필기가 페이지를 넘겼다 돌아와도 그대로 남습니다. 페이지 이동도 ◀ ▶ 버튼과 페이지 번호 입력으로 빨라졌고, 오래된 기기나 회선이 느릴 때를 위한 가벼운 모드가 생겨 넘김이 부드러워졌어요.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상단 탭에서 교재를 열고 PDF를 띄워요.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필기도구로 밑줄·동그라미를 그려요.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 로 페이지를 넘기거나 페이지 번호를 직접 입력해 이동해요.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앞 페이지로 돌아가면 아까 쓴 필기가 그대로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화면이 느리면 가벼운 모드를 켜세요.</a:t>
            </a:r>
          </a:p>
        </p:txBody>
      </p:sp>
      <p:sp>
        <p:nvSpPr>
          <p:cNvPr id="14" name="Rounded Rectangle 13"/>
          <p:cNvSpPr/>
          <p:nvPr/>
        </p:nvSpPr>
        <p:spPr>
          <a:xfrm>
            <a:off x="457200" y="5282946"/>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575554"/>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필기는 페이지별로 따로 저장돼 섞이지 않아요.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가벼운 모드는 화질을 조금 낮추는 대신 넘김이 훨씬 부드러워요.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학생 화면에도 같은 페이지·같은 필기가 그대로 보여요.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전에 자주 쓸 페이지 번호를 적어 두면 이동이 빨라집니다.</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62225"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445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445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646273"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a:t>
            </a:r>
          </a:p>
        </p:txBody>
      </p:sp>
      <p:sp>
        <p:nvSpPr>
          <p:cNvPr id="26" name="TextBox 25"/>
          <p:cNvSpPr txBox="1"/>
          <p:nvPr/>
        </p:nvSpPr>
        <p:spPr>
          <a:xfrm>
            <a:off x="321685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399739" y="2670048"/>
            <a:ext cx="12691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8203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0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783787"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필기도구</a:t>
            </a:r>
          </a:p>
        </p:txBody>
      </p:sp>
      <p:sp>
        <p:nvSpPr>
          <p:cNvPr id="31" name="TextBox 30"/>
          <p:cNvSpPr txBox="1"/>
          <p:nvPr/>
        </p:nvSpPr>
        <p:spPr>
          <a:xfrm>
            <a:off x="46689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4851806" y="2670048"/>
            <a:ext cx="10405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9341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41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235854" y="2670048"/>
            <a:ext cx="6199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t>
            </a:r>
          </a:p>
        </p:txBody>
      </p:sp>
      <p:sp>
        <p:nvSpPr>
          <p:cNvPr id="36" name="TextBox 35"/>
          <p:cNvSpPr txBox="1"/>
          <p:nvPr/>
        </p:nvSpPr>
        <p:spPr>
          <a:xfrm>
            <a:off x="589239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075273"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15756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75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459321"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아까 쓴 필기가 그…</a:t>
            </a:r>
          </a:p>
        </p:txBody>
      </p:sp>
      <p:sp>
        <p:nvSpPr>
          <p:cNvPr id="41" name="TextBox 40"/>
          <p:cNvSpPr txBox="1"/>
          <p:nvPr/>
        </p:nvSpPr>
        <p:spPr>
          <a:xfrm>
            <a:off x="823142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414308"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660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66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8356"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가벼운 모드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인터넷이 느릴 때 자동으로 버텨요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영상은 잠시 접어도 목소리는 끊기지 않게</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회선이 나빠지면 시스템이 스스로 화질을 낮추고, 그래도 힘들면 목소리 중심(오디오 전용) 모드로 자동 전환해 수업이 끊기지 않게 버팁니다. 회선이 회복되면 영상이 다시 돌아옵니다. 필리핀 현지처럼 회선이 불안정한 환경을 염두에 둔 기능이에요.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특별히 누를 것은 없어요 — 자동으로 동작합니다.</a:t>
            </a:r>
          </a:p>
          <a:p>
            <a:pPr>
              <a:lnSpc>
                <a:spcPct val="115000"/>
              </a:lnSpc>
              <a:spcAft>
                <a:spcPts val="300"/>
              </a:spcAft>
            </a:pPr>
            <a:r>
              <a:rPr sz="700" b="1">
                <a:solidFill>
                  <a:srgbClr val="EA580C"/>
                </a:solidFill>
                <a:latin typeface="Malgun Gothic"/>
              </a:rPr>
              <a:t>● </a:t>
            </a:r>
            <a:r>
              <a:rPr sz="900">
                <a:solidFill>
                  <a:srgbClr val="334155"/>
                </a:solidFill>
                <a:latin typeface="Malgun Gothic"/>
              </a:rPr>
              <a:t>화면이 흐려지거나 영상이 잠시 멈추면 목소리에 집중해 수업을 이어가세요.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회선이 좋아지면 영상이 저절로 돌아옵니다.</a:t>
            </a:r>
          </a:p>
          <a:p>
            <a:pPr>
              <a:lnSpc>
                <a:spcPct val="115000"/>
              </a:lnSpc>
              <a:spcAft>
                <a:spcPts val="300"/>
              </a:spcAft>
            </a:pPr>
            <a:r>
              <a:rPr sz="700" b="1">
                <a:solidFill>
                  <a:srgbClr val="EA580C"/>
                </a:solidFill>
                <a:latin typeface="Malgun Gothic"/>
              </a:rPr>
              <a:t>● </a:t>
            </a:r>
            <a:r>
              <a:rPr sz="900">
                <a:solidFill>
                  <a:srgbClr val="334155"/>
                </a:solidFill>
                <a:latin typeface="Malgun Gothic"/>
              </a:rPr>
              <a:t>계속 불안정하면 학생에게 와이파이 가까이 이동을 안내해 주세요.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목소리를 가장 마지막까지 지킵니다 — 수업은 말로 이어질 수 있어요.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잠깐 끊긴 것만으로 수업이 자동 종료되지 않아요.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상대 화면이 검게 멈추면 스스로 복구를 시도합니다.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90초 넘게 돌아오지 않으면 안내 카드가 뜹니다. 그때 학생에게 연락해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영상이 자주 끊기는 학생은 수업 전 장비 점검 화면을 한 번 돌려 보게 하세요.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44598"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2689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26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28646"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자동으로 동작</a:t>
            </a:r>
          </a:p>
        </p:txBody>
      </p:sp>
      <p:sp>
        <p:nvSpPr>
          <p:cNvPr id="28" name="TextBox 27"/>
          <p:cNvSpPr txBox="1"/>
          <p:nvPr/>
        </p:nvSpPr>
        <p:spPr>
          <a:xfrm>
            <a:off x="371429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897172"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97946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794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281220"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목소리에 집중</a:t>
            </a:r>
          </a:p>
        </p:txBody>
      </p:sp>
      <p:sp>
        <p:nvSpPr>
          <p:cNvPr id="33" name="TextBox 32"/>
          <p:cNvSpPr txBox="1"/>
          <p:nvPr/>
        </p:nvSpPr>
        <p:spPr>
          <a:xfrm>
            <a:off x="55668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749747" y="2670048"/>
            <a:ext cx="19842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320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320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133795" y="2670048"/>
            <a:ext cx="15636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저절로 돌아옵니다</a:t>
            </a:r>
          </a:p>
        </p:txBody>
      </p:sp>
      <p:sp>
        <p:nvSpPr>
          <p:cNvPr id="38" name="TextBox 37"/>
          <p:cNvSpPr txBox="1"/>
          <p:nvPr/>
        </p:nvSpPr>
        <p:spPr>
          <a:xfrm>
            <a:off x="773399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916875"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991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991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00923"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와이파이 가까이 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판단력 훈련 함께하기 (수업 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학생의 판단 과정을 수업 자료로</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학생이 푸는 판단력 훈련을 수업에서 함께 쓰면 좋습니다. 학생이 고른 답과 그렇게 고른 이유가 그대로 남기 때문에, 단순 정오답이 아니라 왜 그렇게 생각했는지를 짚어 줄 수 있어요. 수업 중 학생의 판단이 기록되면 성장 지표에도 반영됩니다.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수업 중 학생에게 🧠 판단력 훈련을 열게 하고 한 문제를 함께 풀어요.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학생이 고른 보기와 적은 이유를 소리 내어 읽게 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왜 다른 보기가 덜 어울리는지 상대·말투·상황 기준으로 설명해 줘요.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수업이 끝나면 학생 리포트에서 판단력 지수 변화를 확인해요.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보기마다 부분 점수가 있어 완전 오답이 아니면 인정돼요 — 학생이 위축되지 않아요.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최근 답변에 더 큰 가중치가 붙어, 최근에 좋아진 학생은 지수도 빨리 올라가요.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틀린 뒤 다음 문제를 잘 푸는 회복형 학생이 따로 잡혀요.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“왜 그렇게 생각했어요?”를 영어로 묻고 한국어로 답하게 해도 좋습니다. 판단 과정이 먼저입니다.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judgmen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430475" y="2670048"/>
            <a:ext cx="17556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1277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127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14523" y="2670048"/>
            <a:ext cx="13350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판단력 훈련</a:t>
            </a:r>
          </a:p>
        </p:txBody>
      </p:sp>
      <p:sp>
        <p:nvSpPr>
          <p:cNvPr id="26" name="TextBox 25"/>
          <p:cNvSpPr txBox="1"/>
          <p:nvPr/>
        </p:nvSpPr>
        <p:spPr>
          <a:xfrm>
            <a:off x="418612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369003"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5129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512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53051"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적은 이유</a:t>
            </a:r>
          </a:p>
        </p:txBody>
      </p:sp>
      <p:sp>
        <p:nvSpPr>
          <p:cNvPr id="31" name="TextBox 30"/>
          <p:cNvSpPr txBox="1"/>
          <p:nvPr/>
        </p:nvSpPr>
        <p:spPr>
          <a:xfrm>
            <a:off x="572414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907024"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893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893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291072"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상대·말투·상황</a:t>
            </a:r>
          </a:p>
        </p:txBody>
      </p:sp>
      <p:sp>
        <p:nvSpPr>
          <p:cNvPr id="36" name="TextBox 35"/>
          <p:cNvSpPr txBox="1"/>
          <p:nvPr/>
        </p:nvSpPr>
        <p:spPr>
          <a:xfrm>
            <a:off x="766267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845551"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2784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78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29599"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판단력 지수 변화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지난 수업 녹화 다시보기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녹화된 수업을 그 자리에서 재생</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중 REC 로 녹화한 영상을 나중에 관리 화면에서 바로 재생할 수 있습니다. 내려받지 않아도 클릭 한 번으로 재생되고, 다시 로그인하라는 화면이 뜨던 문제도 해결했어요.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수업 중 상단의 REC 를 눌러 녹화해요.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수업이 끝나면 수업 기록 / 녹화 목록에서 해당 수업을 찾아요.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재생을 눌러 그 자리에서 확인해요.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학부모 공유가 필요하면 관리자에게 요청하세요.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재생 중 로그인 화면으로 튕기지 않아요.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녹화 파일은 서버에 보관되며 용량 정책에 따라 정리됩니다.</a:t>
            </a:r>
          </a:p>
          <a:p>
            <a:pPr>
              <a:lnSpc>
                <a:spcPct val="115000"/>
              </a:lnSpc>
              <a:spcAft>
                <a:spcPts val="100"/>
              </a:spcAft>
            </a:pPr>
            <a:r>
              <a:rPr sz="650" b="1">
                <a:solidFill>
                  <a:srgbClr val="EA580C"/>
                </a:solidFill>
                <a:latin typeface="Malgun Gothic"/>
              </a:rPr>
              <a:t>● </a:t>
            </a:r>
            <a:r>
              <a:rPr sz="850">
                <a:solidFill>
                  <a:srgbClr val="334155"/>
                </a:solidFill>
                <a:latin typeface="Malgun Gothic"/>
              </a:rPr>
              <a:t>학생 얼굴이 담기므로 외부 공유는 금지입니다.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녹화는 학생·학부모 동의가 있는 경우에만 사용하세요.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후 자기 수업을 5분만 돌려 보면 말 속도·질문 비율이 눈에 띄게 개선됩니다.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lessons.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94990"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97728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72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279038"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a:t>
            </a:r>
          </a:p>
        </p:txBody>
      </p:sp>
      <p:sp>
        <p:nvSpPr>
          <p:cNvPr id="28" name="TextBox 27"/>
          <p:cNvSpPr txBox="1"/>
          <p:nvPr/>
        </p:nvSpPr>
        <p:spPr>
          <a:xfrm>
            <a:off x="379293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975811" y="2670048"/>
            <a:ext cx="19275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05810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581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359859" y="2670048"/>
            <a:ext cx="15069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기록 / 녹화</a:t>
            </a:r>
          </a:p>
        </p:txBody>
      </p:sp>
      <p:sp>
        <p:nvSpPr>
          <p:cNvPr id="33" name="TextBox 32"/>
          <p:cNvSpPr txBox="1"/>
          <p:nvPr/>
        </p:nvSpPr>
        <p:spPr>
          <a:xfrm>
            <a:off x="590336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86246"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6854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685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70294"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재생</a:t>
            </a:r>
          </a:p>
        </p:txBody>
      </p:sp>
      <p:sp>
        <p:nvSpPr>
          <p:cNvPr id="38" name="TextBox 37"/>
          <p:cNvSpPr txBox="1"/>
          <p:nvPr/>
        </p:nvSpPr>
        <p:spPr>
          <a:xfrm>
            <a:off x="728411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466990" y="2670048"/>
            <a:ext cx="182697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54928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92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851038"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관리자에게 요청</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계정 관리 (비밀번호 · 화면 언어)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비밀번호를 잊었을 때 · 영어 화면 설정</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비밀번호를 잊었을 때 관리자에게 요청하면 바로 재설정해 줍니다. 또 강사 계정은 화면이 항상 영어로 뜨도록 바뀌어서, 한국어 화면 때문에 메뉴를 못 찾는 일이 없어졌어요.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비밀번호를 잊었으면 관리자(운영팀)에게 재설정을 요청해요.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임시 비밀번호를 받으면 로그인 후 바로 새 비밀번호로 바꿔요.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화면 언어는 상단 🌐 EN / KR 버튼으로 바꿀 수 있어요.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앱을 쓰면 얼굴·지문 로그인(패스키) 을 등록해 두는 것이 가장 편해요.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강사 계정은 기본이 영어 화면입니다.</a:t>
            </a:r>
          </a:p>
          <a:p>
            <a:pPr>
              <a:lnSpc>
                <a:spcPct val="115000"/>
              </a:lnSpc>
              <a:spcAft>
                <a:spcPts val="100"/>
              </a:spcAft>
            </a:pPr>
            <a:r>
              <a:rPr sz="650" b="1">
                <a:solidFill>
                  <a:srgbClr val="EA580C"/>
                </a:solidFill>
                <a:latin typeface="Malgun Gothic"/>
              </a:rPr>
              <a:t>● </a:t>
            </a:r>
            <a:r>
              <a:rPr sz="850">
                <a:solidFill>
                  <a:srgbClr val="334155"/>
                </a:solidFill>
                <a:latin typeface="Malgun Gothic"/>
              </a:rPr>
              <a:t>직접 고른 언어는 내 계정에만 저장돼요.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임시 비밀번호는 반드시 바꿔서 쓰세요.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비밀번호를 자주 잊는다면 앱 패스키 등록을 권합니다. 얼굴만 보면 들어가져요.</a:t>
            </a:r>
          </a:p>
        </p:txBody>
      </p:sp>
      <p:sp>
        <p:nvSpPr>
          <p:cNvPr id="19" name="Rectangle 18"/>
          <p:cNvSpPr/>
          <p:nvPr/>
        </p:nvSpPr>
        <p:spPr>
          <a:xfrm>
            <a:off x="6300216" y="429186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4346725"/>
            <a:ext cx="5486400" cy="706581"/>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72107"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544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544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156155"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관리자(운영팀)에게…</a:t>
            </a:r>
          </a:p>
        </p:txBody>
      </p:sp>
      <p:sp>
        <p:nvSpPr>
          <p:cNvPr id="26" name="TextBox 25"/>
          <p:cNvSpPr txBox="1"/>
          <p:nvPr/>
        </p:nvSpPr>
        <p:spPr>
          <a:xfrm>
            <a:off x="399958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182465"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6476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647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566513"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바로 새 비밀번호로…</a:t>
            </a:r>
          </a:p>
        </p:txBody>
      </p:sp>
      <p:sp>
        <p:nvSpPr>
          <p:cNvPr id="31" name="TextBox 30"/>
          <p:cNvSpPr txBox="1"/>
          <p:nvPr/>
        </p:nvSpPr>
        <p:spPr>
          <a:xfrm>
            <a:off x="640994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592824" y="2670048"/>
            <a:ext cx="14849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976872"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 / KR</a:t>
            </a:r>
          </a:p>
        </p:txBody>
      </p:sp>
      <p:sp>
        <p:nvSpPr>
          <p:cNvPr id="36" name="TextBox 35"/>
          <p:cNvSpPr txBox="1"/>
          <p:nvPr/>
        </p:nvSpPr>
        <p:spPr>
          <a:xfrm>
            <a:off x="807780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8260689"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34298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429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644737"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얼굴·지문 로그인(…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월간 성적표 (내 평가가 반영돼요)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오각형 5축은 내가 남긴 평가로 채워져요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학부모에게 나가는 오각형 월간 성적표의 다섯 축(발음·유창성 / 어휘 / 문장 구성력 / 수업 태도 / 참여도)은 선생님이 남긴 수업 평가와 발음 기록으로 채워집니다. 평가를 꾸준히 남길수록 성적표가 정확하고 풍성해져요. 담임의 한마디는 AI 초안을 확인·수정해 내보냅니다.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평소처럼 수업 평가서를 성실히 작성해요.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발음 연습·판단력 훈련 기록이 자동으로 축에 반영돼요.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성적표의 담임의 한마디 AI 초안을 확인하고 다듬어요.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미리보기로 오각형이 잘 채워졌는지 확인해요.</a:t>
            </a:r>
          </a:p>
        </p:txBody>
      </p:sp>
      <p:sp>
        <p:nvSpPr>
          <p:cNvPr id="14" name="Rounded Rectangle 13"/>
          <p:cNvSpPr/>
          <p:nvPr/>
        </p:nvSpPr>
        <p:spPr>
          <a:xfrm>
            <a:off x="457200" y="5030114"/>
            <a:ext cx="5669280" cy="85130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값이 있는 축만 채워져요 — 평가가 없으면 그 축은 비어 보여요.</a:t>
            </a:r>
          </a:p>
          <a:p>
            <a:pPr>
              <a:lnSpc>
                <a:spcPct val="115000"/>
              </a:lnSpc>
              <a:spcAft>
                <a:spcPts val="100"/>
              </a:spcAft>
            </a:pPr>
            <a:r>
              <a:rPr sz="700" b="1">
                <a:solidFill>
                  <a:srgbClr val="EA580C"/>
                </a:solidFill>
                <a:latin typeface="Malgun Gothic"/>
              </a:rPr>
              <a:t>● </a:t>
            </a:r>
            <a:r>
              <a:rPr sz="900">
                <a:solidFill>
                  <a:srgbClr val="334155"/>
                </a:solidFill>
                <a:latin typeface="Malgun Gothic"/>
              </a:rPr>
              <a:t>긴 코멘트보다 꾸준한 평가가 성적표 품질을 좌우해요.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매 수업 한 줄이라도 평가를 남기면 월말 성적표가 저절로 완성됩니다.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port_pentago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44598"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2689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26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428646"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평가서</a:t>
            </a:r>
          </a:p>
        </p:txBody>
      </p:sp>
      <p:sp>
        <p:nvSpPr>
          <p:cNvPr id="26" name="TextBox 25"/>
          <p:cNvSpPr txBox="1"/>
          <p:nvPr/>
        </p:nvSpPr>
        <p:spPr>
          <a:xfrm>
            <a:off x="355701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739896" y="2670048"/>
            <a:ext cx="20702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221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22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123944"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발음 연습·판단력…</a:t>
            </a:r>
          </a:p>
        </p:txBody>
      </p:sp>
      <p:sp>
        <p:nvSpPr>
          <p:cNvPr id="31" name="TextBox 30"/>
          <p:cNvSpPr txBox="1"/>
          <p:nvPr/>
        </p:nvSpPr>
        <p:spPr>
          <a:xfrm>
            <a:off x="581009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992977"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0752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752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377025"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담임의 한마디</a:t>
            </a:r>
          </a:p>
        </p:txBody>
      </p:sp>
      <p:sp>
        <p:nvSpPr>
          <p:cNvPr id="36" name="TextBox 35"/>
          <p:cNvSpPr txBox="1"/>
          <p:nvPr/>
        </p:nvSpPr>
        <p:spPr>
          <a:xfrm>
            <a:off x="766267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845551" y="2670048"/>
            <a:ext cx="2298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2784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278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29599" y="2670048"/>
            <a:ext cx="1878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미리보기로 오각형이…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탈출: 말해야 열린다 (수업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버튼이 없는 방 — 말해야 진행돼요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학생이 영어로 소리 내어 말해야만 방이 열리는 신규 탈출 게임입니다. 클릭으로는 아무것도 진행되지 않기 때문에, 말수가 적은 학생의 발화량을 끌어올리는 데 특히 효과적입니다. 방을 살펴보면 단서가 나오고, 단서가 다음에 할 말을 알려 줍니다.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수업 중 학생에게 학습 게임 → 🚪 탈출을 열게 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학생이 🎤 마이크 버튼을 누르고 화면이 알려 준 문장을 말해요.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말이 맞으면 방이 반응하고 다음 단계로 넘어가요.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막히면 힌트 버튼을 쓰게 해요(감점 없음).</a:t>
            </a:r>
          </a:p>
          <a:p>
            <a:pPr>
              <a:lnSpc>
                <a:spcPct val="115000"/>
              </a:lnSpc>
              <a:spcAft>
                <a:spcPts val="300"/>
              </a:spcAft>
            </a:pPr>
            <a:r>
              <a:rPr sz="700" b="1">
                <a:solidFill>
                  <a:srgbClr val="EA580C"/>
                </a:solidFill>
                <a:latin typeface="Malgun Gothic"/>
              </a:rPr>
              <a:t>● </a:t>
            </a:r>
            <a:r>
              <a:rPr sz="900">
                <a:solidFill>
                  <a:srgbClr val="334155"/>
                </a:solidFill>
                <a:latin typeface="Malgun Gothic"/>
              </a:rPr>
              <a:t>끝나면 말한 횟수·성공률이 나오니 그 자리에서 칭찬해 주세요.</a:t>
            </a:r>
          </a:p>
        </p:txBody>
      </p:sp>
      <p:sp>
        <p:nvSpPr>
          <p:cNvPr id="14" name="Rounded Rectangle 13"/>
          <p:cNvSpPr/>
          <p:nvPr/>
        </p:nvSpPr>
        <p:spPr>
          <a:xfrm>
            <a:off x="457200" y="5282946"/>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575554"/>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클릭으로는 진행이 안 됩니다 — 반드시 말해야 열려요.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시간이 줄면 방이 어두워져 적당한 긴장감을 줍니다.</a:t>
            </a:r>
          </a:p>
          <a:p>
            <a:pPr>
              <a:lnSpc>
                <a:spcPct val="115000"/>
              </a:lnSpc>
              <a:spcAft>
                <a:spcPts val="100"/>
              </a:spcAft>
            </a:pPr>
            <a:r>
              <a:rPr sz="650" b="1">
                <a:solidFill>
                  <a:srgbClr val="EA580C"/>
                </a:solidFill>
                <a:latin typeface="Malgun Gothic"/>
              </a:rPr>
              <a:t>● </a:t>
            </a:r>
            <a:r>
              <a:rPr sz="850">
                <a:solidFill>
                  <a:srgbClr val="334155"/>
                </a:solidFill>
                <a:latin typeface="Malgun Gothic"/>
              </a:rPr>
              <a:t>끝난 뒤 영어로 말한 횟수·성공 횟수가 숫자로 남아 지도에 쓰기 좋아요.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마이크 권한이 필요합니다. 소리가 안 잡히면 브라우저 마이크 허용을 먼저 확인해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발화를 꺼리는 학생에게 첫 시간에 딱 한 방만 시켜 보세요. ‘말하면 진짜로 문이 열린다’는 경험이 그 뒤 수업을 바꿔 놓습니다.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escape.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39849" y="2670048"/>
            <a:ext cx="19988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2214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221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23897" y="2670048"/>
            <a:ext cx="15782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학습 게임 → 🚪…</a:t>
            </a:r>
          </a:p>
        </p:txBody>
      </p:sp>
      <p:sp>
        <p:nvSpPr>
          <p:cNvPr id="28" name="TextBox 27"/>
          <p:cNvSpPr txBox="1"/>
          <p:nvPr/>
        </p:nvSpPr>
        <p:spPr>
          <a:xfrm>
            <a:off x="353872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721607" y="2670048"/>
            <a:ext cx="17556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8039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039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105655" y="2670048"/>
            <a:ext cx="13350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마이크 버튼</a:t>
            </a:r>
          </a:p>
        </p:txBody>
      </p:sp>
      <p:sp>
        <p:nvSpPr>
          <p:cNvPr id="33" name="TextBox 32"/>
          <p:cNvSpPr txBox="1"/>
          <p:nvPr/>
        </p:nvSpPr>
        <p:spPr>
          <a:xfrm>
            <a:off x="547725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660136"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7424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424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04418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다음 단계</a:t>
            </a:r>
          </a:p>
        </p:txBody>
      </p:sp>
      <p:sp>
        <p:nvSpPr>
          <p:cNvPr id="38" name="TextBox 37"/>
          <p:cNvSpPr txBox="1"/>
          <p:nvPr/>
        </p:nvSpPr>
        <p:spPr>
          <a:xfrm>
            <a:off x="701527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198156"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804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804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582204"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힌트 버튼</a:t>
            </a:r>
          </a:p>
        </p:txBody>
      </p:sp>
      <p:sp>
        <p:nvSpPr>
          <p:cNvPr id="43" name="TextBox 42"/>
          <p:cNvSpPr txBox="1"/>
          <p:nvPr/>
        </p:nvSpPr>
        <p:spPr>
          <a:xfrm>
            <a:off x="855329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736177" y="2670048"/>
            <a:ext cx="19129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8184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184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120225"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말한 횟수·성공률</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 단어장 새 단장 (예습 탭 · 6개 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다음 수업 문장을 미리 만나게</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 단어장이 여섯 개 탭 하나의 화면으로 정리됐습니다. 특히 🔮 예습 탭이 새로 생겨, 학생이 다음 수업에서 만날 교재 문장을 미리 듣고 마음에 드는 단어를 바로 단어장에 담을 수 있습니다. 처음 들어온 학생에게는 30초 온보딩 안내가 뜹니다.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학생에게 마이 단어장을 열게 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 예습 탭에서 다음 수업 교재 문장을 미리 듣게 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마음에 드는 단어를 눌러 단어장에 담게 해요.</a:t>
            </a:r>
          </a:p>
          <a:p>
            <a:pPr>
              <a:lnSpc>
                <a:spcPct val="115000"/>
              </a:lnSpc>
              <a:spcAft>
                <a:spcPts val="300"/>
              </a:spcAft>
            </a:pPr>
            <a:r>
              <a:rPr sz="700" b="1">
                <a:solidFill>
                  <a:srgbClr val="EA580C"/>
                </a:solidFill>
                <a:latin typeface="Malgun Gothic"/>
              </a:rPr>
              <a:t>● </a:t>
            </a:r>
            <a:r>
              <a:rPr sz="900">
                <a:solidFill>
                  <a:srgbClr val="334155"/>
                </a:solidFill>
                <a:latin typeface="Malgun Gothic"/>
              </a:rPr>
              <a:t>수업 뒤에는 복습 게임 탭으로 이어 가게 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예습 탭은 로그인한 학생에게만 보입니다.</a:t>
            </a:r>
          </a:p>
          <a:p>
            <a:pPr>
              <a:lnSpc>
                <a:spcPct val="115000"/>
              </a:lnSpc>
              <a:spcAft>
                <a:spcPts val="100"/>
              </a:spcAft>
            </a:pPr>
            <a:r>
              <a:rPr sz="650" b="1">
                <a:solidFill>
                  <a:srgbClr val="EA580C"/>
                </a:solidFill>
                <a:latin typeface="Malgun Gothic"/>
              </a:rPr>
              <a:t>● </a:t>
            </a:r>
            <a:r>
              <a:rPr sz="850">
                <a:solidFill>
                  <a:srgbClr val="334155"/>
                </a:solidFill>
                <a:latin typeface="Malgun Gothic"/>
              </a:rPr>
              <a:t>교재 문장이 등록돼 있지 않으면 ‘예습 준비 중’ 으로 표시돼요.</a:t>
            </a:r>
          </a:p>
          <a:p>
            <a:pPr>
              <a:lnSpc>
                <a:spcPct val="115000"/>
              </a:lnSpc>
              <a:spcAft>
                <a:spcPts val="100"/>
              </a:spcAft>
            </a:pPr>
            <a:r>
              <a:rPr sz="650" b="1">
                <a:solidFill>
                  <a:srgbClr val="EA580C"/>
                </a:solidFill>
                <a:latin typeface="Malgun Gothic"/>
              </a:rPr>
              <a:t>● </a:t>
            </a:r>
            <a:r>
              <a:rPr sz="850">
                <a:solidFill>
                  <a:srgbClr val="334155"/>
                </a:solidFill>
                <a:latin typeface="Malgun Gothic"/>
              </a:rPr>
              <a:t>단어를 담을 때 뜻을 비워 두면 AI가 한국어 뜻과 예문을 자동 생성합니다.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예습 내용은 교재·차시 등록에 따라 달라집니다. 비어 있으면 담당 교재 등록을 확인해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마지막 1분에 ‘오늘 배운 단어 3개를 단어장에 담기’를 숙제로 주면 복습 습관이 붙습니다.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cab.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952597" y="2670048"/>
            <a:ext cx="151241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03489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348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336645"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마이 단어장</a:t>
            </a:r>
          </a:p>
        </p:txBody>
      </p:sp>
      <p:sp>
        <p:nvSpPr>
          <p:cNvPr id="28" name="TextBox 27"/>
          <p:cNvSpPr txBox="1"/>
          <p:nvPr/>
        </p:nvSpPr>
        <p:spPr>
          <a:xfrm>
            <a:off x="446501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647895" y="2670048"/>
            <a:ext cx="119786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301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30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031943"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예습</a:t>
            </a:r>
          </a:p>
        </p:txBody>
      </p:sp>
      <p:sp>
        <p:nvSpPr>
          <p:cNvPr id="33" name="TextBox 32"/>
          <p:cNvSpPr txBox="1"/>
          <p:nvPr/>
        </p:nvSpPr>
        <p:spPr>
          <a:xfrm>
            <a:off x="584575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28639"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1093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109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12687"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단어장에 담게</a:t>
            </a:r>
          </a:p>
        </p:txBody>
      </p:sp>
      <p:sp>
        <p:nvSpPr>
          <p:cNvPr id="38" name="TextBox 37"/>
          <p:cNvSpPr txBox="1"/>
          <p:nvPr/>
        </p:nvSpPr>
        <p:spPr>
          <a:xfrm>
            <a:off x="769833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881213"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6350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635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65261"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복습 게임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근무 · 휴식 · 휴가 등록하기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강사 통합에서 바로 갈 수 있어요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근무 시간, 휴식 시간, 휴가를 등록하는 화면은 원래부터 있었지만 강사 동선에 입구가 없어 찾지 못했던 기능입니다. 이제 강사 통합 화면에 바로가기가 생겨 한 번에 갈 수 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강사 통합 화면을 열어요.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근무·휴식·휴가 등록 바로가기를 눌러요.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달력에서 날짜와 시간을 골라 등록해요.</a:t>
            </a:r>
          </a:p>
          <a:p>
            <a:pPr>
              <a:lnSpc>
                <a:spcPct val="115000"/>
              </a:lnSpc>
              <a:spcAft>
                <a:spcPts val="300"/>
              </a:spcAft>
            </a:pPr>
            <a:r>
              <a:rPr sz="750" b="1">
                <a:solidFill>
                  <a:srgbClr val="EA580C"/>
                </a:solidFill>
                <a:latin typeface="Malgun Gothic"/>
              </a:rPr>
              <a:t>● </a:t>
            </a:r>
            <a:r>
              <a:rPr sz="950">
                <a:solidFill>
                  <a:srgbClr val="334155"/>
                </a:solidFill>
                <a:latin typeface="Malgun Gothic"/>
              </a:rPr>
              <a:t>등록한 내용은 배정에 반영되니 미리 넣어 주세요.</a:t>
            </a:r>
          </a:p>
        </p:txBody>
      </p:sp>
      <p:sp>
        <p:nvSpPr>
          <p:cNvPr id="14" name="Rounded Rectangle 13"/>
          <p:cNvSpPr/>
          <p:nvPr/>
        </p:nvSpPr>
        <p:spPr>
          <a:xfrm>
            <a:off x="457200" y="5030114"/>
            <a:ext cx="5669280" cy="85130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기능이 없던 것이 아니라 가는 길이 없었을 뿐입니다 — 등록 방식은 그대로예요.</a:t>
            </a:r>
          </a:p>
          <a:p>
            <a:pPr>
              <a:lnSpc>
                <a:spcPct val="115000"/>
              </a:lnSpc>
              <a:spcAft>
                <a:spcPts val="100"/>
              </a:spcAft>
            </a:pPr>
            <a:r>
              <a:rPr sz="700" b="1">
                <a:solidFill>
                  <a:srgbClr val="EA580C"/>
                </a:solidFill>
                <a:latin typeface="Malgun Gothic"/>
              </a:rPr>
              <a:t>● </a:t>
            </a:r>
            <a:r>
              <a:rPr sz="900">
                <a:solidFill>
                  <a:srgbClr val="334155"/>
                </a:solidFill>
                <a:latin typeface="Malgun Gothic"/>
              </a:rPr>
              <a:t>휴가는 미리 등록할수록 배정에 잘 반영됩니다.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이미 배정된 수업이 있는 시간대는 등록 전에 관리자와 확인해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매달 초에 그 달 휴가를 한 번에 등록해 두면 스케줄 충돌이 거의 사라집니다.</a:t>
            </a:r>
          </a:p>
        </p:txBody>
      </p:sp>
      <p:sp>
        <p:nvSpPr>
          <p:cNvPr id="21" name="Rectangle 20"/>
          <p:cNvSpPr/>
          <p:nvPr/>
        </p:nvSpPr>
        <p:spPr>
          <a:xfrm>
            <a:off x="6300216" y="426900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323865"/>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73451" y="2670048"/>
            <a:ext cx="13551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5574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57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5749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a:t>
            </a:r>
          </a:p>
        </p:txBody>
      </p:sp>
      <p:sp>
        <p:nvSpPr>
          <p:cNvPr id="28" name="TextBox 27"/>
          <p:cNvSpPr txBox="1"/>
          <p:nvPr/>
        </p:nvSpPr>
        <p:spPr>
          <a:xfrm>
            <a:off x="382859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011472"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09376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37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395520"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근무·휴식·휴가 등…</a:t>
            </a:r>
          </a:p>
        </p:txBody>
      </p:sp>
      <p:sp>
        <p:nvSpPr>
          <p:cNvPr id="33" name="TextBox 32"/>
          <p:cNvSpPr txBox="1"/>
          <p:nvPr/>
        </p:nvSpPr>
        <p:spPr>
          <a:xfrm>
            <a:off x="616762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350507"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328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28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734555"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달력에서 날짜와 시…</a:t>
            </a:r>
          </a:p>
        </p:txBody>
      </p:sp>
      <p:sp>
        <p:nvSpPr>
          <p:cNvPr id="38" name="TextBox 37"/>
          <p:cNvSpPr txBox="1"/>
          <p:nvPr/>
        </p:nvSpPr>
        <p:spPr>
          <a:xfrm>
            <a:off x="857798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8760866" y="2670048"/>
            <a:ext cx="954633"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84316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4316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9144914"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미리</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샘플 수업으로 화면 미리 익히기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오늘 수업이 없어도 연습할 수 있어요</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오늘 배정된 수업이 없어 교재·영상·퀴즈·리포트 화면을 확인할 수 없던 문제를 해결했습니다. 관리자에게 요청하면 데모 학생 계정으로 샘플 수업을 만들어 줄 수 있어, 실제 학생에게 영향 없이 화면을 익힐 수 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945718"/>
          </a:xfrm>
          <a:prstGeom prst="rect">
            <a:avLst/>
          </a:prstGeom>
          <a:noFill/>
        </p:spPr>
        <p:txBody>
          <a:bodyPr wrap="square">
            <a:spAutoFit/>
          </a:bodyPr>
          <a:lstStyle/>
          <a:p>
            <a:pPr>
              <a:lnSpc>
                <a:spcPct val="115000"/>
              </a:lnSpc>
              <a:spcAft>
                <a:spcPts val="300"/>
              </a:spcAft>
            </a:pPr>
            <a:r>
              <a:rPr sz="850" b="1">
                <a:solidFill>
                  <a:srgbClr val="EA580C"/>
                </a:solidFill>
                <a:latin typeface="Malgun Gothic"/>
              </a:rPr>
              <a:t>● </a:t>
            </a:r>
            <a:r>
              <a:rPr sz="1050">
                <a:solidFill>
                  <a:srgbClr val="334155"/>
                </a:solidFill>
                <a:latin typeface="Malgun Gothic"/>
              </a:rPr>
              <a:t>관리자에게 샘플 수업 생성을 요청해요.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만들어진 샘플 수업으로 교재·영상·퀴즈·리포트 화면을 열어 봐요.</a:t>
            </a:r>
          </a:p>
          <a:p>
            <a:pPr>
              <a:lnSpc>
                <a:spcPct val="115000"/>
              </a:lnSpc>
              <a:spcAft>
                <a:spcPts val="300"/>
              </a:spcAft>
            </a:pPr>
            <a:r>
              <a:rPr sz="850" b="1">
                <a:solidFill>
                  <a:srgbClr val="EA580C"/>
                </a:solidFill>
                <a:latin typeface="Malgun Gothic"/>
              </a:rPr>
              <a:t>● </a:t>
            </a:r>
            <a:r>
              <a:rPr sz="1050">
                <a:solidFill>
                  <a:srgbClr val="334155"/>
                </a:solidFill>
                <a:latin typeface="Malgun Gothic"/>
              </a:rPr>
              <a:t>익숙해지면 실제 수업에서 그대로 사용해요.</a:t>
            </a:r>
          </a:p>
        </p:txBody>
      </p:sp>
      <p:sp>
        <p:nvSpPr>
          <p:cNvPr id="14" name="Rounded Rectangle 13"/>
          <p:cNvSpPr/>
          <p:nvPr/>
        </p:nvSpPr>
        <p:spPr>
          <a:xfrm>
            <a:off x="457200" y="4786198"/>
            <a:ext cx="5669280" cy="103852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191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078806"/>
            <a:ext cx="5394960" cy="709345"/>
          </a:xfrm>
          <a:prstGeom prst="rect">
            <a:avLst/>
          </a:prstGeom>
          <a:noFill/>
        </p:spPr>
        <p:txBody>
          <a:bodyPr wrap="square">
            <a:spAutoFit/>
          </a:bodyPr>
          <a:lstStyle/>
          <a:p>
            <a:pPr>
              <a:lnSpc>
                <a:spcPct val="115000"/>
              </a:lnSpc>
              <a:spcAft>
                <a:spcPts val="100"/>
              </a:spcAft>
            </a:pPr>
            <a:r>
              <a:rPr sz="750" b="1">
                <a:solidFill>
                  <a:srgbClr val="EA580C"/>
                </a:solidFill>
                <a:latin typeface="Malgun Gothic"/>
              </a:rPr>
              <a:t>● </a:t>
            </a:r>
            <a:r>
              <a:rPr sz="950">
                <a:solidFill>
                  <a:srgbClr val="334155"/>
                </a:solidFill>
                <a:latin typeface="Malgun Gothic"/>
              </a:rPr>
              <a:t>샘플 수업은 데모 학생 계정(student) 으로만 만들어져 실제 학생 데이터를 건드리지 않아요.</a:t>
            </a:r>
          </a:p>
          <a:p>
            <a:pPr>
              <a:lnSpc>
                <a:spcPct val="115000"/>
              </a:lnSpc>
              <a:spcAft>
                <a:spcPts val="100"/>
              </a:spcAft>
            </a:pPr>
            <a:r>
              <a:rPr sz="750" b="1">
                <a:solidFill>
                  <a:srgbClr val="EA580C"/>
                </a:solidFill>
                <a:latin typeface="Malgun Gothic"/>
              </a:rPr>
              <a:t>● </a:t>
            </a:r>
            <a:r>
              <a:rPr sz="950">
                <a:solidFill>
                  <a:srgbClr val="334155"/>
                </a:solidFill>
                <a:latin typeface="Malgun Gothic"/>
              </a:rPr>
              <a:t>샘플 수업 생성은 카카오톡·푸시 알림을 보내지 않습니다.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신규 선생님 온보딩 첫날에 샘플 수업 하나를 요청하세요. 설명 30분이 실습 5분으로 줄어듭니다.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41955"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92425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42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226003"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샘플 수업 생성</a:t>
            </a:r>
          </a:p>
        </p:txBody>
      </p:sp>
      <p:sp>
        <p:nvSpPr>
          <p:cNvPr id="26" name="TextBox 25"/>
          <p:cNvSpPr txBox="1"/>
          <p:nvPr/>
        </p:nvSpPr>
        <p:spPr>
          <a:xfrm>
            <a:off x="459760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780483" y="2670048"/>
            <a:ext cx="21561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6277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27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64531"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교재·영상·퀴즈·리…</a:t>
            </a:r>
          </a:p>
        </p:txBody>
      </p:sp>
      <p:sp>
        <p:nvSpPr>
          <p:cNvPr id="31" name="TextBox 30"/>
          <p:cNvSpPr txBox="1"/>
          <p:nvPr/>
        </p:nvSpPr>
        <p:spPr>
          <a:xfrm>
            <a:off x="693663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19518" y="2670048"/>
            <a:ext cx="222747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0181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018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03566"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익숙해지면 실제 수…</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주간 리포트 (내 수업이 근거가 돼요)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한 주의 성장 증거가 매주 학부모에게</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학부모에게 매주 나가는 리포트에는 아이의 한 주 활동이 담깁니다 — 출석 일수 · 연속 출석 · AI 친구 대화 · 판단력 훈련 · 정복한 단어 · 발음 연습. 선생님이 수업에서 만들어 준 활동이 그대로 학부모가 보는 성장의 증거가 됩니다.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EA580C"/>
                </a:solidFill>
                <a:latin typeface="Malgun Gothic"/>
              </a:rPr>
              <a:t>● </a:t>
            </a:r>
            <a:r>
              <a:rPr sz="1150">
                <a:solidFill>
                  <a:srgbClr val="334155"/>
                </a:solidFill>
                <a:latin typeface="Malgun Gothic"/>
              </a:rPr>
              <a:t>평소처럼 수업하고 평가·발음 기록을 남겨요.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학생이 AI 친구 대화 · 판단력 훈련 · 단어장을 하도록 이끌어요.</a:t>
            </a:r>
          </a:p>
          <a:p>
            <a:pPr>
              <a:lnSpc>
                <a:spcPct val="115000"/>
              </a:lnSpc>
              <a:spcAft>
                <a:spcPts val="300"/>
              </a:spcAft>
            </a:pPr>
            <a:r>
              <a:rPr sz="950" b="1">
                <a:solidFill>
                  <a:srgbClr val="EA580C"/>
                </a:solidFill>
                <a:latin typeface="Malgun Gothic"/>
              </a:rPr>
              <a:t>● </a:t>
            </a:r>
            <a:r>
              <a:rPr sz="1150">
                <a:solidFill>
                  <a:srgbClr val="334155"/>
                </a:solidFill>
                <a:latin typeface="Malgun Gothic"/>
              </a:rPr>
              <a:t>그 활동이 주간 리포트에 자동으로 집계됩니다.</a:t>
            </a:r>
          </a:p>
        </p:txBody>
      </p:sp>
      <p:sp>
        <p:nvSpPr>
          <p:cNvPr id="14" name="Rounded Rectangle 13"/>
          <p:cNvSpPr/>
          <p:nvPr/>
        </p:nvSpPr>
        <p:spPr>
          <a:xfrm>
            <a:off x="457200" y="5044744"/>
            <a:ext cx="5669280" cy="88696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EA580C"/>
                </a:solidFill>
                <a:latin typeface="Malgun Gothic"/>
              </a:rPr>
              <a:t>● </a:t>
            </a:r>
            <a:r>
              <a:rPr sz="1000">
                <a:solidFill>
                  <a:srgbClr val="334155"/>
                </a:solidFill>
                <a:latin typeface="Malgun Gothic"/>
              </a:rPr>
              <a:t>출석과 활동이 있는 항목만 채워집니다 — 지어낸 숫자가 없어요.</a:t>
            </a:r>
          </a:p>
          <a:p>
            <a:pPr>
              <a:lnSpc>
                <a:spcPct val="115000"/>
              </a:lnSpc>
              <a:spcAft>
                <a:spcPts val="100"/>
              </a:spcAft>
            </a:pPr>
            <a:r>
              <a:rPr sz="800" b="1">
                <a:solidFill>
                  <a:srgbClr val="EA580C"/>
                </a:solidFill>
                <a:latin typeface="Malgun Gothic"/>
              </a:rPr>
              <a:t>● </a:t>
            </a:r>
            <a:r>
              <a:rPr sz="1000">
                <a:solidFill>
                  <a:srgbClr val="334155"/>
                </a:solidFill>
                <a:latin typeface="Malgun Gothic"/>
              </a:rPr>
              <a:t>학생이 게임·단어장을 많이 할수록 리포트가 풍성해집니다.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수업 끝에 ‘오늘 단어 3개만 단어장에’ 한마디면 주간 리포트가 훨씬 좋아집니다.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27832" y="2670048"/>
            <a:ext cx="175564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1012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1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611879"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평가·발음 기록</a:t>
            </a:r>
          </a:p>
        </p:txBody>
      </p:sp>
      <p:sp>
        <p:nvSpPr>
          <p:cNvPr id="26" name="TextBox 25"/>
          <p:cNvSpPr txBox="1"/>
          <p:nvPr/>
        </p:nvSpPr>
        <p:spPr>
          <a:xfrm>
            <a:off x="498347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166359" y="2670048"/>
            <a:ext cx="19421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4865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486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50407" y="2670048"/>
            <a:ext cx="15215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친구 대화 ·…</a:t>
            </a:r>
          </a:p>
        </p:txBody>
      </p:sp>
      <p:sp>
        <p:nvSpPr>
          <p:cNvPr id="31" name="TextBox 30"/>
          <p:cNvSpPr txBox="1"/>
          <p:nvPr/>
        </p:nvSpPr>
        <p:spPr>
          <a:xfrm>
            <a:off x="71085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291425" y="2670048"/>
            <a:ext cx="16696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737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737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675473"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자동으로 집계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5" name="Rounded Rectangle 14"/>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7" name="Rounded Rectangle 16"/>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9" name="Rounded Rectangle 18"/>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21" name="Rounded Rectangle 20"/>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3" name="Rounded Rectangle 22"/>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5" name="Picture 24"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9" name="Rounded Rectangle 8"/>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5" name="Rounded Rectangle 14"/>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8" name="Rounded Rectangle 17"/>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21" name="Rounded Rectangle 20"/>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4" name="Rounded Rectangle 23"/>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7" name="Rounded Rectangle 26"/>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9" name="TextBox 28"/>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30" name="Rounded Rectangle 29"/>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2" name="TextBox 31"/>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3" name="Rounded Rectangle 32"/>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5" name="TextBox 34"/>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6" name="TextBox 35"/>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7" name="TextBox 36"/>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8" name="TextBox 37"/>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9" name="TextBox 38"/>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40" name="Rounded Rectangle 39"/>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