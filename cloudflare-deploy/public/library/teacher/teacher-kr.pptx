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웜업/인사</c:v>
                </c:pt>
                <c:pt idx="1">
                  <c:v>본수업</c:v>
                </c:pt>
                <c:pt idx="2">
                  <c:v>말하기연습</c:v>
                </c:pt>
                <c:pt idx="3">
                  <c:v>마무리/평가</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카메라</c:v>
                </c:pt>
                <c:pt idx="1">
                  <c:v>마이크</c:v>
                </c:pt>
                <c:pt idx="2">
                  <c:v>네트워크</c:v>
                </c:pt>
                <c:pt idx="3">
                  <c:v>조명</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준비</c:v>
                </c:pt>
                <c:pt idx="1">
                  <c:v>상호작용</c:v>
                </c:pt>
                <c:pt idx="2">
                  <c:v>피드백</c:v>
                </c:pt>
                <c:pt idx="3">
                  <c:v>발음교정</c:v>
                </c:pt>
                <c:pt idx="4">
                  <c:v>기록</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교사용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수업 흐름 그대로 · 사이트 사용법</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화상수업을 진행하는 원어민 강사·한국인 교사   |   test.mangoi.co.kr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교사용 사이트 사용법이란?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이 설명서는 화상수업을 진행하는 선생님이 망고아이 사이트를 어떻게 사용하는지 안내해요. 수업 준비(장비 점검)부터 화상교실 입장, 교재·칠판·채팅 도구, AI 웜업·발음코치 활용, 수업 평가서 작성, 학생 칭찬, 학습 리포트까지 실제 수업 흐름 순서대로 담았어요. (수업 지도법이 아니라 ‘사이트 사용법’ 안내입니다.)</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전 정밀 점검</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카메라·마이크·네트워크·조명 점수 확인.</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화상교실 도구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영상·교재·칠판·채팅·녹화.</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평가서 · 칭찬</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수업 후 평가서와 별점·스티커.</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게임 약점 단어·리포트로 다음 수업 준비.</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25분 수업 시간 배분(예시, 분)</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전 정밀 점검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입장 전 장비 상태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전 카메라·마이크·네트워크·조명을 한 번에 확인하는 화면이에요. 종합 점수와 항목별 신호로 문제를 미리 잡아 수업 중 끊김을 막아요.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점검 화면에서 카메라·마이크·네트워크·조명을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종합 점수와 항목별 신호(정상/주의)를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빨간 항목은 조명·자리·연결을 조정하고 다시 점검해요.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점검은 수업 5~10분 전에!</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 입장 전에 문제를 해결해 두세요.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조명을 얼굴 정면에 두면 표정이 잘 보여 학생 집중도가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마이페이지에서 수업 입장</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가는 첫 버튼</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교사도 학생과 똑같이 마이페이지의 ‘수업 입장’ 버튼으로 수업에 들어가요. 로그인 후 마이페이지를 열면 골드색 ‘수업 입장’ 버튼이 있고, 누르면 화상수업 로비로 이동해요.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로그인 후 화면에서 ‘👤 마이페이지’ 버튼을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골드색 ‘🎥 수업 입장’ 버튼을 찾아요. (옆의 ‘💳 결제하기’와 한 줄)</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입장’을 누르면 화상수업 로비로 이동해요.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안내문구 ‘🎥 화상수업 로비로 입장 · 📹 마이크/카메라 사용’을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이어서 로비에서 이름 확인 → 카메라·마이크 허용 → 교실로 들어가요. (다음 장 참고)</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입장’ 버튼 하나로 바로 화상수업 로비까지 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마이페이지에는 수업 진단·연기/변경·전체메뉴 등도 함께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학생도 똑같은 ‘수업 입장’ 버튼으로 들어와요.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버튼을 눌러도 카메라·마이크 허용을 안 하면 얼굴·소리가 연결되지 않아요.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5~10분 전에 마이페이지에서 미리 입장해 장비를 점검하세요.</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메뉴 100%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수업에 필요한 모든 입구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마이페이지에는 ‘수업 입장’ 말고도 수업에 필요한 메뉴가 다 모여 있어요. 자주 쓰는 버튼을 알아두면 수업 준비가 훨씬 빨라져요.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진단: 수업 전 카메라·마이크·네트워크·조명을 점검해요. (수업 5~10분 전 필수)</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입장: 화상수업 로비로 들어가요. (앞 장 참고)</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연기/변경: 학생 요청이나 사정에 따라 수업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 🎤 단계별 발음: 학생에게 낼 복습·발음 자료를 미리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신규상담 · 🏠 전체메뉴 · 📝 수업 신청: 상담 접수와 전체 기능으로 이동해요.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진단 → 수업 입장’ 순서를 습관으로 만드세요.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글자가 영어로 보이면 EN 버튼으로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검색/비서에게 ‘○○ 열어줘’라고 말해도 바로 이동해요.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 루틴: ① 수업 진단으로 장비 점검 → ② 교재 미리 업로드 → ③ 수업 입장.</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화상교실 입장하기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들어가기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방 입장 화면에서 이름과 방 코드를 넣고 입장해요. 카메라·마이크를 허용한 뒤 학생을 기다리면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입장 화면에서 이름을 넣어요.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방 코드를 확인해요. (비우면 공용 수업방)</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입장하기를 누르고 카메라·마이크 허용을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입장을 기다리며 화면·소리를 점검해요.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미리 입장해 카메라 구도·소리를 확인하세요.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크롬/엣지 권장, 카카오톡 인앱은 피하세요.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학생이 입장이 안 되면 브라우저 권한·종류부터 확인하도록 안내하세요.</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입장 후 배경·조명·소리를 30초만 점검하면 수업이 매끄러워요.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교실 화면 한눈에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화면이 어떻게 생겼나요?</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수업에 들어오면 화면이 크게 세 부분으로 나뉘어요. ① 맨 위 상단 바(방 정보·타이머·언어·다크모드), ② 가운데 큰 작업 공간(칠판·교재·영상 등이 열리는 곳), ③ 맨 아래 컨트롤 독(카메라·채팅·나가기 버튼). 왼쪽 위 작은 창에는 얼굴 영상과 칭찬 바구니가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왼쪽: `방: mangoi-class · 참여자: 2명` — 지금 방 이름과 접속 인원이에요.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오른쪽: ⏰ 타이머(수업 진행 시간), 🔴 REC(녹화 중 표시), 🌐 EN(영어로 바꾸기), 🌙 다크(어두운 화면).</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가운데: 상단 탭에서 고른 도구(칠판·교재·영상 등)가 크게 열려요.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아래 가운데: 컨트롤 독 — 카메라·화면공유·채팅·나가기 버튼이 모여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왼쪽 위 작은 창: 내 얼굴 영상과 🧺 칭찬 바구니(받은 칭찬 개수).</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버튼 위에 마우스를 올리면 이름 설명(툴팁)이 떠요.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글씨가 영어로 보이면 오른쪽 위 EN을 눌러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화면이 눈부시면 🌙 다크로 바꾸면 편해요.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처음엔 버튼이 많아 보여도, 자주 쓰는 건 칠판·교재·카메라·채팅 네 가지예요.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상단 탭 6가지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칠판·동영상·학생게임·배경화면·AI웜업·복습퀴즈</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가운데 작업 공간 맨 위에는 6개의 탭 버튼이 있어요. 누르면 그 도구로 화면이 바뀌어요. 지금 켜진 탭은 색이 진하게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칠판: 글씨·그림을 그리며 설명하는 화이트보드예요.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동영상: 유튜브 주소나 영상 파일을 함께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학생게임: 수업 중 학습 게임을 열어요. (수업 시간엔 제한될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배경화면: 내 영상 뒤 배경을 바꾸고 얼굴을 꾸며요.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웜업: 수업 전 영어로 입을 푸는 웜업이에요.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이 수업 교재·레벨에 맞는 퀴즈를 AI가 내줘요.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탭을 눌러도 얼굴 영상은 계속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탭 오른쪽 끝에는 📚 교재도구 ▾, ✍️ 필기도구 ▾ 가 더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수업은 보통 🖊 칠판과 📚 교재를 가장 많이 써요.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칠판 도구 하나하나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펜·지우개·도형·글자·저장</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칠판 탭을 열면 위쪽에 그림 도구가 한 줄로 나와요. 왼쪽부터 오른쪽까지 버튼을 하나씩 살펴볼게요.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자유롭게 선을 그려요. / 🧽 지우개: 그린 것을 지워요.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선: 곧은 직선 / ⬜ 사각형 / ⭕ 원 을 그려요.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텍스트: 키보드로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색상(네모 색칸): 펜 색을 골라요. / 굵기(막대): 선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삐뚤게 그려도 반듯한 도형으로 자동 정리해줘요.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글자: 손글씨를 알아보고 깔끔한 글자로 바꿔줘요.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전체 지우기: 칠판을 모두 지워요. / 💾 저장: 칠판을 그림 파일로 저장해요.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색과 굵기를 바꿔 중요한 부분을 강조하면 기억에 잘 남아요.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도형·AI 글자는 켜면 자동으로 정리돼요(실험 기능).</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저장(💾)을 누르면 지금까지 그린 칠판이 이미지로 내려받아져 복습에 쓸 수 있어요.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수업이 끝나기 전에 칠판을 💾 저장하면 오늘 배운 걸 그대로 남길 수 있어요.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교재도구 (PDF·사진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업로드·라이브러리·페이지 넘기기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교재도구 ▾ 를 누르면 아래로 메뉴가 펼쳐져요. 교재(PDF·사진)를 올려 모두 함께 보는 도구예요.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교재 업로드 (PDF/JPG/PNG): 내 기기의 교재 파일을 올려 공유해요.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라이브러리: 학원(관리자)이 올려둔 교재 중에서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다운로드: 지금 보는 교재 파일을 내려받아요.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이전 / 다음 ▶: 교재 페이지를 넘겨요.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맞춤 / 100% / 1:1: 교재 크기를 화면에 맞추거나 실제 크기로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공유 중지: 교재 공유를 끝내요.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올리는 즉시 상대방 화면에도 똑같은 페이지가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PDF뿐 아니라 JPG·PNG 사진도 올릴 수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전에 교재를 미리 올려두면 시작이 매끄러워요.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필기도구 (교재 위에 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펜·형광펜·텍스트·되돌리기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필기도구 ▾ 를 누르면 필기 메뉴가 펼쳐져요. 교재나 화면 위에 바로 필기할 때 써요.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화면 위에 자유롭게 써요. / 🖍 형광펜: 중요한 곳을 밝게 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지우개: 필기를 지워요. / 📝 텍스트: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그린 도형을 반듯하게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굵기(막대): 펜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되돌리기: 방금 한 필기를 취소해요. / 🗑 지우기: 필기를 모두 지워요.</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띄운 상태에서 필기하면 교재 위에 바로 표시돼요.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형광펜으로 핵심 단어를 칠하면 눈에 잘 띄어요.</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실수했을 땐 ↩ 되돌리기 한 번이면 깔끔하게 취소돼요.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동영상 함께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유튜브·영상 파일 공유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동영상 탭에서는 유튜브 주소나 영상 파일을 올려 함께 볼 수 있어요. 노래·영상 자료로 수업할 때 좋아요.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입력칸에 유튜브 주소(URL)를 붙여넣기 하거나, 영상 파일을 업로드해요.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URL 재생 / 전체 재생 버튼으로 영상을 틀어요.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새 영상 으로 다른 영상으로 바꿔요.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영상은 상대방 화면에서도 함께 재생돼요.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중요한 자료는 이어폰을 끼면 더 잘 들려요.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미리 볼 영상 주소를 준비해두면 수업 중 바로 틀 수 있어요.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배경화면 &amp; 얼굴 꾸미기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배경 바꾸기·마스크·액세서리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배경화면 탭에서는 내 얼굴 뒤 배경을 바꾸고, 얼굴에 재미있는 꾸미기를 더할 수 있어요. 그리드에서 원하는 걸 눌러요.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위쪽 배경 그리드에서 원하는 배경(우주·사막·숲·벚꽃·백사장·피라미드 등)을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배경 끄기를 누르면 원래 카메라 화면으로 돌아와요.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얼굴 꾸미기(마스크·액세서리)에서 안경·모자·동물 같은 꾸미기를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마음에 안 들면 다시 눌러 끄면 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배경을 바꿔도 얼굴은 그대로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너무 화려한 꾸미기는 수업 집중에 방해될 수 있어요.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수업엔 깔끔한 배경, 쉬는 시간엔 재미있는 꾸미기로 분위기를 바꿔보세요.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화면 크기·배치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1/4·1/2·3/4·전체·PIP·솔로·자유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영상 위쪽의 크기 막대로 내 얼굴 영상 창의 크기와 배치를 바꿀 수 있어요. 지금 고른 크기는 파란색으로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전체: 영상 창을 화면의 1/4~전체 크기로 키우거나 줄여요.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영상을 교재·칠판 위에 작게 띄워 겹쳐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솔로: 다른 사람은 숨기고 내 화면만 크게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자유: 제목줄을 끌어 옮기고, 오른쪽 아래 모서리를 끌어 원하는 크기로 조절해요.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볼 땐 영상을 작게(1/4), 발표할 땐 크게(전체)가 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PIP는 교재를 보면서 얼굴도 같이 보고 싶을 때 좋아요.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화면이 좁으면 영상을 1/4로 줄이고 교재를 크게 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교사가 주면 학생 바구니에 +1P</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잘하면 교사가 그 자리에서 칭찬 포인트를 줄 수 있어요. 교사가 학생 화면의 🌟 ‘칭찬’ 별 버튼을 누르면 그 학생에게 즉석에서 +1P가 지급되고, 학생 화면의 🧺 포인트 바구니에 실시간으로 쌓여요.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교사: 학생 영상 화면 왼쪽 위의 🌟 ‘칭찬’ 버튼을 눌러요 → 그 학생에게 +1P 지급. (누른 횟수가 별 옆 숫자로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여러 명이면 ‘칭찬 주기’ 바에서 학생을 골라 줄 수도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내 화면 왼쪽 위 🧺 포인트 바구니에 +1P가 날아와 실시간으로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수업이 끝나면 학생이 별점 평가를 남기면 +10P를 추가로 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모인 포인트는 포인트 상점·룰렛 등에서 보상으로 써요.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칭찬을 많이 받을수록 포인트가 빨리 쌓여요.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칭찬 별에는 연타 방지 쿨다운이 있어 잠깐 회색이 될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바구니 포인트는 ‘이번 수업에 받은 것’, 총 포인트는 상단 P에 합산돼요.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포인트는 교사가 직접 눌러 주는 거예요. 학생이 스스로 올릴 수는 없어요.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교사는 학생이 잘한 순간 바로 🌟칭찬! 즉각적인 보상이 동기부여에 가장 효과적이에요.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하단 독 &amp; 칭찬 바구니</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카메라·화면공유·채팅·나가기·칭찬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맨 아래 가운데의 컨트롤 독에는 수업 중 가장 자주 쓰는 버튼이 모여 있어요. 왼쪽 위 작은 🧺 칭찬 바구니도 함께 알아볼게요.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설정: 카메라·마이크 장치를 고르고 상태를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카메라 / 🎤 마이크: 내 얼굴·소리를 켜고 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공유: 내 컴퓨터 화면을 상대에게 보여줘요.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채팅: 글자로 대화해요(단어·링크 전달에 좋아요).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원어민: 원어민 도우미/통역 기능을 불러요.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나가기: 수업을 끝내고 방에서 나가요.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칭찬 바구니(왼쪽 위): 수업 중 받은 칭찬(별·스티커)이 여기에 모여요.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나가기(🚪) 전에 칠판·필기를 저장했는지 확인해요.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안 들리면 ⚙️ 설정에서 마이크·스피커 장치를 확인해요.</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화면 공유는 브라우저가 ‘공유할 창’을 물어봐요 — 보여줄 화면을 고르고 허용하면 돼요.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바구니에 칭찬이 쌓이면 그만큼 잘하고 있다는 뜻이에요!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 사전 업로드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자료 미리 준비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교재 업로더에 수업 자료를 미리 올려두면 수업 중 바로 공유할 수 있어요. 준비가 되어 있으면 진행이 훨씬 매끄러워요.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교재 업로더에 파일을 끌어다 놓거나 선택해 올려요.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업로드한 교재는 교재 뷰어에서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중 교재 탭 공유로 바로 띄워요.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전에 올려두면 시간을 아껴요.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PDF·이미지 모두 지원돼요.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차시별로 파일 이름을 정해두면 찾기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웜업으로 시작</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도입 3분 아이스브레이킹</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수업 전 한 AI 웜업 내용을 참고해 자연스럽게 대화를 열어요. 웜업은 오늘 교재와 연결돼 있어 바로 본수업으로 이어져요.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AI 웜업 내용을 참고해 대화를 열어요.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 질문을 본수업 주제로 이어가요.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웜업을 안 한 학생은 가벼운 질문 1~2개로 풀어줘요.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웜업을 언급하면 학생 몰입도가 올라가요.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도입이 매끄러워 수업 리듬이 좋아져요.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‘아까 웜업에서 …라고 했지?’ 한마디면 분위기가 풀려요.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발음 코치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AI 음성코치로 교정</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발음이 약한 학생에게 AI 음성코치 문장을 함께 연습시켜요. 녹음→점수→다시듣기로 학생이 스스로 교정하도록 이끌어요.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 수준에 맞는 음성코치 문장을 함께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녹음→점수→다시듣기로 교정하게 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문장을 음성코치 숙제로 연결해요.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문장 → 음성코치 반복’ 루틴이 효과적이에요.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점수로 성취감을 주면 꾸준히 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어려운 소리(r, th 등)는 짧은 단어부터 반복시키세요.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평가서 작성</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후 피드백 기록</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수업이 끝나면 평가서에 오늘 수업을 기록해요. 항목별 별점과 코멘트로 잘한 점·보완점을 남기면 학부모 마이페이지·리포트에 반영돼요.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평가서 화면에서 오늘 수업을 기록해요.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항목별 별점과 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리포트·학부모 페이지에 반영돼요.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 1개 + 개선 1개 원칙으로 짧고 구체적으로.</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작성해야 가장 정확해요.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구체적 사례(‘today’s r sound was great’)를 넣으면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칭찬 남기기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별점·스티커·코멘트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 Praise 화면에서 학생과 항목을 골라 별점·스티커·코멘트로 칭찬을 남겨요. 학생·학부모에게 보여 동기부여가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Praise에서 학생과 항목을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별점(7개 항목)과 스티커·코멘트를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학생·학부모에게 보여요.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바로 남기면 효과가 커요.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구체적 칭찬이 두루뭉술한 칭찬보다 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작은 성취도 칭찬하면 다음 수업 참여가 좋아져요.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게임 학습 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약점 단어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 ID로 조회하면 게임에서 자주 틀린 약점 단어를 볼 수 있어요. 다음 수업 도입에 그 단어를 넣어 복습시키면 효과적이에요.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게임 학습 리포트에 학생 ID를 넣고 조회해요.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약점 단어(자주 틀린 단어)를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수업에서 집중 복습시켜요.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데이터 기반으로 약점을 정확히 짚어요.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3개만 골라도 복습 효과가 확실해요.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약점 단어를 채팅·칠판에 띄우고 반복하면 좋아요.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학습 리포트 · 레슨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리포트로 학생의 학습 진행과 성과를 확인하고, 레슨 관리에서 지난/예정 수업과 진도를 정리해요. 이를 바탕으로 다음 수업 목표를 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리포트에서 학습 진행·성과를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레슨 관리에서 지난/예정 수업을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 목표를 한 줄로 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진도 연속성이 좋아져요.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목표를 적어두면 수업 방향이 뚜렷해져요.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끝에 다음 목표를 적어두면 인수인계도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 처리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요청 대응</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연기·변경 요청을 확인하고 규정에 맞게 일정을 조정해요. 변경된 일정은 양쪽에 자동 안내돼요.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연기/변경 요청을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규정에 맞으면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변경 내용이 자동 안내되는지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규정 위반 직전 요청은 정책대로 안내해요.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연기해도 학생 수업 횟수는 보존돼요.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연기 마감 규정을 학생에게 미리 안내하세요.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지원 · 문의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문제가 생기면</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기술 문제나 궁금한 점이 있으면 고객센터 채널로 문의해요. 자주 겪는 문제는 미리 알아두면 빠르게 대응할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긴급하면 원격지원으로 직접 도움받아요.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‘소리/화면 안 됨’은 권한·브라우저부터 확인.</a:t>
            </a:r>
          </a:p>
          <a:p>
            <a:pPr>
              <a:lnSpc>
                <a:spcPct val="115000"/>
              </a:lnSpc>
              <a:spcAft>
                <a:spcPts val="200"/>
              </a:spcAft>
            </a:pPr>
            <a:r>
              <a:rPr sz="900" b="1">
                <a:solidFill>
                  <a:srgbClr val="EA580C"/>
                </a:solidFill>
                <a:latin typeface="Malgun Gothic"/>
              </a:rPr>
              <a:t>● </a:t>
            </a:r>
            <a:r>
              <a:rPr sz="1100">
                <a:solidFill>
                  <a:srgbClr val="334155"/>
                </a:solidFill>
                <a:latin typeface="Malgun Gothic"/>
              </a:rPr>
              <a:t>운영시간 내 문의가 빨라요.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문제와 해결법을 정리해두면 수업 손실이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시간과 🇵🇭 필리핀(현지) 시간이 함께 뜨는 시계예요. 학생은 한국 시간, 선생님은 필리핀 시간 — 두 시간을 같이 보면 수업 시간을 정확히 맞출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중국어도 배운다면 중국어 발음 코치를 안내하세요. 다락원 중국어 마스터(Lv 1~20) 문장을 따라 읽고 원어민과 비교해 발음·성조를 교정해요.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흐름별 사용 도구</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단계</a:t>
                      </a:r>
                    </a:p>
                  </a:txBody>
                  <a:tcPr>
                    <a:solidFill>
                      <a:srgbClr val="EA580C"/>
                    </a:solidFill>
                  </a:tcPr>
                </a:tc>
                <a:tc>
                  <a:txBody>
                    <a:bodyPr/>
                    <a:lstStyle/>
                    <a:p>
                      <a:pPr algn="ctr"/>
                      <a:r>
                        <a:rPr sz="1300" b="1">
                          <a:solidFill>
                            <a:srgbClr val="FFFFFF"/>
                          </a:solidFill>
                          <a:latin typeface="Malgun Gothic"/>
                        </a:rPr>
                        <a:t>사용하는 화면</a:t>
                      </a:r>
                    </a:p>
                  </a:txBody>
                  <a:tcPr>
                    <a:solidFill>
                      <a:srgbClr val="EA580C"/>
                    </a:solidFill>
                  </a:tcPr>
                </a:tc>
                <a:tc>
                  <a:txBody>
                    <a:bodyPr/>
                    <a:lstStyle/>
                    <a:p>
                      <a:pPr algn="ctr"/>
                      <a:r>
                        <a:rPr sz="1300" b="1">
                          <a:solidFill>
                            <a:srgbClr val="FFFFFF"/>
                          </a:solidFill>
                          <a:latin typeface="Malgun Gothic"/>
                        </a:rPr>
                        <a:t>무엇을 하나요?</a:t>
                      </a:r>
                    </a:p>
                  </a:txBody>
                  <a:tcPr>
                    <a:solidFill>
                      <a:srgbClr val="EA580C"/>
                    </a:solidFill>
                  </a:tcPr>
                </a:tc>
                <a:tc>
                  <a:txBody>
                    <a:bodyPr/>
                    <a:lstStyle/>
                    <a:p>
                      <a:pPr algn="ctr"/>
                      <a:r>
                        <a:rPr sz="1300" b="1">
                          <a:solidFill>
                            <a:srgbClr val="FFFFFF"/>
                          </a:solidFill>
                          <a:latin typeface="Malgun Gothic"/>
                        </a:rPr>
                        <a:t>꿀팁</a:t>
                      </a:r>
                    </a:p>
                  </a:txBody>
                  <a:tcPr>
                    <a:solidFill>
                      <a:srgbClr val="EA580C"/>
                    </a:solidFill>
                  </a:tcPr>
                </a:tc>
              </a:tr>
              <a:tr h="502920">
                <a:tc>
                  <a:txBody>
                    <a:bodyPr/>
                    <a:lstStyle/>
                    <a:p>
                      <a:pPr algn="l"/>
                      <a:r>
                        <a:rPr sz="1200" b="1">
                          <a:solidFill>
                            <a:srgbClr val="334155"/>
                          </a:solidFill>
                          <a:latin typeface="Malgun Gothic"/>
                        </a:rPr>
                        <a:t>수업 전</a:t>
                      </a:r>
                    </a:p>
                  </a:txBody>
                  <a:tcPr>
                    <a:solidFill>
                      <a:srgbClr val="FFFFFF"/>
                    </a:solidFill>
                  </a:tcPr>
                </a:tc>
                <a:tc>
                  <a:txBody>
                    <a:bodyPr/>
                    <a:lstStyle/>
                    <a:p>
                      <a:pPr algn="ctr"/>
                      <a:r>
                        <a:rPr sz="1200">
                          <a:solidFill>
                            <a:srgbClr val="334155"/>
                          </a:solidFill>
                          <a:latin typeface="Malgun Gothic"/>
                        </a:rPr>
                        <a:t>정밀 점검</a:t>
                      </a:r>
                    </a:p>
                  </a:txBody>
                  <a:tcPr>
                    <a:solidFill>
                      <a:srgbClr val="FFFFFF"/>
                    </a:solidFill>
                  </a:tcPr>
                </a:tc>
                <a:tc>
                  <a:txBody>
                    <a:bodyPr/>
                    <a:lstStyle/>
                    <a:p>
                      <a:pPr algn="ctr"/>
                      <a:r>
                        <a:rPr sz="1200">
                          <a:solidFill>
                            <a:srgbClr val="334155"/>
                          </a:solidFill>
                          <a:latin typeface="Malgun Gothic"/>
                        </a:rPr>
                        <a:t>장비·조명 확인</a:t>
                      </a:r>
                    </a:p>
                  </a:txBody>
                  <a:tcPr>
                    <a:solidFill>
                      <a:srgbClr val="FFFFFF"/>
                    </a:solidFill>
                  </a:tcPr>
                </a:tc>
                <a:tc>
                  <a:txBody>
                    <a:bodyPr/>
                    <a:lstStyle/>
                    <a:p>
                      <a:pPr algn="ctr"/>
                      <a:r>
                        <a:rPr sz="1200">
                          <a:solidFill>
                            <a:srgbClr val="334155"/>
                          </a:solidFill>
                          <a:latin typeface="Malgun Gothic"/>
                        </a:rPr>
                        <a:t>5~10분 전</a:t>
                      </a:r>
                    </a:p>
                  </a:txBody>
                  <a:tcPr>
                    <a:solidFill>
                      <a:srgbClr val="FFFFFF"/>
                    </a:solidFill>
                  </a:tcPr>
                </a:tc>
              </a:tr>
              <a:tr h="502920">
                <a:tc>
                  <a:txBody>
                    <a:bodyPr/>
                    <a:lstStyle/>
                    <a:p>
                      <a:pPr algn="l"/>
                      <a:r>
                        <a:rPr sz="1200" b="1">
                          <a:solidFill>
                            <a:srgbClr val="334155"/>
                          </a:solidFill>
                          <a:latin typeface="Malgun Gothic"/>
                        </a:rPr>
                        <a:t>입장</a:t>
                      </a:r>
                    </a:p>
                  </a:txBody>
                  <a:tcPr>
                    <a:solidFill>
                      <a:srgbClr val="F8FAFC"/>
                    </a:solidFill>
                  </a:tcPr>
                </a:tc>
                <a:tc>
                  <a:txBody>
                    <a:bodyPr/>
                    <a:lstStyle/>
                    <a:p>
                      <a:pPr algn="ctr"/>
                      <a:r>
                        <a:rPr sz="1200">
                          <a:solidFill>
                            <a:srgbClr val="334155"/>
                          </a:solidFill>
                          <a:latin typeface="Malgun Gothic"/>
                        </a:rPr>
                        <a:t>화상교실</a:t>
                      </a:r>
                    </a:p>
                  </a:txBody>
                  <a:tcPr>
                    <a:solidFill>
                      <a:srgbClr val="F8FAFC"/>
                    </a:solidFill>
                  </a:tcPr>
                </a:tc>
                <a:tc>
                  <a:txBody>
                    <a:bodyPr/>
                    <a:lstStyle/>
                    <a:p>
                      <a:pPr algn="ctr"/>
                      <a:r>
                        <a:rPr sz="1200">
                          <a:solidFill>
                            <a:srgbClr val="334155"/>
                          </a:solidFill>
                          <a:latin typeface="Malgun Gothic"/>
                        </a:rPr>
                        <a:t>이름 입력·허용</a:t>
                      </a:r>
                    </a:p>
                  </a:txBody>
                  <a:tcPr>
                    <a:solidFill>
                      <a:srgbClr val="F8FAFC"/>
                    </a:solidFill>
                  </a:tcPr>
                </a:tc>
                <a:tc>
                  <a:txBody>
                    <a:bodyPr/>
                    <a:lstStyle/>
                    <a:p>
                      <a:pPr algn="ctr"/>
                      <a:r>
                        <a:rPr sz="1200">
                          <a:solidFill>
                            <a:srgbClr val="334155"/>
                          </a:solidFill>
                          <a:latin typeface="Malgun Gothic"/>
                        </a:rPr>
                        <a:t>미리 입장</a:t>
                      </a:r>
                    </a:p>
                  </a:txBody>
                  <a:tcPr>
                    <a:solidFill>
                      <a:srgbClr val="F8FAFC"/>
                    </a:solidFill>
                  </a:tcPr>
                </a:tc>
              </a:tr>
              <a:tr h="502920">
                <a:tc>
                  <a:txBody>
                    <a:bodyPr/>
                    <a:lstStyle/>
                    <a:p>
                      <a:pPr algn="l"/>
                      <a:r>
                        <a:rPr sz="1200" b="1">
                          <a:solidFill>
                            <a:srgbClr val="334155"/>
                          </a:solidFill>
                          <a:latin typeface="Malgun Gothic"/>
                        </a:rPr>
                        <a:t>툴바</a:t>
                      </a:r>
                    </a:p>
                  </a:txBody>
                  <a:tcPr>
                    <a:solidFill>
                      <a:srgbClr val="FFFFFF"/>
                    </a:solidFill>
                  </a:tcPr>
                </a:tc>
                <a:tc>
                  <a:txBody>
                    <a:bodyPr/>
                    <a:lstStyle/>
                    <a:p>
                      <a:pPr algn="ctr"/>
                      <a:r>
                        <a:rPr sz="1200">
                          <a:solidFill>
                            <a:srgbClr val="334155"/>
                          </a:solidFill>
                          <a:latin typeface="Malgun Gothic"/>
                        </a:rPr>
                        <a:t>영상·교재·칠판</a:t>
                      </a:r>
                    </a:p>
                  </a:txBody>
                  <a:tcPr>
                    <a:solidFill>
                      <a:srgbClr val="FFFFFF"/>
                    </a:solidFill>
                  </a:tcPr>
                </a:tc>
                <a:tc>
                  <a:txBody>
                    <a:bodyPr/>
                    <a:lstStyle/>
                    <a:p>
                      <a:pPr algn="ctr"/>
                      <a:r>
                        <a:rPr sz="1200">
                          <a:solidFill>
                            <a:srgbClr val="334155"/>
                          </a:solidFill>
                          <a:latin typeface="Malgun Gothic"/>
                        </a:rPr>
                        <a:t>화면 전환·제어</a:t>
                      </a:r>
                    </a:p>
                  </a:txBody>
                  <a:tcPr>
                    <a:solidFill>
                      <a:srgbClr val="FFFFFF"/>
                    </a:solidFill>
                  </a:tcPr>
                </a:tc>
                <a:tc>
                  <a:txBody>
                    <a:bodyPr/>
                    <a:lstStyle/>
                    <a:p>
                      <a:pPr algn="ctr"/>
                      <a:r>
                        <a:rPr sz="1200">
                          <a:solidFill>
                            <a:srgbClr val="334155"/>
                          </a:solidFill>
                          <a:latin typeface="Malgun Gothic"/>
                        </a:rPr>
                        <a:t>탭 안내</a:t>
                      </a:r>
                    </a:p>
                  </a:txBody>
                  <a:tcPr>
                    <a:solidFill>
                      <a:srgbClr val="FFFFFF"/>
                    </a:solidFill>
                  </a:tcPr>
                </a:tc>
              </a:tr>
              <a:tr h="502920">
                <a:tc>
                  <a:txBody>
                    <a:bodyPr/>
                    <a:lstStyle/>
                    <a:p>
                      <a:pPr algn="l"/>
                      <a:r>
                        <a:rPr sz="1200" b="1">
                          <a:solidFill>
                            <a:srgbClr val="334155"/>
                          </a:solidFill>
                          <a:latin typeface="Malgun Gothic"/>
                        </a:rPr>
                        <a:t>준비</a:t>
                      </a:r>
                    </a:p>
                  </a:txBody>
                  <a:tcPr>
                    <a:solidFill>
                      <a:srgbClr val="F8FAFC"/>
                    </a:solidFill>
                  </a:tcPr>
                </a:tc>
                <a:tc>
                  <a:txBody>
                    <a:bodyPr/>
                    <a:lstStyle/>
                    <a:p>
                      <a:pPr algn="ctr"/>
                      <a:r>
                        <a:rPr sz="1200">
                          <a:solidFill>
                            <a:srgbClr val="334155"/>
                          </a:solidFill>
                          <a:latin typeface="Malgun Gothic"/>
                        </a:rPr>
                        <a:t>교재 업로더</a:t>
                      </a:r>
                    </a:p>
                  </a:txBody>
                  <a:tcPr>
                    <a:solidFill>
                      <a:srgbClr val="F8FAFC"/>
                    </a:solidFill>
                  </a:tcPr>
                </a:tc>
                <a:tc>
                  <a:txBody>
                    <a:bodyPr/>
                    <a:lstStyle/>
                    <a:p>
                      <a:pPr algn="ctr"/>
                      <a:r>
                        <a:rPr sz="1200">
                          <a:solidFill>
                            <a:srgbClr val="334155"/>
                          </a:solidFill>
                          <a:latin typeface="Malgun Gothic"/>
                        </a:rPr>
                        <a:t>자료 업로드·공유</a:t>
                      </a:r>
                    </a:p>
                  </a:txBody>
                  <a:tcPr>
                    <a:solidFill>
                      <a:srgbClr val="F8FAFC"/>
                    </a:solidFill>
                  </a:tcPr>
                </a:tc>
                <a:tc>
                  <a:txBody>
                    <a:bodyPr/>
                    <a:lstStyle/>
                    <a:p>
                      <a:pPr algn="ctr"/>
                      <a:r>
                        <a:rPr sz="1200">
                          <a:solidFill>
                            <a:srgbClr val="334155"/>
                          </a:solidFill>
                          <a:latin typeface="Malgun Gothic"/>
                        </a:rPr>
                        <a:t>사전 업로드</a:t>
                      </a:r>
                    </a:p>
                  </a:txBody>
                  <a:tcPr>
                    <a:solidFill>
                      <a:srgbClr val="F8FAFC"/>
                    </a:solidFill>
                  </a:tcPr>
                </a:tc>
              </a:tr>
              <a:tr h="502920">
                <a:tc>
                  <a:txBody>
                    <a:bodyPr/>
                    <a:lstStyle/>
                    <a:p>
                      <a:pPr algn="l"/>
                      <a:r>
                        <a:rPr sz="1200" b="1">
                          <a:solidFill>
                            <a:srgbClr val="334155"/>
                          </a:solidFill>
                          <a:latin typeface="Malgun Gothic"/>
                        </a:rPr>
                        <a:t>도입</a:t>
                      </a:r>
                    </a:p>
                  </a:txBody>
                  <a:tcPr>
                    <a:solidFill>
                      <a:srgbClr val="FFFFFF"/>
                    </a:solidFill>
                  </a:tcPr>
                </a:tc>
                <a:tc>
                  <a:txBody>
                    <a:bodyPr/>
                    <a:lstStyle/>
                    <a:p>
                      <a:pPr algn="ctr"/>
                      <a:r>
                        <a:rPr sz="1200">
                          <a:solidFill>
                            <a:srgbClr val="334155"/>
                          </a:solidFill>
                          <a:latin typeface="Malgun Gothic"/>
                        </a:rPr>
                        <a:t>AI 웜업</a:t>
                      </a:r>
                    </a:p>
                  </a:txBody>
                  <a:tcPr>
                    <a:solidFill>
                      <a:srgbClr val="FFFFFF"/>
                    </a:solidFill>
                  </a:tcPr>
                </a:tc>
                <a:tc>
                  <a:txBody>
                    <a:bodyPr/>
                    <a:lstStyle/>
                    <a:p>
                      <a:pPr algn="ctr"/>
                      <a:r>
                        <a:rPr sz="1200">
                          <a:solidFill>
                            <a:srgbClr val="334155"/>
                          </a:solidFill>
                          <a:latin typeface="Malgun Gothic"/>
                        </a:rPr>
                        <a:t>아이스브레이킹</a:t>
                      </a:r>
                    </a:p>
                  </a:txBody>
                  <a:tcPr>
                    <a:solidFill>
                      <a:srgbClr val="FFFFFF"/>
                    </a:solidFill>
                  </a:tcPr>
                </a:tc>
                <a:tc>
                  <a:txBody>
                    <a:bodyPr/>
                    <a:lstStyle/>
                    <a:p>
                      <a:pPr algn="ctr"/>
                      <a:r>
                        <a:rPr sz="1200">
                          <a:solidFill>
                            <a:srgbClr val="334155"/>
                          </a:solidFill>
                          <a:latin typeface="Malgun Gothic"/>
                        </a:rPr>
                        <a:t>웜업 언급</a:t>
                      </a:r>
                    </a:p>
                  </a:txBody>
                  <a:tcPr>
                    <a:solidFill>
                      <a:srgbClr val="FFFFFF"/>
                    </a:solidFill>
                  </a:tcPr>
                </a:tc>
              </a:tr>
              <a:tr h="502920">
                <a:tc>
                  <a:txBody>
                    <a:bodyPr/>
                    <a:lstStyle/>
                    <a:p>
                      <a:pPr algn="l"/>
                      <a:r>
                        <a:rPr sz="1200" b="1">
                          <a:solidFill>
                            <a:srgbClr val="334155"/>
                          </a:solidFill>
                          <a:latin typeface="Malgun Gothic"/>
                        </a:rPr>
                        <a:t>본수업</a:t>
                      </a:r>
                    </a:p>
                  </a:txBody>
                  <a:tcPr>
                    <a:solidFill>
                      <a:srgbClr val="F8FAFC"/>
                    </a:solidFill>
                  </a:tcPr>
                </a:tc>
                <a:tc>
                  <a:txBody>
                    <a:bodyPr/>
                    <a:lstStyle/>
                    <a:p>
                      <a:pPr algn="ctr"/>
                      <a:r>
                        <a:rPr sz="1200">
                          <a:solidFill>
                            <a:srgbClr val="334155"/>
                          </a:solidFill>
                          <a:latin typeface="Malgun Gothic"/>
                        </a:rPr>
                        <a:t>교재·칠판·채팅</a:t>
                      </a:r>
                    </a:p>
                  </a:txBody>
                  <a:tcPr>
                    <a:solidFill>
                      <a:srgbClr val="F8FAFC"/>
                    </a:solidFill>
                  </a:tcPr>
                </a:tc>
                <a:tc>
                  <a:txBody>
                    <a:bodyPr/>
                    <a:lstStyle/>
                    <a:p>
                      <a:pPr algn="ctr"/>
                      <a:r>
                        <a:rPr sz="1200">
                          <a:solidFill>
                            <a:srgbClr val="334155"/>
                          </a:solidFill>
                          <a:latin typeface="Malgun Gothic"/>
                        </a:rPr>
                        <a:t>함께 보며 설명</a:t>
                      </a:r>
                    </a:p>
                  </a:txBody>
                  <a:tcPr>
                    <a:solidFill>
                      <a:srgbClr val="F8FAFC"/>
                    </a:solidFill>
                  </a:tcPr>
                </a:tc>
                <a:tc>
                  <a:txBody>
                    <a:bodyPr/>
                    <a:lstStyle/>
                    <a:p>
                      <a:pPr algn="ctr"/>
                      <a:r>
                        <a:rPr sz="1200">
                          <a:solidFill>
                            <a:srgbClr val="334155"/>
                          </a:solidFill>
                          <a:latin typeface="Malgun Gothic"/>
                        </a:rPr>
                        <a:t>같은 페이지</a:t>
                      </a:r>
                    </a:p>
                  </a:txBody>
                  <a:tcPr>
                    <a:solidFill>
                      <a:srgbClr val="F8FAFC"/>
                    </a:solidFill>
                  </a:tcPr>
                </a:tc>
              </a:tr>
              <a:tr h="502920">
                <a:tc>
                  <a:txBody>
                    <a:bodyPr/>
                    <a:lstStyle/>
                    <a:p>
                      <a:pPr algn="l"/>
                      <a:r>
                        <a:rPr sz="1200" b="1">
                          <a:solidFill>
                            <a:srgbClr val="334155"/>
                          </a:solidFill>
                          <a:latin typeface="Malgun Gothic"/>
                        </a:rPr>
                        <a:t>연습</a:t>
                      </a:r>
                    </a:p>
                  </a:txBody>
                  <a:tcPr>
                    <a:solidFill>
                      <a:srgbClr val="FFFFFF"/>
                    </a:solidFill>
                  </a:tcPr>
                </a:tc>
                <a:tc>
                  <a:txBody>
                    <a:bodyPr/>
                    <a:lstStyle/>
                    <a:p>
                      <a:pPr algn="ctr"/>
                      <a:r>
                        <a:rPr sz="1200">
                          <a:solidFill>
                            <a:srgbClr val="334155"/>
                          </a:solidFill>
                          <a:latin typeface="Malgun Gothic"/>
                        </a:rPr>
                        <a:t>AI 음성코치</a:t>
                      </a:r>
                    </a:p>
                  </a:txBody>
                  <a:tcPr>
                    <a:solidFill>
                      <a:srgbClr val="FFFFFF"/>
                    </a:solidFill>
                  </a:tcPr>
                </a:tc>
                <a:tc>
                  <a:txBody>
                    <a:bodyPr/>
                    <a:lstStyle/>
                    <a:p>
                      <a:pPr algn="ctr"/>
                      <a:r>
                        <a:rPr sz="1200">
                          <a:solidFill>
                            <a:srgbClr val="334155"/>
                          </a:solidFill>
                          <a:latin typeface="Malgun Gothic"/>
                        </a:rPr>
                        <a:t>발음 녹음·교정</a:t>
                      </a:r>
                    </a:p>
                  </a:txBody>
                  <a:tcPr>
                    <a:solidFill>
                      <a:srgbClr val="FFFFFF"/>
                    </a:solidFill>
                  </a:tcPr>
                </a:tc>
                <a:tc>
                  <a:txBody>
                    <a:bodyPr/>
                    <a:lstStyle/>
                    <a:p>
                      <a:pPr algn="ctr"/>
                      <a:r>
                        <a:rPr sz="1200">
                          <a:solidFill>
                            <a:srgbClr val="334155"/>
                          </a:solidFill>
                          <a:latin typeface="Malgun Gothic"/>
                        </a:rPr>
                        <a:t>숙제 연결</a:t>
                      </a:r>
                    </a:p>
                  </a:txBody>
                  <a:tcPr>
                    <a:solidFill>
                      <a:srgbClr val="FFFFFF"/>
                    </a:solidFill>
                  </a:tcPr>
                </a:tc>
              </a:tr>
              <a:tr h="502920">
                <a:tc>
                  <a:txBody>
                    <a:bodyPr/>
                    <a:lstStyle/>
                    <a:p>
                      <a:pPr algn="l"/>
                      <a:r>
                        <a:rPr sz="1200" b="1">
                          <a:solidFill>
                            <a:srgbClr val="334155"/>
                          </a:solidFill>
                          <a:latin typeface="Malgun Gothic"/>
                        </a:rPr>
                        <a:t>마무리</a:t>
                      </a:r>
                    </a:p>
                  </a:txBody>
                  <a:tcPr>
                    <a:solidFill>
                      <a:srgbClr val="F8FAFC"/>
                    </a:solidFill>
                  </a:tcPr>
                </a:tc>
                <a:tc>
                  <a:txBody>
                    <a:bodyPr/>
                    <a:lstStyle/>
                    <a:p>
                      <a:pPr algn="ctr"/>
                      <a:r>
                        <a:rPr sz="1200">
                          <a:solidFill>
                            <a:srgbClr val="334155"/>
                          </a:solidFill>
                          <a:latin typeface="Malgun Gothic"/>
                        </a:rPr>
                        <a:t>평가서·칭찬</a:t>
                      </a:r>
                    </a:p>
                  </a:txBody>
                  <a:tcPr>
                    <a:solidFill>
                      <a:srgbClr val="F8FAFC"/>
                    </a:solidFill>
                  </a:tcPr>
                </a:tc>
                <a:tc>
                  <a:txBody>
                    <a:bodyPr/>
                    <a:lstStyle/>
                    <a:p>
                      <a:pPr algn="ctr"/>
                      <a:r>
                        <a:rPr sz="1200">
                          <a:solidFill>
                            <a:srgbClr val="334155"/>
                          </a:solidFill>
                          <a:latin typeface="Malgun Gothic"/>
                        </a:rPr>
                        <a:t>피드백·별점</a:t>
                      </a:r>
                    </a:p>
                  </a:txBody>
                  <a:tcPr>
                    <a:solidFill>
                      <a:srgbClr val="F8FAFC"/>
                    </a:solidFill>
                  </a:tcPr>
                </a:tc>
                <a:tc>
                  <a:txBody>
                    <a:bodyPr/>
                    <a:lstStyle/>
                    <a:p>
                      <a:pPr algn="ctr"/>
                      <a:r>
                        <a:rPr sz="1200">
                          <a:solidFill>
                            <a:srgbClr val="334155"/>
                          </a:solidFill>
                          <a:latin typeface="Malgun Gothic"/>
                        </a:rPr>
                        <a:t>칭찬1+개선1</a:t>
                      </a:r>
                    </a:p>
                  </a:txBody>
                  <a:tcPr>
                    <a:solidFill>
                      <a:srgbClr val="F8FAFC"/>
                    </a:solidFill>
                  </a:tcPr>
                </a:tc>
              </a:tr>
              <a:tr h="502920">
                <a:tc>
                  <a:txBody>
                    <a:bodyPr/>
                    <a:lstStyle/>
                    <a:p>
                      <a:pPr algn="l"/>
                      <a:r>
                        <a:rPr sz="1200" b="1">
                          <a:solidFill>
                            <a:srgbClr val="334155"/>
                          </a:solidFill>
                          <a:latin typeface="Malgun Gothic"/>
                        </a:rPr>
                        <a:t>사후</a:t>
                      </a:r>
                    </a:p>
                  </a:txBody>
                  <a:tcPr>
                    <a:solidFill>
                      <a:srgbClr val="FFFFFF"/>
                    </a:solidFill>
                  </a:tcPr>
                </a:tc>
                <a:tc>
                  <a:txBody>
                    <a:bodyPr/>
                    <a:lstStyle/>
                    <a:p>
                      <a:pPr algn="ctr"/>
                      <a:r>
                        <a:rPr sz="1200">
                          <a:solidFill>
                            <a:srgbClr val="334155"/>
                          </a:solidFill>
                          <a:latin typeface="Malgun Gothic"/>
                        </a:rPr>
                        <a:t>게임리포트·리포트</a:t>
                      </a:r>
                    </a:p>
                  </a:txBody>
                  <a:tcPr>
                    <a:solidFill>
                      <a:srgbClr val="FFFFFF"/>
                    </a:solidFill>
                  </a:tcPr>
                </a:tc>
                <a:tc>
                  <a:txBody>
                    <a:bodyPr/>
                    <a:lstStyle/>
                    <a:p>
                      <a:pPr algn="ctr"/>
                      <a:r>
                        <a:rPr sz="1200">
                          <a:solidFill>
                            <a:srgbClr val="334155"/>
                          </a:solidFill>
                          <a:latin typeface="Malgun Gothic"/>
                        </a:rPr>
                        <a:t>약점·진도 확인</a:t>
                      </a:r>
                    </a:p>
                  </a:txBody>
                  <a:tcPr>
                    <a:solidFill>
                      <a:srgbClr val="FFFFFF"/>
                    </a:solidFill>
                  </a:tcPr>
                </a:tc>
                <a:tc>
                  <a:txBody>
                    <a:bodyPr/>
                    <a:lstStyle/>
                    <a:p>
                      <a:pPr algn="ctr"/>
                      <a:r>
                        <a:rPr sz="1200">
                          <a:solidFill>
                            <a:srgbClr val="334155"/>
                          </a:solidFill>
                          <a:latin typeface="Malgun Gothic"/>
                        </a:rPr>
                        <a:t>다음 목표</a:t>
                      </a:r>
                    </a:p>
                  </a:txBody>
                  <a:tcP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한눈에 보는 데이터</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사전 점검 항목(예시 점수)</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좋은 수업 요소</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자주 묻는 질문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수업에 어떻게 들어가나요?</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화상교실 입장 화면에서 이름을 넣고 ‘입장하기’를 누른 뒤 카메라·마이크를 허용하세요.</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교재는 어떻게 공유하나요?</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교재 탭에서 PDF·JPEG·PNG를 올리면 모든 참가자에게 공유돼요. 이전/다음으로 넘기고 화면맞춤으로 크게 봅니다.</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칠판은 어떻게 쓰나요?</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칠판 탭에서 펜·도형·색상·굵기로 판서하고, 필요하면 저장으로 이미지를 남길 수 있어요.</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학생이 입장을 못 해요.</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브라우저 권한 문제일 때가 많아요. 크롬/엣지로 재접속 후 카메라·마이크 허용을 안내하세요.</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평가서는 언제 쓰나요?</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수업 직후 바로 작성하면 가장 정확해요. 별점과 짧은 코멘트로 남기면 리포트에 반영됩니다.</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 약점을 어떻게 아나요?</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게임 학습 리포트에서 학생 ID로 조회하면 자주 틀린 약점 단어를 볼 수 있어요.</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진행 체크리스트</a:t>
            </a:r>
          </a:p>
        </p:txBody>
      </p:sp>
      <p:sp>
        <p:nvSpPr>
          <p:cNvPr id="7" name="Rounded Rectangle 6"/>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5~10분 전 정밀 점검을 했나요?</a:t>
            </a:r>
          </a:p>
        </p:txBody>
      </p:sp>
      <p:sp>
        <p:nvSpPr>
          <p:cNvPr id="9" name="Rounded Rectangle 8"/>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교재를 미리 업로드했나요?</a:t>
            </a:r>
          </a:p>
        </p:txBody>
      </p:sp>
      <p:sp>
        <p:nvSpPr>
          <p:cNvPr id="11" name="Rounded Rectangle 10"/>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카메라 구도·소리를 확인했나요?</a:t>
            </a:r>
          </a:p>
        </p:txBody>
      </p:sp>
      <p:sp>
        <p:nvSpPr>
          <p:cNvPr id="13" name="Rounded Rectangle 12"/>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학생의 AI 웜업 내용을 확인했나요?</a:t>
            </a:r>
          </a:p>
        </p:txBody>
      </p:sp>
      <p:sp>
        <p:nvSpPr>
          <p:cNvPr id="15" name="Rounded Rectangle 14"/>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교재·칠판·채팅 도구를 준비했나요?</a:t>
            </a:r>
          </a:p>
        </p:txBody>
      </p:sp>
      <p:sp>
        <p:nvSpPr>
          <p:cNvPr id="17" name="Rounded Rectangle 16"/>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후 평가서를 작성했나요?</a:t>
            </a:r>
          </a:p>
        </p:txBody>
      </p:sp>
      <p:sp>
        <p:nvSpPr>
          <p:cNvPr id="19" name="Rounded Rectangle 18"/>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칭찬(별점/코멘트)을 남겼나요?</a:t>
            </a:r>
          </a:p>
        </p:txBody>
      </p:sp>
      <p:sp>
        <p:nvSpPr>
          <p:cNvPr id="21" name="Rounded Rectangle 20"/>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게임 리포트로 약점 단어를 확인했나요?</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마무리 · 좋은 수업을 위한 실천 가이드</a:t>
            </a:r>
          </a:p>
        </p:txBody>
      </p:sp>
      <p:sp>
        <p:nvSpPr>
          <p:cNvPr id="7" name="Rounded Rectangle 6"/>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지금까지 망고아이 사이트를 ‘수업 흐름 그대로’ 사용하는 법을 익혔어요. 마지막으로 한 번의 수업이 어떻게 흘러가는지, 그리고 매 수업에서 꼭 지킬 원칙을 한 장에 정리합니다. 이 페이지만 곁에 두어도 수업이 훨씬 매끄럽고 안정적으로 진행돼요.</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하루 흐름 한눈에</a:t>
            </a:r>
          </a:p>
        </p:txBody>
      </p:sp>
      <p:sp>
        <p:nvSpPr>
          <p:cNvPr id="10" name="Rounded Rectangle 9"/>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전 (5~10분 전)</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마이페이지 → 🎥 수업 진단으로 카메라·마이크·네트워크·조명 점검, 교재 미리 업로드</a:t>
            </a:r>
          </a:p>
        </p:txBody>
      </p:sp>
      <p:sp>
        <p:nvSpPr>
          <p:cNvPr id="13" name="Rounded Rectangle 12"/>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입장</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수업 입장 → 이름 확인 → 카메라·마이크 허용 → 배경·소리 점검하며 학생 대기</a:t>
            </a:r>
          </a:p>
        </p:txBody>
      </p:sp>
      <p:sp>
        <p:nvSpPr>
          <p:cNvPr id="16" name="Rounded Rectangle 15"/>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도입 (2~3분)</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학생의 AI 웜업 내용을 언급하며 가볍게 시작, 오늘 목표를 한 줄로 안내</a:t>
            </a:r>
          </a:p>
        </p:txBody>
      </p:sp>
      <p:sp>
        <p:nvSpPr>
          <p:cNvPr id="19" name="Rounded Rectangle 18"/>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본수업</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교재도구로 같은 페이지 공유 · 칠판 판서 · 채팅으로 핵심 단어, 학생의 발화를 충분히 끌어내기</a:t>
            </a:r>
          </a:p>
        </p:txBody>
      </p:sp>
      <p:sp>
        <p:nvSpPr>
          <p:cNvPr id="22" name="Rounded Rectangle 21"/>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칭찬</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잘한 순간 바로 🌟 칭찬 버튼(+1P) → 학생 🧺 포인트 바구니에 실시간 누적</a:t>
            </a:r>
          </a:p>
        </p:txBody>
      </p:sp>
      <p:sp>
        <p:nvSpPr>
          <p:cNvPr id="25" name="Rounded Rectangle 24"/>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연습</a:t>
            </a:r>
          </a:p>
        </p:txBody>
      </p:sp>
      <p:sp>
        <p:nvSpPr>
          <p:cNvPr id="27" name="TextBox 26"/>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발음이 약한 문장은 AI 음성코치 숙제로 연결해 반복 연습 유도</a:t>
            </a:r>
          </a:p>
        </p:txBody>
      </p:sp>
      <p:sp>
        <p:nvSpPr>
          <p:cNvPr id="28" name="Rounded Rectangle 27"/>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마무리 (3분)</a:t>
            </a:r>
          </a:p>
        </p:txBody>
      </p:sp>
      <p:sp>
        <p:nvSpPr>
          <p:cNvPr id="30" name="TextBox 29"/>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오늘 내용 정리 → 학생 복습퀴즈·별점(+10P) 유도 → 다음 목표 한 줄 남기기</a:t>
            </a:r>
          </a:p>
        </p:txBody>
      </p:sp>
      <p:sp>
        <p:nvSpPr>
          <p:cNvPr id="31" name="Rounded Rectangle 30"/>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후</a:t>
            </a:r>
          </a:p>
        </p:txBody>
      </p:sp>
      <p:sp>
        <p:nvSpPr>
          <p:cNvPr id="33" name="TextBox 32"/>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평가서 작성(칭찬 1 + 개선 1) · 학생 칭찬 남기기 · 게임 리포트로 약점 단어 확인</a:t>
            </a:r>
          </a:p>
        </p:txBody>
      </p:sp>
      <p:sp>
        <p:nvSpPr>
          <p:cNvPr id="34" name="TextBox 33"/>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핵심 원칙</a:t>
            </a:r>
          </a:p>
        </p:txBody>
      </p:sp>
      <p:sp>
        <p:nvSpPr>
          <p:cNvPr id="35" name="TextBox 34"/>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준비가 절반이다 — 점검·교재 업로드를 미리 하면 수업이 끊기지 않아요.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많이 말하게 하라 — 교사보다 학생의 발화량이 많아야 실력이 늘어요.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즉시 칭찬하라 — 잘한 순간 바로 🌟칭찬! 즉각적인 보상이 가장 강한 동기예요.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기록을 남겨라 — 평가서와 ‘다음 목표 한 줄’이 다음 수업과 인수인계를 살려요.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데이터로 보완하라 — 게임 리포트의 약점 단어를 다음 수업 도입에 넣어요.</a:t>
            </a:r>
          </a:p>
        </p:txBody>
      </p:sp>
      <p:sp>
        <p:nvSpPr>
          <p:cNvPr id="36" name="TextBox 35"/>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꼭 기억하세요</a:t>
            </a:r>
          </a:p>
        </p:txBody>
      </p:sp>
      <p:sp>
        <p:nvSpPr>
          <p:cNvPr id="37" name="TextBox 36"/>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소리·화면이 안 되면 → 크롬/엣지 + 카메라·마이크 허용부터 확인 (카카오톡 인앱은 외부 브라우저로)</a:t>
            </a:r>
          </a:p>
          <a:p>
            <a:pPr>
              <a:lnSpc>
                <a:spcPct val="115000"/>
              </a:lnSpc>
              <a:spcAft>
                <a:spcPts val="400"/>
              </a:spcAft>
            </a:pPr>
            <a:r>
              <a:rPr sz="850" b="1">
                <a:solidFill>
                  <a:srgbClr val="FFB020"/>
                </a:solidFill>
                <a:latin typeface="Malgun Gothic"/>
              </a:rPr>
              <a:t>● </a:t>
            </a:r>
            <a:r>
              <a:rPr sz="1050">
                <a:solidFill>
                  <a:srgbClr val="334155"/>
                </a:solidFill>
                <a:latin typeface="Malgun Gothic"/>
              </a:rPr>
              <a:t>칭찬 포인트는 교사가 직접 지급, 별점 평가는 학생이 남기면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연기 요청은 규정(미리 신청) 확인 후 처리, 규정 위반 직전 요청은 정책대로 안내</a:t>
            </a:r>
          </a:p>
          <a:p>
            <a:pPr>
              <a:lnSpc>
                <a:spcPct val="115000"/>
              </a:lnSpc>
              <a:spcAft>
                <a:spcPts val="400"/>
              </a:spcAft>
            </a:pPr>
            <a:r>
              <a:rPr sz="850" b="1">
                <a:solidFill>
                  <a:srgbClr val="FFB020"/>
                </a:solidFill>
                <a:latin typeface="Malgun Gothic"/>
              </a:rPr>
              <a:t>● </a:t>
            </a:r>
            <a:r>
              <a:rPr sz="1050">
                <a:solidFill>
                  <a:srgbClr val="334155"/>
                </a:solidFill>
                <a:latin typeface="Malgun Gothic"/>
              </a:rPr>
              <a:t>수업은 ‘점검 → 몰입 → 칭찬 → 기록’의 리듬으로!</a:t>
            </a:r>
          </a:p>
        </p:txBody>
      </p:sp>
      <p:sp>
        <p:nvSpPr>
          <p:cNvPr id="38" name="Rounded Rectangle 37"/>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선생님의 따뜻한 한마디와 즉각적인 칭찬이 아이의 영어 자신감을 키웁니다. 이 가이드를 곁에 두고 매 수업을 이끌어 주세요. 작은 성취도 놓치지 않고 칭찬하면, 학생은 다음 수업을 기다리게 됩니다. 궁금한 점은 언제든 고객센터로 문의하세요 — 함께 성장하는 수업을 응원합니다!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test.mangoi.co.kr    📞 1588-0000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