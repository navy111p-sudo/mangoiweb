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EA580C"/>
              </a:solidFill>
            </c:spPr>
          </c:dPt>
          <c:dPt>
            <c:idx val="2"/>
            <c:spPr>
              <a:solidFill>
                <a:srgbClr val="059669"/>
              </a:solidFill>
            </c:spPr>
          </c:dPt>
          <c:dPt>
            <c:idx val="3"/>
            <c:spPr>
              <a:solidFill>
                <a:srgbClr val="4F46E5"/>
              </a:solidFill>
            </c:spPr>
          </c:dPt>
          <c:cat>
            <c:strRef>
              <c:f>Sheet1!$A$2:$A$5</c:f>
              <c:strCache>
                <c:ptCount val="4"/>
                <c:pt idx="0">
                  <c:v>热身/问候</c:v>
                </c:pt>
                <c:pt idx="1">
                  <c:v>正课讲解</c:v>
                </c:pt>
                <c:pt idx="2">
                  <c:v>口语练习</c:v>
                </c:pt>
                <c:pt idx="3">
                  <c:v>收尾/复习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14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dPt>
            <c:idx val="0"/>
            <c:spPr>
              <a:solidFill>
                <a:srgbClr val="EA580C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059669"/>
              </a:solidFill>
            </c:spPr>
          </c:dPt>
          <c:dPt>
            <c:idx val="3"/>
            <c:spPr>
              <a:solidFill>
                <a:srgbClr val="0EA5E9"/>
              </a:solidFill>
            </c:spPr>
          </c:dPt>
          <c:cat>
            <c:strRef>
              <c:f>Sheet1!$A$2:$A$5</c:f>
              <c:strCache>
                <c:ptCount val="4"/>
                <c:pt idx="0">
                  <c:v>摄像头</c:v>
                </c:pt>
                <c:pt idx="1">
                  <c:v>麦克风</c:v>
                </c:pt>
                <c:pt idx="2">
                  <c:v>网络</c:v>
                </c:pt>
                <c:pt idx="3">
                  <c:v>光线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90</c:v>
                </c:pt>
                <c:pt idx="3">
                  <c:v>80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数值</c:v>
                </c:pt>
              </c:strCache>
            </c:strRef>
          </c:tx>
          <c:dPt>
            <c:idx val="0"/>
            <c:spPr>
              <a:solidFill>
                <a:srgbClr val="EA580C"/>
              </a:solidFill>
            </c:spPr>
          </c:dPt>
          <c:dPt>
            <c:idx val="1"/>
            <c:spPr>
              <a:solidFill>
                <a:srgbClr val="EA580C"/>
              </a:solidFill>
            </c:spPr>
          </c:dPt>
          <c:dPt>
            <c:idx val="2"/>
            <c:spPr>
              <a:solidFill>
                <a:srgbClr val="EA580C"/>
              </a:solidFill>
            </c:spPr>
          </c:dPt>
          <c:dPt>
            <c:idx val="3"/>
            <c:spPr>
              <a:solidFill>
                <a:srgbClr val="EA580C"/>
              </a:solidFill>
            </c:spPr>
          </c:dPt>
          <c:dPt>
            <c:idx val="4"/>
            <c:spPr>
              <a:solidFill>
                <a:srgbClr val="EA580C"/>
              </a:solidFill>
            </c:spPr>
          </c:dPt>
          <c:cat>
            <c:strRef>
              <c:f>Sheet1!$A$2:$A$6</c:f>
              <c:strCache>
                <c:ptCount val="5"/>
                <c:pt idx="0">
                  <c:v>课前准备</c:v>
                </c:pt>
                <c:pt idx="1">
                  <c:v>互动</c:v>
                </c:pt>
                <c:pt idx="2">
                  <c:v>反馈</c:v>
                </c:pt>
                <c:pt idx="3">
                  <c:v>发音指导</c:v>
                </c:pt>
                <c:pt idx="4">
                  <c:v>记录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840480" cy="3840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669280"/>
            <a:ext cx="2926080" cy="2926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09728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822960"/>
            <a:ext cx="24688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2296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🏫 TEACHER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芒果爱 Mangoi · MANGOI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教师使用说明书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登录 → 进入课堂 → 课堂功能，按上课顺序一步步讲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适用对象 · 芒果爱视频课教师（中文母语教师）   |   www.mangoi.co.kr</a:t>
            </a:r>
          </a:p>
        </p:txBody>
      </p:sp>
      <p:pic>
        <p:nvPicPr>
          <p:cNvPr id="12" name="Picture 11" descr="mango_c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245" y="3108960"/>
            <a:ext cx="4074369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前言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68680"/>
            <a:ext cx="11460175" cy="155448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A580C"/>
                </a:solidFill>
                <a:latin typeface="Microsoft YaHei"/>
              </a:rPr>
              <a:t>这本说明书讲什么？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这是给芒果爱视频课教师看的操作手册。内容按上课的真实顺序排列 —— 登录 → 进入我的页面 → 课前设备检查 → 进入课堂 → 课堂里的每一个功能 → 课后评价与表扬。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⚠️ 请先记住一件事：课堂界面只有韩文和英文两种语言，没有中文界面。 所以本手册里每一个按钮都写成「韩文（英文）＝中文意思」的形式。看手册时请按韩文或英文的按钮名在屏幕上找，中文是解释。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Microsoft YaHei"/>
              </a:rPr>
              <a:t>本书不讲教学法，只讲画面上的按钮怎么用。教学技巧请另见《教师培训手册》。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9748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852928"/>
            <a:ext cx="512064" cy="512064"/>
          </a:xfrm>
          <a:prstGeom prst="round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580C"/>
                </a:solidFill>
                <a:latin typeface="Microsoft YaHei"/>
              </a:rPr>
              <a:t>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1635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icrosoft YaHei"/>
              </a:rPr>
              <a:t>登录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2724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用 Chrome / Edge 打开 www.mangoi.co.kr。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587" y="269748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8747" y="2852928"/>
            <a:ext cx="512064" cy="512064"/>
          </a:xfrm>
          <a:prstGeom prst="round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285292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580C"/>
                </a:solidFill>
                <a:latin typeface="Microsoft YaHei"/>
              </a:rPr>
              <a:t>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8827" y="281635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icrosoft YaHei"/>
              </a:rPr>
              <a:t>课前检查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8827" y="312724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课前 5～10 分钟查摄像头·麦克风·网络·光线。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5760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813048"/>
            <a:ext cx="512064" cy="512064"/>
          </a:xfrm>
          <a:prstGeom prst="round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1304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580C"/>
                </a:solidFill>
                <a:latin typeface="Microsoft YaHei"/>
              </a:rPr>
              <a:t>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7647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icrosoft YaHei"/>
              </a:rPr>
              <a:t>进入课堂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08736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填姓名 → 允许摄像头麦克风 → 进入。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1587" y="365760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8747" y="3813048"/>
            <a:ext cx="512064" cy="512064"/>
          </a:xfrm>
          <a:prstGeom prst="round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747" y="381304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580C"/>
                </a:solidFill>
                <a:latin typeface="Microsoft YaHei"/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8827" y="377647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icrosoft YaHei"/>
              </a:rPr>
              <a:t>课堂工具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8827" y="408736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教材·白板·书写·视频·游戏·热身·测验。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61772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4773168"/>
            <a:ext cx="512064" cy="512064"/>
          </a:xfrm>
          <a:prstGeom prst="round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77316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580C"/>
                </a:solidFill>
                <a:latin typeface="Microsoft YaHei"/>
              </a:rPr>
              <a:t>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73659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icrosoft YaHei"/>
              </a:rPr>
              <a:t>表扬积分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04748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点 ⭐ 学生立刻 +1P（教师专用）。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1587" y="461772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38747" y="4773168"/>
            <a:ext cx="512064" cy="512064"/>
          </a:xfrm>
          <a:prstGeom prst="roundRect">
            <a:avLst/>
          </a:prstGeom>
          <a:solidFill>
            <a:srgbClr val="FF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8747" y="477316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580C"/>
                </a:solidFill>
                <a:latin typeface="Microsoft YaHei"/>
              </a:rP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8827" y="473659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icrosoft YaHei"/>
              </a:rPr>
              <a:t>课后记录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8827" y="504748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评价和表扬会变成家长看到的报告。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7548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580C"/>
                </a:solidFill>
                <a:latin typeface="Microsoft YaHei"/>
              </a:rPr>
              <a:t>25 分钟课堂时间分配（示例·分钟）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365760" y="5074920"/>
          <a:ext cx="566928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Rectangle 40"/>
          <p:cNvSpPr/>
          <p:nvPr/>
        </p:nvSpPr>
        <p:spPr>
          <a:xfrm>
            <a:off x="7470648" y="4654296"/>
            <a:ext cx="3255264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tudent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4709160"/>
            <a:ext cx="3145536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580C"/>
                </a:solidFill>
                <a:latin typeface="Microsoft YaHei"/>
              </a:rPr>
              <a:t>📑 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4538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前言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3199" y="14538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7282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第一步：登录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3199" y="17282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2996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116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0025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第二步：进入「我的页面」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3199" y="20025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30428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28600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27685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课前设备检查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3199" y="227685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57860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5603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25511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第三步：进入课堂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3199" y="25511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85292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346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28254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课堂界面总览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3199" y="28254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12724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1089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30998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上方 6 个标签怎么切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3199" y="30998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340156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3832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33741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教材工具（共享 PDF / 图片 / 文件）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3199" y="33741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675887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657599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364845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书写工具（在教材上直接写）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3199" y="364845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395020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9319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" y="39227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白板工具逐个说明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3199" y="39227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422452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2062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41970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一起看视频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3199" y="41970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1480" y="449884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4805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44714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背景与脸部装饰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3199" y="44714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477316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7548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" y="47457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画面大小与布局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3199" y="47457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504748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02920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" y="5020055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课堂表扬积分（教师专用）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3199" y="5020055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532180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53035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" y="52943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底部控制栏 · 表扬篮子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3199" y="52943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41567" y="148132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41567" y="14630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7055" y="14538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设置（设备 · 画质 · 语言）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13287" y="14538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41567" y="175564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41567" y="17373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17055" y="17282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课堂纪律（教师专用按钮）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13287" y="17282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19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41567" y="202996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41567" y="20116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17055" y="20025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聊天窗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13287" y="20025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41567" y="230428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41567" y="228600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17055" y="227685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AI 热身（正课前 3 分钟）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13287" y="227685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41567" y="257860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41567" y="25603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17055" y="25511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复习测验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13287" y="25511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41567" y="285292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28346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17055" y="28254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课中学习游戏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13287" y="28254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41567" y="312724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41567" y="31089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17055" y="30998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发音教练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13287" y="30998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24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141567" y="340156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41567" y="33832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17055" y="33741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网络不稳时怎么办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13287" y="33741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25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41567" y="3675887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41567" y="3657599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17055" y="364845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课后：写评价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13287" y="364845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26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141567" y="395020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41567" y="39319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17055" y="39227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课后：留下表扬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213287" y="39227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27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41567" y="422452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41567" y="42062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17055" y="41970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功能一览 · 数据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213287" y="41970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28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141567" y="449884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41567" y="44805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17055" y="44714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一图看懂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213287" y="44714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29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141567" y="477316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41567" y="47548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17055" y="47457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常见问题（FAQ）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213287" y="47457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30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141567" y="504748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41567" y="502920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17055" y="5020055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检查清单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213287" y="5020055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31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141567" y="5321808"/>
            <a:ext cx="384048" cy="228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41567" y="53035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17055" y="52943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结语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213287" y="52943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🔑 第一步：登录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打开网站 → 登录 → 确认身份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在浏览器地址栏输入 www.mangoi.co.kr 打开首页，点击右上角的「로그인 / Login」登录。账号（ID）和初始密码由运营发给您。请用 Chrome 或 Edge 浏览器，不要用微信、KakaoTalk 等 App 内置浏览器 —— 内置浏览器常常无法调用摄像头和麦克风。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60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浏览器打开 www.mangoi.co.kr（推荐 Chrome / Edge）。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点击右上角 「로그인」（Login） ，输入运营发给您的 ID 和密码。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登录成功后，右上角会显示您的姓名和积分（P）。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界面是韩文的话，点右上角 「🌐 EN」 切换成英文。课堂界面只有韩文和英文两种，没有中文界面。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第一次登录后请立即修改密码（我的页面 → 修改信息）。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43423"/>
            <a:ext cx="5669280" cy="1370457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489143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36031"/>
            <a:ext cx="5394960" cy="1041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只用 Chrome 或 Edge。App 内置浏览器（微信 / KakaoTalk）无法开摄像头麦克风。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网站语言按钮是 🌐 EN / 한국어 两个 —— 本手册用中文解释，但按钮名保留韩/英原文，方便您在屏幕上对号入座。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忘记密码时不要反复试 —— 连续输错会临时锁定账号，请直接联系运营。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账号是教师专用账号，和学生账号不同。用学生账号登录看不到课堂的教师功能（表扬按钮、全体静音等）。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把 www.mangoi.co.kr 加入浏览器书签，每次上课直接点开，能省 1 分钟。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udent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67612" y="2670048"/>
            <a:ext cx="165689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4990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4990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1660" y="2670048"/>
            <a:ext cx="1236268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www.mangoi…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450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07384" y="2670048"/>
            <a:ext cx="208483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8968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968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91432" y="2670048"/>
            <a:ext cx="1664208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「로그인」（Logi…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221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5096" y="2670048"/>
            <a:ext cx="18269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57392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5739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9144" y="2670048"/>
            <a:ext cx="14063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姓名和积分（P）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206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4948" y="2670048"/>
            <a:ext cx="13697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6724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6724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68996" y="2670048"/>
            <a:ext cx="9491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「🌐 EN」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471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7599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1989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989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1647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立即修改密码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👤 第二步：进入「我的页面」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所有上课入口都在这里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登录后点 「👤 마이페이지」（My Page / 我的页面）。上课要用的按钮全都集中在这一页：设备检查、进入课堂、调课、复习测验等。金色的两个大按钮里，右边那个就是进入课堂。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923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点击 「👤 마이페이지」（My Page）。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上方一排小圆钮：포인트상점（积分商店）· 단계별 발음（分级发音）· 연기/변경（延期/变更）· 복습퀴즈（复习测验）· 전체메뉴（全部菜单）· 수업 진단（课堂诊断）· 수업 신청（约课）。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下方两个金色大按钮：左 「결제하기」（付款）、右 「🎥 수업 입장」（进入课堂）。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按钮下方的小字提示：「화상수업 로비로 입장 · 마이크/카메라 사용」＝进入视频课大厅，需要麦克风和摄像头。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上课前 5～10 分钟先做 「수업 진단」（课堂诊断＝设备检查），再点进入课堂。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4377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10097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56985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教师和学生用的是同一个「进入课堂」按钮，所以您看到的入口和学生完全一样。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「연기/변경」 是处理学生请假、调课的入口。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找不到菜单时，可以用首页的 AI 搜索框输入功能名，它会直接跳转。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点了进入课堂，如果没有允许摄像头和麦克风权限，画面和声音仍然不会连上。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固定习惯：① 设备检查 → ② 提前上传教材 → ③ 进入课堂。三步做完再等学生。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3925776"/>
            <a:ext cx="5596128" cy="15027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ypage_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980640"/>
            <a:ext cx="5486400" cy="139303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89964" y="2670048"/>
            <a:ext cx="18269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226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22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4012" y="2670048"/>
            <a:ext cx="14063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「👤 마이페이…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693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99816" y="2670048"/>
            <a:ext cx="18982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82112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8211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3864" y="2670048"/>
            <a:ext cx="14776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포인트상점（积…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811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80990" y="2670048"/>
            <a:ext cx="18982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6328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6328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5038" y="2670048"/>
            <a:ext cx="14776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「결제하기」（…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92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2164" y="2670048"/>
            <a:ext cx="18269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4446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444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46212" y="2670048"/>
            <a:ext cx="14063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「화상수업 로…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913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72015" y="2670048"/>
            <a:ext cx="18269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5431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5431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56063" y="2670048"/>
            <a:ext cx="14063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「수업 진단」…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🩺 课前设备检查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摄像头·麦克风·网络·光线 一次查完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课前检查页会一次性检测摄像头、麦克风、网络、光线，并给出总分和每一项的信号灯。请在课前 5～10 分钟做，把问题解决在学生进来之前 —— 课中再修，就等于浪费学生的上课时间。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在我的页面点 「수업 진단」（课堂诊断）。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依次确认 카메라（摄像头）· 마이크（麦克风）· 네트워크（网络）· 조명（光线） 四项。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看总分和每一项的信号（正常 / 警告）。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红色的项目 —— 调整灯光位置、座位、网络（改用有线或靠近路由器） 后再测一次。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麦克风没反应时，先检查浏览器地址栏左边的权限图标是否允许。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光线放在脸的正前方，不要在背后 —— 背光会让脸全黑，孩子注意力会下降。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网络优先级：有线 &gt; 5GHz Wi-Fi &gt; 手机热点。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耳机（带麦）能明显减少回声，建议常备。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检查通过不代表课中一定稳定。网络是会变的，所以课中还有自动降画质等保护机制（见后面「网络不稳时」一节）。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背景尽量简洁。孩子会盯着您身后的东西看，那都是从学习上偷走的注意力。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acher_pre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1111" y="2670048"/>
            <a:ext cx="22988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340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40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159" y="2670048"/>
            <a:ext cx="18781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「수업 진단」（课堂…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991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42792" y="2670048"/>
            <a:ext cx="21415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2508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2508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6840" y="2670048"/>
            <a:ext cx="17209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카메라（摄像头）·…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431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67197" y="2670048"/>
            <a:ext cx="95463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4949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4949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1245" y="2670048"/>
            <a:ext cx="53400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总分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183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04711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8700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700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8759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灯光位置、座位、网络…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483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57715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4001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4001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1763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浏览器地址栏左边的权…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🎥 第三步：进入课堂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输入姓名 → 允许摄像头麦克风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点了进入课堂后会看到 「화상통화 +」 入场卡片。填姓名、（需要时填房间号），按 「입장하기」（进入），然后浏览器会弹出权限询问 —— 一定要点「允许 / Allow」。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「이름 입력」 栏填写您的姓名（学生会看到这个名字，请填正式名字）。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「방 코드」（房间号）：留空＝进入公用课堂；运营给了专属房间号就填进去。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点蓝色按钮 「입장하기」（进入）。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浏览器弹出摄像头/麦克风询问 → 点 「허용 / Allow」（允许）。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进去后先自己确认：画面里能看到自己的脸吗？声音有反应吗？ 然后等学生进来。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提前 5 分钟进去，检查画面构图（脸在中间、不要只拍到额头）。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误点了「阻止」时：点地址栏左边的锁 / 摄像头图标 → 改成允许 → 刷新页面。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学生进不来时，让他确认浏览器权限，并先用文字聊天沟通。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课堂里的按钮名称只有韩文和英文。本手册每个按钮都写了「韩文（英文）＝中文意思」，请照着对。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进去后花 30 秒确认背景、灯光、声音，这节课就顺很多。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lass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" y="2670048"/>
            <a:ext cx="16696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2670048"/>
            <a:ext cx="12490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「이름 입력」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179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84678" y="2670048"/>
            <a:ext cx="22988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697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697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8726" y="2670048"/>
            <a:ext cx="18781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「방 코드」（房间号…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66360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865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4865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0408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「입장하기」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010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32980" y="2670048"/>
            <a:ext cx="187086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1527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1527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7028" y="2670048"/>
            <a:ext cx="1450238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「허용 / Allo…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384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86723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6901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6901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0771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画面里能看到自己的脸…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🖥️ 课堂界面总览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上边一条 · 中间大块 · 下面一排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课堂画面分三块：① 最上面一条（房间信息、计时器、语言、深色模式）、② 中间的大工作区（白板、教材、视频等在这里打开）、③ 底部控制栏（麦克风、摄像头、聊天、退出）。您自己的脸在左上角的小窗口，旁边就是 🧺 表扬篮子。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76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左上：`방: mangoi-class · 참여자: 2명` ＝ 房间名 · 当前 2 人在线。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右上：⏰ 计时器（上课时间）、🌐 EN（切换语言）、🌙 다크（Dark）（深色模式）。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中间：您在上方标签里选的工具（白板、教材、视频…）会在这里打开。进课默认显示「教材」。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底部中间：控制栏 —— 마이크 · 카메라 · 화면공유 · 채팅 · 상담 · 설정 · 나가기。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左上小窗口：您的摄像头画面 + 🧺 표찬 바구니（表扬篮子）。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03900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64962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96508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鼠标停在按钮上会显示名称（提示框）—— 记不住按钮时就悬停一下。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界面是韩文时，点右上 🌐 EN 换成英文，会好认很多。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屏幕太亮就切 🌙 다크（Dark）。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按钮看着多，其实常用的只有四个：教材、白板、麦克风/摄像头、聊天。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第一次上课前，自己一个人进空房间点一遍所有按钮 —— 5 分钟，胜过课中手忙脚乱。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48940" y="2670048"/>
            <a:ext cx="95463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3123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123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2988" y="2670048"/>
            <a:ext cx="53400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左上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357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86453" y="2670048"/>
            <a:ext cx="95463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6874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874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0501" y="2670048"/>
            <a:ext cx="53400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右上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108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23967" y="2670048"/>
            <a:ext cx="95463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30626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626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8015" y="2670048"/>
            <a:ext cx="53400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中间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860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61480" y="2670048"/>
            <a:ext cx="126918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4377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377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5528" y="2670048"/>
            <a:ext cx="84856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底部中间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066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3547" y="2670048"/>
            <a:ext cx="142646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9584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9584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7595" y="2670048"/>
            <a:ext cx="100583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左上小窗口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🗂️ 上方 6 个标签怎么切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白板·视频·学生游戏·背景·AI热身·复习测验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工作区上方有一排标签按钮，点一下就切换到那个工具，当前选中的会高亮。右边还有两个下拉工具组：📚 교재도구（教材工具）、✍️ 필기도구（书写工具）。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730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🖊 칠판（Board）＝白板 —— 边讲边写边画。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📹 동영상（Video）＝视频 —— 一起看 YouTube 链接或视频文件。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🎮 학생게임（Game）＝学生游戏 —— 课中一起玩学习游戏。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🎨 배경화면（Background）＝背景 —— 换视频背景、加装饰。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🗣️ AI 웜업（AI Warm-up）＝AI 热身 —— 正课前用英语开口热身。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🧠 복습퀴즈（Review Quiz）＝复习测验 —— AI 按本课教材和等级自动出题。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71439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617159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64047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进课后默认打开的是「教材」（不是白板）—— 分配好的教材会自动加载。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切换标签时，您的脸一直在左上角，不会消失。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标签右边还有 📚 교재도구 ▾ 和 ✍️ 필기도구 ▾ 两个下拉，是上课用得最多的两组工具。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「학생게임（学生游戏）」在正式上课时间可能受限制 —— 以运营的规定为准。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一节课最常用的其实就是 📚 教材 + ✍️ 书写 + 🖊 白板 三样，其他按需要再用。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white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093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칠판（Boar…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6164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44521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2681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681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8569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동영상（Vid…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884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1726" y="2670048"/>
            <a:ext cx="175564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294022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402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5774" y="2670048"/>
            <a:ext cx="133502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학생게임（Ga…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6737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0254" y="2670048"/>
            <a:ext cx="175564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3255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255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4302" y="2670048"/>
            <a:ext cx="133502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배경화면（Ba…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590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88782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7107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107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2830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AI 웜업（A…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84663" y="2670048"/>
            <a:ext cx="175564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6695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5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68711" y="2670048"/>
            <a:ext cx="133502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복습퀴즈（Re…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📚 教材工具（共享 PDF / 图片 / 文件）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上传 · 素材库 · 翻页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点标签右边的 📚 교재도구 ▾（教材工具），会向下展开一排按钮。这里是上传教材（PDF / 图片）和学生一起看的地方。您一上传，学生屏幕上立刻显示同一页。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205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📁 교재 업로드（Upload）＝上传教材 —— PDF / JPG / PNG。可以一次选多张（Ctrl+A 全选，或按住 Ctrl / Shift 点选）。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📎 파일 업로드（Attach file）＝上传文件 —— Word、Excel、PPT、ZIP 等任意文件，学生可以下载。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📚 라이브러리（Library）＝素材库 —— 从运营（管理员）上传的教材库里选。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◀ 이전（Prev）/ 다음（Next）▶ ＝ 翻页。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🔲 화면맞춤（Fit）/ 100% / 1:1 ＝ 按屏幕大小显示 / 原始大小。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⏹ 공유 중지（Stop sharing） ＝ 结束教材共享。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393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938113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85001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上传的瞬间学生就看到同一页 —— 不用再口头说「翻到第几页」。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不只是 PDF，照片（JPG / PNG）也可以 —— 手写的题目拍照上传就能用。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上传多张时按文件名顺序排列，建议文件名前面加编号（01、02…）。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文件太大（几十 MB 的 PDF）会上传很久。课前先传好，别在课中传。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每节课的教材课前先传好，上课直接翻页，开场就不会冷场。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materials_d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" y="2670048"/>
            <a:ext cx="18269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7864" y="2670048"/>
            <a:ext cx="14063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교재 업로드（…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078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23667" y="2670048"/>
            <a:ext cx="18269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596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596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7715" y="2670048"/>
            <a:ext cx="14063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파일 업로드（…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063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33518" y="2670048"/>
            <a:ext cx="18269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1581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1581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7566" y="2670048"/>
            <a:ext cx="14063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라이브러리（L…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048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43369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2566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2566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7417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이전（Prev…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637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39251" y="2670048"/>
            <a:ext cx="175564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2154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2154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3299" y="2670048"/>
            <a:ext cx="133502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화면맞춤（Fi…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9489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77779" y="2670048"/>
            <a:ext cx="797356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77779" y="2670048"/>
            <a:ext cx="7973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94A3B8"/>
                </a:solidFill>
                <a:latin typeface="Microsoft YaHei"/>
              </a:rPr>
              <a:t>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✍️ 书写工具（在教材上直接写）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笔 · 荧光笔 · 文字 · 撤销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点标签右边的 ✍️ 필기도구 ▾（书写工具） 展开。它和白板不同 —— 是直接写在教材（或当前画面）上面的一层，用来圈重点、标发音、连线。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76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🖊 펜（Pen）＝笔 —— 自由书写。 / 🖍 형광펜（Highlighter）＝荧光笔 —— 高亮重点。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🧽 지우개（Eraser）＝橡皮 —— 擦掉写的内容。 / 📝 텍스트（Text）＝文字 —— 用键盘打字。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✨ AI 도형（AI Shapes）＝AI 图形 —— 手画的歪线自动变成整齐的图形。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굵기（Thickness）滑块 ＝ 调笔的粗细。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↩ 되돌리기（Undo）＝撤销 上一笔。 / 🗑 전체 지우기（Clear）＝全部清除。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03900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64962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96508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打开教材后写的字，正好叠在教材那一页上面。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重点单词用荧光笔一划，孩子的视线马上跟过来。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写错了 —— 点一下 ↩ 撤销就干净了，不用全部清除。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翻到下一页时，上一页的笔迹不会自动跟着走。需要保留的内容请截图或用白板的「保存」。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讲发音时用不同颜色标重音，孩子记得更牢。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write_d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2182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447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447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6230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펜（Pen）＝笔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650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69387" y="2670048"/>
            <a:ext cx="194218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5168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168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53435" y="2670048"/>
            <a:ext cx="152156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지우개（Eraser…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157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94452" y="2670048"/>
            <a:ext cx="187086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7674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674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8500" y="2670048"/>
            <a:ext cx="1450238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AI 도형（AI 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531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8195" y="2670048"/>
            <a:ext cx="187086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3049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049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32243" y="2670048"/>
            <a:ext cx="1450238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굵기（Thickne…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905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01937" y="2670048"/>
            <a:ext cx="208483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8423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423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5985" y="2670048"/>
            <a:ext cx="166420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되돌리기（Undo）…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🖊️ 白板工具逐个说明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笔·橡皮·图形·文字·保存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点 🖊 칠판（Board） 标签，上方会出现一排绘图工具。从左到右依次是：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2051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✏️ 펜（Pen）＝笔 —— 自由画。 / 🧽 지우개（Eraser）＝橡皮。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📏 선（Line）＝直线 / ⬜ 사각형（Rect）＝矩形 / ⭕ 원（Circle）＝圆形。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📝 텍스트（Text）＝文字 —— 用键盘输入。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🎨 색상（Color）＝颜色（小色块）/ 굵기（Size）＝粗细（滑块）。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✨ AI 도형（AI Shapes） —— 画得歪也会自动变整齐。 / ✍️ AI 글자（AI Text） —— 手写识别成印刷体（实验功能）。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🗑️ 전체 지우기（Clear All）＝全部擦掉 / 💾 저장（Save）＝保存成图片。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393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938113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85001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换颜色和粗细来强调重点，孩子记得住。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💾 저장（Save） 会把当前白板下载成图片 —— 可以当复习资料发给学生。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AI 图形 / AI 文字是实验性功能，开着不影响正常书写。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「전체 지우기（全部擦掉）」是不能撤销的。擦之前先想一下要不要先保存。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下课前按一次 💾 保存，今天讲的内容就完整留下来了。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white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963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225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펜（Pen）＝…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87168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6946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1216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선（Line）…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016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3049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6534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534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7097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텍스트（Tex…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6737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0254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3255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255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4302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색상（Colo…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6325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46136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02843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843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0183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AI 도형（A…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913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42017" y="2670048"/>
            <a:ext cx="18269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82431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431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26065" y="2670048"/>
            <a:ext cx="14063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전체 지우기（…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📹 一起看视频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YouTube 链接 · 视频文件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在 📹 동영상（Video） 标签里，可以粘贴 YouTube 链接或上传视频文件和学生一起看 —— 儿歌、动画、听力素材都合适。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15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把 YouTube 链接（URL） 粘贴到输入框，或上传视频文件。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点 ▶ 재생（Play） 开始播放。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换片子时点 새 영상（New video）。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播放中可以随时暂停提问 —— 这一步才是学习，不是看完就算。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94452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4017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87060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学生屏幕上会同步播放，不用他自己去找。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听力素材建议戴耳机，声音更清楚也不会回声。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视频长度控制在 2～3 分钟，太长孩子就变成纯观众了。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部分 YouTube 视频禁止外部嵌入播放，遇到播不了的就换一个链接。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链接课前准备好存在记事本里，课中一粘就播，不耽误时间。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08199" y="2670048"/>
            <a:ext cx="17995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9049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049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2247" y="2670048"/>
            <a:ext cx="1378915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YouTube 链接…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773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0618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91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91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4666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재생（Play）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361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6499" y="2670048"/>
            <a:ext cx="194218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6879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879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0547" y="2670048"/>
            <a:ext cx="152156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새 영상（New v…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868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1565" y="2670048"/>
            <a:ext cx="126918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9386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9386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5613" y="2670048"/>
            <a:ext cx="84856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暂停提问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🎨 背景与脸部装饰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换背景 · 面具 · 小配饰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在 🎨 배경화면（Background） 标签里，可以换掉您身后的背景，也可以给脸加有趣的装饰。点一下网格里想要的就换好了。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15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在背景网格里点一个（太空、沙漠、森林、樱花、海边、金字塔…）。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点 배경 끄기（Background off） 回到正常摄像头画面。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下面的脸部装饰（面具 / 配饰） 里可以选眼镜、帽子、动物等。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不喜欢就再点一次关掉。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94452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4017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87060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换背景后脸依然清晰可见。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太花哨的装饰会分散孩子对课程的注意力。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背景功能会多消耗一些电脑性能 —— 电脑卡顿时先关掉它。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电脑配置较低或网络较弱时，开背景可能导致画面卡顿。这时优先保证「不卡」，背景可以不用。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正课用干净背景，课间休息或表扬时段再放有趣的装饰 —— 张弛有度。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51836" y="2670048"/>
            <a:ext cx="126918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34132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3413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5884" y="2670048"/>
            <a:ext cx="84856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背景网格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102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03904" y="2670048"/>
            <a:ext cx="201350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8620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87952" y="2670048"/>
            <a:ext cx="159288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배경 끄기（Back…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741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00292" y="2670048"/>
            <a:ext cx="20702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8258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258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4340" y="2670048"/>
            <a:ext cx="16495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脸部装饰（面具 /…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049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53374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3567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567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7422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再点一次关掉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🔲 画面大小与布局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1/4 · 1/2 · 3/4 · 全屏 · PIP · 单人 · 自由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视频窗口上方那一排小按钮，用来调整您的画面大小和摆放方式。当前选中的会高亮。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1/4 · 1/2 · 3/4 · 전체（Full） ＝ 画面占屏幕的 1/4 到全屏。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📌 PIP ＝ 把视频做成小浮窗叠在教材/白板上面。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👤 솔로（Solo）＝单人 ＝ 隐藏其他人，只放大自己的画面。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⤡ 자유（Free）＝自由 ＝ 拖标题栏移动、拖右下角改大小。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看教材时调小（1/4），讲解和示范时调大（全屏）。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📌 PIP 最实用 —— 教材和人脸能同时看到。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屏幕小（笔记本）时，视频缩到 1/4，把教材放大。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示范口型、发音时一定要切大画面 —— 孩子要看您的嘴。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5646420" cy="47548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布局是每个人各自设置的，您调大小不会影响学生那边的画面。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217920"/>
            <a:ext cx="5646420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讲发音＝大画面，做题＝小画面。养成这个切换习惯，课堂节奏会明显变好。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5628" y="3255264"/>
            <a:ext cx="4785303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layout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492" y="3310128"/>
            <a:ext cx="4675575" cy="277977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24558" y="2670048"/>
            <a:ext cx="1570939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0685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0685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8606" y="2670048"/>
            <a:ext cx="1150315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1/4 · 1/2…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549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8377" y="2670048"/>
            <a:ext cx="8979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6067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67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2425" y="2670048"/>
            <a:ext cx="4773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PIP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631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59198" y="2670048"/>
            <a:ext cx="208483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4149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149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3246" y="2670048"/>
            <a:ext cx="166420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솔로（Solo）＝单…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403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26910" y="2670048"/>
            <a:ext cx="208483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0920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920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10958" y="2670048"/>
            <a:ext cx="166420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자유（Free）＝自…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174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4622" y="2670048"/>
            <a:ext cx="13697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7691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7691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78670" y="2670048"/>
            <a:ext cx="9491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小（1/4）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🌟 课堂表扬积分（教师专用）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点星星 → 学生篮子 +1P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学生表现好的瞬间，点他视频画面左上角的 ⭐「칭찬」（表扬）按钮，这个学生立刻 +1P，并实时掉进他屏幕左上角的 🧺 篮子里。这是芒果爱最有效的即时奖励。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教师：点学生视频左上角的 ⭐ 「칭찬」按钮 → 该学生 +1P（星星旁边会累加数字）。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多个学生时，也可以从上方的 ⭐ 칭찬 주기（表扬）条里选学生发。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学生：他屏幕左上角的 🧺 篮子会实时飞进 +1P。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下课时，学生给星级评价还能再得 +10P。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积攒的积分可以在积分商店、转盘里兑换奖励。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表扬积分只有教师能给，学生自己加不了。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星星有防连点冷却，连点时按钮会短暂变灰 —— 这是正常的。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篮子显示的是本节课得到的，顶部的总 P 是累计值。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表扬要具体。与其一直点星星说「Good」，不如说「你刚才那个 th 发得很准！」再点星星，效果差很多。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目标：每节课至少 3 次具体表扬。孩子下节课的参与度会不一样。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3828426"/>
            <a:ext cx="5596128" cy="1697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lass_pra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883290"/>
            <a:ext cx="5486400" cy="158773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3879" y="2670048"/>
            <a:ext cx="95463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1617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1617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7927" y="2670048"/>
            <a:ext cx="53400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教师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851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1392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5368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368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5440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⭐ 칭찬 주기（表扬…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887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81751" y="2670048"/>
            <a:ext cx="95463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6404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404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5799" y="2670048"/>
            <a:ext cx="53400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学生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63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19264" y="2670048"/>
            <a:ext cx="111191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0156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015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3312" y="2670048"/>
            <a:ext cx="69128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下课时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117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4055" y="2670048"/>
            <a:ext cx="17410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9635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9635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8103" y="2670048"/>
            <a:ext cx="13203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积分商店、转盘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🎛️ 底部控制栏 · 表扬篮子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麦克风·摄像头·共享·聊天·设置·退出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屏幕底部中间的控制栏，是课上按得最多的一排。左起依次是：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89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🎤 마이크（Microphone）＝麦克风 —— 开/关自己的声音（关掉时按钮变暗）。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📷 카메라（Camera）＝摄像头 —— 开/关自己的画面。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🖥️ 화면공유（Screen sharing）＝屏幕共享 —— 把自己的电脑画面给学生看。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💬 채팅（Chat）＝聊天 —— 打字沟通（有未读时按钮上会有红色数字）。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💬 상담（Consult）＝咨询 —— 连接客服（KakaoTalk）。 / ⚙️ 설정（Settings）＝设置。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🚪 나가기（Exit）＝退出 —— 结束并离开课堂。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3191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77763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2452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退出（🚪）之前先确认白板/笔记是否已保存。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没声音时 → 先看 ⚙️ 설정（设置） 里选的麦克风和扬声器对不对。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手机横屏时控制栏可能收起来 —— 点 ••• 或下方的把手可以重新打开。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屏幕共享时浏览器会问共享哪个窗口 —— 选好窗口再点「共享」。共享整个屏幕时请注意不要露出私人信息。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聊天窗特别适合发单词拼写和链接 —— 说十遍不如打一行字。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963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225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마이크（Mic…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87168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6946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946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1216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카메라（Cam…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149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4372" y="2670048"/>
            <a:ext cx="175564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3666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666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8420" y="2670048"/>
            <a:ext cx="133502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화면공유（Sc…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1002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2900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7519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519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6948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채팅（Chat…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590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88782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7107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107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2830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상담（Cons…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84663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6695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5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68711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나가기（Exi…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⚙️ 设置（设备 · 画质 · 语言）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没声音·卡顿时先来这里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点底部的 ⚙️ 설정（Settings） 会弹出设置面板，分三组：장치（设备）· 영상·녹화（视频·录制）· 표시（显示）。课堂出问题时，九成能在这里解决。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923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장치（设备）：마이크（麦克风选择）· 마이크 음량（麦克风音量）· 스피커 테스트（扬声器测试 ▶）· 카메라（摄像头选择）· 잡음 제거（降噪）。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영상·녹화（视频·录制）：영상 화질 자동 / 고 / 저（画质 自动/高/低）· 자동 녹화（自动录制）· 배경 흐림（背景虚化）。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표시（显示）：언어 한국어 / EN（语言）· 테마 라이트 / 다크（浅色/深色）· 전체화면（全屏）。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没声音 → 换一个麦克风设备 → 点 스피커 테스트 ▶ 确认能听到声音。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画面卡顿 → 画质改成 저（低），并关掉背景虚化。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4377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10097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56985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接了新耳机/摄像头后，一定要在这里重新选一次设备，不会自动切换。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잡음 제거（降噪） 打开能明显减少键盘声、风扇声。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网络差的时候，画质调低比断线好 —— 声音比画面重要。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5646420" cy="47548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「자동 녹화（自动录制）」是按运营的规定运行的，请不要随意关闭。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217920"/>
            <a:ext cx="5646420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第一次上课前把设备选好，之后浏览器会记住，每次省一步。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5628" y="3255264"/>
            <a:ext cx="4785303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492" y="3310128"/>
            <a:ext cx="4675575" cy="277977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40687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298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4735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장치（设备）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442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7308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8960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960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1356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영상·녹화（视频·录…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478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17666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99962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96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1714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표시（显示）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140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84287" y="2670048"/>
            <a:ext cx="111191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6658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658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8335" y="2670048"/>
            <a:ext cx="69128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没声音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619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79077" y="2670048"/>
            <a:ext cx="126918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6137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137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3125" y="2670048"/>
            <a:ext cx="84856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画面卡顿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🔒 课堂纪律（教师专用按钮）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全体静音 · 专注模式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标签栏右侧有两个只有教师能看到的按钮，用来在多人课或孩子分心时快速稳住课堂。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31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🎤 전체 음소거（Mute all）＝全体静音 —— 一键关掉所有学生的麦克风。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🎯 집중 모드（Focus mode）＝专注模式 —— 限制学生的自由操作，让他看您指定的画面。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需要学生发言时再点一次解除（按钮颜色会变）。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解除后一定要告诉学生「现在可以说话了」 —— 否则他会以为麦克风坏了。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54930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20065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47538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这两个按钮学生看不到，只在教师账号显示。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多人课上有杂音（家里电视声、兄弟姐妹说话）时，全体静音最快。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不要长时间开着 —— 课的目的是让孩子多开口。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注意力不集中不要用「压」的。先换活动（游戏、白板画画），实在不行再用专注模式。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用之前先说一句「我们安静 10 秒钟」，孩子的接受度完全不同。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white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94052" y="2670048"/>
            <a:ext cx="208483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7634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634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78100" y="2670048"/>
            <a:ext cx="166420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전체 음소거（Mut…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88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1764" y="2670048"/>
            <a:ext cx="201350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4406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40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5812" y="2670048"/>
            <a:ext cx="159288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집중 모드（Focu…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527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8153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4044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044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2201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再点一次解除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189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4774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0707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707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8822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一定要告诉学生「现在…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💬 聊天窗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打字 · 发链接 · 未读提醒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点底部 💬 채팅（Chat） 打开右侧聊天栏。声音出问题时它是最后的救命通道，平时用来发单词拼写和链接。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点 💬 채팅 打开/关闭聊天栏。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在下方输入框打字，按 Enter 发送。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学生听不清时，把关键单词打出来给他看。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关着聊天栏时，来了新消息按钮上会显示红色未读数字。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声音完全不通时，先用聊天告诉他「稍等一下，我在处理」。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拼写、链接、数字用打字比用说的准确十倍。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未读徽章会闪 —— 看到就点开，别让学生等。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聊天记录会保存，课后运营也能查看。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聊天里不要写学生的电话、住址等个人信息。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课程结束前，把今天的 3 个关键单词打在聊天里发过去 —— 学生课后还能看到。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lass_c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9672" y="2670048"/>
            <a:ext cx="119786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196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196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3720" y="2670048"/>
            <a:ext cx="77724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💬 채팅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753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0416" y="2670048"/>
            <a:ext cx="106984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02712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0271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4464" y="2670048"/>
            <a:ext cx="64922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026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73144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5544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5544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7192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学生听不清时，把关键…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4326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6149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0844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844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0197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按钮上会显示红色未读…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627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9154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6145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145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3202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先用聊天告诉他「稍等…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🗣️ AI 热身（正课前 3 分钟）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先让嘴动起来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直接进正课，孩子往往前 10 分钟一句话不说。🗣️ AI 웜업（AI Warm-up） 就是让他先出声的「热身运动」—— 没有压力，只求开口。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在课堂里打开 🗣️ AI 웜업 标签。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选适合这个孩子的速度和难度。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您先示范一遍（这一步最重要，孩子的犹豫会少一半）。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让他跟着说，哪怕声音很小也要表扬。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把热身里的句子直接带进正课用。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热身的目标是发出声音，不是发音准确。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热身用过的句子在正课再出现，孩子的成就感会翻倍。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特别内向的孩子，热身可以拉长到 5 分钟。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课堂里的 AI 热身和学生自己在家做的是同一套内容。他课前做过的话，一开口就能接上。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开场白：「You said ○○ in the warm-up, right?」—— 一句话就破冰。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warm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46988" y="2670048"/>
            <a:ext cx="16130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928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1036" y="2670048"/>
            <a:ext cx="11923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🗣️ AI 웜업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998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42869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516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516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26917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适合这个孩子的速度和…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99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5874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7817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7817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9922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您先示范一遍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961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62495" y="2670048"/>
            <a:ext cx="221284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4479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479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6543" y="2670048"/>
            <a:ext cx="179222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哪怕声音很小也要表扬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534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8223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4051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051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2271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直接带进正课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🧠 复习测验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按本课教材·等级 AI 自动出题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🧠 복습퀴즈（Review Quiz） 会根据这节课的教材、等级、课次 由 AI 自动出题。放在课程最后 5 分钟，能立刻检验今天学的东西。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打开 🧠 복습퀴즈 标签。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确认题目是否对应今天的教材内容。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让学生答，答错的题当场再讲一遍。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把错题记下来，写进课后评价。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结束时提醒学生课后自己再做一遍。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错题才是收获 —— 那就是下节课的开场素材。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答对给表扬 ⭐，动力会持续到下节课。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时间不够时，做 3 题也比不做强。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5646420" cy="47548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AI 出的题偶尔会有不贴合的情况。请您先扫一眼再给学生做。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217920"/>
            <a:ext cx="5646420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「答对 5 题我们就下课！」—— 给个明确目标，孩子会专注很多。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9595" y="3255264"/>
            <a:ext cx="4557369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udent_reviewqui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3310128"/>
            <a:ext cx="4447641" cy="277977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33195" y="2670048"/>
            <a:ext cx="15124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1549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549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7243" y="2670048"/>
            <a:ext cx="10917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🧠 복습퀴즈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561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28492" y="2670048"/>
            <a:ext cx="17410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1078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078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2540" y="2670048"/>
            <a:ext cx="13203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今天的教材内容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951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52390" y="2670048"/>
            <a:ext cx="221284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3468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468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6438" y="2670048"/>
            <a:ext cx="179222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答错的题当场再讲一遍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523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48118" y="2670048"/>
            <a:ext cx="142646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3041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3041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2166" y="2670048"/>
            <a:ext cx="100583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错题记下来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458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57462" y="2670048"/>
            <a:ext cx="18982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3975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975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1510" y="2670048"/>
            <a:ext cx="14776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课后自己再做一遍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🎮 课中学习游戏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游戏不是奖励，是复习本身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🎮 학생게임（Game） 不是「上完课的奖品」，而是复习本身。在游戏里孩子能不厌烦地遇到同一个单词五次。但一定要先说目的，否则就只是玩。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选包含今天学的表达的游戏。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先说目标：「今天的单词，我们拿 10 分！」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他玩的时候，记下他答错的单词。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游戏结束后，只针对错的那几个再讲一遍。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把结果接到 ⭐ 表扬和积分上。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没说目的的游戏＝纯玩 —— 先说目标。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换着玩不同类型的游戏，新鲜感能一直保持。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电脑配置低或网络弱时游戏会卡 —— 换成复习测验这类轻量活动。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5646420" cy="47548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正式上课时间内游戏可能受限制，请遵守运营的规定。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217920"/>
            <a:ext cx="5646420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他玩的时候您要出声加油。一个人玩和一起玩，是完全不同的两件事。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5628" y="3255264"/>
            <a:ext cx="4785303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g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492" y="3310128"/>
            <a:ext cx="4675575" cy="277977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1364" y="2670048"/>
            <a:ext cx="18982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366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5412" y="2670048"/>
            <a:ext cx="14776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包含今天学的表达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5965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42539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2483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483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6587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先说目标：「今天的单…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266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95543" y="2670048"/>
            <a:ext cx="18982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7783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3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9591" y="2670048"/>
            <a:ext cx="14776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记下他答错的单词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383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76718" y="2670048"/>
            <a:ext cx="18982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59014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5901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60766" y="2670048"/>
            <a:ext cx="14776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只针对错的那几个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501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57892" y="2670048"/>
            <a:ext cx="16696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740188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4018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41940" y="2670048"/>
            <a:ext cx="12490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⭐ 表扬和积分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🎙️ 发音教练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录音 → 打分 → 回放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发音吃力的孩子，用 AI 发音教练的句子练。录音 → 打分 → 回放 的循环能让他自己听出问题，比您说十遍更有效。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和学生一起选适合他水平的句子。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让他录音 → 看分数 → 回放自己的声音。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难发的音（r、th）先用短单词反复练。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把课上的句子布置成发音教练的作业。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下节课开头检查作业并表扬进步。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「课上的句子 → 发音教练重复练」这个套路最有效。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分数会带来成就感，孩子愿意继续练。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当场纠正每一个发音会让孩子闭嘴 —— 一节课挑一个重点就够。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打分是参考值，环境噪音会影响结果。分数低不要直接说「不对」，要说「再试一次，这次慢一点」。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录下他第一次和一个月后的声音做对比 —— 这是给家长最有说服力的东西。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udent_speechcoach_c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47241" y="2670048"/>
            <a:ext cx="18982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953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953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1289" y="2670048"/>
            <a:ext cx="14776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适合他水平的句子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553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8416" y="2670048"/>
            <a:ext cx="21561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10712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071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2464" y="2670048"/>
            <a:ext cx="17355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录音 → 看分数 →…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457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7451" y="2670048"/>
            <a:ext cx="18982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4974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4974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1499" y="2670048"/>
            <a:ext cx="14776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先用短单词反复练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574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48625" y="2670048"/>
            <a:ext cx="17410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3092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3092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2673" y="2670048"/>
            <a:ext cx="13203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发音教练的作业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964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72523" y="2670048"/>
            <a:ext cx="126918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754819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5481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6571" y="2670048"/>
            <a:ext cx="84856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检查作业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🌐 网络不稳时怎么办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第一原则：课不能断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芒果爱的第一原则是「课绝对不能断」。即使画质下降、画面卡住，课也要继续。系统本身有多重保护，您保持镇定就是最大的帮助。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画质变差时，系统会自动降低画质 —— 照常上课就好。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更差时会切成只有声音的模式（音频模式） —— 声音还在，课能继续。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对方画面卡住时先等一会儿 —— 系统在自动恢复。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还是不行 —— 刷新一次页面重新进入。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课真的进行不下去时，立刻联系运营（不要自己判断结束）。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即使没有画面，口语课也能继续上。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要把情况说出来 —— 「我这边网络有点问题，稍等一下」。不说话孩子会以为是自己的错。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损失的时间在上报之后会安排补课。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绝对不要因为网络问题自己结束课程。 系统能区分「短暂掉线」和「主动离开」，自行退出会被记为离开。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课前的摄像头麦克风检查养成习惯，这类事故能少一半。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54810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3710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710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38858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自动降低画质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855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1431" y="2670048"/>
            <a:ext cx="23701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0372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0372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5479" y="2670048"/>
            <a:ext cx="19495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只有声音的模式（音频…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155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74436" y="2670048"/>
            <a:ext cx="142646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5673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673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8483" y="2670048"/>
            <a:ext cx="100583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先等一会儿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89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83779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6607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6607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67827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刷新一次页面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752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50400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3269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269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34448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立刻联系运营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📝 课后：写评价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3 分钟，换来家长的信任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评价不是行政工作。您写的内容会填进家长收到的周报和月度成绩单的五个维度。换句话说 —— 您不写，家长就收不到任何依据。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下课后马上写（趁记忆还清楚）。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一定要包含一个做得好的地方 + 一个下次的目标。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发音、词汇、句子、态度、参与度如实打分。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在备注里写下次要问他什么。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AI 生成的评语草稿要读一遍再修改后发出。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每次写一两句，比偶尔写一长篇更有价值。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没评价的维度在家长的成绩单上是空白的。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写下次目标的同时，下节课的备课也完成了一半。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打分比实际宽松看着是好意，但家长迟早会发现差距，信任会一次性崩塌。要准确，同时用温暖的措辞。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做一个两句话模板（「今天做得好：…／下次目标：…」），写评价只要 1 分钟。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acher_ev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75841" y="2670048"/>
            <a:ext cx="111191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5813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813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9889" y="2670048"/>
            <a:ext cx="69128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马上写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70631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5292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292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79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一个做得好的地方 +…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811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80990" y="2670048"/>
            <a:ext cx="126918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6328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6328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5038" y="2670048"/>
            <a:ext cx="84856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如实打分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017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33057" y="2670048"/>
            <a:ext cx="17410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1535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535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7105" y="2670048"/>
            <a:ext cx="13203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下次要问他什么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407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56955" y="2670048"/>
            <a:ext cx="21561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39251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3925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1003" y="2670048"/>
            <a:ext cx="17355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AI 生成的评语草稿…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课堂功能 · 逐个说明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icrosoft YaHei"/>
              </a:rPr>
              <a:t>⭐ 课后：留下表扬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星级 · 贴纸 · 评语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在교사 칭찬（教师表扬）页面选学生和项目，留下星级、贴纸和评语。学生和家长都能看到，是持续动力的来源。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操作步骤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在教师表扬页面选择学生和项目。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留下星级（7 个项目）和贴纸、评语。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保存后学生和家长都能看到。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下课后马上留最有效果。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900">
                <a:solidFill>
                  <a:srgbClr val="334155"/>
                </a:solidFill>
                <a:latin typeface="Microsoft YaHei"/>
              </a:rPr>
              <a:t>评语要具体：不是「很好」，而是「今天的 r 音发得很棒」。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✅ 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具体的表扬 &gt; 笼统的表扬。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小小的进步也值得表扬 —— 下节课的参与度会提高。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850">
                <a:solidFill>
                  <a:srgbClr val="334155"/>
                </a:solidFill>
                <a:latin typeface="Microsoft YaHei"/>
              </a:rPr>
              <a:t>表扬记录会累积，成为家长续费时的重要依据。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5646420" cy="47548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icrosoft YaHei"/>
              </a:rPr>
              <a:t>⚠️ 请注意 · 表扬要真实。没做到的事情硬夸，孩子自己知道，反而失去信任。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217920"/>
            <a:ext cx="5646420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63640"/>
            <a:ext cx="53721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icrosoft YaHei"/>
              </a:rPr>
              <a:t>💡 小贴士 · 提前准备 5 句具体的表扬语，临场想不出来时能救急。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9595" y="3255264"/>
            <a:ext cx="4557369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acher_pra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3310128"/>
            <a:ext cx="4447641" cy="277977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40687" y="2670048"/>
            <a:ext cx="126918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22983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298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4735" y="2670048"/>
            <a:ext cx="84856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教师表扬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987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2754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75050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505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6802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星级（7 个项目）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567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88559" y="2670048"/>
            <a:ext cx="20555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70855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7085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2607" y="2670048"/>
            <a:ext cx="16349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学生和家长都能看到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413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27010" y="2670048"/>
            <a:ext cx="15837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09306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0930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1058" y="2670048"/>
            <a:ext cx="11631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下课后马上留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075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580C"/>
                </a:solidFill>
                <a:latin typeface="Microsoft YaHe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93631" y="2670048"/>
            <a:ext cx="95463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75927" y="27614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7592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7679" y="2670048"/>
            <a:ext cx="53400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icrosoft YaHei"/>
              </a:rPr>
              <a:t>具体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功能一览 · 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580C"/>
                </a:solidFill>
                <a:latin typeface="Microsoft YaHei"/>
              </a:rPr>
              <a:t>📋 🧰 按上课阶段找工具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463040"/>
          <a:ext cx="1146017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6"/>
              </a:tblGrid>
              <a:tr h="39389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用哪个画面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做什么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小贴士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www.mangoi.co.kr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右上角 로그인（Login）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只用 Chrome /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课前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수업 진단（课堂诊断）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查摄像头·麦克风·网络·光线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提前 5～10 分钟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课前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교재 업로드（上传教材）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把今天的 PDF 先传好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文件名加编号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进入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화상통화 입장（进入课堂）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填姓名 → 允许权限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提前 5 分钟进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开场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🗣️ AI 웜업（AI 热身）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先让嘴动起来（3 分钟）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您先示范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正课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📚 교재도구 + ✍️ 필기도구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共享教材·在上面圈重点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翻页学生同步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讲解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🖊 칠판（白板）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写·画·保存成图片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下课前按 💾 保存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互动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🌟 칭찬（表扬）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做得好就点 ⭐ +1P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每节课至少 3 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练习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🎙️ 发音教练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录音 → 打分 → 回放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一节课只纠一个音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收尾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🧠 복습퀴즈（复习测验）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当场检验今天所学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错题记下来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异常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⚙️ 설정（设置）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换设备·把画质调低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课绝对不能自己结束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9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icrosoft YaHei"/>
                        </a:rPr>
                        <a:t>课后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评价 · 教师表扬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一个优点 + 一个目标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icrosoft YaHei"/>
                        </a:rPr>
                        <a:t>下课后马上写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一图看懂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580C"/>
                </a:solidFill>
                <a:latin typeface="Microsoft YaHei"/>
              </a:rPr>
              <a:t>📊 一图看懂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icrosoft YaHei"/>
              </a:rPr>
              <a:t>课前检查项目（示例分数）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92024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icrosoft YaHei"/>
              </a:rPr>
              <a:t>一节好课的组成要素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1920240"/>
          <a:ext cx="54864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常见问题（FAQ）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580C"/>
                </a:solidFill>
                <a:latin typeface="Microsoft YaHei"/>
              </a:rPr>
              <a:t>❓ 常见问题（FAQ）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界面全是韩文，看不懂怎么办？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点右上角的 🌐 EN 切换成英文。课堂界面只有韩文和英文，没有中文界面 —— 本手册里每个按钮都标了韩文（英文）原名，请照着在屏幕上找。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42032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1518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怎么进课堂？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53512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登录 → 👤 마이페이지（我的页面） → 金色的 「🎥 수업 입장」（进入课堂） → 填姓名 → 点 입장하기（进入） → 浏览器问权限时点 허용（允许）。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29584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02736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学生说听不到我的声音。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41064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① 底部 🎤 마이크 是不是关着（按钮变暗＝关）；② ⚙️ 설정 → 장치里选的麦克风对不对；③ 点 스피커 테스트 ▶ 确认；④ 都不行就在聊天里打字告诉学生稍等，然后刷新页面重进。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17136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9028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怎么把教材给学生看？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28616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点 📚 교재도구 ▾ → 📁 교재 업로드，上传 PDF / JPG / PNG（可以一次选多张）。上传的瞬间学生就看到同一页。翻页用 이전 / 다음。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504688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怎么在教材上写字？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用 ✍️ 필기도구 ▾（不是白板）。펜（笔）、형광펜（荧光笔）写在教材上面那一层。写错点 ↩ 되돌리기（撤销）。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6492240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653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怎么给学生表扬积分？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90372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点学生视频左上角的 ⭐ 칭찬 按钮，他立刻 +1P。只有教师能给。星星有防连点冷却，会短暂变灰，属于正常。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7479792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755294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画面很卡怎么办？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7891271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⚙️ 설정 → 영상 화질改成 저（低），关掉背景虚化和背景图。声音比画面重要 —— 画质降下来也要把课上完。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8467344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8540496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网络断了，课上不下去。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878824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不要自己点退出。 系统会自动降画质、切到只有声音的模式，并尝试自动恢复。实在不行立刻联系运营 —— 上报后损失的时间会安排补课。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9454896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952804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学生进不来教室。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9866376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多半是浏览器权限问题。让他用 Chrome / Edge 重新进，并在弹窗里点允许。用微信 / KakaoTalk 内置浏览器打开的话，一定要「用外部浏览器打开」。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10442448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105156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Q. 评价一定要每次写吗？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0853928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A. 要。不写的话家长成绩单上那几个维度就是空白的。不用长 —— 「一个优点 + 一个下次目标」两句话就够。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检查清单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580C"/>
                </a:solidFill>
                <a:latin typeface="Microsoft YaHei"/>
              </a:rPr>
              <a:t>✅ 每节课检查清单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有没有用 Chrome 或 Edge 打开？（不要用 App 内置浏览器）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课前 5～10 分钟做了设备检查（수업 진단）吗？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79776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157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今天的教材提前上传好了吗？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46704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8269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光线在脸的正前方吗？背景干净吗？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2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962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进课堂后确认过自己的画面和声音了吗？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1655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开场用了 AI 热身（3 分钟）吗？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47488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教材共享后，学生看到的是同一页吗？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14416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040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这节课给了至少 3 次具体的 ⭐ 表扬吗？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81344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11733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白板内容在下课前按 💾 保存了吗？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748272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68426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icrosoft YaHei"/>
              </a:rPr>
              <a:t>下课后马上写评价了吗？（一个优点 + 一个目标）</a:t>
            </a:r>
          </a:p>
        </p:txBody>
      </p:sp>
      <p:pic>
        <p:nvPicPr>
          <p:cNvPr id="29" name="Picture 28" descr="mango_c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62" y="4480559"/>
            <a:ext cx="2489892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🏫 芒果爱 Mangoi 教师 使用说明书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icrosoft YaHei"/>
              </a:rPr>
              <a:t>结语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A580C"/>
                </a:solidFill>
                <a:latin typeface="Microsoft YaHei"/>
              </a:rPr>
              <a:t>🏁 结语 · 一节课，从头到尾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11430000" cy="86868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2646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到这里，从登录到课堂里每一个按钮都讲完了。最后用一页把一节课的完整流程整理出来。把这一页放在手边，上课会顺很多。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</a:rPr>
              <a:t>再强调一次：课堂界面只有韩文和英文。按钮名请按韩/英找，本书的中文是解释。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🔄 一节课的完整流程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1600200" cy="38404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课前 5～10 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7706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icrosoft YaHei"/>
              </a:rPr>
              <a:t>我的页面 → 수업 진단（设备检查）：摄像头·麦克风·网络·光线 / 提前上传教材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1600200" cy="38404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进入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278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icrosoft YaHei"/>
              </a:rPr>
              <a:t>🎥 수업 입장 → 填姓名 → 允许摄像头麦克风 → 确认自己的画面和声音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03320"/>
            <a:ext cx="1600200" cy="38404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开场 2～3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6850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icrosoft YaHei"/>
              </a:rPr>
              <a:t>🗣️ AI 웜업 让嘴先动起来 / 用一句话说明今天的目标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1600200" cy="38404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正课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422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icrosoft YaHei"/>
              </a:rPr>
              <a:t>📚 교재도구 共享同一页 · ✍️ 필기도구 圈重点 · 🖊 칠판 写解释 · 💬 채팅 发关键单词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1600200" cy="38404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177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表扬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5994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icrosoft YaHei"/>
              </a:rPr>
              <a:t>做得好的瞬间点 ⭐ 칭찬（+1P）→ 实时掉进学生的 🧺 篮子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74920"/>
            <a:ext cx="1600200" cy="38404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0749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0566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icrosoft YaHei"/>
              </a:rPr>
              <a:t>🎙️ 发音教练：录音 → 打分 → 回放，一节课只纠一个音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32120"/>
            <a:ext cx="1600200" cy="38404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321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收尾 3 分钟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5138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icrosoft YaHei"/>
              </a:rPr>
              <a:t>🧠 복습퀴즈 检验今天所学 → 白板按 💾 保存 → 提醒学生做星级评价（+10P）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89320"/>
            <a:ext cx="1600200" cy="38404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9893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课后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59710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icrosoft YaHei"/>
              </a:rPr>
              <a:t>马上写评价（一个优点 + 一个目标）· 留下 ⭐ 教师表扬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4231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⭐ 核心原则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78892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1100">
                <a:solidFill>
                  <a:srgbClr val="334155"/>
                </a:solidFill>
                <a:latin typeface="Microsoft YaHei"/>
              </a:rPr>
              <a:t>准备就是一半 —— 课前检查 + 提前传教材，课就不会卡壳。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1100">
                <a:solidFill>
                  <a:srgbClr val="334155"/>
                </a:solidFill>
                <a:latin typeface="Microsoft YaHei"/>
              </a:rPr>
              <a:t>让孩子多说 —— 提问后等 5 秒，第一句话就是从那 5 秒里出来的。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1100">
                <a:solidFill>
                  <a:srgbClr val="334155"/>
                </a:solidFill>
                <a:latin typeface="Microsoft YaHei"/>
              </a:rPr>
              <a:t>当场表扬 —— 做得好的瞬间点 ⭐。即时奖励是最强的动力。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1100">
                <a:solidFill>
                  <a:srgbClr val="334155"/>
                </a:solidFill>
                <a:latin typeface="Microsoft YaHei"/>
              </a:rPr>
              <a:t>留下记录 —— 评价里的一行字，就是家长的信任。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● </a:t>
            </a:r>
            <a:r>
              <a:rPr sz="1100">
                <a:solidFill>
                  <a:srgbClr val="334155"/>
                </a:solidFill>
                <a:latin typeface="Microsoft YaHei"/>
              </a:rPr>
              <a:t>课绝对不能断 —— 网络出问题时降画质、切音频模式，但不要自己结束课程。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92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580C"/>
                </a:solidFill>
                <a:latin typeface="Microsoft YaHei"/>
              </a:rPr>
              <a:t>📌 请记住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578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B020"/>
                </a:solidFill>
                <a:latin typeface="Microsoft YaHei"/>
              </a:rPr>
              <a:t>● </a:t>
            </a:r>
            <a:r>
              <a:rPr sz="1050">
                <a:solidFill>
                  <a:srgbClr val="334155"/>
                </a:solidFill>
                <a:latin typeface="Microsoft YaHei"/>
              </a:rPr>
              <a:t>界面只有韩文/英文 —— 按钮按韩/英名找，右上角 🌐 EN 可切换。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B020"/>
                </a:solidFill>
                <a:latin typeface="Microsoft YaHei"/>
              </a:rPr>
              <a:t>● </a:t>
            </a:r>
            <a:r>
              <a:rPr sz="1050">
                <a:solidFill>
                  <a:srgbClr val="334155"/>
                </a:solidFill>
                <a:latin typeface="Microsoft YaHei"/>
              </a:rPr>
              <a:t>没声音/没画面 → 先查 Chrome·Edge + 摄像头麦克风权限，再看 ⚙️ 설정。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B020"/>
                </a:solidFill>
                <a:latin typeface="Microsoft YaHei"/>
              </a:rPr>
              <a:t>● </a:t>
            </a:r>
            <a:r>
              <a:rPr sz="1050">
                <a:solidFill>
                  <a:srgbClr val="334155"/>
                </a:solidFill>
                <a:latin typeface="Microsoft YaHei"/>
              </a:rPr>
              <a:t>⭐ 表扬积分只有教师能给；学生下课评价可得 +10P。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B020"/>
                </a:solidFill>
                <a:latin typeface="Microsoft YaHei"/>
              </a:rPr>
              <a:t>● </a:t>
            </a:r>
            <a:r>
              <a:rPr sz="1050">
                <a:solidFill>
                  <a:srgbClr val="334155"/>
                </a:solidFill>
                <a:latin typeface="Microsoft YaHei"/>
              </a:rPr>
              <a:t>教材＝📚 교재도구，在教材上写字＝✍️ 필기도구，空白讲解＝🖊 칠판。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B020"/>
                </a:solidFill>
                <a:latin typeface="Microsoft YaHei"/>
              </a:rPr>
              <a:t>● </a:t>
            </a:r>
            <a:r>
              <a:rPr sz="1050">
                <a:solidFill>
                  <a:srgbClr val="334155"/>
                </a:solidFill>
                <a:latin typeface="Microsoft YaHei"/>
              </a:rPr>
              <a:t>网络故障绝不自行结束课程 —— 立刻联系运营，补课会安排。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172200"/>
            <a:ext cx="11338560" cy="566928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208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5B4A2A"/>
                </a:solidFill>
                <a:latin typeface="Microsoft YaHei"/>
              </a:rPr>
              <a:t>🍊 一句温暖的话、一次及时的表扬，就能让孩子对英语有信心。把这本手册放在手边，一节一节课稳稳地上下来。有任何疑问随时联系运营 —— 祝您和孩子一起成长！🥭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3657600" cy="365760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和芒果爱一起，把每一节课上好！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有疑问请联系运营（客服）— 我们随时在。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🌐 www.mangoi.co.kr    📞 1644-0561    ✉ support@mangoi.co.kr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