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6" r:id="rId27"/>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296B"/>
        </a:solidFill>
      </p:bgPr>
    </p:bg>
    <p:spTree>
      <p:nvGrpSpPr>
        <p:cNvPr id="1" name=""/>
        <p:cNvGrpSpPr/>
        <p:nvPr/>
      </p:nvGrpSpPr>
      <p:grpSpPr>
        <a:xfrm>
          <a:off x="0" y="0"/>
          <a:ext cx="0" cy="0"/>
          <a:chOff x="0" y="0"/>
          <a:chExt cx="0" cy="0"/>
        </a:xfrm>
      </p:grpSpPr>
      <p:sp>
        <p:nvSpPr>
          <p:cNvPr id="2" name="Shape 0"/>
          <p:cNvSpPr/>
          <p:nvPr/>
        </p:nvSpPr>
        <p:spPr>
          <a:xfrm>
            <a:off x="9966960" y="-1463040"/>
            <a:ext cx="3840480" cy="3840480"/>
          </a:xfrm>
          <a:prstGeom prst="ellipse">
            <a:avLst/>
          </a:prstGeom>
          <a:solidFill>
            <a:srgbClr val="FFFFFF"/>
          </a:solidFill>
          <a:ln/>
        </p:spPr>
        <p:txBody>
          <a:bodyPr/>
          <a:p/>
        </p:txBody>
      </p:sp>
      <p:sp>
        <p:nvSpPr>
          <p:cNvPr id="3" name="Shape 1"/>
          <p:cNvSpPr/>
          <p:nvPr/>
        </p:nvSpPr>
        <p:spPr>
          <a:xfrm>
            <a:off x="-1280160" y="4572000"/>
            <a:ext cx="3108960" cy="3108960"/>
          </a:xfrm>
          <a:prstGeom prst="ellipse">
            <a:avLst/>
          </a:prstGeom>
          <a:solidFill>
            <a:srgbClr val="FFFFFF"/>
          </a:solidFill>
          <a:ln/>
        </p:spPr>
        <p:txBody>
          <a:bodyPr/>
          <a:p/>
        </p:txBody>
      </p:sp>
      <p:pic>
        <p:nvPicPr>
          <p:cNvPr id="4" name="Image 0" descr="C:/Users/Admin/AppData/Local/Temp/claude/C--Users-Admin-Desktop-mangoi-develop2-main/51a19268-9c4f-476f-8b14-ce923f54a918/scratchpad/img/mascot.png">    </p:cNvPr>
          <p:cNvPicPr>
            <a:picLocks noChangeAspect="1"/>
          </p:cNvPicPr>
          <p:nvPr/>
        </p:nvPicPr>
        <p:blipFill>
          <a:blip r:embed="rId1"/>
          <a:stretch>
            <a:fillRect/>
          </a:stretch>
        </p:blipFill>
        <p:spPr>
          <a:xfrm>
            <a:off x="411480" y="1554480"/>
            <a:ext cx="2148840" cy="1755390"/>
          </a:xfrm>
          <a:prstGeom prst="rect">
            <a:avLst/>
          </a:prstGeom>
          <a:effectLst>
            <a:outerShdw sx="100000" sy="100000" kx="0" ky="0" algn="bl" rotWithShape="0" blurRad="101600" dist="38100" dir="5400000">
              <a:srgbClr val="000000">
                <a:alpha val="12000"/>
              </a:srgbClr>
            </a:outerShdw>
          </a:effectLst>
        </p:spPr>
      </p:pic>
      <p:sp>
        <p:nvSpPr>
          <p:cNvPr id="5" name="Text 2"/>
          <p:cNvSpPr/>
          <p:nvPr/>
        </p:nvSpPr>
        <p:spPr>
          <a:xfrm>
            <a:off x="2651760" y="1417320"/>
            <a:ext cx="8778240" cy="10515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Mangoi Teacher Training Manual</a:t>
            </a:r>
            <a:endParaRPr lang="en-US" sz="3400" dirty="0"/>
          </a:p>
        </p:txBody>
      </p:sp>
      <p:sp>
        <p:nvSpPr>
          <p:cNvPr id="6" name="Text 3"/>
          <p:cNvSpPr/>
          <p:nvPr/>
        </p:nvSpPr>
        <p:spPr>
          <a:xfrm>
            <a:off x="2651760" y="2423160"/>
            <a:ext cx="8595360" cy="640080"/>
          </a:xfrm>
          <a:prstGeom prst="rect">
            <a:avLst/>
          </a:prstGeom>
          <a:noFill/>
          <a:ln/>
        </p:spPr>
        <p:txBody>
          <a:bodyPr wrap="square" lIns="0" tIns="0" rIns="0" bIns="0" rtlCol="0" anchor="ctr"/>
          <a:lstStyle/>
          <a:p>
            <a:pPr indent="0" marL="0">
              <a:buNone/>
            </a:pPr>
            <a:r>
              <a:rPr lang="en-US" sz="1500" dirty="0">
                <a:solidFill>
                  <a:srgbClr val="DCE8FF"/>
                </a:solidFill>
                <a:latin typeface="Arial" pitchFamily="34" charset="0"/>
                <a:ea typeface="Arial" pitchFamily="34" charset="-122"/>
                <a:cs typeface="Arial" pitchFamily="34" charset="-120"/>
              </a:rPr>
              <a:t>The training bible for engaging kids &amp; teens in online English class</a:t>
            </a:r>
            <a:endParaRPr lang="en-US" sz="1500" dirty="0"/>
          </a:p>
        </p:txBody>
      </p:sp>
      <p:sp>
        <p:nvSpPr>
          <p:cNvPr id="7" name="Shape 4"/>
          <p:cNvSpPr/>
          <p:nvPr/>
        </p:nvSpPr>
        <p:spPr>
          <a:xfrm>
            <a:off x="2651760" y="3246120"/>
            <a:ext cx="1051560" cy="457200"/>
          </a:xfrm>
          <a:prstGeom prst="roundRect">
            <a:avLst>
              <a:gd name="adj" fmla="val 16000"/>
            </a:avLst>
          </a:prstGeom>
          <a:solidFill>
            <a:srgbClr val="FF9500"/>
          </a:solidFill>
          <a:ln/>
        </p:spPr>
        <p:txBody>
          <a:bodyPr/>
          <a:p/>
        </p:txBody>
      </p:sp>
      <p:sp>
        <p:nvSpPr>
          <p:cNvPr id="8" name="Text 5"/>
          <p:cNvSpPr/>
          <p:nvPr/>
        </p:nvSpPr>
        <p:spPr>
          <a:xfrm>
            <a:off x="2651760" y="3246120"/>
            <a:ext cx="1051560" cy="457200"/>
          </a:xfrm>
          <a:prstGeom prst="rect">
            <a:avLst/>
          </a:prstGeom>
          <a:noFill/>
          <a:ln/>
        </p:spPr>
        <p:txBody>
          <a:bodyPr wrap="square" lIns="0" tIns="0" rIns="0" bIns="0" rtlCol="0" anchor="ctr"/>
          <a:lstStyle/>
          <a:p>
            <a:pPr algn="ctr" indent="0" marL="0">
              <a:buNone/>
            </a:pPr>
            <a:r>
              <a:rPr lang="en-US" sz="1400" b="1" dirty="0">
                <a:solidFill>
                  <a:srgbClr val="08296B"/>
                </a:solidFill>
                <a:latin typeface="Arial" pitchFamily="34" charset="0"/>
                <a:ea typeface="Arial" pitchFamily="34" charset="-122"/>
                <a:cs typeface="Arial" pitchFamily="34" charset="-120"/>
              </a:rPr>
              <a:t>v2.0</a:t>
            </a:r>
            <a:endParaRPr lang="en-US" sz="1400" dirty="0"/>
          </a:p>
        </p:txBody>
      </p:sp>
      <p:sp>
        <p:nvSpPr>
          <p:cNvPr id="9" name="Shape 6"/>
          <p:cNvSpPr/>
          <p:nvPr/>
        </p:nvSpPr>
        <p:spPr>
          <a:xfrm>
            <a:off x="731520" y="5623560"/>
            <a:ext cx="10698480" cy="685800"/>
          </a:xfrm>
          <a:prstGeom prst="roundRect">
            <a:avLst>
              <a:gd name="adj" fmla="val 13333"/>
            </a:avLst>
          </a:prstGeom>
          <a:solidFill>
            <a:srgbClr val="FF9500"/>
          </a:solidFill>
          <a:ln/>
        </p:spPr>
        <p:txBody>
          <a:bodyPr/>
          <a:p/>
        </p:txBody>
      </p:sp>
      <p:sp>
        <p:nvSpPr>
          <p:cNvPr id="10" name="Text 7"/>
          <p:cNvSpPr/>
          <p:nvPr/>
        </p:nvSpPr>
        <p:spPr>
          <a:xfrm>
            <a:off x="731520" y="5623560"/>
            <a:ext cx="10698480" cy="685800"/>
          </a:xfrm>
          <a:prstGeom prst="rect">
            <a:avLst/>
          </a:prstGeom>
          <a:noFill/>
          <a:ln/>
        </p:spPr>
        <p:txBody>
          <a:bodyPr wrap="square" lIns="0" tIns="0" rIns="0" bIns="0" rtlCol="0" anchor="ctr"/>
          <a:lstStyle/>
          <a:p>
            <a:pPr algn="ctr" indent="0" marL="0">
              <a:buNone/>
            </a:pPr>
            <a:r>
              <a:rPr lang="en-US" sz="1400" b="1" i="1" dirty="0">
                <a:solidFill>
                  <a:srgbClr val="08296B"/>
                </a:solidFill>
                <a:latin typeface="Arial" pitchFamily="34" charset="0"/>
                <a:ea typeface="Arial" pitchFamily="34" charset="-122"/>
                <a:cs typeface="Arial" pitchFamily="34" charset="-120"/>
              </a:rPr>
              <a:t>Engagement x Achievement — the practical training guide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417319" y="548640"/>
            <a:ext cx="10195560" cy="868680"/>
          </a:xfrm>
          <a:prstGeom prst="rect">
            <a:avLst/>
          </a:prstGeom>
          <a:noFill/>
          <a:ln/>
        </p:spPr>
        <p:txBody>
          <a:bodyPr wrap="square" lIns="0" tIns="0" rIns="0" bIns="0" rtlCol="0" anchor="ctr"/>
          <a:lstStyle/>
          <a:p>
            <a:pPr algn="ctr" indent="0" marL="0">
              <a:buNone/>
            </a:pPr>
            <a:r>
              <a:rPr lang="en-US" sz="2700" b="1" dirty="0">
                <a:solidFill>
                  <a:srgbClr val="0B5FFF"/>
                </a:solidFill>
                <a:latin typeface="Arial" pitchFamily="34" charset="0"/>
                <a:ea typeface="Arial" pitchFamily="34" charset="-122"/>
                <a:cs typeface="Arial" pitchFamily="34" charset="-120"/>
              </a:rPr>
              <a:t>You're Not Just Changing a Test Score</a:t>
            </a:r>
            <a:endParaRPr lang="en-US" sz="2700" dirty="0"/>
          </a:p>
        </p:txBody>
      </p:sp>
      <p:sp>
        <p:nvSpPr>
          <p:cNvPr id="3" name="Text 1"/>
          <p:cNvSpPr/>
          <p:nvPr/>
        </p:nvSpPr>
        <p:spPr>
          <a:xfrm>
            <a:off x="1188720" y="1600200"/>
            <a:ext cx="9784080" cy="1097280"/>
          </a:xfrm>
          <a:prstGeom prst="rect">
            <a:avLst/>
          </a:prstGeom>
          <a:noFill/>
          <a:ln/>
        </p:spPr>
        <p:txBody>
          <a:bodyPr wrap="square" lIns="0" tIns="0" rIns="0" bIns="0" rtlCol="0" anchor="t"/>
          <a:lstStyle/>
          <a:p>
            <a:pPr algn="ctr" indent="0" marL="0">
              <a:buNone/>
            </a:pPr>
            <a:r>
              <a:rPr lang="en-US" sz="1350" dirty="0">
                <a:solidFill>
                  <a:srgbClr val="262626"/>
                </a:solidFill>
                <a:latin typeface="Arial" pitchFamily="34" charset="0"/>
                <a:ea typeface="Arial" pitchFamily="34" charset="-122"/>
                <a:cs typeface="Arial" pitchFamily="34" charset="-120"/>
              </a:rPr>
              <a:t>Whether a child grows up loving English for life, or dreading it, is decided not by how hard the textbook is, but by how much fun today's class actually was.</a:t>
            </a:r>
            <a:endParaRPr lang="en-US" sz="1350" dirty="0"/>
          </a:p>
        </p:txBody>
      </p:sp>
      <p:sp>
        <p:nvSpPr>
          <p:cNvPr id="4" name="Text 2"/>
          <p:cNvSpPr/>
          <p:nvPr/>
        </p:nvSpPr>
        <p:spPr>
          <a:xfrm>
            <a:off x="1188720" y="2788920"/>
            <a:ext cx="9784080" cy="1097280"/>
          </a:xfrm>
          <a:prstGeom prst="rect">
            <a:avLst/>
          </a:prstGeom>
          <a:noFill/>
          <a:ln/>
        </p:spPr>
        <p:txBody>
          <a:bodyPr wrap="square" lIns="0" tIns="0" rIns="0" bIns="0" rtlCol="0" anchor="t"/>
          <a:lstStyle/>
          <a:p>
            <a:pPr algn="ctr" indent="0" marL="0">
              <a:buNone/>
            </a:pPr>
            <a:r>
              <a:rPr lang="en-US" sz="1350" dirty="0">
                <a:solidFill>
                  <a:srgbClr val="262626"/>
                </a:solidFill>
                <a:latin typeface="Arial" pitchFamily="34" charset="0"/>
                <a:ea typeface="Arial" pitchFamily="34" charset="-122"/>
                <a:cs typeface="Arial" pitchFamily="34" charset="-120"/>
              </a:rPr>
              <a:t>This manual is not a rulebook — it is an armory you can pull tools from mid-class. Master the 5 core areas, the engagement cycle, and age-specific tactics one at a time.</a:t>
            </a:r>
            <a:endParaRPr lang="en-US" sz="1350" dirty="0"/>
          </a:p>
        </p:txBody>
      </p:sp>
      <p:sp>
        <p:nvSpPr>
          <p:cNvPr id="5" name="Text 3"/>
          <p:cNvSpPr/>
          <p:nvPr/>
        </p:nvSpPr>
        <p:spPr>
          <a:xfrm>
            <a:off x="1188720" y="3977640"/>
            <a:ext cx="9784080" cy="1097280"/>
          </a:xfrm>
          <a:prstGeom prst="rect">
            <a:avLst/>
          </a:prstGeom>
          <a:noFill/>
          <a:ln/>
        </p:spPr>
        <p:txBody>
          <a:bodyPr wrap="square" lIns="0" tIns="0" rIns="0" bIns="0" rtlCol="0" anchor="t"/>
          <a:lstStyle/>
          <a:p>
            <a:pPr algn="ctr" indent="0" marL="0">
              <a:buNone/>
            </a:pPr>
            <a:r>
              <a:rPr lang="en-US" sz="1350" dirty="0">
                <a:solidFill>
                  <a:srgbClr val="262626"/>
                </a:solidFill>
                <a:latin typeface="Arial" pitchFamily="34" charset="0"/>
                <a:ea typeface="Arial" pitchFamily="34" charset="-122"/>
                <a:cs typeface="Arial" pitchFamily="34" charset="-120"/>
              </a:rPr>
              <a:t>If you're reading this all the way through and planning to try it, you're already in the top 10% of teachers. Just try one new thing consciously in each class.</a:t>
            </a:r>
            <a:endParaRPr lang="en-US" sz="1350" dirty="0"/>
          </a:p>
        </p:txBody>
      </p:sp>
      <p:sp>
        <p:nvSpPr>
          <p:cNvPr id="6" name="Shape 4"/>
          <p:cNvSpPr/>
          <p:nvPr/>
        </p:nvSpPr>
        <p:spPr>
          <a:xfrm>
            <a:off x="4572000" y="5989320"/>
            <a:ext cx="3063240" cy="502920"/>
          </a:xfrm>
          <a:prstGeom prst="roundRect">
            <a:avLst>
              <a:gd name="adj" fmla="val 14545"/>
            </a:avLst>
          </a:prstGeom>
          <a:solidFill>
            <a:srgbClr val="E3EEFF"/>
          </a:solidFill>
          <a:ln/>
        </p:spPr>
        <p:txBody>
          <a:bodyPr/>
          <a:p/>
        </p:txBody>
      </p:sp>
      <p:sp>
        <p:nvSpPr>
          <p:cNvPr id="7" name="Text 5"/>
          <p:cNvSpPr/>
          <p:nvPr/>
        </p:nvSpPr>
        <p:spPr>
          <a:xfrm>
            <a:off x="4572000" y="5989320"/>
            <a:ext cx="3063240" cy="502920"/>
          </a:xfrm>
          <a:prstGeom prst="rect">
            <a:avLst/>
          </a:prstGeom>
          <a:noFill/>
          <a:ln/>
        </p:spPr>
        <p:txBody>
          <a:bodyPr wrap="square" lIns="0" tIns="0" rIns="0" bIns="0" rtlCol="0" anchor="ctr"/>
          <a:lstStyle/>
          <a:p>
            <a:pPr algn="ctr" indent="0" marL="0">
              <a:buNone/>
            </a:pPr>
            <a:r>
              <a:rPr lang="en-US" sz="1300" b="1" dirty="0">
                <a:solidFill>
                  <a:srgbClr val="0B5FFF"/>
                </a:solidFill>
                <a:latin typeface="Arial" pitchFamily="34" charset="0"/>
                <a:ea typeface="Arial" pitchFamily="34" charset="-122"/>
                <a:cs typeface="Arial" pitchFamily="34" charset="-120"/>
              </a:rPr>
              <a:t>You're already a top-10% teacher</a:t>
            </a:r>
            <a:endParaRPr lang="en-US" sz="1300" dirty="0"/>
          </a:p>
        </p:txBody>
      </p:sp>
      <p:pic>
        <p:nvPicPr>
          <p:cNvPr id="8" name="Image 0" descr="C:/Users/Admin/AppData/Local/Temp/claude/C--Users-Admin-Desktop-mangoi-develop2-main/51a19268-9c4f-476f-8b14-ce923f54a918/scratchpad/img/mascot.png">    </p:cNvPr>
          <p:cNvPicPr>
            <a:picLocks noChangeAspect="1"/>
          </p:cNvPicPr>
          <p:nvPr/>
        </p:nvPicPr>
        <p:blipFill>
          <a:blip r:embed="rId1"/>
          <a:stretch>
            <a:fillRect/>
          </a:stretch>
        </p:blipFill>
        <p:spPr>
          <a:xfrm>
            <a:off x="9921240" y="5349240"/>
            <a:ext cx="1737360" cy="1419252"/>
          </a:xfrm>
          <a:prstGeom prst="rect">
            <a:avLst/>
          </a:prstGeom>
        </p:spPr>
      </p:pic>
      <p:sp>
        <p:nvSpPr>
          <p:cNvPr id="3" name="Text 1"/>
          <p:cNvSpPr/>
          <p:nvPr/>
        </p:nvSpPr>
        <p:spPr>
          <a:xfrm>
            <a:off x="640080" y="530352"/>
            <a:ext cx="502920" cy="50292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01</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325880" y="320040"/>
            <a:ext cx="1028700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Remember these 4 numbers before every class</a:t>
            </a:r>
            <a:endParaRPr lang="en-US" sz="2600" dirty="0"/>
          </a:p>
        </p:txBody>
      </p:sp>
      <p:sp>
        <p:nvSpPr>
          <p:cNvPr id="3" name="Shape 1"/>
          <p:cNvSpPr/>
          <p:nvPr/>
        </p:nvSpPr>
        <p:spPr>
          <a:xfrm>
            <a:off x="403708" y="2011680"/>
            <a:ext cx="2606040" cy="3291840"/>
          </a:xfrm>
          <a:prstGeom prst="roundRect">
            <a:avLst>
              <a:gd name="adj" fmla="val 4211"/>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4" name="Shape 2"/>
          <p:cNvSpPr/>
          <p:nvPr/>
        </p:nvSpPr>
        <p:spPr>
          <a:xfrm>
            <a:off x="403708" y="2011680"/>
            <a:ext cx="2606040" cy="502920"/>
          </a:xfrm>
          <a:prstGeom prst="roundRect">
            <a:avLst>
              <a:gd name="adj" fmla="val 21818"/>
            </a:avLst>
          </a:prstGeom>
          <a:solidFill>
            <a:srgbClr val="0B5FFF"/>
          </a:solidFill>
          <a:ln/>
        </p:spPr>
        <p:txBody>
          <a:bodyPr/>
          <a:p/>
        </p:txBody>
      </p:sp>
      <p:sp>
        <p:nvSpPr>
          <p:cNvPr id="5" name="Shape 3"/>
          <p:cNvSpPr/>
          <p:nvPr/>
        </p:nvSpPr>
        <p:spPr>
          <a:xfrm>
            <a:off x="403708" y="2267712"/>
            <a:ext cx="2606040" cy="246888"/>
          </a:xfrm>
          <a:prstGeom prst="rect">
            <a:avLst/>
          </a:prstGeom>
          <a:solidFill>
            <a:srgbClr val="0B5FFF"/>
          </a:solidFill>
          <a:ln/>
        </p:spPr>
        <p:txBody>
          <a:bodyPr/>
          <a:p/>
        </p:txBody>
      </p:sp>
      <p:sp>
        <p:nvSpPr>
          <p:cNvPr id="6" name="Text 4"/>
          <p:cNvSpPr/>
          <p:nvPr/>
        </p:nvSpPr>
        <p:spPr>
          <a:xfrm>
            <a:off x="403708" y="2788920"/>
            <a:ext cx="2606040" cy="1005840"/>
          </a:xfrm>
          <a:prstGeom prst="rect">
            <a:avLst/>
          </a:prstGeom>
          <a:noFill/>
          <a:ln/>
        </p:spPr>
        <p:txBody>
          <a:bodyPr wrap="square" lIns="0" tIns="0" rIns="0" bIns="0" rtlCol="0" anchor="ctr"/>
          <a:lstStyle/>
          <a:p>
            <a:pPr algn="ctr" indent="0" marL="0">
              <a:buNone/>
            </a:pPr>
            <a:r>
              <a:rPr lang="en-US" sz="3400" b="1" dirty="0">
                <a:solidFill>
                  <a:srgbClr val="0B5FFF"/>
                </a:solidFill>
                <a:latin typeface="Arial" pitchFamily="34" charset="0"/>
                <a:ea typeface="Arial" pitchFamily="34" charset="-122"/>
                <a:cs typeface="Arial" pitchFamily="34" charset="-120"/>
              </a:rPr>
              <a:t>5 min</a:t>
            </a:r>
            <a:endParaRPr lang="en-US" sz="3400" dirty="0"/>
          </a:p>
        </p:txBody>
      </p:sp>
      <p:sp>
        <p:nvSpPr>
          <p:cNvPr id="7" name="Text 5"/>
          <p:cNvSpPr/>
          <p:nvPr/>
        </p:nvSpPr>
        <p:spPr>
          <a:xfrm>
            <a:off x="540868" y="3840480"/>
            <a:ext cx="2331720" cy="1280160"/>
          </a:xfrm>
          <a:prstGeom prst="rect">
            <a:avLst/>
          </a:prstGeom>
          <a:noFill/>
          <a:ln/>
        </p:spPr>
        <p:txBody>
          <a:bodyPr wrap="square" lIns="0" tIns="0" rIns="0" bIns="0" rtlCol="0" anchor="t"/>
          <a:lstStyle/>
          <a:p>
            <a:pPr algn="ctr" indent="0" marL="0">
              <a:buNone/>
            </a:pPr>
            <a:r>
              <a:rPr lang="en-US" sz="1350" dirty="0">
                <a:solidFill>
                  <a:srgbClr val="6B7280"/>
                </a:solidFill>
                <a:latin typeface="Arial" pitchFamily="34" charset="0"/>
                <a:ea typeface="Arial" pitchFamily="34" charset="-122"/>
                <a:cs typeface="Arial" pitchFamily="34" charset="-120"/>
              </a:rPr>
              <a:t>decides the child's engagement</a:t>
            </a:r>
            <a:endParaRPr lang="en-US" sz="1350" dirty="0"/>
          </a:p>
        </p:txBody>
      </p:sp>
      <p:sp>
        <p:nvSpPr>
          <p:cNvPr id="8" name="Shape 6"/>
          <p:cNvSpPr/>
          <p:nvPr/>
        </p:nvSpPr>
        <p:spPr>
          <a:xfrm>
            <a:off x="3329788" y="2011680"/>
            <a:ext cx="2606040" cy="3291840"/>
          </a:xfrm>
          <a:prstGeom prst="roundRect">
            <a:avLst>
              <a:gd name="adj" fmla="val 4211"/>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9" name="Shape 7"/>
          <p:cNvSpPr/>
          <p:nvPr/>
        </p:nvSpPr>
        <p:spPr>
          <a:xfrm>
            <a:off x="3329788" y="2011680"/>
            <a:ext cx="2606040" cy="502920"/>
          </a:xfrm>
          <a:prstGeom prst="roundRect">
            <a:avLst>
              <a:gd name="adj" fmla="val 21818"/>
            </a:avLst>
          </a:prstGeom>
          <a:solidFill>
            <a:srgbClr val="00B85C"/>
          </a:solidFill>
          <a:ln/>
        </p:spPr>
        <p:txBody>
          <a:bodyPr/>
          <a:p/>
        </p:txBody>
      </p:sp>
      <p:sp>
        <p:nvSpPr>
          <p:cNvPr id="10" name="Shape 8"/>
          <p:cNvSpPr/>
          <p:nvPr/>
        </p:nvSpPr>
        <p:spPr>
          <a:xfrm>
            <a:off x="3329788" y="2267712"/>
            <a:ext cx="2606040" cy="246888"/>
          </a:xfrm>
          <a:prstGeom prst="rect">
            <a:avLst/>
          </a:prstGeom>
          <a:solidFill>
            <a:srgbClr val="00B85C"/>
          </a:solidFill>
          <a:ln/>
        </p:spPr>
        <p:txBody>
          <a:bodyPr/>
          <a:p/>
        </p:txBody>
      </p:sp>
      <p:sp>
        <p:nvSpPr>
          <p:cNvPr id="11" name="Text 9"/>
          <p:cNvSpPr/>
          <p:nvPr/>
        </p:nvSpPr>
        <p:spPr>
          <a:xfrm>
            <a:off x="3329788" y="2788920"/>
            <a:ext cx="2606040" cy="1005840"/>
          </a:xfrm>
          <a:prstGeom prst="rect">
            <a:avLst/>
          </a:prstGeom>
          <a:noFill/>
          <a:ln/>
        </p:spPr>
        <p:txBody>
          <a:bodyPr wrap="square" lIns="0" tIns="0" rIns="0" bIns="0" rtlCol="0" anchor="ctr"/>
          <a:lstStyle/>
          <a:p>
            <a:pPr algn="ctr" indent="0" marL="0">
              <a:buNone/>
            </a:pPr>
            <a:r>
              <a:rPr lang="en-US" sz="3400" b="1" dirty="0">
                <a:solidFill>
                  <a:srgbClr val="00B85C"/>
                </a:solidFill>
                <a:latin typeface="Arial" pitchFamily="34" charset="0"/>
                <a:ea typeface="Arial" pitchFamily="34" charset="-122"/>
                <a:cs typeface="Arial" pitchFamily="34" charset="-120"/>
              </a:rPr>
              <a:t>60%+</a:t>
            </a:r>
            <a:endParaRPr lang="en-US" sz="3400" dirty="0"/>
          </a:p>
        </p:txBody>
      </p:sp>
      <p:sp>
        <p:nvSpPr>
          <p:cNvPr id="12" name="Text 10"/>
          <p:cNvSpPr/>
          <p:nvPr/>
        </p:nvSpPr>
        <p:spPr>
          <a:xfrm>
            <a:off x="3466948" y="3840480"/>
            <a:ext cx="2331720" cy="1280160"/>
          </a:xfrm>
          <a:prstGeom prst="rect">
            <a:avLst/>
          </a:prstGeom>
          <a:noFill/>
          <a:ln/>
        </p:spPr>
        <p:txBody>
          <a:bodyPr wrap="square" lIns="0" tIns="0" rIns="0" bIns="0" rtlCol="0" anchor="t"/>
          <a:lstStyle/>
          <a:p>
            <a:pPr algn="ctr" indent="0" marL="0">
              <a:buNone/>
            </a:pPr>
            <a:r>
              <a:rPr lang="en-US" sz="1350" dirty="0">
                <a:solidFill>
                  <a:srgbClr val="6B7280"/>
                </a:solidFill>
                <a:latin typeface="Arial" pitchFamily="34" charset="0"/>
                <a:ea typeface="Arial" pitchFamily="34" charset="-122"/>
                <a:cs typeface="Arial" pitchFamily="34" charset="-120"/>
              </a:rPr>
              <a:t>the child must talk to improve</a:t>
            </a:r>
            <a:endParaRPr lang="en-US" sz="1350" dirty="0"/>
          </a:p>
        </p:txBody>
      </p:sp>
      <p:sp>
        <p:nvSpPr>
          <p:cNvPr id="13" name="Shape 11"/>
          <p:cNvSpPr/>
          <p:nvPr/>
        </p:nvSpPr>
        <p:spPr>
          <a:xfrm>
            <a:off x="6255868" y="2011680"/>
            <a:ext cx="2606040" cy="3291840"/>
          </a:xfrm>
          <a:prstGeom prst="roundRect">
            <a:avLst>
              <a:gd name="adj" fmla="val 4211"/>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14" name="Shape 12"/>
          <p:cNvSpPr/>
          <p:nvPr/>
        </p:nvSpPr>
        <p:spPr>
          <a:xfrm>
            <a:off x="6255868" y="2011680"/>
            <a:ext cx="2606040" cy="502920"/>
          </a:xfrm>
          <a:prstGeom prst="roundRect">
            <a:avLst>
              <a:gd name="adj" fmla="val 21818"/>
            </a:avLst>
          </a:prstGeom>
          <a:solidFill>
            <a:srgbClr val="00B8D9"/>
          </a:solidFill>
          <a:ln/>
        </p:spPr>
        <p:txBody>
          <a:bodyPr/>
          <a:p/>
        </p:txBody>
      </p:sp>
      <p:sp>
        <p:nvSpPr>
          <p:cNvPr id="15" name="Shape 13"/>
          <p:cNvSpPr/>
          <p:nvPr/>
        </p:nvSpPr>
        <p:spPr>
          <a:xfrm>
            <a:off x="6255868" y="2267712"/>
            <a:ext cx="2606040" cy="246888"/>
          </a:xfrm>
          <a:prstGeom prst="rect">
            <a:avLst/>
          </a:prstGeom>
          <a:solidFill>
            <a:srgbClr val="00B8D9"/>
          </a:solidFill>
          <a:ln/>
        </p:spPr>
        <p:txBody>
          <a:bodyPr/>
          <a:p/>
        </p:txBody>
      </p:sp>
      <p:sp>
        <p:nvSpPr>
          <p:cNvPr id="16" name="Text 14"/>
          <p:cNvSpPr/>
          <p:nvPr/>
        </p:nvSpPr>
        <p:spPr>
          <a:xfrm>
            <a:off x="6255868" y="2788920"/>
            <a:ext cx="2606040" cy="1005840"/>
          </a:xfrm>
          <a:prstGeom prst="rect">
            <a:avLst/>
          </a:prstGeom>
          <a:noFill/>
          <a:ln/>
        </p:spPr>
        <p:txBody>
          <a:bodyPr wrap="square" lIns="0" tIns="0" rIns="0" bIns="0" rtlCol="0" anchor="ctr"/>
          <a:lstStyle/>
          <a:p>
            <a:pPr algn="ctr" indent="0" marL="0">
              <a:buNone/>
            </a:pPr>
            <a:r>
              <a:rPr lang="en-US" sz="3400" b="1" dirty="0">
                <a:solidFill>
                  <a:srgbClr val="00B8D9"/>
                </a:solidFill>
                <a:latin typeface="Arial" pitchFamily="34" charset="0"/>
                <a:ea typeface="Arial" pitchFamily="34" charset="-122"/>
                <a:cs typeface="Arial" pitchFamily="34" charset="-120"/>
              </a:rPr>
              <a:t>Age=Min</a:t>
            </a:r>
            <a:endParaRPr lang="en-US" sz="3400" dirty="0"/>
          </a:p>
        </p:txBody>
      </p:sp>
      <p:sp>
        <p:nvSpPr>
          <p:cNvPr id="17" name="Text 15"/>
          <p:cNvSpPr/>
          <p:nvPr/>
        </p:nvSpPr>
        <p:spPr>
          <a:xfrm>
            <a:off x="6393028" y="3840480"/>
            <a:ext cx="2331720" cy="1280160"/>
          </a:xfrm>
          <a:prstGeom prst="rect">
            <a:avLst/>
          </a:prstGeom>
          <a:noFill/>
          <a:ln/>
        </p:spPr>
        <p:txBody>
          <a:bodyPr wrap="square" lIns="0" tIns="0" rIns="0" bIns="0" rtlCol="0" anchor="t"/>
          <a:lstStyle/>
          <a:p>
            <a:pPr algn="ctr" indent="0" marL="0">
              <a:buNone/>
            </a:pPr>
            <a:r>
              <a:rPr lang="en-US" sz="1350" dirty="0">
                <a:solidFill>
                  <a:srgbClr val="6B7280"/>
                </a:solidFill>
                <a:latin typeface="Arial" pitchFamily="34" charset="0"/>
                <a:ea typeface="Arial" pitchFamily="34" charset="-122"/>
                <a:cs typeface="Arial" pitchFamily="34" charset="-120"/>
              </a:rPr>
              <a:t>8yo = 8 min attention</a:t>
            </a:r>
            <a:endParaRPr lang="en-US" sz="1350" dirty="0"/>
          </a:p>
        </p:txBody>
      </p:sp>
      <p:sp>
        <p:nvSpPr>
          <p:cNvPr id="18" name="Shape 16"/>
          <p:cNvSpPr/>
          <p:nvPr/>
        </p:nvSpPr>
        <p:spPr>
          <a:xfrm>
            <a:off x="9181948" y="2011680"/>
            <a:ext cx="2606040" cy="3291840"/>
          </a:xfrm>
          <a:prstGeom prst="roundRect">
            <a:avLst>
              <a:gd name="adj" fmla="val 4211"/>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19" name="Shape 17"/>
          <p:cNvSpPr/>
          <p:nvPr/>
        </p:nvSpPr>
        <p:spPr>
          <a:xfrm>
            <a:off x="9181948" y="2011680"/>
            <a:ext cx="2606040" cy="502920"/>
          </a:xfrm>
          <a:prstGeom prst="roundRect">
            <a:avLst>
              <a:gd name="adj" fmla="val 21818"/>
            </a:avLst>
          </a:prstGeom>
          <a:solidFill>
            <a:srgbClr val="7C3AED"/>
          </a:solidFill>
          <a:ln/>
        </p:spPr>
        <p:txBody>
          <a:bodyPr/>
          <a:p/>
        </p:txBody>
      </p:sp>
      <p:sp>
        <p:nvSpPr>
          <p:cNvPr id="20" name="Shape 18"/>
          <p:cNvSpPr/>
          <p:nvPr/>
        </p:nvSpPr>
        <p:spPr>
          <a:xfrm>
            <a:off x="9181948" y="2267712"/>
            <a:ext cx="2606040" cy="246888"/>
          </a:xfrm>
          <a:prstGeom prst="rect">
            <a:avLst/>
          </a:prstGeom>
          <a:solidFill>
            <a:srgbClr val="7C3AED"/>
          </a:solidFill>
          <a:ln/>
        </p:spPr>
        <p:txBody>
          <a:bodyPr/>
          <a:p/>
        </p:txBody>
      </p:sp>
      <p:sp>
        <p:nvSpPr>
          <p:cNvPr id="21" name="Text 19"/>
          <p:cNvSpPr/>
          <p:nvPr/>
        </p:nvSpPr>
        <p:spPr>
          <a:xfrm>
            <a:off x="9181948" y="2788920"/>
            <a:ext cx="2606040" cy="1005840"/>
          </a:xfrm>
          <a:prstGeom prst="rect">
            <a:avLst/>
          </a:prstGeom>
          <a:noFill/>
          <a:ln/>
        </p:spPr>
        <p:txBody>
          <a:bodyPr wrap="square" lIns="0" tIns="0" rIns="0" bIns="0" rtlCol="0" anchor="ctr"/>
          <a:lstStyle/>
          <a:p>
            <a:pPr algn="ctr" indent="0" marL="0">
              <a:buNone/>
            </a:pPr>
            <a:r>
              <a:rPr lang="en-US" sz="3400" b="1" dirty="0">
                <a:solidFill>
                  <a:srgbClr val="7C3AED"/>
                </a:solidFill>
                <a:latin typeface="Arial" pitchFamily="34" charset="0"/>
                <a:ea typeface="Arial" pitchFamily="34" charset="-122"/>
                <a:cs typeface="Arial" pitchFamily="34" charset="-120"/>
              </a:rPr>
              <a:t>5-7 min</a:t>
            </a:r>
            <a:endParaRPr lang="en-US" sz="3400" dirty="0"/>
          </a:p>
        </p:txBody>
      </p:sp>
      <p:sp>
        <p:nvSpPr>
          <p:cNvPr id="22" name="Text 20"/>
          <p:cNvSpPr/>
          <p:nvPr/>
        </p:nvSpPr>
        <p:spPr>
          <a:xfrm>
            <a:off x="9319108" y="3840480"/>
            <a:ext cx="2331720" cy="1280160"/>
          </a:xfrm>
          <a:prstGeom prst="rect">
            <a:avLst/>
          </a:prstGeom>
          <a:noFill/>
          <a:ln/>
        </p:spPr>
        <p:txBody>
          <a:bodyPr wrap="square" lIns="0" tIns="0" rIns="0" bIns="0" rtlCol="0" anchor="t"/>
          <a:lstStyle/>
          <a:p>
            <a:pPr algn="ctr" indent="0" marL="0">
              <a:buNone/>
            </a:pPr>
            <a:r>
              <a:rPr lang="en-US" sz="1350" dirty="0">
                <a:solidFill>
                  <a:srgbClr val="6B7280"/>
                </a:solidFill>
                <a:latin typeface="Arial" pitchFamily="34" charset="0"/>
                <a:ea typeface="Arial" pitchFamily="34" charset="-122"/>
                <a:cs typeface="Arial" pitchFamily="34" charset="-120"/>
              </a:rPr>
              <a:t>switch the activity</a:t>
            </a:r>
            <a:endParaRPr lang="en-US" sz="1350" dirty="0"/>
          </a:p>
        </p:txBody>
      </p:sp>
      <p:sp>
        <p:nvSpPr>
          <p:cNvPr id="3" name="Text 1"/>
          <p:cNvSpPr/>
          <p:nvPr/>
        </p:nvSpPr>
        <p:spPr>
          <a:xfrm>
            <a:off x="548640" y="301751"/>
            <a:ext cx="502920" cy="50292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02</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325880" y="320040"/>
            <a:ext cx="1028700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01. Why This Manual Exists</a:t>
            </a:r>
            <a:endParaRPr lang="en-US" sz="2600" dirty="0"/>
          </a:p>
        </p:txBody>
      </p:sp>
      <p:sp>
        <p:nvSpPr>
          <p:cNvPr id="3" name="Text 1"/>
          <p:cNvSpPr/>
          <p:nvPr/>
        </p:nvSpPr>
        <p:spPr>
          <a:xfrm>
            <a:off x="548640" y="1417320"/>
            <a:ext cx="5852160" cy="123444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Most Mangoi students are curious, energetic children and teens with short attention spans. For them, it goes beyond “I won't learn if it's boring” — the harsher truth is “if I don't feel fun in the first 5 minutes, my mind has already logged out.”</a:t>
            </a:r>
            <a:endParaRPr lang="en-US" sz="1250" dirty="0"/>
          </a:p>
        </p:txBody>
      </p:sp>
      <p:sp>
        <p:nvSpPr>
          <p:cNvPr id="4" name="Text 2"/>
          <p:cNvSpPr/>
          <p:nvPr/>
        </p:nvSpPr>
        <p:spPr>
          <a:xfrm>
            <a:off x="548640" y="2697480"/>
            <a:ext cx="5852160" cy="137160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On top of that, video calls filter out 30-40% of non-verbal signals — tone, expression, body language — compared to in-person. Perform with the same “calm classroom energy” and it lands as flat and boring, so the child reaches for a phone.</a:t>
            </a:r>
            <a:endParaRPr lang="en-US" sz="1250" dirty="0"/>
          </a:p>
        </p:txBody>
      </p:sp>
      <p:sp>
        <p:nvSpPr>
          <p:cNvPr id="5" name="Shape 3"/>
          <p:cNvSpPr/>
          <p:nvPr/>
        </p:nvSpPr>
        <p:spPr>
          <a:xfrm>
            <a:off x="548640" y="4160520"/>
            <a:ext cx="5852160" cy="1691640"/>
          </a:xfrm>
          <a:prstGeom prst="roundRect">
            <a:avLst>
              <a:gd name="adj" fmla="val 5405"/>
            </a:avLst>
          </a:prstGeom>
          <a:solidFill>
            <a:srgbClr val="E3EEFF"/>
          </a:solidFill>
          <a:ln/>
        </p:spPr>
        <p:txBody>
          <a:bodyPr/>
          <a:p/>
        </p:txBody>
      </p:sp>
      <p:sp>
        <p:nvSpPr>
          <p:cNvPr id="6" name="Text 4"/>
          <p:cNvSpPr/>
          <p:nvPr/>
        </p:nvSpPr>
        <p:spPr>
          <a:xfrm>
            <a:off x="822960" y="4279392"/>
            <a:ext cx="5303520" cy="1463040"/>
          </a:xfrm>
          <a:prstGeom prst="rect">
            <a:avLst/>
          </a:prstGeom>
          <a:noFill/>
          <a:ln/>
        </p:spPr>
        <p:txBody>
          <a:bodyPr wrap="square" lIns="0" tIns="0" rIns="0" bIns="0" rtlCol="0" anchor="ctr"/>
          <a:lstStyle/>
          <a:p>
            <a:pPr indent="0" marL="0">
              <a:buNone/>
            </a:pPr>
            <a:r>
              <a:rPr lang="en-US" sz="1150" i="1" dirty="0">
                <a:solidFill>
                  <a:srgbClr val="0B5FFF"/>
                </a:solidFill>
                <a:latin typeface="Arial" pitchFamily="34" charset="0"/>
                <a:ea typeface="Arial" pitchFamily="34" charset="-122"/>
                <a:cs typeface="Arial" pitchFamily="34" charset="-120"/>
              </a:rPr>
              <a:t>“We are not teachers force-feeding dry grammar. We are pacesetters who build an English playground and run alongside the child inside it.”</a:t>
            </a:r>
            <a:endParaRPr lang="en-US" sz="1150" dirty="0"/>
          </a:p>
        </p:txBody>
      </p:sp>
      <p:pic>
        <p:nvPicPr>
          <p:cNvPr id="7" name="Image 0" descr="C:/Users/Admin/AppData/Local/Temp/claude/C--Users-Admin-Desktop-mangoi-develop2-main/51a19268-9c4f-476f-8b14-ce923f54a918/scratchpad/img/growth_en.png">    </p:cNvPr>
          <p:cNvPicPr>
            <a:picLocks noChangeAspect="1"/>
          </p:cNvPicPr>
          <p:nvPr/>
        </p:nvPicPr>
        <p:blipFill>
          <a:blip r:embed="rId1"/>
          <a:stretch>
            <a:fillRect/>
          </a:stretch>
        </p:blipFill>
        <p:spPr>
          <a:xfrm>
            <a:off x="6629400" y="1417320"/>
            <a:ext cx="5029200" cy="3319775"/>
          </a:xfrm>
          <a:prstGeom prst="rect">
            <a:avLst/>
          </a:prstGeom>
          <a:effectLst>
            <a:outerShdw sx="100000" sy="100000" kx="0" ky="0" algn="bl" rotWithShape="0" blurRad="101600" dist="38100" dir="2700000">
              <a:srgbClr val="000000">
                <a:alpha val="12000"/>
              </a:srgbClr>
            </a:outerShdw>
          </a:effectLst>
        </p:spPr>
      </p:pic>
      <p:sp>
        <p:nvSpPr>
          <p:cNvPr id="8" name="Text 5"/>
          <p:cNvSpPr/>
          <p:nvPr/>
        </p:nvSpPr>
        <p:spPr>
          <a:xfrm>
            <a:off x="6629400" y="4874255"/>
            <a:ext cx="5029200" cy="685800"/>
          </a:xfrm>
          <a:prstGeom prst="rect">
            <a:avLst/>
          </a:prstGeom>
          <a:noFill/>
          <a:ln/>
        </p:spPr>
        <p:txBody>
          <a:bodyPr wrap="square" lIns="0" tIns="0" rIns="0" bIns="0" rtlCol="0" anchor="ctr"/>
          <a:lstStyle/>
          <a:p>
            <a:pPr indent="0" marL="0">
              <a:buNone/>
            </a:pPr>
            <a:r>
              <a:rPr lang="en-US" sz="950" i="1" dirty="0">
                <a:solidFill>
                  <a:srgbClr val="6B7280"/>
                </a:solidFill>
                <a:latin typeface="Arial" pitchFamily="34" charset="0"/>
                <a:ea typeface="Arial" pitchFamily="34" charset="-122"/>
                <a:cs typeface="Arial" pitchFamily="34" charset="-120"/>
              </a:rPr>
              <a:t>The more fun a class is (Fun), the more a child keeps coming (Retention), and the longer they stay, the greater their improvement (Achievement).</a:t>
            </a:r>
            <a:endParaRPr lang="en-US" sz="950" dirty="0"/>
          </a:p>
        </p:txBody>
      </p:sp>
      <p:sp>
        <p:nvSpPr>
          <p:cNvPr id="3" name="Text 1"/>
          <p:cNvSpPr/>
          <p:nvPr/>
        </p:nvSpPr>
        <p:spPr>
          <a:xfrm>
            <a:off x="548640" y="301751"/>
            <a:ext cx="502920" cy="50292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03</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325880" y="320040"/>
            <a:ext cx="1028700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02. The 5 Core Areas to Drive Engagement</a:t>
            </a:r>
            <a:endParaRPr lang="en-US" sz="2600" dirty="0"/>
          </a:p>
        </p:txBody>
      </p:sp>
      <p:sp>
        <p:nvSpPr>
          <p:cNvPr id="3" name="Text 1"/>
          <p:cNvSpPr/>
          <p:nvPr/>
        </p:nvSpPr>
        <p:spPr>
          <a:xfrm>
            <a:off x="548640" y="896112"/>
            <a:ext cx="11064240" cy="457200"/>
          </a:xfrm>
          <a:prstGeom prst="rect">
            <a:avLst/>
          </a:prstGeom>
          <a:noFill/>
          <a:ln/>
        </p:spPr>
        <p:txBody>
          <a:bodyPr wrap="square" lIns="0" tIns="0" rIns="0" bIns="0" rtlCol="0" anchor="ctr"/>
          <a:lstStyle/>
          <a:p>
            <a:pPr indent="0" marL="0">
              <a:buNone/>
            </a:pPr>
            <a:r>
              <a:rPr lang="en-US" sz="1250" i="1" dirty="0">
                <a:solidFill>
                  <a:srgbClr val="6B7280"/>
                </a:solidFill>
                <a:latin typeface="Arial" pitchFamily="34" charset="0"/>
                <a:ea typeface="Arial" pitchFamily="34" charset="-122"/>
                <a:cs typeface="Arial" pitchFamily="34" charset="-120"/>
              </a:rPr>
              <a:t>Each item gets its own slide next, with why it matters, exactly how to do it, and a real example</a:t>
            </a:r>
            <a:endParaRPr lang="en-US" sz="1250" dirty="0"/>
          </a:p>
        </p:txBody>
      </p:sp>
      <p:sp>
        <p:nvSpPr>
          <p:cNvPr id="4" name="Shape 2"/>
          <p:cNvSpPr/>
          <p:nvPr/>
        </p:nvSpPr>
        <p:spPr>
          <a:xfrm>
            <a:off x="548640" y="1600200"/>
            <a:ext cx="11064240" cy="841248"/>
          </a:xfrm>
          <a:prstGeom prst="roundRect">
            <a:avLst>
              <a:gd name="adj" fmla="val 10870"/>
            </a:avLst>
          </a:prstGeom>
          <a:solidFill>
            <a:srgbClr val="FFFFFF"/>
          </a:solidFill>
          <a:ln/>
        </p:spPr>
        <p:txBody>
          <a:bodyPr/>
          <a:p/>
        </p:txBody>
      </p:sp>
      <p:sp>
        <p:nvSpPr>
          <p:cNvPr id="5" name="Shape 3"/>
          <p:cNvSpPr/>
          <p:nvPr/>
        </p:nvSpPr>
        <p:spPr>
          <a:xfrm>
            <a:off x="777240" y="1737360"/>
            <a:ext cx="566928" cy="566928"/>
          </a:xfrm>
          <a:prstGeom prst="ellipse">
            <a:avLst/>
          </a:prstGeom>
          <a:solidFill>
            <a:srgbClr val="0B5FFF"/>
          </a:solidFill>
          <a:ln/>
        </p:spPr>
        <p:txBody>
          <a:bodyPr/>
          <a:p/>
        </p:txBody>
      </p:sp>
      <p:sp>
        <p:nvSpPr>
          <p:cNvPr id="6" name="Text 4"/>
          <p:cNvSpPr/>
          <p:nvPr/>
        </p:nvSpPr>
        <p:spPr>
          <a:xfrm>
            <a:off x="777240" y="17373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7" name="Text 5"/>
          <p:cNvSpPr/>
          <p:nvPr/>
        </p:nvSpPr>
        <p:spPr>
          <a:xfrm>
            <a:off x="1600200" y="1655064"/>
            <a:ext cx="3566160" cy="731520"/>
          </a:xfrm>
          <a:prstGeom prst="rect">
            <a:avLst/>
          </a:prstGeom>
          <a:noFill/>
          <a:ln/>
        </p:spPr>
        <p:txBody>
          <a:bodyPr wrap="square" lIns="0" tIns="0" rIns="0" bIns="0" rtlCol="0" anchor="ctr"/>
          <a:lstStyle/>
          <a:p>
            <a:pPr indent="0" marL="0">
              <a:buNone/>
            </a:pPr>
            <a:r>
              <a:rPr lang="en-US" sz="1400" b="1" dirty="0">
                <a:solidFill>
                  <a:srgbClr val="0B5FFF"/>
                </a:solidFill>
                <a:latin typeface="Arial" pitchFamily="34" charset="0"/>
                <a:ea typeface="Arial" pitchFamily="34" charset="-122"/>
                <a:cs typeface="Arial" pitchFamily="34" charset="-120"/>
              </a:rPr>
              <a:t>1. Energy &amp; Expression</a:t>
            </a:r>
            <a:endParaRPr lang="en-US" sz="1400" dirty="0"/>
          </a:p>
        </p:txBody>
      </p:sp>
      <p:sp>
        <p:nvSpPr>
          <p:cNvPr id="8" name="Text 6"/>
          <p:cNvSpPr/>
          <p:nvPr/>
        </p:nvSpPr>
        <p:spPr>
          <a:xfrm>
            <a:off x="5257800" y="1655064"/>
            <a:ext cx="6172200" cy="73152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Warmth that reaches through the screen — react at roughly 1.5x your baseline.</a:t>
            </a:r>
            <a:endParaRPr lang="en-US" sz="1250" dirty="0"/>
          </a:p>
        </p:txBody>
      </p:sp>
      <p:sp>
        <p:nvSpPr>
          <p:cNvPr id="9" name="Shape 7"/>
          <p:cNvSpPr/>
          <p:nvPr/>
        </p:nvSpPr>
        <p:spPr>
          <a:xfrm>
            <a:off x="548640" y="2496312"/>
            <a:ext cx="11064240" cy="841248"/>
          </a:xfrm>
          <a:prstGeom prst="roundRect">
            <a:avLst>
              <a:gd name="adj" fmla="val 10870"/>
            </a:avLst>
          </a:prstGeom>
          <a:solidFill>
            <a:srgbClr val="E3EEFF"/>
          </a:solidFill>
          <a:ln/>
        </p:spPr>
        <p:txBody>
          <a:bodyPr/>
          <a:p/>
        </p:txBody>
      </p:sp>
      <p:sp>
        <p:nvSpPr>
          <p:cNvPr id="10" name="Shape 8"/>
          <p:cNvSpPr/>
          <p:nvPr/>
        </p:nvSpPr>
        <p:spPr>
          <a:xfrm>
            <a:off x="777240" y="2633472"/>
            <a:ext cx="566928" cy="566928"/>
          </a:xfrm>
          <a:prstGeom prst="ellipse">
            <a:avLst/>
          </a:prstGeom>
          <a:solidFill>
            <a:srgbClr val="00B8D9"/>
          </a:solidFill>
          <a:ln/>
        </p:spPr>
        <p:txBody>
          <a:bodyPr/>
          <a:p/>
        </p:txBody>
      </p:sp>
      <p:sp>
        <p:nvSpPr>
          <p:cNvPr id="11" name="Text 9"/>
          <p:cNvSpPr/>
          <p:nvPr/>
        </p:nvSpPr>
        <p:spPr>
          <a:xfrm>
            <a:off x="777240" y="2633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2" name="Text 10"/>
          <p:cNvSpPr/>
          <p:nvPr/>
        </p:nvSpPr>
        <p:spPr>
          <a:xfrm>
            <a:off x="1600200" y="2551176"/>
            <a:ext cx="3566160" cy="731520"/>
          </a:xfrm>
          <a:prstGeom prst="rect">
            <a:avLst/>
          </a:prstGeom>
          <a:noFill/>
          <a:ln/>
        </p:spPr>
        <p:txBody>
          <a:bodyPr wrap="square" lIns="0" tIns="0" rIns="0" bIns="0" rtlCol="0" anchor="ctr"/>
          <a:lstStyle/>
          <a:p>
            <a:pPr indent="0" marL="0">
              <a:buNone/>
            </a:pPr>
            <a:r>
              <a:rPr lang="en-US" sz="1400" b="1" dirty="0">
                <a:solidFill>
                  <a:srgbClr val="0B5FFF"/>
                </a:solidFill>
                <a:latin typeface="Arial" pitchFamily="34" charset="0"/>
                <a:ea typeface="Arial" pitchFamily="34" charset="-122"/>
                <a:cs typeface="Arial" pitchFamily="34" charset="-120"/>
              </a:rPr>
              <a:t>2. Student Talk 60%+</a:t>
            </a:r>
            <a:endParaRPr lang="en-US" sz="1400" dirty="0"/>
          </a:p>
        </p:txBody>
      </p:sp>
      <p:sp>
        <p:nvSpPr>
          <p:cNvPr id="13" name="Text 11"/>
          <p:cNvSpPr/>
          <p:nvPr/>
        </p:nvSpPr>
        <p:spPr>
          <a:xfrm>
            <a:off x="5257800" y="2551176"/>
            <a:ext cx="6172200" cy="73152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The one who talks is the one who learns — wait 3 seconds after questions.</a:t>
            </a:r>
            <a:endParaRPr lang="en-US" sz="1250" dirty="0"/>
          </a:p>
        </p:txBody>
      </p:sp>
      <p:sp>
        <p:nvSpPr>
          <p:cNvPr id="14" name="Shape 12"/>
          <p:cNvSpPr/>
          <p:nvPr/>
        </p:nvSpPr>
        <p:spPr>
          <a:xfrm>
            <a:off x="548640" y="3392424"/>
            <a:ext cx="11064240" cy="841248"/>
          </a:xfrm>
          <a:prstGeom prst="roundRect">
            <a:avLst>
              <a:gd name="adj" fmla="val 10870"/>
            </a:avLst>
          </a:prstGeom>
          <a:solidFill>
            <a:srgbClr val="FFFFFF"/>
          </a:solidFill>
          <a:ln/>
        </p:spPr>
        <p:txBody>
          <a:bodyPr/>
          <a:p/>
        </p:txBody>
      </p:sp>
      <p:sp>
        <p:nvSpPr>
          <p:cNvPr id="15" name="Shape 13"/>
          <p:cNvSpPr/>
          <p:nvPr/>
        </p:nvSpPr>
        <p:spPr>
          <a:xfrm>
            <a:off x="777240" y="3529584"/>
            <a:ext cx="566928" cy="566928"/>
          </a:xfrm>
          <a:prstGeom prst="ellipse">
            <a:avLst/>
          </a:prstGeom>
          <a:solidFill>
            <a:srgbClr val="7C3AED"/>
          </a:solidFill>
          <a:ln/>
        </p:spPr>
        <p:txBody>
          <a:bodyPr/>
          <a:p/>
        </p:txBody>
      </p:sp>
      <p:sp>
        <p:nvSpPr>
          <p:cNvPr id="16" name="Text 14"/>
          <p:cNvSpPr/>
          <p:nvPr/>
        </p:nvSpPr>
        <p:spPr>
          <a:xfrm>
            <a:off x="777240" y="352958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7" name="Text 15"/>
          <p:cNvSpPr/>
          <p:nvPr/>
        </p:nvSpPr>
        <p:spPr>
          <a:xfrm>
            <a:off x="1600200" y="3447288"/>
            <a:ext cx="3566160" cy="731520"/>
          </a:xfrm>
          <a:prstGeom prst="rect">
            <a:avLst/>
          </a:prstGeom>
          <a:noFill/>
          <a:ln/>
        </p:spPr>
        <p:txBody>
          <a:bodyPr wrap="square" lIns="0" tIns="0" rIns="0" bIns="0" rtlCol="0" anchor="ctr"/>
          <a:lstStyle/>
          <a:p>
            <a:pPr indent="0" marL="0">
              <a:buNone/>
            </a:pPr>
            <a:r>
              <a:rPr lang="en-US" sz="1400" b="1" dirty="0">
                <a:solidFill>
                  <a:srgbClr val="0B5FFF"/>
                </a:solidFill>
                <a:latin typeface="Arial" pitchFamily="34" charset="0"/>
                <a:ea typeface="Arial" pitchFamily="34" charset="-122"/>
                <a:cs typeface="Arial" pitchFamily="34" charset="-120"/>
              </a:rPr>
              <a:t>3. Make Achievement Visible, Instantly</a:t>
            </a:r>
            <a:endParaRPr lang="en-US" sz="1400" dirty="0"/>
          </a:p>
        </p:txBody>
      </p:sp>
      <p:sp>
        <p:nvSpPr>
          <p:cNvPr id="18" name="Text 16"/>
          <p:cNvSpPr/>
          <p:nvPr/>
        </p:nvSpPr>
        <p:spPr>
          <a:xfrm>
            <a:off x="5257800" y="3447288"/>
            <a:ext cx="6172200" cy="73152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The power of small rewards — stars, badges, and mascot reactions.</a:t>
            </a:r>
            <a:endParaRPr lang="en-US" sz="1250" dirty="0"/>
          </a:p>
        </p:txBody>
      </p:sp>
      <p:sp>
        <p:nvSpPr>
          <p:cNvPr id="19" name="Shape 17"/>
          <p:cNvSpPr/>
          <p:nvPr/>
        </p:nvSpPr>
        <p:spPr>
          <a:xfrm>
            <a:off x="548640" y="4288536"/>
            <a:ext cx="11064240" cy="841248"/>
          </a:xfrm>
          <a:prstGeom prst="roundRect">
            <a:avLst>
              <a:gd name="adj" fmla="val 10870"/>
            </a:avLst>
          </a:prstGeom>
          <a:solidFill>
            <a:srgbClr val="E3EEFF"/>
          </a:solidFill>
          <a:ln/>
        </p:spPr>
        <p:txBody>
          <a:bodyPr/>
          <a:p/>
        </p:txBody>
      </p:sp>
      <p:sp>
        <p:nvSpPr>
          <p:cNvPr id="20" name="Shape 18"/>
          <p:cNvSpPr/>
          <p:nvPr/>
        </p:nvSpPr>
        <p:spPr>
          <a:xfrm>
            <a:off x="777240" y="4425696"/>
            <a:ext cx="566928" cy="566928"/>
          </a:xfrm>
          <a:prstGeom prst="ellipse">
            <a:avLst/>
          </a:prstGeom>
          <a:solidFill>
            <a:srgbClr val="00B85C"/>
          </a:solidFill>
          <a:ln/>
        </p:spPr>
        <p:txBody>
          <a:bodyPr/>
          <a:p/>
        </p:txBody>
      </p:sp>
      <p:sp>
        <p:nvSpPr>
          <p:cNvPr id="21" name="Text 19"/>
          <p:cNvSpPr/>
          <p:nvPr/>
        </p:nvSpPr>
        <p:spPr>
          <a:xfrm>
            <a:off x="777240" y="442569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2" name="Text 20"/>
          <p:cNvSpPr/>
          <p:nvPr/>
        </p:nvSpPr>
        <p:spPr>
          <a:xfrm>
            <a:off x="1600200" y="4343400"/>
            <a:ext cx="3566160" cy="731520"/>
          </a:xfrm>
          <a:prstGeom prst="rect">
            <a:avLst/>
          </a:prstGeom>
          <a:noFill/>
          <a:ln/>
        </p:spPr>
        <p:txBody>
          <a:bodyPr wrap="square" lIns="0" tIns="0" rIns="0" bIns="0" rtlCol="0" anchor="ctr"/>
          <a:lstStyle/>
          <a:p>
            <a:pPr indent="0" marL="0">
              <a:buNone/>
            </a:pPr>
            <a:r>
              <a:rPr lang="en-US" sz="1400" b="1" dirty="0">
                <a:solidFill>
                  <a:srgbClr val="0B5FFF"/>
                </a:solidFill>
                <a:latin typeface="Arial" pitchFamily="34" charset="0"/>
                <a:ea typeface="Arial" pitchFamily="34" charset="-122"/>
                <a:cs typeface="Arial" pitchFamily="34" charset="-120"/>
              </a:rPr>
              <a:t>4. Full Personalization</a:t>
            </a:r>
            <a:endParaRPr lang="en-US" sz="1400" dirty="0"/>
          </a:p>
        </p:txBody>
      </p:sp>
      <p:sp>
        <p:nvSpPr>
          <p:cNvPr id="23" name="Text 21"/>
          <p:cNvSpPr/>
          <p:nvPr/>
        </p:nvSpPr>
        <p:spPr>
          <a:xfrm>
            <a:off x="5257800" y="4343400"/>
            <a:ext cx="6172200" cy="73152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“This class was made just for me” — weave in names and interests.</a:t>
            </a:r>
            <a:endParaRPr lang="en-US" sz="1250" dirty="0"/>
          </a:p>
        </p:txBody>
      </p:sp>
      <p:sp>
        <p:nvSpPr>
          <p:cNvPr id="24" name="Shape 22"/>
          <p:cNvSpPr/>
          <p:nvPr/>
        </p:nvSpPr>
        <p:spPr>
          <a:xfrm>
            <a:off x="548640" y="5184648"/>
            <a:ext cx="11064240" cy="841248"/>
          </a:xfrm>
          <a:prstGeom prst="roundRect">
            <a:avLst>
              <a:gd name="adj" fmla="val 10870"/>
            </a:avLst>
          </a:prstGeom>
          <a:solidFill>
            <a:srgbClr val="FFFFFF"/>
          </a:solidFill>
          <a:ln/>
        </p:spPr>
        <p:txBody>
          <a:bodyPr/>
          <a:p/>
        </p:txBody>
      </p:sp>
      <p:sp>
        <p:nvSpPr>
          <p:cNvPr id="25" name="Shape 23"/>
          <p:cNvSpPr/>
          <p:nvPr/>
        </p:nvSpPr>
        <p:spPr>
          <a:xfrm>
            <a:off x="777240" y="5321808"/>
            <a:ext cx="566928" cy="566928"/>
          </a:xfrm>
          <a:prstGeom prst="ellipse">
            <a:avLst/>
          </a:prstGeom>
          <a:solidFill>
            <a:srgbClr val="FF9500"/>
          </a:solidFill>
          <a:ln/>
        </p:spPr>
        <p:txBody>
          <a:bodyPr/>
          <a:p/>
        </p:txBody>
      </p:sp>
      <p:sp>
        <p:nvSpPr>
          <p:cNvPr id="26" name="Text 24"/>
          <p:cNvSpPr/>
          <p:nvPr/>
        </p:nvSpPr>
        <p:spPr>
          <a:xfrm>
            <a:off x="777240" y="532180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7" name="Text 25"/>
          <p:cNvSpPr/>
          <p:nvPr/>
        </p:nvSpPr>
        <p:spPr>
          <a:xfrm>
            <a:off x="1600200" y="5239512"/>
            <a:ext cx="3566160" cy="731520"/>
          </a:xfrm>
          <a:prstGeom prst="rect">
            <a:avLst/>
          </a:prstGeom>
          <a:noFill/>
          <a:ln/>
        </p:spPr>
        <p:txBody>
          <a:bodyPr wrap="square" lIns="0" tIns="0" rIns="0" bIns="0" rtlCol="0" anchor="ctr"/>
          <a:lstStyle/>
          <a:p>
            <a:pPr indent="0" marL="0">
              <a:buNone/>
            </a:pPr>
            <a:r>
              <a:rPr lang="en-US" sz="1400" b="1" dirty="0">
                <a:solidFill>
                  <a:srgbClr val="0B5FFF"/>
                </a:solidFill>
                <a:latin typeface="Arial" pitchFamily="34" charset="0"/>
                <a:ea typeface="Arial" pitchFamily="34" charset="-122"/>
                <a:cs typeface="Arial" pitchFamily="34" charset="-120"/>
              </a:rPr>
              <a:t>5. Rhythmic Transitions</a:t>
            </a:r>
            <a:endParaRPr lang="en-US" sz="1400" dirty="0"/>
          </a:p>
        </p:txBody>
      </p:sp>
      <p:sp>
        <p:nvSpPr>
          <p:cNvPr id="28" name="Text 26"/>
          <p:cNvSpPr/>
          <p:nvPr/>
        </p:nvSpPr>
        <p:spPr>
          <a:xfrm>
            <a:off x="5257800" y="5239512"/>
            <a:ext cx="6172200" cy="73152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Never leave room for boredom — switch activities every 5-7 minutes.</a:t>
            </a:r>
            <a:endParaRPr lang="en-US" sz="1250" dirty="0"/>
          </a:p>
        </p:txBody>
      </p:sp>
      <p:sp>
        <p:nvSpPr>
          <p:cNvPr id="3" name="Text 1"/>
          <p:cNvSpPr/>
          <p:nvPr/>
        </p:nvSpPr>
        <p:spPr>
          <a:xfrm>
            <a:off x="548640" y="301751"/>
            <a:ext cx="502920" cy="50292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04</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0B5FFF"/>
          </a:solidFill>
          <a:ln/>
        </p:spPr>
        <p:txBody>
          <a:bodyPr/>
          <a:p/>
        </p:txBody>
      </p:sp>
      <p:sp>
        <p:nvSpPr>
          <p:cNvPr id="3" name="Text 1"/>
          <p:cNvSpPr/>
          <p:nvPr/>
        </p:nvSpPr>
        <p:spPr>
          <a:xfrm>
            <a:off x="548640" y="457200"/>
            <a:ext cx="640080" cy="64008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05</a:t>
            </a:r>
            <a:endParaRPr lang="en-US" sz="2400" dirty="0"/>
          </a:p>
        </p:txBody>
      </p:sp>
      <p:sp>
        <p:nvSpPr>
          <p:cNvPr id="4" name="Text 2"/>
          <p:cNvSpPr/>
          <p:nvPr/>
        </p:nvSpPr>
        <p:spPr>
          <a:xfrm>
            <a:off x="1371600" y="457200"/>
            <a:ext cx="10241280" cy="640080"/>
          </a:xfrm>
          <a:prstGeom prst="rect">
            <a:avLst/>
          </a:prstGeom>
          <a:noFill/>
          <a:ln/>
        </p:spPr>
        <p:txBody>
          <a:bodyPr wrap="square" lIns="0" tIns="0" rIns="0" bIns="0" rtlCol="0" anchor="ctr"/>
          <a:lstStyle/>
          <a:p>
            <a:pPr indent="0" marL="0">
              <a:buNone/>
            </a:pPr>
            <a:r>
              <a:rPr lang="en-US" sz="2300" b="1" dirty="0">
                <a:solidFill>
                  <a:srgbClr val="0B5FFF"/>
                </a:solidFill>
                <a:latin typeface="Arial" pitchFamily="34" charset="0"/>
                <a:ea typeface="Arial" pitchFamily="34" charset="-122"/>
                <a:cs typeface="Arial" pitchFamily="34" charset="-120"/>
              </a:rPr>
              <a:t>1. Energy &amp; Expression</a:t>
            </a:r>
            <a:endParaRPr lang="en-US" sz="2300" dirty="0"/>
          </a:p>
        </p:txBody>
      </p:sp>
      <p:sp>
        <p:nvSpPr>
          <p:cNvPr id="5" name="Shape 3"/>
          <p:cNvSpPr/>
          <p:nvPr/>
        </p:nvSpPr>
        <p:spPr>
          <a:xfrm>
            <a:off x="548640" y="1417320"/>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6" name="Shape 4"/>
          <p:cNvSpPr/>
          <p:nvPr/>
        </p:nvSpPr>
        <p:spPr>
          <a:xfrm>
            <a:off x="777240" y="1581912"/>
            <a:ext cx="1737360" cy="384048"/>
          </a:xfrm>
          <a:prstGeom prst="roundRect">
            <a:avLst>
              <a:gd name="adj" fmla="val 50000"/>
            </a:avLst>
          </a:prstGeom>
          <a:solidFill>
            <a:srgbClr val="2A6AC0"/>
          </a:solidFill>
          <a:ln/>
        </p:spPr>
        <p:txBody>
          <a:bodyPr/>
          <a:p/>
        </p:txBody>
      </p:sp>
      <p:sp>
        <p:nvSpPr>
          <p:cNvPr id="7" name="Text 5"/>
          <p:cNvSpPr/>
          <p:nvPr/>
        </p:nvSpPr>
        <p:spPr>
          <a:xfrm>
            <a:off x="777240" y="1581912"/>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Why It Matters</a:t>
            </a:r>
            <a:endParaRPr lang="en-US" sz="1150" dirty="0"/>
          </a:p>
        </p:txBody>
      </p:sp>
      <p:sp>
        <p:nvSpPr>
          <p:cNvPr id="8" name="Text 6"/>
          <p:cNvSpPr/>
          <p:nvPr/>
        </p:nvSpPr>
        <p:spPr>
          <a:xfrm>
            <a:off x="868680" y="2057400"/>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Facial expressions and vocal energy carry far weaker through video than in person. If a teacher performs at their 'normal, comfortable' level, it reads as flat and boring. You need to react at roughly 1.5x your usual intensity for it to land as merely 'warm and friendly.'</a:t>
            </a:r>
            <a:endParaRPr lang="en-US" sz="1300" dirty="0"/>
          </a:p>
        </p:txBody>
      </p:sp>
      <p:sp>
        <p:nvSpPr>
          <p:cNvPr id="9" name="Shape 7"/>
          <p:cNvSpPr/>
          <p:nvPr/>
        </p:nvSpPr>
        <p:spPr>
          <a:xfrm>
            <a:off x="548640" y="3273552"/>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10" name="Shape 8"/>
          <p:cNvSpPr/>
          <p:nvPr/>
        </p:nvSpPr>
        <p:spPr>
          <a:xfrm>
            <a:off x="777240" y="3438144"/>
            <a:ext cx="1737360" cy="384048"/>
          </a:xfrm>
          <a:prstGeom prst="roundRect">
            <a:avLst>
              <a:gd name="adj" fmla="val 50000"/>
            </a:avLst>
          </a:prstGeom>
          <a:solidFill>
            <a:srgbClr val="00B85C"/>
          </a:solidFill>
          <a:ln/>
        </p:spPr>
        <p:txBody>
          <a:bodyPr/>
          <a:p/>
        </p:txBody>
      </p:sp>
      <p:sp>
        <p:nvSpPr>
          <p:cNvPr id="11" name="Text 9"/>
          <p:cNvSpPr/>
          <p:nvPr/>
        </p:nvSpPr>
        <p:spPr>
          <a:xfrm>
            <a:off x="777240" y="3438144"/>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What To Do</a:t>
            </a:r>
            <a:endParaRPr lang="en-US" sz="1150" dirty="0"/>
          </a:p>
        </p:txBody>
      </p:sp>
      <p:sp>
        <p:nvSpPr>
          <p:cNvPr id="12" name="Text 10"/>
          <p:cNvSpPr/>
          <p:nvPr/>
        </p:nvSpPr>
        <p:spPr>
          <a:xfrm>
            <a:off x="868680" y="3913632"/>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Don't hold back on non-verbal reactions — a thumbs-up, applause, wide eyes of surprise — the instant a child gets something right. Keep your vocal tone one notch brighter, and look directly into the camera often to maintain eye contact.</a:t>
            </a:r>
            <a:endParaRPr lang="en-US" sz="1300" dirty="0"/>
          </a:p>
        </p:txBody>
      </p:sp>
      <p:sp>
        <p:nvSpPr>
          <p:cNvPr id="13" name="Shape 11"/>
          <p:cNvSpPr/>
          <p:nvPr/>
        </p:nvSpPr>
        <p:spPr>
          <a:xfrm>
            <a:off x="548640" y="5129784"/>
            <a:ext cx="11064240" cy="1188720"/>
          </a:xfrm>
          <a:prstGeom prst="roundRect">
            <a:avLst>
              <a:gd name="adj" fmla="val 7692"/>
            </a:avLst>
          </a:prstGeom>
          <a:solidFill>
            <a:srgbClr val="E3EEFF"/>
          </a:solidFill>
          <a:ln w="12700">
            <a:solidFill>
              <a:srgbClr val="BBD6FF"/>
            </a:solidFill>
            <a:prstDash val="solid"/>
          </a:ln>
        </p:spPr>
        <p:txBody>
          <a:bodyPr/>
          <a:p/>
        </p:txBody>
      </p:sp>
      <p:sp>
        <p:nvSpPr>
          <p:cNvPr id="14" name="Shape 12"/>
          <p:cNvSpPr/>
          <p:nvPr/>
        </p:nvSpPr>
        <p:spPr>
          <a:xfrm>
            <a:off x="777240" y="5294376"/>
            <a:ext cx="1737360" cy="384048"/>
          </a:xfrm>
          <a:prstGeom prst="roundRect">
            <a:avLst>
              <a:gd name="adj" fmla="val 50000"/>
            </a:avLst>
          </a:prstGeom>
          <a:solidFill>
            <a:srgbClr val="0B5FFF"/>
          </a:solidFill>
          <a:ln/>
        </p:spPr>
        <p:txBody>
          <a:bodyPr/>
          <a:p/>
        </p:txBody>
      </p:sp>
      <p:sp>
        <p:nvSpPr>
          <p:cNvPr id="15" name="Text 13"/>
          <p:cNvSpPr/>
          <p:nvPr/>
        </p:nvSpPr>
        <p:spPr>
          <a:xfrm>
            <a:off x="777240" y="5294376"/>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Real Example</a:t>
            </a:r>
            <a:endParaRPr lang="en-US" sz="1150" dirty="0"/>
          </a:p>
        </p:txBody>
      </p:sp>
      <p:sp>
        <p:nvSpPr>
          <p:cNvPr id="16" name="Text 14"/>
          <p:cNvSpPr/>
          <p:nvPr/>
        </p:nvSpPr>
        <p:spPr>
          <a:xfrm>
            <a:off x="868680" y="5769864"/>
            <a:ext cx="10424160" cy="411480"/>
          </a:xfrm>
          <a:prstGeom prst="rect">
            <a:avLst/>
          </a:prstGeom>
          <a:noFill/>
          <a:ln/>
        </p:spPr>
        <p:txBody>
          <a:bodyPr wrap="square" lIns="0" tIns="0" rIns="0" bIns="0" rtlCol="0" anchor="t"/>
          <a:lstStyle/>
          <a:p>
            <a:pPr indent="0" marL="0">
              <a:buNone/>
            </a:pPr>
            <a:r>
              <a:rPr lang="en-US" sz="1300" i="1" dirty="0">
                <a:solidFill>
                  <a:srgbClr val="0B5FFF"/>
                </a:solidFill>
                <a:latin typeface="Arial" pitchFamily="34" charset="0"/>
                <a:ea typeface="Arial" pitchFamily="34" charset="-122"/>
                <a:cs typeface="Arial" pitchFamily="34" charset="-120"/>
              </a:rPr>
              <a:t>Example: When a child answers a hard question correctly, react big — “Wow! Amazing! You are a genius!” — throw both hands up and clap.</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00B8D9"/>
          </a:solidFill>
          <a:ln/>
        </p:spPr>
        <p:txBody>
          <a:bodyPr/>
          <a:p/>
        </p:txBody>
      </p:sp>
      <p:sp>
        <p:nvSpPr>
          <p:cNvPr id="3" name="Text 1"/>
          <p:cNvSpPr/>
          <p:nvPr/>
        </p:nvSpPr>
        <p:spPr>
          <a:xfrm>
            <a:off x="548640" y="457200"/>
            <a:ext cx="640080" cy="64008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06</a:t>
            </a:r>
            <a:endParaRPr lang="en-US" sz="2400" dirty="0"/>
          </a:p>
        </p:txBody>
      </p:sp>
      <p:sp>
        <p:nvSpPr>
          <p:cNvPr id="4" name="Text 2"/>
          <p:cNvSpPr/>
          <p:nvPr/>
        </p:nvSpPr>
        <p:spPr>
          <a:xfrm>
            <a:off x="1371600" y="457200"/>
            <a:ext cx="10241280" cy="640080"/>
          </a:xfrm>
          <a:prstGeom prst="rect">
            <a:avLst/>
          </a:prstGeom>
          <a:noFill/>
          <a:ln/>
        </p:spPr>
        <p:txBody>
          <a:bodyPr wrap="square" lIns="0" tIns="0" rIns="0" bIns="0" rtlCol="0" anchor="ctr"/>
          <a:lstStyle/>
          <a:p>
            <a:pPr indent="0" marL="0">
              <a:buNone/>
            </a:pPr>
            <a:r>
              <a:rPr lang="en-US" sz="2300" b="1" dirty="0">
                <a:solidFill>
                  <a:srgbClr val="0B5FFF"/>
                </a:solidFill>
                <a:latin typeface="Arial" pitchFamily="34" charset="0"/>
                <a:ea typeface="Arial" pitchFamily="34" charset="-122"/>
                <a:cs typeface="Arial" pitchFamily="34" charset="-120"/>
              </a:rPr>
              <a:t>2. Student Talk 60%+</a:t>
            </a:r>
            <a:endParaRPr lang="en-US" sz="2300" dirty="0"/>
          </a:p>
        </p:txBody>
      </p:sp>
      <p:sp>
        <p:nvSpPr>
          <p:cNvPr id="5" name="Shape 3"/>
          <p:cNvSpPr/>
          <p:nvPr/>
        </p:nvSpPr>
        <p:spPr>
          <a:xfrm>
            <a:off x="548640" y="1417320"/>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6" name="Shape 4"/>
          <p:cNvSpPr/>
          <p:nvPr/>
        </p:nvSpPr>
        <p:spPr>
          <a:xfrm>
            <a:off x="777240" y="1581912"/>
            <a:ext cx="1737360" cy="384048"/>
          </a:xfrm>
          <a:prstGeom prst="roundRect">
            <a:avLst>
              <a:gd name="adj" fmla="val 50000"/>
            </a:avLst>
          </a:prstGeom>
          <a:solidFill>
            <a:srgbClr val="2A6AC0"/>
          </a:solidFill>
          <a:ln/>
        </p:spPr>
        <p:txBody>
          <a:bodyPr/>
          <a:p/>
        </p:txBody>
      </p:sp>
      <p:sp>
        <p:nvSpPr>
          <p:cNvPr id="7" name="Text 5"/>
          <p:cNvSpPr/>
          <p:nvPr/>
        </p:nvSpPr>
        <p:spPr>
          <a:xfrm>
            <a:off x="777240" y="1581912"/>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Why It Matters</a:t>
            </a:r>
            <a:endParaRPr lang="en-US" sz="1150" dirty="0"/>
          </a:p>
        </p:txBody>
      </p:sp>
      <p:sp>
        <p:nvSpPr>
          <p:cNvPr id="8" name="Text 6"/>
          <p:cNvSpPr/>
          <p:nvPr/>
        </p:nvSpPr>
        <p:spPr>
          <a:xfrm>
            <a:off x="868680" y="2057400"/>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Language only truly becomes yours once spoken aloud. The easiest trap for a new teacher is talking too much. If the teacher keeps explaining alone, the child becomes a passive audience and both engagement and interest drop.</a:t>
            </a:r>
            <a:endParaRPr lang="en-US" sz="1300" dirty="0"/>
          </a:p>
        </p:txBody>
      </p:sp>
      <p:sp>
        <p:nvSpPr>
          <p:cNvPr id="9" name="Shape 7"/>
          <p:cNvSpPr/>
          <p:nvPr/>
        </p:nvSpPr>
        <p:spPr>
          <a:xfrm>
            <a:off x="548640" y="3273552"/>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10" name="Shape 8"/>
          <p:cNvSpPr/>
          <p:nvPr/>
        </p:nvSpPr>
        <p:spPr>
          <a:xfrm>
            <a:off x="777240" y="3438144"/>
            <a:ext cx="1737360" cy="384048"/>
          </a:xfrm>
          <a:prstGeom prst="roundRect">
            <a:avLst>
              <a:gd name="adj" fmla="val 50000"/>
            </a:avLst>
          </a:prstGeom>
          <a:solidFill>
            <a:srgbClr val="00B85C"/>
          </a:solidFill>
          <a:ln/>
        </p:spPr>
        <p:txBody>
          <a:bodyPr/>
          <a:p/>
        </p:txBody>
      </p:sp>
      <p:sp>
        <p:nvSpPr>
          <p:cNvPr id="11" name="Text 9"/>
          <p:cNvSpPr/>
          <p:nvPr/>
        </p:nvSpPr>
        <p:spPr>
          <a:xfrm>
            <a:off x="777240" y="3438144"/>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What To Do</a:t>
            </a:r>
            <a:endParaRPr lang="en-US" sz="1150" dirty="0"/>
          </a:p>
        </p:txBody>
      </p:sp>
      <p:sp>
        <p:nvSpPr>
          <p:cNvPr id="12" name="Text 10"/>
          <p:cNvSpPr/>
          <p:nvPr/>
        </p:nvSpPr>
        <p:spPr>
          <a:xfrm>
            <a:off x="868680" y="3913632"/>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Your target is 60%+ student talk time. After asking a question, never rush — silently count 'one, two, three' and wait the full 3 seconds while the child assembles a sentence in their mind.</a:t>
            </a:r>
            <a:endParaRPr lang="en-US" sz="1300" dirty="0"/>
          </a:p>
        </p:txBody>
      </p:sp>
      <p:sp>
        <p:nvSpPr>
          <p:cNvPr id="13" name="Shape 11"/>
          <p:cNvSpPr/>
          <p:nvPr/>
        </p:nvSpPr>
        <p:spPr>
          <a:xfrm>
            <a:off x="548640" y="5129784"/>
            <a:ext cx="11064240" cy="1188720"/>
          </a:xfrm>
          <a:prstGeom prst="roundRect">
            <a:avLst>
              <a:gd name="adj" fmla="val 7692"/>
            </a:avLst>
          </a:prstGeom>
          <a:solidFill>
            <a:srgbClr val="E3EEFF"/>
          </a:solidFill>
          <a:ln w="12700">
            <a:solidFill>
              <a:srgbClr val="BBD6FF"/>
            </a:solidFill>
            <a:prstDash val="solid"/>
          </a:ln>
        </p:spPr>
        <p:txBody>
          <a:bodyPr/>
          <a:p/>
        </p:txBody>
      </p:sp>
      <p:sp>
        <p:nvSpPr>
          <p:cNvPr id="14" name="Shape 12"/>
          <p:cNvSpPr/>
          <p:nvPr/>
        </p:nvSpPr>
        <p:spPr>
          <a:xfrm>
            <a:off x="777240" y="5294376"/>
            <a:ext cx="1737360" cy="384048"/>
          </a:xfrm>
          <a:prstGeom prst="roundRect">
            <a:avLst>
              <a:gd name="adj" fmla="val 50000"/>
            </a:avLst>
          </a:prstGeom>
          <a:solidFill>
            <a:srgbClr val="0B5FFF"/>
          </a:solidFill>
          <a:ln/>
        </p:spPr>
        <p:txBody>
          <a:bodyPr/>
          <a:p/>
        </p:txBody>
      </p:sp>
      <p:sp>
        <p:nvSpPr>
          <p:cNvPr id="15" name="Text 13"/>
          <p:cNvSpPr/>
          <p:nvPr/>
        </p:nvSpPr>
        <p:spPr>
          <a:xfrm>
            <a:off x="777240" y="5294376"/>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Real Example</a:t>
            </a:r>
            <a:endParaRPr lang="en-US" sz="1150" dirty="0"/>
          </a:p>
        </p:txBody>
      </p:sp>
      <p:sp>
        <p:nvSpPr>
          <p:cNvPr id="16" name="Text 14"/>
          <p:cNvSpPr/>
          <p:nvPr/>
        </p:nvSpPr>
        <p:spPr>
          <a:xfrm>
            <a:off x="868680" y="5769864"/>
            <a:ext cx="10424160" cy="411480"/>
          </a:xfrm>
          <a:prstGeom prst="rect">
            <a:avLst/>
          </a:prstGeom>
          <a:noFill/>
          <a:ln/>
        </p:spPr>
        <p:txBody>
          <a:bodyPr wrap="square" lIns="0" tIns="0" rIns="0" bIns="0" rtlCol="0" anchor="t"/>
          <a:lstStyle/>
          <a:p>
            <a:pPr indent="0" marL="0">
              <a:buNone/>
            </a:pPr>
            <a:r>
              <a:rPr lang="en-US" sz="1300" i="1" dirty="0">
                <a:solidFill>
                  <a:srgbClr val="0B5FFF"/>
                </a:solidFill>
                <a:latin typeface="Arial" pitchFamily="34" charset="0"/>
                <a:ea typeface="Arial" pitchFamily="34" charset="-122"/>
                <a:cs typeface="Arial" pitchFamily="34" charset="-120"/>
              </a:rPr>
              <a:t>Example: Ask “What did you do yesterday?” and if the child hesitates, don't rush the answer — smile and quietly wait the full 3 seconds.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7C3AED"/>
          </a:solidFill>
          <a:ln/>
        </p:spPr>
        <p:txBody>
          <a:bodyPr/>
          <a:p/>
        </p:txBody>
      </p:sp>
      <p:sp>
        <p:nvSpPr>
          <p:cNvPr id="3" name="Text 1"/>
          <p:cNvSpPr/>
          <p:nvPr/>
        </p:nvSpPr>
        <p:spPr>
          <a:xfrm>
            <a:off x="548640" y="457200"/>
            <a:ext cx="640080" cy="64008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07</a:t>
            </a:r>
            <a:endParaRPr lang="en-US" sz="2400" dirty="0"/>
          </a:p>
        </p:txBody>
      </p:sp>
      <p:sp>
        <p:nvSpPr>
          <p:cNvPr id="4" name="Text 2"/>
          <p:cNvSpPr/>
          <p:nvPr/>
        </p:nvSpPr>
        <p:spPr>
          <a:xfrm>
            <a:off x="1371600" y="457200"/>
            <a:ext cx="10241280" cy="640080"/>
          </a:xfrm>
          <a:prstGeom prst="rect">
            <a:avLst/>
          </a:prstGeom>
          <a:noFill/>
          <a:ln/>
        </p:spPr>
        <p:txBody>
          <a:bodyPr wrap="square" lIns="0" tIns="0" rIns="0" bIns="0" rtlCol="0" anchor="ctr"/>
          <a:lstStyle/>
          <a:p>
            <a:pPr indent="0" marL="0">
              <a:buNone/>
            </a:pPr>
            <a:r>
              <a:rPr lang="en-US" sz="2300" b="1" dirty="0">
                <a:solidFill>
                  <a:srgbClr val="0B5FFF"/>
                </a:solidFill>
                <a:latin typeface="Arial" pitchFamily="34" charset="0"/>
                <a:ea typeface="Arial" pitchFamily="34" charset="-122"/>
                <a:cs typeface="Arial" pitchFamily="34" charset="-120"/>
              </a:rPr>
              <a:t>3. Make Achievement Visible, Instantly</a:t>
            </a:r>
            <a:endParaRPr lang="en-US" sz="2300" dirty="0"/>
          </a:p>
        </p:txBody>
      </p:sp>
      <p:sp>
        <p:nvSpPr>
          <p:cNvPr id="5" name="Shape 3"/>
          <p:cNvSpPr/>
          <p:nvPr/>
        </p:nvSpPr>
        <p:spPr>
          <a:xfrm>
            <a:off x="548640" y="1417320"/>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6" name="Shape 4"/>
          <p:cNvSpPr/>
          <p:nvPr/>
        </p:nvSpPr>
        <p:spPr>
          <a:xfrm>
            <a:off x="777240" y="1581912"/>
            <a:ext cx="1737360" cy="384048"/>
          </a:xfrm>
          <a:prstGeom prst="roundRect">
            <a:avLst>
              <a:gd name="adj" fmla="val 50000"/>
            </a:avLst>
          </a:prstGeom>
          <a:solidFill>
            <a:srgbClr val="2A6AC0"/>
          </a:solidFill>
          <a:ln/>
        </p:spPr>
        <p:txBody>
          <a:bodyPr/>
          <a:p/>
        </p:txBody>
      </p:sp>
      <p:sp>
        <p:nvSpPr>
          <p:cNvPr id="7" name="Text 5"/>
          <p:cNvSpPr/>
          <p:nvPr/>
        </p:nvSpPr>
        <p:spPr>
          <a:xfrm>
            <a:off x="777240" y="1581912"/>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Why It Matters</a:t>
            </a:r>
            <a:endParaRPr lang="en-US" sz="1150" dirty="0"/>
          </a:p>
        </p:txBody>
      </p:sp>
      <p:sp>
        <p:nvSpPr>
          <p:cNvPr id="8" name="Text 6"/>
          <p:cNvSpPr/>
          <p:nvPr/>
        </p:nvSpPr>
        <p:spPr>
          <a:xfrm>
            <a:off x="868680" y="2057400"/>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A child needs a clear signal that 'I'm doing well' to want to come back. A flat, soulless 'good job' loses impact fast. A sensory reward that flashes and bursts across the screen builds confidence far more powerfully.</a:t>
            </a:r>
            <a:endParaRPr lang="en-US" sz="1300" dirty="0"/>
          </a:p>
        </p:txBody>
      </p:sp>
      <p:sp>
        <p:nvSpPr>
          <p:cNvPr id="9" name="Shape 7"/>
          <p:cNvSpPr/>
          <p:nvPr/>
        </p:nvSpPr>
        <p:spPr>
          <a:xfrm>
            <a:off x="548640" y="3273552"/>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10" name="Shape 8"/>
          <p:cNvSpPr/>
          <p:nvPr/>
        </p:nvSpPr>
        <p:spPr>
          <a:xfrm>
            <a:off x="777240" y="3438144"/>
            <a:ext cx="1737360" cy="384048"/>
          </a:xfrm>
          <a:prstGeom prst="roundRect">
            <a:avLst>
              <a:gd name="adj" fmla="val 50000"/>
            </a:avLst>
          </a:prstGeom>
          <a:solidFill>
            <a:srgbClr val="00B85C"/>
          </a:solidFill>
          <a:ln/>
        </p:spPr>
        <p:txBody>
          <a:bodyPr/>
          <a:p/>
        </p:txBody>
      </p:sp>
      <p:sp>
        <p:nvSpPr>
          <p:cNvPr id="11" name="Text 9"/>
          <p:cNvSpPr/>
          <p:nvPr/>
        </p:nvSpPr>
        <p:spPr>
          <a:xfrm>
            <a:off x="777240" y="3438144"/>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What To Do</a:t>
            </a:r>
            <a:endParaRPr lang="en-US" sz="1150" dirty="0"/>
          </a:p>
        </p:txBody>
      </p:sp>
      <p:sp>
        <p:nvSpPr>
          <p:cNvPr id="12" name="Text 10"/>
          <p:cNvSpPr/>
          <p:nvPr/>
        </p:nvSpPr>
        <p:spPr>
          <a:xfrm>
            <a:off x="868680" y="3913632"/>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Make active use of star ratings, character badges, confetti effects, and the dancing Mango mascot. Build anticipation ahead of time: “If you get this right, Mango is going to dance for you!”</a:t>
            </a:r>
            <a:endParaRPr lang="en-US" sz="1300" dirty="0"/>
          </a:p>
        </p:txBody>
      </p:sp>
      <p:sp>
        <p:nvSpPr>
          <p:cNvPr id="13" name="Shape 11"/>
          <p:cNvSpPr/>
          <p:nvPr/>
        </p:nvSpPr>
        <p:spPr>
          <a:xfrm>
            <a:off x="548640" y="5129784"/>
            <a:ext cx="11064240" cy="1188720"/>
          </a:xfrm>
          <a:prstGeom prst="roundRect">
            <a:avLst>
              <a:gd name="adj" fmla="val 7692"/>
            </a:avLst>
          </a:prstGeom>
          <a:solidFill>
            <a:srgbClr val="E3EEFF"/>
          </a:solidFill>
          <a:ln w="12700">
            <a:solidFill>
              <a:srgbClr val="BBD6FF"/>
            </a:solidFill>
            <a:prstDash val="solid"/>
          </a:ln>
        </p:spPr>
        <p:txBody>
          <a:bodyPr/>
          <a:p/>
        </p:txBody>
      </p:sp>
      <p:sp>
        <p:nvSpPr>
          <p:cNvPr id="14" name="Shape 12"/>
          <p:cNvSpPr/>
          <p:nvPr/>
        </p:nvSpPr>
        <p:spPr>
          <a:xfrm>
            <a:off x="777240" y="5294376"/>
            <a:ext cx="1737360" cy="384048"/>
          </a:xfrm>
          <a:prstGeom prst="roundRect">
            <a:avLst>
              <a:gd name="adj" fmla="val 50000"/>
            </a:avLst>
          </a:prstGeom>
          <a:solidFill>
            <a:srgbClr val="0B5FFF"/>
          </a:solidFill>
          <a:ln/>
        </p:spPr>
        <p:txBody>
          <a:bodyPr/>
          <a:p/>
        </p:txBody>
      </p:sp>
      <p:sp>
        <p:nvSpPr>
          <p:cNvPr id="15" name="Text 13"/>
          <p:cNvSpPr/>
          <p:nvPr/>
        </p:nvSpPr>
        <p:spPr>
          <a:xfrm>
            <a:off x="777240" y="5294376"/>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Real Example</a:t>
            </a:r>
            <a:endParaRPr lang="en-US" sz="1150" dirty="0"/>
          </a:p>
        </p:txBody>
      </p:sp>
      <p:sp>
        <p:nvSpPr>
          <p:cNvPr id="16" name="Text 14"/>
          <p:cNvSpPr/>
          <p:nvPr/>
        </p:nvSpPr>
        <p:spPr>
          <a:xfrm>
            <a:off x="868680" y="5769864"/>
            <a:ext cx="10424160" cy="411480"/>
          </a:xfrm>
          <a:prstGeom prst="rect">
            <a:avLst/>
          </a:prstGeom>
          <a:noFill/>
          <a:ln/>
        </p:spPr>
        <p:txBody>
          <a:bodyPr wrap="square" lIns="0" tIns="0" rIns="0" bIns="0" rtlCol="0" anchor="t"/>
          <a:lstStyle/>
          <a:p>
            <a:pPr indent="0" marL="0">
              <a:buNone/>
            </a:pPr>
            <a:r>
              <a:rPr lang="en-US" sz="1300" i="1" dirty="0">
                <a:solidFill>
                  <a:srgbClr val="0B5FFF"/>
                </a:solidFill>
                <a:latin typeface="Arial" pitchFamily="34" charset="0"/>
                <a:ea typeface="Arial" pitchFamily="34" charset="-122"/>
                <a:cs typeface="Arial" pitchFamily="34" charset="-120"/>
              </a:rPr>
              <a:t>Example: When the child answers correctly, shout “Yes! Look, Mango is dancing for you!” while showing the badge or star effect.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00B85C"/>
          </a:solidFill>
          <a:ln/>
        </p:spPr>
        <p:txBody>
          <a:bodyPr/>
          <a:p/>
        </p:txBody>
      </p:sp>
      <p:sp>
        <p:nvSpPr>
          <p:cNvPr id="3" name="Text 1"/>
          <p:cNvSpPr/>
          <p:nvPr/>
        </p:nvSpPr>
        <p:spPr>
          <a:xfrm>
            <a:off x="548640" y="457200"/>
            <a:ext cx="640080" cy="64008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08</a:t>
            </a:r>
            <a:endParaRPr lang="en-US" sz="2400" dirty="0"/>
          </a:p>
        </p:txBody>
      </p:sp>
      <p:sp>
        <p:nvSpPr>
          <p:cNvPr id="4" name="Text 2"/>
          <p:cNvSpPr/>
          <p:nvPr/>
        </p:nvSpPr>
        <p:spPr>
          <a:xfrm>
            <a:off x="1371600" y="457200"/>
            <a:ext cx="10241280" cy="640080"/>
          </a:xfrm>
          <a:prstGeom prst="rect">
            <a:avLst/>
          </a:prstGeom>
          <a:noFill/>
          <a:ln/>
        </p:spPr>
        <p:txBody>
          <a:bodyPr wrap="square" lIns="0" tIns="0" rIns="0" bIns="0" rtlCol="0" anchor="ctr"/>
          <a:lstStyle/>
          <a:p>
            <a:pPr indent="0" marL="0">
              <a:buNone/>
            </a:pPr>
            <a:r>
              <a:rPr lang="en-US" sz="2300" b="1" dirty="0">
                <a:solidFill>
                  <a:srgbClr val="0B5FFF"/>
                </a:solidFill>
                <a:latin typeface="Arial" pitchFamily="34" charset="0"/>
                <a:ea typeface="Arial" pitchFamily="34" charset="-122"/>
                <a:cs typeface="Arial" pitchFamily="34" charset="-120"/>
              </a:rPr>
              <a:t>4. Full Personalization</a:t>
            </a:r>
            <a:endParaRPr lang="en-US" sz="2300" dirty="0"/>
          </a:p>
        </p:txBody>
      </p:sp>
      <p:sp>
        <p:nvSpPr>
          <p:cNvPr id="5" name="Shape 3"/>
          <p:cNvSpPr/>
          <p:nvPr/>
        </p:nvSpPr>
        <p:spPr>
          <a:xfrm>
            <a:off x="548640" y="1417320"/>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6" name="Shape 4"/>
          <p:cNvSpPr/>
          <p:nvPr/>
        </p:nvSpPr>
        <p:spPr>
          <a:xfrm>
            <a:off x="777240" y="1581912"/>
            <a:ext cx="1737360" cy="384048"/>
          </a:xfrm>
          <a:prstGeom prst="roundRect">
            <a:avLst>
              <a:gd name="adj" fmla="val 50000"/>
            </a:avLst>
          </a:prstGeom>
          <a:solidFill>
            <a:srgbClr val="2A6AC0"/>
          </a:solidFill>
          <a:ln/>
        </p:spPr>
        <p:txBody>
          <a:bodyPr/>
          <a:p/>
        </p:txBody>
      </p:sp>
      <p:sp>
        <p:nvSpPr>
          <p:cNvPr id="7" name="Text 5"/>
          <p:cNvSpPr/>
          <p:nvPr/>
        </p:nvSpPr>
        <p:spPr>
          <a:xfrm>
            <a:off x="777240" y="1581912"/>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Why It Matters</a:t>
            </a:r>
            <a:endParaRPr lang="en-US" sz="1150" dirty="0"/>
          </a:p>
        </p:txBody>
      </p:sp>
      <p:sp>
        <p:nvSpPr>
          <p:cNvPr id="8" name="Text 6"/>
          <p:cNvSpPr/>
          <p:nvPr/>
        </p:nvSpPr>
        <p:spPr>
          <a:xfrm>
            <a:off x="868680" y="2057400"/>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A child opens up fully when they feel this class was prepared specifically for them, not a generic script. Saying their name once or twice isn't enough — their own stories and interests must be woven in naturally.</a:t>
            </a:r>
            <a:endParaRPr lang="en-US" sz="1300" dirty="0"/>
          </a:p>
        </p:txBody>
      </p:sp>
      <p:sp>
        <p:nvSpPr>
          <p:cNvPr id="9" name="Shape 7"/>
          <p:cNvSpPr/>
          <p:nvPr/>
        </p:nvSpPr>
        <p:spPr>
          <a:xfrm>
            <a:off x="548640" y="3273552"/>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10" name="Shape 8"/>
          <p:cNvSpPr/>
          <p:nvPr/>
        </p:nvSpPr>
        <p:spPr>
          <a:xfrm>
            <a:off x="777240" y="3438144"/>
            <a:ext cx="1737360" cy="384048"/>
          </a:xfrm>
          <a:prstGeom prst="roundRect">
            <a:avLst>
              <a:gd name="adj" fmla="val 50000"/>
            </a:avLst>
          </a:prstGeom>
          <a:solidFill>
            <a:srgbClr val="00B85C"/>
          </a:solidFill>
          <a:ln/>
        </p:spPr>
        <p:txBody>
          <a:bodyPr/>
          <a:p/>
        </p:txBody>
      </p:sp>
      <p:sp>
        <p:nvSpPr>
          <p:cNvPr id="11" name="Text 9"/>
          <p:cNvSpPr/>
          <p:nvPr/>
        </p:nvSpPr>
        <p:spPr>
          <a:xfrm>
            <a:off x="777240" y="3438144"/>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What To Do</a:t>
            </a:r>
            <a:endParaRPr lang="en-US" sz="1150" dirty="0"/>
          </a:p>
        </p:txBody>
      </p:sp>
      <p:sp>
        <p:nvSpPr>
          <p:cNvPr id="12" name="Text 10"/>
          <p:cNvSpPr/>
          <p:nvPr/>
        </p:nvSpPr>
        <p:spPr>
          <a:xfrm>
            <a:off x="868680" y="3913632"/>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Call the child's name often and warmly. Slip their favorite interests — soccer, K-pop, games — into example sentences. Use the AI warm-up and mistake-personalization features to know what they tend to get wrong.</a:t>
            </a:r>
            <a:endParaRPr lang="en-US" sz="1300" dirty="0"/>
          </a:p>
        </p:txBody>
      </p:sp>
      <p:sp>
        <p:nvSpPr>
          <p:cNvPr id="13" name="Shape 11"/>
          <p:cNvSpPr/>
          <p:nvPr/>
        </p:nvSpPr>
        <p:spPr>
          <a:xfrm>
            <a:off x="548640" y="5129784"/>
            <a:ext cx="11064240" cy="1188720"/>
          </a:xfrm>
          <a:prstGeom prst="roundRect">
            <a:avLst>
              <a:gd name="adj" fmla="val 7692"/>
            </a:avLst>
          </a:prstGeom>
          <a:solidFill>
            <a:srgbClr val="E3EEFF"/>
          </a:solidFill>
          <a:ln w="12700">
            <a:solidFill>
              <a:srgbClr val="BBD6FF"/>
            </a:solidFill>
            <a:prstDash val="solid"/>
          </a:ln>
        </p:spPr>
        <p:txBody>
          <a:bodyPr/>
          <a:p/>
        </p:txBody>
      </p:sp>
      <p:sp>
        <p:nvSpPr>
          <p:cNvPr id="14" name="Shape 12"/>
          <p:cNvSpPr/>
          <p:nvPr/>
        </p:nvSpPr>
        <p:spPr>
          <a:xfrm>
            <a:off x="777240" y="5294376"/>
            <a:ext cx="1737360" cy="384048"/>
          </a:xfrm>
          <a:prstGeom prst="roundRect">
            <a:avLst>
              <a:gd name="adj" fmla="val 50000"/>
            </a:avLst>
          </a:prstGeom>
          <a:solidFill>
            <a:srgbClr val="0B5FFF"/>
          </a:solidFill>
          <a:ln/>
        </p:spPr>
        <p:txBody>
          <a:bodyPr/>
          <a:p/>
        </p:txBody>
      </p:sp>
      <p:sp>
        <p:nvSpPr>
          <p:cNvPr id="15" name="Text 13"/>
          <p:cNvSpPr/>
          <p:nvPr/>
        </p:nvSpPr>
        <p:spPr>
          <a:xfrm>
            <a:off x="777240" y="5294376"/>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Real Example</a:t>
            </a:r>
            <a:endParaRPr lang="en-US" sz="1150" dirty="0"/>
          </a:p>
        </p:txBody>
      </p:sp>
      <p:sp>
        <p:nvSpPr>
          <p:cNvPr id="16" name="Text 14"/>
          <p:cNvSpPr/>
          <p:nvPr/>
        </p:nvSpPr>
        <p:spPr>
          <a:xfrm>
            <a:off x="868680" y="5769864"/>
            <a:ext cx="10424160" cy="411480"/>
          </a:xfrm>
          <a:prstGeom prst="rect">
            <a:avLst/>
          </a:prstGeom>
          <a:noFill/>
          <a:ln/>
        </p:spPr>
        <p:txBody>
          <a:bodyPr wrap="square" lIns="0" tIns="0" rIns="0" bIns="0" rtlCol="0" anchor="t"/>
          <a:lstStyle/>
          <a:p>
            <a:pPr indent="0" marL="0">
              <a:buNone/>
            </a:pPr>
            <a:r>
              <a:rPr lang="en-US" sz="1300" i="1" dirty="0">
                <a:solidFill>
                  <a:srgbClr val="0B5FFF"/>
                </a:solidFill>
                <a:latin typeface="Arial" pitchFamily="34" charset="0"/>
                <a:ea typeface="Arial" pitchFamily="34" charset="-122"/>
                <a:cs typeface="Arial" pitchFamily="34" charset="-120"/>
              </a:rPr>
              <a:t>Example: For a soccer fan, ask “If you were Son Heung-min, what would you say right after scoring a goal?”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FF9500"/>
          </a:solidFill>
          <a:ln/>
        </p:spPr>
        <p:txBody>
          <a:bodyPr/>
          <a:p/>
        </p:txBody>
      </p:sp>
      <p:sp>
        <p:nvSpPr>
          <p:cNvPr id="3" name="Text 1"/>
          <p:cNvSpPr/>
          <p:nvPr/>
        </p:nvSpPr>
        <p:spPr>
          <a:xfrm>
            <a:off x="548640" y="457200"/>
            <a:ext cx="640080" cy="64008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09</a:t>
            </a:r>
            <a:endParaRPr lang="en-US" sz="2400" dirty="0"/>
          </a:p>
        </p:txBody>
      </p:sp>
      <p:sp>
        <p:nvSpPr>
          <p:cNvPr id="4" name="Text 2"/>
          <p:cNvSpPr/>
          <p:nvPr/>
        </p:nvSpPr>
        <p:spPr>
          <a:xfrm>
            <a:off x="1371600" y="457200"/>
            <a:ext cx="10241280" cy="640080"/>
          </a:xfrm>
          <a:prstGeom prst="rect">
            <a:avLst/>
          </a:prstGeom>
          <a:noFill/>
          <a:ln/>
        </p:spPr>
        <p:txBody>
          <a:bodyPr wrap="square" lIns="0" tIns="0" rIns="0" bIns="0" rtlCol="0" anchor="ctr"/>
          <a:lstStyle/>
          <a:p>
            <a:pPr indent="0" marL="0">
              <a:buNone/>
            </a:pPr>
            <a:r>
              <a:rPr lang="en-US" sz="2300" b="1" dirty="0">
                <a:solidFill>
                  <a:srgbClr val="0B5FFF"/>
                </a:solidFill>
                <a:latin typeface="Arial" pitchFamily="34" charset="0"/>
                <a:ea typeface="Arial" pitchFamily="34" charset="-122"/>
                <a:cs typeface="Arial" pitchFamily="34" charset="-120"/>
              </a:rPr>
              <a:t>5. Rhythmic Transitions</a:t>
            </a:r>
            <a:endParaRPr lang="en-US" sz="2300" dirty="0"/>
          </a:p>
        </p:txBody>
      </p:sp>
      <p:sp>
        <p:nvSpPr>
          <p:cNvPr id="5" name="Shape 3"/>
          <p:cNvSpPr/>
          <p:nvPr/>
        </p:nvSpPr>
        <p:spPr>
          <a:xfrm>
            <a:off x="548640" y="1417320"/>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6" name="Shape 4"/>
          <p:cNvSpPr/>
          <p:nvPr/>
        </p:nvSpPr>
        <p:spPr>
          <a:xfrm>
            <a:off x="777240" y="1581912"/>
            <a:ext cx="1737360" cy="384048"/>
          </a:xfrm>
          <a:prstGeom prst="roundRect">
            <a:avLst>
              <a:gd name="adj" fmla="val 50000"/>
            </a:avLst>
          </a:prstGeom>
          <a:solidFill>
            <a:srgbClr val="2A6AC0"/>
          </a:solidFill>
          <a:ln/>
        </p:spPr>
        <p:txBody>
          <a:bodyPr/>
          <a:p/>
        </p:txBody>
      </p:sp>
      <p:sp>
        <p:nvSpPr>
          <p:cNvPr id="7" name="Text 5"/>
          <p:cNvSpPr/>
          <p:nvPr/>
        </p:nvSpPr>
        <p:spPr>
          <a:xfrm>
            <a:off x="777240" y="1581912"/>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Why It Matters</a:t>
            </a:r>
            <a:endParaRPr lang="en-US" sz="1150" dirty="0"/>
          </a:p>
        </p:txBody>
      </p:sp>
      <p:sp>
        <p:nvSpPr>
          <p:cNvPr id="8" name="Text 6"/>
          <p:cNvSpPr/>
          <p:nvPr/>
        </p:nvSpPr>
        <p:spPr>
          <a:xfrm>
            <a:off x="868680" y="2057400"/>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A child's attention span roughly tracks their age in minutes (8yo ≈ 8 min). Push one activity past that window and the child will fidget or yawn without exception. Boredom builds up steadily, not all at once.</a:t>
            </a:r>
            <a:endParaRPr lang="en-US" sz="1300" dirty="0"/>
          </a:p>
        </p:txBody>
      </p:sp>
      <p:sp>
        <p:nvSpPr>
          <p:cNvPr id="9" name="Shape 7"/>
          <p:cNvSpPr/>
          <p:nvPr/>
        </p:nvSpPr>
        <p:spPr>
          <a:xfrm>
            <a:off x="548640" y="3273552"/>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10" name="Shape 8"/>
          <p:cNvSpPr/>
          <p:nvPr/>
        </p:nvSpPr>
        <p:spPr>
          <a:xfrm>
            <a:off x="777240" y="3438144"/>
            <a:ext cx="1737360" cy="384048"/>
          </a:xfrm>
          <a:prstGeom prst="roundRect">
            <a:avLst>
              <a:gd name="adj" fmla="val 50000"/>
            </a:avLst>
          </a:prstGeom>
          <a:solidFill>
            <a:srgbClr val="00B85C"/>
          </a:solidFill>
          <a:ln/>
        </p:spPr>
        <p:txBody>
          <a:bodyPr/>
          <a:p/>
        </p:txBody>
      </p:sp>
      <p:sp>
        <p:nvSpPr>
          <p:cNvPr id="11" name="Text 9"/>
          <p:cNvSpPr/>
          <p:nvPr/>
        </p:nvSpPr>
        <p:spPr>
          <a:xfrm>
            <a:off x="777240" y="3438144"/>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What To Do</a:t>
            </a:r>
            <a:endParaRPr lang="en-US" sz="1150" dirty="0"/>
          </a:p>
        </p:txBody>
      </p:sp>
      <p:sp>
        <p:nvSpPr>
          <p:cNvPr id="12" name="Text 10"/>
          <p:cNvSpPr/>
          <p:nvPr/>
        </p:nvSpPr>
        <p:spPr>
          <a:xfrm>
            <a:off x="868680" y="3913632"/>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Plan for no single activity to run past 5-7 minutes. Alternate rhythmically between different activity types so the child keeps getting fresh stimulation. The moment you spot a yawn, switch immediately.</a:t>
            </a:r>
            <a:endParaRPr lang="en-US" sz="1300" dirty="0"/>
          </a:p>
        </p:txBody>
      </p:sp>
      <p:sp>
        <p:nvSpPr>
          <p:cNvPr id="13" name="Shape 11"/>
          <p:cNvSpPr/>
          <p:nvPr/>
        </p:nvSpPr>
        <p:spPr>
          <a:xfrm>
            <a:off x="548640" y="5129784"/>
            <a:ext cx="11064240" cy="1188720"/>
          </a:xfrm>
          <a:prstGeom prst="roundRect">
            <a:avLst>
              <a:gd name="adj" fmla="val 7692"/>
            </a:avLst>
          </a:prstGeom>
          <a:solidFill>
            <a:srgbClr val="E3EEFF"/>
          </a:solidFill>
          <a:ln w="12700">
            <a:solidFill>
              <a:srgbClr val="BBD6FF"/>
            </a:solidFill>
            <a:prstDash val="solid"/>
          </a:ln>
        </p:spPr>
        <p:txBody>
          <a:bodyPr/>
          <a:p/>
        </p:txBody>
      </p:sp>
      <p:sp>
        <p:nvSpPr>
          <p:cNvPr id="14" name="Shape 12"/>
          <p:cNvSpPr/>
          <p:nvPr/>
        </p:nvSpPr>
        <p:spPr>
          <a:xfrm>
            <a:off x="777240" y="5294376"/>
            <a:ext cx="1737360" cy="384048"/>
          </a:xfrm>
          <a:prstGeom prst="roundRect">
            <a:avLst>
              <a:gd name="adj" fmla="val 50000"/>
            </a:avLst>
          </a:prstGeom>
          <a:solidFill>
            <a:srgbClr val="0B5FFF"/>
          </a:solidFill>
          <a:ln/>
        </p:spPr>
        <p:txBody>
          <a:bodyPr/>
          <a:p/>
        </p:txBody>
      </p:sp>
      <p:sp>
        <p:nvSpPr>
          <p:cNvPr id="15" name="Text 13"/>
          <p:cNvSpPr/>
          <p:nvPr/>
        </p:nvSpPr>
        <p:spPr>
          <a:xfrm>
            <a:off x="777240" y="5294376"/>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Real Example</a:t>
            </a:r>
            <a:endParaRPr lang="en-US" sz="1150" dirty="0"/>
          </a:p>
        </p:txBody>
      </p:sp>
      <p:sp>
        <p:nvSpPr>
          <p:cNvPr id="16" name="Text 14"/>
          <p:cNvSpPr/>
          <p:nvPr/>
        </p:nvSpPr>
        <p:spPr>
          <a:xfrm>
            <a:off x="868680" y="5769864"/>
            <a:ext cx="10424160" cy="411480"/>
          </a:xfrm>
          <a:prstGeom prst="rect">
            <a:avLst/>
          </a:prstGeom>
          <a:noFill/>
          <a:ln/>
        </p:spPr>
        <p:txBody>
          <a:bodyPr wrap="square" lIns="0" tIns="0" rIns="0" bIns="0" rtlCol="0" anchor="t"/>
          <a:lstStyle/>
          <a:p>
            <a:pPr indent="0" marL="0">
              <a:buNone/>
            </a:pPr>
            <a:r>
              <a:rPr lang="en-US" sz="1300" i="1" dirty="0">
                <a:solidFill>
                  <a:srgbClr val="0B5FFF"/>
                </a:solidFill>
                <a:latin typeface="Arial" pitchFamily="34" charset="0"/>
                <a:ea typeface="Arial" pitchFamily="34" charset="-122"/>
                <a:cs typeface="Arial" pitchFamily="34" charset="-120"/>
              </a:rPr>
              <a:t>Example: If grammar explanation is about to run past 5 minutes, say “Okay, let's take a quick break and play a game!” and move to the game tab.</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325880" y="320040"/>
            <a:ext cx="1028700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At a Glance — a Do vs Avoid Quick-Reference Table</a:t>
            </a:r>
            <a:endParaRPr lang="en-US" sz="2600" dirty="0"/>
          </a:p>
        </p:txBody>
      </p:sp>
      <p:sp>
        <p:nvSpPr>
          <p:cNvPr id="3" name="Text 1"/>
          <p:cNvSpPr/>
          <p:nvPr/>
        </p:nvSpPr>
        <p:spPr>
          <a:xfrm>
            <a:off x="548640" y="896112"/>
            <a:ext cx="11064240" cy="457200"/>
          </a:xfrm>
          <a:prstGeom prst="rect">
            <a:avLst/>
          </a:prstGeom>
          <a:noFill/>
          <a:ln/>
        </p:spPr>
        <p:txBody>
          <a:bodyPr wrap="square" lIns="0" tIns="0" rIns="0" bIns="0" rtlCol="0" anchor="ctr"/>
          <a:lstStyle/>
          <a:p>
            <a:pPr indent="0" marL="0">
              <a:buNone/>
            </a:pPr>
            <a:r>
              <a:rPr lang="en-US" sz="1250" i="1" dirty="0">
                <a:solidFill>
                  <a:srgbClr val="6B7280"/>
                </a:solidFill>
                <a:latin typeface="Arial" pitchFamily="34" charset="0"/>
                <a:ea typeface="Arial" pitchFamily="34" charset="-122"/>
                <a:cs typeface="Arial" pitchFamily="34" charset="-120"/>
              </a:rPr>
              <a:t>The 5 core areas above, summarized for a mid-class glance.</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600200"/>
          <a:ext cx="11430000" cy="4846320"/>
        </p:xfrm>
        <a:graphic>
          <a:graphicData uri="http://schemas.openxmlformats.org/drawingml/2006/table">
            <a:tbl>
              <a:tblPr/>
              <a:tblGrid>
                <a:gridCol w="1554480"/>
                <a:gridCol w="4206240"/>
                <a:gridCol w="2834640"/>
                <a:gridCol w="2834640"/>
              </a:tblGrid>
              <a:tr h="80772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Area</a:t>
                      </a:r>
                      <a:endParaRPr lang="en-US" sz="11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0B5FF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Why It Matters</a:t>
                      </a:r>
                      <a:endParaRPr lang="en-US" sz="11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0B5FF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DO</a:t>
                      </a:r>
                      <a:endParaRPr lang="en-US" sz="11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00B85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AVOID</a:t>
                      </a:r>
                      <a:endParaRPr lang="en-US" sz="11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03E3E"/>
                    </a:solidFill>
                  </a:tcPr>
                </a:tc>
              </a:tr>
              <a:tr h="807720">
                <a:tc>
                  <a:txBody>
                    <a:bodyPr/>
                    <a:lstStyle/>
                    <a:p>
                      <a:pPr indent="0" marL="0">
                        <a:buNone/>
                      </a:pPr>
                      <a:r>
                        <a:rPr lang="en-US" sz="950" b="1" dirty="0">
                          <a:solidFill>
                            <a:srgbClr val="262626"/>
                          </a:solidFill>
                          <a:latin typeface="Arial" pitchFamily="34" charset="0"/>
                          <a:ea typeface="Arial" pitchFamily="34" charset="-122"/>
                          <a:cs typeface="Arial" pitchFamily="34" charset="-120"/>
                        </a:rPr>
                        <a:t>Energy &amp; Expression</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Video filters 30-40% of emotion, so only exaggerated energy feels normal</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Thumbs-up, clapping, surprise; tone up one notch</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Blank face, monotone, eyes fixed down</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807720">
                <a:tc>
                  <a:txBody>
                    <a:bodyPr/>
                    <a:lstStyle/>
                    <a:p>
                      <a:pPr indent="0" marL="0">
                        <a:buNone/>
                      </a:pPr>
                      <a:r>
                        <a:rPr lang="en-US" sz="950" b="1" dirty="0">
                          <a:solidFill>
                            <a:srgbClr val="262626"/>
                          </a:solidFill>
                          <a:latin typeface="Arial" pitchFamily="34" charset="0"/>
                          <a:ea typeface="Arial" pitchFamily="34" charset="-122"/>
                          <a:cs typeface="Arial" pitchFamily="34" charset="-120"/>
                        </a:rPr>
                        <a:t>Student Talk</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The talker learns most; the child must speak to engage</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60%+ talk time, wait 3s after questions</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Answering before the child thinks, long lectures</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r>
              <a:tr h="807720">
                <a:tc>
                  <a:txBody>
                    <a:bodyPr/>
                    <a:lstStyle/>
                    <a:p>
                      <a:pPr indent="0" marL="0">
                        <a:buNone/>
                      </a:pPr>
                      <a:r>
                        <a:rPr lang="en-US" sz="950" b="1" dirty="0">
                          <a:solidFill>
                            <a:srgbClr val="262626"/>
                          </a:solidFill>
                          <a:latin typeface="Arial" pitchFamily="34" charset="0"/>
                          <a:ea typeface="Arial" pitchFamily="34" charset="-122"/>
                          <a:cs typeface="Arial" pitchFamily="34" charset="-120"/>
                        </a:rPr>
                        <a:t>Visible Achievement</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Physical feedback that says 'I'm doing well' sustains effort</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Stars, badges, confetti, mascot actively used</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Soulless praise, focusing only on errors</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807720">
                <a:tc>
                  <a:txBody>
                    <a:bodyPr/>
                    <a:lstStyle/>
                    <a:p>
                      <a:pPr indent="0" marL="0">
                        <a:buNone/>
                      </a:pPr>
                      <a:r>
                        <a:rPr lang="en-US" sz="950" b="1" dirty="0">
                          <a:solidFill>
                            <a:srgbClr val="262626"/>
                          </a:solidFill>
                          <a:latin typeface="Arial" pitchFamily="34" charset="0"/>
                          <a:ea typeface="Arial" pitchFamily="34" charset="-122"/>
                          <a:cs typeface="Arial" pitchFamily="34" charset="-120"/>
                        </a:rPr>
                        <a:t>Personalization</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Engaged only when it feels 'made for me'</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Names often, interests woven in</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Same script for all, forgetting past errors</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r>
              <a:tr h="807720">
                <a:tc>
                  <a:txBody>
                    <a:bodyPr/>
                    <a:lstStyle/>
                    <a:p>
                      <a:pPr indent="0" marL="0">
                        <a:buNone/>
                      </a:pPr>
                      <a:r>
                        <a:rPr lang="en-US" sz="950" b="1" dirty="0">
                          <a:solidFill>
                            <a:srgbClr val="262626"/>
                          </a:solidFill>
                          <a:latin typeface="Arial" pitchFamily="34" charset="0"/>
                          <a:ea typeface="Arial" pitchFamily="34" charset="-122"/>
                          <a:cs typeface="Arial" pitchFamily="34" charset="-120"/>
                        </a:rPr>
                        <a:t>Rhythm &amp; Switching</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Attention ≈ age in minutes; dragging guarantees boredom</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Switch every 5-7 min, alternate learn/game</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One task 15min+, ignoring fatigue signs</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3" name="Text 1"/>
          <p:cNvSpPr/>
          <p:nvPr/>
        </p:nvSpPr>
        <p:spPr>
          <a:xfrm>
            <a:off x="548640" y="301751"/>
            <a:ext cx="502920" cy="50292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10</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325880" y="320040"/>
            <a:ext cx="1028700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03. Age-Specific Teaching Tactics</a:t>
            </a:r>
            <a:endParaRPr lang="en-US" sz="2600" dirty="0"/>
          </a:p>
        </p:txBody>
      </p:sp>
      <p:sp>
        <p:nvSpPr>
          <p:cNvPr id="3" name="Text 1"/>
          <p:cNvSpPr/>
          <p:nvPr/>
        </p:nvSpPr>
        <p:spPr>
          <a:xfrm>
            <a:off x="548640" y="896112"/>
            <a:ext cx="11064240" cy="457200"/>
          </a:xfrm>
          <a:prstGeom prst="rect">
            <a:avLst/>
          </a:prstGeom>
          <a:noFill/>
          <a:ln/>
        </p:spPr>
        <p:txBody>
          <a:bodyPr wrap="square" lIns="0" tIns="0" rIns="0" bIns="0" rtlCol="0" anchor="ctr"/>
          <a:lstStyle/>
          <a:p>
            <a:pPr indent="0" marL="0">
              <a:buNone/>
            </a:pPr>
            <a:r>
              <a:rPr lang="en-US" sz="1250" i="1" dirty="0">
                <a:solidFill>
                  <a:srgbClr val="6B7280"/>
                </a:solidFill>
                <a:latin typeface="Arial" pitchFamily="34" charset="0"/>
                <a:ea typeface="Arial" pitchFamily="34" charset="-122"/>
                <a:cs typeface="Arial" pitchFamily="34" charset="-120"/>
              </a:rPr>
              <a:t>Every age responds to a different code of fun — prepare the right tactic for the age you're about to teach</a:t>
            </a:r>
            <a:endParaRPr lang="en-US" sz="1250" dirty="0"/>
          </a:p>
        </p:txBody>
      </p:sp>
      <p:sp>
        <p:nvSpPr>
          <p:cNvPr id="4" name="Shape 2"/>
          <p:cNvSpPr/>
          <p:nvPr/>
        </p:nvSpPr>
        <p:spPr>
          <a:xfrm>
            <a:off x="518008" y="2103120"/>
            <a:ext cx="5394960" cy="3108960"/>
          </a:xfrm>
          <a:prstGeom prst="roundRect">
            <a:avLst>
              <a:gd name="adj" fmla="val 3529"/>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5" name="Shape 3"/>
          <p:cNvSpPr/>
          <p:nvPr/>
        </p:nvSpPr>
        <p:spPr>
          <a:xfrm>
            <a:off x="518008" y="2103120"/>
            <a:ext cx="5394960" cy="914400"/>
          </a:xfrm>
          <a:prstGeom prst="roundRect">
            <a:avLst>
              <a:gd name="adj" fmla="val 12000"/>
            </a:avLst>
          </a:prstGeom>
          <a:solidFill>
            <a:srgbClr val="0B5FFF"/>
          </a:solidFill>
          <a:ln/>
        </p:spPr>
        <p:txBody>
          <a:bodyPr/>
          <a:p/>
        </p:txBody>
      </p:sp>
      <p:sp>
        <p:nvSpPr>
          <p:cNvPr id="6" name="Shape 4"/>
          <p:cNvSpPr/>
          <p:nvPr/>
        </p:nvSpPr>
        <p:spPr>
          <a:xfrm>
            <a:off x="518008" y="2560320"/>
            <a:ext cx="5394960" cy="457200"/>
          </a:xfrm>
          <a:prstGeom prst="rect">
            <a:avLst/>
          </a:prstGeom>
          <a:solidFill>
            <a:srgbClr val="0B5FFF"/>
          </a:solidFill>
          <a:ln/>
        </p:spPr>
        <p:txBody>
          <a:bodyPr/>
          <a:p/>
        </p:txBody>
      </p:sp>
      <p:sp>
        <p:nvSpPr>
          <p:cNvPr id="7" name="Text 5"/>
          <p:cNvSpPr/>
          <p:nvPr/>
        </p:nvSpPr>
        <p:spPr>
          <a:xfrm>
            <a:off x="518008" y="2176272"/>
            <a:ext cx="539496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5-7 (Early Childhood)</a:t>
            </a:r>
            <a:endParaRPr lang="en-US" sz="1900" dirty="0"/>
          </a:p>
        </p:txBody>
      </p:sp>
      <p:sp>
        <p:nvSpPr>
          <p:cNvPr id="8" name="Text 6"/>
          <p:cNvSpPr/>
          <p:nvPr/>
        </p:nvSpPr>
        <p:spPr>
          <a:xfrm>
            <a:off x="518008" y="2606040"/>
            <a:ext cx="5394960" cy="365760"/>
          </a:xfrm>
          <a:prstGeom prst="rect">
            <a:avLst/>
          </a:prstGeom>
          <a:noFill/>
          <a:ln/>
        </p:spPr>
        <p:txBody>
          <a:bodyPr wrap="square" lIns="0" tIns="0" rIns="0" bIns="0" rtlCol="0" anchor="ctr"/>
          <a:lstStyle/>
          <a:p>
            <a:pPr algn="ctr" indent="0" marL="0">
              <a:buNone/>
            </a:pPr>
            <a:r>
              <a:rPr lang="en-US" sz="1350" dirty="0">
                <a:solidFill>
                  <a:srgbClr val="FFFFFF"/>
                </a:solidFill>
                <a:latin typeface="Arial" pitchFamily="34" charset="0"/>
                <a:ea typeface="Arial" pitchFamily="34" charset="-122"/>
                <a:cs typeface="Arial" pitchFamily="34" charset="-120"/>
              </a:rPr>
              <a:t>~5-7 min</a:t>
            </a:r>
            <a:endParaRPr lang="en-US" sz="1350" dirty="0"/>
          </a:p>
        </p:txBody>
      </p:sp>
      <p:sp>
        <p:nvSpPr>
          <p:cNvPr id="9" name="Text 7"/>
          <p:cNvSpPr/>
          <p:nvPr/>
        </p:nvSpPr>
        <p:spPr>
          <a:xfrm>
            <a:off x="792328" y="3246120"/>
            <a:ext cx="4846320" cy="178308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This age responds far more strongly to bouncy sounds and moving images than text. Mix in puppets, upbeat action songs, and games with extremely simple rules. Build understanding through pictures and sound first.</a:t>
            </a:r>
            <a:endParaRPr lang="en-US" sz="1300" dirty="0"/>
          </a:p>
        </p:txBody>
      </p:sp>
      <p:sp>
        <p:nvSpPr>
          <p:cNvPr id="10" name="Shape 8"/>
          <p:cNvSpPr/>
          <p:nvPr/>
        </p:nvSpPr>
        <p:spPr>
          <a:xfrm>
            <a:off x="6278728" y="2103120"/>
            <a:ext cx="5394960" cy="3108960"/>
          </a:xfrm>
          <a:prstGeom prst="roundRect">
            <a:avLst>
              <a:gd name="adj" fmla="val 3529"/>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11" name="Shape 9"/>
          <p:cNvSpPr/>
          <p:nvPr/>
        </p:nvSpPr>
        <p:spPr>
          <a:xfrm>
            <a:off x="6278728" y="2103120"/>
            <a:ext cx="5394960" cy="914400"/>
          </a:xfrm>
          <a:prstGeom prst="roundRect">
            <a:avLst>
              <a:gd name="adj" fmla="val 12000"/>
            </a:avLst>
          </a:prstGeom>
          <a:solidFill>
            <a:srgbClr val="00B8D9"/>
          </a:solidFill>
          <a:ln/>
        </p:spPr>
        <p:txBody>
          <a:bodyPr/>
          <a:p/>
        </p:txBody>
      </p:sp>
      <p:sp>
        <p:nvSpPr>
          <p:cNvPr id="12" name="Shape 10"/>
          <p:cNvSpPr/>
          <p:nvPr/>
        </p:nvSpPr>
        <p:spPr>
          <a:xfrm>
            <a:off x="6278728" y="2560320"/>
            <a:ext cx="5394960" cy="457200"/>
          </a:xfrm>
          <a:prstGeom prst="rect">
            <a:avLst/>
          </a:prstGeom>
          <a:solidFill>
            <a:srgbClr val="00B8D9"/>
          </a:solidFill>
          <a:ln/>
        </p:spPr>
        <p:txBody>
          <a:bodyPr/>
          <a:p/>
        </p:txBody>
      </p:sp>
      <p:sp>
        <p:nvSpPr>
          <p:cNvPr id="13" name="Text 11"/>
          <p:cNvSpPr/>
          <p:nvPr/>
        </p:nvSpPr>
        <p:spPr>
          <a:xfrm>
            <a:off x="6278728" y="2176272"/>
            <a:ext cx="539496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8-10 (Lower Elementary)</a:t>
            </a:r>
            <a:endParaRPr lang="en-US" sz="1900" dirty="0"/>
          </a:p>
        </p:txBody>
      </p:sp>
      <p:sp>
        <p:nvSpPr>
          <p:cNvPr id="14" name="Text 12"/>
          <p:cNvSpPr/>
          <p:nvPr/>
        </p:nvSpPr>
        <p:spPr>
          <a:xfrm>
            <a:off x="6278728" y="2606040"/>
            <a:ext cx="5394960" cy="365760"/>
          </a:xfrm>
          <a:prstGeom prst="rect">
            <a:avLst/>
          </a:prstGeom>
          <a:noFill/>
          <a:ln/>
        </p:spPr>
        <p:txBody>
          <a:bodyPr wrap="square" lIns="0" tIns="0" rIns="0" bIns="0" rtlCol="0" anchor="ctr"/>
          <a:lstStyle/>
          <a:p>
            <a:pPr algn="ctr" indent="0" marL="0">
              <a:buNone/>
            </a:pPr>
            <a:r>
              <a:rPr lang="en-US" sz="1350" dirty="0">
                <a:solidFill>
                  <a:srgbClr val="FFFFFF"/>
                </a:solidFill>
                <a:latin typeface="Arial" pitchFamily="34" charset="0"/>
                <a:ea typeface="Arial" pitchFamily="34" charset="-122"/>
                <a:cs typeface="Arial" pitchFamily="34" charset="-120"/>
              </a:rPr>
              <a:t>~8-10 min</a:t>
            </a:r>
            <a:endParaRPr lang="en-US" sz="1350" dirty="0"/>
          </a:p>
        </p:txBody>
      </p:sp>
      <p:sp>
        <p:nvSpPr>
          <p:cNvPr id="15" name="Text 13"/>
          <p:cNvSpPr/>
          <p:nvPr/>
        </p:nvSpPr>
        <p:spPr>
          <a:xfrm>
            <a:off x="6553048" y="3246120"/>
            <a:ext cx="4846320" cy="178308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Target their instinct to win and their drive to complete a mission. Make heavy use of short-round shooters or 3D battles, and emphasize the joy of collecting badges and items.</a:t>
            </a:r>
            <a:endParaRPr lang="en-US" sz="1300" dirty="0"/>
          </a:p>
        </p:txBody>
      </p:sp>
      <p:sp>
        <p:nvSpPr>
          <p:cNvPr id="3" name="Text 1"/>
          <p:cNvSpPr/>
          <p:nvPr/>
        </p:nvSpPr>
        <p:spPr>
          <a:xfrm>
            <a:off x="548640" y="301751"/>
            <a:ext cx="502920" cy="50292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11</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325880" y="320040"/>
            <a:ext cx="1028700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03. Age-Specific Teaching Tactics</a:t>
            </a:r>
            <a:endParaRPr lang="en-US" sz="2600" dirty="0"/>
          </a:p>
        </p:txBody>
      </p:sp>
      <p:sp>
        <p:nvSpPr>
          <p:cNvPr id="3" name="Shape 1"/>
          <p:cNvSpPr/>
          <p:nvPr/>
        </p:nvSpPr>
        <p:spPr>
          <a:xfrm>
            <a:off x="518008" y="2103120"/>
            <a:ext cx="5394960" cy="3108960"/>
          </a:xfrm>
          <a:prstGeom prst="roundRect">
            <a:avLst>
              <a:gd name="adj" fmla="val 3529"/>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4" name="Shape 2"/>
          <p:cNvSpPr/>
          <p:nvPr/>
        </p:nvSpPr>
        <p:spPr>
          <a:xfrm>
            <a:off x="518008" y="2103120"/>
            <a:ext cx="5394960" cy="914400"/>
          </a:xfrm>
          <a:prstGeom prst="roundRect">
            <a:avLst>
              <a:gd name="adj" fmla="val 12000"/>
            </a:avLst>
          </a:prstGeom>
          <a:solidFill>
            <a:srgbClr val="00B8D9"/>
          </a:solidFill>
          <a:ln/>
        </p:spPr>
        <p:txBody>
          <a:bodyPr/>
          <a:p/>
        </p:txBody>
      </p:sp>
      <p:sp>
        <p:nvSpPr>
          <p:cNvPr id="5" name="Shape 3"/>
          <p:cNvSpPr/>
          <p:nvPr/>
        </p:nvSpPr>
        <p:spPr>
          <a:xfrm>
            <a:off x="518008" y="2560320"/>
            <a:ext cx="5394960" cy="457200"/>
          </a:xfrm>
          <a:prstGeom prst="rect">
            <a:avLst/>
          </a:prstGeom>
          <a:solidFill>
            <a:srgbClr val="00B8D9"/>
          </a:solidFill>
          <a:ln/>
        </p:spPr>
        <p:txBody>
          <a:bodyPr/>
          <a:p/>
        </p:txBody>
      </p:sp>
      <p:sp>
        <p:nvSpPr>
          <p:cNvPr id="6" name="Text 4"/>
          <p:cNvSpPr/>
          <p:nvPr/>
        </p:nvSpPr>
        <p:spPr>
          <a:xfrm>
            <a:off x="518008" y="2176272"/>
            <a:ext cx="539496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11-13 (Upper Elementary)</a:t>
            </a:r>
            <a:endParaRPr lang="en-US" sz="1900" dirty="0"/>
          </a:p>
        </p:txBody>
      </p:sp>
      <p:sp>
        <p:nvSpPr>
          <p:cNvPr id="7" name="Text 5"/>
          <p:cNvSpPr/>
          <p:nvPr/>
        </p:nvSpPr>
        <p:spPr>
          <a:xfrm>
            <a:off x="518008" y="2606040"/>
            <a:ext cx="5394960" cy="365760"/>
          </a:xfrm>
          <a:prstGeom prst="rect">
            <a:avLst/>
          </a:prstGeom>
          <a:noFill/>
          <a:ln/>
        </p:spPr>
        <p:txBody>
          <a:bodyPr wrap="square" lIns="0" tIns="0" rIns="0" bIns="0" rtlCol="0" anchor="ctr"/>
          <a:lstStyle/>
          <a:p>
            <a:pPr algn="ctr" indent="0" marL="0">
              <a:buNone/>
            </a:pPr>
            <a:r>
              <a:rPr lang="en-US" sz="1350" dirty="0">
                <a:solidFill>
                  <a:srgbClr val="FFFFFF"/>
                </a:solidFill>
                <a:latin typeface="Arial" pitchFamily="34" charset="0"/>
                <a:ea typeface="Arial" pitchFamily="34" charset="-122"/>
                <a:cs typeface="Arial" pitchFamily="34" charset="-120"/>
              </a:rPr>
              <a:t>~12-15 min</a:t>
            </a:r>
            <a:endParaRPr lang="en-US" sz="1350" dirty="0"/>
          </a:p>
        </p:txBody>
      </p:sp>
      <p:sp>
        <p:nvSpPr>
          <p:cNvPr id="8" name="Text 6"/>
          <p:cNvSpPr/>
          <p:nvPr/>
        </p:nvSpPr>
        <p:spPr>
          <a:xfrm>
            <a:off x="792328" y="3246120"/>
            <a:ext cx="4846320" cy="178308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This is the age where kids slowly start needing a reason to learn. Showing news about favorite idols/YouTubers, or a ranking graph vs. peers, noticeably boosts focus.</a:t>
            </a:r>
            <a:endParaRPr lang="en-US" sz="1300" dirty="0"/>
          </a:p>
        </p:txBody>
      </p:sp>
      <p:sp>
        <p:nvSpPr>
          <p:cNvPr id="9" name="Shape 7"/>
          <p:cNvSpPr/>
          <p:nvPr/>
        </p:nvSpPr>
        <p:spPr>
          <a:xfrm>
            <a:off x="6278728" y="2103120"/>
            <a:ext cx="5394960" cy="3108960"/>
          </a:xfrm>
          <a:prstGeom prst="roundRect">
            <a:avLst>
              <a:gd name="adj" fmla="val 3529"/>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10" name="Shape 8"/>
          <p:cNvSpPr/>
          <p:nvPr/>
        </p:nvSpPr>
        <p:spPr>
          <a:xfrm>
            <a:off x="6278728" y="2103120"/>
            <a:ext cx="5394960" cy="914400"/>
          </a:xfrm>
          <a:prstGeom prst="roundRect">
            <a:avLst>
              <a:gd name="adj" fmla="val 12000"/>
            </a:avLst>
          </a:prstGeom>
          <a:solidFill>
            <a:srgbClr val="08296B"/>
          </a:solidFill>
          <a:ln/>
        </p:spPr>
        <p:txBody>
          <a:bodyPr/>
          <a:p/>
        </p:txBody>
      </p:sp>
      <p:sp>
        <p:nvSpPr>
          <p:cNvPr id="11" name="Shape 9"/>
          <p:cNvSpPr/>
          <p:nvPr/>
        </p:nvSpPr>
        <p:spPr>
          <a:xfrm>
            <a:off x="6278728" y="2560320"/>
            <a:ext cx="5394960" cy="457200"/>
          </a:xfrm>
          <a:prstGeom prst="rect">
            <a:avLst/>
          </a:prstGeom>
          <a:solidFill>
            <a:srgbClr val="08296B"/>
          </a:solidFill>
          <a:ln/>
        </p:spPr>
        <p:txBody>
          <a:bodyPr/>
          <a:p/>
        </p:txBody>
      </p:sp>
      <p:sp>
        <p:nvSpPr>
          <p:cNvPr id="12" name="Text 10"/>
          <p:cNvSpPr/>
          <p:nvPr/>
        </p:nvSpPr>
        <p:spPr>
          <a:xfrm>
            <a:off x="6278728" y="2176272"/>
            <a:ext cx="539496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14+ (Teenagers)</a:t>
            </a:r>
            <a:endParaRPr lang="en-US" sz="1900" dirty="0"/>
          </a:p>
        </p:txBody>
      </p:sp>
      <p:sp>
        <p:nvSpPr>
          <p:cNvPr id="13" name="Text 11"/>
          <p:cNvSpPr/>
          <p:nvPr/>
        </p:nvSpPr>
        <p:spPr>
          <a:xfrm>
            <a:off x="6278728" y="2606040"/>
            <a:ext cx="5394960" cy="365760"/>
          </a:xfrm>
          <a:prstGeom prst="rect">
            <a:avLst/>
          </a:prstGeom>
          <a:noFill/>
          <a:ln/>
        </p:spPr>
        <p:txBody>
          <a:bodyPr wrap="square" lIns="0" tIns="0" rIns="0" bIns="0" rtlCol="0" anchor="ctr"/>
          <a:lstStyle/>
          <a:p>
            <a:pPr algn="ctr" indent="0" marL="0">
              <a:buNone/>
            </a:pPr>
            <a:r>
              <a:rPr lang="en-US" sz="1350" dirty="0">
                <a:solidFill>
                  <a:srgbClr val="FFFFFF"/>
                </a:solidFill>
                <a:latin typeface="Arial" pitchFamily="34" charset="0"/>
                <a:ea typeface="Arial" pitchFamily="34" charset="-122"/>
                <a:cs typeface="Arial" pitchFamily="34" charset="-120"/>
              </a:rPr>
              <a:t>~15-20 min</a:t>
            </a:r>
            <a:endParaRPr lang="en-US" sz="1350" dirty="0"/>
          </a:p>
        </p:txBody>
      </p:sp>
      <p:sp>
        <p:nvSpPr>
          <p:cNvPr id="14" name="Text 12"/>
          <p:cNvSpPr/>
          <p:nvPr/>
        </p:nvSpPr>
        <p:spPr>
          <a:xfrm>
            <a:off x="6553048" y="3246120"/>
            <a:ext cx="4846320" cy="178308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Overly childish tones or exaggerated reactions can backfire. Treat them with adult-to-adult respect and win them over with practical payoffs like test scores or real conversational ability.</a:t>
            </a:r>
            <a:endParaRPr lang="en-US" sz="1300" dirty="0"/>
          </a:p>
        </p:txBody>
      </p:sp>
      <p:sp>
        <p:nvSpPr>
          <p:cNvPr id="3" name="Text 1"/>
          <p:cNvSpPr/>
          <p:nvPr/>
        </p:nvSpPr>
        <p:spPr>
          <a:xfrm>
            <a:off x="548640" y="301751"/>
            <a:ext cx="502920" cy="50292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12</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325880" y="320040"/>
            <a:ext cx="1028700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The Data Behind Engagement</a:t>
            </a:r>
            <a:endParaRPr lang="en-US" sz="2600" dirty="0"/>
          </a:p>
        </p:txBody>
      </p:sp>
      <p:pic>
        <p:nvPicPr>
          <p:cNvPr id="3" name="Image 0" descr="C:/Users/Admin/AppData/Local/Temp/claude/C--Users-Admin-Desktop-mangoi-develop2-main/51a19268-9c4f-476f-8b14-ce923f54a918/scratchpad/img/stt_en.png">    </p:cNvPr>
          <p:cNvPicPr>
            <a:picLocks noChangeAspect="1"/>
          </p:cNvPicPr>
          <p:nvPr/>
        </p:nvPicPr>
        <p:blipFill>
          <a:blip r:embed="rId1"/>
          <a:stretch>
            <a:fillRect/>
          </a:stretch>
        </p:blipFill>
        <p:spPr>
          <a:xfrm>
            <a:off x="1760220" y="1554480"/>
            <a:ext cx="2971800" cy="4181620"/>
          </a:xfrm>
          <a:prstGeom prst="rect">
            <a:avLst/>
          </a:prstGeom>
          <a:effectLst>
            <a:outerShdw sx="100000" sy="100000" kx="0" ky="0" algn="bl" rotWithShape="0" blurRad="101600" dist="38100" dir="2700000">
              <a:srgbClr val="000000">
                <a:alpha val="12000"/>
              </a:srgbClr>
            </a:outerShdw>
          </a:effectLst>
        </p:spPr>
      </p:pic>
      <p:sp>
        <p:nvSpPr>
          <p:cNvPr id="4" name="Text 1"/>
          <p:cNvSpPr/>
          <p:nvPr/>
        </p:nvSpPr>
        <p:spPr>
          <a:xfrm>
            <a:off x="640080" y="5918980"/>
            <a:ext cx="5212080" cy="457200"/>
          </a:xfrm>
          <a:prstGeom prst="rect">
            <a:avLst/>
          </a:prstGeom>
          <a:noFill/>
          <a:ln/>
        </p:spPr>
        <p:txBody>
          <a:bodyPr wrap="square" lIns="0" tIns="0" rIns="0" bIns="0" rtlCol="0" anchor="ctr"/>
          <a:lstStyle/>
          <a:p>
            <a:pPr algn="ctr" indent="0" marL="0">
              <a:buNone/>
            </a:pPr>
            <a:r>
              <a:rPr lang="en-US" sz="1000" i="1" dirty="0">
                <a:solidFill>
                  <a:srgbClr val="6B7280"/>
                </a:solidFill>
                <a:latin typeface="Arial" pitchFamily="34" charset="0"/>
                <a:ea typeface="Arial" pitchFamily="34" charset="-122"/>
                <a:cs typeface="Arial" pitchFamily="34" charset="-120"/>
              </a:rPr>
              <a:t>An ideal class: the child talks 60%+ of the time</a:t>
            </a:r>
            <a:endParaRPr lang="en-US" sz="1000" dirty="0"/>
          </a:p>
        </p:txBody>
      </p:sp>
      <p:pic>
        <p:nvPicPr>
          <p:cNvPr id="5" name="Image 1" descr="C:/Users/Admin/AppData/Local/Temp/claude/C--Users-Admin-Desktop-mangoi-develop2-main/51a19268-9c4f-476f-8b14-ce923f54a918/scratchpad/img/age_en.png">    </p:cNvPr>
          <p:cNvPicPr>
            <a:picLocks noChangeAspect="1"/>
          </p:cNvPicPr>
          <p:nvPr/>
        </p:nvPicPr>
        <p:blipFill>
          <a:blip r:embed="rId2"/>
          <a:stretch>
            <a:fillRect/>
          </a:stretch>
        </p:blipFill>
        <p:spPr>
          <a:xfrm>
            <a:off x="6126480" y="1861261"/>
            <a:ext cx="5486400" cy="3684118"/>
          </a:xfrm>
          <a:prstGeom prst="rect">
            <a:avLst/>
          </a:prstGeom>
          <a:effectLst>
            <a:outerShdw sx="100000" sy="100000" kx="0" ky="0" algn="bl" rotWithShape="0" blurRad="101600" dist="38100" dir="2700000">
              <a:srgbClr val="000000">
                <a:alpha val="12000"/>
              </a:srgbClr>
            </a:outerShdw>
          </a:effectLst>
        </p:spPr>
      </p:pic>
      <p:sp>
        <p:nvSpPr>
          <p:cNvPr id="6" name="Text 2"/>
          <p:cNvSpPr/>
          <p:nvPr/>
        </p:nvSpPr>
        <p:spPr>
          <a:xfrm>
            <a:off x="6126480" y="5728259"/>
            <a:ext cx="5486400" cy="457200"/>
          </a:xfrm>
          <a:prstGeom prst="rect">
            <a:avLst/>
          </a:prstGeom>
          <a:noFill/>
          <a:ln/>
        </p:spPr>
        <p:txBody>
          <a:bodyPr wrap="square" lIns="0" tIns="0" rIns="0" bIns="0" rtlCol="0" anchor="ctr"/>
          <a:lstStyle/>
          <a:p>
            <a:pPr algn="ctr" indent="0" marL="0">
              <a:buNone/>
            </a:pPr>
            <a:r>
              <a:rPr lang="en-US" sz="1000" i="1" dirty="0">
                <a:solidFill>
                  <a:srgbClr val="6B7280"/>
                </a:solidFill>
                <a:latin typeface="Arial" pitchFamily="34" charset="0"/>
                <a:ea typeface="Arial" pitchFamily="34" charset="-122"/>
                <a:cs typeface="Arial" pitchFamily="34" charset="-120"/>
              </a:rPr>
              <a:t>Age = minutes of attention span</a:t>
            </a:r>
            <a:endParaRPr lang="en-US" sz="1000" dirty="0"/>
          </a:p>
        </p:txBody>
      </p:sp>
      <p:sp>
        <p:nvSpPr>
          <p:cNvPr id="3" name="Text 1"/>
          <p:cNvSpPr/>
          <p:nvPr/>
        </p:nvSpPr>
        <p:spPr>
          <a:xfrm>
            <a:off x="548640" y="301751"/>
            <a:ext cx="502920" cy="50292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13</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325880" y="320040"/>
            <a:ext cx="1028700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Appendix A. The Engagement Cycle</a:t>
            </a:r>
            <a:endParaRPr lang="en-US" sz="2600" dirty="0"/>
          </a:p>
        </p:txBody>
      </p:sp>
      <p:sp>
        <p:nvSpPr>
          <p:cNvPr id="3" name="Text 1"/>
          <p:cNvSpPr/>
          <p:nvPr/>
        </p:nvSpPr>
        <p:spPr>
          <a:xfrm>
            <a:off x="548640" y="896112"/>
            <a:ext cx="11064240" cy="457200"/>
          </a:xfrm>
          <a:prstGeom prst="rect">
            <a:avLst/>
          </a:prstGeom>
          <a:noFill/>
          <a:ln/>
        </p:spPr>
        <p:txBody>
          <a:bodyPr wrap="square" lIns="0" tIns="0" rIns="0" bIns="0" rtlCol="0" anchor="ctr"/>
          <a:lstStyle/>
          <a:p>
            <a:pPr indent="0" marL="0">
              <a:buNone/>
            </a:pPr>
            <a:r>
              <a:rPr lang="en-US" sz="1250" i="1" dirty="0">
                <a:solidFill>
                  <a:srgbClr val="6B7280"/>
                </a:solidFill>
                <a:latin typeface="Arial" pitchFamily="34" charset="0"/>
                <a:ea typeface="Arial" pitchFamily="34" charset="-122"/>
                <a:cs typeface="Arial" pitchFamily="34" charset="-120"/>
              </a:rPr>
              <a:t>Warm-up → Mission → Speaking → Game → Feedback → Next. One full loop is a complete engagement structure.</a:t>
            </a:r>
            <a:endParaRPr lang="en-US" sz="1250" dirty="0"/>
          </a:p>
        </p:txBody>
      </p:sp>
      <p:sp>
        <p:nvSpPr>
          <p:cNvPr id="4" name="Shape 2"/>
          <p:cNvSpPr/>
          <p:nvPr/>
        </p:nvSpPr>
        <p:spPr>
          <a:xfrm>
            <a:off x="454000" y="2377440"/>
            <a:ext cx="3566160" cy="2651760"/>
          </a:xfrm>
          <a:prstGeom prst="roundRect">
            <a:avLst>
              <a:gd name="adj" fmla="val 344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5" name="Shape 3"/>
          <p:cNvSpPr/>
          <p:nvPr/>
        </p:nvSpPr>
        <p:spPr>
          <a:xfrm>
            <a:off x="682600" y="2606040"/>
            <a:ext cx="502920" cy="502920"/>
          </a:xfrm>
          <a:prstGeom prst="ellipse">
            <a:avLst/>
          </a:prstGeom>
          <a:solidFill>
            <a:srgbClr val="0B5FFF"/>
          </a:solidFill>
          <a:ln/>
        </p:spPr>
        <p:txBody>
          <a:bodyPr/>
          <a:p/>
        </p:txBody>
      </p:sp>
      <p:sp>
        <p:nvSpPr>
          <p:cNvPr id="6" name="Text 4"/>
          <p:cNvSpPr/>
          <p:nvPr/>
        </p:nvSpPr>
        <p:spPr>
          <a:xfrm>
            <a:off x="682600"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1322680" y="2560320"/>
            <a:ext cx="2514600" cy="594360"/>
          </a:xfrm>
          <a:prstGeom prst="rect">
            <a:avLst/>
          </a:prstGeom>
          <a:noFill/>
          <a:ln/>
        </p:spPr>
        <p:txBody>
          <a:bodyPr wrap="square" lIns="0" tIns="0" rIns="0" bIns="0" rtlCol="0" anchor="ctr"/>
          <a:lstStyle/>
          <a:p>
            <a:pPr indent="0" marL="0">
              <a:buNone/>
            </a:pPr>
            <a:r>
              <a:rPr lang="en-US" sz="1500" b="1" dirty="0">
                <a:solidFill>
                  <a:srgbClr val="0B5FFF"/>
                </a:solidFill>
                <a:latin typeface="Arial" pitchFamily="34" charset="0"/>
                <a:ea typeface="Arial" pitchFamily="34" charset="-122"/>
                <a:cs typeface="Arial" pitchFamily="34" charset="-120"/>
              </a:rPr>
              <a:t>Warm-up</a:t>
            </a:r>
            <a:endParaRPr lang="en-US" sz="1500" dirty="0"/>
          </a:p>
        </p:txBody>
      </p:sp>
      <p:sp>
        <p:nvSpPr>
          <p:cNvPr id="8" name="Text 6"/>
          <p:cNvSpPr/>
          <p:nvPr/>
        </p:nvSpPr>
        <p:spPr>
          <a:xfrm>
            <a:off x="682600" y="3337560"/>
            <a:ext cx="3108960" cy="150876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Slip in a light question that naturally touches on last session's mistakes, folded casually into small talk. The goal is to lower psychological walls.</a:t>
            </a:r>
            <a:endParaRPr lang="en-US" sz="1200" dirty="0"/>
          </a:p>
        </p:txBody>
      </p:sp>
      <p:sp>
        <p:nvSpPr>
          <p:cNvPr id="9" name="Text 7"/>
          <p:cNvSpPr/>
          <p:nvPr/>
        </p:nvSpPr>
        <p:spPr>
          <a:xfrm>
            <a:off x="4029304" y="3502152"/>
            <a:ext cx="274320" cy="402336"/>
          </a:xfrm>
          <a:prstGeom prst="rect">
            <a:avLst/>
          </a:prstGeom>
          <a:noFill/>
          <a:ln/>
        </p:spPr>
        <p:txBody>
          <a:bodyPr wrap="square" lIns="0" tIns="0" rIns="0" bIns="0" rtlCol="0" anchor="ctr"/>
          <a:lstStyle/>
          <a:p>
            <a:pPr algn="ctr" indent="0" marL="0">
              <a:buNone/>
            </a:pPr>
            <a:r>
              <a:rPr lang="en-US" sz="1800" b="1" dirty="0">
                <a:solidFill>
                  <a:srgbClr val="FF9500"/>
                </a:solidFill>
              </a:rPr>
              <a:t>→</a:t>
            </a:r>
            <a:endParaRPr lang="en-US" sz="1800" dirty="0"/>
          </a:p>
        </p:txBody>
      </p:sp>
      <p:sp>
        <p:nvSpPr>
          <p:cNvPr id="10" name="Shape 8"/>
          <p:cNvSpPr/>
          <p:nvPr/>
        </p:nvSpPr>
        <p:spPr>
          <a:xfrm>
            <a:off x="4312768" y="2377440"/>
            <a:ext cx="3566160" cy="2651760"/>
          </a:xfrm>
          <a:prstGeom prst="roundRect">
            <a:avLst>
              <a:gd name="adj" fmla="val 344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11" name="Shape 9"/>
          <p:cNvSpPr/>
          <p:nvPr/>
        </p:nvSpPr>
        <p:spPr>
          <a:xfrm>
            <a:off x="4541368" y="2606040"/>
            <a:ext cx="502920" cy="502920"/>
          </a:xfrm>
          <a:prstGeom prst="ellipse">
            <a:avLst/>
          </a:prstGeom>
          <a:solidFill>
            <a:srgbClr val="00B8D9"/>
          </a:solidFill>
          <a:ln/>
        </p:spPr>
        <p:txBody>
          <a:bodyPr/>
          <a:p/>
        </p:txBody>
      </p:sp>
      <p:sp>
        <p:nvSpPr>
          <p:cNvPr id="12" name="Text 10"/>
          <p:cNvSpPr/>
          <p:nvPr/>
        </p:nvSpPr>
        <p:spPr>
          <a:xfrm>
            <a:off x="4541368"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p:nvPr/>
        </p:nvSpPr>
        <p:spPr>
          <a:xfrm>
            <a:off x="5181448" y="2560320"/>
            <a:ext cx="2514600" cy="594360"/>
          </a:xfrm>
          <a:prstGeom prst="rect">
            <a:avLst/>
          </a:prstGeom>
          <a:noFill/>
          <a:ln/>
        </p:spPr>
        <p:txBody>
          <a:bodyPr wrap="square" lIns="0" tIns="0" rIns="0" bIns="0" rtlCol="0" anchor="ctr"/>
          <a:lstStyle/>
          <a:p>
            <a:pPr indent="0" marL="0">
              <a:buNone/>
            </a:pPr>
            <a:r>
              <a:rPr lang="en-US" sz="1500" b="1" dirty="0">
                <a:solidFill>
                  <a:srgbClr val="0B5FFF"/>
                </a:solidFill>
                <a:latin typeface="Arial" pitchFamily="34" charset="0"/>
                <a:ea typeface="Arial" pitchFamily="34" charset="-122"/>
                <a:cs typeface="Arial" pitchFamily="34" charset="-120"/>
              </a:rPr>
              <a:t>Mission</a:t>
            </a:r>
            <a:endParaRPr lang="en-US" sz="1500" dirty="0"/>
          </a:p>
        </p:txBody>
      </p:sp>
      <p:sp>
        <p:nvSpPr>
          <p:cNvPr id="14" name="Text 12"/>
          <p:cNvSpPr/>
          <p:nvPr/>
        </p:nvSpPr>
        <p:spPr>
          <a:xfrm>
            <a:off x="4541368" y="3337560"/>
            <a:ext cx="3108960" cy="150876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Declare one crystal-clear, visible target: “Master these 3 words today, get a bonus game!” This instills game-starting motivation.</a:t>
            </a:r>
            <a:endParaRPr lang="en-US" sz="1200" dirty="0"/>
          </a:p>
        </p:txBody>
      </p:sp>
      <p:sp>
        <p:nvSpPr>
          <p:cNvPr id="15" name="Text 13"/>
          <p:cNvSpPr/>
          <p:nvPr/>
        </p:nvSpPr>
        <p:spPr>
          <a:xfrm>
            <a:off x="7888072" y="3502152"/>
            <a:ext cx="274320" cy="402336"/>
          </a:xfrm>
          <a:prstGeom prst="rect">
            <a:avLst/>
          </a:prstGeom>
          <a:noFill/>
          <a:ln/>
        </p:spPr>
        <p:txBody>
          <a:bodyPr wrap="square" lIns="0" tIns="0" rIns="0" bIns="0" rtlCol="0" anchor="ctr"/>
          <a:lstStyle/>
          <a:p>
            <a:pPr algn="ctr" indent="0" marL="0">
              <a:buNone/>
            </a:pPr>
            <a:r>
              <a:rPr lang="en-US" sz="1800" b="1" dirty="0">
                <a:solidFill>
                  <a:srgbClr val="FF9500"/>
                </a:solidFill>
              </a:rPr>
              <a:t>→</a:t>
            </a:r>
            <a:endParaRPr lang="en-US" sz="1800" dirty="0"/>
          </a:p>
        </p:txBody>
      </p:sp>
      <p:sp>
        <p:nvSpPr>
          <p:cNvPr id="16" name="Shape 14"/>
          <p:cNvSpPr/>
          <p:nvPr/>
        </p:nvSpPr>
        <p:spPr>
          <a:xfrm>
            <a:off x="8171536" y="2377440"/>
            <a:ext cx="3566160" cy="2651760"/>
          </a:xfrm>
          <a:prstGeom prst="roundRect">
            <a:avLst>
              <a:gd name="adj" fmla="val 344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17" name="Shape 15"/>
          <p:cNvSpPr/>
          <p:nvPr/>
        </p:nvSpPr>
        <p:spPr>
          <a:xfrm>
            <a:off x="8400136" y="2606040"/>
            <a:ext cx="502920" cy="502920"/>
          </a:xfrm>
          <a:prstGeom prst="ellipse">
            <a:avLst/>
          </a:prstGeom>
          <a:solidFill>
            <a:srgbClr val="7C3AED"/>
          </a:solidFill>
          <a:ln/>
        </p:spPr>
        <p:txBody>
          <a:bodyPr/>
          <a:p/>
        </p:txBody>
      </p:sp>
      <p:sp>
        <p:nvSpPr>
          <p:cNvPr id="18" name="Text 16"/>
          <p:cNvSpPr/>
          <p:nvPr/>
        </p:nvSpPr>
        <p:spPr>
          <a:xfrm>
            <a:off x="8400136"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9" name="Text 17"/>
          <p:cNvSpPr/>
          <p:nvPr/>
        </p:nvSpPr>
        <p:spPr>
          <a:xfrm>
            <a:off x="9040216" y="2560320"/>
            <a:ext cx="2514600" cy="594360"/>
          </a:xfrm>
          <a:prstGeom prst="rect">
            <a:avLst/>
          </a:prstGeom>
          <a:noFill/>
          <a:ln/>
        </p:spPr>
        <p:txBody>
          <a:bodyPr wrap="square" lIns="0" tIns="0" rIns="0" bIns="0" rtlCol="0" anchor="ctr"/>
          <a:lstStyle/>
          <a:p>
            <a:pPr indent="0" marL="0">
              <a:buNone/>
            </a:pPr>
            <a:r>
              <a:rPr lang="en-US" sz="1500" b="1" dirty="0">
                <a:solidFill>
                  <a:srgbClr val="0B5FFF"/>
                </a:solidFill>
                <a:latin typeface="Arial" pitchFamily="34" charset="0"/>
                <a:ea typeface="Arial" pitchFamily="34" charset="-122"/>
                <a:cs typeface="Arial" pitchFamily="34" charset="-120"/>
              </a:rPr>
              <a:t>Speaking</a:t>
            </a:r>
            <a:endParaRPr lang="en-US" sz="1500" dirty="0"/>
          </a:p>
        </p:txBody>
      </p:sp>
      <p:sp>
        <p:nvSpPr>
          <p:cNvPr id="20" name="Text 18"/>
          <p:cNvSpPr/>
          <p:nvPr/>
        </p:nvSpPr>
        <p:spPr>
          <a:xfrm>
            <a:off x="8400136" y="3337560"/>
            <a:ext cx="3108960" cy="150876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Minimize explanation; repeat 'ask -&gt; answer -&gt; ask again' so the child produces their own speech. The teacher is a conversation partner, not a lecturer.</a:t>
            </a:r>
            <a:endParaRPr lang="en-US" sz="1200" dirty="0"/>
          </a:p>
        </p:txBody>
      </p:sp>
      <p:sp>
        <p:nvSpPr>
          <p:cNvPr id="3" name="Text 1"/>
          <p:cNvSpPr/>
          <p:nvPr/>
        </p:nvSpPr>
        <p:spPr>
          <a:xfrm>
            <a:off x="548640" y="301751"/>
            <a:ext cx="502920" cy="50292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14</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325880" y="320040"/>
            <a:ext cx="1028700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Appendix A. The Engagement Cycle</a:t>
            </a:r>
            <a:endParaRPr lang="en-US" sz="2600" dirty="0"/>
          </a:p>
        </p:txBody>
      </p:sp>
      <p:sp>
        <p:nvSpPr>
          <p:cNvPr id="3" name="Shape 1"/>
          <p:cNvSpPr/>
          <p:nvPr/>
        </p:nvSpPr>
        <p:spPr>
          <a:xfrm>
            <a:off x="454000" y="2377440"/>
            <a:ext cx="3566160" cy="2651760"/>
          </a:xfrm>
          <a:prstGeom prst="roundRect">
            <a:avLst>
              <a:gd name="adj" fmla="val 344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4" name="Shape 2"/>
          <p:cNvSpPr/>
          <p:nvPr/>
        </p:nvSpPr>
        <p:spPr>
          <a:xfrm>
            <a:off x="682600" y="2606040"/>
            <a:ext cx="502920" cy="502920"/>
          </a:xfrm>
          <a:prstGeom prst="ellipse">
            <a:avLst/>
          </a:prstGeom>
          <a:solidFill>
            <a:srgbClr val="00B85C"/>
          </a:solidFill>
          <a:ln/>
        </p:spPr>
        <p:txBody>
          <a:bodyPr/>
          <a:p/>
        </p:txBody>
      </p:sp>
      <p:sp>
        <p:nvSpPr>
          <p:cNvPr id="5" name="Text 3"/>
          <p:cNvSpPr/>
          <p:nvPr/>
        </p:nvSpPr>
        <p:spPr>
          <a:xfrm>
            <a:off x="682600"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6" name="Text 4"/>
          <p:cNvSpPr/>
          <p:nvPr/>
        </p:nvSpPr>
        <p:spPr>
          <a:xfrm>
            <a:off x="1322680" y="2560320"/>
            <a:ext cx="2514600" cy="594360"/>
          </a:xfrm>
          <a:prstGeom prst="rect">
            <a:avLst/>
          </a:prstGeom>
          <a:noFill/>
          <a:ln/>
        </p:spPr>
        <p:txBody>
          <a:bodyPr wrap="square" lIns="0" tIns="0" rIns="0" bIns="0" rtlCol="0" anchor="ctr"/>
          <a:lstStyle/>
          <a:p>
            <a:pPr indent="0" marL="0">
              <a:buNone/>
            </a:pPr>
            <a:r>
              <a:rPr lang="en-US" sz="1500" b="1" dirty="0">
                <a:solidFill>
                  <a:srgbClr val="0B5FFF"/>
                </a:solidFill>
                <a:latin typeface="Arial" pitchFamily="34" charset="0"/>
                <a:ea typeface="Arial" pitchFamily="34" charset="-122"/>
                <a:cs typeface="Arial" pitchFamily="34" charset="-120"/>
              </a:rPr>
              <a:t>Game reward</a:t>
            </a:r>
            <a:endParaRPr lang="en-US" sz="1500" dirty="0"/>
          </a:p>
        </p:txBody>
      </p:sp>
      <p:sp>
        <p:nvSpPr>
          <p:cNvPr id="7" name="Text 5"/>
          <p:cNvSpPr/>
          <p:nvPr/>
        </p:nvSpPr>
        <p:spPr>
          <a:xfrm>
            <a:off x="682600" y="3337560"/>
            <a:ext cx="3108960" cy="150876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Activate a pre-prepared game right as energy starts to dip, around the 10-minute mark. This gives attention a crisp refresh.</a:t>
            </a:r>
            <a:endParaRPr lang="en-US" sz="1200" dirty="0"/>
          </a:p>
        </p:txBody>
      </p:sp>
      <p:sp>
        <p:nvSpPr>
          <p:cNvPr id="8" name="Text 6"/>
          <p:cNvSpPr/>
          <p:nvPr/>
        </p:nvSpPr>
        <p:spPr>
          <a:xfrm>
            <a:off x="4029304" y="3502152"/>
            <a:ext cx="274320" cy="402336"/>
          </a:xfrm>
          <a:prstGeom prst="rect">
            <a:avLst/>
          </a:prstGeom>
          <a:noFill/>
          <a:ln/>
        </p:spPr>
        <p:txBody>
          <a:bodyPr wrap="square" lIns="0" tIns="0" rIns="0" bIns="0" rtlCol="0" anchor="ctr"/>
          <a:lstStyle/>
          <a:p>
            <a:pPr algn="ctr" indent="0" marL="0">
              <a:buNone/>
            </a:pPr>
            <a:r>
              <a:rPr lang="en-US" sz="1800" b="1" dirty="0">
                <a:solidFill>
                  <a:srgbClr val="FF9500"/>
                </a:solidFill>
              </a:rPr>
              <a:t>→</a:t>
            </a:r>
            <a:endParaRPr lang="en-US" sz="1800" dirty="0"/>
          </a:p>
        </p:txBody>
      </p:sp>
      <p:sp>
        <p:nvSpPr>
          <p:cNvPr id="9" name="Shape 7"/>
          <p:cNvSpPr/>
          <p:nvPr/>
        </p:nvSpPr>
        <p:spPr>
          <a:xfrm>
            <a:off x="4312768" y="2377440"/>
            <a:ext cx="3566160" cy="2651760"/>
          </a:xfrm>
          <a:prstGeom prst="roundRect">
            <a:avLst>
              <a:gd name="adj" fmla="val 344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10" name="Shape 8"/>
          <p:cNvSpPr/>
          <p:nvPr/>
        </p:nvSpPr>
        <p:spPr>
          <a:xfrm>
            <a:off x="4541368" y="2606040"/>
            <a:ext cx="502920" cy="502920"/>
          </a:xfrm>
          <a:prstGeom prst="ellipse">
            <a:avLst/>
          </a:prstGeom>
          <a:solidFill>
            <a:srgbClr val="FF9500"/>
          </a:solidFill>
          <a:ln/>
        </p:spPr>
        <p:txBody>
          <a:bodyPr/>
          <a:p/>
        </p:txBody>
      </p:sp>
      <p:sp>
        <p:nvSpPr>
          <p:cNvPr id="11" name="Text 9"/>
          <p:cNvSpPr/>
          <p:nvPr/>
        </p:nvSpPr>
        <p:spPr>
          <a:xfrm>
            <a:off x="4541368"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12" name="Text 10"/>
          <p:cNvSpPr/>
          <p:nvPr/>
        </p:nvSpPr>
        <p:spPr>
          <a:xfrm>
            <a:off x="5181448" y="2560320"/>
            <a:ext cx="2514600" cy="594360"/>
          </a:xfrm>
          <a:prstGeom prst="rect">
            <a:avLst/>
          </a:prstGeom>
          <a:noFill/>
          <a:ln/>
        </p:spPr>
        <p:txBody>
          <a:bodyPr wrap="square" lIns="0" tIns="0" rIns="0" bIns="0" rtlCol="0" anchor="ctr"/>
          <a:lstStyle/>
          <a:p>
            <a:pPr indent="0" marL="0">
              <a:buNone/>
            </a:pPr>
            <a:r>
              <a:rPr lang="en-US" sz="1500" b="1" dirty="0">
                <a:solidFill>
                  <a:srgbClr val="0B5FFF"/>
                </a:solidFill>
                <a:latin typeface="Arial" pitchFamily="34" charset="0"/>
                <a:ea typeface="Arial" pitchFamily="34" charset="-122"/>
                <a:cs typeface="Arial" pitchFamily="34" charset="-120"/>
              </a:rPr>
              <a:t>Instant reward</a:t>
            </a:r>
            <a:endParaRPr lang="en-US" sz="1500" dirty="0"/>
          </a:p>
        </p:txBody>
      </p:sp>
      <p:sp>
        <p:nvSpPr>
          <p:cNvPr id="13" name="Text 11"/>
          <p:cNvSpPr/>
          <p:nvPr/>
        </p:nvSpPr>
        <p:spPr>
          <a:xfrm>
            <a:off x="4541368" y="3337560"/>
            <a:ext cx="3108960" cy="150876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Say “Look, Mango is dancing for you!” with celebratory effects across the screen. This stamps 'I did well' clearly into memory.</a:t>
            </a:r>
            <a:endParaRPr lang="en-US" sz="1200" dirty="0"/>
          </a:p>
        </p:txBody>
      </p:sp>
      <p:sp>
        <p:nvSpPr>
          <p:cNvPr id="14" name="Text 12"/>
          <p:cNvSpPr/>
          <p:nvPr/>
        </p:nvSpPr>
        <p:spPr>
          <a:xfrm>
            <a:off x="7888072" y="3502152"/>
            <a:ext cx="274320" cy="402336"/>
          </a:xfrm>
          <a:prstGeom prst="rect">
            <a:avLst/>
          </a:prstGeom>
          <a:noFill/>
          <a:ln/>
        </p:spPr>
        <p:txBody>
          <a:bodyPr wrap="square" lIns="0" tIns="0" rIns="0" bIns="0" rtlCol="0" anchor="ctr"/>
          <a:lstStyle/>
          <a:p>
            <a:pPr algn="ctr" indent="0" marL="0">
              <a:buNone/>
            </a:pPr>
            <a:r>
              <a:rPr lang="en-US" sz="1800" b="1" dirty="0">
                <a:solidFill>
                  <a:srgbClr val="FF9500"/>
                </a:solidFill>
              </a:rPr>
              <a:t>→</a:t>
            </a:r>
            <a:endParaRPr lang="en-US" sz="1800" dirty="0"/>
          </a:p>
        </p:txBody>
      </p:sp>
      <p:sp>
        <p:nvSpPr>
          <p:cNvPr id="15" name="Shape 13"/>
          <p:cNvSpPr/>
          <p:nvPr/>
        </p:nvSpPr>
        <p:spPr>
          <a:xfrm>
            <a:off x="8171536" y="2377440"/>
            <a:ext cx="3566160" cy="2651760"/>
          </a:xfrm>
          <a:prstGeom prst="roundRect">
            <a:avLst>
              <a:gd name="adj" fmla="val 344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16" name="Shape 14"/>
          <p:cNvSpPr/>
          <p:nvPr/>
        </p:nvSpPr>
        <p:spPr>
          <a:xfrm>
            <a:off x="8400136" y="2606040"/>
            <a:ext cx="502920" cy="502920"/>
          </a:xfrm>
          <a:prstGeom prst="ellipse">
            <a:avLst/>
          </a:prstGeom>
          <a:solidFill>
            <a:srgbClr val="08296B"/>
          </a:solidFill>
          <a:ln/>
        </p:spPr>
        <p:txBody>
          <a:bodyPr/>
          <a:p/>
        </p:txBody>
      </p:sp>
      <p:sp>
        <p:nvSpPr>
          <p:cNvPr id="17" name="Text 15"/>
          <p:cNvSpPr/>
          <p:nvPr/>
        </p:nvSpPr>
        <p:spPr>
          <a:xfrm>
            <a:off x="8400136"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18" name="Text 16"/>
          <p:cNvSpPr/>
          <p:nvPr/>
        </p:nvSpPr>
        <p:spPr>
          <a:xfrm>
            <a:off x="9040216" y="2560320"/>
            <a:ext cx="2514600" cy="594360"/>
          </a:xfrm>
          <a:prstGeom prst="rect">
            <a:avLst/>
          </a:prstGeom>
          <a:noFill/>
          <a:ln/>
        </p:spPr>
        <p:txBody>
          <a:bodyPr wrap="square" lIns="0" tIns="0" rIns="0" bIns="0" rtlCol="0" anchor="ctr"/>
          <a:lstStyle/>
          <a:p>
            <a:pPr indent="0" marL="0">
              <a:buNone/>
            </a:pPr>
            <a:r>
              <a:rPr lang="en-US" sz="1500" b="1" dirty="0">
                <a:solidFill>
                  <a:srgbClr val="0B5FFF"/>
                </a:solidFill>
                <a:latin typeface="Arial" pitchFamily="34" charset="0"/>
                <a:ea typeface="Arial" pitchFamily="34" charset="-122"/>
                <a:cs typeface="Arial" pitchFamily="34" charset="-120"/>
              </a:rPr>
              <a:t>Data continuity</a:t>
            </a:r>
            <a:endParaRPr lang="en-US" sz="1500" dirty="0"/>
          </a:p>
        </p:txBody>
      </p:sp>
      <p:sp>
        <p:nvSpPr>
          <p:cNvPr id="19" name="Text 17"/>
          <p:cNvSpPr/>
          <p:nvPr/>
        </p:nvSpPr>
        <p:spPr>
          <a:xfrm>
            <a:off x="8400136" y="3337560"/>
            <a:ext cx="3108960" cy="150876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Immediately note today's tricky pronunciation or pattern — it becomes the fuel for next class's warm-up.</a:t>
            </a:r>
            <a:endParaRPr lang="en-US" sz="1200" dirty="0"/>
          </a:p>
        </p:txBody>
      </p:sp>
      <p:sp>
        <p:nvSpPr>
          <p:cNvPr id="3" name="Text 1"/>
          <p:cNvSpPr/>
          <p:nvPr/>
        </p:nvSpPr>
        <p:spPr>
          <a:xfrm>
            <a:off x="548640" y="301751"/>
            <a:ext cx="502920" cy="50292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15</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325880" y="320040"/>
            <a:ext cx="1028700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Appendix B. Teacher Self-Check Checklist</a:t>
            </a:r>
            <a:endParaRPr lang="en-US" sz="2600" dirty="0"/>
          </a:p>
        </p:txBody>
      </p:sp>
      <p:sp>
        <p:nvSpPr>
          <p:cNvPr id="3" name="Text 1"/>
          <p:cNvSpPr/>
          <p:nvPr/>
        </p:nvSpPr>
        <p:spPr>
          <a:xfrm>
            <a:off x="548640" y="896112"/>
            <a:ext cx="11064240" cy="457200"/>
          </a:xfrm>
          <a:prstGeom prst="rect">
            <a:avLst/>
          </a:prstGeom>
          <a:noFill/>
          <a:ln/>
        </p:spPr>
        <p:txBody>
          <a:bodyPr wrap="square" lIns="0" tIns="0" rIns="0" bIns="0" rtlCol="0" anchor="ctr"/>
          <a:lstStyle/>
          <a:p>
            <a:pPr indent="0" marL="0">
              <a:buNone/>
            </a:pPr>
            <a:r>
              <a:rPr lang="en-US" sz="1250" i="1" dirty="0">
                <a:solidFill>
                  <a:srgbClr val="6B7280"/>
                </a:solidFill>
                <a:latin typeface="Arial" pitchFamily="34" charset="0"/>
                <a:ea typeface="Arial" pitchFamily="34" charset="-122"/>
                <a:cs typeface="Arial" pitchFamily="34" charset="-120"/>
              </a:rPr>
              <a:t>Self-check aligned to the before/during/after flow of a class. Print it and keep it beside you.</a:t>
            </a:r>
            <a:endParaRPr lang="en-US" sz="1250" dirty="0"/>
          </a:p>
        </p:txBody>
      </p:sp>
      <p:sp>
        <p:nvSpPr>
          <p:cNvPr id="4" name="Shape 2"/>
          <p:cNvSpPr/>
          <p:nvPr/>
        </p:nvSpPr>
        <p:spPr>
          <a:xfrm>
            <a:off x="458572" y="1783080"/>
            <a:ext cx="3611880" cy="4709160"/>
          </a:xfrm>
          <a:prstGeom prst="roundRect">
            <a:avLst>
              <a:gd name="adj" fmla="val 303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5" name="Shape 3"/>
          <p:cNvSpPr/>
          <p:nvPr/>
        </p:nvSpPr>
        <p:spPr>
          <a:xfrm>
            <a:off x="458572" y="1783080"/>
            <a:ext cx="3611880" cy="502920"/>
          </a:xfrm>
          <a:prstGeom prst="roundRect">
            <a:avLst>
              <a:gd name="adj" fmla="val 21818"/>
            </a:avLst>
          </a:prstGeom>
          <a:solidFill>
            <a:srgbClr val="00B8D9"/>
          </a:solidFill>
          <a:ln/>
        </p:spPr>
        <p:txBody>
          <a:bodyPr/>
          <a:p/>
        </p:txBody>
      </p:sp>
      <p:sp>
        <p:nvSpPr>
          <p:cNvPr id="6" name="Shape 4"/>
          <p:cNvSpPr/>
          <p:nvPr/>
        </p:nvSpPr>
        <p:spPr>
          <a:xfrm>
            <a:off x="458572" y="2039112"/>
            <a:ext cx="3611880" cy="246888"/>
          </a:xfrm>
          <a:prstGeom prst="rect">
            <a:avLst/>
          </a:prstGeom>
          <a:solidFill>
            <a:srgbClr val="00B8D9"/>
          </a:solidFill>
          <a:ln/>
        </p:spPr>
        <p:txBody>
          <a:bodyPr/>
          <a:p/>
        </p:txBody>
      </p:sp>
      <p:sp>
        <p:nvSpPr>
          <p:cNvPr id="7" name="Text 5"/>
          <p:cNvSpPr/>
          <p:nvPr/>
        </p:nvSpPr>
        <p:spPr>
          <a:xfrm>
            <a:off x="458572" y="1783080"/>
            <a:ext cx="361188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Before</a:t>
            </a:r>
            <a:endParaRPr lang="en-US" sz="1400" dirty="0"/>
          </a:p>
        </p:txBody>
      </p:sp>
      <p:sp>
        <p:nvSpPr>
          <p:cNvPr id="8" name="Text 6"/>
          <p:cNvSpPr/>
          <p:nvPr/>
        </p:nvSpPr>
        <p:spPr>
          <a:xfrm>
            <a:off x="659740" y="2423160"/>
            <a:ext cx="3209544" cy="3886200"/>
          </a:xfrm>
          <a:prstGeom prst="rect">
            <a:avLst/>
          </a:prstGeom>
          <a:noFill/>
          <a:ln/>
        </p:spPr>
        <p:txBody>
          <a:bodyPr wrap="square" rtlCol="0" anchor="t"/>
          <a:lstStyle/>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Name, errors, hobbies</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Use as material for the opening conversation</a:t>
            </a:r>
            <a:endParaRPr lang="en-US" sz="1050" dirty="0"/>
          </a:p>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Set micro-goal</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One light mission like 'get 3 words right'</a:t>
            </a:r>
            <a:endParaRPr lang="en-US" sz="1050" dirty="0"/>
          </a:p>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Camera &amp; lighting</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Check like a mirror that your face is bright</a:t>
            </a:r>
            <a:endParaRPr lang="en-US" sz="1050" dirty="0"/>
          </a:p>
        </p:txBody>
      </p:sp>
      <p:sp>
        <p:nvSpPr>
          <p:cNvPr id="9" name="Shape 7"/>
          <p:cNvSpPr/>
          <p:nvPr/>
        </p:nvSpPr>
        <p:spPr>
          <a:xfrm>
            <a:off x="4289908" y="1783080"/>
            <a:ext cx="3611880" cy="4709160"/>
          </a:xfrm>
          <a:prstGeom prst="roundRect">
            <a:avLst>
              <a:gd name="adj" fmla="val 303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10" name="Shape 8"/>
          <p:cNvSpPr/>
          <p:nvPr/>
        </p:nvSpPr>
        <p:spPr>
          <a:xfrm>
            <a:off x="4289908" y="1783080"/>
            <a:ext cx="3611880" cy="502920"/>
          </a:xfrm>
          <a:prstGeom prst="roundRect">
            <a:avLst>
              <a:gd name="adj" fmla="val 21818"/>
            </a:avLst>
          </a:prstGeom>
          <a:solidFill>
            <a:srgbClr val="0B5FFF"/>
          </a:solidFill>
          <a:ln/>
        </p:spPr>
        <p:txBody>
          <a:bodyPr/>
          <a:p/>
        </p:txBody>
      </p:sp>
      <p:sp>
        <p:nvSpPr>
          <p:cNvPr id="11" name="Shape 9"/>
          <p:cNvSpPr/>
          <p:nvPr/>
        </p:nvSpPr>
        <p:spPr>
          <a:xfrm>
            <a:off x="4289908" y="2039112"/>
            <a:ext cx="3611880" cy="246888"/>
          </a:xfrm>
          <a:prstGeom prst="rect">
            <a:avLst/>
          </a:prstGeom>
          <a:solidFill>
            <a:srgbClr val="0B5FFF"/>
          </a:solidFill>
          <a:ln/>
        </p:spPr>
        <p:txBody>
          <a:bodyPr/>
          <a:p/>
        </p:txBody>
      </p:sp>
      <p:sp>
        <p:nvSpPr>
          <p:cNvPr id="12" name="Text 10"/>
          <p:cNvSpPr/>
          <p:nvPr/>
        </p:nvSpPr>
        <p:spPr>
          <a:xfrm>
            <a:off x="4289908" y="1783080"/>
            <a:ext cx="361188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During</a:t>
            </a:r>
            <a:endParaRPr lang="en-US" sz="1400" dirty="0"/>
          </a:p>
        </p:txBody>
      </p:sp>
      <p:sp>
        <p:nvSpPr>
          <p:cNvPr id="13" name="Text 11"/>
          <p:cNvSpPr/>
          <p:nvPr/>
        </p:nvSpPr>
        <p:spPr>
          <a:xfrm>
            <a:off x="4491076" y="2423160"/>
            <a:ext cx="3209544" cy="3886200"/>
          </a:xfrm>
          <a:prstGeom prst="rect">
            <a:avLst/>
          </a:prstGeom>
          <a:noFill/>
          <a:ln/>
        </p:spPr>
        <p:txBody>
          <a:bodyPr wrap="square" rtlCol="0" anchor="t"/>
          <a:lstStyle/>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Laugh within 30s</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Bold gestures + a warm call of their name</a:t>
            </a:r>
            <a:endParaRPr lang="en-US" sz="1050" dirty="0"/>
          </a:p>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60%+ student talk</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Compress explanation, hand over the floor</a:t>
            </a:r>
            <a:endParaRPr lang="en-US" sz="1050" dirty="0"/>
          </a:p>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Wait 3 seconds</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Trust the thinking silence, don't rush it</a:t>
            </a:r>
            <a:endParaRPr lang="en-US" sz="1050" dirty="0"/>
          </a:p>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Switch every 5-7 min</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Move to the next game before fatigue hits</a:t>
            </a:r>
            <a:endParaRPr lang="en-US" sz="1050" dirty="0"/>
          </a:p>
        </p:txBody>
      </p:sp>
      <p:sp>
        <p:nvSpPr>
          <p:cNvPr id="14" name="Shape 12"/>
          <p:cNvSpPr/>
          <p:nvPr/>
        </p:nvSpPr>
        <p:spPr>
          <a:xfrm>
            <a:off x="8121244" y="1783080"/>
            <a:ext cx="3611880" cy="4709160"/>
          </a:xfrm>
          <a:prstGeom prst="roundRect">
            <a:avLst>
              <a:gd name="adj" fmla="val 303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txBody>
          <a:bodyPr/>
          <a:p/>
        </p:txBody>
      </p:sp>
      <p:sp>
        <p:nvSpPr>
          <p:cNvPr id="15" name="Shape 13"/>
          <p:cNvSpPr/>
          <p:nvPr/>
        </p:nvSpPr>
        <p:spPr>
          <a:xfrm>
            <a:off x="8121244" y="1783080"/>
            <a:ext cx="3611880" cy="502920"/>
          </a:xfrm>
          <a:prstGeom prst="roundRect">
            <a:avLst>
              <a:gd name="adj" fmla="val 21818"/>
            </a:avLst>
          </a:prstGeom>
          <a:solidFill>
            <a:srgbClr val="00B85C"/>
          </a:solidFill>
          <a:ln/>
        </p:spPr>
        <p:txBody>
          <a:bodyPr/>
          <a:p/>
        </p:txBody>
      </p:sp>
      <p:sp>
        <p:nvSpPr>
          <p:cNvPr id="16" name="Shape 14"/>
          <p:cNvSpPr/>
          <p:nvPr/>
        </p:nvSpPr>
        <p:spPr>
          <a:xfrm>
            <a:off x="8121244" y="2039112"/>
            <a:ext cx="3611880" cy="246888"/>
          </a:xfrm>
          <a:prstGeom prst="rect">
            <a:avLst/>
          </a:prstGeom>
          <a:solidFill>
            <a:srgbClr val="00B85C"/>
          </a:solidFill>
          <a:ln/>
        </p:spPr>
        <p:txBody>
          <a:bodyPr/>
          <a:p/>
        </p:txBody>
      </p:sp>
      <p:sp>
        <p:nvSpPr>
          <p:cNvPr id="17" name="Text 15"/>
          <p:cNvSpPr/>
          <p:nvPr/>
        </p:nvSpPr>
        <p:spPr>
          <a:xfrm>
            <a:off x="8121244" y="1783080"/>
            <a:ext cx="361188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After</a:t>
            </a:r>
            <a:endParaRPr lang="en-US" sz="1400" dirty="0"/>
          </a:p>
        </p:txBody>
      </p:sp>
      <p:sp>
        <p:nvSpPr>
          <p:cNvPr id="18" name="Text 16"/>
          <p:cNvSpPr/>
          <p:nvPr/>
        </p:nvSpPr>
        <p:spPr>
          <a:xfrm>
            <a:off x="8322412" y="2423160"/>
            <a:ext cx="3209544" cy="3886200"/>
          </a:xfrm>
          <a:prstGeom prst="rect">
            <a:avLst/>
          </a:prstGeom>
          <a:noFill/>
          <a:ln/>
        </p:spPr>
        <p:txBody>
          <a:bodyPr wrap="square" rtlCol="0" anchor="t"/>
          <a:lstStyle/>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Log scores instantly</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Record mistakes/weak sounds while fresh</a:t>
            </a:r>
            <a:endParaRPr lang="en-US" sz="1050" dirty="0"/>
          </a:p>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Note next class idea</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Leave a hint made just for this child</a:t>
            </a:r>
            <a:endParaRPr lang="en-US" sz="1050" dirty="0"/>
          </a:p>
        </p:txBody>
      </p:sp>
      <p:sp>
        <p:nvSpPr>
          <p:cNvPr id="3" name="Text 1"/>
          <p:cNvSpPr/>
          <p:nvPr/>
        </p:nvSpPr>
        <p:spPr>
          <a:xfrm>
            <a:off x="548640" y="301751"/>
            <a:ext cx="502920" cy="50292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16</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325880" y="320040"/>
            <a:ext cx="1028700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Appendix C. Teacher Evaluation Rubric</a:t>
            </a:r>
            <a:endParaRPr lang="en-US" sz="2600" dirty="0"/>
          </a:p>
        </p:txBody>
      </p:sp>
      <p:sp>
        <p:nvSpPr>
          <p:cNvPr id="3" name="Text 1"/>
          <p:cNvSpPr/>
          <p:nvPr/>
        </p:nvSpPr>
        <p:spPr>
          <a:xfrm>
            <a:off x="548640" y="896112"/>
            <a:ext cx="11064240" cy="457200"/>
          </a:xfrm>
          <a:prstGeom prst="rect">
            <a:avLst/>
          </a:prstGeom>
          <a:noFill/>
          <a:ln/>
        </p:spPr>
        <p:txBody>
          <a:bodyPr wrap="square" lIns="0" tIns="0" rIns="0" bIns="0" rtlCol="0" anchor="ctr"/>
          <a:lstStyle/>
          <a:p>
            <a:pPr indent="0" marL="0">
              <a:buNone/>
            </a:pPr>
            <a:r>
              <a:rPr lang="en-US" sz="1250" i="1" dirty="0">
                <a:solidFill>
                  <a:srgbClr val="6B7280"/>
                </a:solidFill>
                <a:latin typeface="Arial" pitchFamily="34" charset="0"/>
                <a:ea typeface="Arial" pitchFamily="34" charset="-122"/>
                <a:cs typeface="Arial" pitchFamily="34" charset="-120"/>
              </a:rPr>
              <a:t>Score 1-3 per item and sum. The lowest-scoring item is the next coaching priority.</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11247120" cy="4480560"/>
        </p:xfrm>
        <a:graphic>
          <a:graphicData uri="http://schemas.openxmlformats.org/drawingml/2006/table">
            <a:tbl>
              <a:tblPr/>
              <a:tblGrid>
                <a:gridCol w="2286000"/>
                <a:gridCol w="8046720"/>
                <a:gridCol w="914400"/>
              </a:tblGrid>
              <a:tr h="640080">
                <a:tc>
                  <a:txBody>
                    <a:bodyPr/>
                    <a:lstStyle/>
                    <a:p>
                      <a:pPr indent="0" marL="0">
                        <a:buNone/>
                      </a:pPr>
                      <a:r>
                        <a:rPr lang="en-US" sz="1150" b="1" dirty="0">
                          <a:solidFill>
                            <a:srgbClr val="FFFFFF"/>
                          </a:solidFill>
                          <a:latin typeface="Arial" pitchFamily="34" charset="0"/>
                          <a:ea typeface="Arial" pitchFamily="34" charset="-122"/>
                          <a:cs typeface="Arial" pitchFamily="34" charset="-120"/>
                        </a:rPr>
                        <a:t>Criterion</a:t>
                      </a:r>
                      <a:endParaRPr lang="en-US" sz="11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0B5FFF"/>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to Check for This Item</a:t>
                      </a:r>
                      <a:endParaRPr lang="en-US" sz="11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0B5FF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Score</a:t>
                      </a:r>
                      <a:endParaRPr lang="en-US" sz="11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00B85C"/>
                    </a:solidFill>
                  </a:tcPr>
                </a:tc>
              </a:tr>
              <a:tr h="640080">
                <a:tc>
                  <a:txBody>
                    <a:bodyPr/>
                    <a:lstStyle/>
                    <a:p>
                      <a:pPr indent="0" marL="0">
                        <a:buNone/>
                      </a:pPr>
                      <a:r>
                        <a:rPr lang="en-US" sz="1000" b="1" dirty="0">
                          <a:solidFill>
                            <a:srgbClr val="262626"/>
                          </a:solidFill>
                          <a:latin typeface="Arial" pitchFamily="34" charset="0"/>
                          <a:ea typeface="Arial" pitchFamily="34" charset="-122"/>
                          <a:cs typeface="Arial" pitchFamily="34" charset="-120"/>
                        </a:rPr>
                        <a:t>1. Energy &amp; Expression</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Do exaggerated smiles and rich reactions clearly reach through the screen, making the child naturally feel the fun?</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280"/>
                          </a:solidFill>
                          <a:latin typeface="Arial" pitchFamily="34" charset="0"/>
                          <a:ea typeface="Arial" pitchFamily="34" charset="-122"/>
                          <a:cs typeface="Arial" pitchFamily="34" charset="-120"/>
                        </a:rPr>
                        <a:t>___</a:t>
                      </a:r>
                      <a:endParaRPr lang="en-US" sz="10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640080">
                <a:tc>
                  <a:txBody>
                    <a:bodyPr/>
                    <a:lstStyle/>
                    <a:p>
                      <a:pPr indent="0" marL="0">
                        <a:buNone/>
                      </a:pPr>
                      <a:r>
                        <a:rPr lang="en-US" sz="1000" b="1" dirty="0">
                          <a:solidFill>
                            <a:srgbClr val="262626"/>
                          </a:solidFill>
                          <a:latin typeface="Arial" pitchFamily="34" charset="0"/>
                          <a:ea typeface="Arial" pitchFamily="34" charset="-122"/>
                          <a:cs typeface="Arial" pitchFamily="34" charset="-120"/>
                        </a:rPr>
                        <a:t>2. Driving Student Talk</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Is teacher intervention minimized so the child gets 60% or more of the class as talk time?</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algn="ctr" indent="0" marL="0">
                        <a:buNone/>
                      </a:pPr>
                      <a:r>
                        <a:rPr lang="en-US" sz="1050" dirty="0">
                          <a:solidFill>
                            <a:srgbClr val="6B7280"/>
                          </a:solidFill>
                          <a:latin typeface="Arial" pitchFamily="34" charset="0"/>
                          <a:ea typeface="Arial" pitchFamily="34" charset="-122"/>
                          <a:cs typeface="Arial" pitchFamily="34" charset="-120"/>
                        </a:rPr>
                        <a:t>___</a:t>
                      </a:r>
                      <a:endParaRPr lang="en-US" sz="10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r>
              <a:tr h="640080">
                <a:tc>
                  <a:txBody>
                    <a:bodyPr/>
                    <a:lstStyle/>
                    <a:p>
                      <a:pPr indent="0" marL="0">
                        <a:buNone/>
                      </a:pPr>
                      <a:r>
                        <a:rPr lang="en-US" sz="1000" b="1" dirty="0">
                          <a:solidFill>
                            <a:srgbClr val="262626"/>
                          </a:solidFill>
                          <a:latin typeface="Arial" pitchFamily="34" charset="0"/>
                          <a:ea typeface="Arial" pitchFamily="34" charset="-122"/>
                          <a:cs typeface="Arial" pitchFamily="34" charset="-120"/>
                        </a:rPr>
                        <a:t>3. Visible Achievement</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Are tools like stars, badges, and mascot reactions actively used so the child clearly feels achievement?</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280"/>
                          </a:solidFill>
                          <a:latin typeface="Arial" pitchFamily="34" charset="0"/>
                          <a:ea typeface="Arial" pitchFamily="34" charset="-122"/>
                          <a:cs typeface="Arial" pitchFamily="34" charset="-120"/>
                        </a:rPr>
                        <a:t>___</a:t>
                      </a:r>
                      <a:endParaRPr lang="en-US" sz="10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640080">
                <a:tc>
                  <a:txBody>
                    <a:bodyPr/>
                    <a:lstStyle/>
                    <a:p>
                      <a:pPr indent="0" marL="0">
                        <a:buNone/>
                      </a:pPr>
                      <a:r>
                        <a:rPr lang="en-US" sz="1000" b="1" dirty="0">
                          <a:solidFill>
                            <a:srgbClr val="262626"/>
                          </a:solidFill>
                          <a:latin typeface="Arial" pitchFamily="34" charset="0"/>
                          <a:ea typeface="Arial" pitchFamily="34" charset="-122"/>
                          <a:cs typeface="Arial" pitchFamily="34" charset="-120"/>
                        </a:rPr>
                        <a:t>4. Personalization</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Are the child's name, interests, and past-session records woven in naturally so it feels like 'their own class'?</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algn="ctr" indent="0" marL="0">
                        <a:buNone/>
                      </a:pPr>
                      <a:r>
                        <a:rPr lang="en-US" sz="1050" dirty="0">
                          <a:solidFill>
                            <a:srgbClr val="6B7280"/>
                          </a:solidFill>
                          <a:latin typeface="Arial" pitchFamily="34" charset="0"/>
                          <a:ea typeface="Arial" pitchFamily="34" charset="-122"/>
                          <a:cs typeface="Arial" pitchFamily="34" charset="-120"/>
                        </a:rPr>
                        <a:t>___</a:t>
                      </a:r>
                      <a:endParaRPr lang="en-US" sz="10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r>
              <a:tr h="640080">
                <a:tc>
                  <a:txBody>
                    <a:bodyPr/>
                    <a:lstStyle/>
                    <a:p>
                      <a:pPr indent="0" marL="0">
                        <a:buNone/>
                      </a:pPr>
                      <a:r>
                        <a:rPr lang="en-US" sz="1000" b="1" dirty="0">
                          <a:solidFill>
                            <a:srgbClr val="262626"/>
                          </a:solidFill>
                          <a:latin typeface="Arial" pitchFamily="34" charset="0"/>
                          <a:ea typeface="Arial" pitchFamily="34" charset="-122"/>
                          <a:cs typeface="Arial" pitchFamily="34" charset="-120"/>
                        </a:rPr>
                        <a:t>5. Rhythm &amp; Transitions</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Are activities switched rhythmically every 5-7 minutes so the child's focus never has a chance to drift?</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280"/>
                          </a:solidFill>
                          <a:latin typeface="Arial" pitchFamily="34" charset="0"/>
                          <a:ea typeface="Arial" pitchFamily="34" charset="-122"/>
                          <a:cs typeface="Arial" pitchFamily="34" charset="-120"/>
                        </a:rPr>
                        <a:t>___</a:t>
                      </a:r>
                      <a:endParaRPr lang="en-US" sz="10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640080">
                <a:tc>
                  <a:txBody>
                    <a:bodyPr/>
                    <a:lstStyle/>
                    <a:p>
                      <a:pPr indent="0" marL="0">
                        <a:buNone/>
                      </a:pPr>
                      <a:r>
                        <a:rPr lang="en-US" sz="1000" b="1" dirty="0">
                          <a:solidFill>
                            <a:srgbClr val="262626"/>
                          </a:solidFill>
                          <a:latin typeface="Arial" pitchFamily="34" charset="0"/>
                          <a:ea typeface="Arial" pitchFamily="34" charset="-122"/>
                          <a:cs typeface="Arial" pitchFamily="34" charset="-120"/>
                        </a:rPr>
                        <a:t>6. Platform Mastery</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Are the game tab, effect sounds, and integrated games handled smoothly, with no lag or fumbling?</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algn="ctr" indent="0" marL="0">
                        <a:buNone/>
                      </a:pPr>
                      <a:r>
                        <a:rPr lang="en-US" sz="1050" dirty="0">
                          <a:solidFill>
                            <a:srgbClr val="6B7280"/>
                          </a:solidFill>
                          <a:latin typeface="Arial" pitchFamily="34" charset="0"/>
                          <a:ea typeface="Arial" pitchFamily="34" charset="-122"/>
                          <a:cs typeface="Arial" pitchFamily="34" charset="-120"/>
                        </a:rPr>
                        <a:t>___</a:t>
                      </a:r>
                      <a:endParaRPr lang="en-US" sz="10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r>
            </a:tbl>
          </a:graphicData>
        </a:graphic>
      </p:graphicFrame>
      <p:sp>
        <p:nvSpPr>
          <p:cNvPr id="3" name="Text 1"/>
          <p:cNvSpPr/>
          <p:nvPr/>
        </p:nvSpPr>
        <p:spPr>
          <a:xfrm>
            <a:off x="548640" y="301751"/>
            <a:ext cx="502920" cy="50292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17</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325880" y="320040"/>
            <a:ext cx="1028700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Coaching Priority Guide by Total Score</a:t>
            </a:r>
            <a:endParaRPr lang="en-US" sz="2600" dirty="0"/>
          </a:p>
        </p:txBody>
      </p:sp>
      <p:sp>
        <p:nvSpPr>
          <p:cNvPr id="3" name="Shape 1"/>
          <p:cNvSpPr/>
          <p:nvPr/>
        </p:nvSpPr>
        <p:spPr>
          <a:xfrm>
            <a:off x="640080" y="1691640"/>
            <a:ext cx="10881360" cy="1417320"/>
          </a:xfrm>
          <a:prstGeom prst="roundRect">
            <a:avLst>
              <a:gd name="adj" fmla="val 6452"/>
            </a:avLst>
          </a:prstGeom>
          <a:solidFill>
            <a:srgbClr val="FFFFFF"/>
          </a:solidFill>
          <a:ln w="19050">
            <a:solidFill>
              <a:srgbClr val="00B85C"/>
            </a:solidFill>
            <a:prstDash val="solid"/>
          </a:ln>
        </p:spPr>
        <p:txBody>
          <a:bodyPr/>
          <a:p/>
        </p:txBody>
      </p:sp>
      <p:sp>
        <p:nvSpPr>
          <p:cNvPr id="4" name="Shape 2"/>
          <p:cNvSpPr/>
          <p:nvPr/>
        </p:nvSpPr>
        <p:spPr>
          <a:xfrm>
            <a:off x="868680" y="1892808"/>
            <a:ext cx="2468880" cy="457200"/>
          </a:xfrm>
          <a:prstGeom prst="roundRect">
            <a:avLst>
              <a:gd name="adj" fmla="val 16000"/>
            </a:avLst>
          </a:prstGeom>
          <a:solidFill>
            <a:srgbClr val="00B85C"/>
          </a:solidFill>
          <a:ln/>
        </p:spPr>
        <p:txBody>
          <a:bodyPr/>
          <a:p/>
        </p:txBody>
      </p:sp>
      <p:sp>
        <p:nvSpPr>
          <p:cNvPr id="5" name="Text 3"/>
          <p:cNvSpPr/>
          <p:nvPr/>
        </p:nvSpPr>
        <p:spPr>
          <a:xfrm>
            <a:off x="868680" y="1892808"/>
            <a:ext cx="246888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15-18 pts (Excellent)</a:t>
            </a:r>
            <a:endParaRPr lang="en-US" sz="1400" dirty="0"/>
          </a:p>
        </p:txBody>
      </p:sp>
      <p:sp>
        <p:nvSpPr>
          <p:cNvPr id="6" name="Text 4"/>
          <p:cNvSpPr/>
          <p:nvPr/>
        </p:nvSpPr>
        <p:spPr>
          <a:xfrm>
            <a:off x="3566160" y="1828800"/>
            <a:ext cx="7772400" cy="114300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Consistently excellent across every area. Worth recommending as a mentor for new teachers or a best-practice clip provider.</a:t>
            </a:r>
            <a:endParaRPr lang="en-US" sz="1250" dirty="0"/>
          </a:p>
        </p:txBody>
      </p:sp>
      <p:sp>
        <p:nvSpPr>
          <p:cNvPr id="7" name="Shape 5"/>
          <p:cNvSpPr/>
          <p:nvPr/>
        </p:nvSpPr>
        <p:spPr>
          <a:xfrm>
            <a:off x="640080" y="3337560"/>
            <a:ext cx="10881360" cy="1417320"/>
          </a:xfrm>
          <a:prstGeom prst="roundRect">
            <a:avLst>
              <a:gd name="adj" fmla="val 6452"/>
            </a:avLst>
          </a:prstGeom>
          <a:solidFill>
            <a:srgbClr val="FFFFFF"/>
          </a:solidFill>
          <a:ln w="19050">
            <a:solidFill>
              <a:srgbClr val="FF9500"/>
            </a:solidFill>
            <a:prstDash val="solid"/>
          </a:ln>
        </p:spPr>
        <p:txBody>
          <a:bodyPr/>
          <a:p/>
        </p:txBody>
      </p:sp>
      <p:sp>
        <p:nvSpPr>
          <p:cNvPr id="8" name="Shape 6"/>
          <p:cNvSpPr/>
          <p:nvPr/>
        </p:nvSpPr>
        <p:spPr>
          <a:xfrm>
            <a:off x="868680" y="3538728"/>
            <a:ext cx="2468880" cy="457200"/>
          </a:xfrm>
          <a:prstGeom prst="roundRect">
            <a:avLst>
              <a:gd name="adj" fmla="val 16000"/>
            </a:avLst>
          </a:prstGeom>
          <a:solidFill>
            <a:srgbClr val="FF9500"/>
          </a:solidFill>
          <a:ln/>
        </p:spPr>
        <p:txBody>
          <a:bodyPr/>
          <a:p/>
        </p:txBody>
      </p:sp>
      <p:sp>
        <p:nvSpPr>
          <p:cNvPr id="9" name="Text 7"/>
          <p:cNvSpPr/>
          <p:nvPr/>
        </p:nvSpPr>
        <p:spPr>
          <a:xfrm>
            <a:off x="868680" y="3538728"/>
            <a:ext cx="246888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10-14 pts (Reliable Quality)</a:t>
            </a:r>
            <a:endParaRPr lang="en-US" sz="1400" dirty="0"/>
          </a:p>
        </p:txBody>
      </p:sp>
      <p:sp>
        <p:nvSpPr>
          <p:cNvPr id="10" name="Text 8"/>
          <p:cNvSpPr/>
          <p:nvPr/>
        </p:nvSpPr>
        <p:spPr>
          <a:xfrm>
            <a:off x="3566160" y="3474720"/>
            <a:ext cx="7772400" cy="114300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Generally reliable, but growth accelerates a lot with focused coaching on the 1-2 items that scored lowest.</a:t>
            </a:r>
            <a:endParaRPr lang="en-US" sz="1250" dirty="0"/>
          </a:p>
        </p:txBody>
      </p:sp>
      <p:sp>
        <p:nvSpPr>
          <p:cNvPr id="11" name="Shape 9"/>
          <p:cNvSpPr/>
          <p:nvPr/>
        </p:nvSpPr>
        <p:spPr>
          <a:xfrm>
            <a:off x="640080" y="4983480"/>
            <a:ext cx="10881360" cy="1417320"/>
          </a:xfrm>
          <a:prstGeom prst="roundRect">
            <a:avLst>
              <a:gd name="adj" fmla="val 6452"/>
            </a:avLst>
          </a:prstGeom>
          <a:solidFill>
            <a:srgbClr val="FFFFFF"/>
          </a:solidFill>
          <a:ln w="19050">
            <a:solidFill>
              <a:srgbClr val="F03E3E"/>
            </a:solidFill>
            <a:prstDash val="solid"/>
          </a:ln>
        </p:spPr>
        <p:txBody>
          <a:bodyPr/>
          <a:p/>
        </p:txBody>
      </p:sp>
      <p:sp>
        <p:nvSpPr>
          <p:cNvPr id="12" name="Shape 10"/>
          <p:cNvSpPr/>
          <p:nvPr/>
        </p:nvSpPr>
        <p:spPr>
          <a:xfrm>
            <a:off x="868680" y="5184648"/>
            <a:ext cx="2468880" cy="457200"/>
          </a:xfrm>
          <a:prstGeom prst="roundRect">
            <a:avLst>
              <a:gd name="adj" fmla="val 16000"/>
            </a:avLst>
          </a:prstGeom>
          <a:solidFill>
            <a:srgbClr val="F03E3E"/>
          </a:solidFill>
          <a:ln/>
        </p:spPr>
        <p:txBody>
          <a:bodyPr/>
          <a:p/>
        </p:txBody>
      </p:sp>
      <p:sp>
        <p:nvSpPr>
          <p:cNvPr id="13" name="Text 11"/>
          <p:cNvSpPr/>
          <p:nvPr/>
        </p:nvSpPr>
        <p:spPr>
          <a:xfrm>
            <a:off x="868680" y="5184648"/>
            <a:ext cx="246888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Under 9 pts (Needs Coaching)</a:t>
            </a:r>
            <a:endParaRPr lang="en-US" sz="1400" dirty="0"/>
          </a:p>
        </p:txBody>
      </p:sp>
      <p:sp>
        <p:nvSpPr>
          <p:cNvPr id="14" name="Text 12"/>
          <p:cNvSpPr/>
          <p:nvPr/>
        </p:nvSpPr>
        <p:spPr>
          <a:xfrm>
            <a:off x="3566160" y="5120640"/>
            <a:ext cx="7772400" cy="114300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Improvement is urgently needed across multiple areas. A 1-on-1 mock-class feedback session is strongly recommended.</a:t>
            </a:r>
            <a:endParaRPr lang="en-US" sz="1250" dirty="0"/>
          </a:p>
        </p:txBody>
      </p:sp>
      <p:sp>
        <p:nvSpPr>
          <p:cNvPr id="3" name="Text 1"/>
          <p:cNvSpPr/>
          <p:nvPr/>
        </p:nvSpPr>
        <p:spPr>
          <a:xfrm>
            <a:off x="548640" y="301751"/>
            <a:ext cx="502920" cy="50292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18</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8296B"/>
        </a:solidFill>
      </p:bgPr>
    </p:bg>
    <p:spTree>
      <p:nvGrpSpPr>
        <p:cNvPr id="1" name=""/>
        <p:cNvGrpSpPr/>
        <p:nvPr/>
      </p:nvGrpSpPr>
      <p:grpSpPr>
        <a:xfrm>
          <a:off x="0" y="0"/>
          <a:ext cx="0" cy="0"/>
          <a:chOff x="0" y="0"/>
          <a:chExt cx="0" cy="0"/>
        </a:xfrm>
      </p:grpSpPr>
      <p:sp>
        <p:nvSpPr>
          <p:cNvPr id="2" name="Shape 0"/>
          <p:cNvSpPr/>
          <p:nvPr/>
        </p:nvSpPr>
        <p:spPr>
          <a:xfrm>
            <a:off x="-1463040" y="-1645920"/>
            <a:ext cx="4114800" cy="4114800"/>
          </a:xfrm>
          <a:prstGeom prst="ellipse">
            <a:avLst/>
          </a:prstGeom>
          <a:solidFill>
            <a:srgbClr val="FF9500"/>
          </a:solidFill>
          <a:ln/>
        </p:spPr>
        <p:txBody>
          <a:bodyPr/>
          <a:p/>
        </p:txBody>
      </p:sp>
      <p:sp>
        <p:nvSpPr>
          <p:cNvPr id="3" name="Shape 1"/>
          <p:cNvSpPr/>
          <p:nvPr/>
        </p:nvSpPr>
        <p:spPr>
          <a:xfrm>
            <a:off x="10424160" y="4206240"/>
            <a:ext cx="3291840" cy="3291840"/>
          </a:xfrm>
          <a:prstGeom prst="ellipse">
            <a:avLst/>
          </a:prstGeom>
          <a:solidFill>
            <a:srgbClr val="FF9500"/>
          </a:solidFill>
          <a:ln/>
        </p:spPr>
        <p:txBody>
          <a:bodyPr/>
          <a:p/>
        </p:txBody>
      </p:sp>
      <p:pic>
        <p:nvPicPr>
          <p:cNvPr id="4" name="Image 0" descr="C:/Users/Admin/AppData/Local/Temp/claude/C--Users-Admin-Desktop-mangoi-develop2-main/51a19268-9c4f-476f-8b14-ce923f54a918/scratchpad/img/mascot.png">    </p:cNvPr>
          <p:cNvPicPr>
            <a:picLocks noChangeAspect="1"/>
          </p:cNvPicPr>
          <p:nvPr/>
        </p:nvPicPr>
        <p:blipFill>
          <a:blip r:embed="rId1"/>
          <a:stretch>
            <a:fillRect/>
          </a:stretch>
        </p:blipFill>
        <p:spPr>
          <a:xfrm>
            <a:off x="320040" y="182880"/>
            <a:ext cx="1417320" cy="1157811"/>
          </a:xfrm>
          <a:prstGeom prst="rect">
            <a:avLst/>
          </a:prstGeom>
        </p:spPr>
      </p:pic>
      <p:sp>
        <p:nvSpPr>
          <p:cNvPr id="5" name="Text 2"/>
          <p:cNvSpPr/>
          <p:nvPr/>
        </p:nvSpPr>
        <p:spPr>
          <a:xfrm>
            <a:off x="1508760" y="457200"/>
            <a:ext cx="9921240" cy="640080"/>
          </a:xfrm>
          <a:prstGeom prst="rect">
            <a:avLst/>
          </a:prstGeom>
          <a:noFill/>
          <a:ln/>
        </p:spPr>
        <p:txBody>
          <a:bodyPr wrap="square" lIns="0" tIns="0" rIns="0" bIns="0" rtlCol="0" anchor="ctr"/>
          <a:lstStyle/>
          <a:p>
            <a:pPr algn="ctr" indent="0" marL="0">
              <a:buNone/>
            </a:pPr>
            <a:r>
              <a:rPr lang="en-US" sz="2600" b="1" dirty="0">
                <a:solidFill>
                  <a:srgbClr val="FF9500"/>
                </a:solidFill>
                <a:latin typeface="Arial" pitchFamily="34" charset="0"/>
                <a:ea typeface="Arial" pitchFamily="34" charset="-122"/>
                <a:cs typeface="Arial" pitchFamily="34" charset="-120"/>
              </a:rPr>
              <a:t>04. Teacher Certification</a:t>
            </a:r>
            <a:endParaRPr lang="en-US" sz="2600" dirty="0"/>
          </a:p>
        </p:txBody>
      </p:sp>
      <p:sp>
        <p:nvSpPr>
          <p:cNvPr id="6" name="Text 3"/>
          <p:cNvSpPr/>
          <p:nvPr/>
        </p:nvSpPr>
        <p:spPr>
          <a:xfrm>
            <a:off x="1188720" y="1115568"/>
            <a:ext cx="9784080" cy="502920"/>
          </a:xfrm>
          <a:prstGeom prst="rect">
            <a:avLst/>
          </a:prstGeom>
          <a:noFill/>
          <a:ln/>
        </p:spPr>
        <p:txBody>
          <a:bodyPr wrap="square" lIns="0" tIns="0" rIns="0" bIns="0" rtlCol="0" anchor="ctr"/>
          <a:lstStyle/>
          <a:p>
            <a:pPr algn="ctr" indent="0" marL="0">
              <a:buNone/>
            </a:pPr>
            <a:r>
              <a:rPr lang="en-US" sz="1300" i="1" dirty="0">
                <a:solidFill>
                  <a:srgbClr val="DCE8FF"/>
                </a:solidFill>
                <a:latin typeface="Arial" pitchFamily="34" charset="0"/>
                <a:ea typeface="Arial" pitchFamily="34" charset="-122"/>
                <a:cs typeface="Arial" pitchFamily="34" charset="-120"/>
              </a:rPr>
              <a:t>Manager and teacher jointly pledge adherence to this manual</a:t>
            </a:r>
            <a:endParaRPr lang="en-US" sz="1300" dirty="0"/>
          </a:p>
        </p:txBody>
      </p:sp>
      <p:sp>
        <p:nvSpPr>
          <p:cNvPr id="7" name="Shape 4"/>
          <p:cNvSpPr/>
          <p:nvPr/>
        </p:nvSpPr>
        <p:spPr>
          <a:xfrm>
            <a:off x="1463040" y="1737360"/>
            <a:ext cx="9235440" cy="1463040"/>
          </a:xfrm>
          <a:prstGeom prst="roundRect">
            <a:avLst>
              <a:gd name="adj" fmla="val 6250"/>
            </a:avLst>
          </a:prstGeom>
          <a:solidFill>
            <a:srgbClr val="12377A"/>
          </a:solidFill>
          <a:ln/>
        </p:spPr>
        <p:txBody>
          <a:bodyPr/>
          <a:p/>
        </p:txBody>
      </p:sp>
      <p:sp>
        <p:nvSpPr>
          <p:cNvPr id="8" name="Text 5"/>
          <p:cNvSpPr/>
          <p:nvPr/>
        </p:nvSpPr>
        <p:spPr>
          <a:xfrm>
            <a:off x="1828800" y="1828800"/>
            <a:ext cx="8503920" cy="1280160"/>
          </a:xfrm>
          <a:prstGeom prst="rect">
            <a:avLst/>
          </a:prstGeom>
          <a:noFill/>
          <a:ln/>
        </p:spPr>
        <p:txBody>
          <a:bodyPr wrap="square" lIns="0" tIns="0" rIns="0" bIns="0" rtlCol="0" anchor="ctr"/>
          <a:lstStyle/>
          <a:p>
            <a:pPr algn="ctr" indent="0" marL="0">
              <a:buNone/>
            </a:pPr>
            <a:r>
              <a:rPr lang="en-US" sz="1200" i="1" dirty="0">
                <a:solidFill>
                  <a:srgbClr val="FFFFFF"/>
                </a:solidFill>
                <a:latin typeface="Arial" pitchFamily="34" charset="0"/>
                <a:ea typeface="Arial" pitchFamily="34" charset="-122"/>
                <a:cs typeface="Arial" pitchFamily="34" charset="-120"/>
              </a:rPr>
              <a:t>“I have understood and mastered the 5 core behaviors, engagement cycle, and age-specific tactics in Mangoi's Manual v2.0, and commit to delivering boredom-free lessons to every student.”</a:t>
            </a:r>
            <a:endParaRPr lang="en-US" sz="1200" dirty="0"/>
          </a:p>
        </p:txBody>
      </p:sp>
      <p:sp>
        <p:nvSpPr>
          <p:cNvPr id="9" name="Text 6"/>
          <p:cNvSpPr/>
          <p:nvPr/>
        </p:nvSpPr>
        <p:spPr>
          <a:xfrm>
            <a:off x="1645920" y="3657600"/>
            <a:ext cx="4206240" cy="365760"/>
          </a:xfrm>
          <a:prstGeom prst="rect">
            <a:avLst/>
          </a:prstGeom>
          <a:noFill/>
          <a:ln/>
        </p:spPr>
        <p:txBody>
          <a:bodyPr wrap="square" lIns="0" tIns="0" rIns="0" bIns="0" rtlCol="0" anchor="ctr"/>
          <a:lstStyle/>
          <a:p>
            <a:pPr algn="ctr" indent="0" marL="0">
              <a:buNone/>
            </a:pPr>
            <a:r>
              <a:rPr lang="en-US" sz="1200" dirty="0">
                <a:solidFill>
                  <a:srgbClr val="9FB8E8"/>
                </a:solidFill>
                <a:latin typeface="Arial" pitchFamily="34" charset="0"/>
                <a:ea typeface="Arial" pitchFamily="34" charset="-122"/>
                <a:cs typeface="Arial" pitchFamily="34" charset="-120"/>
              </a:rPr>
              <a:t>Mangoi Training Lead</a:t>
            </a:r>
            <a:endParaRPr lang="en-US" sz="1200" dirty="0"/>
          </a:p>
        </p:txBody>
      </p:sp>
      <p:sp>
        <p:nvSpPr>
          <p:cNvPr id="10" name="Shape 7"/>
          <p:cNvSpPr/>
          <p:nvPr/>
        </p:nvSpPr>
        <p:spPr>
          <a:xfrm>
            <a:off x="1920240" y="4343400"/>
            <a:ext cx="3657600" cy="0"/>
          </a:xfrm>
          <a:prstGeom prst="line">
            <a:avLst/>
          </a:prstGeom>
          <a:noFill/>
          <a:ln w="12700">
            <a:solidFill>
              <a:srgbClr val="9FB8E8"/>
            </a:solidFill>
            <a:prstDash val="solid"/>
          </a:ln>
        </p:spPr>
        <p:txBody>
          <a:bodyPr/>
          <a:p/>
        </p:txBody>
      </p:sp>
      <p:sp>
        <p:nvSpPr>
          <p:cNvPr id="11" name="Text 8"/>
          <p:cNvSpPr/>
          <p:nvPr/>
        </p:nvSpPr>
        <p:spPr>
          <a:xfrm>
            <a:off x="1645920" y="4434840"/>
            <a:ext cx="42062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Teacher Success Lead</a:t>
            </a:r>
            <a:endParaRPr lang="en-US" sz="1300" dirty="0"/>
          </a:p>
        </p:txBody>
      </p:sp>
      <p:sp>
        <p:nvSpPr>
          <p:cNvPr id="12" name="Text 9"/>
          <p:cNvSpPr/>
          <p:nvPr/>
        </p:nvSpPr>
        <p:spPr>
          <a:xfrm>
            <a:off x="6400800" y="3657600"/>
            <a:ext cx="4206240" cy="365760"/>
          </a:xfrm>
          <a:prstGeom prst="rect">
            <a:avLst/>
          </a:prstGeom>
          <a:noFill/>
          <a:ln/>
        </p:spPr>
        <p:txBody>
          <a:bodyPr wrap="square" lIns="0" tIns="0" rIns="0" bIns="0" rtlCol="0" anchor="ctr"/>
          <a:lstStyle/>
          <a:p>
            <a:pPr algn="ctr" indent="0" marL="0">
              <a:buNone/>
            </a:pPr>
            <a:r>
              <a:rPr lang="en-US" sz="1200" dirty="0">
                <a:solidFill>
                  <a:srgbClr val="9FB8E8"/>
                </a:solidFill>
                <a:latin typeface="Arial" pitchFamily="34" charset="0"/>
                <a:ea typeface="Arial" pitchFamily="34" charset="-122"/>
                <a:cs typeface="Arial" pitchFamily="34" charset="-120"/>
              </a:rPr>
              <a:t>Certified Teacher</a:t>
            </a:r>
            <a:endParaRPr lang="en-US" sz="1200" dirty="0"/>
          </a:p>
        </p:txBody>
      </p:sp>
      <p:sp>
        <p:nvSpPr>
          <p:cNvPr id="13" name="Shape 10"/>
          <p:cNvSpPr/>
          <p:nvPr/>
        </p:nvSpPr>
        <p:spPr>
          <a:xfrm>
            <a:off x="6675120" y="4343400"/>
            <a:ext cx="3657600" cy="0"/>
          </a:xfrm>
          <a:prstGeom prst="line">
            <a:avLst/>
          </a:prstGeom>
          <a:noFill/>
          <a:ln w="12700">
            <a:solidFill>
              <a:srgbClr val="9FB8E8"/>
            </a:solidFill>
            <a:prstDash val="solid"/>
          </a:ln>
        </p:spPr>
        <p:txBody>
          <a:bodyPr/>
          <a:p/>
        </p:txBody>
      </p:sp>
      <p:sp>
        <p:nvSpPr>
          <p:cNvPr id="14" name="Text 11"/>
          <p:cNvSpPr/>
          <p:nvPr/>
        </p:nvSpPr>
        <p:spPr>
          <a:xfrm>
            <a:off x="6400800" y="4434840"/>
            <a:ext cx="42062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Professional Teacher</a:t>
            </a:r>
            <a:endParaRPr lang="en-US" sz="1300" dirty="0"/>
          </a:p>
        </p:txBody>
      </p:sp>
      <p:sp>
        <p:nvSpPr>
          <p:cNvPr id="15" name="Text 12"/>
          <p:cNvSpPr/>
          <p:nvPr/>
        </p:nvSpPr>
        <p:spPr>
          <a:xfrm>
            <a:off x="1188720" y="5577840"/>
            <a:ext cx="9784080" cy="548640"/>
          </a:xfrm>
          <a:prstGeom prst="rect">
            <a:avLst/>
          </a:prstGeom>
          <a:noFill/>
          <a:ln/>
        </p:spPr>
        <p:txBody>
          <a:bodyPr wrap="square" lIns="0" tIns="0" rIns="0" bIns="0" rtlCol="0" anchor="ctr"/>
          <a:lstStyle/>
          <a:p>
            <a:pPr algn="ctr" indent="0" marL="0">
              <a:buNone/>
            </a:pPr>
            <a:r>
              <a:rPr lang="en-US" sz="1500" b="1" i="1" dirty="0">
                <a:solidFill>
                  <a:srgbClr val="FF9500"/>
                </a:solidFill>
                <a:latin typeface="Arial" pitchFamily="34" charset="0"/>
                <a:ea typeface="Arial" pitchFamily="34" charset="-122"/>
                <a:cs typeface="Arial" pitchFamily="34" charset="-120"/>
              </a:rPr>
              <a:t>Your energy today becomes a child's lifelong English confidence.</a:t>
            </a:r>
            <a:endParaRPr lang="en-US" sz="1500" dirty="0"/>
          </a:p>
        </p:txBody>
      </p:sp>
      <p:sp>
        <p:nvSpPr>
          <p:cNvPr id="16" name="Text 13"/>
          <p:cNvSpPr/>
          <p:nvPr/>
        </p:nvSpPr>
        <p:spPr>
          <a:xfrm>
            <a:off x="1188720" y="6263640"/>
            <a:ext cx="9784080" cy="320040"/>
          </a:xfrm>
          <a:prstGeom prst="rect">
            <a:avLst/>
          </a:prstGeom>
          <a:noFill/>
          <a:ln/>
        </p:spPr>
        <p:txBody>
          <a:bodyPr wrap="square" lIns="0" tIns="0" rIns="0" bIns="0" rtlCol="0" anchor="ctr"/>
          <a:lstStyle/>
          <a:p>
            <a:pPr algn="ctr" indent="0" marL="0">
              <a:buNone/>
            </a:pPr>
            <a:r>
              <a:rPr lang="en-US" sz="1000" dirty="0">
                <a:solidFill>
                  <a:srgbClr val="6E86B8"/>
                </a:solidFill>
                <a:latin typeface="Arial" pitchFamily="34" charset="0"/>
                <a:ea typeface="Arial" pitchFamily="34" charset="-122"/>
                <a:cs typeface="Arial" pitchFamily="34" charset="-120"/>
              </a:rPr>
              <a:t>© Mangoi English | Teacher Success Team</a:t>
            </a:r>
            <a:endParaRPr lang="en-US" sz="1000" dirty="0"/>
          </a:p>
        </p:txBody>
      </p:sp>
      <p:sp>
        <p:nvSpPr>
          <p:cNvPr id="3" name="Text 1"/>
          <p:cNvSpPr/>
          <p:nvPr/>
        </p:nvSpPr>
        <p:spPr>
          <a:xfrm>
            <a:off x="731520" y="438912"/>
            <a:ext cx="502920" cy="502920"/>
          </a:xfrm>
          <a:prstGeom prst="rect">
            <a:avLst/>
          </a:prstGeom>
          <a:solidFill>
            <a:srgbClr val="1A73E8"/>
          </a:solidFill>
          <a:ln>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Arial" pitchFamily="34" charset="-122"/>
                <a:cs typeface="Arial" pitchFamily="34" charset="-120"/>
              </a:rPr>
              <a:t>19</a:t>
            </a:r>
            <a:endParaRPr lang="en-US" sz="24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144000" cy="640080"/>
          </a:xfrm>
          <a:prstGeom prst="rect">
            <a:avLst/>
          </a:prstGeom>
          <a:noFill/>
        </p:spPr>
        <p:txBody>
          <a:bodyPr wrap="none">
            <a:spAutoFit/>
          </a:bodyPr>
          <a:lstStyle/>
          <a:p>
            <a:r>
              <a:rPr sz="3000" b="1">
                <a:solidFill>
                  <a:srgbClr val="1A73E8"/>
                </a:solidFill>
                <a:latin typeface="Malgun Gothic"/>
              </a:rPr>
              <a:t>Table of Contents</a:t>
            </a:r>
          </a:p>
        </p:txBody>
      </p:sp>
      <p:sp>
        <p:nvSpPr>
          <p:cNvPr id="3" name="TextBox 2"/>
          <p:cNvSpPr txBox="1"/>
          <p:nvPr/>
        </p:nvSpPr>
        <p:spPr>
          <a:xfrm>
            <a:off x="548640" y="1417320"/>
            <a:ext cx="10817352" cy="5166360"/>
          </a:xfrm>
          <a:prstGeom prst="rect">
            <a:avLst/>
          </a:prstGeom>
          <a:noFill/>
        </p:spPr>
        <p:txBody>
          <a:bodyPr wrap="none">
            <a:spAutoFit/>
          </a:bodyPr>
          <a:lstStyle/>
          <a:p>
            <a:pPr>
              <a:spcAft>
                <a:spcPts val="521"/>
              </a:spcAft>
            </a:pPr>
            <a:r>
              <a:rPr sz="1200" b="1">
                <a:solidFill>
                  <a:srgbClr val="1A73E8"/>
                </a:solidFill>
                <a:latin typeface="Malgun Gothic"/>
              </a:rPr>
              <a:t>01  </a:t>
            </a:r>
            <a:r>
              <a:rPr sz="1200">
                <a:solidFill>
                  <a:srgbClr val="202A3C"/>
                </a:solidFill>
                <a:latin typeface="Malgun Gothic"/>
              </a:rPr>
              <a:t>You're Not Just Changing a Test Score</a:t>
            </a:r>
            <a:r>
              <a:rPr sz="1000">
                <a:solidFill>
                  <a:srgbClr val="94A3B8"/>
                </a:solidFill>
                <a:latin typeface="Malgun Gothic"/>
              </a:rPr>
              <a:t>   ·  p.3</a:t>
            </a:r>
          </a:p>
          <a:p>
            <a:pPr>
              <a:spcAft>
                <a:spcPts val="521"/>
              </a:spcAft>
            </a:pPr>
            <a:r>
              <a:rPr sz="1200" b="1">
                <a:solidFill>
                  <a:srgbClr val="1A73E8"/>
                </a:solidFill>
                <a:latin typeface="Malgun Gothic"/>
              </a:rPr>
              <a:t>02  </a:t>
            </a:r>
            <a:r>
              <a:rPr sz="1200">
                <a:solidFill>
                  <a:srgbClr val="202A3C"/>
                </a:solidFill>
                <a:latin typeface="Malgun Gothic"/>
              </a:rPr>
              <a:t>Remember these 4 numbers before every class</a:t>
            </a:r>
            <a:r>
              <a:rPr sz="1000">
                <a:solidFill>
                  <a:srgbClr val="94A3B8"/>
                </a:solidFill>
                <a:latin typeface="Malgun Gothic"/>
              </a:rPr>
              <a:t>   ·  p.4</a:t>
            </a:r>
          </a:p>
          <a:p>
            <a:pPr>
              <a:spcAft>
                <a:spcPts val="521"/>
              </a:spcAft>
            </a:pPr>
            <a:r>
              <a:rPr sz="1200" b="1">
                <a:solidFill>
                  <a:srgbClr val="1A73E8"/>
                </a:solidFill>
                <a:latin typeface="Malgun Gothic"/>
              </a:rPr>
              <a:t>03  </a:t>
            </a:r>
            <a:r>
              <a:rPr sz="1200">
                <a:solidFill>
                  <a:srgbClr val="202A3C"/>
                </a:solidFill>
                <a:latin typeface="Malgun Gothic"/>
              </a:rPr>
              <a:t>01. Why This Manual Exists</a:t>
            </a:r>
            <a:r>
              <a:rPr sz="1000">
                <a:solidFill>
                  <a:srgbClr val="94A3B8"/>
                </a:solidFill>
                <a:latin typeface="Malgun Gothic"/>
              </a:rPr>
              <a:t>   ·  p.5</a:t>
            </a:r>
          </a:p>
          <a:p>
            <a:pPr>
              <a:spcAft>
                <a:spcPts val="521"/>
              </a:spcAft>
            </a:pPr>
            <a:r>
              <a:rPr sz="1200" b="1">
                <a:solidFill>
                  <a:srgbClr val="1A73E8"/>
                </a:solidFill>
                <a:latin typeface="Malgun Gothic"/>
              </a:rPr>
              <a:t>04  </a:t>
            </a:r>
            <a:r>
              <a:rPr sz="1200">
                <a:solidFill>
                  <a:srgbClr val="202A3C"/>
                </a:solidFill>
                <a:latin typeface="Malgun Gothic"/>
              </a:rPr>
              <a:t>02. The 5 Core Areas to Drive Engagement</a:t>
            </a:r>
            <a:r>
              <a:rPr sz="1000">
                <a:solidFill>
                  <a:srgbClr val="94A3B8"/>
                </a:solidFill>
                <a:latin typeface="Malgun Gothic"/>
              </a:rPr>
              <a:t>   ·  p.6</a:t>
            </a:r>
          </a:p>
          <a:p>
            <a:pPr>
              <a:spcAft>
                <a:spcPts val="521"/>
              </a:spcAft>
            </a:pPr>
            <a:r>
              <a:rPr sz="1200" b="1">
                <a:solidFill>
                  <a:srgbClr val="1A73E8"/>
                </a:solidFill>
                <a:latin typeface="Malgun Gothic"/>
              </a:rPr>
              <a:t>05  </a:t>
            </a:r>
            <a:r>
              <a:rPr sz="1200">
                <a:solidFill>
                  <a:srgbClr val="202A3C"/>
                </a:solidFill>
                <a:latin typeface="Malgun Gothic"/>
              </a:rPr>
              <a:t>1. Energy &amp; Expression</a:t>
            </a:r>
            <a:r>
              <a:rPr sz="1000">
                <a:solidFill>
                  <a:srgbClr val="94A3B8"/>
                </a:solidFill>
                <a:latin typeface="Malgun Gothic"/>
              </a:rPr>
              <a:t>   ·  p.7</a:t>
            </a:r>
          </a:p>
          <a:p>
            <a:pPr>
              <a:spcAft>
                <a:spcPts val="521"/>
              </a:spcAft>
            </a:pPr>
            <a:r>
              <a:rPr sz="1200" b="1">
                <a:solidFill>
                  <a:srgbClr val="1A73E8"/>
                </a:solidFill>
                <a:latin typeface="Malgun Gothic"/>
              </a:rPr>
              <a:t>06  </a:t>
            </a:r>
            <a:r>
              <a:rPr sz="1200">
                <a:solidFill>
                  <a:srgbClr val="202A3C"/>
                </a:solidFill>
                <a:latin typeface="Malgun Gothic"/>
              </a:rPr>
              <a:t>2. Student Talk 60%+</a:t>
            </a:r>
            <a:r>
              <a:rPr sz="1000">
                <a:solidFill>
                  <a:srgbClr val="94A3B8"/>
                </a:solidFill>
                <a:latin typeface="Malgun Gothic"/>
              </a:rPr>
              <a:t>   ·  p.8</a:t>
            </a:r>
          </a:p>
          <a:p>
            <a:pPr>
              <a:spcAft>
                <a:spcPts val="521"/>
              </a:spcAft>
            </a:pPr>
            <a:r>
              <a:rPr sz="1200" b="1">
                <a:solidFill>
                  <a:srgbClr val="1A73E8"/>
                </a:solidFill>
                <a:latin typeface="Malgun Gothic"/>
              </a:rPr>
              <a:t>07  </a:t>
            </a:r>
            <a:r>
              <a:rPr sz="1200">
                <a:solidFill>
                  <a:srgbClr val="202A3C"/>
                </a:solidFill>
                <a:latin typeface="Malgun Gothic"/>
              </a:rPr>
              <a:t>3. Make Achievement Visible, Instantly</a:t>
            </a:r>
            <a:r>
              <a:rPr sz="1000">
                <a:solidFill>
                  <a:srgbClr val="94A3B8"/>
                </a:solidFill>
                <a:latin typeface="Malgun Gothic"/>
              </a:rPr>
              <a:t>   ·  p.9</a:t>
            </a:r>
          </a:p>
          <a:p>
            <a:pPr>
              <a:spcAft>
                <a:spcPts val="521"/>
              </a:spcAft>
            </a:pPr>
            <a:r>
              <a:rPr sz="1200" b="1">
                <a:solidFill>
                  <a:srgbClr val="1A73E8"/>
                </a:solidFill>
                <a:latin typeface="Malgun Gothic"/>
              </a:rPr>
              <a:t>08  </a:t>
            </a:r>
            <a:r>
              <a:rPr sz="1200">
                <a:solidFill>
                  <a:srgbClr val="202A3C"/>
                </a:solidFill>
                <a:latin typeface="Malgun Gothic"/>
              </a:rPr>
              <a:t>4. Full Personalization</a:t>
            </a:r>
            <a:r>
              <a:rPr sz="1000">
                <a:solidFill>
                  <a:srgbClr val="94A3B8"/>
                </a:solidFill>
                <a:latin typeface="Malgun Gothic"/>
              </a:rPr>
              <a:t>   ·  p.10</a:t>
            </a:r>
          </a:p>
          <a:p>
            <a:pPr>
              <a:spcAft>
                <a:spcPts val="521"/>
              </a:spcAft>
            </a:pPr>
            <a:r>
              <a:rPr sz="1200" b="1">
                <a:solidFill>
                  <a:srgbClr val="1A73E8"/>
                </a:solidFill>
                <a:latin typeface="Malgun Gothic"/>
              </a:rPr>
              <a:t>09  </a:t>
            </a:r>
            <a:r>
              <a:rPr sz="1200">
                <a:solidFill>
                  <a:srgbClr val="202A3C"/>
                </a:solidFill>
                <a:latin typeface="Malgun Gothic"/>
              </a:rPr>
              <a:t>5. Rhythmic Transitions</a:t>
            </a:r>
            <a:r>
              <a:rPr sz="1000">
                <a:solidFill>
                  <a:srgbClr val="94A3B8"/>
                </a:solidFill>
                <a:latin typeface="Malgun Gothic"/>
              </a:rPr>
              <a:t>   ·  p.11</a:t>
            </a:r>
          </a:p>
          <a:p>
            <a:pPr>
              <a:spcAft>
                <a:spcPts val="521"/>
              </a:spcAft>
            </a:pPr>
            <a:r>
              <a:rPr sz="1200" b="1">
                <a:solidFill>
                  <a:srgbClr val="1A73E8"/>
                </a:solidFill>
                <a:latin typeface="Malgun Gothic"/>
              </a:rPr>
              <a:t>10  </a:t>
            </a:r>
            <a:r>
              <a:rPr sz="1200">
                <a:solidFill>
                  <a:srgbClr val="202A3C"/>
                </a:solidFill>
                <a:latin typeface="Malgun Gothic"/>
              </a:rPr>
              <a:t>At a Glance — a Do vs Avoid Quick-Reference Table</a:t>
            </a:r>
            <a:r>
              <a:rPr sz="1000">
                <a:solidFill>
                  <a:srgbClr val="94A3B8"/>
                </a:solidFill>
                <a:latin typeface="Malgun Gothic"/>
              </a:rPr>
              <a:t>   ·  p.12</a:t>
            </a:r>
          </a:p>
          <a:p>
            <a:pPr>
              <a:spcAft>
                <a:spcPts val="521"/>
              </a:spcAft>
            </a:pPr>
            <a:r>
              <a:rPr sz="1200" b="1">
                <a:solidFill>
                  <a:srgbClr val="1A73E8"/>
                </a:solidFill>
                <a:latin typeface="Malgun Gothic"/>
              </a:rPr>
              <a:t>11  </a:t>
            </a:r>
            <a:r>
              <a:rPr sz="1200">
                <a:solidFill>
                  <a:srgbClr val="202A3C"/>
                </a:solidFill>
                <a:latin typeface="Malgun Gothic"/>
              </a:rPr>
              <a:t>03. Age-Specific Teaching Tactics</a:t>
            </a:r>
            <a:r>
              <a:rPr sz="1000">
                <a:solidFill>
                  <a:srgbClr val="94A3B8"/>
                </a:solidFill>
                <a:latin typeface="Malgun Gothic"/>
              </a:rPr>
              <a:t>   ·  p.13</a:t>
            </a:r>
          </a:p>
          <a:p>
            <a:pPr>
              <a:spcAft>
                <a:spcPts val="521"/>
              </a:spcAft>
            </a:pPr>
            <a:r>
              <a:rPr sz="1200" b="1">
                <a:solidFill>
                  <a:srgbClr val="1A73E8"/>
                </a:solidFill>
                <a:latin typeface="Malgun Gothic"/>
              </a:rPr>
              <a:t>12  </a:t>
            </a:r>
            <a:r>
              <a:rPr sz="1200">
                <a:solidFill>
                  <a:srgbClr val="202A3C"/>
                </a:solidFill>
                <a:latin typeface="Malgun Gothic"/>
              </a:rPr>
              <a:t>03. Age-Specific Teaching Tactics</a:t>
            </a:r>
            <a:r>
              <a:rPr sz="1000">
                <a:solidFill>
                  <a:srgbClr val="94A3B8"/>
                </a:solidFill>
                <a:latin typeface="Malgun Gothic"/>
              </a:rPr>
              <a:t>   ·  p.14</a:t>
            </a:r>
          </a:p>
          <a:p>
            <a:pPr>
              <a:spcAft>
                <a:spcPts val="521"/>
              </a:spcAft>
            </a:pPr>
            <a:r>
              <a:rPr sz="1200" b="1">
                <a:solidFill>
                  <a:srgbClr val="1A73E8"/>
                </a:solidFill>
                <a:latin typeface="Malgun Gothic"/>
              </a:rPr>
              <a:t>13  </a:t>
            </a:r>
            <a:r>
              <a:rPr sz="1200">
                <a:solidFill>
                  <a:srgbClr val="202A3C"/>
                </a:solidFill>
                <a:latin typeface="Malgun Gothic"/>
              </a:rPr>
              <a:t>The Data Behind Engagement</a:t>
            </a:r>
            <a:r>
              <a:rPr sz="1000">
                <a:solidFill>
                  <a:srgbClr val="94A3B8"/>
                </a:solidFill>
                <a:latin typeface="Malgun Gothic"/>
              </a:rPr>
              <a:t>   ·  p.15</a:t>
            </a:r>
          </a:p>
          <a:p>
            <a:pPr>
              <a:spcAft>
                <a:spcPts val="521"/>
              </a:spcAft>
            </a:pPr>
            <a:r>
              <a:rPr sz="1200" b="1">
                <a:solidFill>
                  <a:srgbClr val="1A73E8"/>
                </a:solidFill>
                <a:latin typeface="Malgun Gothic"/>
              </a:rPr>
              <a:t>14  </a:t>
            </a:r>
            <a:r>
              <a:rPr sz="1200">
                <a:solidFill>
                  <a:srgbClr val="202A3C"/>
                </a:solidFill>
                <a:latin typeface="Malgun Gothic"/>
              </a:rPr>
              <a:t>Appendix A. The Engagement Cycle</a:t>
            </a:r>
            <a:r>
              <a:rPr sz="1000">
                <a:solidFill>
                  <a:srgbClr val="94A3B8"/>
                </a:solidFill>
                <a:latin typeface="Malgun Gothic"/>
              </a:rPr>
              <a:t>   ·  p.16</a:t>
            </a:r>
          </a:p>
          <a:p>
            <a:pPr>
              <a:spcAft>
                <a:spcPts val="521"/>
              </a:spcAft>
            </a:pPr>
            <a:r>
              <a:rPr sz="1200" b="1">
                <a:solidFill>
                  <a:srgbClr val="1A73E8"/>
                </a:solidFill>
                <a:latin typeface="Malgun Gothic"/>
              </a:rPr>
              <a:t>15  </a:t>
            </a:r>
            <a:r>
              <a:rPr sz="1200">
                <a:solidFill>
                  <a:srgbClr val="202A3C"/>
                </a:solidFill>
                <a:latin typeface="Malgun Gothic"/>
              </a:rPr>
              <a:t>Appendix A. The Engagement Cycle</a:t>
            </a:r>
            <a:r>
              <a:rPr sz="1000">
                <a:solidFill>
                  <a:srgbClr val="94A3B8"/>
                </a:solidFill>
                <a:latin typeface="Malgun Gothic"/>
              </a:rPr>
              <a:t>   ·  p.17</a:t>
            </a:r>
          </a:p>
          <a:p>
            <a:pPr>
              <a:spcAft>
                <a:spcPts val="521"/>
              </a:spcAft>
            </a:pPr>
            <a:r>
              <a:rPr sz="1200" b="1">
                <a:solidFill>
                  <a:srgbClr val="1A73E8"/>
                </a:solidFill>
                <a:latin typeface="Malgun Gothic"/>
              </a:rPr>
              <a:t>16  </a:t>
            </a:r>
            <a:r>
              <a:rPr sz="1200">
                <a:solidFill>
                  <a:srgbClr val="202A3C"/>
                </a:solidFill>
                <a:latin typeface="Malgun Gothic"/>
              </a:rPr>
              <a:t>Appendix B. Teacher Self-Check Checklist</a:t>
            </a:r>
            <a:r>
              <a:rPr sz="1000">
                <a:solidFill>
                  <a:srgbClr val="94A3B8"/>
                </a:solidFill>
                <a:latin typeface="Malgun Gothic"/>
              </a:rPr>
              <a:t>   ·  p.18</a:t>
            </a:r>
          </a:p>
          <a:p>
            <a:pPr>
              <a:spcAft>
                <a:spcPts val="521"/>
              </a:spcAft>
            </a:pPr>
            <a:r>
              <a:rPr sz="1200" b="1">
                <a:solidFill>
                  <a:srgbClr val="1A73E8"/>
                </a:solidFill>
                <a:latin typeface="Malgun Gothic"/>
              </a:rPr>
              <a:t>17  </a:t>
            </a:r>
            <a:r>
              <a:rPr sz="1200">
                <a:solidFill>
                  <a:srgbClr val="202A3C"/>
                </a:solidFill>
                <a:latin typeface="Malgun Gothic"/>
              </a:rPr>
              <a:t>Appendix C. Teacher Evaluation Rubric</a:t>
            </a:r>
            <a:r>
              <a:rPr sz="1000">
                <a:solidFill>
                  <a:srgbClr val="94A3B8"/>
                </a:solidFill>
                <a:latin typeface="Malgun Gothic"/>
              </a:rPr>
              <a:t>   ·  p.19</a:t>
            </a:r>
          </a:p>
          <a:p>
            <a:pPr>
              <a:spcAft>
                <a:spcPts val="521"/>
              </a:spcAft>
            </a:pPr>
            <a:r>
              <a:rPr sz="1200" b="1">
                <a:solidFill>
                  <a:srgbClr val="1A73E8"/>
                </a:solidFill>
                <a:latin typeface="Malgun Gothic"/>
              </a:rPr>
              <a:t>18  </a:t>
            </a:r>
            <a:r>
              <a:rPr sz="1200">
                <a:solidFill>
                  <a:srgbClr val="202A3C"/>
                </a:solidFill>
                <a:latin typeface="Malgun Gothic"/>
              </a:rPr>
              <a:t>Coaching Priority Guide by Total Score</a:t>
            </a:r>
            <a:r>
              <a:rPr sz="1000">
                <a:solidFill>
                  <a:srgbClr val="94A3B8"/>
                </a:solidFill>
                <a:latin typeface="Malgun Gothic"/>
              </a:rPr>
              <a:t>   ·  p.20</a:t>
            </a:r>
          </a:p>
          <a:p>
            <a:pPr>
              <a:spcAft>
                <a:spcPts val="521"/>
              </a:spcAft>
            </a:pPr>
            <a:r>
              <a:rPr sz="1200" b="1">
                <a:solidFill>
                  <a:srgbClr val="1A73E8"/>
                </a:solidFill>
                <a:latin typeface="Malgun Gothic"/>
              </a:rPr>
              <a:t>19  </a:t>
            </a:r>
            <a:r>
              <a:rPr sz="1200">
                <a:solidFill>
                  <a:srgbClr val="202A3C"/>
                </a:solidFill>
                <a:latin typeface="Malgun Gothic"/>
              </a:rPr>
              <a:t>04. Teacher Certification</a:t>
            </a:r>
            <a:r>
              <a:rPr sz="1000">
                <a:solidFill>
                  <a:srgbClr val="94A3B8"/>
                </a:solidFill>
                <a:latin typeface="Malgun Gothic"/>
              </a:rPr>
              <a:t>   ·  p.21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Mangoi Teacher Training Manual</dc:title>
  <dc:subject>PptxGenJS Presentation</dc:subject>
  <dc:creator>Mangoi English</dc:creator>
  <cp:lastModifiedBy>Mangoi English</cp:lastModifiedBy>
  <cp:revision>1</cp:revision>
  <dcterms:created xsi:type="dcterms:W3CDTF">2026-07-04T15:40:09Z</dcterms:created>
  <dcterms:modified xsi:type="dcterms:W3CDTF">2026-07-04T15:40:09Z</dcterms:modified>
</cp:coreProperties>
</file>