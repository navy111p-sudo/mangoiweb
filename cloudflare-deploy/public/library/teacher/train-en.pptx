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00B85C"/>
              </a:solidFill>
            </c:spPr>
          </c:dPt>
          <c:dPt>
            <c:idx val="1"/>
            <c:spPr>
              <a:solidFill>
                <a:srgbClr val="0B5FFF"/>
              </a:solidFill>
            </c:spPr>
          </c:dPt>
          <c:cat>
            <c:strRef>
              <c:f>Sheet1!$A$2:$A$3</c:f>
              <c:strCache>
                <c:ptCount val="2"/>
                <c:pt idx="0">
                  <c:v>Student talk</c:v>
                </c:pt>
                <c:pt idx="1">
                  <c:v>Teacher talk</c:v>
                </c:pt>
              </c:strCache>
            </c:strRef>
          </c:cat>
          <c:val>
            <c:numRef>
              <c:f>Sheet1!$B$2:$B$3</c:f>
              <c:numCache>
                <c:formatCode>General</c:formatCode>
                <c:ptCount val="2"/>
                <c:pt idx="0">
                  <c:v>70</c:v>
                </c:pt>
                <c:pt idx="1">
                  <c:v>30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FF9500"/>
              </a:solidFill>
            </c:spPr>
          </c:dPt>
          <c:dPt>
            <c:idx val="1"/>
            <c:spPr>
              <a:solidFill>
                <a:srgbClr val="0B5FFF"/>
              </a:solidFill>
            </c:spPr>
          </c:dPt>
          <c:dPt>
            <c:idx val="2"/>
            <c:spPr>
              <a:solidFill>
                <a:srgbClr val="00B85C"/>
              </a:solidFill>
            </c:spPr>
          </c:dPt>
          <c:dPt>
            <c:idx val="3"/>
            <c:spPr>
              <a:solidFill>
                <a:srgbClr val="7C3AED"/>
              </a:solidFill>
            </c:spPr>
          </c:dPt>
          <c:cat>
            <c:strRef>
              <c:f>Sheet1!$A$2:$A$5</c:f>
              <c:strCache>
                <c:ptCount val="4"/>
                <c:pt idx="0">
                  <c:v>Age 5–7</c:v>
                </c:pt>
                <c:pt idx="1">
                  <c:v>Age 8–10</c:v>
                </c:pt>
                <c:pt idx="2">
                  <c:v>Age 11–13</c:v>
                </c:pt>
                <c:pt idx="3">
                  <c:v>Age 14+</c:v>
                </c:pt>
              </c:strCache>
            </c:strRef>
          </c:cat>
          <c:val>
            <c:numRef>
              <c:f>Sheet1!$B$2:$B$5</c:f>
              <c:numCache>
                <c:formatCode>General</c:formatCode>
                <c:ptCount val="4"/>
                <c:pt idx="0">
                  <c:v>4</c:v>
                </c:pt>
                <c:pt idx="1">
                  <c:v>6</c:v>
                </c:pt>
                <c:pt idx="2">
                  <c:v>8</c:v>
                </c:pt>
                <c:pt idx="3">
                  <c:v>10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FF9500"/>
              </a:solidFill>
            </c:spPr>
          </c:dPt>
          <c:dPt>
            <c:idx val="1"/>
            <c:spPr>
              <a:solidFill>
                <a:srgbClr val="0B5FFF"/>
              </a:solidFill>
            </c:spPr>
          </c:dPt>
          <c:dPt>
            <c:idx val="2"/>
            <c:spPr>
              <a:solidFill>
                <a:srgbClr val="00B85C"/>
              </a:solidFill>
            </c:spPr>
          </c:dPt>
          <c:dPt>
            <c:idx val="3"/>
            <c:spPr>
              <a:solidFill>
                <a:srgbClr val="7C3AED"/>
              </a:solidFill>
            </c:spPr>
          </c:dPt>
          <c:dPt>
            <c:idx val="4"/>
            <c:spPr>
              <a:solidFill>
                <a:srgbClr val="F03E3E"/>
              </a:solidFill>
            </c:spPr>
          </c:dPt>
          <c:cat>
            <c:strRef>
              <c:f>Sheet1!$A$2:$A$6</c:f>
              <c:strCache>
                <c:ptCount val="5"/>
                <c:pt idx="0">
                  <c:v>Warm-up</c:v>
                </c:pt>
                <c:pt idx="1">
                  <c:v>Core</c:v>
                </c:pt>
                <c:pt idx="2">
                  <c:v>Speaking</c:v>
                </c:pt>
                <c:pt idx="3">
                  <c:v>Game</c:v>
                </c:pt>
                <c:pt idx="4">
                  <c:v>Close</c:v>
                </c:pt>
              </c:strCache>
            </c:strRef>
          </c:cat>
          <c:val>
            <c:numRef>
              <c:f>Sheet1!$B$2:$B$6</c:f>
              <c:numCache>
                <c:formatCode>General</c:formatCode>
                <c:ptCount val="5"/>
                <c:pt idx="0">
                  <c:v>3</c:v>
                </c:pt>
                <c:pt idx="1">
                  <c:v>7</c:v>
                </c:pt>
                <c:pt idx="2">
                  <c:v>7</c:v>
                </c:pt>
                <c:pt idx="3">
                  <c:v>5</c:v>
                </c:pt>
                <c:pt idx="4">
                  <c:v>3</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296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82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0B5FFF"/>
                </a:solidFill>
                <a:latin typeface="Malgun Gothic"/>
              </a:rPr>
              <a:t>🎓 TEACHER TRAINING</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Mangoi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Teacher Training Manual</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Getting kids to speak — from principle to practice</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For · Mangoi video-English teachers · new-teacher onboarding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Introduction</a:t>
            </a:r>
          </a:p>
        </p:txBody>
      </p:sp>
      <p:sp>
        <p:nvSpPr>
          <p:cNvPr id="6" name="Rounded Rectangle 5"/>
          <p:cNvSpPr/>
          <p:nvPr/>
        </p:nvSpPr>
        <p:spPr>
          <a:xfrm>
            <a:off x="365760" y="868680"/>
            <a:ext cx="11460175" cy="155448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0B5FFF"/>
                </a:solidFill>
                <a:latin typeface="Malgun Gothic"/>
              </a:rPr>
              <a:t>What is this manual for?</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The Mangoi Teacher Training Manual is about getting children to speak. It is not a guide to the website — it is a guide to the skills that make a lesson work. Nothing here is theory; every item is something that repeatedly worked in real video lessons.</a:t>
            </a:r>
          </a:p>
          <a:p>
            <a:pPr algn="l">
              <a:lnSpc>
                <a:spcPct val="125000"/>
              </a:lnSpc>
            </a:pPr>
            <a:r>
              <a:rPr sz="1300" b="0">
                <a:solidFill>
                  <a:srgbClr val="334155"/>
                </a:solidFill>
                <a:latin typeface="Malgun Gothic"/>
              </a:rPr>
              <a:t/>
            </a:r>
          </a:p>
          <a:p>
            <a:pPr algn="l">
              <a:lnSpc>
                <a:spcPct val="125000"/>
              </a:lnSpc>
            </a:pPr>
            <a:r>
              <a:rPr sz="1300" b="0">
                <a:solidFill>
                  <a:srgbClr val="334155"/>
                </a:solidFill>
                <a:latin typeface="Malgun Gothic"/>
              </a:rPr>
              <a:t>There is one central idea — the more a child speaks, the faster they improve. Every technique in this manual exists to serve that one thing.</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0B5FFF"/>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Energy</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The first 60 seconds set the temperature of the whole lesson.</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0B5FFF"/>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Talk time</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Aim for 70% student, 30% teacher.</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0B5FFF"/>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Visible progress</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They keep going when they can see it.</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0B5FFF"/>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Personalisation</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Remember one thing about this child.</a:t>
            </a:r>
          </a:p>
        </p:txBody>
      </p:sp>
      <p:sp>
        <p:nvSpPr>
          <p:cNvPr id="29" name="Rounded Rectangle 28"/>
          <p:cNvSpPr/>
          <p:nvPr/>
        </p:nvSpPr>
        <p:spPr>
          <a:xfrm>
            <a:off x="365760" y="461772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 y="4773168"/>
            <a:ext cx="512064" cy="512064"/>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773168"/>
            <a:ext cx="512064" cy="512064"/>
          </a:xfrm>
          <a:prstGeom prst="rect">
            <a:avLst/>
          </a:prstGeom>
          <a:noFill/>
        </p:spPr>
        <p:txBody>
          <a:bodyPr wrap="square" anchor="ctr">
            <a:spAutoFit/>
          </a:bodyPr>
          <a:lstStyle/>
          <a:p>
            <a:pPr algn="ctr">
              <a:lnSpc>
                <a:spcPct val="100000"/>
              </a:lnSpc>
            </a:pPr>
            <a:r>
              <a:rPr sz="2000" b="0">
                <a:solidFill>
                  <a:srgbClr val="0B5FFF"/>
                </a:solidFill>
                <a:latin typeface="Malgun Gothic"/>
              </a:rPr>
              <a:t>🎵</a:t>
            </a:r>
          </a:p>
        </p:txBody>
      </p:sp>
      <p:sp>
        <p:nvSpPr>
          <p:cNvPr id="32" name="TextBox 31"/>
          <p:cNvSpPr txBox="1"/>
          <p:nvPr/>
        </p:nvSpPr>
        <p:spPr>
          <a:xfrm>
            <a:off x="1143000" y="473659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Rhythm</a:t>
            </a:r>
          </a:p>
        </p:txBody>
      </p:sp>
      <p:sp>
        <p:nvSpPr>
          <p:cNvPr id="33" name="TextBox 32"/>
          <p:cNvSpPr txBox="1"/>
          <p:nvPr/>
        </p:nvSpPr>
        <p:spPr>
          <a:xfrm>
            <a:off x="1143000" y="504748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Never run one activity past 7 minutes.</a:t>
            </a:r>
          </a:p>
        </p:txBody>
      </p:sp>
      <p:sp>
        <p:nvSpPr>
          <p:cNvPr id="34" name="Rounded Rectangle 33"/>
          <p:cNvSpPr/>
          <p:nvPr/>
        </p:nvSpPr>
        <p:spPr>
          <a:xfrm>
            <a:off x="6301587" y="461772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38747" y="4773168"/>
            <a:ext cx="512064" cy="512064"/>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38747" y="4773168"/>
            <a:ext cx="512064" cy="512064"/>
          </a:xfrm>
          <a:prstGeom prst="rect">
            <a:avLst/>
          </a:prstGeom>
          <a:noFill/>
        </p:spPr>
        <p:txBody>
          <a:bodyPr wrap="square" anchor="ctr">
            <a:spAutoFit/>
          </a:bodyPr>
          <a:lstStyle/>
          <a:p>
            <a:pPr algn="ctr">
              <a:lnSpc>
                <a:spcPct val="100000"/>
              </a:lnSpc>
            </a:pPr>
            <a:r>
              <a:rPr sz="2000" b="0">
                <a:solidFill>
                  <a:srgbClr val="0B5FFF"/>
                </a:solidFill>
                <a:latin typeface="Malgun Gothic"/>
              </a:rPr>
              <a:t>📝</a:t>
            </a:r>
          </a:p>
        </p:txBody>
      </p:sp>
      <p:sp>
        <p:nvSpPr>
          <p:cNvPr id="37" name="TextBox 36"/>
          <p:cNvSpPr txBox="1"/>
          <p:nvPr/>
        </p:nvSpPr>
        <p:spPr>
          <a:xfrm>
            <a:off x="7078827" y="473659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Records</a:t>
            </a:r>
          </a:p>
        </p:txBody>
      </p:sp>
      <p:sp>
        <p:nvSpPr>
          <p:cNvPr id="38" name="TextBox 37"/>
          <p:cNvSpPr txBox="1"/>
          <p:nvPr/>
        </p:nvSpPr>
        <p:spPr>
          <a:xfrm>
            <a:off x="7078827" y="504748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One line in the evaluation becomes parent trust.</a:t>
            </a:r>
          </a:p>
        </p:txBody>
      </p:sp>
      <p:sp>
        <p:nvSpPr>
          <p:cNvPr id="39" name="TextBox 3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0B5FFF"/>
                </a:solidFill>
                <a:latin typeface="Malgun Gothic"/>
              </a:rPr>
              <a:t>Talk time in a lesson — target</a:t>
            </a:r>
          </a:p>
        </p:txBody>
      </p:sp>
      <p:graphicFrame>
        <p:nvGraphicFramePr>
          <p:cNvPr id="40" name="Chart 3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41" name="Rectangle 4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lass_room.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0B5FFF"/>
                </a:solidFill>
                <a:latin typeface="Malgun Gothic"/>
              </a:rPr>
              <a:t>📑 Contents</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Introduction</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2</a:t>
            </a:r>
          </a:p>
        </p:txBody>
      </p:sp>
      <p:sp>
        <p:nvSpPr>
          <p:cNvPr id="9" name="Rounded Rectangle 8"/>
          <p:cNvSpPr/>
          <p:nvPr/>
        </p:nvSpPr>
        <p:spPr>
          <a:xfrm>
            <a:off x="411480" y="175564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Energy — the first 60 seconds set the whole lesson</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4</a:t>
            </a:r>
          </a:p>
        </p:txBody>
      </p:sp>
      <p:sp>
        <p:nvSpPr>
          <p:cNvPr id="13" name="Rounded Rectangle 12"/>
          <p:cNvSpPr/>
          <p:nvPr/>
        </p:nvSpPr>
        <p:spPr>
          <a:xfrm>
            <a:off x="411480" y="202996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Talk time — the more you talk, the less they learn</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5</a:t>
            </a:r>
          </a:p>
        </p:txBody>
      </p:sp>
      <p:sp>
        <p:nvSpPr>
          <p:cNvPr id="17" name="Rounded Rectangle 16"/>
          <p:cNvSpPr/>
          <p:nvPr/>
        </p:nvSpPr>
        <p:spPr>
          <a:xfrm>
            <a:off x="411480" y="230428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Make progress visible — praise they can see</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6</a:t>
            </a:r>
          </a:p>
        </p:txBody>
      </p:sp>
      <p:sp>
        <p:nvSpPr>
          <p:cNvPr id="21" name="Rounded Rectangle 20"/>
          <p:cNvSpPr/>
          <p:nvPr/>
        </p:nvSpPr>
        <p:spPr>
          <a:xfrm>
            <a:off x="411480" y="257860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Personalisation — remember one thing about this child</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7</a:t>
            </a:r>
          </a:p>
        </p:txBody>
      </p:sp>
      <p:sp>
        <p:nvSpPr>
          <p:cNvPr id="25" name="Rounded Rectangle 24"/>
          <p:cNvSpPr/>
          <p:nvPr/>
        </p:nvSpPr>
        <p:spPr>
          <a:xfrm>
            <a:off x="411480" y="285292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Rhythm — cut 25 minutes into four pieces</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8</a:t>
            </a:r>
          </a:p>
        </p:txBody>
      </p:sp>
      <p:sp>
        <p:nvSpPr>
          <p:cNvPr id="29" name="Rounded Rectangle 28"/>
          <p:cNvSpPr/>
          <p:nvPr/>
        </p:nvSpPr>
        <p:spPr>
          <a:xfrm>
            <a:off x="411480" y="312724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Warm-up — loosen the mouth before you expect words</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9</a:t>
            </a:r>
          </a:p>
        </p:txBody>
      </p:sp>
      <p:sp>
        <p:nvSpPr>
          <p:cNvPr id="33" name="Rounded Rectangle 32"/>
          <p:cNvSpPr/>
          <p:nvPr/>
        </p:nvSpPr>
        <p:spPr>
          <a:xfrm>
            <a:off x="411480" y="340156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Games — turning review into play</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10</a:t>
            </a:r>
          </a:p>
        </p:txBody>
      </p:sp>
      <p:sp>
        <p:nvSpPr>
          <p:cNvPr id="37" name="Rounded Rectangle 36"/>
          <p:cNvSpPr/>
          <p:nvPr/>
        </p:nvSpPr>
        <p:spPr>
          <a:xfrm>
            <a:off x="411480" y="3675887"/>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room that only opens when they speak</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11</a:t>
            </a:r>
          </a:p>
        </p:txBody>
      </p:sp>
      <p:sp>
        <p:nvSpPr>
          <p:cNvPr id="41" name="Rounded Rectangle 40"/>
          <p:cNvSpPr/>
          <p:nvPr/>
        </p:nvSpPr>
        <p:spPr>
          <a:xfrm>
            <a:off x="411480" y="395020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Vocabulary — don't make them memorise, make them meet it again</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12</a:t>
            </a:r>
          </a:p>
        </p:txBody>
      </p:sp>
      <p:sp>
        <p:nvSpPr>
          <p:cNvPr id="45" name="Rounded Rectangle 44"/>
          <p:cNvSpPr/>
          <p:nvPr/>
        </p:nvSpPr>
        <p:spPr>
          <a:xfrm>
            <a:off x="411480" y="422452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Evaluations — 3 minutes that build parent trust</a:t>
            </a:r>
          </a:p>
        </p:txBody>
      </p:sp>
      <p:sp>
        <p:nvSpPr>
          <p:cNvPr id="48" name="TextBox 47"/>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13</a:t>
            </a:r>
          </a:p>
        </p:txBody>
      </p:sp>
      <p:sp>
        <p:nvSpPr>
          <p:cNvPr id="49" name="Rounded Rectangle 48"/>
          <p:cNvSpPr/>
          <p:nvPr/>
        </p:nvSpPr>
        <p:spPr>
          <a:xfrm>
            <a:off x="6141567" y="148132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Parents — send proof of growth every week</a:t>
            </a:r>
          </a:p>
        </p:txBody>
      </p:sp>
      <p:sp>
        <p:nvSpPr>
          <p:cNvPr id="52" name="TextBox 51"/>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14</a:t>
            </a:r>
          </a:p>
        </p:txBody>
      </p:sp>
      <p:sp>
        <p:nvSpPr>
          <p:cNvPr id="53" name="Rounded Rectangle 52"/>
          <p:cNvSpPr/>
          <p:nvPr/>
        </p:nvSpPr>
        <p:spPr>
          <a:xfrm>
            <a:off x="6141567" y="175564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Age tactics — one approach does not fit all</a:t>
            </a:r>
          </a:p>
        </p:txBody>
      </p:sp>
      <p:sp>
        <p:nvSpPr>
          <p:cNvPr id="56" name="TextBox 55"/>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15</a:t>
            </a:r>
          </a:p>
        </p:txBody>
      </p:sp>
      <p:sp>
        <p:nvSpPr>
          <p:cNvPr id="57" name="Rounded Rectangle 56"/>
          <p:cNvSpPr/>
          <p:nvPr/>
        </p:nvSpPr>
        <p:spPr>
          <a:xfrm>
            <a:off x="6141567" y="202996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student who won't speak — the order that unlocks it</a:t>
            </a:r>
          </a:p>
        </p:txBody>
      </p:sp>
      <p:sp>
        <p:nvSpPr>
          <p:cNvPr id="60" name="TextBox 59"/>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16</a:t>
            </a:r>
          </a:p>
        </p:txBody>
      </p:sp>
      <p:sp>
        <p:nvSpPr>
          <p:cNvPr id="61" name="Rounded Rectangle 60"/>
          <p:cNvSpPr/>
          <p:nvPr/>
        </p:nvSpPr>
        <p:spPr>
          <a:xfrm>
            <a:off x="6141567" y="230428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Distraction &amp; mixed levels — handling it live</a:t>
            </a:r>
          </a:p>
        </p:txBody>
      </p:sp>
      <p:sp>
        <p:nvSpPr>
          <p:cNvPr id="64" name="TextBox 63"/>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17</a:t>
            </a:r>
          </a:p>
        </p:txBody>
      </p:sp>
      <p:sp>
        <p:nvSpPr>
          <p:cNvPr id="65" name="Rounded Rectangle 64"/>
          <p:cNvSpPr/>
          <p:nvPr/>
        </p:nvSpPr>
        <p:spPr>
          <a:xfrm>
            <a:off x="6141567" y="257860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When the connection wobbles — protect the lesson</a:t>
            </a:r>
          </a:p>
        </p:txBody>
      </p:sp>
      <p:sp>
        <p:nvSpPr>
          <p:cNvPr id="68" name="TextBox 67"/>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18</a:t>
            </a:r>
          </a:p>
        </p:txBody>
      </p:sp>
      <p:sp>
        <p:nvSpPr>
          <p:cNvPr id="69" name="Rounded Rectangle 68"/>
          <p:cNvSpPr/>
          <p:nvPr/>
        </p:nvSpPr>
        <p:spPr>
          <a:xfrm>
            <a:off x="6141567" y="285292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Your own growth — turning feedback into an asset</a:t>
            </a:r>
          </a:p>
        </p:txBody>
      </p:sp>
      <p:sp>
        <p:nvSpPr>
          <p:cNvPr id="72" name="TextBox 71"/>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19</a:t>
            </a:r>
          </a:p>
        </p:txBody>
      </p:sp>
      <p:sp>
        <p:nvSpPr>
          <p:cNvPr id="73" name="Rounded Rectangle 72"/>
          <p:cNvSpPr/>
          <p:nvPr/>
        </p:nvSpPr>
        <p:spPr>
          <a:xfrm>
            <a:off x="6141567" y="312724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Skill Summary · Data</a:t>
            </a:r>
          </a:p>
        </p:txBody>
      </p:sp>
      <p:sp>
        <p:nvSpPr>
          <p:cNvPr id="76" name="TextBox 75"/>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20</a:t>
            </a:r>
          </a:p>
        </p:txBody>
      </p:sp>
      <p:sp>
        <p:nvSpPr>
          <p:cNvPr id="77" name="Rounded Rectangle 76"/>
          <p:cNvSpPr/>
          <p:nvPr/>
        </p:nvSpPr>
        <p:spPr>
          <a:xfrm>
            <a:off x="6141567" y="340156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Data at a Glance</a:t>
            </a:r>
          </a:p>
        </p:txBody>
      </p:sp>
      <p:sp>
        <p:nvSpPr>
          <p:cNvPr id="80" name="TextBox 79"/>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21</a:t>
            </a:r>
          </a:p>
        </p:txBody>
      </p:sp>
      <p:sp>
        <p:nvSpPr>
          <p:cNvPr id="81" name="Rounded Rectangle 80"/>
          <p:cNvSpPr/>
          <p:nvPr/>
        </p:nvSpPr>
        <p:spPr>
          <a:xfrm>
            <a:off x="6141567" y="3675887"/>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83" name="TextBox 82"/>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Frequently Asked Questions</a:t>
            </a:r>
          </a:p>
        </p:txBody>
      </p:sp>
      <p:sp>
        <p:nvSpPr>
          <p:cNvPr id="84" name="TextBox 83"/>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22</a:t>
            </a:r>
          </a:p>
        </p:txBody>
      </p:sp>
      <p:sp>
        <p:nvSpPr>
          <p:cNvPr id="85" name="Rounded Rectangle 84"/>
          <p:cNvSpPr/>
          <p:nvPr/>
        </p:nvSpPr>
        <p:spPr>
          <a:xfrm>
            <a:off x="6141567" y="395020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87" name="TextBox 86"/>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Lesson Checklist</a:t>
            </a:r>
          </a:p>
        </p:txBody>
      </p:sp>
      <p:sp>
        <p:nvSpPr>
          <p:cNvPr id="88" name="TextBox 87"/>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23</a:t>
            </a:r>
          </a:p>
        </p:txBody>
      </p:sp>
      <p:sp>
        <p:nvSpPr>
          <p:cNvPr id="89" name="Rounded Rectangle 88"/>
          <p:cNvSpPr/>
          <p:nvPr/>
        </p:nvSpPr>
        <p:spPr>
          <a:xfrm>
            <a:off x="6141567" y="4224528"/>
            <a:ext cx="384048" cy="22860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91" name="TextBox 90"/>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Conclusion</a:t>
            </a:r>
          </a:p>
        </p:txBody>
      </p:sp>
      <p:sp>
        <p:nvSpPr>
          <p:cNvPr id="92" name="TextBox 91"/>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0B5FFF"/>
                </a:solidFill>
                <a:latin typeface="Malgun Gothic"/>
              </a:rPr>
              <a:t>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Energy — the first 60 seconds set the whole lesson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Your energy becomes their energy</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Children read the mood before the content. If you are bright and quick to react in the first minute, the lesson stays alive to the end; if that first minute is quiet, you will spend the remaining 25 minutes pulling it uphill. Energy is not a personality trait — it is a skill you switch on deliberately.</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The moment the camera is on, greet them by name — “Hi, Minjun! I missed you!”</a:t>
            </a:r>
          </a:p>
          <a:p>
            <a:pPr>
              <a:lnSpc>
                <a:spcPct val="115000"/>
              </a:lnSpc>
              <a:spcAft>
                <a:spcPts val="300"/>
              </a:spcAft>
            </a:pPr>
            <a:r>
              <a:rPr sz="700" b="1">
                <a:solidFill>
                  <a:srgbClr val="0B5FFF"/>
                </a:solidFill>
                <a:latin typeface="Malgun Gothic"/>
              </a:rPr>
              <a:t>● </a:t>
            </a:r>
            <a:r>
              <a:rPr sz="900">
                <a:solidFill>
                  <a:srgbClr val="334155"/>
                </a:solidFill>
                <a:latin typeface="Malgun Gothic"/>
              </a:rPr>
              <a:t>Make your expressions 20% bigger than normal. A screen eats about half of them.</a:t>
            </a:r>
          </a:p>
          <a:p>
            <a:pPr>
              <a:lnSpc>
                <a:spcPct val="115000"/>
              </a:lnSpc>
              <a:spcAft>
                <a:spcPts val="300"/>
              </a:spcAft>
            </a:pPr>
            <a:r>
              <a:rPr sz="700" b="1">
                <a:solidFill>
                  <a:srgbClr val="0B5FFF"/>
                </a:solidFill>
                <a:latin typeface="Malgun Gothic"/>
              </a:rPr>
              <a:t>● </a:t>
            </a:r>
            <a:r>
              <a:rPr sz="900">
                <a:solidFill>
                  <a:srgbClr val="334155"/>
                </a:solidFill>
                <a:latin typeface="Malgun Gothic"/>
              </a:rPr>
              <a:t>Make the first question impossible to fail — “Did you eat lunch?”</a:t>
            </a:r>
          </a:p>
          <a:p>
            <a:pPr>
              <a:lnSpc>
                <a:spcPct val="115000"/>
              </a:lnSpc>
              <a:spcAft>
                <a:spcPts val="300"/>
              </a:spcAft>
            </a:pPr>
            <a:r>
              <a:rPr sz="700" b="1">
                <a:solidFill>
                  <a:srgbClr val="0B5FFF"/>
                </a:solidFill>
                <a:latin typeface="Malgun Gothic"/>
              </a:rPr>
              <a:t>● </a:t>
            </a:r>
            <a:r>
              <a:rPr sz="900">
                <a:solidFill>
                  <a:srgbClr val="334155"/>
                </a:solidFill>
                <a:latin typeface="Malgun Gothic"/>
              </a:rPr>
              <a:t>React instantly to anything they say — “Wow, really?”</a:t>
            </a:r>
          </a:p>
          <a:p>
            <a:pPr>
              <a:lnSpc>
                <a:spcPct val="115000"/>
              </a:lnSpc>
              <a:spcAft>
                <a:spcPts val="300"/>
              </a:spcAft>
            </a:pPr>
            <a:r>
              <a:rPr sz="700" b="1">
                <a:solidFill>
                  <a:srgbClr val="0B5FFF"/>
                </a:solidFill>
                <a:latin typeface="Malgun Gothic"/>
              </a:rPr>
              <a:t>● </a:t>
            </a:r>
            <a:r>
              <a:rPr sz="900">
                <a:solidFill>
                  <a:srgbClr val="334155"/>
                </a:solidFill>
                <a:latin typeface="Malgun Gothic"/>
              </a:rPr>
              <a:t>Vary your pitch. A flat tone is even duller through a screen.</a:t>
            </a:r>
          </a:p>
        </p:txBody>
      </p:sp>
      <p:sp>
        <p:nvSpPr>
          <p:cNvPr id="14" name="Rounded Rectangle 13"/>
          <p:cNvSpPr/>
          <p:nvPr/>
        </p:nvSpPr>
        <p:spPr>
          <a:xfrm>
            <a:off x="457200" y="6085332"/>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377940"/>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If the child laughs even once in the first 60 seconds, the lesson is already half won.</a:t>
            </a:r>
          </a:p>
          <a:p>
            <a:pPr>
              <a:lnSpc>
                <a:spcPct val="115000"/>
              </a:lnSpc>
              <a:spcAft>
                <a:spcPts val="100"/>
              </a:spcAft>
            </a:pPr>
            <a:r>
              <a:rPr sz="650" b="1">
                <a:solidFill>
                  <a:srgbClr val="0B5FFF"/>
                </a:solidFill>
                <a:latin typeface="Malgun Gothic"/>
              </a:rPr>
              <a:t>● </a:t>
            </a:r>
            <a:r>
              <a:rPr sz="850">
                <a:solidFill>
                  <a:srgbClr val="334155"/>
                </a:solidFill>
                <a:latin typeface="Malgun Gothic"/>
              </a:rPr>
              <a:t>Energy is speed of reaction, not volume. React fast.</a:t>
            </a:r>
          </a:p>
          <a:p>
            <a:pPr>
              <a:lnSpc>
                <a:spcPct val="115000"/>
              </a:lnSpc>
              <a:spcAft>
                <a:spcPts val="100"/>
              </a:spcAft>
            </a:pPr>
            <a:r>
              <a:rPr sz="650" b="1">
                <a:solidFill>
                  <a:srgbClr val="0B5FFF"/>
                </a:solidFill>
                <a:latin typeface="Malgun Gothic"/>
              </a:rPr>
              <a:t>● </a:t>
            </a:r>
            <a:r>
              <a:rPr sz="850">
                <a:solidFill>
                  <a:srgbClr val="334155"/>
                </a:solidFill>
                <a:latin typeface="Malgun Gothic"/>
              </a:rPr>
              <a:t>If you look tired, children often assume it is their fault.</a:t>
            </a:r>
          </a:p>
        </p:txBody>
      </p:sp>
      <p:sp>
        <p:nvSpPr>
          <p:cNvPr id="17" name="Rounded Rectangle 16"/>
          <p:cNvSpPr/>
          <p:nvPr/>
        </p:nvSpPr>
        <p:spPr>
          <a:xfrm>
            <a:off x="365760" y="5719572"/>
            <a:ext cx="5646420" cy="973836"/>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765292"/>
            <a:ext cx="5372100" cy="882396"/>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Big reactions and forced cheerfulness are not the same thing. With teenagers, too much energy creates distance — the older the student, the more you want calm but fast reactions.</a:t>
            </a:r>
          </a:p>
        </p:txBody>
      </p:sp>
      <p:sp>
        <p:nvSpPr>
          <p:cNvPr id="19" name="Rounded Rectangle 18"/>
          <p:cNvSpPr/>
          <p:nvPr/>
        </p:nvSpPr>
        <p:spPr>
          <a:xfrm>
            <a:off x="6176772" y="5719572"/>
            <a:ext cx="5646420" cy="973836"/>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765292"/>
            <a:ext cx="5372100" cy="882396"/>
          </a:xfrm>
          <a:prstGeom prst="rect">
            <a:avLst/>
          </a:prstGeom>
          <a:noFill/>
        </p:spPr>
        <p:txBody>
          <a:bodyPr wrap="square" anchor="t">
            <a:spAutoFit/>
          </a:bodyPr>
          <a:lstStyle/>
          <a:p>
            <a:pPr algn="l">
              <a:lnSpc>
                <a:spcPct val="100000"/>
              </a:lnSpc>
            </a:pPr>
            <a:r>
              <a:rPr sz="950" b="0">
                <a:solidFill>
                  <a:srgbClr val="5B4A2A"/>
                </a:solidFill>
                <a:latin typeface="Malgun Gothic"/>
              </a:rPr>
              <a:t>💡 Pro tip · Stand up for 30 seconds before class, breathe deeply and loosen your face. Energy is something you warm up for.</a:t>
            </a:r>
          </a:p>
        </p:txBody>
      </p:sp>
      <p:sp>
        <p:nvSpPr>
          <p:cNvPr id="21" name="Rectangle 20"/>
          <p:cNvSpPr/>
          <p:nvPr/>
        </p:nvSpPr>
        <p:spPr>
          <a:xfrm>
            <a:off x="7218273" y="3255264"/>
            <a:ext cx="3760012" cy="23911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7273137" y="3310128"/>
            <a:ext cx="3650284" cy="2281428"/>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2946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1175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11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1350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greet them…</a:t>
            </a:r>
          </a:p>
        </p:txBody>
      </p:sp>
      <p:sp>
        <p:nvSpPr>
          <p:cNvPr id="28" name="TextBox 27"/>
          <p:cNvSpPr txBox="1"/>
          <p:nvPr/>
        </p:nvSpPr>
        <p:spPr>
          <a:xfrm>
            <a:off x="328635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469233"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5152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51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5328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20% bigger…</a:t>
            </a:r>
          </a:p>
        </p:txBody>
      </p:sp>
      <p:sp>
        <p:nvSpPr>
          <p:cNvPr id="33" name="TextBox 32"/>
          <p:cNvSpPr txBox="1"/>
          <p:nvPr/>
        </p:nvSpPr>
        <p:spPr>
          <a:xfrm>
            <a:off x="512612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30900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9130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913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9305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impossible…</a:t>
            </a:r>
          </a:p>
        </p:txBody>
      </p:sp>
      <p:sp>
        <p:nvSpPr>
          <p:cNvPr id="38" name="TextBox 37"/>
          <p:cNvSpPr txBox="1"/>
          <p:nvPr/>
        </p:nvSpPr>
        <p:spPr>
          <a:xfrm>
            <a:off x="6965899"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148779"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31075"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107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53282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React inst…</a:t>
            </a:r>
          </a:p>
        </p:txBody>
      </p:sp>
      <p:sp>
        <p:nvSpPr>
          <p:cNvPr id="43" name="TextBox 42"/>
          <p:cNvSpPr txBox="1"/>
          <p:nvPr/>
        </p:nvSpPr>
        <p:spPr>
          <a:xfrm>
            <a:off x="880567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988552"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07084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708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372600"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Vary your…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Talk time — the more you talk, the less they learn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Aim for 70% student · 30% teacher</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English grows from how much they say, not how much they hear. Yet in most video lessons the teacher does 70% of the talking. Deliberately saying less and waiting is the single most important skill in this manual.</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After asking, count to five in your head. Do not break the silence first.</a:t>
            </a:r>
          </a:p>
          <a:p>
            <a:pPr>
              <a:lnSpc>
                <a:spcPct val="115000"/>
              </a:lnSpc>
              <a:spcAft>
                <a:spcPts val="300"/>
              </a:spcAft>
            </a:pPr>
            <a:r>
              <a:rPr sz="700" b="1">
                <a:solidFill>
                  <a:srgbClr val="0B5FFF"/>
                </a:solidFill>
                <a:latin typeface="Malgun Gothic"/>
              </a:rPr>
              <a:t>● </a:t>
            </a:r>
            <a:r>
              <a:rPr sz="900">
                <a:solidFill>
                  <a:srgbClr val="334155"/>
                </a:solidFill>
                <a:latin typeface="Malgun Gothic"/>
              </a:rPr>
              <a:t>If they answer with one word, echo it back as a sentence — “Pizza? You like pizza?”</a:t>
            </a:r>
          </a:p>
          <a:p>
            <a:pPr>
              <a:lnSpc>
                <a:spcPct val="115000"/>
              </a:lnSpc>
              <a:spcAft>
                <a:spcPts val="300"/>
              </a:spcAft>
            </a:pPr>
            <a:r>
              <a:rPr sz="700" b="1">
                <a:solidFill>
                  <a:srgbClr val="0B5FFF"/>
                </a:solidFill>
                <a:latin typeface="Malgun Gothic"/>
              </a:rPr>
              <a:t>● </a:t>
            </a:r>
            <a:r>
              <a:rPr sz="900">
                <a:solidFill>
                  <a:srgbClr val="334155"/>
                </a:solidFill>
                <a:latin typeface="Malgun Gothic"/>
              </a:rPr>
              <a:t>Turn statements into questions — instead of “This is a cat”, ask “What is this?”</a:t>
            </a:r>
          </a:p>
          <a:p>
            <a:pPr>
              <a:lnSpc>
                <a:spcPct val="115000"/>
              </a:lnSpc>
              <a:spcAft>
                <a:spcPts val="300"/>
              </a:spcAft>
            </a:pPr>
            <a:r>
              <a:rPr sz="700" b="1">
                <a:solidFill>
                  <a:srgbClr val="0B5FFF"/>
                </a:solidFill>
                <a:latin typeface="Malgun Gothic"/>
              </a:rPr>
              <a:t>● </a:t>
            </a:r>
            <a:r>
              <a:rPr sz="900">
                <a:solidFill>
                  <a:srgbClr val="334155"/>
                </a:solidFill>
                <a:latin typeface="Malgun Gothic"/>
              </a:rPr>
              <a:t>When they make a mistake, do not correct immediately — recast it naturally.</a:t>
            </a:r>
          </a:p>
          <a:p>
            <a:pPr>
              <a:lnSpc>
                <a:spcPct val="115000"/>
              </a:lnSpc>
              <a:spcAft>
                <a:spcPts val="300"/>
              </a:spcAft>
            </a:pPr>
            <a:r>
              <a:rPr sz="700" b="1">
                <a:solidFill>
                  <a:srgbClr val="0B5FFF"/>
                </a:solidFill>
                <a:latin typeface="Malgun Gothic"/>
              </a:rPr>
              <a:t>● </a:t>
            </a:r>
            <a:r>
              <a:rPr sz="900">
                <a:solidFill>
                  <a:srgbClr val="334155"/>
                </a:solidFill>
                <a:latin typeface="Malgun Gothic"/>
              </a:rPr>
              <a:t>Ask yourself mid-lesson: “How long have I been talking?”</a:t>
            </a:r>
          </a:p>
        </p:txBody>
      </p:sp>
      <p:sp>
        <p:nvSpPr>
          <p:cNvPr id="14" name="Rounded Rectangle 13"/>
          <p:cNvSpPr/>
          <p:nvPr/>
        </p:nvSpPr>
        <p:spPr>
          <a:xfrm>
            <a:off x="457200" y="6085332"/>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377940"/>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Five seconds of silence is what produces their first sentence. Do not give up at three.</a:t>
            </a:r>
          </a:p>
          <a:p>
            <a:pPr>
              <a:lnSpc>
                <a:spcPct val="115000"/>
              </a:lnSpc>
              <a:spcAft>
                <a:spcPts val="100"/>
              </a:spcAft>
            </a:pPr>
            <a:r>
              <a:rPr sz="650" b="1">
                <a:solidFill>
                  <a:srgbClr val="0B5FFF"/>
                </a:solidFill>
                <a:latin typeface="Malgun Gothic"/>
              </a:rPr>
              <a:t>● </a:t>
            </a:r>
            <a:r>
              <a:rPr sz="850">
                <a:solidFill>
                  <a:srgbClr val="334155"/>
                </a:solidFill>
                <a:latin typeface="Malgun Gothic"/>
              </a:rPr>
              <a:t>One minute of your explanation is one minute taken from their speaking.</a:t>
            </a:r>
          </a:p>
          <a:p>
            <a:pPr>
              <a:lnSpc>
                <a:spcPct val="115000"/>
              </a:lnSpc>
              <a:spcAft>
                <a:spcPts val="100"/>
              </a:spcAft>
            </a:pPr>
            <a:r>
              <a:rPr sz="650" b="1">
                <a:solidFill>
                  <a:srgbClr val="0B5FFF"/>
                </a:solidFill>
                <a:latin typeface="Malgun Gothic"/>
              </a:rPr>
              <a:t>● </a:t>
            </a:r>
            <a:r>
              <a:rPr sz="850">
                <a:solidFill>
                  <a:srgbClr val="334155"/>
                </a:solidFill>
                <a:latin typeface="Malgun Gothic"/>
              </a:rPr>
              <a:t>For quiet students, go closed questions (Yes/No) → open questions, in that order.</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Do not push so hard that waiting feels like pressure. Silence should read as patience, not demand.</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Watch one recording of your own lesson. Seeing how much you talk changes your very next class.</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aifriend.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93799"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76095"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7609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97784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count to f…</a:t>
            </a:r>
          </a:p>
        </p:txBody>
      </p:sp>
      <p:sp>
        <p:nvSpPr>
          <p:cNvPr id="28" name="TextBox 27"/>
          <p:cNvSpPr txBox="1"/>
          <p:nvPr/>
        </p:nvSpPr>
        <p:spPr>
          <a:xfrm>
            <a:off x="3250691"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43357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1586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158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1762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echo it ba…</a:t>
            </a:r>
          </a:p>
        </p:txBody>
      </p:sp>
      <p:sp>
        <p:nvSpPr>
          <p:cNvPr id="33" name="TextBox 32"/>
          <p:cNvSpPr txBox="1"/>
          <p:nvPr/>
        </p:nvSpPr>
        <p:spPr>
          <a:xfrm>
            <a:off x="5090464"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273344"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5564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556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5739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Turn state…</a:t>
            </a:r>
          </a:p>
        </p:txBody>
      </p:sp>
      <p:sp>
        <p:nvSpPr>
          <p:cNvPr id="38" name="TextBox 37"/>
          <p:cNvSpPr txBox="1"/>
          <p:nvPr/>
        </p:nvSpPr>
        <p:spPr>
          <a:xfrm>
            <a:off x="6930237"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113117"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95413"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9541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97165"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do not cor…</a:t>
            </a:r>
          </a:p>
        </p:txBody>
      </p:sp>
      <p:sp>
        <p:nvSpPr>
          <p:cNvPr id="43" name="TextBox 42"/>
          <p:cNvSpPr txBox="1"/>
          <p:nvPr/>
        </p:nvSpPr>
        <p:spPr>
          <a:xfrm>
            <a:off x="8770010"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952890" y="2670048"/>
            <a:ext cx="164226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03518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351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336938" y="2670048"/>
            <a:ext cx="122163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“How long…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Make progress visible — praise they can see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Praise that stays, not praise that vanishes</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Children keep going when they can see evidence that they are improving. “Good job” disappears in three seconds; stars, points and badges stay on the screen. The praise basket and points in Mangoi exist for exactly this.</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Drop praise into the praise basket (🧺) the moment they do something well.</a:t>
            </a:r>
          </a:p>
          <a:p>
            <a:pPr>
              <a:lnSpc>
                <a:spcPct val="115000"/>
              </a:lnSpc>
              <a:spcAft>
                <a:spcPts val="300"/>
              </a:spcAft>
            </a:pPr>
            <a:r>
              <a:rPr sz="700" b="1">
                <a:solidFill>
                  <a:srgbClr val="0B5FFF"/>
                </a:solidFill>
                <a:latin typeface="Malgun Gothic"/>
              </a:rPr>
              <a:t>● </a:t>
            </a:r>
            <a:r>
              <a:rPr sz="900">
                <a:solidFill>
                  <a:srgbClr val="334155"/>
                </a:solidFill>
                <a:latin typeface="Malgun Gothic"/>
              </a:rPr>
              <a:t>Be specific — not “Good”, but “Your ‘th’ sound was perfect!”</a:t>
            </a:r>
          </a:p>
          <a:p>
            <a:pPr>
              <a:lnSpc>
                <a:spcPct val="115000"/>
              </a:lnSpc>
              <a:spcAft>
                <a:spcPts val="300"/>
              </a:spcAft>
            </a:pPr>
            <a:r>
              <a:rPr sz="700" b="1">
                <a:solidFill>
                  <a:srgbClr val="0B5FFF"/>
                </a:solidFill>
                <a:latin typeface="Malgun Gothic"/>
              </a:rPr>
              <a:t>● </a:t>
            </a:r>
            <a:r>
              <a:rPr sz="900">
                <a:solidFill>
                  <a:srgbClr val="334155"/>
                </a:solidFill>
                <a:latin typeface="Malgun Gothic"/>
              </a:rPr>
              <a:t>At the end of the lesson, look at the points they earned together.</a:t>
            </a:r>
          </a:p>
          <a:p>
            <a:pPr>
              <a:lnSpc>
                <a:spcPct val="115000"/>
              </a:lnSpc>
              <a:spcAft>
                <a:spcPts val="300"/>
              </a:spcAft>
            </a:pPr>
            <a:r>
              <a:rPr sz="700" b="1">
                <a:solidFill>
                  <a:srgbClr val="0B5FFF"/>
                </a:solidFill>
                <a:latin typeface="Malgun Gothic"/>
              </a:rPr>
              <a:t>● </a:t>
            </a:r>
            <a:r>
              <a:rPr sz="900">
                <a:solidFill>
                  <a:srgbClr val="334155"/>
                </a:solidFill>
                <a:latin typeface="Malgun Gothic"/>
              </a:rPr>
              <a:t>Always name one thing that improved since last lesson.</a:t>
            </a:r>
          </a:p>
          <a:p>
            <a:pPr>
              <a:lnSpc>
                <a:spcPct val="115000"/>
              </a:lnSpc>
              <a:spcAft>
                <a:spcPts val="300"/>
              </a:spcAft>
            </a:pPr>
            <a:r>
              <a:rPr sz="700" b="1">
                <a:solidFill>
                  <a:srgbClr val="0B5FFF"/>
                </a:solidFill>
                <a:latin typeface="Malgun Gothic"/>
              </a:rPr>
              <a:t>● </a:t>
            </a:r>
            <a:r>
              <a:rPr sz="900">
                <a:solidFill>
                  <a:srgbClr val="334155"/>
                </a:solidFill>
                <a:latin typeface="Malgun Gothic"/>
              </a:rPr>
              <a:t>Remember: what you write in the evaluation becomes the parent's report.</a:t>
            </a:r>
          </a:p>
        </p:txBody>
      </p:sp>
      <p:sp>
        <p:nvSpPr>
          <p:cNvPr id="14" name="Rounded Rectangle 13"/>
          <p:cNvSpPr/>
          <p:nvPr/>
        </p:nvSpPr>
        <p:spPr>
          <a:xfrm>
            <a:off x="457200" y="6085332"/>
            <a:ext cx="5669280" cy="1673580"/>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377940"/>
            <a:ext cx="5394960" cy="1344396"/>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Praise the attempt, not just the result — praising “you said it even though it was wrong” is what makes them try again.</a:t>
            </a:r>
          </a:p>
          <a:p>
            <a:pPr>
              <a:lnSpc>
                <a:spcPct val="115000"/>
              </a:lnSpc>
              <a:spcAft>
                <a:spcPts val="100"/>
              </a:spcAft>
            </a:pPr>
            <a:r>
              <a:rPr sz="650" b="1">
                <a:solidFill>
                  <a:srgbClr val="0B5FFF"/>
                </a:solidFill>
                <a:latin typeface="Malgun Gothic"/>
              </a:rPr>
              <a:t>● </a:t>
            </a:r>
            <a:r>
              <a:rPr sz="850">
                <a:solidFill>
                  <a:srgbClr val="334155"/>
                </a:solidFill>
                <a:latin typeface="Malgun Gothic"/>
              </a:rPr>
              <a:t>Points and badges are what keep them going between lessons.</a:t>
            </a:r>
          </a:p>
          <a:p>
            <a:pPr>
              <a:lnSpc>
                <a:spcPct val="115000"/>
              </a:lnSpc>
              <a:spcAft>
                <a:spcPts val="100"/>
              </a:spcAft>
            </a:pPr>
            <a:r>
              <a:rPr sz="650" b="1">
                <a:solidFill>
                  <a:srgbClr val="0B5FFF"/>
                </a:solidFill>
                <a:latin typeface="Malgun Gothic"/>
              </a:rPr>
              <a:t>● </a:t>
            </a:r>
            <a:r>
              <a:rPr sz="850">
                <a:solidFill>
                  <a:srgbClr val="334155"/>
                </a:solidFill>
                <a:latin typeface="Malgun Gothic"/>
              </a:rPr>
              <a:t>Aim for at least three specific compliments per lesson.</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Praise loses value if you scatter it. Children notice a reflexive “Good job” every time.</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Prepare five specific praise sentences in advance. They save you when nothing specific comes to mind in the moment.</a:t>
            </a:r>
          </a:p>
        </p:txBody>
      </p:sp>
      <p:sp>
        <p:nvSpPr>
          <p:cNvPr id="21" name="Rectangle 20"/>
          <p:cNvSpPr/>
          <p:nvPr/>
        </p:nvSpPr>
        <p:spPr>
          <a:xfrm>
            <a:off x="6300216" y="3752988"/>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807852"/>
            <a:ext cx="5486400" cy="158773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9405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7634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763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17810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praise bas…</a:t>
            </a:r>
          </a:p>
        </p:txBody>
      </p:sp>
      <p:sp>
        <p:nvSpPr>
          <p:cNvPr id="28" name="TextBox 27"/>
          <p:cNvSpPr txBox="1"/>
          <p:nvPr/>
        </p:nvSpPr>
        <p:spPr>
          <a:xfrm>
            <a:off x="3450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633825" y="2670048"/>
            <a:ext cx="1327708"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16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16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17873" y="2670048"/>
            <a:ext cx="9070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specific</a:t>
            </a:r>
          </a:p>
        </p:txBody>
      </p:sp>
      <p:sp>
        <p:nvSpPr>
          <p:cNvPr id="33" name="TextBox 32"/>
          <p:cNvSpPr txBox="1"/>
          <p:nvPr/>
        </p:nvSpPr>
        <p:spPr>
          <a:xfrm>
            <a:off x="4961534"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144414"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2671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2671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52846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look at th…</a:t>
            </a:r>
          </a:p>
        </p:txBody>
      </p:sp>
      <p:sp>
        <p:nvSpPr>
          <p:cNvPr id="38" name="TextBox 37"/>
          <p:cNvSpPr txBox="1"/>
          <p:nvPr/>
        </p:nvSpPr>
        <p:spPr>
          <a:xfrm>
            <a:off x="6801307"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6984187"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66483"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6648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368235"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one thing…</a:t>
            </a:r>
          </a:p>
        </p:txBody>
      </p:sp>
      <p:sp>
        <p:nvSpPr>
          <p:cNvPr id="43" name="TextBox 42"/>
          <p:cNvSpPr txBox="1"/>
          <p:nvPr/>
        </p:nvSpPr>
        <p:spPr>
          <a:xfrm>
            <a:off x="855512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73800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82030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03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12205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becomes 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Personalisation — remember one thing about this child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Name, interest, last lesson</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moment a child feels “this teacher knows me”, their attitude changes. It does not take much — remembering one thing they said last week is enough.</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Skim the last evaluation for 30 seconds before class.</a:t>
            </a:r>
          </a:p>
          <a:p>
            <a:pPr>
              <a:lnSpc>
                <a:spcPct val="115000"/>
              </a:lnSpc>
              <a:spcAft>
                <a:spcPts val="300"/>
              </a:spcAft>
            </a:pPr>
            <a:r>
              <a:rPr sz="700" b="1">
                <a:solidFill>
                  <a:srgbClr val="0B5FFF"/>
                </a:solidFill>
                <a:latin typeface="Malgun Gothic"/>
              </a:rPr>
              <a:t>● </a:t>
            </a:r>
            <a:r>
              <a:rPr sz="900">
                <a:solidFill>
                  <a:srgbClr val="334155"/>
                </a:solidFill>
                <a:latin typeface="Malgun Gothic"/>
              </a:rPr>
              <a:t>Note one interest (football, K-pop, games).</a:t>
            </a:r>
          </a:p>
          <a:p>
            <a:pPr>
              <a:lnSpc>
                <a:spcPct val="115000"/>
              </a:lnSpc>
              <a:spcAft>
                <a:spcPts val="300"/>
              </a:spcAft>
            </a:pPr>
            <a:r>
              <a:rPr sz="700" b="1">
                <a:solidFill>
                  <a:srgbClr val="0B5FFF"/>
                </a:solidFill>
                <a:latin typeface="Malgun Gothic"/>
              </a:rPr>
              <a:t>● </a:t>
            </a:r>
            <a:r>
              <a:rPr sz="900">
                <a:solidFill>
                  <a:srgbClr val="334155"/>
                </a:solidFill>
                <a:latin typeface="Malgun Gothic"/>
              </a:rPr>
              <a:t>Bring it up in your greeting — “Did your team win last week?”</a:t>
            </a:r>
          </a:p>
          <a:p>
            <a:pPr>
              <a:lnSpc>
                <a:spcPct val="115000"/>
              </a:lnSpc>
              <a:spcAft>
                <a:spcPts val="300"/>
              </a:spcAft>
            </a:pPr>
            <a:r>
              <a:rPr sz="700" b="1">
                <a:solidFill>
                  <a:srgbClr val="0B5FFF"/>
                </a:solidFill>
                <a:latin typeface="Malgun Gothic"/>
              </a:rPr>
              <a:t>● </a:t>
            </a:r>
            <a:r>
              <a:rPr sz="900">
                <a:solidFill>
                  <a:srgbClr val="334155"/>
                </a:solidFill>
                <a:latin typeface="Malgun Gothic"/>
              </a:rPr>
              <a:t>Rebuild your examples and games around that interest.</a:t>
            </a:r>
          </a:p>
          <a:p>
            <a:pPr>
              <a:lnSpc>
                <a:spcPct val="115000"/>
              </a:lnSpc>
              <a:spcAft>
                <a:spcPts val="300"/>
              </a:spcAft>
            </a:pPr>
            <a:r>
              <a:rPr sz="700" b="1">
                <a:solidFill>
                  <a:srgbClr val="0B5FFF"/>
                </a:solidFill>
                <a:latin typeface="Malgun Gothic"/>
              </a:rPr>
              <a:t>● </a:t>
            </a:r>
            <a:r>
              <a:rPr sz="900">
                <a:solidFill>
                  <a:srgbClr val="334155"/>
                </a:solidFill>
                <a:latin typeface="Malgun Gothic"/>
              </a:rPr>
              <a:t>Write down what to ask next time in the evaluation notes.</a:t>
            </a:r>
          </a:p>
        </p:txBody>
      </p:sp>
      <p:sp>
        <p:nvSpPr>
          <p:cNvPr id="14" name="Rounded Rectangle 13"/>
          <p:cNvSpPr/>
          <p:nvPr/>
        </p:nvSpPr>
        <p:spPr>
          <a:xfrm>
            <a:off x="457200" y="5924854"/>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217462"/>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Personalisation is record-keeping, not memory. Write it down.</a:t>
            </a:r>
          </a:p>
          <a:p>
            <a:pPr>
              <a:lnSpc>
                <a:spcPct val="115000"/>
              </a:lnSpc>
              <a:spcAft>
                <a:spcPts val="100"/>
              </a:spcAft>
            </a:pPr>
            <a:r>
              <a:rPr sz="650" b="1">
                <a:solidFill>
                  <a:srgbClr val="0B5FFF"/>
                </a:solidFill>
                <a:latin typeface="Malgun Gothic"/>
              </a:rPr>
              <a:t>● </a:t>
            </a:r>
            <a:r>
              <a:rPr sz="850">
                <a:solidFill>
                  <a:srgbClr val="334155"/>
                </a:solidFill>
                <a:latin typeface="Malgun Gothic"/>
              </a:rPr>
              <a:t>Putting their interests into example sentences makes the same grammar far stickier.</a:t>
            </a:r>
          </a:p>
          <a:p>
            <a:pPr>
              <a:lnSpc>
                <a:spcPct val="115000"/>
              </a:lnSpc>
              <a:spcAft>
                <a:spcPts val="100"/>
              </a:spcAft>
            </a:pPr>
            <a:r>
              <a:rPr sz="650" b="1">
                <a:solidFill>
                  <a:srgbClr val="0B5FFF"/>
                </a:solidFill>
                <a:latin typeface="Malgun Gothic"/>
              </a:rPr>
              <a:t>● </a:t>
            </a:r>
            <a:r>
              <a:rPr sz="850">
                <a:solidFill>
                  <a:srgbClr val="334155"/>
                </a:solidFill>
                <a:latin typeface="Malgun Gothic"/>
              </a:rPr>
              <a:t>Simply using their name often raises attention.</a:t>
            </a:r>
          </a:p>
        </p:txBody>
      </p:sp>
      <p:sp>
        <p:nvSpPr>
          <p:cNvPr id="17" name="Rounded Rectangle 16"/>
          <p:cNvSpPr/>
          <p:nvPr/>
        </p:nvSpPr>
        <p:spPr>
          <a:xfrm>
            <a:off x="365760" y="6172200"/>
            <a:ext cx="11457432" cy="521208"/>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Pro tip · Ask “What do you love?” in the first week. That one answer becomes six months of lesson material.</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echeck.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586484"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66878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6878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197053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last evalu…</a:t>
            </a:r>
          </a:p>
        </p:txBody>
      </p:sp>
      <p:sp>
        <p:nvSpPr>
          <p:cNvPr id="26" name="TextBox 25"/>
          <p:cNvSpPr txBox="1"/>
          <p:nvPr/>
        </p:nvSpPr>
        <p:spPr>
          <a:xfrm>
            <a:off x="324337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7" name="Rounded Rectangle 26"/>
          <p:cNvSpPr/>
          <p:nvPr/>
        </p:nvSpPr>
        <p:spPr>
          <a:xfrm>
            <a:off x="342625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50855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one intere…</a:t>
            </a:r>
          </a:p>
        </p:txBody>
      </p:sp>
      <p:sp>
        <p:nvSpPr>
          <p:cNvPr id="31" name="TextBox 30"/>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2" name="Rounded Rectangle 31"/>
          <p:cNvSpPr/>
          <p:nvPr/>
        </p:nvSpPr>
        <p:spPr>
          <a:xfrm>
            <a:off x="5266029"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48325"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Bring it u…</a:t>
            </a:r>
          </a:p>
        </p:txBody>
      </p:sp>
      <p:sp>
        <p:nvSpPr>
          <p:cNvPr id="36" name="TextBox 35"/>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7" name="Rounded Rectangle 36"/>
          <p:cNvSpPr/>
          <p:nvPr/>
        </p:nvSpPr>
        <p:spPr>
          <a:xfrm>
            <a:off x="710580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8809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around tha…</a:t>
            </a:r>
          </a:p>
        </p:txBody>
      </p:sp>
      <p:sp>
        <p:nvSpPr>
          <p:cNvPr id="41" name="TextBox 40"/>
          <p:cNvSpPr txBox="1"/>
          <p:nvPr/>
        </p:nvSpPr>
        <p:spPr>
          <a:xfrm>
            <a:off x="876269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2" name="Rounded Rectangle 41"/>
          <p:cNvSpPr/>
          <p:nvPr/>
        </p:nvSpPr>
        <p:spPr>
          <a:xfrm>
            <a:off x="894557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02787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278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32962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evaluation…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Rhythm — cut 25 minutes into four pieces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Never run one activity past 7 minutes</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 child's attention on a single activity lasts 5–7 minutes. Run 25 minutes as one continuous block and the last 10 are effectively wasted. Simply switching activity brings attention back.</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Warm-up, 3 min — AI warm-up or light questions to get their mouth moving.</a:t>
            </a:r>
          </a:p>
          <a:p>
            <a:pPr>
              <a:lnSpc>
                <a:spcPct val="115000"/>
              </a:lnSpc>
              <a:spcAft>
                <a:spcPts val="300"/>
              </a:spcAft>
            </a:pPr>
            <a:r>
              <a:rPr sz="700" b="1">
                <a:solidFill>
                  <a:srgbClr val="0B5FFF"/>
                </a:solidFill>
                <a:latin typeface="Malgun Gothic"/>
              </a:rPr>
              <a:t>● </a:t>
            </a:r>
            <a:r>
              <a:rPr sz="900">
                <a:solidFill>
                  <a:srgbClr val="334155"/>
                </a:solidFill>
                <a:latin typeface="Malgun Gothic"/>
              </a:rPr>
              <a:t>Core, 7 min — today's target expression or textbook.</a:t>
            </a:r>
          </a:p>
          <a:p>
            <a:pPr>
              <a:lnSpc>
                <a:spcPct val="115000"/>
              </a:lnSpc>
              <a:spcAft>
                <a:spcPts val="300"/>
              </a:spcAft>
            </a:pPr>
            <a:r>
              <a:rPr sz="700" b="1">
                <a:solidFill>
                  <a:srgbClr val="0B5FFF"/>
                </a:solidFill>
                <a:latin typeface="Malgun Gothic"/>
              </a:rPr>
              <a:t>● </a:t>
            </a:r>
            <a:r>
              <a:rPr sz="900">
                <a:solidFill>
                  <a:srgbClr val="334155"/>
                </a:solidFill>
                <a:latin typeface="Malgun Gothic"/>
              </a:rPr>
              <a:t>Speaking, 7 min — real conversation using what they just learned.</a:t>
            </a:r>
          </a:p>
          <a:p>
            <a:pPr>
              <a:lnSpc>
                <a:spcPct val="115000"/>
              </a:lnSpc>
              <a:spcAft>
                <a:spcPts val="300"/>
              </a:spcAft>
            </a:pPr>
            <a:r>
              <a:rPr sz="700" b="1">
                <a:solidFill>
                  <a:srgbClr val="0B5FFF"/>
                </a:solidFill>
                <a:latin typeface="Malgun Gothic"/>
              </a:rPr>
              <a:t>● </a:t>
            </a:r>
            <a:r>
              <a:rPr sz="900">
                <a:solidFill>
                  <a:srgbClr val="334155"/>
                </a:solidFill>
                <a:latin typeface="Malgun Gothic"/>
              </a:rPr>
              <a:t>Game &amp; reward, 5 min — review through a learning game, earn points.</a:t>
            </a:r>
          </a:p>
          <a:p>
            <a:pPr>
              <a:lnSpc>
                <a:spcPct val="115000"/>
              </a:lnSpc>
              <a:spcAft>
                <a:spcPts val="300"/>
              </a:spcAft>
            </a:pPr>
            <a:r>
              <a:rPr sz="700" b="1">
                <a:solidFill>
                  <a:srgbClr val="0B5FFF"/>
                </a:solidFill>
                <a:latin typeface="Malgun Gothic"/>
              </a:rPr>
              <a:t>● </a:t>
            </a:r>
            <a:r>
              <a:rPr sz="900">
                <a:solidFill>
                  <a:srgbClr val="334155"/>
                </a:solidFill>
                <a:latin typeface="Malgun Gothic"/>
              </a:rPr>
              <a:t>Close, 3 min — praise plus a preview of next time.</a:t>
            </a:r>
          </a:p>
        </p:txBody>
      </p:sp>
      <p:sp>
        <p:nvSpPr>
          <p:cNvPr id="14" name="Rounded Rectangle 13"/>
          <p:cNvSpPr/>
          <p:nvPr/>
        </p:nvSpPr>
        <p:spPr>
          <a:xfrm>
            <a:off x="457200" y="6085332"/>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377940"/>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Attention resets every time the activity changes.</a:t>
            </a:r>
          </a:p>
          <a:p>
            <a:pPr>
              <a:lnSpc>
                <a:spcPct val="115000"/>
              </a:lnSpc>
              <a:spcAft>
                <a:spcPts val="100"/>
              </a:spcAft>
            </a:pPr>
            <a:r>
              <a:rPr sz="650" b="1">
                <a:solidFill>
                  <a:srgbClr val="0B5FFF"/>
                </a:solidFill>
                <a:latin typeface="Malgun Gothic"/>
              </a:rPr>
              <a:t>● </a:t>
            </a:r>
            <a:r>
              <a:rPr sz="850">
                <a:solidFill>
                  <a:srgbClr val="334155"/>
                </a:solidFill>
                <a:latin typeface="Malgun Gothic"/>
              </a:rPr>
              <a:t>If they look bored, change the activity — do not add explanation.</a:t>
            </a:r>
          </a:p>
          <a:p>
            <a:pPr>
              <a:lnSpc>
                <a:spcPct val="115000"/>
              </a:lnSpc>
              <a:spcAft>
                <a:spcPts val="100"/>
              </a:spcAft>
            </a:pPr>
            <a:r>
              <a:rPr sz="650" b="1">
                <a:solidFill>
                  <a:srgbClr val="0B5FFF"/>
                </a:solidFill>
                <a:latin typeface="Malgun Gothic"/>
              </a:rPr>
              <a:t>● </a:t>
            </a:r>
            <a:r>
              <a:rPr sz="850">
                <a:solidFill>
                  <a:srgbClr val="334155"/>
                </a:solidFill>
                <a:latin typeface="Malgun Gothic"/>
              </a:rPr>
              <a:t>That final 3-minute preview measurably improves next-lesson attendance.</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Rhythm is a tool, not a rule. If a child is deeply engaged, do not interrupt it.</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Keep the on-screen timer running. The child starts to anticipate “game time is coming”, which itself helps.</a:t>
            </a:r>
          </a:p>
        </p:txBody>
      </p:sp>
      <p:sp>
        <p:nvSpPr>
          <p:cNvPr id="21" name="Rectangle 20"/>
          <p:cNvSpPr/>
          <p:nvPr/>
        </p:nvSpPr>
        <p:spPr>
          <a:xfrm>
            <a:off x="6870965" y="3255264"/>
            <a:ext cx="4454629"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925829" y="3310128"/>
            <a:ext cx="4344901"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2946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1175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11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1350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Warm-up, 3…</a:t>
            </a:r>
          </a:p>
        </p:txBody>
      </p:sp>
      <p:sp>
        <p:nvSpPr>
          <p:cNvPr id="28" name="TextBox 27"/>
          <p:cNvSpPr txBox="1"/>
          <p:nvPr/>
        </p:nvSpPr>
        <p:spPr>
          <a:xfrm>
            <a:off x="328635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469233"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5152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51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5328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Core, 7 mi…</a:t>
            </a:r>
          </a:p>
        </p:txBody>
      </p:sp>
      <p:sp>
        <p:nvSpPr>
          <p:cNvPr id="33" name="TextBox 32"/>
          <p:cNvSpPr txBox="1"/>
          <p:nvPr/>
        </p:nvSpPr>
        <p:spPr>
          <a:xfrm>
            <a:off x="512612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309006"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9130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913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93054"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Speaking,…</a:t>
            </a:r>
          </a:p>
        </p:txBody>
      </p:sp>
      <p:sp>
        <p:nvSpPr>
          <p:cNvPr id="38" name="TextBox 37"/>
          <p:cNvSpPr txBox="1"/>
          <p:nvPr/>
        </p:nvSpPr>
        <p:spPr>
          <a:xfrm>
            <a:off x="6879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06282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45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45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4687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Game &amp; rew…</a:t>
            </a:r>
          </a:p>
        </p:txBody>
      </p:sp>
      <p:sp>
        <p:nvSpPr>
          <p:cNvPr id="43" name="TextBox 42"/>
          <p:cNvSpPr txBox="1"/>
          <p:nvPr/>
        </p:nvSpPr>
        <p:spPr>
          <a:xfrm>
            <a:off x="871971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902598"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8489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848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8664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Close, 3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Warm-up — loosen the mouth before you expect words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3 minutes that change 25</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Go straight into the material from cold and the child will spend the first 10 minutes in silence. The AI warm-up is the stretching that gets sound out of them with no pressure.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1923897"/>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Open the AI Warm-up tab in the classroom.</a:t>
            </a:r>
          </a:p>
          <a:p>
            <a:pPr>
              <a:lnSpc>
                <a:spcPct val="115000"/>
              </a:lnSpc>
              <a:spcAft>
                <a:spcPts val="300"/>
              </a:spcAft>
            </a:pPr>
            <a:r>
              <a:rPr sz="700" b="1">
                <a:solidFill>
                  <a:srgbClr val="0B5FFF"/>
                </a:solidFill>
                <a:latin typeface="Malgun Gothic"/>
              </a:rPr>
              <a:t>● </a:t>
            </a:r>
            <a:r>
              <a:rPr sz="900">
                <a:solidFill>
                  <a:srgbClr val="334155"/>
                </a:solidFill>
                <a:latin typeface="Malgun Gothic"/>
              </a:rPr>
              <a:t>Choose the speed and level that fits the child.</a:t>
            </a:r>
          </a:p>
          <a:p>
            <a:pPr>
              <a:lnSpc>
                <a:spcPct val="115000"/>
              </a:lnSpc>
              <a:spcAft>
                <a:spcPts val="300"/>
              </a:spcAft>
            </a:pPr>
            <a:r>
              <a:rPr sz="700" b="1">
                <a:solidFill>
                  <a:srgbClr val="0B5FFF"/>
                </a:solidFill>
                <a:latin typeface="Malgun Gothic"/>
              </a:rPr>
              <a:t>● </a:t>
            </a:r>
            <a:r>
              <a:rPr sz="900">
                <a:solidFill>
                  <a:srgbClr val="334155"/>
                </a:solidFill>
                <a:latin typeface="Malgun Gothic"/>
              </a:rPr>
              <a:t>Model it yourself first.</a:t>
            </a:r>
          </a:p>
          <a:p>
            <a:pPr>
              <a:lnSpc>
                <a:spcPct val="115000"/>
              </a:lnSpc>
              <a:spcAft>
                <a:spcPts val="300"/>
              </a:spcAft>
            </a:pPr>
            <a:r>
              <a:rPr sz="700" b="1">
                <a:solidFill>
                  <a:srgbClr val="0B5FFF"/>
                </a:solidFill>
                <a:latin typeface="Malgun Gothic"/>
              </a:rPr>
              <a:t>● </a:t>
            </a:r>
            <a:r>
              <a:rPr sz="900">
                <a:solidFill>
                  <a:srgbClr val="334155"/>
                </a:solidFill>
                <a:latin typeface="Malgun Gothic"/>
              </a:rPr>
              <a:t>Have them say it aloud, and praise even a quiet attempt.</a:t>
            </a:r>
          </a:p>
          <a:p>
            <a:pPr>
              <a:lnSpc>
                <a:spcPct val="115000"/>
              </a:lnSpc>
              <a:spcAft>
                <a:spcPts val="300"/>
              </a:spcAft>
            </a:pPr>
            <a:r>
              <a:rPr sz="700" b="1">
                <a:solidFill>
                  <a:srgbClr val="0B5FFF"/>
                </a:solidFill>
                <a:latin typeface="Malgun Gothic"/>
              </a:rPr>
              <a:t>● </a:t>
            </a:r>
            <a:r>
              <a:rPr sz="900">
                <a:solidFill>
                  <a:srgbClr val="334155"/>
                </a:solidFill>
                <a:latin typeface="Malgun Gothic"/>
              </a:rPr>
              <a:t>Carry the warm-up phrases straight into the main lesson.</a:t>
            </a:r>
          </a:p>
        </p:txBody>
      </p:sp>
      <p:sp>
        <p:nvSpPr>
          <p:cNvPr id="14" name="Rounded Rectangle 13"/>
          <p:cNvSpPr/>
          <p:nvPr/>
        </p:nvSpPr>
        <p:spPr>
          <a:xfrm>
            <a:off x="457200" y="5764377"/>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810097"/>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056985"/>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The goal of a warm-up is making sound, not being accurate.</a:t>
            </a:r>
          </a:p>
          <a:p>
            <a:pPr>
              <a:lnSpc>
                <a:spcPct val="115000"/>
              </a:lnSpc>
              <a:spcAft>
                <a:spcPts val="100"/>
              </a:spcAft>
            </a:pPr>
            <a:r>
              <a:rPr sz="650" b="1">
                <a:solidFill>
                  <a:srgbClr val="0B5FFF"/>
                </a:solidFill>
                <a:latin typeface="Malgun Gothic"/>
              </a:rPr>
              <a:t>● </a:t>
            </a:r>
            <a:r>
              <a:rPr sz="850">
                <a:solidFill>
                  <a:srgbClr val="334155"/>
                </a:solidFill>
                <a:latin typeface="Malgun Gothic"/>
              </a:rPr>
              <a:t>Going first yourself removes most of their hesitation.</a:t>
            </a:r>
          </a:p>
          <a:p>
            <a:pPr>
              <a:lnSpc>
                <a:spcPct val="115000"/>
              </a:lnSpc>
              <a:spcAft>
                <a:spcPts val="100"/>
              </a:spcAft>
            </a:pPr>
            <a:r>
              <a:rPr sz="650" b="1">
                <a:solidFill>
                  <a:srgbClr val="0B5FFF"/>
                </a:solidFill>
                <a:latin typeface="Malgun Gothic"/>
              </a:rPr>
              <a:t>● </a:t>
            </a:r>
            <a:r>
              <a:rPr sz="850">
                <a:solidFill>
                  <a:srgbClr val="334155"/>
                </a:solidFill>
                <a:latin typeface="Malgun Gothic"/>
              </a:rPr>
              <a:t>Reusing warm-up phrases later doubles the sense of achievement.</a:t>
            </a:r>
          </a:p>
        </p:txBody>
      </p:sp>
      <p:sp>
        <p:nvSpPr>
          <p:cNvPr id="17" name="Rounded Rectangle 16"/>
          <p:cNvSpPr/>
          <p:nvPr/>
        </p:nvSpPr>
        <p:spPr>
          <a:xfrm>
            <a:off x="365760" y="6172200"/>
            <a:ext cx="11457432" cy="521208"/>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Pro tip · For very quiet students, stretch the warm-up to five minutes. Once the mouth is moving everything else gets easier.</a:t>
            </a:r>
          </a:p>
        </p:txBody>
      </p:sp>
      <p:sp>
        <p:nvSpPr>
          <p:cNvPr id="19" name="Rectangle 18"/>
          <p:cNvSpPr/>
          <p:nvPr/>
        </p:nvSpPr>
        <p:spPr>
          <a:xfrm>
            <a:off x="6744078" y="3255264"/>
            <a:ext cx="4708403"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armup.jpg"/>
          <p:cNvPicPr>
            <a:picLocks noChangeAspect="1"/>
          </p:cNvPicPr>
          <p:nvPr/>
        </p:nvPicPr>
        <p:blipFill>
          <a:blip r:embed="rId2"/>
          <a:stretch>
            <a:fillRect/>
          </a:stretch>
        </p:blipFill>
        <p:spPr>
          <a:xfrm>
            <a:off x="6798942" y="3310128"/>
            <a:ext cx="4598675"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62946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1175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11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01350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Warm-up…</a:t>
            </a:r>
          </a:p>
        </p:txBody>
      </p:sp>
      <p:sp>
        <p:nvSpPr>
          <p:cNvPr id="26" name="TextBox 25"/>
          <p:cNvSpPr txBox="1"/>
          <p:nvPr/>
        </p:nvSpPr>
        <p:spPr>
          <a:xfrm>
            <a:off x="328635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7" name="Rounded Rectangle 26"/>
          <p:cNvSpPr/>
          <p:nvPr/>
        </p:nvSpPr>
        <p:spPr>
          <a:xfrm>
            <a:off x="3469233"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55152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51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853281"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speed and…</a:t>
            </a:r>
          </a:p>
        </p:txBody>
      </p:sp>
      <p:sp>
        <p:nvSpPr>
          <p:cNvPr id="31" name="TextBox 30"/>
          <p:cNvSpPr txBox="1"/>
          <p:nvPr/>
        </p:nvSpPr>
        <p:spPr>
          <a:xfrm>
            <a:off x="504017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2" name="Rounded Rectangle 31"/>
          <p:cNvSpPr/>
          <p:nvPr/>
        </p:nvSpPr>
        <p:spPr>
          <a:xfrm>
            <a:off x="522305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0534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53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60710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Model it y…</a:t>
            </a:r>
          </a:p>
        </p:txBody>
      </p:sp>
      <p:sp>
        <p:nvSpPr>
          <p:cNvPr id="36" name="TextBox 35"/>
          <p:cNvSpPr txBox="1"/>
          <p:nvPr/>
        </p:nvSpPr>
        <p:spPr>
          <a:xfrm>
            <a:off x="6879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7" name="Rounded Rectangle 36"/>
          <p:cNvSpPr/>
          <p:nvPr/>
        </p:nvSpPr>
        <p:spPr>
          <a:xfrm>
            <a:off x="706282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45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45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44687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praise eve…</a:t>
            </a:r>
          </a:p>
        </p:txBody>
      </p:sp>
      <p:sp>
        <p:nvSpPr>
          <p:cNvPr id="41" name="TextBox 40"/>
          <p:cNvSpPr txBox="1"/>
          <p:nvPr/>
        </p:nvSpPr>
        <p:spPr>
          <a:xfrm>
            <a:off x="871971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2" name="Rounded Rectangle 41"/>
          <p:cNvSpPr/>
          <p:nvPr/>
        </p:nvSpPr>
        <p:spPr>
          <a:xfrm>
            <a:off x="8902598"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98489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848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28664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straight 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Games — turning review into play</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Not a reward — the review itself</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 game is not a prize after the lesson; it is the review. Inside a game a child will meet the same word five times without getting bored. Used with a stated purpose, it is the strongest learning tool you have.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Pick a game that contains today's expressions.</a:t>
            </a:r>
          </a:p>
          <a:p>
            <a:pPr>
              <a:lnSpc>
                <a:spcPct val="115000"/>
              </a:lnSpc>
              <a:spcAft>
                <a:spcPts val="300"/>
              </a:spcAft>
            </a:pPr>
            <a:r>
              <a:rPr sz="700" b="1">
                <a:solidFill>
                  <a:srgbClr val="0B5FFF"/>
                </a:solidFill>
                <a:latin typeface="Malgun Gothic"/>
              </a:rPr>
              <a:t>● </a:t>
            </a:r>
            <a:r>
              <a:rPr sz="900">
                <a:solidFill>
                  <a:srgbClr val="334155"/>
                </a:solidFill>
                <a:latin typeface="Malgun Gothic"/>
              </a:rPr>
              <a:t>State the goal first — “Let's get 10 points with today's words!”</a:t>
            </a:r>
          </a:p>
          <a:p>
            <a:pPr>
              <a:lnSpc>
                <a:spcPct val="115000"/>
              </a:lnSpc>
              <a:spcAft>
                <a:spcPts val="300"/>
              </a:spcAft>
            </a:pPr>
            <a:r>
              <a:rPr sz="700" b="1">
                <a:solidFill>
                  <a:srgbClr val="0B5FFF"/>
                </a:solidFill>
                <a:latin typeface="Malgun Gothic"/>
              </a:rPr>
              <a:t>● </a:t>
            </a:r>
            <a:r>
              <a:rPr sz="900">
                <a:solidFill>
                  <a:srgbClr val="334155"/>
                </a:solidFill>
                <a:latin typeface="Malgun Gothic"/>
              </a:rPr>
              <a:t>While they play, note the words they get wrong.</a:t>
            </a:r>
          </a:p>
          <a:p>
            <a:pPr>
              <a:lnSpc>
                <a:spcPct val="115000"/>
              </a:lnSpc>
              <a:spcAft>
                <a:spcPts val="300"/>
              </a:spcAft>
            </a:pPr>
            <a:r>
              <a:rPr sz="700" b="1">
                <a:solidFill>
                  <a:srgbClr val="0B5FFF"/>
                </a:solidFill>
                <a:latin typeface="Malgun Gothic"/>
              </a:rPr>
              <a:t>● </a:t>
            </a:r>
            <a:r>
              <a:rPr sz="900">
                <a:solidFill>
                  <a:srgbClr val="334155"/>
                </a:solidFill>
                <a:latin typeface="Malgun Gothic"/>
              </a:rPr>
              <a:t>After the game, revisit only the wrong ones.</a:t>
            </a:r>
          </a:p>
          <a:p>
            <a:pPr>
              <a:lnSpc>
                <a:spcPct val="115000"/>
              </a:lnSpc>
              <a:spcAft>
                <a:spcPts val="300"/>
              </a:spcAft>
            </a:pPr>
            <a:r>
              <a:rPr sz="700" b="1">
                <a:solidFill>
                  <a:srgbClr val="0B5FFF"/>
                </a:solidFill>
                <a:latin typeface="Malgun Gothic"/>
              </a:rPr>
              <a:t>● </a:t>
            </a:r>
            <a:r>
              <a:rPr sz="900">
                <a:solidFill>
                  <a:srgbClr val="334155"/>
                </a:solidFill>
                <a:latin typeface="Malgun Gothic"/>
              </a:rPr>
              <a:t>Tie the result back to the praise basket and points.</a:t>
            </a:r>
          </a:p>
        </p:txBody>
      </p:sp>
      <p:sp>
        <p:nvSpPr>
          <p:cNvPr id="14" name="Rounded Rectangle 13"/>
          <p:cNvSpPr/>
          <p:nvPr/>
        </p:nvSpPr>
        <p:spPr>
          <a:xfrm>
            <a:off x="457200" y="5924854"/>
            <a:ext cx="5669280" cy="1370457"/>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217462"/>
            <a:ext cx="5394960" cy="1041273"/>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A game with no stated purpose is just playtime. Say the goal first.</a:t>
            </a:r>
          </a:p>
          <a:p>
            <a:pPr>
              <a:lnSpc>
                <a:spcPct val="115000"/>
              </a:lnSpc>
              <a:spcAft>
                <a:spcPts val="100"/>
              </a:spcAft>
            </a:pPr>
            <a:r>
              <a:rPr sz="650" b="1">
                <a:solidFill>
                  <a:srgbClr val="0B5FFF"/>
                </a:solidFill>
                <a:latin typeface="Malgun Gothic"/>
              </a:rPr>
              <a:t>● </a:t>
            </a:r>
            <a:r>
              <a:rPr sz="850">
                <a:solidFill>
                  <a:srgbClr val="334155"/>
                </a:solidFill>
                <a:latin typeface="Malgun Gothic"/>
              </a:rPr>
              <a:t>The wrong answers are the real harvest — they are next lesson's material.</a:t>
            </a:r>
          </a:p>
          <a:p>
            <a:pPr>
              <a:lnSpc>
                <a:spcPct val="115000"/>
              </a:lnSpc>
              <a:spcAft>
                <a:spcPts val="100"/>
              </a:spcAft>
            </a:pPr>
            <a:r>
              <a:rPr sz="650" b="1">
                <a:solidFill>
                  <a:srgbClr val="0B5FFF"/>
                </a:solidFill>
                <a:latin typeface="Malgun Gothic"/>
              </a:rPr>
              <a:t>● </a:t>
            </a:r>
            <a:r>
              <a:rPr sz="850">
                <a:solidFill>
                  <a:srgbClr val="334155"/>
                </a:solidFill>
                <a:latin typeface="Malgun Gothic"/>
              </a:rPr>
              <a:t>Rotating game types keeps the novelty alive.</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On slower devices or weak connections games can stutter. Switch to a lighter quiz-style activity when that happens.</a:t>
            </a:r>
          </a:p>
        </p:txBody>
      </p:sp>
      <p:sp>
        <p:nvSpPr>
          <p:cNvPr id="19" name="Rounded Rectangle 18"/>
          <p:cNvSpPr/>
          <p:nvPr/>
        </p:nvSpPr>
        <p:spPr>
          <a:xfrm>
            <a:off x="6176772" y="5870448"/>
            <a:ext cx="5646420" cy="822960"/>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Pro tip · Cheer out loud while they play. A game played alone and a game played together are completely different experiences.</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games.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72437"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54733"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5473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56485"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game that…</a:t>
            </a:r>
          </a:p>
        </p:txBody>
      </p:sp>
      <p:sp>
        <p:nvSpPr>
          <p:cNvPr id="28" name="TextBox 27"/>
          <p:cNvSpPr txBox="1"/>
          <p:nvPr/>
        </p:nvSpPr>
        <p:spPr>
          <a:xfrm>
            <a:off x="324337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426256"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0855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10304"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State the…</a:t>
            </a:r>
          </a:p>
        </p:txBody>
      </p:sp>
      <p:sp>
        <p:nvSpPr>
          <p:cNvPr id="33" name="TextBox 32"/>
          <p:cNvSpPr txBox="1"/>
          <p:nvPr/>
        </p:nvSpPr>
        <p:spPr>
          <a:xfrm>
            <a:off x="499719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18007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6237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623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56412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note the w…</a:t>
            </a:r>
          </a:p>
        </p:txBody>
      </p:sp>
      <p:sp>
        <p:nvSpPr>
          <p:cNvPr id="38" name="TextBox 37"/>
          <p:cNvSpPr txBox="1"/>
          <p:nvPr/>
        </p:nvSpPr>
        <p:spPr>
          <a:xfrm>
            <a:off x="683696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019848"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0214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0214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0389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revisit on…</a:t>
            </a:r>
          </a:p>
        </p:txBody>
      </p:sp>
      <p:sp>
        <p:nvSpPr>
          <p:cNvPr id="43" name="TextBox 42"/>
          <p:cNvSpPr txBox="1"/>
          <p:nvPr/>
        </p:nvSpPr>
        <p:spPr>
          <a:xfrm>
            <a:off x="8676741"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859621"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41917"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4191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43669"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praise bas…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room that only opens when they speak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 game where clicking does nothing</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Escape by Voice is a game that only advances when the child says something in English out loud. There are no buttons, so “I don't want to speak” simply does not work. Treat it as a specialist tool for reluctant speakers.</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Open 🚪 Escape for a student who rarely speaks.</a:t>
            </a:r>
          </a:p>
          <a:p>
            <a:pPr>
              <a:lnSpc>
                <a:spcPct val="115000"/>
              </a:lnSpc>
              <a:spcAft>
                <a:spcPts val="300"/>
              </a:spcAft>
            </a:pPr>
            <a:r>
              <a:rPr sz="700" b="1">
                <a:solidFill>
                  <a:srgbClr val="0B5FFF"/>
                </a:solidFill>
                <a:latin typeface="Malgun Gothic"/>
              </a:rPr>
              <a:t>● </a:t>
            </a:r>
            <a:r>
              <a:rPr sz="900">
                <a:solidFill>
                  <a:srgbClr val="334155"/>
                </a:solidFill>
                <a:latin typeface="Malgun Gothic"/>
              </a:rPr>
              <a:t>Demonstrate one room yourself first.</a:t>
            </a:r>
          </a:p>
          <a:p>
            <a:pPr>
              <a:lnSpc>
                <a:spcPct val="115000"/>
              </a:lnSpc>
              <a:spcAft>
                <a:spcPts val="300"/>
              </a:spcAft>
            </a:pPr>
            <a:r>
              <a:rPr sz="700" b="1">
                <a:solidFill>
                  <a:srgbClr val="0B5FFF"/>
                </a:solidFill>
                <a:latin typeface="Malgun Gothic"/>
              </a:rPr>
              <a:t>● </a:t>
            </a:r>
            <a:r>
              <a:rPr sz="900">
                <a:solidFill>
                  <a:srgbClr val="334155"/>
                </a:solidFill>
                <a:latin typeface="Malgun Gothic"/>
              </a:rPr>
              <a:t>Have them press the mic and speak — accept a quiet attempt.</a:t>
            </a:r>
          </a:p>
          <a:p>
            <a:pPr>
              <a:lnSpc>
                <a:spcPct val="115000"/>
              </a:lnSpc>
              <a:spcAft>
                <a:spcPts val="300"/>
              </a:spcAft>
            </a:pPr>
            <a:r>
              <a:rPr sz="700" b="1">
                <a:solidFill>
                  <a:srgbClr val="0B5FFF"/>
                </a:solidFill>
                <a:latin typeface="Malgun Gothic"/>
              </a:rPr>
              <a:t>● </a:t>
            </a:r>
            <a:r>
              <a:rPr sz="900">
                <a:solidFill>
                  <a:srgbClr val="334155"/>
                </a:solidFill>
                <a:latin typeface="Malgun Gothic"/>
              </a:rPr>
              <a:t>If they are stuck, let them use the Hint button — there is no penalty.</a:t>
            </a:r>
          </a:p>
          <a:p>
            <a:pPr>
              <a:lnSpc>
                <a:spcPct val="115000"/>
              </a:lnSpc>
              <a:spcAft>
                <a:spcPts val="300"/>
              </a:spcAft>
            </a:pPr>
            <a:r>
              <a:rPr sz="700" b="1">
                <a:solidFill>
                  <a:srgbClr val="0B5FFF"/>
                </a:solidFill>
                <a:latin typeface="Malgun Gothic"/>
              </a:rPr>
              <a:t>● </a:t>
            </a:r>
            <a:r>
              <a:rPr sz="900">
                <a:solidFill>
                  <a:srgbClr val="334155"/>
                </a:solidFill>
                <a:latin typeface="Malgun Gothic"/>
              </a:rPr>
              <a:t>At the end, look at how many times they spoke and praise it.</a:t>
            </a:r>
          </a:p>
        </p:txBody>
      </p:sp>
      <p:sp>
        <p:nvSpPr>
          <p:cNvPr id="14" name="Rounded Rectangle 13"/>
          <p:cNvSpPr/>
          <p:nvPr/>
        </p:nvSpPr>
        <p:spPr>
          <a:xfrm>
            <a:off x="457200" y="5924854"/>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217462"/>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The experience of “speaking really does open the door” changes their attitude.</a:t>
            </a:r>
          </a:p>
          <a:p>
            <a:pPr>
              <a:lnSpc>
                <a:spcPct val="115000"/>
              </a:lnSpc>
              <a:spcAft>
                <a:spcPts val="100"/>
              </a:spcAft>
            </a:pPr>
            <a:r>
              <a:rPr sz="650" b="1">
                <a:solidFill>
                  <a:srgbClr val="0B5FFF"/>
                </a:solidFill>
                <a:latin typeface="Malgun Gothic"/>
              </a:rPr>
              <a:t>● </a:t>
            </a:r>
            <a:r>
              <a:rPr sz="850">
                <a:solidFill>
                  <a:srgbClr val="334155"/>
                </a:solidFill>
                <a:latin typeface="Malgun Gothic"/>
              </a:rPr>
              <a:t>Even a failed escape shows how far they got, so there is little discouragement.</a:t>
            </a:r>
          </a:p>
          <a:p>
            <a:pPr>
              <a:lnSpc>
                <a:spcPct val="115000"/>
              </a:lnSpc>
              <a:spcAft>
                <a:spcPts val="100"/>
              </a:spcAft>
            </a:pPr>
            <a:r>
              <a:rPr sz="650" b="1">
                <a:solidFill>
                  <a:srgbClr val="0B5FFF"/>
                </a:solidFill>
                <a:latin typeface="Malgun Gothic"/>
              </a:rPr>
              <a:t>● </a:t>
            </a:r>
            <a:r>
              <a:rPr sz="850">
                <a:solidFill>
                  <a:srgbClr val="334155"/>
                </a:solidFill>
                <a:latin typeface="Malgun Gothic"/>
              </a:rPr>
              <a:t>The spoken-attempt count is good evidence for the evaluation.</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Microphone permission is required. If nothing registers, check the browser's mic permission first.</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Do just one room in the first session. A single success changes how much they speak in every lesson after.</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escape.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15414" y="2670048"/>
            <a:ext cx="1399031"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9771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9771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99462" y="2670048"/>
            <a:ext cx="9784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Escape</a:t>
            </a:r>
          </a:p>
        </p:txBody>
      </p:sp>
      <p:sp>
        <p:nvSpPr>
          <p:cNvPr id="28" name="TextBox 27"/>
          <p:cNvSpPr txBox="1"/>
          <p:nvPr/>
        </p:nvSpPr>
        <p:spPr>
          <a:xfrm>
            <a:off x="311444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29732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7962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7962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68137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Demonstrat…</a:t>
            </a:r>
          </a:p>
        </p:txBody>
      </p:sp>
      <p:sp>
        <p:nvSpPr>
          <p:cNvPr id="33" name="TextBox 32"/>
          <p:cNvSpPr txBox="1"/>
          <p:nvPr/>
        </p:nvSpPr>
        <p:spPr>
          <a:xfrm>
            <a:off x="4954219"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137099"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19395"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939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52114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accept a q…</a:t>
            </a:r>
          </a:p>
        </p:txBody>
      </p:sp>
      <p:sp>
        <p:nvSpPr>
          <p:cNvPr id="38" name="TextBox 37"/>
          <p:cNvSpPr txBox="1"/>
          <p:nvPr/>
        </p:nvSpPr>
        <p:spPr>
          <a:xfrm>
            <a:off x="679399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697687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5916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591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36092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Hint butto…</a:t>
            </a:r>
          </a:p>
        </p:txBody>
      </p:sp>
      <p:sp>
        <p:nvSpPr>
          <p:cNvPr id="43" name="TextBox 42"/>
          <p:cNvSpPr txBox="1"/>
          <p:nvPr/>
        </p:nvSpPr>
        <p:spPr>
          <a:xfrm>
            <a:off x="8633764"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816644"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89894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989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0069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how many 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Vocabulary — don't make them memorise, make them meet it again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Automatic review · Preview tab</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Words are not memorised — they are met repeatedly. The Mangoi word list brings a word back just as the child is about to forget it. Your job is simply to get today's words into it.</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In the last minute of class, have them save three words from today.</a:t>
            </a:r>
          </a:p>
          <a:p>
            <a:pPr>
              <a:lnSpc>
                <a:spcPct val="115000"/>
              </a:lnSpc>
              <a:spcAft>
                <a:spcPts val="300"/>
              </a:spcAft>
            </a:pPr>
            <a:r>
              <a:rPr sz="700" b="1">
                <a:solidFill>
                  <a:srgbClr val="0B5FFF"/>
                </a:solidFill>
                <a:latin typeface="Malgun Gothic"/>
              </a:rPr>
              <a:t>● </a:t>
            </a:r>
            <a:r>
              <a:rPr sz="900">
                <a:solidFill>
                  <a:srgbClr val="334155"/>
                </a:solidFill>
                <a:latin typeface="Malgun Gothic"/>
              </a:rPr>
              <a:t>They can leave the meaning blank — AI fills in the meaning and an example.</a:t>
            </a:r>
          </a:p>
          <a:p>
            <a:pPr>
              <a:lnSpc>
                <a:spcPct val="115000"/>
              </a:lnSpc>
              <a:spcAft>
                <a:spcPts val="300"/>
              </a:spcAft>
            </a:pPr>
            <a:r>
              <a:rPr sz="700" b="1">
                <a:solidFill>
                  <a:srgbClr val="0B5FFF"/>
                </a:solidFill>
                <a:latin typeface="Malgun Gothic"/>
              </a:rPr>
              <a:t>● </a:t>
            </a:r>
            <a:r>
              <a:rPr sz="900">
                <a:solidFill>
                  <a:srgbClr val="334155"/>
                </a:solidFill>
                <a:latin typeface="Malgun Gothic"/>
              </a:rPr>
              <a:t>Ask them to check the 🔮 Preview tab before the next lesson.</a:t>
            </a:r>
          </a:p>
          <a:p>
            <a:pPr>
              <a:lnSpc>
                <a:spcPct val="115000"/>
              </a:lnSpc>
              <a:spcAft>
                <a:spcPts val="300"/>
              </a:spcAft>
            </a:pPr>
            <a:r>
              <a:rPr sz="700" b="1">
                <a:solidFill>
                  <a:srgbClr val="0B5FFF"/>
                </a:solidFill>
                <a:latin typeface="Malgun Gothic"/>
              </a:rPr>
              <a:t>● </a:t>
            </a:r>
            <a:r>
              <a:rPr sz="900">
                <a:solidFill>
                  <a:srgbClr val="334155"/>
                </a:solidFill>
                <a:latin typeface="Malgun Gothic"/>
              </a:rPr>
              <a:t>When that word appears in class, point it out — “You saved this yesterday!”</a:t>
            </a:r>
          </a:p>
          <a:p>
            <a:pPr>
              <a:lnSpc>
                <a:spcPct val="115000"/>
              </a:lnSpc>
              <a:spcAft>
                <a:spcPts val="300"/>
              </a:spcAft>
            </a:pPr>
            <a:r>
              <a:rPr sz="700" b="1">
                <a:solidFill>
                  <a:srgbClr val="0B5FFF"/>
                </a:solidFill>
                <a:latin typeface="Malgun Gothic"/>
              </a:rPr>
              <a:t>● </a:t>
            </a:r>
            <a:r>
              <a:rPr sz="900">
                <a:solidFill>
                  <a:srgbClr val="334155"/>
                </a:solidFill>
                <a:latin typeface="Malgun Gothic"/>
              </a:rPr>
              <a:t>Let it flow into the review game — points for every correct answer.</a:t>
            </a:r>
          </a:p>
        </p:txBody>
      </p:sp>
      <p:sp>
        <p:nvSpPr>
          <p:cNvPr id="14" name="Rounded Rectangle 13"/>
          <p:cNvSpPr/>
          <p:nvPr/>
        </p:nvSpPr>
        <p:spPr>
          <a:xfrm>
            <a:off x="457200" y="6085332"/>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377940"/>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Three is enough. Ask for ten and you will get none.</a:t>
            </a:r>
          </a:p>
          <a:p>
            <a:pPr>
              <a:lnSpc>
                <a:spcPct val="115000"/>
              </a:lnSpc>
              <a:spcAft>
                <a:spcPts val="100"/>
              </a:spcAft>
            </a:pPr>
            <a:r>
              <a:rPr sz="650" b="1">
                <a:solidFill>
                  <a:srgbClr val="0B5FFF"/>
                </a:solidFill>
                <a:latin typeface="Malgun Gothic"/>
              </a:rPr>
              <a:t>● </a:t>
            </a:r>
            <a:r>
              <a:rPr sz="850">
                <a:solidFill>
                  <a:srgbClr val="334155"/>
                </a:solidFill>
                <a:latin typeface="Malgun Gothic"/>
              </a:rPr>
              <a:t>A student who previewed follows the lesson far better that day.</a:t>
            </a:r>
          </a:p>
          <a:p>
            <a:pPr>
              <a:lnSpc>
                <a:spcPct val="115000"/>
              </a:lnSpc>
              <a:spcAft>
                <a:spcPts val="100"/>
              </a:spcAft>
            </a:pPr>
            <a:r>
              <a:rPr sz="650" b="1">
                <a:solidFill>
                  <a:srgbClr val="0B5FFF"/>
                </a:solidFill>
                <a:latin typeface="Malgun Gothic"/>
              </a:rPr>
              <a:t>● </a:t>
            </a:r>
            <a:r>
              <a:rPr sz="850">
                <a:solidFill>
                  <a:srgbClr val="334155"/>
                </a:solidFill>
                <a:latin typeface="Malgun Gothic"/>
              </a:rPr>
              <a:t>As the collection fills, their baby mango grows — that is what keeps them coming back.</a:t>
            </a:r>
          </a:p>
        </p:txBody>
      </p:sp>
      <p:sp>
        <p:nvSpPr>
          <p:cNvPr id="17" name="Rounded Rectangle 16"/>
          <p:cNvSpPr/>
          <p:nvPr/>
        </p:nvSpPr>
        <p:spPr>
          <a:xfrm>
            <a:off x="365760" y="6172200"/>
            <a:ext cx="11457432" cy="521208"/>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Pro tip · Make “three words today” a fixed end-of-class ritual. That is 60 words a month — enough for the child to feel it.</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vocab.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558137"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640433"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043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1942185"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three word…</a:t>
            </a:r>
          </a:p>
        </p:txBody>
      </p:sp>
      <p:sp>
        <p:nvSpPr>
          <p:cNvPr id="26" name="TextBox 25"/>
          <p:cNvSpPr txBox="1"/>
          <p:nvPr/>
        </p:nvSpPr>
        <p:spPr>
          <a:xfrm>
            <a:off x="3215030"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7" name="Rounded Rectangle 26"/>
          <p:cNvSpPr/>
          <p:nvPr/>
        </p:nvSpPr>
        <p:spPr>
          <a:xfrm>
            <a:off x="339791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48020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8020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78195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fills i…</a:t>
            </a:r>
          </a:p>
        </p:txBody>
      </p:sp>
      <p:sp>
        <p:nvSpPr>
          <p:cNvPr id="31" name="TextBox 30"/>
          <p:cNvSpPr txBox="1"/>
          <p:nvPr/>
        </p:nvSpPr>
        <p:spPr>
          <a:xfrm>
            <a:off x="505480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2" name="Rounded Rectangle 31"/>
          <p:cNvSpPr/>
          <p:nvPr/>
        </p:nvSpPr>
        <p:spPr>
          <a:xfrm>
            <a:off x="5237683" y="2670048"/>
            <a:ext cx="164226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1997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1997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621731" y="2670048"/>
            <a:ext cx="122163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Preview…</a:t>
            </a:r>
          </a:p>
        </p:txBody>
      </p:sp>
      <p:sp>
        <p:nvSpPr>
          <p:cNvPr id="36" name="TextBox 35"/>
          <p:cNvSpPr txBox="1"/>
          <p:nvPr/>
        </p:nvSpPr>
        <p:spPr>
          <a:xfrm>
            <a:off x="6879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7" name="Rounded Rectangle 36"/>
          <p:cNvSpPr/>
          <p:nvPr/>
        </p:nvSpPr>
        <p:spPr>
          <a:xfrm>
            <a:off x="7062825" y="2670048"/>
            <a:ext cx="1728215"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45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45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446873" y="2670048"/>
            <a:ext cx="13075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“You saved…</a:t>
            </a:r>
          </a:p>
        </p:txBody>
      </p:sp>
      <p:sp>
        <p:nvSpPr>
          <p:cNvPr id="41" name="TextBox 40"/>
          <p:cNvSpPr txBox="1"/>
          <p:nvPr/>
        </p:nvSpPr>
        <p:spPr>
          <a:xfrm>
            <a:off x="8791041"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2" name="Rounded Rectangle 41"/>
          <p:cNvSpPr/>
          <p:nvPr/>
        </p:nvSpPr>
        <p:spPr>
          <a:xfrm>
            <a:off x="8973921"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056217"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621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357969"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Let it flo…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Evaluations — 3 minutes that build parent trust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One line from you becomes the report</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evaluation is not paperwork. What you write here fills the five axes of the monthly report and the weekly report parents receive. In other words, if you do not write it, the parent receives no evidence at all.</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Write it immediately after the lesson, while it is fresh.</a:t>
            </a:r>
          </a:p>
          <a:p>
            <a:pPr>
              <a:lnSpc>
                <a:spcPct val="115000"/>
              </a:lnSpc>
              <a:spcAft>
                <a:spcPts val="300"/>
              </a:spcAft>
            </a:pPr>
            <a:r>
              <a:rPr sz="700" b="1">
                <a:solidFill>
                  <a:srgbClr val="0B5FFF"/>
                </a:solidFill>
                <a:latin typeface="Malgun Gothic"/>
              </a:rPr>
              <a:t>● </a:t>
            </a:r>
            <a:r>
              <a:rPr sz="900">
                <a:solidFill>
                  <a:srgbClr val="334155"/>
                </a:solidFill>
                <a:latin typeface="Malgun Gothic"/>
              </a:rPr>
              <a:t>Always include one thing done well and one next goal.</a:t>
            </a:r>
          </a:p>
          <a:p>
            <a:pPr>
              <a:lnSpc>
                <a:spcPct val="115000"/>
              </a:lnSpc>
              <a:spcAft>
                <a:spcPts val="300"/>
              </a:spcAft>
            </a:pPr>
            <a:r>
              <a:rPr sz="700" b="1">
                <a:solidFill>
                  <a:srgbClr val="0B5FFF"/>
                </a:solidFill>
                <a:latin typeface="Malgun Gothic"/>
              </a:rPr>
              <a:t>● </a:t>
            </a:r>
            <a:r>
              <a:rPr sz="900">
                <a:solidFill>
                  <a:srgbClr val="334155"/>
                </a:solidFill>
                <a:latin typeface="Malgun Gothic"/>
              </a:rPr>
              <a:t>Score pronunciation, vocabulary, sentences, attitude and participation honestly.</a:t>
            </a:r>
          </a:p>
          <a:p>
            <a:pPr>
              <a:lnSpc>
                <a:spcPct val="115000"/>
              </a:lnSpc>
              <a:spcAft>
                <a:spcPts val="300"/>
              </a:spcAft>
            </a:pPr>
            <a:r>
              <a:rPr sz="700" b="1">
                <a:solidFill>
                  <a:srgbClr val="0B5FFF"/>
                </a:solidFill>
                <a:latin typeface="Malgun Gothic"/>
              </a:rPr>
              <a:t>● </a:t>
            </a:r>
            <a:r>
              <a:rPr sz="900">
                <a:solidFill>
                  <a:srgbClr val="334155"/>
                </a:solidFill>
                <a:latin typeface="Malgun Gothic"/>
              </a:rPr>
              <a:t>Note in the memo field what to ask next lesson.</a:t>
            </a:r>
          </a:p>
          <a:p>
            <a:pPr>
              <a:lnSpc>
                <a:spcPct val="115000"/>
              </a:lnSpc>
              <a:spcAft>
                <a:spcPts val="300"/>
              </a:spcAft>
            </a:pPr>
            <a:r>
              <a:rPr sz="700" b="1">
                <a:solidFill>
                  <a:srgbClr val="0B5FFF"/>
                </a:solidFill>
                <a:latin typeface="Malgun Gothic"/>
              </a:rPr>
              <a:t>● </a:t>
            </a:r>
            <a:r>
              <a:rPr sz="900">
                <a:solidFill>
                  <a:srgbClr val="334155"/>
                </a:solidFill>
                <a:latin typeface="Malgun Gothic"/>
              </a:rPr>
              <a:t>Read and refine the AI draft comment before it goes out.</a:t>
            </a:r>
          </a:p>
        </p:txBody>
      </p:sp>
      <p:sp>
        <p:nvSpPr>
          <p:cNvPr id="14" name="Rounded Rectangle 13"/>
          <p:cNvSpPr/>
          <p:nvPr/>
        </p:nvSpPr>
        <p:spPr>
          <a:xfrm>
            <a:off x="457200" y="6085332"/>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377940"/>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A consistent one-liner beats an occasional essay for report quality.</a:t>
            </a:r>
          </a:p>
          <a:p>
            <a:pPr>
              <a:lnSpc>
                <a:spcPct val="115000"/>
              </a:lnSpc>
              <a:spcAft>
                <a:spcPts val="100"/>
              </a:spcAft>
            </a:pPr>
            <a:r>
              <a:rPr sz="650" b="1">
                <a:solidFill>
                  <a:srgbClr val="0B5FFF"/>
                </a:solidFill>
                <a:latin typeface="Malgun Gothic"/>
              </a:rPr>
              <a:t>● </a:t>
            </a:r>
            <a:r>
              <a:rPr sz="850">
                <a:solidFill>
                  <a:srgbClr val="334155"/>
                </a:solidFill>
                <a:latin typeface="Malgun Gothic"/>
              </a:rPr>
              <a:t>Axes with no evaluation appear empty on the parent's report.</a:t>
            </a:r>
          </a:p>
          <a:p>
            <a:pPr>
              <a:lnSpc>
                <a:spcPct val="115000"/>
              </a:lnSpc>
              <a:spcAft>
                <a:spcPts val="100"/>
              </a:spcAft>
            </a:pPr>
            <a:r>
              <a:rPr sz="650" b="1">
                <a:solidFill>
                  <a:srgbClr val="0B5FFF"/>
                </a:solidFill>
                <a:latin typeface="Malgun Gothic"/>
              </a:rPr>
              <a:t>● </a:t>
            </a:r>
            <a:r>
              <a:rPr sz="850">
                <a:solidFill>
                  <a:srgbClr val="334155"/>
                </a:solidFill>
                <a:latin typeface="Malgun Gothic"/>
              </a:rPr>
              <a:t>Writing the next goal also finishes your prep for the next lesson.</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Scoring more generously than reality feels kind, but parents eventually notice the gap and trust collapses. Be accurate, and warm about it.</a:t>
            </a:r>
          </a:p>
        </p:txBody>
      </p:sp>
      <p:sp>
        <p:nvSpPr>
          <p:cNvPr id="19" name="Rounded Rectangle 18"/>
          <p:cNvSpPr/>
          <p:nvPr/>
        </p:nvSpPr>
        <p:spPr>
          <a:xfrm>
            <a:off x="6176772" y="5870448"/>
            <a:ext cx="5646420" cy="822960"/>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Pro tip · Build a two-sentence template (“did well: … / next goal: …”) and evaluations take one minute.</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eval.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9405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7634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763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17810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immediatel…</a:t>
            </a:r>
          </a:p>
        </p:txBody>
      </p:sp>
      <p:sp>
        <p:nvSpPr>
          <p:cNvPr id="28" name="TextBox 27"/>
          <p:cNvSpPr txBox="1"/>
          <p:nvPr/>
        </p:nvSpPr>
        <p:spPr>
          <a:xfrm>
            <a:off x="3450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633825"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16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16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17873"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one thing…</a:t>
            </a:r>
          </a:p>
        </p:txBody>
      </p:sp>
      <p:sp>
        <p:nvSpPr>
          <p:cNvPr id="33" name="TextBox 32"/>
          <p:cNvSpPr txBox="1"/>
          <p:nvPr/>
        </p:nvSpPr>
        <p:spPr>
          <a:xfrm>
            <a:off x="5204764"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387644" y="2670048"/>
            <a:ext cx="1327708"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46994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699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771692" y="2670048"/>
            <a:ext cx="9070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honestly</a:t>
            </a:r>
          </a:p>
        </p:txBody>
      </p:sp>
      <p:sp>
        <p:nvSpPr>
          <p:cNvPr id="38" name="TextBox 37"/>
          <p:cNvSpPr txBox="1"/>
          <p:nvPr/>
        </p:nvSpPr>
        <p:spPr>
          <a:xfrm>
            <a:off x="671535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6898233"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98052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80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28228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what to as…</a:t>
            </a:r>
          </a:p>
        </p:txBody>
      </p:sp>
      <p:sp>
        <p:nvSpPr>
          <p:cNvPr id="43" name="TextBox 42"/>
          <p:cNvSpPr txBox="1"/>
          <p:nvPr/>
        </p:nvSpPr>
        <p:spPr>
          <a:xfrm>
            <a:off x="855512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73800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82030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03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12205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draft 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Parents — send proof of growth every week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Weekly report · monthly report card</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Parents re-enrol based on a feeling of progress, not a score. Mangoi sends a weekly report covering attendance, AI chats, judgment training, words conquered and pronunciation, and a pentagon report card every two months. You are the person who fills them.</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1795881"/>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Encourage the student to use AI Friend chat, judgment training and the word list.</a:t>
            </a:r>
          </a:p>
          <a:p>
            <a:pPr>
              <a:lnSpc>
                <a:spcPct val="115000"/>
              </a:lnSpc>
              <a:spcAft>
                <a:spcPts val="300"/>
              </a:spcAft>
            </a:pPr>
            <a:r>
              <a:rPr sz="700" b="1">
                <a:solidFill>
                  <a:srgbClr val="0B5FFF"/>
                </a:solidFill>
                <a:latin typeface="Malgun Gothic"/>
              </a:rPr>
              <a:t>● </a:t>
            </a:r>
            <a:r>
              <a:rPr sz="900">
                <a:solidFill>
                  <a:srgbClr val="334155"/>
                </a:solidFill>
                <a:latin typeface="Malgun Gothic"/>
              </a:rPr>
              <a:t>Attendance and activity are what make the report fill up.</a:t>
            </a:r>
          </a:p>
          <a:p>
            <a:pPr>
              <a:lnSpc>
                <a:spcPct val="115000"/>
              </a:lnSpc>
              <a:spcAft>
                <a:spcPts val="300"/>
              </a:spcAft>
            </a:pPr>
            <a:r>
              <a:rPr sz="700" b="1">
                <a:solidFill>
                  <a:srgbClr val="0B5FFF"/>
                </a:solidFill>
                <a:latin typeface="Malgun Gothic"/>
              </a:rPr>
              <a:t>● </a:t>
            </a:r>
            <a:r>
              <a:rPr sz="900">
                <a:solidFill>
                  <a:srgbClr val="334155"/>
                </a:solidFill>
                <a:latin typeface="Malgun Gothic"/>
              </a:rPr>
              <a:t>Keep writing evaluations to fill the five axes of the report card.</a:t>
            </a:r>
          </a:p>
          <a:p>
            <a:pPr>
              <a:lnSpc>
                <a:spcPct val="115000"/>
              </a:lnSpc>
              <a:spcAft>
                <a:spcPts val="300"/>
              </a:spcAft>
            </a:pPr>
            <a:r>
              <a:rPr sz="700" b="1">
                <a:solidFill>
                  <a:srgbClr val="0B5FFF"/>
                </a:solidFill>
                <a:latin typeface="Malgun Gothic"/>
              </a:rPr>
              <a:t>● </a:t>
            </a:r>
            <a:r>
              <a:rPr sz="900">
                <a:solidFill>
                  <a:srgbClr val="334155"/>
                </a:solidFill>
                <a:latin typeface="Malgun Gothic"/>
              </a:rPr>
              <a:t>On an especially good day, leave one specific line.</a:t>
            </a:r>
          </a:p>
        </p:txBody>
      </p:sp>
      <p:sp>
        <p:nvSpPr>
          <p:cNvPr id="14" name="Rounded Rectangle 13"/>
          <p:cNvSpPr/>
          <p:nvPr/>
        </p:nvSpPr>
        <p:spPr>
          <a:xfrm>
            <a:off x="457200" y="5636361"/>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82081"/>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5928969"/>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The report contains no invented numbers — only what actually happened.</a:t>
            </a:r>
          </a:p>
          <a:p>
            <a:pPr>
              <a:lnSpc>
                <a:spcPct val="115000"/>
              </a:lnSpc>
              <a:spcAft>
                <a:spcPts val="100"/>
              </a:spcAft>
            </a:pPr>
            <a:r>
              <a:rPr sz="650" b="1">
                <a:solidFill>
                  <a:srgbClr val="0B5FFF"/>
                </a:solidFill>
                <a:latin typeface="Malgun Gothic"/>
              </a:rPr>
              <a:t>● </a:t>
            </a:r>
            <a:r>
              <a:rPr sz="850">
                <a:solidFill>
                  <a:srgbClr val="334155"/>
                </a:solidFill>
                <a:latin typeface="Malgun Gothic"/>
              </a:rPr>
              <a:t>Students who play games and use the word list get much richer reports.</a:t>
            </a:r>
          </a:p>
          <a:p>
            <a:pPr>
              <a:lnSpc>
                <a:spcPct val="115000"/>
              </a:lnSpc>
              <a:spcAft>
                <a:spcPts val="100"/>
              </a:spcAft>
            </a:pPr>
            <a:r>
              <a:rPr sz="650" b="1">
                <a:solidFill>
                  <a:srgbClr val="0B5FFF"/>
                </a:solidFill>
                <a:latin typeface="Malgun Gothic"/>
              </a:rPr>
              <a:t>● </a:t>
            </a:r>
            <a:r>
              <a:rPr sz="850">
                <a:solidFill>
                  <a:srgbClr val="334155"/>
                </a:solidFill>
                <a:latin typeface="Malgun Gothic"/>
              </a:rPr>
              <a:t>Parents read your one line before they read any number.</a:t>
            </a:r>
          </a:p>
        </p:txBody>
      </p:sp>
      <p:sp>
        <p:nvSpPr>
          <p:cNvPr id="17" name="Rounded Rectangle 16"/>
          <p:cNvSpPr/>
          <p:nvPr/>
        </p:nvSpPr>
        <p:spPr>
          <a:xfrm>
            <a:off x="365760" y="6172200"/>
            <a:ext cx="11457432" cy="521208"/>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Pro tip · When a consultation is booked, ask for the report link to be sent beforehand. A prepared parent makes a completely different conversation.</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_weekly.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49347"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31643"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316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933395"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Friend…</a:t>
            </a:r>
          </a:p>
        </p:txBody>
      </p:sp>
      <p:sp>
        <p:nvSpPr>
          <p:cNvPr id="26" name="TextBox 25"/>
          <p:cNvSpPr txBox="1"/>
          <p:nvPr/>
        </p:nvSpPr>
        <p:spPr>
          <a:xfrm>
            <a:off x="412028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7" name="Rounded Rectangle 26"/>
          <p:cNvSpPr/>
          <p:nvPr/>
        </p:nvSpPr>
        <p:spPr>
          <a:xfrm>
            <a:off x="430316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8546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546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68721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make the r…</a:t>
            </a:r>
          </a:p>
        </p:txBody>
      </p:sp>
      <p:sp>
        <p:nvSpPr>
          <p:cNvPr id="31" name="TextBox 30"/>
          <p:cNvSpPr txBox="1"/>
          <p:nvPr/>
        </p:nvSpPr>
        <p:spPr>
          <a:xfrm>
            <a:off x="5960059"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2" name="Rounded Rectangle 31"/>
          <p:cNvSpPr/>
          <p:nvPr/>
        </p:nvSpPr>
        <p:spPr>
          <a:xfrm>
            <a:off x="6142939"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25235"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252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2698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the five a…</a:t>
            </a:r>
          </a:p>
        </p:txBody>
      </p:sp>
      <p:sp>
        <p:nvSpPr>
          <p:cNvPr id="36" name="TextBox 35"/>
          <p:cNvSpPr txBox="1"/>
          <p:nvPr/>
        </p:nvSpPr>
        <p:spPr>
          <a:xfrm>
            <a:off x="779983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7" name="Rounded Rectangle 36"/>
          <p:cNvSpPr/>
          <p:nvPr/>
        </p:nvSpPr>
        <p:spPr>
          <a:xfrm>
            <a:off x="798271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6500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6500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6676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one specif…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Age tactics — one approach does not fit all</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Preschool · primary · teens</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Teach a 7-year-old and a 15-year-old the same way and you will fail both. Attention span, motivation and how they respond differ completely by age.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405329"/>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Preschool (5–7): change activity every 3–4 min; songs, movement, colours; praise participation over correctness.</a:t>
            </a:r>
          </a:p>
          <a:p>
            <a:pPr>
              <a:lnSpc>
                <a:spcPct val="115000"/>
              </a:lnSpc>
              <a:spcAft>
                <a:spcPts val="300"/>
              </a:spcAft>
            </a:pPr>
            <a:r>
              <a:rPr sz="700" b="1">
                <a:solidFill>
                  <a:srgbClr val="0B5FFF"/>
                </a:solidFill>
                <a:latin typeface="Malgun Gothic"/>
              </a:rPr>
              <a:t>● </a:t>
            </a:r>
            <a:r>
              <a:rPr sz="900">
                <a:solidFill>
                  <a:srgbClr val="334155"/>
                </a:solidFill>
                <a:latin typeface="Malgun Gothic"/>
              </a:rPr>
              <a:t>Lower primary (8–10): games and points are strongest; favour collecting over competing.</a:t>
            </a:r>
          </a:p>
          <a:p>
            <a:pPr>
              <a:lnSpc>
                <a:spcPct val="115000"/>
              </a:lnSpc>
              <a:spcAft>
                <a:spcPts val="300"/>
              </a:spcAft>
            </a:pPr>
            <a:r>
              <a:rPr sz="700" b="1">
                <a:solidFill>
                  <a:srgbClr val="0B5FFF"/>
                </a:solidFill>
                <a:latin typeface="Malgun Gothic"/>
              </a:rPr>
              <a:t>● </a:t>
            </a:r>
            <a:r>
              <a:rPr sz="900">
                <a:solidFill>
                  <a:srgbClr val="334155"/>
                </a:solidFill>
                <a:latin typeface="Malgun Gothic"/>
              </a:rPr>
              <a:t>Upper primary (11–13): they follow you if you explain why; use peer topics (games, idols).</a:t>
            </a:r>
          </a:p>
          <a:p>
            <a:pPr>
              <a:lnSpc>
                <a:spcPct val="115000"/>
              </a:lnSpc>
              <a:spcAft>
                <a:spcPts val="300"/>
              </a:spcAft>
            </a:pPr>
            <a:r>
              <a:rPr sz="700" b="1">
                <a:solidFill>
                  <a:srgbClr val="0B5FFF"/>
                </a:solidFill>
                <a:latin typeface="Malgun Gothic"/>
              </a:rPr>
              <a:t>● </a:t>
            </a:r>
            <a:r>
              <a:rPr sz="900">
                <a:solidFill>
                  <a:srgbClr val="334155"/>
                </a:solidFill>
                <a:latin typeface="Malgun Gothic"/>
              </a:rPr>
              <a:t>Teens (14+): no forced cheerfulness; connect to usefulness, exams, future; correct privately.</a:t>
            </a:r>
          </a:p>
          <a:p>
            <a:pPr>
              <a:lnSpc>
                <a:spcPct val="115000"/>
              </a:lnSpc>
              <a:spcAft>
                <a:spcPts val="300"/>
              </a:spcAft>
            </a:pPr>
            <a:r>
              <a:rPr sz="700" b="1">
                <a:solidFill>
                  <a:srgbClr val="0B5FFF"/>
                </a:solidFill>
                <a:latin typeface="Malgun Gothic"/>
              </a:rPr>
              <a:t>● </a:t>
            </a:r>
            <a:r>
              <a:rPr sz="900">
                <a:solidFill>
                  <a:srgbClr val="334155"/>
                </a:solidFill>
                <a:latin typeface="Malgun Gothic"/>
              </a:rPr>
              <a:t>All ages — give the chance to speak first.</a:t>
            </a:r>
          </a:p>
        </p:txBody>
      </p:sp>
      <p:sp>
        <p:nvSpPr>
          <p:cNvPr id="14" name="Rounded Rectangle 13"/>
          <p:cNvSpPr/>
          <p:nvPr/>
        </p:nvSpPr>
        <p:spPr>
          <a:xfrm>
            <a:off x="457200" y="6245809"/>
            <a:ext cx="5669280" cy="1370457"/>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291529"/>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538417"/>
            <a:ext cx="5394960" cy="1041273"/>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Younger means shorter activity cycles; older means explain the reason.</a:t>
            </a:r>
          </a:p>
          <a:p>
            <a:pPr>
              <a:lnSpc>
                <a:spcPct val="115000"/>
              </a:lnSpc>
              <a:spcAft>
                <a:spcPts val="100"/>
              </a:spcAft>
            </a:pPr>
            <a:r>
              <a:rPr sz="650" b="1">
                <a:solidFill>
                  <a:srgbClr val="0B5FFF"/>
                </a:solidFill>
                <a:latin typeface="Malgun Gothic"/>
              </a:rPr>
              <a:t>● </a:t>
            </a:r>
            <a:r>
              <a:rPr sz="850">
                <a:solidFill>
                  <a:srgbClr val="334155"/>
                </a:solidFill>
                <a:latin typeface="Malgun Gothic"/>
              </a:rPr>
              <a:t>For teens, embarrassment is the biggest barrier. Make it feel safe.</a:t>
            </a:r>
          </a:p>
          <a:p>
            <a:pPr>
              <a:lnSpc>
                <a:spcPct val="115000"/>
              </a:lnSpc>
              <a:spcAft>
                <a:spcPts val="100"/>
              </a:spcAft>
            </a:pPr>
            <a:r>
              <a:rPr sz="650" b="1">
                <a:solidFill>
                  <a:srgbClr val="0B5FFF"/>
                </a:solidFill>
                <a:latin typeface="Malgun Gothic"/>
              </a:rPr>
              <a:t>● </a:t>
            </a:r>
            <a:r>
              <a:rPr sz="850">
                <a:solidFill>
                  <a:srgbClr val="334155"/>
                </a:solidFill>
                <a:latin typeface="Malgun Gothic"/>
              </a:rPr>
              <a:t>Temperament often matters more than age.</a:t>
            </a:r>
          </a:p>
        </p:txBody>
      </p:sp>
      <p:sp>
        <p:nvSpPr>
          <p:cNvPr id="17" name="Rounded Rectangle 16"/>
          <p:cNvSpPr/>
          <p:nvPr/>
        </p:nvSpPr>
        <p:spPr>
          <a:xfrm>
            <a:off x="365760" y="6172200"/>
            <a:ext cx="11457432" cy="521208"/>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Pro tip · Watch what they respond to over the first three lessons and write it in the evaluation. That becomes their personal manual.</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home.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629460"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1175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11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013508"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Preschool…</a:t>
            </a:r>
          </a:p>
        </p:txBody>
      </p:sp>
      <p:sp>
        <p:nvSpPr>
          <p:cNvPr id="26" name="TextBox 25"/>
          <p:cNvSpPr txBox="1"/>
          <p:nvPr/>
        </p:nvSpPr>
        <p:spPr>
          <a:xfrm>
            <a:off x="3200400"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7" name="Rounded Rectangle 26"/>
          <p:cNvSpPr/>
          <p:nvPr/>
        </p:nvSpPr>
        <p:spPr>
          <a:xfrm>
            <a:off x="338328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46557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655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76732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Lower prim…</a:t>
            </a:r>
          </a:p>
        </p:txBody>
      </p:sp>
      <p:sp>
        <p:nvSpPr>
          <p:cNvPr id="31" name="TextBox 30"/>
          <p:cNvSpPr txBox="1"/>
          <p:nvPr/>
        </p:nvSpPr>
        <p:spPr>
          <a:xfrm>
            <a:off x="504017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2" name="Rounded Rectangle 31"/>
          <p:cNvSpPr/>
          <p:nvPr/>
        </p:nvSpPr>
        <p:spPr>
          <a:xfrm>
            <a:off x="522305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0534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53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60710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Upper prim…</a:t>
            </a:r>
          </a:p>
        </p:txBody>
      </p:sp>
      <p:sp>
        <p:nvSpPr>
          <p:cNvPr id="36" name="TextBox 35"/>
          <p:cNvSpPr txBox="1"/>
          <p:nvPr/>
        </p:nvSpPr>
        <p:spPr>
          <a:xfrm>
            <a:off x="6879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7" name="Rounded Rectangle 36"/>
          <p:cNvSpPr/>
          <p:nvPr/>
        </p:nvSpPr>
        <p:spPr>
          <a:xfrm>
            <a:off x="706282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45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45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44687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Teens (14+…</a:t>
            </a:r>
          </a:p>
        </p:txBody>
      </p:sp>
      <p:sp>
        <p:nvSpPr>
          <p:cNvPr id="41" name="TextBox 40"/>
          <p:cNvSpPr txBox="1"/>
          <p:nvPr/>
        </p:nvSpPr>
        <p:spPr>
          <a:xfrm>
            <a:off x="871971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2" name="Rounded Rectangle 41"/>
          <p:cNvSpPr/>
          <p:nvPr/>
        </p:nvSpPr>
        <p:spPr>
          <a:xfrm>
            <a:off x="8902598"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98489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848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28664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give the 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student who won't speak — the order that unlocks it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Start with closed questions</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 silent student is not unwilling — they are afraid. Afraid of being wrong, of sounding strange. Follow the order and most of them open up.</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Start with questions they can answer with a nod — “Do you like pizza?”</a:t>
            </a:r>
          </a:p>
          <a:p>
            <a:pPr>
              <a:lnSpc>
                <a:spcPct val="115000"/>
              </a:lnSpc>
              <a:spcAft>
                <a:spcPts val="300"/>
              </a:spcAft>
            </a:pPr>
            <a:r>
              <a:rPr sz="700" b="1">
                <a:solidFill>
                  <a:srgbClr val="0B5FFF"/>
                </a:solidFill>
                <a:latin typeface="Malgun Gothic"/>
              </a:rPr>
              <a:t>● </a:t>
            </a:r>
            <a:r>
              <a:rPr sz="900">
                <a:solidFill>
                  <a:srgbClr val="334155"/>
                </a:solidFill>
                <a:latin typeface="Malgun Gothic"/>
              </a:rPr>
              <a:t>Move up to choosing between two — “Pizza or chicken?”</a:t>
            </a:r>
          </a:p>
          <a:p>
            <a:pPr>
              <a:lnSpc>
                <a:spcPct val="115000"/>
              </a:lnSpc>
              <a:spcAft>
                <a:spcPts val="300"/>
              </a:spcAft>
            </a:pPr>
            <a:r>
              <a:rPr sz="700" b="1">
                <a:solidFill>
                  <a:srgbClr val="0B5FFF"/>
                </a:solidFill>
                <a:latin typeface="Malgun Gothic"/>
              </a:rPr>
              <a:t>● </a:t>
            </a:r>
            <a:r>
              <a:rPr sz="900">
                <a:solidFill>
                  <a:srgbClr val="334155"/>
                </a:solidFill>
                <a:latin typeface="Malgun Gothic"/>
              </a:rPr>
              <a:t>Accept a one-word answer and echo it back as a sentence.</a:t>
            </a:r>
          </a:p>
          <a:p>
            <a:pPr>
              <a:lnSpc>
                <a:spcPct val="115000"/>
              </a:lnSpc>
              <a:spcAft>
                <a:spcPts val="300"/>
              </a:spcAft>
            </a:pPr>
            <a:r>
              <a:rPr sz="700" b="1">
                <a:solidFill>
                  <a:srgbClr val="0B5FFF"/>
                </a:solidFill>
                <a:latin typeface="Malgun Gothic"/>
              </a:rPr>
              <a:t>● </a:t>
            </a:r>
            <a:r>
              <a:rPr sz="900">
                <a:solidFill>
                  <a:srgbClr val="334155"/>
                </a:solidFill>
                <a:latin typeface="Malgun Gothic"/>
              </a:rPr>
              <a:t>Build success with repeat-after-me.</a:t>
            </a:r>
          </a:p>
          <a:p>
            <a:pPr>
              <a:lnSpc>
                <a:spcPct val="115000"/>
              </a:lnSpc>
              <a:spcAft>
                <a:spcPts val="300"/>
              </a:spcAft>
            </a:pPr>
            <a:r>
              <a:rPr sz="700" b="1">
                <a:solidFill>
                  <a:srgbClr val="0B5FFF"/>
                </a:solidFill>
                <a:latin typeface="Malgun Gothic"/>
              </a:rPr>
              <a:t>● </a:t>
            </a:r>
            <a:r>
              <a:rPr sz="900">
                <a:solidFill>
                  <a:srgbClr val="334155"/>
                </a:solidFill>
                <a:latin typeface="Malgun Gothic"/>
              </a:rPr>
              <a:t>Only then ask an open question — “What did you do?”</a:t>
            </a:r>
          </a:p>
        </p:txBody>
      </p:sp>
      <p:sp>
        <p:nvSpPr>
          <p:cNvPr id="14" name="Rounded Rectangle 13"/>
          <p:cNvSpPr/>
          <p:nvPr/>
        </p:nvSpPr>
        <p:spPr>
          <a:xfrm>
            <a:off x="457200" y="5924854"/>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217462"/>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Skip a step and they close again. Go one step at a time.</a:t>
            </a:r>
          </a:p>
          <a:p>
            <a:pPr>
              <a:lnSpc>
                <a:spcPct val="115000"/>
              </a:lnSpc>
              <a:spcAft>
                <a:spcPts val="100"/>
              </a:spcAft>
            </a:pPr>
            <a:r>
              <a:rPr sz="650" b="1">
                <a:solidFill>
                  <a:srgbClr val="0B5FFF"/>
                </a:solidFill>
                <a:latin typeface="Malgun Gothic"/>
              </a:rPr>
              <a:t>● </a:t>
            </a:r>
            <a:r>
              <a:rPr sz="850">
                <a:solidFill>
                  <a:srgbClr val="334155"/>
                </a:solidFill>
                <a:latin typeface="Malgun Gothic"/>
              </a:rPr>
              <a:t>Do not correct pronunciation on the spot — recasting it is enough.</a:t>
            </a:r>
          </a:p>
          <a:p>
            <a:pPr>
              <a:lnSpc>
                <a:spcPct val="115000"/>
              </a:lnSpc>
              <a:spcAft>
                <a:spcPts val="100"/>
              </a:spcAft>
            </a:pPr>
            <a:r>
              <a:rPr sz="650" b="1">
                <a:solidFill>
                  <a:srgbClr val="0B5FFF"/>
                </a:solidFill>
                <a:latin typeface="Malgun Gothic"/>
              </a:rPr>
              <a:t>● </a:t>
            </a:r>
            <a:r>
              <a:rPr sz="850">
                <a:solidFill>
                  <a:srgbClr val="334155"/>
                </a:solidFill>
                <a:latin typeface="Malgun Gothic"/>
              </a:rPr>
              <a:t>The Escape game and voice coach work especially well with these students.</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This can take weeks. Do not write “this child is just like that” in the evaluation after one or two attempts.</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Record the day they first spoke freely. For a parent, that story is the most moving thing you can give them.</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speechcoach.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29460"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1175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11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13508"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questions…</a:t>
            </a:r>
          </a:p>
        </p:txBody>
      </p:sp>
      <p:sp>
        <p:nvSpPr>
          <p:cNvPr id="28" name="TextBox 27"/>
          <p:cNvSpPr txBox="1"/>
          <p:nvPr/>
        </p:nvSpPr>
        <p:spPr>
          <a:xfrm>
            <a:off x="3200400"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38328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6557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655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76732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choosing b…</a:t>
            </a:r>
          </a:p>
        </p:txBody>
      </p:sp>
      <p:sp>
        <p:nvSpPr>
          <p:cNvPr id="33" name="TextBox 32"/>
          <p:cNvSpPr txBox="1"/>
          <p:nvPr/>
        </p:nvSpPr>
        <p:spPr>
          <a:xfrm>
            <a:off x="504017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22305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0534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53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0710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one-word a…</a:t>
            </a:r>
          </a:p>
        </p:txBody>
      </p:sp>
      <p:sp>
        <p:nvSpPr>
          <p:cNvPr id="38" name="TextBox 37"/>
          <p:cNvSpPr txBox="1"/>
          <p:nvPr/>
        </p:nvSpPr>
        <p:spPr>
          <a:xfrm>
            <a:off x="6879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06282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45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45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4687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repeat-aft…</a:t>
            </a:r>
          </a:p>
        </p:txBody>
      </p:sp>
      <p:sp>
        <p:nvSpPr>
          <p:cNvPr id="43" name="TextBox 42"/>
          <p:cNvSpPr txBox="1"/>
          <p:nvPr/>
        </p:nvSpPr>
        <p:spPr>
          <a:xfrm>
            <a:off x="871971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902598"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8489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848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8664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open quest…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Distraction &amp; mixed levels — handling it live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Redirect, don't suppress</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Distraction is surplus energy; a level gap is a difference in pace. Suppress either and it grows; redirect it and it becomes a resource.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405329"/>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When they lose focus, change the activity instead of scolding — game or whiteboard, immediately.</a:t>
            </a:r>
          </a:p>
          <a:p>
            <a:pPr>
              <a:lnSpc>
                <a:spcPct val="115000"/>
              </a:lnSpc>
              <a:spcAft>
                <a:spcPts val="300"/>
              </a:spcAft>
            </a:pPr>
            <a:r>
              <a:rPr sz="700" b="1">
                <a:solidFill>
                  <a:srgbClr val="0B5FFF"/>
                </a:solidFill>
                <a:latin typeface="Malgun Gothic"/>
              </a:rPr>
              <a:t>● </a:t>
            </a:r>
            <a:r>
              <a:rPr sz="900">
                <a:solidFill>
                  <a:srgbClr val="334155"/>
                </a:solidFill>
                <a:latin typeface="Malgun Gothic"/>
              </a:rPr>
              <a:t>Get them moving — gestures, hands up, drawing on screen.</a:t>
            </a:r>
          </a:p>
          <a:p>
            <a:pPr>
              <a:lnSpc>
                <a:spcPct val="115000"/>
              </a:lnSpc>
              <a:spcAft>
                <a:spcPts val="300"/>
              </a:spcAft>
            </a:pPr>
            <a:r>
              <a:rPr sz="700" b="1">
                <a:solidFill>
                  <a:srgbClr val="0B5FFF"/>
                </a:solidFill>
                <a:latin typeface="Malgun Gothic"/>
              </a:rPr>
              <a:t>● </a:t>
            </a:r>
            <a:r>
              <a:rPr sz="900">
                <a:solidFill>
                  <a:srgbClr val="334155"/>
                </a:solidFill>
                <a:latin typeface="Malgun Gothic"/>
              </a:rPr>
              <a:t>Give them a role — “You be the teacher. Ask me!”</a:t>
            </a:r>
          </a:p>
          <a:p>
            <a:pPr>
              <a:lnSpc>
                <a:spcPct val="115000"/>
              </a:lnSpc>
              <a:spcAft>
                <a:spcPts val="300"/>
              </a:spcAft>
            </a:pPr>
            <a:r>
              <a:rPr sz="700" b="1">
                <a:solidFill>
                  <a:srgbClr val="0B5FFF"/>
                </a:solidFill>
                <a:latin typeface="Malgun Gothic"/>
              </a:rPr>
              <a:t>● </a:t>
            </a:r>
            <a:r>
              <a:rPr sz="900">
                <a:solidFill>
                  <a:srgbClr val="334155"/>
                </a:solidFill>
                <a:latin typeface="Malgun Gothic"/>
              </a:rPr>
              <a:t>Give the advanced student one harder task on the side.</a:t>
            </a:r>
          </a:p>
          <a:p>
            <a:pPr>
              <a:lnSpc>
                <a:spcPct val="115000"/>
              </a:lnSpc>
              <a:spcAft>
                <a:spcPts val="300"/>
              </a:spcAft>
            </a:pPr>
            <a:r>
              <a:rPr sz="700" b="1">
                <a:solidFill>
                  <a:srgbClr val="0B5FFF"/>
                </a:solidFill>
                <a:latin typeface="Malgun Gothic"/>
              </a:rPr>
              <a:t>● </a:t>
            </a:r>
            <a:r>
              <a:rPr sz="900">
                <a:solidFill>
                  <a:srgbClr val="334155"/>
                </a:solidFill>
                <a:latin typeface="Malgun Gothic"/>
              </a:rPr>
              <a:t>For a slower student, reduce the amount and increase the wins.</a:t>
            </a:r>
          </a:p>
        </p:txBody>
      </p:sp>
      <p:sp>
        <p:nvSpPr>
          <p:cNvPr id="14" name="Rounded Rectangle 13"/>
          <p:cNvSpPr/>
          <p:nvPr/>
        </p:nvSpPr>
        <p:spPr>
          <a:xfrm>
            <a:off x="457200" y="6245809"/>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291529"/>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538417"/>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Forcing a static activity on a restless child collapses the whole lesson.</a:t>
            </a:r>
          </a:p>
          <a:p>
            <a:pPr>
              <a:lnSpc>
                <a:spcPct val="115000"/>
              </a:lnSpc>
              <a:spcAft>
                <a:spcPts val="100"/>
              </a:spcAft>
            </a:pPr>
            <a:r>
              <a:rPr sz="650" b="1">
                <a:solidFill>
                  <a:srgbClr val="0B5FFF"/>
                </a:solidFill>
                <a:latin typeface="Malgun Gothic"/>
              </a:rPr>
              <a:t>● </a:t>
            </a:r>
            <a:r>
              <a:rPr sz="850">
                <a:solidFill>
                  <a:srgbClr val="334155"/>
                </a:solidFill>
                <a:latin typeface="Malgun Gothic"/>
              </a:rPr>
              <a:t>A bored advanced student turns into a behaviour problem — prepare an extra task.</a:t>
            </a:r>
          </a:p>
          <a:p>
            <a:pPr>
              <a:lnSpc>
                <a:spcPct val="115000"/>
              </a:lnSpc>
              <a:spcAft>
                <a:spcPts val="100"/>
              </a:spcAft>
            </a:pPr>
            <a:r>
              <a:rPr sz="650" b="1">
                <a:solidFill>
                  <a:srgbClr val="0B5FFF"/>
                </a:solidFill>
                <a:latin typeface="Malgun Gothic"/>
              </a:rPr>
              <a:t>● </a:t>
            </a:r>
            <a:r>
              <a:rPr sz="850">
                <a:solidFill>
                  <a:srgbClr val="334155"/>
                </a:solidFill>
                <a:latin typeface="Malgun Gothic"/>
              </a:rPr>
              <a:t>A slower student needs small successes, not more time.</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In group lessons, managing the level gap matters even more. Do not spend too long on one child.</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Restless children love the whiteboard. Let them draw and engagement jumps.</a:t>
            </a:r>
          </a:p>
        </p:txBody>
      </p:sp>
      <p:sp>
        <p:nvSpPr>
          <p:cNvPr id="21" name="Rectangle 20"/>
          <p:cNvSpPr/>
          <p:nvPr/>
        </p:nvSpPr>
        <p:spPr>
          <a:xfrm>
            <a:off x="6870965" y="3255264"/>
            <a:ext cx="4454629"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game.jpg"/>
          <p:cNvPicPr>
            <a:picLocks noChangeAspect="1"/>
          </p:cNvPicPr>
          <p:nvPr/>
        </p:nvPicPr>
        <p:blipFill>
          <a:blip r:embed="rId2"/>
          <a:stretch>
            <a:fillRect/>
          </a:stretch>
        </p:blipFill>
        <p:spPr>
          <a:xfrm>
            <a:off x="6925829" y="3310128"/>
            <a:ext cx="4344901"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29460"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11756"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11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1350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change the…</a:t>
            </a:r>
          </a:p>
        </p:txBody>
      </p:sp>
      <p:sp>
        <p:nvSpPr>
          <p:cNvPr id="28" name="TextBox 27"/>
          <p:cNvSpPr txBox="1"/>
          <p:nvPr/>
        </p:nvSpPr>
        <p:spPr>
          <a:xfrm>
            <a:off x="328635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469233"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5152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51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5328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Get them m…</a:t>
            </a:r>
          </a:p>
        </p:txBody>
      </p:sp>
      <p:sp>
        <p:nvSpPr>
          <p:cNvPr id="33" name="TextBox 32"/>
          <p:cNvSpPr txBox="1"/>
          <p:nvPr/>
        </p:nvSpPr>
        <p:spPr>
          <a:xfrm>
            <a:off x="512612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309006" y="2670048"/>
            <a:ext cx="1570939"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9130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913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93054"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Give them…</a:t>
            </a:r>
          </a:p>
        </p:txBody>
      </p:sp>
      <p:sp>
        <p:nvSpPr>
          <p:cNvPr id="38" name="TextBox 37"/>
          <p:cNvSpPr txBox="1"/>
          <p:nvPr/>
        </p:nvSpPr>
        <p:spPr>
          <a:xfrm>
            <a:off x="687994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06282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4512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45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4687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one harder…</a:t>
            </a:r>
          </a:p>
        </p:txBody>
      </p:sp>
      <p:sp>
        <p:nvSpPr>
          <p:cNvPr id="43" name="TextBox 42"/>
          <p:cNvSpPr txBox="1"/>
          <p:nvPr/>
        </p:nvSpPr>
        <p:spPr>
          <a:xfrm>
            <a:off x="871971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902598"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8489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848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8664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reduce the…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When the connection wobbles — protect the lesson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Never dropping is the first priority</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Mangoi's first principle is that a lesson must not drop. Even if quality falls or the picture freezes, the lesson continues. Staying calm is itself a skill.</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If quality drops, the system lowers the video quality automatically — carry on.</a:t>
            </a:r>
          </a:p>
          <a:p>
            <a:pPr>
              <a:lnSpc>
                <a:spcPct val="115000"/>
              </a:lnSpc>
              <a:spcAft>
                <a:spcPts val="300"/>
              </a:spcAft>
            </a:pPr>
            <a:r>
              <a:rPr sz="700" b="1">
                <a:solidFill>
                  <a:srgbClr val="0B5FFF"/>
                </a:solidFill>
                <a:latin typeface="Malgun Gothic"/>
              </a:rPr>
              <a:t>● </a:t>
            </a:r>
            <a:r>
              <a:rPr sz="900">
                <a:solidFill>
                  <a:srgbClr val="334155"/>
                </a:solidFill>
                <a:latin typeface="Malgun Gothic"/>
              </a:rPr>
              <a:t>If it gets much worse, it switches to audio-only mode. The voice survives.</a:t>
            </a:r>
          </a:p>
          <a:p>
            <a:pPr>
              <a:lnSpc>
                <a:spcPct val="115000"/>
              </a:lnSpc>
              <a:spcAft>
                <a:spcPts val="300"/>
              </a:spcAft>
            </a:pPr>
            <a:r>
              <a:rPr sz="700" b="1">
                <a:solidFill>
                  <a:srgbClr val="0B5FFF"/>
                </a:solidFill>
                <a:latin typeface="Malgun Gothic"/>
              </a:rPr>
              <a:t>● </a:t>
            </a:r>
            <a:r>
              <a:rPr sz="900">
                <a:solidFill>
                  <a:srgbClr val="334155"/>
                </a:solidFill>
                <a:latin typeface="Malgun Gothic"/>
              </a:rPr>
              <a:t>If the other side freezes, wait a moment — automatic recovery runs.</a:t>
            </a:r>
          </a:p>
          <a:p>
            <a:pPr>
              <a:lnSpc>
                <a:spcPct val="115000"/>
              </a:lnSpc>
              <a:spcAft>
                <a:spcPts val="300"/>
              </a:spcAft>
            </a:pPr>
            <a:r>
              <a:rPr sz="700" b="1">
                <a:solidFill>
                  <a:srgbClr val="0B5FFF"/>
                </a:solidFill>
                <a:latin typeface="Malgun Gothic"/>
              </a:rPr>
              <a:t>● </a:t>
            </a:r>
            <a:r>
              <a:rPr sz="900">
                <a:solidFill>
                  <a:srgbClr val="334155"/>
                </a:solidFill>
                <a:latin typeface="Malgun Gothic"/>
              </a:rPr>
              <a:t>If it still fails, refresh once and re-enter.</a:t>
            </a:r>
          </a:p>
          <a:p>
            <a:pPr>
              <a:lnSpc>
                <a:spcPct val="115000"/>
              </a:lnSpc>
              <a:spcAft>
                <a:spcPts val="300"/>
              </a:spcAft>
            </a:pPr>
            <a:r>
              <a:rPr sz="700" b="1">
                <a:solidFill>
                  <a:srgbClr val="0B5FFF"/>
                </a:solidFill>
                <a:latin typeface="Malgun Gothic"/>
              </a:rPr>
              <a:t>● </a:t>
            </a:r>
            <a:r>
              <a:rPr sz="900">
                <a:solidFill>
                  <a:srgbClr val="334155"/>
                </a:solidFill>
                <a:latin typeface="Malgun Gothic"/>
              </a:rPr>
              <a:t>If the lesson genuinely stops, tell an admin straight away.</a:t>
            </a:r>
          </a:p>
        </p:txBody>
      </p:sp>
      <p:sp>
        <p:nvSpPr>
          <p:cNvPr id="14" name="Rounded Rectangle 13"/>
          <p:cNvSpPr/>
          <p:nvPr/>
        </p:nvSpPr>
        <p:spPr>
          <a:xfrm>
            <a:off x="457200" y="5924854"/>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6217462"/>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Even with no picture, a speaking lesson can continue.</a:t>
            </a:r>
          </a:p>
          <a:p>
            <a:pPr>
              <a:lnSpc>
                <a:spcPct val="115000"/>
              </a:lnSpc>
              <a:spcAft>
                <a:spcPts val="100"/>
              </a:spcAft>
            </a:pPr>
            <a:r>
              <a:rPr sz="650" b="1">
                <a:solidFill>
                  <a:srgbClr val="0B5FFF"/>
                </a:solidFill>
                <a:latin typeface="Malgun Gothic"/>
              </a:rPr>
              <a:t>● </a:t>
            </a:r>
            <a:r>
              <a:rPr sz="850">
                <a:solidFill>
                  <a:srgbClr val="334155"/>
                </a:solidFill>
                <a:latin typeface="Malgun Gothic"/>
              </a:rPr>
              <a:t>Say what is happening so the child does not get anxious.</a:t>
            </a:r>
          </a:p>
          <a:p>
            <a:pPr>
              <a:lnSpc>
                <a:spcPct val="115000"/>
              </a:lnSpc>
              <a:spcAft>
                <a:spcPts val="100"/>
              </a:spcAft>
            </a:pPr>
            <a:r>
              <a:rPr sz="650" b="1">
                <a:solidFill>
                  <a:srgbClr val="0B5FFF"/>
                </a:solidFill>
                <a:latin typeface="Malgun Gothic"/>
              </a:rPr>
              <a:t>● </a:t>
            </a:r>
            <a:r>
              <a:rPr sz="850">
                <a:solidFill>
                  <a:srgbClr val="334155"/>
                </a:solidFill>
                <a:latin typeface="Malgun Gothic"/>
              </a:rPr>
              <a:t>Lost time is made up as a replacement lesson once reported.</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Never end a lesson yourself because of a connection problem. The system distinguishes a brief drop from someone leaving.</a:t>
            </a:r>
          </a:p>
        </p:txBody>
      </p:sp>
      <p:sp>
        <p:nvSpPr>
          <p:cNvPr id="19" name="Rounded Rectangle 18"/>
          <p:cNvSpPr/>
          <p:nvPr/>
        </p:nvSpPr>
        <p:spPr>
          <a:xfrm>
            <a:off x="6176772" y="5870448"/>
            <a:ext cx="5646420" cy="822960"/>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Pro tip · Make a pre-class camera and mic check a habit and half of these incidents disappear.</a:t>
            </a:r>
          </a:p>
        </p:txBody>
      </p:sp>
      <p:sp>
        <p:nvSpPr>
          <p:cNvPr id="21" name="Rectangle 20"/>
          <p:cNvSpPr/>
          <p:nvPr/>
        </p:nvSpPr>
        <p:spPr>
          <a:xfrm>
            <a:off x="6997851" y="3255264"/>
            <a:ext cx="4200856"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7052715" y="3310128"/>
            <a:ext cx="4091128"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86484"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68780"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6878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97053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lowers the…</a:t>
            </a:r>
          </a:p>
        </p:txBody>
      </p:sp>
      <p:sp>
        <p:nvSpPr>
          <p:cNvPr id="28" name="TextBox 27"/>
          <p:cNvSpPr txBox="1"/>
          <p:nvPr/>
        </p:nvSpPr>
        <p:spPr>
          <a:xfrm>
            <a:off x="3243376"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426256"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08552"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audio-only…</a:t>
            </a:r>
          </a:p>
        </p:txBody>
      </p:sp>
      <p:sp>
        <p:nvSpPr>
          <p:cNvPr id="33" name="TextBox 32"/>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266029"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48325"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wait a mom…</a:t>
            </a:r>
          </a:p>
        </p:txBody>
      </p:sp>
      <p:sp>
        <p:nvSpPr>
          <p:cNvPr id="38" name="TextBox 37"/>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105802"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88098"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refresh on…</a:t>
            </a:r>
          </a:p>
        </p:txBody>
      </p:sp>
      <p:sp>
        <p:nvSpPr>
          <p:cNvPr id="43" name="TextBox 42"/>
          <p:cNvSpPr txBox="1"/>
          <p:nvPr/>
        </p:nvSpPr>
        <p:spPr>
          <a:xfrm>
            <a:off x="876269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894557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02787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278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32962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tell an 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Skills That Make a Lesson Work</a:t>
            </a:r>
          </a:p>
        </p:txBody>
      </p:sp>
      <p:sp>
        <p:nvSpPr>
          <p:cNvPr id="6" name="Rounded Rectangle 5"/>
          <p:cNvSpPr/>
          <p:nvPr/>
        </p:nvSpPr>
        <p:spPr>
          <a:xfrm>
            <a:off x="365760" y="822960"/>
            <a:ext cx="868680" cy="868680"/>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Your own growth — turning feedback into an asset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AI coaching · star ratings</a:t>
            </a:r>
          </a:p>
        </p:txBody>
      </p:sp>
      <p:sp>
        <p:nvSpPr>
          <p:cNvPr id="10" name="Rounded Rectangle 9"/>
          <p:cNvSpPr/>
          <p:nvPr/>
        </p:nvSpPr>
        <p:spPr>
          <a:xfrm>
            <a:off x="365760" y="1828800"/>
            <a:ext cx="11430000" cy="73152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After each lesson AI drafts a coaching note, and star ratings and one-line feedback from students and parents accumulate. This is not an assessment — it is material for your next lesson.</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B5FFF"/>
                </a:solidFill>
                <a:latin typeface="Malgun Gothic"/>
              </a:rPr>
              <a:t>How to do it</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0B5FFF"/>
                </a:solidFill>
                <a:latin typeface="Malgun Gothic"/>
              </a:rPr>
              <a:t>● </a:t>
            </a:r>
            <a:r>
              <a:rPr sz="900">
                <a:solidFill>
                  <a:srgbClr val="334155"/>
                </a:solidFill>
                <a:latin typeface="Malgun Gothic"/>
              </a:rPr>
              <a:t>Read the AI coaching comment after class.</a:t>
            </a:r>
          </a:p>
          <a:p>
            <a:pPr>
              <a:lnSpc>
                <a:spcPct val="115000"/>
              </a:lnSpc>
              <a:spcAft>
                <a:spcPts val="300"/>
              </a:spcAft>
            </a:pPr>
            <a:r>
              <a:rPr sz="700" b="1">
                <a:solidFill>
                  <a:srgbClr val="0B5FFF"/>
                </a:solidFill>
                <a:latin typeface="Malgun Gothic"/>
              </a:rPr>
              <a:t>● </a:t>
            </a:r>
            <a:r>
              <a:rPr sz="900">
                <a:solidFill>
                  <a:srgbClr val="334155"/>
                </a:solidFill>
                <a:latin typeface="Malgun Gothic"/>
              </a:rPr>
              <a:t>Look for what repeats in the ratings and feedback tags.</a:t>
            </a:r>
          </a:p>
          <a:p>
            <a:pPr>
              <a:lnSpc>
                <a:spcPct val="115000"/>
              </a:lnSpc>
              <a:spcAft>
                <a:spcPts val="300"/>
              </a:spcAft>
            </a:pPr>
            <a:r>
              <a:rPr sz="700" b="1">
                <a:solidFill>
                  <a:srgbClr val="0B5FFF"/>
                </a:solidFill>
                <a:latin typeface="Malgun Gothic"/>
              </a:rPr>
              <a:t>● </a:t>
            </a:r>
            <a:r>
              <a:rPr sz="900">
                <a:solidFill>
                  <a:srgbClr val="334155"/>
                </a:solidFill>
                <a:latin typeface="Malgun Gothic"/>
              </a:rPr>
              <a:t>Change exactly one thing in the next lesson.</a:t>
            </a:r>
          </a:p>
          <a:p>
            <a:pPr>
              <a:lnSpc>
                <a:spcPct val="115000"/>
              </a:lnSpc>
              <a:spcAft>
                <a:spcPts val="300"/>
              </a:spcAft>
            </a:pPr>
            <a:r>
              <a:rPr sz="700" b="1">
                <a:solidFill>
                  <a:srgbClr val="0B5FFF"/>
                </a:solidFill>
                <a:latin typeface="Malgun Gothic"/>
              </a:rPr>
              <a:t>● </a:t>
            </a:r>
            <a:r>
              <a:rPr sz="900">
                <a:solidFill>
                  <a:srgbClr val="334155"/>
                </a:solidFill>
                <a:latin typeface="Malgun Gothic"/>
              </a:rPr>
              <a:t>Record the result in the evaluation.</a:t>
            </a:r>
          </a:p>
          <a:p>
            <a:pPr>
              <a:lnSpc>
                <a:spcPct val="115000"/>
              </a:lnSpc>
              <a:spcAft>
                <a:spcPts val="300"/>
              </a:spcAft>
            </a:pPr>
            <a:r>
              <a:rPr sz="700" b="1">
                <a:solidFill>
                  <a:srgbClr val="0B5FFF"/>
                </a:solidFill>
                <a:latin typeface="Malgun Gothic"/>
              </a:rPr>
              <a:t>● </a:t>
            </a:r>
            <a:r>
              <a:rPr sz="900">
                <a:solidFill>
                  <a:srgbClr val="334155"/>
                </a:solidFill>
                <a:latin typeface="Malgun Gothic"/>
              </a:rPr>
              <a:t>Share what worked with other teachers.</a:t>
            </a:r>
          </a:p>
        </p:txBody>
      </p:sp>
      <p:sp>
        <p:nvSpPr>
          <p:cNvPr id="14" name="Rounded Rectangle 13"/>
          <p:cNvSpPr/>
          <p:nvPr/>
        </p:nvSpPr>
        <p:spPr>
          <a:xfrm>
            <a:off x="457200" y="5443423"/>
            <a:ext cx="5669280" cy="1522018"/>
          </a:xfrm>
          <a:prstGeom prst="roundRect">
            <a:avLst/>
          </a:prstGeom>
          <a:solidFill>
            <a:srgbClr val="F4F7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0B5FFF"/>
                </a:solidFill>
                <a:latin typeface="Malgun Gothic"/>
              </a:rPr>
              <a:t>✅ Key Points</a:t>
            </a:r>
          </a:p>
        </p:txBody>
      </p:sp>
      <p:sp>
        <p:nvSpPr>
          <p:cNvPr id="16" name="TextBox 15"/>
          <p:cNvSpPr txBox="1"/>
          <p:nvPr/>
        </p:nvSpPr>
        <p:spPr>
          <a:xfrm>
            <a:off x="594360" y="5736031"/>
            <a:ext cx="5394960" cy="1192834"/>
          </a:xfrm>
          <a:prstGeom prst="rect">
            <a:avLst/>
          </a:prstGeom>
          <a:noFill/>
        </p:spPr>
        <p:txBody>
          <a:bodyPr wrap="square">
            <a:spAutoFit/>
          </a:bodyPr>
          <a:lstStyle/>
          <a:p>
            <a:pPr>
              <a:lnSpc>
                <a:spcPct val="115000"/>
              </a:lnSpc>
              <a:spcAft>
                <a:spcPts val="100"/>
              </a:spcAft>
            </a:pPr>
            <a:r>
              <a:rPr sz="650" b="1">
                <a:solidFill>
                  <a:srgbClr val="0B5FFF"/>
                </a:solidFill>
                <a:latin typeface="Malgun Gothic"/>
              </a:rPr>
              <a:t>● </a:t>
            </a:r>
            <a:r>
              <a:rPr sz="850">
                <a:solidFill>
                  <a:srgbClr val="334155"/>
                </a:solidFill>
                <a:latin typeface="Malgun Gothic"/>
              </a:rPr>
              <a:t>Do not try to fix everything — one change per lesson is enough.</a:t>
            </a:r>
          </a:p>
          <a:p>
            <a:pPr>
              <a:lnSpc>
                <a:spcPct val="115000"/>
              </a:lnSpc>
              <a:spcAft>
                <a:spcPts val="100"/>
              </a:spcAft>
            </a:pPr>
            <a:r>
              <a:rPr sz="650" b="1">
                <a:solidFill>
                  <a:srgbClr val="0B5FFF"/>
                </a:solidFill>
                <a:latin typeface="Malgun Gothic"/>
              </a:rPr>
              <a:t>● </a:t>
            </a:r>
            <a:r>
              <a:rPr sz="850">
                <a:solidFill>
                  <a:srgbClr val="334155"/>
                </a:solidFill>
                <a:latin typeface="Malgun Gothic"/>
              </a:rPr>
              <a:t>Repeated feedback is the real signal; one-offs can be let go.</a:t>
            </a:r>
          </a:p>
          <a:p>
            <a:pPr>
              <a:lnSpc>
                <a:spcPct val="115000"/>
              </a:lnSpc>
              <a:spcAft>
                <a:spcPts val="100"/>
              </a:spcAft>
            </a:pPr>
            <a:r>
              <a:rPr sz="650" b="1">
                <a:solidFill>
                  <a:srgbClr val="0B5FFF"/>
                </a:solidFill>
                <a:latin typeface="Malgun Gothic"/>
              </a:rPr>
              <a:t>● </a:t>
            </a:r>
            <a:r>
              <a:rPr sz="850">
                <a:solidFill>
                  <a:srgbClr val="334155"/>
                </a:solidFill>
                <a:latin typeface="Malgun Gothic"/>
              </a:rPr>
              <a:t>Your growth record also supports pay reviews and renewals.</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 Good to know · The AI coaching draft is a reference. Read it and adjust it yourself before acting on it.</a:t>
            </a:r>
          </a:p>
        </p:txBody>
      </p:sp>
      <p:sp>
        <p:nvSpPr>
          <p:cNvPr id="19" name="Rounded Rectangle 18"/>
          <p:cNvSpPr/>
          <p:nvPr/>
        </p:nvSpPr>
        <p:spPr>
          <a:xfrm>
            <a:off x="6176772" y="6021324"/>
            <a:ext cx="5646420" cy="672084"/>
          </a:xfrm>
          <a:prstGeom prst="roundRect">
            <a:avLst/>
          </a:prstGeom>
          <a:solidFill>
            <a:srgbClr val="FFF7E6"/>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Pro tip · Set one goal a month. “This month: wait five seconds” is a complete goal.</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aicoach.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8757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6987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98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47162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coachin…</a:t>
            </a:r>
          </a:p>
        </p:txBody>
      </p:sp>
      <p:sp>
        <p:nvSpPr>
          <p:cNvPr id="28" name="TextBox 27"/>
          <p:cNvSpPr txBox="1"/>
          <p:nvPr/>
        </p:nvSpPr>
        <p:spPr>
          <a:xfrm>
            <a:off x="374446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29" name="Rounded Rectangle 28"/>
          <p:cNvSpPr/>
          <p:nvPr/>
        </p:nvSpPr>
        <p:spPr>
          <a:xfrm>
            <a:off x="3927348" y="2670048"/>
            <a:ext cx="1241755"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00964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0964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311396"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repeats</a:t>
            </a:r>
          </a:p>
        </p:txBody>
      </p:sp>
      <p:sp>
        <p:nvSpPr>
          <p:cNvPr id="33" name="TextBox 32"/>
          <p:cNvSpPr txBox="1"/>
          <p:nvPr/>
        </p:nvSpPr>
        <p:spPr>
          <a:xfrm>
            <a:off x="5169103"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4" name="Rounded Rectangle 33"/>
          <p:cNvSpPr/>
          <p:nvPr/>
        </p:nvSpPr>
        <p:spPr>
          <a:xfrm>
            <a:off x="5351983"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434279"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3427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73603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exactly on…</a:t>
            </a:r>
          </a:p>
        </p:txBody>
      </p:sp>
      <p:sp>
        <p:nvSpPr>
          <p:cNvPr id="38" name="TextBox 37"/>
          <p:cNvSpPr txBox="1"/>
          <p:nvPr/>
        </p:nvSpPr>
        <p:spPr>
          <a:xfrm>
            <a:off x="7008875"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39" name="Rounded Rectangle 38"/>
          <p:cNvSpPr/>
          <p:nvPr/>
        </p:nvSpPr>
        <p:spPr>
          <a:xfrm>
            <a:off x="7191755" y="2670048"/>
            <a:ext cx="1656892"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4051"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40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5758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Record the…</a:t>
            </a:r>
          </a:p>
        </p:txBody>
      </p:sp>
      <p:sp>
        <p:nvSpPr>
          <p:cNvPr id="43" name="TextBox 42"/>
          <p:cNvSpPr txBox="1"/>
          <p:nvPr/>
        </p:nvSpPr>
        <p:spPr>
          <a:xfrm>
            <a:off x="8848648" y="2670048"/>
            <a:ext cx="182880" cy="457200"/>
          </a:xfrm>
          <a:prstGeom prst="rect">
            <a:avLst/>
          </a:prstGeom>
          <a:noFill/>
        </p:spPr>
        <p:txBody>
          <a:bodyPr wrap="square" anchor="ctr">
            <a:spAutoFit/>
          </a:bodyPr>
          <a:lstStyle/>
          <a:p>
            <a:pPr algn="ctr">
              <a:lnSpc>
                <a:spcPct val="100000"/>
              </a:lnSpc>
            </a:pPr>
            <a:r>
              <a:rPr sz="1500" b="1">
                <a:solidFill>
                  <a:srgbClr val="0B5FFF"/>
                </a:solidFill>
                <a:latin typeface="Malgun Gothic"/>
              </a:rPr>
              <a:t>›</a:t>
            </a:r>
          </a:p>
        </p:txBody>
      </p:sp>
      <p:sp>
        <p:nvSpPr>
          <p:cNvPr id="44" name="Rounded Rectangle 43"/>
          <p:cNvSpPr/>
          <p:nvPr/>
        </p:nvSpPr>
        <p:spPr>
          <a:xfrm>
            <a:off x="9031528" y="2670048"/>
            <a:ext cx="1069848" cy="457200"/>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113824" y="2761488"/>
            <a:ext cx="274320" cy="274320"/>
          </a:xfrm>
          <a:prstGeom prst="ellipse">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138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415576" y="2670048"/>
            <a:ext cx="6492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Share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Skill Summary · Data</a:t>
            </a:r>
          </a:p>
        </p:txBody>
      </p:sp>
      <p:sp>
        <p:nvSpPr>
          <p:cNvPr id="6" name="Rounded Rectangle 5"/>
          <p:cNvSpPr/>
          <p:nvPr/>
        </p:nvSpPr>
        <p:spPr>
          <a:xfrm>
            <a:off x="365760" y="841248"/>
            <a:ext cx="658368" cy="512064"/>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17</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B5FFF"/>
                </a:solidFill>
                <a:latin typeface="Malgun Gothic"/>
              </a:rPr>
              <a:t>📋 🧰 Teaching Skills Summary</a:t>
            </a:r>
          </a:p>
        </p:txBody>
      </p:sp>
      <p:graphicFrame>
        <p:nvGraphicFramePr>
          <p:cNvPr id="9" name="Table 8"/>
          <p:cNvGraphicFramePr>
            <a:graphicFrameLocks noGrp="1"/>
          </p:cNvGraphicFramePr>
          <p:nvPr/>
        </p:nvGraphicFramePr>
        <p:xfrm>
          <a:off x="365760" y="1463040"/>
          <a:ext cx="11460175" cy="5120640"/>
        </p:xfrm>
        <a:graphic>
          <a:graphicData uri="http://schemas.openxmlformats.org/drawingml/2006/table">
            <a:tbl>
              <a:tblPr firstRow="1" bandRow="1">
                <a:tableStyleId>{5C22544A-7EE6-4342-B048-85BDC9FD1C3A}</a:tableStyleId>
              </a:tblPr>
              <a:tblGrid>
                <a:gridCol w="2865043"/>
                <a:gridCol w="2865043"/>
                <a:gridCol w="2865043"/>
                <a:gridCol w="2865046"/>
              </a:tblGrid>
              <a:tr h="465512">
                <a:tc>
                  <a:txBody>
                    <a:bodyPr/>
                    <a:lstStyle/>
                    <a:p>
                      <a:pPr algn="ctr"/>
                      <a:r>
                        <a:rPr sz="1300" b="1">
                          <a:solidFill>
                            <a:srgbClr val="FFFFFF"/>
                          </a:solidFill>
                          <a:latin typeface="Malgun Gothic"/>
                        </a:rPr>
                        <a:t>Skill</a:t>
                      </a:r>
                    </a:p>
                  </a:txBody>
                  <a:tcPr>
                    <a:solidFill>
                      <a:srgbClr val="0B5FFF"/>
                    </a:solidFill>
                  </a:tcPr>
                </a:tc>
                <a:tc>
                  <a:txBody>
                    <a:bodyPr/>
                    <a:lstStyle/>
                    <a:p>
                      <a:pPr algn="ctr"/>
                      <a:r>
                        <a:rPr sz="1300" b="1">
                          <a:solidFill>
                            <a:srgbClr val="FFFFFF"/>
                          </a:solidFill>
                          <a:latin typeface="Malgun Gothic"/>
                        </a:rPr>
                        <a:t>What it does</a:t>
                      </a:r>
                    </a:p>
                  </a:txBody>
                  <a:tcPr>
                    <a:solidFill>
                      <a:srgbClr val="0B5FFF"/>
                    </a:solidFill>
                  </a:tcPr>
                </a:tc>
                <a:tc>
                  <a:txBody>
                    <a:bodyPr/>
                    <a:lstStyle/>
                    <a:p>
                      <a:pPr algn="ctr"/>
                      <a:r>
                        <a:rPr sz="1300" b="1">
                          <a:solidFill>
                            <a:srgbClr val="FFFFFF"/>
                          </a:solidFill>
                          <a:latin typeface="Malgun Gothic"/>
                        </a:rPr>
                        <a:t>When to use it</a:t>
                      </a:r>
                    </a:p>
                  </a:txBody>
                  <a:tcPr>
                    <a:solidFill>
                      <a:srgbClr val="0B5FFF"/>
                    </a:solidFill>
                  </a:tcPr>
                </a:tc>
                <a:tc>
                  <a:txBody>
                    <a:bodyPr/>
                    <a:lstStyle/>
                    <a:p>
                      <a:pPr algn="ctr"/>
                      <a:r>
                        <a:rPr sz="1300" b="1">
                          <a:solidFill>
                            <a:srgbClr val="FFFFFF"/>
                          </a:solidFill>
                          <a:latin typeface="Malgun Gothic"/>
                        </a:rPr>
                        <a:t>Expected effect</a:t>
                      </a:r>
                    </a:p>
                  </a:txBody>
                  <a:tcPr>
                    <a:solidFill>
                      <a:srgbClr val="0B5FFF"/>
                    </a:solidFill>
                  </a:tcPr>
                </a:tc>
              </a:tr>
              <a:tr h="465512">
                <a:tc>
                  <a:txBody>
                    <a:bodyPr/>
                    <a:lstStyle/>
                    <a:p>
                      <a:pPr algn="l"/>
                      <a:r>
                        <a:rPr sz="1200" b="1">
                          <a:solidFill>
                            <a:srgbClr val="334155"/>
                          </a:solidFill>
                          <a:latin typeface="Malgun Gothic"/>
                        </a:rPr>
                        <a:t>Building energy</a:t>
                      </a:r>
                    </a:p>
                  </a:txBody>
                  <a:tcPr>
                    <a:solidFill>
                      <a:srgbClr val="FFFFFF"/>
                    </a:solidFill>
                  </a:tcPr>
                </a:tc>
                <a:tc>
                  <a:txBody>
                    <a:bodyPr/>
                    <a:lstStyle/>
                    <a:p>
                      <a:pPr algn="ctr"/>
                      <a:r>
                        <a:rPr sz="1200">
                          <a:solidFill>
                            <a:srgbClr val="334155"/>
                          </a:solidFill>
                          <a:latin typeface="Malgun Gothic"/>
                        </a:rPr>
                        <a:t>Greeting, expression, reaction in the first 60s</a:t>
                      </a:r>
                    </a:p>
                  </a:txBody>
                  <a:tcPr>
                    <a:solidFill>
                      <a:srgbClr val="FFFFFF"/>
                    </a:solidFill>
                  </a:tcPr>
                </a:tc>
                <a:tc>
                  <a:txBody>
                    <a:bodyPr/>
                    <a:lstStyle/>
                    <a:p>
                      <a:pPr algn="ctr"/>
                      <a:r>
                        <a:rPr sz="1200">
                          <a:solidFill>
                            <a:srgbClr val="334155"/>
                          </a:solidFill>
                          <a:latin typeface="Malgun Gothic"/>
                        </a:rPr>
                        <a:t>Every lesson start</a:t>
                      </a:r>
                    </a:p>
                  </a:txBody>
                  <a:tcPr>
                    <a:solidFill>
                      <a:srgbClr val="FFFFFF"/>
                    </a:solidFill>
                  </a:tcPr>
                </a:tc>
                <a:tc>
                  <a:txBody>
                    <a:bodyPr/>
                    <a:lstStyle/>
                    <a:p>
                      <a:pPr algn="ctr"/>
                      <a:r>
                        <a:rPr sz="1200">
                          <a:solidFill>
                            <a:srgbClr val="334155"/>
                          </a:solidFill>
                          <a:latin typeface="Malgun Gothic"/>
                        </a:rPr>
                        <a:t>Sets the mood for the whole lesson</a:t>
                      </a:r>
                    </a:p>
                  </a:txBody>
                  <a:tcPr>
                    <a:solidFill>
                      <a:srgbClr val="FFFFFF"/>
                    </a:solidFill>
                  </a:tcPr>
                </a:tc>
              </a:tr>
              <a:tr h="465512">
                <a:tc>
                  <a:txBody>
                    <a:bodyPr/>
                    <a:lstStyle/>
                    <a:p>
                      <a:pPr algn="l"/>
                      <a:r>
                        <a:rPr sz="1200" b="1">
                          <a:solidFill>
                            <a:srgbClr val="334155"/>
                          </a:solidFill>
                          <a:latin typeface="Malgun Gothic"/>
                        </a:rPr>
                        <a:t>Waiting 5 seconds</a:t>
                      </a:r>
                    </a:p>
                  </a:txBody>
                  <a:tcPr>
                    <a:solidFill>
                      <a:srgbClr val="F8FAFC"/>
                    </a:solidFill>
                  </a:tcPr>
                </a:tc>
                <a:tc>
                  <a:txBody>
                    <a:bodyPr/>
                    <a:lstStyle/>
                    <a:p>
                      <a:pPr algn="ctr"/>
                      <a:r>
                        <a:rPr sz="1200">
                          <a:solidFill>
                            <a:srgbClr val="334155"/>
                          </a:solidFill>
                          <a:latin typeface="Malgun Gothic"/>
                        </a:rPr>
                        <a:t>Holding the silence after a question</a:t>
                      </a:r>
                    </a:p>
                  </a:txBody>
                  <a:tcPr>
                    <a:solidFill>
                      <a:srgbClr val="F8FAFC"/>
                    </a:solidFill>
                  </a:tcPr>
                </a:tc>
                <a:tc>
                  <a:txBody>
                    <a:bodyPr/>
                    <a:lstStyle/>
                    <a:p>
                      <a:pPr algn="ctr"/>
                      <a:r>
                        <a:rPr sz="1200">
                          <a:solidFill>
                            <a:srgbClr val="334155"/>
                          </a:solidFill>
                          <a:latin typeface="Malgun Gothic"/>
                        </a:rPr>
                        <a:t>Every question</a:t>
                      </a:r>
                    </a:p>
                  </a:txBody>
                  <a:tcPr>
                    <a:solidFill>
                      <a:srgbClr val="F8FAFC"/>
                    </a:solidFill>
                  </a:tcPr>
                </a:tc>
                <a:tc>
                  <a:txBody>
                    <a:bodyPr/>
                    <a:lstStyle/>
                    <a:p>
                      <a:pPr algn="ctr"/>
                      <a:r>
                        <a:rPr sz="1200">
                          <a:solidFill>
                            <a:srgbClr val="334155"/>
                          </a:solidFill>
                          <a:latin typeface="Malgun Gothic"/>
                        </a:rPr>
                        <a:t>More student talk time</a:t>
                      </a:r>
                    </a:p>
                  </a:txBody>
                  <a:tcPr>
                    <a:solidFill>
                      <a:srgbClr val="F8FAFC"/>
                    </a:solidFill>
                  </a:tcPr>
                </a:tc>
              </a:tr>
              <a:tr h="465512">
                <a:tc>
                  <a:txBody>
                    <a:bodyPr/>
                    <a:lstStyle/>
                    <a:p>
                      <a:pPr algn="l"/>
                      <a:r>
                        <a:rPr sz="1200" b="1">
                          <a:solidFill>
                            <a:srgbClr val="334155"/>
                          </a:solidFill>
                          <a:latin typeface="Malgun Gothic"/>
                        </a:rPr>
                        <a:t>Praise basket</a:t>
                      </a:r>
                    </a:p>
                  </a:txBody>
                  <a:tcPr>
                    <a:solidFill>
                      <a:srgbClr val="FFFFFF"/>
                    </a:solidFill>
                  </a:tcPr>
                </a:tc>
                <a:tc>
                  <a:txBody>
                    <a:bodyPr/>
                    <a:lstStyle/>
                    <a:p>
                      <a:pPr algn="ctr"/>
                      <a:r>
                        <a:rPr sz="1200">
                          <a:solidFill>
                            <a:srgbClr val="334155"/>
                          </a:solidFill>
                          <a:latin typeface="Malgun Gothic"/>
                        </a:rPr>
                        <a:t>Making good moments visible</a:t>
                      </a:r>
                    </a:p>
                  </a:txBody>
                  <a:tcPr>
                    <a:solidFill>
                      <a:srgbClr val="FFFFFF"/>
                    </a:solidFill>
                  </a:tcPr>
                </a:tc>
                <a:tc>
                  <a:txBody>
                    <a:bodyPr/>
                    <a:lstStyle/>
                    <a:p>
                      <a:pPr algn="ctr"/>
                      <a:r>
                        <a:rPr sz="1200">
                          <a:solidFill>
                            <a:srgbClr val="334155"/>
                          </a:solidFill>
                          <a:latin typeface="Malgun Gothic"/>
                        </a:rPr>
                        <a:t>3+ times per lesson</a:t>
                      </a:r>
                    </a:p>
                  </a:txBody>
                  <a:tcPr>
                    <a:solidFill>
                      <a:srgbClr val="FFFFFF"/>
                    </a:solidFill>
                  </a:tcPr>
                </a:tc>
                <a:tc>
                  <a:txBody>
                    <a:bodyPr/>
                    <a:lstStyle/>
                    <a:p>
                      <a:pPr algn="ctr"/>
                      <a:r>
                        <a:rPr sz="1200">
                          <a:solidFill>
                            <a:srgbClr val="334155"/>
                          </a:solidFill>
                          <a:latin typeface="Malgun Gothic"/>
                        </a:rPr>
                        <a:t>Sustained motivation</a:t>
                      </a:r>
                    </a:p>
                  </a:txBody>
                  <a:tcPr>
                    <a:solidFill>
                      <a:srgbClr val="FFFFFF"/>
                    </a:solidFill>
                  </a:tcPr>
                </a:tc>
              </a:tr>
              <a:tr h="465512">
                <a:tc>
                  <a:txBody>
                    <a:bodyPr/>
                    <a:lstStyle/>
                    <a:p>
                      <a:pPr algn="l"/>
                      <a:r>
                        <a:rPr sz="1200" b="1">
                          <a:solidFill>
                            <a:srgbClr val="334155"/>
                          </a:solidFill>
                          <a:latin typeface="Malgun Gothic"/>
                        </a:rPr>
                        <a:t>AI warm-up</a:t>
                      </a:r>
                    </a:p>
                  </a:txBody>
                  <a:tcPr>
                    <a:solidFill>
                      <a:srgbClr val="F8FAFC"/>
                    </a:solidFill>
                  </a:tcPr>
                </a:tc>
                <a:tc>
                  <a:txBody>
                    <a:bodyPr/>
                    <a:lstStyle/>
                    <a:p>
                      <a:pPr algn="ctr"/>
                      <a:r>
                        <a:rPr sz="1200">
                          <a:solidFill>
                            <a:srgbClr val="334155"/>
                          </a:solidFill>
                          <a:latin typeface="Malgun Gothic"/>
                        </a:rPr>
                        <a:t>Loosening the mouth first</a:t>
                      </a:r>
                    </a:p>
                  </a:txBody>
                  <a:tcPr>
                    <a:solidFill>
                      <a:srgbClr val="F8FAFC"/>
                    </a:solidFill>
                  </a:tcPr>
                </a:tc>
                <a:tc>
                  <a:txBody>
                    <a:bodyPr/>
                    <a:lstStyle/>
                    <a:p>
                      <a:pPr algn="ctr"/>
                      <a:r>
                        <a:rPr sz="1200">
                          <a:solidFill>
                            <a:srgbClr val="334155"/>
                          </a:solidFill>
                          <a:latin typeface="Malgun Gothic"/>
                        </a:rPr>
                        <a:t>First 3 minutes</a:t>
                      </a:r>
                    </a:p>
                  </a:txBody>
                  <a:tcPr>
                    <a:solidFill>
                      <a:srgbClr val="F8FAFC"/>
                    </a:solidFill>
                  </a:tcPr>
                </a:tc>
                <a:tc>
                  <a:txBody>
                    <a:bodyPr/>
                    <a:lstStyle/>
                    <a:p>
                      <a:pPr algn="ctr"/>
                      <a:r>
                        <a:rPr sz="1200">
                          <a:solidFill>
                            <a:srgbClr val="334155"/>
                          </a:solidFill>
                          <a:latin typeface="Malgun Gothic"/>
                        </a:rPr>
                        <a:t>Removes early silence</a:t>
                      </a:r>
                    </a:p>
                  </a:txBody>
                  <a:tcPr>
                    <a:solidFill>
                      <a:srgbClr val="F8FAFC"/>
                    </a:solidFill>
                  </a:tcPr>
                </a:tc>
              </a:tr>
              <a:tr h="465512">
                <a:tc>
                  <a:txBody>
                    <a:bodyPr/>
                    <a:lstStyle/>
                    <a:p>
                      <a:pPr algn="l"/>
                      <a:r>
                        <a:rPr sz="1200" b="1">
                          <a:solidFill>
                            <a:srgbClr val="334155"/>
                          </a:solidFill>
                          <a:latin typeface="Malgun Gothic"/>
                        </a:rPr>
                        <a:t>Learning games</a:t>
                      </a:r>
                    </a:p>
                  </a:txBody>
                  <a:tcPr>
                    <a:solidFill>
                      <a:srgbClr val="FFFFFF"/>
                    </a:solidFill>
                  </a:tcPr>
                </a:tc>
                <a:tc>
                  <a:txBody>
                    <a:bodyPr/>
                    <a:lstStyle/>
                    <a:p>
                      <a:pPr algn="ctr"/>
                      <a:r>
                        <a:rPr sz="1200">
                          <a:solidFill>
                            <a:srgbClr val="334155"/>
                          </a:solidFill>
                          <a:latin typeface="Malgun Gothic"/>
                        </a:rPr>
                        <a:t>Review through play</a:t>
                      </a:r>
                    </a:p>
                  </a:txBody>
                  <a:tcPr>
                    <a:solidFill>
                      <a:srgbClr val="FFFFFF"/>
                    </a:solidFill>
                  </a:tcPr>
                </a:tc>
                <a:tc>
                  <a:txBody>
                    <a:bodyPr/>
                    <a:lstStyle/>
                    <a:p>
                      <a:pPr algn="ctr"/>
                      <a:r>
                        <a:rPr sz="1200">
                          <a:solidFill>
                            <a:srgbClr val="334155"/>
                          </a:solidFill>
                          <a:latin typeface="Malgun Gothic"/>
                        </a:rPr>
                        <a:t>Last 5 minutes</a:t>
                      </a:r>
                    </a:p>
                  </a:txBody>
                  <a:tcPr>
                    <a:solidFill>
                      <a:srgbClr val="FFFFFF"/>
                    </a:solidFill>
                  </a:tcPr>
                </a:tc>
                <a:tc>
                  <a:txBody>
                    <a:bodyPr/>
                    <a:lstStyle/>
                    <a:p>
                      <a:pPr algn="ctr"/>
                      <a:r>
                        <a:rPr sz="1200">
                          <a:solidFill>
                            <a:srgbClr val="334155"/>
                          </a:solidFill>
                          <a:latin typeface="Malgun Gothic"/>
                        </a:rPr>
                        <a:t>Repetition plus points</a:t>
                      </a:r>
                    </a:p>
                  </a:txBody>
                  <a:tcPr>
                    <a:solidFill>
                      <a:srgbClr val="FFFFFF"/>
                    </a:solidFill>
                  </a:tcPr>
                </a:tc>
              </a:tr>
              <a:tr h="465512">
                <a:tc>
                  <a:txBody>
                    <a:bodyPr/>
                    <a:lstStyle/>
                    <a:p>
                      <a:pPr algn="l"/>
                      <a:r>
                        <a:rPr sz="1200" b="1">
                          <a:solidFill>
                            <a:srgbClr val="334155"/>
                          </a:solidFill>
                          <a:latin typeface="Malgun Gothic"/>
                        </a:rPr>
                        <a:t>Escape game</a:t>
                      </a:r>
                    </a:p>
                  </a:txBody>
                  <a:tcPr>
                    <a:solidFill>
                      <a:srgbClr val="F8FAFC"/>
                    </a:solidFill>
                  </a:tcPr>
                </a:tc>
                <a:tc>
                  <a:txBody>
                    <a:bodyPr/>
                    <a:lstStyle/>
                    <a:p>
                      <a:pPr algn="ctr"/>
                      <a:r>
                        <a:rPr sz="1200">
                          <a:solidFill>
                            <a:srgbClr val="334155"/>
                          </a:solidFill>
                          <a:latin typeface="Malgun Gothic"/>
                        </a:rPr>
                        <a:t>A room that needs speech</a:t>
                      </a:r>
                    </a:p>
                  </a:txBody>
                  <a:tcPr>
                    <a:solidFill>
                      <a:srgbClr val="F8FAFC"/>
                    </a:solidFill>
                  </a:tcPr>
                </a:tc>
                <a:tc>
                  <a:txBody>
                    <a:bodyPr/>
                    <a:lstStyle/>
                    <a:p>
                      <a:pPr algn="ctr"/>
                      <a:r>
                        <a:rPr sz="1200">
                          <a:solidFill>
                            <a:srgbClr val="334155"/>
                          </a:solidFill>
                          <a:latin typeface="Malgun Gothic"/>
                        </a:rPr>
                        <a:t>Reluctant speakers</a:t>
                      </a:r>
                    </a:p>
                  </a:txBody>
                  <a:tcPr>
                    <a:solidFill>
                      <a:srgbClr val="F8FAFC"/>
                    </a:solidFill>
                  </a:tcPr>
                </a:tc>
                <a:tc>
                  <a:txBody>
                    <a:bodyPr/>
                    <a:lstStyle/>
                    <a:p>
                      <a:pPr algn="ctr"/>
                      <a:r>
                        <a:rPr sz="1200">
                          <a:solidFill>
                            <a:srgbClr val="334155"/>
                          </a:solidFill>
                          <a:latin typeface="Malgun Gothic"/>
                        </a:rPr>
                        <a:t>Forced output, success experience</a:t>
                      </a:r>
                    </a:p>
                  </a:txBody>
                  <a:tcPr>
                    <a:solidFill>
                      <a:srgbClr val="F8FAFC"/>
                    </a:solidFill>
                  </a:tcPr>
                </a:tc>
              </a:tr>
              <a:tr h="465512">
                <a:tc>
                  <a:txBody>
                    <a:bodyPr/>
                    <a:lstStyle/>
                    <a:p>
                      <a:pPr algn="l"/>
                      <a:r>
                        <a:rPr sz="1200" b="1">
                          <a:solidFill>
                            <a:srgbClr val="334155"/>
                          </a:solidFill>
                          <a:latin typeface="Malgun Gothic"/>
                        </a:rPr>
                        <a:t>Three words</a:t>
                      </a:r>
                    </a:p>
                  </a:txBody>
                  <a:tcPr>
                    <a:solidFill>
                      <a:srgbClr val="FFFFFF"/>
                    </a:solidFill>
                  </a:tcPr>
                </a:tc>
                <a:tc>
                  <a:txBody>
                    <a:bodyPr/>
                    <a:lstStyle/>
                    <a:p>
                      <a:pPr algn="ctr"/>
                      <a:r>
                        <a:rPr sz="1200">
                          <a:solidFill>
                            <a:srgbClr val="334155"/>
                          </a:solidFill>
                          <a:latin typeface="Malgun Gothic"/>
                        </a:rPr>
                        <a:t>Saving today's words</a:t>
                      </a:r>
                    </a:p>
                  </a:txBody>
                  <a:tcPr>
                    <a:solidFill>
                      <a:srgbClr val="FFFFFF"/>
                    </a:solidFill>
                  </a:tcPr>
                </a:tc>
                <a:tc>
                  <a:txBody>
                    <a:bodyPr/>
                    <a:lstStyle/>
                    <a:p>
                      <a:pPr algn="ctr"/>
                      <a:r>
                        <a:rPr sz="1200">
                          <a:solidFill>
                            <a:srgbClr val="334155"/>
                          </a:solidFill>
                          <a:latin typeface="Malgun Gothic"/>
                        </a:rPr>
                        <a:t>Last minute of class</a:t>
                      </a:r>
                    </a:p>
                  </a:txBody>
                  <a:tcPr>
                    <a:solidFill>
                      <a:srgbClr val="FFFFFF"/>
                    </a:solidFill>
                  </a:tcPr>
                </a:tc>
                <a:tc>
                  <a:txBody>
                    <a:bodyPr/>
                    <a:lstStyle/>
                    <a:p>
                      <a:pPr algn="ctr"/>
                      <a:r>
                        <a:rPr sz="1200">
                          <a:solidFill>
                            <a:srgbClr val="334155"/>
                          </a:solidFill>
                          <a:latin typeface="Malgun Gothic"/>
                        </a:rPr>
                        <a:t>Feeds automatic review</a:t>
                      </a:r>
                    </a:p>
                  </a:txBody>
                  <a:tcPr>
                    <a:solidFill>
                      <a:srgbClr val="FFFFFF"/>
                    </a:solidFill>
                  </a:tcPr>
                </a:tc>
              </a:tr>
              <a:tr h="465512">
                <a:tc>
                  <a:txBody>
                    <a:bodyPr/>
                    <a:lstStyle/>
                    <a:p>
                      <a:pPr algn="l"/>
                      <a:r>
                        <a:rPr sz="1200" b="1">
                          <a:solidFill>
                            <a:srgbClr val="334155"/>
                          </a:solidFill>
                          <a:latin typeface="Malgun Gothic"/>
                        </a:rPr>
                        <a:t>Two-line evaluation</a:t>
                      </a:r>
                    </a:p>
                  </a:txBody>
                  <a:tcPr>
                    <a:solidFill>
                      <a:srgbClr val="F8FAFC"/>
                    </a:solidFill>
                  </a:tcPr>
                </a:tc>
                <a:tc>
                  <a:txBody>
                    <a:bodyPr/>
                    <a:lstStyle/>
                    <a:p>
                      <a:pPr algn="ctr"/>
                      <a:r>
                        <a:rPr sz="1200">
                          <a:solidFill>
                            <a:srgbClr val="334155"/>
                          </a:solidFill>
                          <a:latin typeface="Malgun Gothic"/>
                        </a:rPr>
                        <a:t>One win, one next goal</a:t>
                      </a:r>
                    </a:p>
                  </a:txBody>
                  <a:tcPr>
                    <a:solidFill>
                      <a:srgbClr val="F8FAFC"/>
                    </a:solidFill>
                  </a:tcPr>
                </a:tc>
                <a:tc>
                  <a:txBody>
                    <a:bodyPr/>
                    <a:lstStyle/>
                    <a:p>
                      <a:pPr algn="ctr"/>
                      <a:r>
                        <a:rPr sz="1200">
                          <a:solidFill>
                            <a:srgbClr val="334155"/>
                          </a:solidFill>
                          <a:latin typeface="Malgun Gothic"/>
                        </a:rPr>
                        <a:t>Right after class</a:t>
                      </a:r>
                    </a:p>
                  </a:txBody>
                  <a:tcPr>
                    <a:solidFill>
                      <a:srgbClr val="F8FAFC"/>
                    </a:solidFill>
                  </a:tcPr>
                </a:tc>
                <a:tc>
                  <a:txBody>
                    <a:bodyPr/>
                    <a:lstStyle/>
                    <a:p>
                      <a:pPr algn="ctr"/>
                      <a:r>
                        <a:rPr sz="1200">
                          <a:solidFill>
                            <a:srgbClr val="334155"/>
                          </a:solidFill>
                          <a:latin typeface="Malgun Gothic"/>
                        </a:rPr>
                        <a:t>Evidence for reports</a:t>
                      </a:r>
                    </a:p>
                  </a:txBody>
                  <a:tcPr>
                    <a:solidFill>
                      <a:srgbClr val="F8FAFC"/>
                    </a:solidFill>
                  </a:tcPr>
                </a:tc>
              </a:tr>
              <a:tr h="465512">
                <a:tc>
                  <a:txBody>
                    <a:bodyPr/>
                    <a:lstStyle/>
                    <a:p>
                      <a:pPr algn="l"/>
                      <a:r>
                        <a:rPr sz="1200" b="1">
                          <a:solidFill>
                            <a:srgbClr val="334155"/>
                          </a:solidFill>
                          <a:latin typeface="Malgun Gothic"/>
                        </a:rPr>
                        <a:t>Age tactics</a:t>
                      </a:r>
                    </a:p>
                  </a:txBody>
                  <a:tcPr>
                    <a:solidFill>
                      <a:srgbClr val="FFFFFF"/>
                    </a:solidFill>
                  </a:tcPr>
                </a:tc>
                <a:tc>
                  <a:txBody>
                    <a:bodyPr/>
                    <a:lstStyle/>
                    <a:p>
                      <a:pPr algn="ctr"/>
                      <a:r>
                        <a:rPr sz="1200">
                          <a:solidFill>
                            <a:srgbClr val="334155"/>
                          </a:solidFill>
                          <a:latin typeface="Malgun Gothic"/>
                        </a:rPr>
                        <a:t>Matching delivery to age</a:t>
                      </a:r>
                    </a:p>
                  </a:txBody>
                  <a:tcPr>
                    <a:solidFill>
                      <a:srgbClr val="FFFFFF"/>
                    </a:solidFill>
                  </a:tcPr>
                </a:tc>
                <a:tc>
                  <a:txBody>
                    <a:bodyPr/>
                    <a:lstStyle/>
                    <a:p>
                      <a:pPr algn="ctr"/>
                      <a:r>
                        <a:rPr sz="1200">
                          <a:solidFill>
                            <a:srgbClr val="334155"/>
                          </a:solidFill>
                          <a:latin typeface="Malgun Gothic"/>
                        </a:rPr>
                        <a:t>At assignment</a:t>
                      </a:r>
                    </a:p>
                  </a:txBody>
                  <a:tcPr>
                    <a:solidFill>
                      <a:srgbClr val="FFFFFF"/>
                    </a:solidFill>
                  </a:tcPr>
                </a:tc>
                <a:tc>
                  <a:txBody>
                    <a:bodyPr/>
                    <a:lstStyle/>
                    <a:p>
                      <a:pPr algn="ctr"/>
                      <a:r>
                        <a:rPr sz="1200">
                          <a:solidFill>
                            <a:srgbClr val="334155"/>
                          </a:solidFill>
                          <a:latin typeface="Malgun Gothic"/>
                        </a:rPr>
                        <a:t>Prevents drop-off</a:t>
                      </a:r>
                    </a:p>
                  </a:txBody>
                  <a:tcPr>
                    <a:solidFill>
                      <a:srgbClr val="FFFFFF"/>
                    </a:solidFill>
                  </a:tcPr>
                </a:tc>
              </a:tr>
              <a:tr h="465520">
                <a:tc>
                  <a:txBody>
                    <a:bodyPr/>
                    <a:lstStyle/>
                    <a:p>
                      <a:pPr algn="l"/>
                      <a:r>
                        <a:rPr sz="1200" b="1">
                          <a:solidFill>
                            <a:srgbClr val="334155"/>
                          </a:solidFill>
                          <a:latin typeface="Malgun Gothic"/>
                        </a:rPr>
                        <a:t>Reviewing AI coaching</a:t>
                      </a:r>
                    </a:p>
                  </a:txBody>
                  <a:tcPr>
                    <a:solidFill>
                      <a:srgbClr val="F8FAFC"/>
                    </a:solidFill>
                  </a:tcPr>
                </a:tc>
                <a:tc>
                  <a:txBody>
                    <a:bodyPr/>
                    <a:lstStyle/>
                    <a:p>
                      <a:pPr algn="ctr"/>
                      <a:r>
                        <a:rPr sz="1200">
                          <a:solidFill>
                            <a:srgbClr val="334155"/>
                          </a:solidFill>
                          <a:latin typeface="Malgun Gothic"/>
                        </a:rPr>
                        <a:t>One change from feedback</a:t>
                      </a:r>
                    </a:p>
                  </a:txBody>
                  <a:tcPr>
                    <a:solidFill>
                      <a:srgbClr val="F8FAFC"/>
                    </a:solidFill>
                  </a:tcPr>
                </a:tc>
                <a:tc>
                  <a:txBody>
                    <a:bodyPr/>
                    <a:lstStyle/>
                    <a:p>
                      <a:pPr algn="ctr"/>
                      <a:r>
                        <a:rPr sz="1200">
                          <a:solidFill>
                            <a:srgbClr val="334155"/>
                          </a:solidFill>
                          <a:latin typeface="Malgun Gothic"/>
                        </a:rPr>
                        <a:t>Weekly</a:t>
                      </a:r>
                    </a:p>
                  </a:txBody>
                  <a:tcPr>
                    <a:solidFill>
                      <a:srgbClr val="F8FAFC"/>
                    </a:solidFill>
                  </a:tcPr>
                </a:tc>
                <a:tc>
                  <a:txBody>
                    <a:bodyPr/>
                    <a:lstStyle/>
                    <a:p>
                      <a:pPr algn="ctr"/>
                      <a:r>
                        <a:rPr sz="1200">
                          <a:solidFill>
                            <a:srgbClr val="334155"/>
                          </a:solidFill>
                          <a:latin typeface="Malgun Gothic"/>
                        </a:rPr>
                        <a:t>Teacher growth</a:t>
                      </a:r>
                    </a:p>
                  </a:txBody>
                  <a:tcPr>
                    <a:solidFill>
                      <a:srgbClr val="F8FA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Data at a Glance</a:t>
            </a:r>
          </a:p>
        </p:txBody>
      </p:sp>
      <p:sp>
        <p:nvSpPr>
          <p:cNvPr id="6" name="Rounded Rectangle 5"/>
          <p:cNvSpPr/>
          <p:nvPr/>
        </p:nvSpPr>
        <p:spPr>
          <a:xfrm>
            <a:off x="365760" y="841248"/>
            <a:ext cx="658368" cy="512064"/>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18</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B5FFF"/>
                </a:solidFill>
                <a:latin typeface="Malgun Gothic"/>
              </a:rPr>
              <a:t>📊 Data at a Glance</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Attention per activity by age (minutes)</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Structure of a 25-minute lesson (minutes)</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Frequently Asked Questions</a:t>
            </a:r>
          </a:p>
        </p:txBody>
      </p:sp>
      <p:sp>
        <p:nvSpPr>
          <p:cNvPr id="6" name="Rounded Rectangle 5"/>
          <p:cNvSpPr/>
          <p:nvPr/>
        </p:nvSpPr>
        <p:spPr>
          <a:xfrm>
            <a:off x="365760" y="841248"/>
            <a:ext cx="658368" cy="512064"/>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19</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B5FFF"/>
                </a:solidFill>
                <a:latin typeface="Malgun Gothic"/>
              </a:rPr>
              <a:t>❓ Frequently Asked Questions</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My student keeps speaking Korean.</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Do not scold — lower the question until they can answer in English. Start with a two-way choice (“Pizza or chicken?”), then one word, then a sentence. Making English easy works far faster than banning Korean.</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They keep mispronouncing. Should I correct every time?</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Correct one thing per lesson. For the rest, recasting the sentence correctly is enough. Constant correction makes them stop speaking.</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How much game time is appropriate?</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About 5 minutes in a 25-minute lesson. But a game with no stated purpose is just playtime — always tie it to today's expressions and say the goal first.</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Do I really have to write an evaluation every time?</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Yes. Without it, the axes of the parent's report card look empty. It does not need to be long — “one win + one next goal” is enough.</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The student is too distracted to continue.</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Instead of scolding, change the activity immediately. Drawing on the whiteboard or giving them a role usually brings them back. Distraction is surplus energy; it only needs redirecting.</a:t>
            </a:r>
          </a:p>
        </p:txBody>
      </p:sp>
      <p:sp>
        <p:nvSpPr>
          <p:cNvPr id="24" name="Rounded Rectangle 23"/>
          <p:cNvSpPr/>
          <p:nvPr/>
        </p:nvSpPr>
        <p:spPr>
          <a:xfrm>
            <a:off x="365760" y="649224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65392"/>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The connection dropped and we lost the lesson.</a:t>
            </a:r>
          </a:p>
        </p:txBody>
      </p:sp>
      <p:sp>
        <p:nvSpPr>
          <p:cNvPr id="26" name="TextBox 25"/>
          <p:cNvSpPr txBox="1"/>
          <p:nvPr/>
        </p:nvSpPr>
        <p:spPr>
          <a:xfrm>
            <a:off x="548640" y="690372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Do not end it yourself — tell an admin right away. Lost time is verified and made up as a replacement lesson. The system distinguishes a brief drop from leaving.</a:t>
            </a:r>
          </a:p>
        </p:txBody>
      </p:sp>
      <p:sp>
        <p:nvSpPr>
          <p:cNvPr id="27" name="Rounded Rectangle 26"/>
          <p:cNvSpPr/>
          <p:nvPr/>
        </p:nvSpPr>
        <p:spPr>
          <a:xfrm>
            <a:off x="365760" y="747979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7552944"/>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Where do I register work hours, breaks and leave?</a:t>
            </a:r>
          </a:p>
        </p:txBody>
      </p:sp>
      <p:sp>
        <p:nvSpPr>
          <p:cNvPr id="29" name="TextBox 28"/>
          <p:cNvSpPr txBox="1"/>
          <p:nvPr/>
        </p:nvSpPr>
        <p:spPr>
          <a:xfrm>
            <a:off x="548640" y="7891271"/>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Use the shortcut on the Teachers screen. The earlier you register leave, the more reliably it is reflected in assignments.</a:t>
            </a:r>
          </a:p>
        </p:txBody>
      </p:sp>
      <p:sp>
        <p:nvSpPr>
          <p:cNvPr id="30" name="Rounded Rectangle 29"/>
          <p:cNvSpPr/>
          <p:nvPr/>
        </p:nvSpPr>
        <p:spPr>
          <a:xfrm>
            <a:off x="365760" y="846734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8540496"/>
            <a:ext cx="11094415" cy="365760"/>
          </a:xfrm>
          <a:prstGeom prst="rect">
            <a:avLst/>
          </a:prstGeom>
          <a:noFill/>
        </p:spPr>
        <p:txBody>
          <a:bodyPr wrap="square" anchor="t">
            <a:spAutoFit/>
          </a:bodyPr>
          <a:lstStyle/>
          <a:p>
            <a:pPr algn="l">
              <a:lnSpc>
                <a:spcPct val="100000"/>
              </a:lnSpc>
            </a:pPr>
            <a:r>
              <a:rPr sz="1350" b="1">
                <a:solidFill>
                  <a:srgbClr val="0B5FFF"/>
                </a:solidFill>
                <a:latin typeface="Malgun Gothic"/>
              </a:rPr>
              <a:t>Q. I have no lesson today, so I cannot see the screens.</a:t>
            </a:r>
          </a:p>
        </p:txBody>
      </p:sp>
      <p:sp>
        <p:nvSpPr>
          <p:cNvPr id="32" name="TextBox 31"/>
          <p:cNvSpPr txBox="1"/>
          <p:nvPr/>
        </p:nvSpPr>
        <p:spPr>
          <a:xfrm>
            <a:off x="548640" y="887882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Ask an admin to create a sample lesson. It is created on the demo student account, so no real student data is affected.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9F1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Lesson Checklist</a:t>
            </a:r>
          </a:p>
        </p:txBody>
      </p:sp>
      <p:sp>
        <p:nvSpPr>
          <p:cNvPr id="6" name="Rounded Rectangle 5"/>
          <p:cNvSpPr/>
          <p:nvPr/>
        </p:nvSpPr>
        <p:spPr>
          <a:xfrm>
            <a:off x="365760" y="841248"/>
            <a:ext cx="658368" cy="512064"/>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20</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B5FFF"/>
                </a:solidFill>
                <a:latin typeface="Malgun Gothic"/>
              </a:rPr>
              <a:t>✅ Every-Lesson Checklist</a:t>
            </a:r>
          </a:p>
        </p:txBody>
      </p:sp>
      <p:sp>
        <p:nvSpPr>
          <p:cNvPr id="9" name="Rounded Rectangle 8"/>
          <p:cNvSpPr/>
          <p:nvPr/>
        </p:nvSpPr>
        <p:spPr>
          <a:xfrm>
            <a:off x="457200" y="1645920"/>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skim the last evaluation for 30 seconds?</a:t>
            </a:r>
          </a:p>
        </p:txBody>
      </p:sp>
      <p:sp>
        <p:nvSpPr>
          <p:cNvPr id="11" name="Rounded Rectangle 10"/>
          <p:cNvSpPr/>
          <p:nvPr/>
        </p:nvSpPr>
        <p:spPr>
          <a:xfrm>
            <a:off x="457200" y="2212848"/>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your camera and microphone beforehand?</a:t>
            </a:r>
          </a:p>
        </p:txBody>
      </p:sp>
      <p:sp>
        <p:nvSpPr>
          <p:cNvPr id="13" name="Rounded Rectangle 12"/>
          <p:cNvSpPr/>
          <p:nvPr/>
        </p:nvSpPr>
        <p:spPr>
          <a:xfrm>
            <a:off x="457200" y="2779776"/>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greet them by name in the first 60 seconds?</a:t>
            </a:r>
          </a:p>
        </p:txBody>
      </p:sp>
      <p:sp>
        <p:nvSpPr>
          <p:cNvPr id="15" name="Rounded Rectangle 14"/>
          <p:cNvSpPr/>
          <p:nvPr/>
        </p:nvSpPr>
        <p:spPr>
          <a:xfrm>
            <a:off x="457200" y="3346704"/>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wait five seconds after asking a question?</a:t>
            </a:r>
          </a:p>
        </p:txBody>
      </p:sp>
      <p:sp>
        <p:nvSpPr>
          <p:cNvPr id="17" name="Rounded Rectangle 16"/>
          <p:cNvSpPr/>
          <p:nvPr/>
        </p:nvSpPr>
        <p:spPr>
          <a:xfrm>
            <a:off x="457200" y="3913632"/>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give at least three specific compliments?</a:t>
            </a:r>
          </a:p>
        </p:txBody>
      </p:sp>
      <p:sp>
        <p:nvSpPr>
          <p:cNvPr id="19" name="Rounded Rectangle 18"/>
          <p:cNvSpPr/>
          <p:nvPr/>
        </p:nvSpPr>
        <p:spPr>
          <a:xfrm>
            <a:off x="457200" y="4480560"/>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avoid running one activity past 7 minutes?</a:t>
            </a:r>
          </a:p>
        </p:txBody>
      </p:sp>
      <p:sp>
        <p:nvSpPr>
          <p:cNvPr id="21" name="Rounded Rectangle 20"/>
          <p:cNvSpPr/>
          <p:nvPr/>
        </p:nvSpPr>
        <p:spPr>
          <a:xfrm>
            <a:off x="457200" y="5047488"/>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they save three of today's words to their list?</a:t>
            </a:r>
          </a:p>
        </p:txBody>
      </p:sp>
      <p:sp>
        <p:nvSpPr>
          <p:cNvPr id="23" name="Rounded Rectangle 22"/>
          <p:cNvSpPr/>
          <p:nvPr/>
        </p:nvSpPr>
        <p:spPr>
          <a:xfrm>
            <a:off x="457200" y="5614416"/>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5040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close with a preview of next time?</a:t>
            </a:r>
          </a:p>
        </p:txBody>
      </p:sp>
      <p:sp>
        <p:nvSpPr>
          <p:cNvPr id="25" name="Rounded Rectangle 24"/>
          <p:cNvSpPr/>
          <p:nvPr/>
        </p:nvSpPr>
        <p:spPr>
          <a:xfrm>
            <a:off x="457200" y="6181344"/>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611733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write the evaluation right after class?</a:t>
            </a:r>
          </a:p>
        </p:txBody>
      </p:sp>
      <p:sp>
        <p:nvSpPr>
          <p:cNvPr id="27" name="Rounded Rectangle 26"/>
          <p:cNvSpPr/>
          <p:nvPr/>
        </p:nvSpPr>
        <p:spPr>
          <a:xfrm>
            <a:off x="457200" y="6748272"/>
            <a:ext cx="292608" cy="292608"/>
          </a:xfrm>
          <a:prstGeom prst="roundRect">
            <a:avLst/>
          </a:prstGeom>
          <a:solidFill>
            <a:srgbClr val="FFFFFF"/>
          </a:solidFill>
          <a:ln w="12700">
            <a:solidFill>
              <a:srgbClr val="0B5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668426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Have you read this week's AI coaching feedback?</a:t>
            </a:r>
          </a:p>
        </p:txBody>
      </p:sp>
      <p:pic>
        <p:nvPicPr>
          <p:cNvPr id="29" name="Picture 28"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Teacher Training Manual</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Conclusion</a:t>
            </a:r>
          </a:p>
        </p:txBody>
      </p:sp>
      <p:sp>
        <p:nvSpPr>
          <p:cNvPr id="6" name="Rounded Rectangle 5"/>
          <p:cNvSpPr/>
          <p:nvPr/>
        </p:nvSpPr>
        <p:spPr>
          <a:xfrm>
            <a:off x="365760" y="841248"/>
            <a:ext cx="658368" cy="512064"/>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21</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0B5FFF"/>
                </a:solidFill>
                <a:latin typeface="Malgun Gothic"/>
              </a:rPr>
              <a:t>🏁 You are the curriculum</a:t>
            </a:r>
          </a:p>
        </p:txBody>
      </p:sp>
      <p:sp>
        <p:nvSpPr>
          <p:cNvPr id="9" name="Rounded Rectangle 8"/>
          <p:cNvSpPr/>
          <p:nvPr/>
        </p:nvSpPr>
        <p:spPr>
          <a:xfrm>
            <a:off x="365760" y="1371600"/>
            <a:ext cx="11430000" cy="868680"/>
          </a:xfrm>
          <a:prstGeom prst="roundRect">
            <a:avLst/>
          </a:prstGeom>
          <a:solidFill>
            <a:srgbClr val="E9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Good materials and a good system still do not make a child speak — you do. Do not try to apply every technique in this manual at once. One thing per lesson is enough.</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0B5FFF"/>
                </a:solidFill>
                <a:latin typeface="Malgun Gothic"/>
              </a:rPr>
              <a:t>🔄 One Lesson, End to End</a:t>
            </a:r>
          </a:p>
        </p:txBody>
      </p:sp>
      <p:sp>
        <p:nvSpPr>
          <p:cNvPr id="12" name="Rounded Rectangle 11"/>
          <p:cNvSpPr/>
          <p:nvPr/>
        </p:nvSpPr>
        <p:spPr>
          <a:xfrm>
            <a:off x="457200" y="2788920"/>
            <a:ext cx="1600200" cy="384048"/>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Before class</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Check the last evaluation · test camera &amp; mic · prepare one personal topic</a:t>
            </a:r>
          </a:p>
        </p:txBody>
      </p:sp>
      <p:sp>
        <p:nvSpPr>
          <p:cNvPr id="15" name="Rounded Rectangle 14"/>
          <p:cNvSpPr/>
          <p:nvPr/>
        </p:nvSpPr>
        <p:spPr>
          <a:xfrm>
            <a:off x="457200" y="3246120"/>
            <a:ext cx="1600200" cy="384048"/>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First 3 minutes</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Greet by name · AI warm-up to get the mouth moving</a:t>
            </a:r>
          </a:p>
        </p:txBody>
      </p:sp>
      <p:sp>
        <p:nvSpPr>
          <p:cNvPr id="18" name="Rounded Rectangle 17"/>
          <p:cNvSpPr/>
          <p:nvPr/>
        </p:nvSpPr>
        <p:spPr>
          <a:xfrm>
            <a:off x="457200" y="3703320"/>
            <a:ext cx="1600200" cy="384048"/>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Main lesson</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Wait five seconds after questions · change activity every 7 minutes</a:t>
            </a:r>
          </a:p>
        </p:txBody>
      </p:sp>
      <p:sp>
        <p:nvSpPr>
          <p:cNvPr id="21" name="Rounded Rectangle 20"/>
          <p:cNvSpPr/>
          <p:nvPr/>
        </p:nvSpPr>
        <p:spPr>
          <a:xfrm>
            <a:off x="457200" y="4160520"/>
            <a:ext cx="1600200" cy="384048"/>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Last 5 minutes</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Review game · praise basket · save three words</a:t>
            </a:r>
          </a:p>
        </p:txBody>
      </p:sp>
      <p:sp>
        <p:nvSpPr>
          <p:cNvPr id="24" name="Rounded Rectangle 23"/>
          <p:cNvSpPr/>
          <p:nvPr/>
        </p:nvSpPr>
        <p:spPr>
          <a:xfrm>
            <a:off x="457200" y="4617720"/>
            <a:ext cx="1600200" cy="384048"/>
          </a:xfrm>
          <a:prstGeom prst="round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Right after</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Two-line evaluation · note what to ask next time</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0B5FFF"/>
                </a:solidFill>
                <a:latin typeface="Malgun Gothic"/>
              </a:rPr>
              <a:t>⭐ Core Principles</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0B5FFF"/>
                </a:solidFill>
                <a:latin typeface="Malgun Gothic"/>
              </a:rPr>
              <a:t>● </a:t>
            </a:r>
            <a:r>
              <a:rPr sz="1100">
                <a:solidFill>
                  <a:srgbClr val="334155"/>
                </a:solidFill>
                <a:latin typeface="Malgun Gothic"/>
              </a:rPr>
              <a:t>Let them speak more — the less you talk, the faster they improve.</a:t>
            </a:r>
          </a:p>
          <a:p>
            <a:pPr>
              <a:lnSpc>
                <a:spcPct val="115000"/>
              </a:lnSpc>
              <a:spcAft>
                <a:spcPts val="500"/>
              </a:spcAft>
            </a:pPr>
            <a:r>
              <a:rPr sz="900" b="1">
                <a:solidFill>
                  <a:srgbClr val="0B5FFF"/>
                </a:solidFill>
                <a:latin typeface="Malgun Gothic"/>
              </a:rPr>
              <a:t>● </a:t>
            </a:r>
            <a:r>
              <a:rPr sz="1100">
                <a:solidFill>
                  <a:srgbClr val="334155"/>
                </a:solidFill>
                <a:latin typeface="Malgun Gothic"/>
              </a:rPr>
              <a:t>Make praise visible — spoken praise vanishes; praise that stacks up stays.</a:t>
            </a:r>
          </a:p>
          <a:p>
            <a:pPr>
              <a:lnSpc>
                <a:spcPct val="115000"/>
              </a:lnSpc>
              <a:spcAft>
                <a:spcPts val="500"/>
              </a:spcAft>
            </a:pPr>
            <a:r>
              <a:rPr sz="900" b="1">
                <a:solidFill>
                  <a:srgbClr val="0B5FFF"/>
                </a:solidFill>
                <a:latin typeface="Malgun Gothic"/>
              </a:rPr>
              <a:t>● </a:t>
            </a:r>
            <a:r>
              <a:rPr sz="1100">
                <a:solidFill>
                  <a:srgbClr val="334155"/>
                </a:solidFill>
                <a:latin typeface="Malgun Gothic"/>
              </a:rPr>
              <a:t>Remember one thing — “this teacher knows me” changes their attitude.</a:t>
            </a:r>
          </a:p>
          <a:p>
            <a:pPr>
              <a:lnSpc>
                <a:spcPct val="115000"/>
              </a:lnSpc>
              <a:spcAft>
                <a:spcPts val="500"/>
              </a:spcAft>
            </a:pPr>
            <a:r>
              <a:rPr sz="900" b="1">
                <a:solidFill>
                  <a:srgbClr val="0B5FFF"/>
                </a:solidFill>
                <a:latin typeface="Malgun Gothic"/>
              </a:rPr>
              <a:t>● </a:t>
            </a:r>
            <a:r>
              <a:rPr sz="1100">
                <a:solidFill>
                  <a:srgbClr val="334155"/>
                </a:solidFill>
                <a:latin typeface="Malgun Gothic"/>
              </a:rPr>
              <a:t>Keep the rhythm — if they look bored, change the activity, not the explanation.</a:t>
            </a:r>
          </a:p>
          <a:p>
            <a:pPr>
              <a:lnSpc>
                <a:spcPct val="115000"/>
              </a:lnSpc>
              <a:spcAft>
                <a:spcPts val="500"/>
              </a:spcAft>
            </a:pPr>
            <a:r>
              <a:rPr sz="900" b="1">
                <a:solidFill>
                  <a:srgbClr val="0B5FFF"/>
                </a:solidFill>
                <a:latin typeface="Malgun Gothic"/>
              </a:rPr>
              <a:t>● </a:t>
            </a:r>
            <a:r>
              <a:rPr sz="1100">
                <a:solidFill>
                  <a:srgbClr val="334155"/>
                </a:solidFill>
                <a:latin typeface="Malgun Gothic"/>
              </a:rPr>
              <a:t>Leave a record — one line in the evaluation becomes parent trust.</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0B5FFF"/>
                </a:solidFill>
                <a:latin typeface="Malgun Gothic"/>
              </a:rPr>
              <a:t>📌 Remember</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F9500"/>
                </a:solidFill>
                <a:latin typeface="Malgun Gothic"/>
              </a:rPr>
              <a:t>● </a:t>
            </a:r>
            <a:r>
              <a:rPr sz="1050">
                <a:solidFill>
                  <a:srgbClr val="334155"/>
                </a:solidFill>
                <a:latin typeface="Malgun Gothic"/>
              </a:rPr>
              <a:t>Wait five seconds after a question. That is where their first sentence comes from.</a:t>
            </a:r>
          </a:p>
          <a:p>
            <a:pPr>
              <a:lnSpc>
                <a:spcPct val="115000"/>
              </a:lnSpc>
              <a:spcAft>
                <a:spcPts val="400"/>
              </a:spcAft>
            </a:pPr>
            <a:r>
              <a:rPr sz="850" b="1">
                <a:solidFill>
                  <a:srgbClr val="FF9500"/>
                </a:solidFill>
                <a:latin typeface="Malgun Gothic"/>
              </a:rPr>
              <a:t>● </a:t>
            </a:r>
            <a:r>
              <a:rPr sz="1050">
                <a:solidFill>
                  <a:srgbClr val="334155"/>
                </a:solidFill>
                <a:latin typeface="Malgun Gothic"/>
              </a:rPr>
              <a:t>Three specific compliments beat thirty “Good job”s.</a:t>
            </a:r>
          </a:p>
          <a:p>
            <a:pPr>
              <a:lnSpc>
                <a:spcPct val="115000"/>
              </a:lnSpc>
              <a:spcAft>
                <a:spcPts val="400"/>
              </a:spcAft>
            </a:pPr>
            <a:r>
              <a:rPr sz="850" b="1">
                <a:solidFill>
                  <a:srgbClr val="FF9500"/>
                </a:solidFill>
                <a:latin typeface="Malgun Gothic"/>
              </a:rPr>
              <a:t>● </a:t>
            </a:r>
            <a:r>
              <a:rPr sz="1050">
                <a:solidFill>
                  <a:srgbClr val="334155"/>
                </a:solidFill>
                <a:latin typeface="Malgun Gothic"/>
              </a:rPr>
              <a:t>For silent students, start with the Escape game and closed questions.</a:t>
            </a:r>
          </a:p>
          <a:p>
            <a:pPr>
              <a:lnSpc>
                <a:spcPct val="115000"/>
              </a:lnSpc>
              <a:spcAft>
                <a:spcPts val="400"/>
              </a:spcAft>
            </a:pPr>
            <a:r>
              <a:rPr sz="850" b="1">
                <a:solidFill>
                  <a:srgbClr val="FF9500"/>
                </a:solidFill>
                <a:latin typeface="Malgun Gothic"/>
              </a:rPr>
              <a:t>● </a:t>
            </a:r>
            <a:r>
              <a:rPr sz="1050">
                <a:solidFill>
                  <a:srgbClr val="334155"/>
                </a:solidFill>
                <a:latin typeface="Malgun Gothic"/>
              </a:rPr>
              <a:t>Never end a lesson yourself over a connection problem — tell an admin.</a:t>
            </a:r>
          </a:p>
          <a:p>
            <a:pPr>
              <a:lnSpc>
                <a:spcPct val="115000"/>
              </a:lnSpc>
              <a:spcAft>
                <a:spcPts val="400"/>
              </a:spcAft>
            </a:pPr>
            <a:r>
              <a:rPr sz="850" b="1">
                <a:solidFill>
                  <a:srgbClr val="FF9500"/>
                </a:solidFill>
                <a:latin typeface="Malgun Gothic"/>
              </a:rPr>
              <a:t>● </a:t>
            </a:r>
            <a:r>
              <a:rPr sz="1050">
                <a:solidFill>
                  <a:srgbClr val="334155"/>
                </a:solidFill>
                <a:latin typeface="Malgun Gothic"/>
              </a:rPr>
              <a:t>Choose one thing to change each month.</a:t>
            </a:r>
          </a:p>
        </p:txBody>
      </p:sp>
      <p:sp>
        <p:nvSpPr>
          <p:cNvPr id="31" name="Rounded Rectangle 30"/>
          <p:cNvSpPr/>
          <p:nvPr/>
        </p:nvSpPr>
        <p:spPr>
          <a:xfrm>
            <a:off x="457200" y="6172200"/>
            <a:ext cx="11338560" cy="566928"/>
          </a:xfrm>
          <a:prstGeom prst="roundRect">
            <a:avLst/>
          </a:prstGeom>
          <a:solidFill>
            <a:srgbClr val="E9F1FF"/>
          </a:solidFill>
          <a:ln w="12700">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If one child said their first full sentence today, that lesson was a success. Those sentences add up to fluency, and those records add up to parent trust. One lesson of yours changes one child's English. Thank you for today!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5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082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082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You are the curriculum</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Questions? Contact the Teacher Support team or our KakaoTalk channel.</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