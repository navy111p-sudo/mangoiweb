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9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3840480" cy="38404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572000"/>
            <a:ext cx="3108960" cy="3108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C:/Users/Admin/AppData/Local/Temp/claude/C--Users-Admin-Desktop-mangoi-develop2-main/51a19268-9c4f-476f-8b14-ce923f54a918/scratchpad/img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54480"/>
            <a:ext cx="2148840" cy="175539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651760" y="1417320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 강사 교육 매뉴얼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651760" y="242316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어린이·청소년을 몰입시키는 화상영어 수업 트레이닝 바이블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51760" y="324612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FF9500"/>
          </a:solidFill>
          <a:ln/>
        </p:spPr>
      </p:sp>
      <p:sp>
        <p:nvSpPr>
          <p:cNvPr id="8" name="Text 5"/>
          <p:cNvSpPr/>
          <p:nvPr/>
        </p:nvSpPr>
        <p:spPr>
          <a:xfrm>
            <a:off x="2651760" y="3246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29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v2.0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1520" y="5623560"/>
            <a:ext cx="10698480" cy="685800"/>
          </a:xfrm>
          <a:prstGeom prst="roundRect">
            <a:avLst>
              <a:gd name="adj" fmla="val 13333"/>
            </a:avLst>
          </a:prstGeom>
          <a:solidFill>
            <a:srgbClr val="FF9500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56235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829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흥미 × 성취, 두 마리 토끼를 잡는 실전 가이드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당신이 바꾸는 건 '영어 점수'가 아닙니다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1188720" y="1600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아이가 영어를 평생 좋아하게 될지, 아니면 지겨워하고 두려워하게 될지는 교재의 난이도가 아니라 '오늘 이 수업이 얼마나 즐거웠는가'로 결정됩니다.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188720" y="2788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매뉴얼은 지켜야 할 규칙집이 아니라, 수업에서 바로 꺼내 쓸 수 있는 '무기고'입니다. 5대 핵심과 흥미 공식 사이클, 연령별 전술을 하나씩 익혀보세요.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88720" y="39776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자료를 끝까지 읽고 실제 수업에 적용해보려는 당신은, 이미 상위 10% 안에 드는 강사입니다. 매 수업 딱 한 가지씩만 의식적으로 시도해보세요.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0" y="59893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E3EE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59893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당신은 이미 상위 10% 강사</a:t>
            </a:r>
            <a:endParaRPr lang="en-US" sz="1300" dirty="0"/>
          </a:p>
        </p:txBody>
      </p:sp>
      <p:pic>
        <p:nvPicPr>
          <p:cNvPr id="8" name="Image 0" descr="C:/Users/Admin/AppData/Local/Temp/claude/C--Users-Admin-Desktop-mangoi-develop2-main/51a19268-9c4f-476f-8b14-ce923f54a918/scratchpad/img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5349240"/>
            <a:ext cx="1737360" cy="14192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전, 이 4가지 숫자만 기억하세요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370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0370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0B5FFF"/>
          </a:solidFill>
          <a:ln/>
        </p:spPr>
      </p:sp>
      <p:sp>
        <p:nvSpPr>
          <p:cNvPr id="5" name="Shape 3"/>
          <p:cNvSpPr/>
          <p:nvPr/>
        </p:nvSpPr>
        <p:spPr>
          <a:xfrm>
            <a:off x="403708" y="2267712"/>
            <a:ext cx="2606040" cy="246888"/>
          </a:xfrm>
          <a:prstGeom prst="rect">
            <a:avLst/>
          </a:prstGeom>
          <a:solidFill>
            <a:srgbClr val="0B5FFF"/>
          </a:solidFill>
          <a:ln/>
        </p:spPr>
      </p:sp>
      <p:sp>
        <p:nvSpPr>
          <p:cNvPr id="6" name="Text 4"/>
          <p:cNvSpPr/>
          <p:nvPr/>
        </p:nvSpPr>
        <p:spPr>
          <a:xfrm>
            <a:off x="40370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086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아이의 몰입이 결정된다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2978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2978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00B85C"/>
          </a:solidFill>
          <a:ln/>
        </p:spPr>
      </p:sp>
      <p:sp>
        <p:nvSpPr>
          <p:cNvPr id="10" name="Shape 8"/>
          <p:cNvSpPr/>
          <p:nvPr/>
        </p:nvSpPr>
        <p:spPr>
          <a:xfrm>
            <a:off x="3329788" y="2267712"/>
            <a:ext cx="2606040" cy="246888"/>
          </a:xfrm>
          <a:prstGeom prst="rect">
            <a:avLst/>
          </a:prstGeom>
          <a:solidFill>
            <a:srgbClr val="00B85C"/>
          </a:solidFill>
          <a:ln/>
        </p:spPr>
      </p:sp>
      <p:sp>
        <p:nvSpPr>
          <p:cNvPr id="11" name="Text 9"/>
          <p:cNvSpPr/>
          <p:nvPr/>
        </p:nvSpPr>
        <p:spPr>
          <a:xfrm>
            <a:off x="332978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8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60%+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6694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말해야 실력이 는다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5586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5586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00B8D9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2267712"/>
            <a:ext cx="2606040" cy="246888"/>
          </a:xfrm>
          <a:prstGeom prst="rect">
            <a:avLst/>
          </a:prstGeom>
          <a:solidFill>
            <a:srgbClr val="00B8D9"/>
          </a:solidFill>
          <a:ln/>
        </p:spPr>
      </p:sp>
      <p:sp>
        <p:nvSpPr>
          <p:cNvPr id="16" name="Text 14"/>
          <p:cNvSpPr/>
          <p:nvPr/>
        </p:nvSpPr>
        <p:spPr>
          <a:xfrm>
            <a:off x="625586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8세=8분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39302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 = 집중 지속 시간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181948" y="20116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81948" y="2011680"/>
            <a:ext cx="2606040" cy="502920"/>
          </a:xfrm>
          <a:prstGeom prst="roundRect">
            <a:avLst>
              <a:gd name="adj" fmla="val 21818"/>
            </a:avLst>
          </a:prstGeom>
          <a:solidFill>
            <a:srgbClr val="7C3AED"/>
          </a:solidFill>
          <a:ln/>
        </p:spPr>
      </p:sp>
      <p:sp>
        <p:nvSpPr>
          <p:cNvPr id="20" name="Shape 18"/>
          <p:cNvSpPr/>
          <p:nvPr/>
        </p:nvSpPr>
        <p:spPr>
          <a:xfrm>
            <a:off x="9181948" y="2267712"/>
            <a:ext cx="2606040" cy="2468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9181948" y="2788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5~7분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9319108" y="38404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마다 활동을 전환하라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이 매뉴얼을 만든 이유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 학생들은 대부분 호기심 많고 에너지 넘치지만 집중 시간이 짧은 어린이·청소년입니다. '재미가 없으면 배우기 싫다'는 정도를 넘어, '수업 첫 5분 안에 재미가 느껴지지 않으면 마음은 이미 로그아웃해 버린다'는 훨씬 냉정한 특징이 있습니다.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게다가 온라인 화상 수업은 목소리 톤·표정·몸짓 같은 비언어 신호가 대면보다 30~40% 손실되어 전달됩니다. 강사가 교실에서처럼 차분하게 진행하면, 아이에게는 그 에너지가 훨씬 약하고 지루하게 느껴져 곧바로 딴짓을 시작합니다.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4160520"/>
            <a:ext cx="5852160" cy="1691640"/>
          </a:xfrm>
          <a:prstGeom prst="roundRect">
            <a:avLst>
              <a:gd name="adj" fmla="val 5405"/>
            </a:avLst>
          </a:prstGeom>
          <a:solidFill>
            <a:srgbClr val="E3EE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79392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“우리는 지루한 문법을 억지로 주입하는 교사가 아니라, 영어라는 놀이터를 만들어주고 그 안에서 아이와 함께 신나게 뛰어노는 페이스메이커입니다.”</a:t>
            </a:r>
            <a:endParaRPr lang="en-US" sz="1150" dirty="0"/>
          </a:p>
        </p:txBody>
      </p:sp>
      <p:pic>
        <p:nvPicPr>
          <p:cNvPr id="7" name="Image 0" descr="C:/Users/Admin/AppData/Local/Temp/claude/C--Users-Admin-Desktop-mangoi-develop2-main/51a19268-9c4f-476f-8b14-ce923f54a918/scratchpad/img/growth_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417320"/>
            <a:ext cx="5029200" cy="3350956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pic>
      <p:sp>
        <p:nvSpPr>
          <p:cNvPr id="8" name="Text 5"/>
          <p:cNvSpPr/>
          <p:nvPr/>
        </p:nvSpPr>
        <p:spPr>
          <a:xfrm>
            <a:off x="6629400" y="490543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수업이 재미있을수록(재미) 아이는 계속 다니고(지속), 계속 다닐수록 실력(성취)도 커집니다. 흥미는 성취를 만드는 원인입니다.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아이들의 마음을 흔드는 5대 핵심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항목마다 다음 슬라이드에서 왜 중요한지·어떻게 하는지·실전 예시까지 자세히 설명합니다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566928" cy="566928"/>
          </a:xfrm>
          <a:prstGeom prst="ellipse">
            <a:avLst/>
          </a:prstGeom>
          <a:solidFill>
            <a:srgbClr val="0B5FF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655064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에너지 &amp; 표정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57800" y="1655064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뚫고 전달되는 따뜻함 — 평소보다 과장된 리액션이 필요합니다.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E3EEFF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33472"/>
            <a:ext cx="566928" cy="566928"/>
          </a:xfrm>
          <a:prstGeom prst="ellipse">
            <a:avLst/>
          </a:prstGeom>
          <a:solidFill>
            <a:srgbClr val="00B8D9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33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255117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학생 발화 60% 이상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2551176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말하는 사람이 배우는 사람 — 질문 후 3초를 기다려주세요.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392424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529584"/>
            <a:ext cx="566928" cy="56692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529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4472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성취를 즉각 눈으로 보여주기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3447288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보상의 힘 — 별점·배지·마스코트로 성취를 실물처럼 느끼게 하세요.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288536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E3EE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425696"/>
            <a:ext cx="566928" cy="566928"/>
          </a:xfrm>
          <a:prstGeom prst="ellipse">
            <a:avLst/>
          </a:prstGeom>
          <a:solidFill>
            <a:srgbClr val="00B85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25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600200" y="43434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완전한 개인화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4343400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'나만을 위한 특별한 시간'이라는 느낌을 주세요.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184648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321808"/>
            <a:ext cx="566928" cy="56692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321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5239512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리듬감 있는 전환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257800" y="5239512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지루할 틈을 주지 않는 흐름 — 5~7분마다 활동을 바꾸세요.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B5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에너지 &amp; 표정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화상 수업에서는 표정과 목소리의 에너지가 대면보다 훨씬 약하게 전달됩니다. 강사가 평소의 '적당한' 텐션으로 진행하면 아이에게는 '심심하다'로 느껴집니다. 평소보다 1.5배쯤 과장해야 화면 너머 아이에게 '친근하고 다정한 선생님'으로 전달됩니다.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맞히면 즉시 엄지척, 박수, 눈을 크게 뜨며 놀라는 표정 같은 비언어적 리액션을 아끼지 마세요. 목소리 톤은 평소보다 한 단계 밝게, '솔(Sol)' 톤 정도로 유지하고 카메라를 정면으로 바라보며 눈맞춤을 자주 하세요.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아이가 어려운 문제를 맞혔을 때 “Wow! Amazing! You are a genius!”라고 크게 반응하며 두 손을 번쩍 들어 박수를 쳐주세요.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0B8D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학생 발화 60% 이상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언어는 입으로 뱉어봐야 자기 것이 됩니다. 초보 강사가 가장 쉽게 빠지는 함정은 '설명을 너무 많이 하는 것'입니다. 강사가 혼자 계속 설명하면 아이는 수동적인 청중이 되고 흥미와 참여도가 함께 떨어집니다.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전체 수업 시간 중 아이 발화 비율 60% 이상입니다. 질문을 던진 뒤 절대 서두르지 말고 마음속으로 '하나, 둘, 셋' 3초를 세며 기다리세요. 이 시간 동안 아이는 머릿속에서 문장을 조립하고 있습니다.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“What did you do yesterday?”라고 물은 뒤 아이가 우물쭈물해도 곧바로 답을 알려주지 말고, 웃는 얼굴로 조용히 3초를 기다려 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성취를 즉각 눈으로 보여주기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아이는 '내가 지금 잘하고 있다'는 확실한 신호를 받아야 다음 수업도 오고 싶어집니다. “Good job” 같은 밋밋한 칭찬은 몇 번 반복되면 아무런 감흥을 주지 못합니다. 눈에 보이고 귀에 들리는 실물 같은 보상이 훨씬 강력합니다.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만고아이의 별점, 캐릭터 배지, 화면 가득 터지는 콘페티 효과, 마스코트 '망고'의 춤추는 리액션을 적극 활용하세요. “이거 맞히면 망고가 춤춰!”처럼 미리 예고하며 기대감을 키우는 것도 좋습니다.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아이가 문제를 맞히면 “Yes! Look, Mango is dancing for you!”라고 외치며 배지·별점 효과를 함께 보여주세요.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00B85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완전한 개인화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아이는 자신이 여러 학생 중 한 명이 아니라 '이 수업은 오직 나를 위해 준비되었다'고 느낄 때 마음을 활짝 엽니다. 이름을 한두 번 부르는 정도로는 부족하고, 그 아이만의 이야기와 관심사가 수업 속에 녹아 있어야 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아이의 이름을 자주, 다정하게 불러주세요. 좋아하는 축구·아이돌·게임 같은 관심사를 예문이나 질문에 슬쩍 끼워 넣으세요. 웜업 교재연동 AI와 오답 개인화 기능으로 자주 틀리는 부분을 미리 파악하고 들어가세요.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축구를 좋아하는 아이에게 “If you were Son Heung-min, what would you say after scoring a goal?”처럼 그 아이만을 위한 질문을 던져보세요.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457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리듬감 있는 전환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81912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2A6AC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8191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아이들의 집중 지속 시간은 대략 '나이 = 분(分)'에 비례합니다(예: 8세 ≈ 8분). 한 활동을 이 시간보다 길게 끌면 아이는 반드시 몸을 배배 꼬거나 하품을 하며 딴짓을 시작합니다.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73552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438144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0B85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4381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하세요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활동은 5~7분을 넘기지 않도록 계획하세요. '교재 학습 → 미니 게임 → 자유 대화 → 또 다른 미니 게임'처럼 성격이 다른 활동을 리드미컬하게 교차시키세요. 하품이나 시선 분산이 보이면 즉시 전환하세요.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9784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E3EEFF"/>
          </a:solidFill>
          <a:ln w="12700">
            <a:solidFill>
              <a:srgbClr val="BBD6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5294376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B5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94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예시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8680" y="57698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문법 설명이 5분을 넘어갈 것 같으면 “Okay, let's take a quick break and play a game!”라고 말하며 자연스럽게 게임 탭으로 넘어가세요.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한눈에 보기 — DO vs AVOID 실전 대비표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위에서 설명한 5대 핵심을 수업 중 바로 참고할 수 있도록 표로 정리했습니다.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484632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834640"/>
                <a:gridCol w="2834640"/>
              </a:tblGrid>
              <a:tr h="807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중요한가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AVOID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3E3E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에너지·표정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화상은 감정 전달이 30~40% 줄어들어 과장된 에너지라야 딱 적당하게 느껴짐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엄지척·박수·놀란 표정, 톤 한 단계 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무표정, 단조로운 톤, 시선이 아래로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 발화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말하는 사람이 가장 많이 배움. 아이가 입을 열어야 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60%+ 발화 목표, 질문 후 3초 대기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아이보다 먼저 정답 말하기, 긴 설명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성취 가시화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'잘하고 있다'는 실물 피드백이 지속의 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별점·배지·콘페티·마스코트 적극 활용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영혼 없는 칭찬, 오답만 지적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'나만의 수업'이라 느낄 때 비로소 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자주 부르기, 관심사 반영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스크립트 반복, 오답 기억 못함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리듬·전환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집중 ≈ 나이(8세=8분), 늘어지면 지루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5~7분마다 전환, 학습↔게임 교차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활동 15분+, 지친 신호 무시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연령별 맞춤 티칭 전술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나이마다 흥미를 느끼는 코드가 다릅니다. 지금 만나는 학생의 연령대에 맞는 전술을 준비하세요.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1800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1800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B5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8008" y="2560320"/>
            <a:ext cx="5394960" cy="457200"/>
          </a:xfrm>
          <a:prstGeom prst="rect">
            <a:avLst/>
          </a:prstGeom>
          <a:solidFill>
            <a:srgbClr val="0B5FFF"/>
          </a:solidFill>
          <a:ln/>
        </p:spPr>
      </p:sp>
      <p:sp>
        <p:nvSpPr>
          <p:cNvPr id="7" name="Text 5"/>
          <p:cNvSpPr/>
          <p:nvPr/>
        </p:nvSpPr>
        <p:spPr>
          <a:xfrm>
            <a:off x="51800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5~7세 (유아)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1800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5~7분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232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글자보다 통통 튀는 소리와 움직이는 이미지에 훨씬 강하게 반응합니다. 인형이나 손 인형을 활용한 몸짓, 신나는 율동과 노래를 섞고, 규칙이 아주 단순한 게임을 활용하세요. 그림과 소리로 먼저 이해시키는 것이 효과적입니다.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7872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0B8D9"/>
          </a:solidFill>
          <a:ln/>
        </p:spPr>
      </p:sp>
      <p:sp>
        <p:nvSpPr>
          <p:cNvPr id="12" name="Shape 10"/>
          <p:cNvSpPr/>
          <p:nvPr/>
        </p:nvSpPr>
        <p:spPr>
          <a:xfrm>
            <a:off x="6278728" y="2560320"/>
            <a:ext cx="5394960" cy="457200"/>
          </a:xfrm>
          <a:prstGeom prst="rect">
            <a:avLst/>
          </a:prstGeom>
          <a:solidFill>
            <a:srgbClr val="00B8D9"/>
          </a:solidFill>
          <a:ln/>
        </p:spPr>
      </p:sp>
      <p:sp>
        <p:nvSpPr>
          <p:cNvPr id="13" name="Text 11"/>
          <p:cNvSpPr/>
          <p:nvPr/>
        </p:nvSpPr>
        <p:spPr>
          <a:xfrm>
            <a:off x="627872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8~10세 (저학년)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7872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8~10분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55304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'내가 이기고 싶다'는 승부욕과 '미션을 완수하고 싶다'는 본능을 정확히 저격하세요. 짧은 슈팅 게임이나 3D 대결을 활용하고, 배지·아이템을 모으는 '수집의 즐거움'을 강조하세요.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연령별 맞춤 티칭 전술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1800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1800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0B8D9"/>
          </a:solidFill>
          <a:ln/>
        </p:spPr>
      </p:sp>
      <p:sp>
        <p:nvSpPr>
          <p:cNvPr id="5" name="Shape 3"/>
          <p:cNvSpPr/>
          <p:nvPr/>
        </p:nvSpPr>
        <p:spPr>
          <a:xfrm>
            <a:off x="518008" y="2560320"/>
            <a:ext cx="5394960" cy="457200"/>
          </a:xfrm>
          <a:prstGeom prst="rect">
            <a:avLst/>
          </a:prstGeom>
          <a:solidFill>
            <a:srgbClr val="00B8D9"/>
          </a:solidFill>
          <a:ln/>
        </p:spPr>
      </p:sp>
      <p:sp>
        <p:nvSpPr>
          <p:cNvPr id="6" name="Text 4"/>
          <p:cNvSpPr/>
          <p:nvPr/>
        </p:nvSpPr>
        <p:spPr>
          <a:xfrm>
            <a:off x="51800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11~13세 (고학년)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1800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12~15분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232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'이걸 내가 왜 배워야 하지?'라는 의미 부여에 서서히 설득당하는 시기입니다. 좋아하는 아이돌·유튜버 뉴스, 또래 비교 순위·경쟁 그래프를 보여주면 집중도가 눈에 띄게 올라갑니다.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21031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8728" y="2103120"/>
            <a:ext cx="5394960" cy="914400"/>
          </a:xfrm>
          <a:prstGeom prst="roundRect">
            <a:avLst>
              <a:gd name="adj" fmla="val 12000"/>
            </a:avLst>
          </a:prstGeom>
          <a:solidFill>
            <a:srgbClr val="08296B"/>
          </a:solidFill>
          <a:ln/>
        </p:spPr>
      </p:sp>
      <p:sp>
        <p:nvSpPr>
          <p:cNvPr id="11" name="Shape 9"/>
          <p:cNvSpPr/>
          <p:nvPr/>
        </p:nvSpPr>
        <p:spPr>
          <a:xfrm>
            <a:off x="6278728" y="2560320"/>
            <a:ext cx="5394960" cy="457200"/>
          </a:xfrm>
          <a:prstGeom prst="rect">
            <a:avLst/>
          </a:prstGeom>
          <a:solidFill>
            <a:srgbClr val="08296B"/>
          </a:solidFill>
          <a:ln/>
        </p:spPr>
      </p:sp>
      <p:sp>
        <p:nvSpPr>
          <p:cNvPr id="12" name="Text 10"/>
          <p:cNvSpPr/>
          <p:nvPr/>
        </p:nvSpPr>
        <p:spPr>
          <a:xfrm>
            <a:off x="6278728" y="2176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14세+ (청소년)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278728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15~20분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53048" y="324612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지나치게 유아적인 톤이나 오버 리액션은 불쾌감을 살 수 있으니 주의하세요. 어른 대 어른의 존중과 함께, 시험 성적이나 실전 회화 향상 같은 실용적 효능감으로 승부하세요.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흥미 공식의 데이터</a:t>
            </a:r>
            <a:endParaRPr lang="en-US" sz="2600" dirty="0"/>
          </a:p>
        </p:txBody>
      </p:sp>
      <p:pic>
        <p:nvPicPr>
          <p:cNvPr id="3" name="Image 0" descr="C:/Users/Admin/AppData/Local/Temp/claude/C--Users-Admin-Desktop-mangoi-develop2-main/51a19268-9c4f-476f-8b14-ce923f54a918/scratchpad/img/stt_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1554480"/>
            <a:ext cx="2971800" cy="4197965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40080" y="5935325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이상적인 수업, 아이가 60%+ 말합니다</a:t>
            </a:r>
            <a:endParaRPr lang="en-US" sz="1000" dirty="0"/>
          </a:p>
        </p:txBody>
      </p:sp>
      <p:pic>
        <p:nvPicPr>
          <p:cNvPr id="5" name="Image 1" descr="C:/Users/Admin/AppData/Local/Temp/claude/C--Users-Admin-Desktop-mangoi-develop2-main/51a19268-9c4f-476f-8b14-ce923f54a918/scratchpad/img/age_k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53855"/>
            <a:ext cx="5486400" cy="3698931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6126480" y="5735665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나이 = 집중 지속 분(分)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A. 흥미 공식 사이클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웜업 → 미션 → 말하기 → 게임보상 → 피드백 → 다음미션. 한 바퀴가 완결된 몰입 구조입니다.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4000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2600" y="2606040"/>
            <a:ext cx="502920" cy="502920"/>
          </a:xfrm>
          <a:prstGeom prst="ellipse">
            <a:avLst/>
          </a:prstGeom>
          <a:solidFill>
            <a:srgbClr val="0B5FFF"/>
          </a:solidFill>
          <a:ln/>
        </p:spPr>
      </p:sp>
      <p:sp>
        <p:nvSpPr>
          <p:cNvPr id="6" name="Text 4"/>
          <p:cNvSpPr/>
          <p:nvPr/>
        </p:nvSpPr>
        <p:spPr>
          <a:xfrm>
            <a:off x="6826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2680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웜업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2600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수업에서 헷갈렸던 문법·단어를 가벼운 잡담 속 질문에 살짝 섞어 자연스럽게 리마인드하세요. 심리적 장벽을 낮추는 것이 목표입니다.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9304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12768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41368" y="2606040"/>
            <a:ext cx="502920" cy="502920"/>
          </a:xfrm>
          <a:prstGeom prst="ellipse">
            <a:avLst/>
          </a:prstGeom>
          <a:solidFill>
            <a:srgbClr val="00B8D9"/>
          </a:solidFill>
          <a:ln/>
        </p:spPr>
      </p:sp>
      <p:sp>
        <p:nvSpPr>
          <p:cNvPr id="12" name="Text 10"/>
          <p:cNvSpPr/>
          <p:nvPr/>
        </p:nvSpPr>
        <p:spPr>
          <a:xfrm>
            <a:off x="4541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81448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41368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“단어 3개만 완벽히 마스터하면 보너스 게임!”처럼 쉽고 명확한 목표를 구체적인 숫자로 선언하세요. 게임 시작 직전 같은 의욕을 심어줍니다.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88072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71536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00136" y="2606040"/>
            <a:ext cx="502920" cy="5029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840013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40216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00136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설명은 최소화하고 '질문→대답→또 질문'을 반복해 아이가 스스로 생각하고 말하게 유도하세요. 강사는 설명자가 아니라 대화 상대입니다.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A. 흥미 공식 사이클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4000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2600" y="2606040"/>
            <a:ext cx="502920" cy="502920"/>
          </a:xfrm>
          <a:prstGeom prst="ellipse">
            <a:avLst/>
          </a:prstGeom>
          <a:solidFill>
            <a:srgbClr val="00B85C"/>
          </a:solidFill>
          <a:ln/>
        </p:spPr>
      </p:sp>
      <p:sp>
        <p:nvSpPr>
          <p:cNvPr id="5" name="Text 3"/>
          <p:cNvSpPr/>
          <p:nvPr/>
        </p:nvSpPr>
        <p:spPr>
          <a:xfrm>
            <a:off x="6826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2680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보상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2600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에너지가 떨어지기 시작하는 10분 전후 타이밍에 학습 내용과 연결된 게임을 활성화하세요. 주의력을 산뜻하게 리프레시합니다.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9304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12768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41368" y="2606040"/>
            <a:ext cx="502920" cy="502920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11" name="Text 9"/>
          <p:cNvSpPr/>
          <p:nvPr/>
        </p:nvSpPr>
        <p:spPr>
          <a:xfrm>
            <a:off x="4541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81448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보상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1368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“망고가 춤춘다!”처럼 리액션과 함께 축하 이펙트를 보여줘 성취를 눈과 귀로 각인시키세요. 다음 도전에 대한 열의가 커집니다.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88072" y="350215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500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71536" y="237744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00136" y="2606040"/>
            <a:ext cx="502920" cy="502920"/>
          </a:xfrm>
          <a:prstGeom prst="ellipse">
            <a:avLst/>
          </a:prstGeom>
          <a:solidFill>
            <a:srgbClr val="08296B"/>
          </a:solidFill>
          <a:ln/>
        </p:spPr>
      </p:sp>
      <p:sp>
        <p:nvSpPr>
          <p:cNvPr id="17" name="Text 15"/>
          <p:cNvSpPr/>
          <p:nvPr/>
        </p:nvSpPr>
        <p:spPr>
          <a:xfrm>
            <a:off x="840013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40216" y="256032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누적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00136" y="3337560"/>
            <a:ext cx="3108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헷갈렸던 발음·문장을 바로 리포트에 메모하세요. 이 기록이 다음 수업 1단계 웜업의 재료가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B. 강사 자가 체크리스트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전/중/후 흐름에 맞춰 스스로 점검하세요. 인쇄해서 옆에 두면 좋습니다.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8572" y="178308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8572" y="1783080"/>
            <a:ext cx="3611880" cy="502920"/>
          </a:xfrm>
          <a:prstGeom prst="roundRect">
            <a:avLst>
              <a:gd name="adj" fmla="val 21818"/>
            </a:avLst>
          </a:prstGeom>
          <a:solidFill>
            <a:srgbClr val="00B8D9"/>
          </a:solidFill>
          <a:ln/>
        </p:spPr>
      </p:sp>
      <p:sp>
        <p:nvSpPr>
          <p:cNvPr id="6" name="Shape 4"/>
          <p:cNvSpPr/>
          <p:nvPr/>
        </p:nvSpPr>
        <p:spPr>
          <a:xfrm>
            <a:off x="458572" y="2039112"/>
            <a:ext cx="3611880" cy="246888"/>
          </a:xfrm>
          <a:prstGeom prst="rect">
            <a:avLst/>
          </a:prstGeom>
          <a:solidFill>
            <a:srgbClr val="00B8D9"/>
          </a:solidFill>
          <a:ln/>
        </p:spPr>
      </p:sp>
      <p:sp>
        <p:nvSpPr>
          <p:cNvPr id="7" name="Text 5"/>
          <p:cNvSpPr/>
          <p:nvPr/>
        </p:nvSpPr>
        <p:spPr>
          <a:xfrm>
            <a:off x="458572" y="17830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9740" y="2423160"/>
            <a:ext cx="3209544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이름·오답·취미 확인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게임·캐릭터를 오프닝 대화 소재로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마이크로 골 설정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'단어 3개 맞히기' 수준의 가벼운 미션 1개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카메라·조명 점검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얼굴이 환하게 보이는지 거울처럼 확인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89908" y="178308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89908" y="1783080"/>
            <a:ext cx="3611880" cy="502920"/>
          </a:xfrm>
          <a:prstGeom prst="roundRect">
            <a:avLst>
              <a:gd name="adj" fmla="val 21818"/>
            </a:avLst>
          </a:prstGeom>
          <a:solidFill>
            <a:srgbClr val="0B5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289908" y="2039112"/>
            <a:ext cx="3611880" cy="246888"/>
          </a:xfrm>
          <a:prstGeom prst="rect">
            <a:avLst/>
          </a:prstGeom>
          <a:solidFill>
            <a:srgbClr val="0B5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289908" y="17830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1076" y="2423160"/>
            <a:ext cx="3209544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 내 웃기기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과감한 제스처 + 반가운 이름 부르기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 60%+ 확보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압축, 질문 주도권을 아이에게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대기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생각하는 침묵을 어색해하지 말고 믿기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5~7분마다 전환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지친 신호 전에 다음 게임으로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1244" y="178308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21244" y="1783080"/>
            <a:ext cx="3611880" cy="502920"/>
          </a:xfrm>
          <a:prstGeom prst="roundRect">
            <a:avLst>
              <a:gd name="adj" fmla="val 21818"/>
            </a:avLst>
          </a:prstGeom>
          <a:solidFill>
            <a:srgbClr val="00B85C"/>
          </a:solidFill>
          <a:ln/>
        </p:spPr>
      </p:sp>
      <p:sp>
        <p:nvSpPr>
          <p:cNvPr id="16" name="Shape 14"/>
          <p:cNvSpPr/>
          <p:nvPr/>
        </p:nvSpPr>
        <p:spPr>
          <a:xfrm>
            <a:off x="8121244" y="2039112"/>
            <a:ext cx="3611880" cy="246888"/>
          </a:xfrm>
          <a:prstGeom prst="rect">
            <a:avLst/>
          </a:prstGeom>
          <a:solidFill>
            <a:srgbClr val="00B8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21244" y="17830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2412" y="2423160"/>
            <a:ext cx="3209544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별점·리포트 즉시 입력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 선명할 때 오답·발음 기록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b="1" dirty="0">
                <a:solidFill>
                  <a:srgbClr val="0B5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수업 아이디어 메모</a:t>
            </a:r>
            <a:endParaRPr lang="en-US" sz="105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아이만을 위한 다음 힌트 남기기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C. 강사 평가 루브릭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항목당 1~3점을 매겨 합산하세요. 낮은 항목이 다음 코칭의 우선순위입니다.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4480560"/>
        </p:xfrm>
        <a:graphic>
          <a:graphicData uri="http://schemas.openxmlformats.org/drawingml/2006/table">
            <a:tbl>
              <a:tblPr/>
              <a:tblGrid>
                <a:gridCol w="2286000"/>
                <a:gridCol w="8046720"/>
                <a:gridCol w="9144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항목에서 확인해야 할 것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8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 에너지·표정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너머로도 과장된 미소와 풍부한 리액션이 또렷하게 전달되어, 아이가 자연스럽게 재미를 느끼고 있는가?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 학생 발화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강사의 개입과 설명을 최소화하고, 아이에게 전체 수업 시간의 60% 이상을 발화 시간으로 내어주고 있는가?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 성취 가시화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별점·배지·마스코트 리액션 같은 도구를 적극 사용해서 아이가 성취감을 눈과 귀로 확실히 느끼게 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 개인화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아이의 이름과 관심사, 지난 시간의 기록을 수업 속에 자연스럽게 녹여내어 '나만의 수업'처럼 느끼게 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 리듬·전환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5~7분을 넘기지 않고 활동을 리드미컬하게 전환하여 아이의 집중력이 흐트러지지 않도록 유지하는가?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 플랫폼 활용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게임 탭, 이펙트 사운드, 연동 게임 등 플랫폼 기능을 끊김이나 버벅임 없이 능숙하게 다루는가?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총점 기준 코칭 우선순위 가이드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00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92808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00B8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928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15~18점 (우수)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66160" y="182880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영역에서 안정적으로 우수한 강사입니다. 신입 강사 멘토나 베스트 수업 클립 제공자로 추천할 만합니다.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F95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3538728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FF950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5387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10~14점 (안정권)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347472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전반적으로 안정적이지만, 점수가 낮은 1~2개 항목에 부분 코칭을 받으면 훨씬 더 성장할 수 있습니다.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9834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03E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5184648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F03E3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184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9점 이하 (집중 코칭 필요)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512064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항목에서 개선이 시급합니다. 담당 트레이너와 1:1 모의수업 피드백 세션을 빠르게 진행하세요.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29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114800" cy="4114800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FF9500"/>
          </a:solidFill>
          <a:ln/>
        </p:spPr>
      </p:sp>
      <p:pic>
        <p:nvPicPr>
          <p:cNvPr id="4" name="Image 0" descr="C:/Users/Admin/AppData/Local/Temp/claude/C--Users-Admin-Desktop-mangoi-develop2-main/51a19268-9c4f-476f-8b14-ce923f54a918/scratchpad/img/masc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82880"/>
            <a:ext cx="1417320" cy="11578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95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강사 역량 인증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188720" y="111556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CE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매뉴얼의 원칙 준수를 관리자와 강사가 함께 서약합니다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1463040" y="1737360"/>
            <a:ext cx="9235440" cy="1463040"/>
          </a:xfrm>
          <a:prstGeom prst="roundRect">
            <a:avLst>
              <a:gd name="adj" fmla="val 6250"/>
            </a:avLst>
          </a:prstGeom>
          <a:solidFill>
            <a:srgbClr val="12377A"/>
          </a:solidFill>
          <a:ln/>
        </p:spPr>
      </p:sp>
      <p:sp>
        <p:nvSpPr>
          <p:cNvPr id="8" name="Text 5"/>
          <p:cNvSpPr/>
          <p:nvPr/>
        </p:nvSpPr>
        <p:spPr>
          <a:xfrm>
            <a:off x="1828800" y="182880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“나는 만고아이 몰입 성장 매뉴얼 v2.0의 5대 핵심, 흥미 공식 사이클, 연령별 전술까지 모두 이해하고 마스터했으며, 모든 학생에게 지루함 없는 수업을 선사할 것을 다짐합니다.”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64592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8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만고아이 교육 관리자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20240" y="4343400"/>
            <a:ext cx="3657600" cy="0"/>
          </a:xfrm>
          <a:prstGeom prst="line">
            <a:avLst/>
          </a:prstGeom>
          <a:noFill/>
          <a:ln w="12700">
            <a:solidFill>
              <a:srgbClr val="9FB8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45920" y="4434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Teacher Success Lead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8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수료 강사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675120" y="4343400"/>
            <a:ext cx="3657600" cy="0"/>
          </a:xfrm>
          <a:prstGeom prst="line">
            <a:avLst/>
          </a:prstGeom>
          <a:noFill/>
          <a:ln w="12700">
            <a:solidFill>
              <a:srgbClr val="9FB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4434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Professional Teacher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55778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95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당신의 에너지가, 한 아이의 평생 영어 자신감이 됩니다.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88720" y="626364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86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© Mangoi English | Teacher Success Team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만고아이 강사 교육 매뉴얼</dc:title>
  <dc:subject>PptxGenJS Presentation</dc:subject>
  <dc:creator>Mangoi English</dc:creator>
  <cp:lastModifiedBy>Mangoi English</cp:lastModifiedBy>
  <cp:revision>1</cp:revision>
  <dcterms:created xsi:type="dcterms:W3CDTF">2026-07-04T15:40:09Z</dcterms:created>
  <dcterms:modified xsi:type="dcterms:W3CDTF">2026-07-04T15:40:09Z</dcterms:modified>
</cp:coreProperties>
</file>