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dPt>
            <c:idx val="0"/>
            <c:spPr>
              <a:solidFill>
                <a:srgbClr val="00B85C"/>
              </a:solidFill>
            </c:spPr>
          </c:dPt>
          <c:dPt>
            <c:idx val="1"/>
            <c:spPr>
              <a:solidFill>
                <a:srgbClr val="0B5FFF"/>
              </a:solidFill>
            </c:spPr>
          </c:dPt>
          <c:cat>
            <c:strRef>
              <c:f>Sheet1!$A$2:$A$3</c:f>
              <c:strCache>
                <c:ptCount val="2"/>
                <c:pt idx="0">
                  <c:v>학생 발화</c:v>
                </c:pt>
                <c:pt idx="1">
                  <c:v>선생님 발화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algun Gothi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dPt>
            <c:idx val="0"/>
            <c:spPr>
              <a:solidFill>
                <a:srgbClr val="FF9500"/>
              </a:solidFill>
            </c:spPr>
          </c:dPt>
          <c:dPt>
            <c:idx val="1"/>
            <c:spPr>
              <a:solidFill>
                <a:srgbClr val="0B5FFF"/>
              </a:solidFill>
            </c:spPr>
          </c:dPt>
          <c:dPt>
            <c:idx val="2"/>
            <c:spPr>
              <a:solidFill>
                <a:srgbClr val="00B85C"/>
              </a:solidFill>
            </c:spPr>
          </c:dPt>
          <c:dPt>
            <c:idx val="3"/>
            <c:spPr>
              <a:solidFill>
                <a:srgbClr val="7C3AED"/>
              </a:solidFill>
            </c:spPr>
          </c:dPt>
          <c:cat>
            <c:strRef>
              <c:f>Sheet1!$A$2:$A$5</c:f>
              <c:strCache>
                <c:ptCount val="4"/>
                <c:pt idx="0">
                  <c:v>유아 5~7</c:v>
                </c:pt>
                <c:pt idx="1">
                  <c:v>초등 8~10</c:v>
                </c:pt>
                <c:pt idx="2">
                  <c:v>초등 11~13</c:v>
                </c:pt>
                <c:pt idx="3">
                  <c:v>중고등 14~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algun Gothi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dPt>
            <c:idx val="0"/>
            <c:spPr>
              <a:solidFill>
                <a:srgbClr val="FF9500"/>
              </a:solidFill>
            </c:spPr>
          </c:dPt>
          <c:dPt>
            <c:idx val="1"/>
            <c:spPr>
              <a:solidFill>
                <a:srgbClr val="0B5FFF"/>
              </a:solidFill>
            </c:spPr>
          </c:dPt>
          <c:dPt>
            <c:idx val="2"/>
            <c:spPr>
              <a:solidFill>
                <a:srgbClr val="00B85C"/>
              </a:solidFill>
            </c:spPr>
          </c:dPt>
          <c:dPt>
            <c:idx val="3"/>
            <c:spPr>
              <a:solidFill>
                <a:srgbClr val="7C3AED"/>
              </a:solidFill>
            </c:spPr>
          </c:dPt>
          <c:dPt>
            <c:idx val="4"/>
            <c:spPr>
              <a:solidFill>
                <a:srgbClr val="F03E3E"/>
              </a:solidFill>
            </c:spPr>
          </c:dPt>
          <c:cat>
            <c:strRef>
              <c:f>Sheet1!$A$2:$A$6</c:f>
              <c:strCache>
                <c:ptCount val="5"/>
                <c:pt idx="0">
                  <c:v>웜업</c:v>
                </c:pt>
                <c:pt idx="1">
                  <c:v>핵심</c:v>
                </c:pt>
                <c:pt idx="2">
                  <c:v>말하기</c:v>
                </c:pt>
                <c:pt idx="3">
                  <c:v>게임</c:v>
                </c:pt>
                <c:pt idx="4">
                  <c:v>마무리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7</c:v>
                </c:pt>
                <c:pt idx="2">
                  <c:v>7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>
                  <a:latin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100">
              <a:latin typeface="Malgun Gothi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9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1097280"/>
            <a:ext cx="3840480" cy="384048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669280"/>
            <a:ext cx="2926080" cy="292608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097280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822960"/>
            <a:ext cx="246888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82296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5FFF"/>
                </a:solidFill>
                <a:latin typeface="Malgun Gothic"/>
              </a:rPr>
              <a:t>🎓 TEACHER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algun Gothic"/>
              </a:rPr>
              <a:t>망고아이 · MANGOI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7772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Malgun Gothic"/>
              </a:rPr>
              <a:t>강사 교육 매뉴얼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Malgun Gothic"/>
              </a:rPr>
              <a:t>아이가 말하게 만드는 수업 — 원리부터 실행까지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FFFF"/>
                </a:solidFill>
                <a:latin typeface="Malgun Gothic"/>
              </a:rPr>
              <a:t>대상 · 망고아이 화상영어 강사 · 신규 강사 온보딩   |   www.mangoi.co.kr</a:t>
            </a:r>
          </a:p>
        </p:txBody>
      </p:sp>
      <p:pic>
        <p:nvPicPr>
          <p:cNvPr id="12" name="Picture 11" descr="mango_ch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7245" y="3108960"/>
            <a:ext cx="4074369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소개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68680"/>
            <a:ext cx="11460175" cy="155448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FFF"/>
                </a:solidFill>
                <a:latin typeface="Malgun Gothic"/>
              </a:rPr>
              <a:t>이 매뉴얼은 무엇을 위한 것인가요?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Malgun Gothic"/>
              </a:rPr>
              <a:t>망고아이 강사 교육 매뉴얼은 아이를 말하게 만드는 방법을 다룹니다. 사이트 사용법이 아니라 수업을 살리는 기술이에요. 여기 담긴 내용은 이론이 아니라, 실제 화상 수업에서 반복해서 통했던 것만 골라 정리한 것입니다.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Malgun Gothic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34155"/>
                </a:solidFill>
                <a:latin typeface="Malgun Gothic"/>
              </a:rPr>
              <a:t>핵심은 하나입니다 — 아이가 많이 말할수록 실력이 는다. 이 매뉴얼의 모든 기술은 결국 그 한 가지를 위한 것입니다.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697480"/>
            <a:ext cx="5524347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852928"/>
            <a:ext cx="512064" cy="512064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5292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0B5FFF"/>
                </a:solidFill>
                <a:latin typeface="Malgun Gothic"/>
              </a:rPr>
              <a:t>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16352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algun Gothic"/>
              </a:rPr>
              <a:t>에너지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127248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</a:rPr>
              <a:t>첫 60초가 수업 전체의 온도를 정합니다.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1587" y="2697480"/>
            <a:ext cx="5524347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38747" y="2852928"/>
            <a:ext cx="512064" cy="512064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8747" y="285292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0B5FFF"/>
                </a:solidFill>
                <a:latin typeface="Malgun Gothic"/>
              </a:rPr>
              <a:t>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8827" y="2816352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algun Gothic"/>
              </a:rPr>
              <a:t>발화 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8827" y="3127248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</a:rPr>
              <a:t>학생 70% · 선생님 30% 를 목표로 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57600"/>
            <a:ext cx="5524347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813048"/>
            <a:ext cx="512064" cy="512064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1304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0B5FFF"/>
                </a:solidFill>
                <a:latin typeface="Malgun Gothic"/>
              </a:rPr>
              <a:t>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776472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algun Gothic"/>
              </a:rPr>
              <a:t>성취 가시화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087368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</a:rPr>
              <a:t>잘한 것이 눈에 보여야 계속합니다.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1587" y="3657600"/>
            <a:ext cx="5524347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38747" y="3813048"/>
            <a:ext cx="512064" cy="512064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8747" y="381304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0B5FFF"/>
                </a:solidFill>
                <a:latin typeface="Malgun Gothic"/>
              </a:rP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78827" y="3776472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algun Gothic"/>
              </a:rPr>
              <a:t>개인화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8827" y="4087368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</a:rPr>
              <a:t>이 아이만의 한 가지를 기억하세요.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617720"/>
            <a:ext cx="5524347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4773168"/>
            <a:ext cx="512064" cy="512064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77316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0B5FFF"/>
                </a:solidFill>
                <a:latin typeface="Malgun Gothic"/>
              </a:rPr>
              <a:t>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736592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algun Gothic"/>
              </a:rPr>
              <a:t>리듬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047488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</a:rPr>
              <a:t>같은 활동을 7분 넘기지 마세요.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1587" y="4617720"/>
            <a:ext cx="5524347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38747" y="4773168"/>
            <a:ext cx="512064" cy="512064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8747" y="477316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0B5FFF"/>
                </a:solidFill>
                <a:latin typeface="Malgun Gothic"/>
              </a:rPr>
              <a:t>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78827" y="4736592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algun Gothic"/>
              </a:rPr>
              <a:t>기록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8827" y="5047488"/>
            <a:ext cx="460994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</a:rPr>
              <a:t>평가서 한 줄이 학부모 신뢰가 됩니다.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7548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FFF"/>
                </a:solidFill>
                <a:latin typeface="Malgun Gothic"/>
              </a:rPr>
              <a:t>수업 중 말하는 비율 — 목표치</a:t>
            </a:r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365760" y="5074920"/>
          <a:ext cx="5669280" cy="155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Rectangle 40"/>
          <p:cNvSpPr/>
          <p:nvPr/>
        </p:nvSpPr>
        <p:spPr>
          <a:xfrm>
            <a:off x="7470648" y="4654296"/>
            <a:ext cx="3255264" cy="207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class_r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512" y="4709160"/>
            <a:ext cx="3145536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차례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2296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5FFF"/>
                </a:solidFill>
                <a:latin typeface="Malgun Gothic"/>
              </a:rPr>
              <a:t>📑 차례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45389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소개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3199" y="145389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5564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3736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72821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에너지 — 첫 60초가 수업 전체를 정한다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3199" y="172821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02996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01168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00253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발화 시간 — 선생님이 말할수록 실력은 안 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3199" y="200253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30428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28600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227685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성취 가시화 — 잘한 걸 보이게 만들어라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3199" y="227685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57860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56032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255117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개인화 — 이 아이만의 한 가지를 기억하라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3199" y="255117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285292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83464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282549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리듬 — 25분을 네 토막으로 쪼개라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3199" y="282549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12724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10896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309981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웜업 — 입을 먼저 풀어야 말이 나온다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3199" y="309981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340156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38328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337413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게임 — 복습을 놀이로 바꾸는 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3199" y="337413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3675887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657599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" y="364845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말해야 열리는 방 — 침묵하는 아이를 위한 열쇠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3199" y="364845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11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395020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393192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" y="392277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단어 — 외우게 하지 말고 다시 만나게 하라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3199" y="392277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12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422452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20624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" y="419709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평가서 — 3분 투자로 학부모 신뢰를 만든다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3199" y="419709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13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41567" y="148132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41567" y="146304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7055" y="145389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학부모 — 성장의 증거를 매주 보낸다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13287" y="145389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14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41567" y="175564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41567" y="173736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7055" y="172821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연령별 전술 — 같은 방식은 통하지 않는다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13287" y="172821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15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41567" y="202996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41567" y="201168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17055" y="200253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말 안 하는 아이 — 침묵을 푸는 순서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213287" y="200253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16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41567" y="230428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41567" y="228600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17055" y="227685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산만한 아이 · 실력차 — 현장 대처법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13287" y="227685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17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41567" y="257860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41567" y="256032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7055" y="255117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연결이 흔들릴 때 — 수업을 지키는 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13287" y="255117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18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41567" y="285292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41567" y="283464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17055" y="282549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선생님의 성장 — 피드백을 자산으로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13287" y="282549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19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41567" y="312724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41567" y="310896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17055" y="309981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기능 요약 · 데이터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213287" y="309981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20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141567" y="340156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41567" y="338328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17055" y="337413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한눈에 보는 데이터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213287" y="337413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21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41567" y="3675887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41567" y="3657599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17055" y="364845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자주 묻는 질문 (FAQ)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213287" y="364845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22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41567" y="395020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41567" y="393192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17055" y="392277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수업 체크리스트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213287" y="392277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23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141567" y="4224528"/>
            <a:ext cx="384048" cy="22860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141567" y="4206240"/>
            <a:ext cx="384048" cy="265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17055" y="4197096"/>
            <a:ext cx="4587087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마무리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213287" y="4197096"/>
            <a:ext cx="457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0B5FFF"/>
                </a:solidFill>
                <a:latin typeface="Malgun Gothic"/>
              </a:rPr>
              <a:t>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🔥 에너지 — 첫 60초가 수업 전체를 정한다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선생님의 텐션이 곧 학생의 텐션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아이는 내용보다 분위기를 먼저 읽습니다. 첫 1분 동안 선생님이 밝고 빠르게 반응하면 그 수업은 끝까지 살아 있고, 첫 1분이 조용하면 남은 25분 내내 끌어올려야 합니다. 에너지는 타고나는 성격이 아니라 의도적으로 만드는 기술입니다.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602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카메라를 켜자마자 이름을 부르며 인사해요 — “Hi, Minjun! I missed you!”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표정을 평소보다 20% 크게 씁니다. 화면은 표정을 절반쯤 깎아 먹어요.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첫 질문은 무조건 대답할 수 있는 것으로 — “Did you eat lunch?”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아이가 한 마디라도 하면 즉시 리액션해요 — “Wow, really?”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목소리 높낮이를 바꿔 가며 말해요. 평평한 톤은 화면 너머에서 더 지루합니다.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43423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489143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736031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첫 60초에 아이가 한 번이라도 웃으면 그 수업은 이미 절반 성공이에요.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에너지는 소리 크기가 아니라 반응 속도입니다. 빨리 반응해 주세요.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선생님이 지쳐 보이면 아이는 자기 탓이라고 느낍니다.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021324"/>
            <a:ext cx="5646420" cy="672084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067044"/>
            <a:ext cx="5372100" cy="5806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algun Gothic"/>
              </a:rPr>
              <a:t>⚠️ 알아두기 · 과장된 리액션과 억지 웃음은 다릅니다. 중·고등학생에게는 과한 텐션이 오히려 거리감을 줘요 — 나이가 많을수록 차분하지만 빠른 반응으로 바꾸세요.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021324"/>
            <a:ext cx="5646420" cy="672084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067044"/>
            <a:ext cx="5372100" cy="5806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수업 시작 전 30초만 자리에서 일어나 크게 숨 쉬고 표정을 풀어 보세요. 텐션은 준비운동으로 만들어집니다.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76872" y="3255264"/>
            <a:ext cx="4242816" cy="26929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lass_r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736" y="3310128"/>
            <a:ext cx="4133088" cy="258318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9380" y="2670048"/>
            <a:ext cx="20702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1676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167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3428" y="2670048"/>
            <a:ext cx="16495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이름을 부르며 인사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5958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2462" y="2670048"/>
            <a:ext cx="215615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24758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2475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26510" y="2670048"/>
            <a:ext cx="1735531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표정을 평소보다 2…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861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81497" y="2670048"/>
            <a:ext cx="20702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63793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379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5545" y="2670048"/>
            <a:ext cx="16495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무조건 대답할 수…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5169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34579" y="2670048"/>
            <a:ext cx="151241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16875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1687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8627" y="2670048"/>
            <a:ext cx="109179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즉시 리액션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6996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9876" y="2670048"/>
            <a:ext cx="16696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12172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1217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13924" y="2670048"/>
            <a:ext cx="12490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목소리 높낮이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🗣 발화 시간 — 선생님이 말할수록 실력은 안 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목표는 학생 70% · 선생님 30%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영어 실력은 들은 양이 아니라 말한 양으로 늘어납니다. 그런데 대부분의 화상 수업은 선생님이 70%를 말합니다. 의식적으로 말을 줄이고 기다리는 것이 이 매뉴얼에서 가장 중요한 기술입니다.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763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질문한 뒤 속으로 다섯을 셉니다. 침묵을 먼저 깨지 마세요.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아이가 단어 하나로 답하면 문장으로 되물어요 — “Pizza? You like pizza?”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설명 대신 질문으로 바꿔요 — “This is a cat” 대신 “What is this?”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아이가 틀려도 바로 고치지 말고 올바른 문장으로 자연스럽게 되돌려 줘요.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수업 중 ‘내가 지금 몇 초째 말하고 있지?’ 를 한 번씩 점검해요.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603900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64962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896508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5초의 침묵이 아이의 첫 문장을 만듭니다. 3초에 포기하지 마세요.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선생님의 설명 1분은 아이의 발화 1분을 빼앗은 것과 같아요.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말이 적은 아이일수록 닫힌 질문(Yes/No) → 열린 질문 순서로 올라가요.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algun Gothic"/>
              </a:rPr>
              <a:t>⚠️ 알아두기 · 발화량을 늘린다고 아이를 몰아세우면 역효과입니다. 기다림은 압박이 아니라 여유로 보여야 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수업 녹화를 한 번만 돌려 보세요. 내가 얼마나 말하는지 눈으로 확인하면 그 다음 수업이 바로 바뀝니다.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6171" y="3255264"/>
            <a:ext cx="4484217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tudent_aifri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3310128"/>
            <a:ext cx="4374489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4827" y="2670048"/>
            <a:ext cx="222747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7123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8875" y="2670048"/>
            <a:ext cx="180685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속으로 다섯을 셉니…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230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85185" y="2670048"/>
            <a:ext cx="198424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67481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6748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9233" y="2670048"/>
            <a:ext cx="156362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문장으로 되물어요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69433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2313" y="2670048"/>
            <a:ext cx="18269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334609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3460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36361" y="2670048"/>
            <a:ext cx="14063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질문으로 바꿔요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7928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62164" y="2670048"/>
            <a:ext cx="19129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44460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4446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46212" y="2670048"/>
            <a:ext cx="14923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바로 고치지 말고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508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57969" y="2670048"/>
            <a:ext cx="215615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40265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4026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42017" y="2670048"/>
            <a:ext cx="1735531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‘내가 지금 몇 초…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⭐ 성취 가시화 — 잘한 걸 보이게 만들어라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칭찬은 말보다 ‘눈에 보이는 것’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아이는 자기가 늘고 있다는 증거가 보일 때 계속합니다. “Good job”은 3초 뒤 사라지지만, 화면에 쌓이는 별·포인트·배지는 남습니다. 망고아이의 칭찬 바구니와 포인트는 이걸 위해 있는 도구예요.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602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수업 중 잘한 순간마다 칭찬 바구니(🧺) 에 칭찬을 담아 줘요.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칭찬은 구체적으로 — “Good”이 아니라 “Your ‘th’ sound was perfect!”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수업 끝에 오늘 모은 포인트를 함께 확인해요.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지난 수업과 비교해 늘어난 점 한 가지를 반드시 말해 줘요.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평가서에 남긴 칭찬이 학부모 리포트로 이어진다는 걸 기억해요.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43423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489143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736031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칭찬은 결과보다 시도에 — “틀려도 말한 것”을 칭찬해야 다음에 또 말해요.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포인트·배지는 아이가 스스로 계속하게 만드는 장치예요.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수업당 최소 3번의 구체적 칭찬을 목표로 하세요.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algun Gothic"/>
              </a:rPr>
              <a:t>⚠️ 알아두기 · 칭찬을 남발하면 값이 떨어집니다. 아무 때나 “Good job” 은 아이도 알아챕니다.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칭찬 문장을 5개쯤 미리 만들어 두세요. 순간적으로 구체적인 칭찬이 안 나올 때 큰 도움이 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216" y="3828426"/>
            <a:ext cx="5596128" cy="169745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lass_prai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883290"/>
            <a:ext cx="5486400" cy="158773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25042" y="2670048"/>
            <a:ext cx="18416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7338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733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9090" y="2670048"/>
            <a:ext cx="14209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칭찬 바구니(🧺)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66643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49523" y="2670048"/>
            <a:ext cx="1426463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31819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3181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3571" y="2670048"/>
            <a:ext cx="1005839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구체적으로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598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58867" y="2670048"/>
            <a:ext cx="19129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41163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116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2915" y="2670048"/>
            <a:ext cx="14923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오늘 모은 포인트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179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54672" y="2670048"/>
            <a:ext cx="199887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36968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3696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8720" y="2670048"/>
            <a:ext cx="157825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늘어난 점 한 가지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53551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36431" y="2670048"/>
            <a:ext cx="222747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018727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1872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0479" y="2670048"/>
            <a:ext cx="180685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학부모 리포트로 이…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🎯 개인화 — 이 아이만의 한 가지를 기억하라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이름·관심사·지난 수업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아이가 “이 선생님은 나를 안다” 고 느끼는 순간 수업 태도가 바뀝니다. 대단한 게 아니라 지난주에 말한 것 하나를 기억해 주는 것으로 충분해요.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수업 전 지난 평가서를 30초만 훑어봐요.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아이의 관심사 한 가지를 메모해 둬요(축구·아이돌·게임 등).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인사할 때 그걸 꺼내요 — “Did your team win last week?”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예문·게임 주제를 아이의 관심사로 바꿔 만들어요.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수업 끝에 다음에 물어볼 것을 평가서에 남겨요.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개인화는 기억력이 아니라 기록입니다. 평가서에 적어 두세요.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관심사를 예문에 넣으면 같은 문법도 훨씬 잘 외웁니다.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이름을 자주 불러 주는 것만으로도 집중도가 올라가요.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217920"/>
            <a:ext cx="11457432" cy="47548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63640"/>
            <a:ext cx="1118311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수업 첫 주에 “What do you love?” 를 꼭 물어보세요. 그 대답 하나가 남은 6개월의 수업 재료가 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9595" y="3255264"/>
            <a:ext cx="4557369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eacher_pre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459" y="3310128"/>
            <a:ext cx="4447641" cy="277977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6404" y="2670048"/>
            <a:ext cx="151241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8700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0452" y="2670048"/>
            <a:ext cx="109179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지난 평가서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8821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41701" y="2670048"/>
            <a:ext cx="175564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3997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2399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25749" y="2670048"/>
            <a:ext cx="133502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관심사 한 가지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734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80229" y="2670048"/>
            <a:ext cx="215615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62525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252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4277" y="2670048"/>
            <a:ext cx="1735531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인사할 때 그걸 꺼…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3638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19264" y="2670048"/>
            <a:ext cx="222747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001560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0156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03312" y="2670048"/>
            <a:ext cx="180685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아이의 관심사로 바…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6743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29623" y="2670048"/>
            <a:ext cx="19129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11919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191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3671" y="2670048"/>
            <a:ext cx="14923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평가서에 남겨요.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🎵 리듬 — 25분을 네 토막으로 쪼개라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같은 활동 7분 넘기지 않기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아이의 집중력은 한 가지 활동에 5~7분입니다. 25분을 한 흐름으로 끌고 가면 뒤쪽 10분은 사실상 버리는 시간이 돼요. 활동을 바꾸는 것만으로 집중이 되살아납니다.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웜업 3분 — AI 웜업이나 가벼운 질문으로 입을 풀어요.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핵심 활동 7분 — 오늘의 표현·교재를 다뤄요.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말하기 7분 — 배운 표현으로 실제 대화를 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게임·보상 5분 — 학습 게임으로 복습하며 포인트를 모아요.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마무리 3분 — 칭찬 + 다음 시간 예고로 닫아요.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활동이 바뀌는 순간마다 집중이 리셋됩니다.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아이가 지루해 보이면 설명을 늘리지 말고 활동을 바꾸세요.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마지막 3분의 예고가 다음 수업 출석률을 올립니다.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algun Gothic"/>
              </a:rPr>
              <a:t>⚠️ 알아두기 · 리듬은 정해진 규칙이 아니라 도구입니다. 아이가 몰입해 있으면 끊지 말고 이어가세요.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화면 타이머를 켜 두면 리듬이 저절로 지켜집니다. 아이도 “이제 게임 시간”을 예측하게 돼요.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078" y="3255264"/>
            <a:ext cx="470840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2" y="3310128"/>
            <a:ext cx="4598675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961388" y="2670048"/>
            <a:ext cx="128381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43684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4368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45436" y="2670048"/>
            <a:ext cx="86319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웜업 3분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520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8085" y="2670048"/>
            <a:ext cx="16843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10381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038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2133" y="2670048"/>
            <a:ext cx="12637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핵심 활동 7분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1241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95290" y="2670048"/>
            <a:ext cx="14410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377586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7758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79338" y="2670048"/>
            <a:ext cx="10204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말하기 7분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638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19264" y="2670048"/>
            <a:ext cx="16843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01560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0156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3312" y="2670048"/>
            <a:ext cx="12637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게임·보상 5분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358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86469" y="2670048"/>
            <a:ext cx="14410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68765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876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0517" y="2670048"/>
            <a:ext cx="10204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마무리 3분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🌡 웜업 — 입을 먼저 풀어야 말이 나온다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3분이 25분을 바꾼다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차가운 상태에서 바로 본문에 들어가면 아이는 첫 10분을 침묵으로 보냅니다. AI 웜업은 아이가 부담 없이 소리를 내게 만들어 주는 준비 운동이에요.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교실에서 AI 웜업 탭을 열어요.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아이 수준에 맞는 속도와 난이도를 골라요.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먼저 선생님이 한 번 시범을 보여요.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아이가 소리 내어 따라 하게 하고, 작아도 칭찬해요.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웜업에서 나온 표현을 본 수업에 그대로 이어 써요.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웜업의 목적은 정확성이 아니라 소리 내기예요.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선생님이 먼저 하면 아이의 부담이 크게 줄어요.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웜업 표현을 본문에 다시 쓰면 성취감이 두 배가 돼요.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217920"/>
            <a:ext cx="11457432" cy="47548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63640"/>
            <a:ext cx="1118311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말수가 적은 아이는 웜업을 조금 더 길게(5분) 가져가세요. 입이 풀리면 나머지가 훨씬 쉬워집니다.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05628" y="3255264"/>
            <a:ext cx="4785303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oom_warm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492" y="3310128"/>
            <a:ext cx="4675575" cy="277977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296619" y="2670048"/>
            <a:ext cx="14557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78915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891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80667" y="2670048"/>
            <a:ext cx="10351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AI 웜업 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5234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35224" y="2670048"/>
            <a:ext cx="16696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17520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9272" y="2670048"/>
            <a:ext cx="12490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속도와 난이도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4918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87798" y="2670048"/>
            <a:ext cx="215615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870094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7009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71846" y="2670048"/>
            <a:ext cx="1735531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선생님이 한 번 시…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3953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26833" y="2670048"/>
            <a:ext cx="151241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09129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0912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0881" y="2670048"/>
            <a:ext cx="109179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작아도 칭찬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39251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2131" y="2670048"/>
            <a:ext cx="20702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04427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0442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06179" y="2670048"/>
            <a:ext cx="16495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본 수업에 그대로…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🎮 게임 — 복습을 놀이로 바꾸는 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보상이 아니라 학습 그 자체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게임은 수업이 끝난 뒤 주는 상이 아니라 복습 그 자체입니다. 아이는 게임 안에서 같은 단어를 다섯 번 보고도 지루해하지 않아요. 목적을 정하고 쓰면 가장 강력한 학습 도구가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602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오늘 배운 표현이 나오는 게임을 골라요.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게임 전에 목표를 말해요 — “Let’s get 10 points with today’s words!”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아이가 하는 동안 틀린 단어를 메모해요.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게임이 끝나면 틀린 것만 다시 한 번 짚어요.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결과를 칭찬 바구니·포인트로 연결해요.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43423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489143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736031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게임을 목적 없이 틀면 그냥 노는 시간이 돼요. 목표를 먼저 말하세요.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틀린 단어가 진짜 수확입니다 — 그게 다음 수업의 재료예요.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게임 종류를 매번 바꾸면 신선함이 유지돼요.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algun Gothic"/>
              </a:rPr>
              <a:t>⚠️ 알아두기 · 저사양 기기나 인터넷이 느린 환경에서는 게임이 끊길 수 있어요. 그럴 땐 가벼운 퀴즈형으로 바꿔 주세요.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게임 중 선생님도 같이 소리 내어 응원하세요. 혼자 하는 게임과 같이 하는 게임은 완전히 다릅니다.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6171" y="3255264"/>
            <a:ext cx="4484217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tudent_gam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3310128"/>
            <a:ext cx="4374489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9380" y="2670048"/>
            <a:ext cx="16696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1676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167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3428" y="2670048"/>
            <a:ext cx="12490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게임을 골라요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907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41955" y="2670048"/>
            <a:ext cx="16696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4251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425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26003" y="2670048"/>
            <a:ext cx="12490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목표를 말해요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164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94529" y="2670048"/>
            <a:ext cx="19129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76825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682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8577" y="2670048"/>
            <a:ext cx="14923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틀린 단어를 메모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745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90334" y="2670048"/>
            <a:ext cx="215615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72630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7263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4382" y="2670048"/>
            <a:ext cx="1735531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틀린 것만 다시 한…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648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29369" y="2670048"/>
            <a:ext cx="20702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11665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166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13417" y="2670048"/>
            <a:ext cx="16495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칭찬 바구니·포인트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🚪 말해야 열리는 방 — 침묵하는 아이를 위한 열쇠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클릭으로는 진행되지 않는 게임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탈출: 말해야 열린다는 아이가 영어로 소리 내어 말해야만 진행되는 게임입니다. 버튼이 없기 때문에 “말하기 싫어요”가 통하지 않아요. 발화를 꺼리는 아이에게 쓰는 특수 도구로 생각하세요.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말수가 적은 아이에게 🚪 탈출을 열어 줘요.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먼저 선생님이 한 방을 시범으로 통과해 보여요.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아이가 마이크를 누르고 말하게 하고, 작게 말해도 인정해요.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막히면 힌트 버튼을 쓰게 해요 — 감점이 없어요.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끝난 뒤 나오는 말한 횟수를 함께 보며 칭찬해요.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“말하면 진짜로 문이 열린다”는 경험이 태도를 바꿉니다.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실패해도 몇 단계까지 갔는지 나오니 좌절이 적어요.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발화 횟수가 숫자로 남아 평가서 근거로 쓰기 좋아요.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algun Gothic"/>
              </a:rPr>
              <a:t>⚠️ 알아두기 · 마이크 권한이 필요합니다. 소리가 안 잡히면 브라우저 마이크 허용부터 확인해 주세요.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첫 시간엔 딱 한 방만 시키세요. 성공 경험 하나가 다음 수업의 발화량을 바꿔 놓습니다.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6171" y="3255264"/>
            <a:ext cx="4484217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tudent_esca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3310128"/>
            <a:ext cx="4374489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783079" y="2670048"/>
            <a:ext cx="119786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865375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6537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67127" y="2670048"/>
            <a:ext cx="77724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🚪 탈출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8094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63824" y="2670048"/>
            <a:ext cx="20702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46120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7872" y="2670048"/>
            <a:ext cx="16495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선생님이 한 방을…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402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16905" y="2670048"/>
            <a:ext cx="19129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499201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9920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0953" y="2670048"/>
            <a:ext cx="14923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작게 말해도 인정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2983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12710" y="2670048"/>
            <a:ext cx="13551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595006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9500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96758" y="2670048"/>
            <a:ext cx="9345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힌트 버튼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7851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50731" y="2670048"/>
            <a:ext cx="13551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33027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3302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34779" y="2670048"/>
            <a:ext cx="9345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말한 횟수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📖 단어 — 외우게 하지 말고 다시 만나게 하라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자동 복습 · 예습 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단어는 외우는 것이 아니라 여러 번 만나는 것입니다. 망고아이 단어장은 아이가 잊을 때쯤 그 단어를 다시 보여 줘요. 선생님이 할 일은 오늘 배운 단어를 거기에 넣게 만드는 것뿐입니다.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수업 마지막 1분에 오늘 단어 3개를 단어장에 담게 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뜻은 비워도 돼요 — AI가 뜻과 예문을 자동 생성합니다.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다음 수업 전 🔮 예습 탭을 미리 보고 오게 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수업 중 그 단어가 나오면 “어제 담았지?” 하고 짚어 줘요.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복습 게임으로 이어지게 해요 — 맞힐 때마다 포인트가 쌓여요.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3개면 충분합니다. 10개를 시키면 하나도 안 해요.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예습을 하고 온 아이는 그 수업에서 훨씬 잘 알아듣습니다.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도감이 채워지면 아기 망고가 자라 아이가 계속하게 돼요.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217920"/>
            <a:ext cx="11457432" cy="47548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63640"/>
            <a:ext cx="1118311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‘오늘 단어 3개’를 매 수업 고정 루틴으로 만드세요. 한 달이면 60단어, 아이가 체감할 만큼 늘어납니다.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9595" y="3255264"/>
            <a:ext cx="4557369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tudent_voc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459" y="3310128"/>
            <a:ext cx="4447641" cy="277977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3388" y="2670048"/>
            <a:ext cx="16843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5684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568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7436" y="2670048"/>
            <a:ext cx="12637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오늘 단어 3개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7713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0593" y="2670048"/>
            <a:ext cx="208483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002889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0288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04641" y="2670048"/>
            <a:ext cx="166420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AI가 뜻과 예문을…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542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88305" y="2670048"/>
            <a:ext cx="14410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70601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7060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2353" y="2670048"/>
            <a:ext cx="10204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🔮 예습 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2280" y="2670048"/>
            <a:ext cx="19129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94576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457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96328" y="2670048"/>
            <a:ext cx="14923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“어제 담았지?”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520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08084" y="2670048"/>
            <a:ext cx="222747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90380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9038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2132" y="2670048"/>
            <a:ext cx="180685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복습 게임으로 이어…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📝 평가서 — 3분 투자로 학부모 신뢰를 만든다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내가 쓴 한 줄이 리포트가 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평가서는 행정 업무가 아닙니다. 여기에 남긴 내용이 학부모가 보는 월간 성적표의 다섯 축과 주간 리포트를 채웁니다. 즉 선생님이 쓰지 않으면 학부모에게는 아무 증거도 가지 않습니다.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수업 직후, 기억이 살아 있을 때 바로 작성해요.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잘한 것 하나 · 다음 목표 하나를 반드시 씁니다.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발음·어휘·문장·태도·참여 항목을 솔직하게 매겨요.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다음 수업에 물어볼 것을 메모란에 남겨요.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AI가 만든 코멘트 초안은 읽고 다듬은 뒤 내보내요.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긴 글보다 꾸준한 한 줄이 성적표 품질을 좌우해요.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평가가 없는 축은 성적표에서 비어 보입니다.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다음 목표를 적어 두면 다음 수업 준비가 저절로 끝나요.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algun Gothic"/>
              </a:rPr>
              <a:t>⚠️ 알아두기 · 점수를 실제보다 후하게 주면 학부모가 나중에 실력 차이를 느끼고 신뢰가 무너집니다. 정확하게, 대신 따뜻하게 쓰세요.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‘잘한 것 1 + 다음 목표 1’ 두 문장 템플릿을 만들어 두면 평가서 작성이 1분으로 줄어듭니다.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6171" y="3255264"/>
            <a:ext cx="4484217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eacher_ev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3310128"/>
            <a:ext cx="4374489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19248" y="2670048"/>
            <a:ext cx="954633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01544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01544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3296" y="2670048"/>
            <a:ext cx="534009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바로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388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6762" y="2670048"/>
            <a:ext cx="192755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39058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3905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0810" y="2670048"/>
            <a:ext cx="1506931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잘한 것 하나 ·…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431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67197" y="2670048"/>
            <a:ext cx="126918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49493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4949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1245" y="2670048"/>
            <a:ext cx="84856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솔직하게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638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19264" y="2670048"/>
            <a:ext cx="111191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01560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0156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3312" y="2670048"/>
            <a:ext cx="69128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메모란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117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14055" y="2670048"/>
            <a:ext cx="175564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96351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9635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8103" y="2670048"/>
            <a:ext cx="133502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읽고 다듬은 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👪 학부모 — 성장의 증거를 매주 보낸다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주간 리포트 · 월간 성적표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학부모가 재등록을 결정하는 기준은 점수가 아니라 ‘늘고 있다는 느낌’ 입니다. 망고아이는 매주 출석·AI 대화·판단력·정복 단어·발음을 담은 리포트를, 두 달마다 오각형 성적표를 보냅니다. 그 내용을 만드는 사람은 선생님이에요.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153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아이가 AI 친구 대화·판단력 훈련·단어장을 하도록 이끌어요.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출석과 활동이 있어야 리포트에 채워집니다.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평가서를 꾸준히 남겨 성적표 다섯 축을 채워요.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특별히 좋았던 날은 구체적으로 한 줄 남겨요.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94452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40172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87060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리포트에 지어낸 숫자는 없습니다 — 활동한 만큼만 채워져요.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게임·단어장을 많이 한 아이일수록 리포트가 풍성해집니다.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학부모는 숫자보다 선생님의 한 줄을 먼저 읽어요.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217920"/>
            <a:ext cx="11457432" cy="47548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63640"/>
            <a:ext cx="1118311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상담이 잡히면 그 전에 성적표 링크를 보내 달라고 요청하세요. 학부모가 준비된 상태로 오면 대화가 완전히 달라집니다.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9595" y="3255264"/>
            <a:ext cx="4557369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dmin_parent_week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459" y="3310128"/>
            <a:ext cx="4447641" cy="277977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222906" y="2670048"/>
            <a:ext cx="201350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305202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0520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954" y="2670048"/>
            <a:ext cx="159288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AI 친구 대화·판…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641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9295" y="2670048"/>
            <a:ext cx="151241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01591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159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3343" y="2670048"/>
            <a:ext cx="109179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채워집니다.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3171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14592" y="2670048"/>
            <a:ext cx="175564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196888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688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8640" y="2670048"/>
            <a:ext cx="133502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성적표 다섯 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7024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53120" y="2670048"/>
            <a:ext cx="19129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35416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541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7168" y="2670048"/>
            <a:ext cx="14923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구체적으로 한 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🧒 연령별 전술 — 같은 방식은 통하지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유아 · 초등 · 중고등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7세와 15세에게 같은 수업을 하면 둘 다 실패합니다. 연령에 따라 집중 시간, 동기, 반응 방식이 완전히 다릅니다.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923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유아(5~7세): 활동 3~4분마다 전환, 노래·동작·색깔, 정답보다 참여를 칭찬.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초등 저학년(8~10세): 게임·포인트가 가장 강력, 경쟁보다 수집을 자극.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초등 고학년(11~13세): 이유를 설명해 주면 따라옴, 또래 화제(게임·아이돌) 활용.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중고등(14세~): 과한 텐션 금지, 실용성·시험·진로와 연결, 실수 지적은 1:1로.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모든 연령 공통 — 말할 기회를 먼저 주세요.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764377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810097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056985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어릴수록 활동 전환 주기를 짧게, 클수록 이유를 설명하세요.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중고등은 창피함이 가장 큰 장벽이에요. 안전하다고 느끼게 해 주세요.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연령이 아니라 성향이 더 중요할 때도 많습니다.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217920"/>
            <a:ext cx="11457432" cy="47548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63640"/>
            <a:ext cx="1118311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첫 3회 수업 동안 무엇에 반응하는지 관찰해 평가서에 적어 두세요. 그게 그 아이 전용 매뉴얼이 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9595" y="3255264"/>
            <a:ext cx="4557369" cy="2889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tudent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459" y="3310128"/>
            <a:ext cx="4447641" cy="277977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38427" y="2670048"/>
            <a:ext cx="154167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20723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2072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2475" y="2670048"/>
            <a:ext cx="112105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유아(5~7세)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0106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62986" y="2670048"/>
            <a:ext cx="201350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45282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4528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7034" y="2670048"/>
            <a:ext cx="159288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초등 저학년(8~1…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649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59375" y="2670048"/>
            <a:ext cx="201350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41671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4167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3423" y="2670048"/>
            <a:ext cx="159288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초등 고학년(11~…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7288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55764" y="2670048"/>
            <a:ext cx="169895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338060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3806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9812" y="2670048"/>
            <a:ext cx="1278331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중고등(14세~)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5471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37599" y="2670048"/>
            <a:ext cx="19129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19895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989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21647" y="2670048"/>
            <a:ext cx="14923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말할 기회를 먼저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🧩 말 안 하는 아이 — 침묵을 푸는 순서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닫힌 질문에서 시작하기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말을 안 하는 아이는 하기 싫은 게 아니라 무서운 것입니다. 틀릴까 봐, 발음이 이상할까 봐 입을 닫습니다. 순서를 지키면 대부분 풀립니다.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고개만 끄덕여도 되는 질문부터 — “Do you like pizza?”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둘 중 고르기로 올려요 — “Pizza or chicken?”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한 단어 대답을 받아 문장으로 되돌려 줘요.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따라 말하기로 성공 경험을 만들어요.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그다음에야 열린 질문을 던져요 — “What did you do?”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단계를 건너뛰면 다시 닫힙니다. 한 단계씩 올라가세요.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틀린 발음을 그 자리에서 고치지 마세요 — 다시 말해 주는 걸로 충분해요.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탈출 게임·음성 코치가 이 아이들에게 특히 잘 듣습니다.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algun Gothic"/>
              </a:rPr>
              <a:t>⚠️ 알아두기 · 몇 주가 걸릴 수 있습니다. 한두 번에 안 풀린다고 “이 아이는 원래 그래요”라고 평가서에 쓰지 마세요.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말문이 트인 날을 평가서에 꼭 기록해 두세요. 학부모에게 그날의 이야기가 가장 큰 감동이 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6171" y="3255264"/>
            <a:ext cx="4484217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tudent_speechcoa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3310128"/>
            <a:ext cx="4374489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582826" y="2670048"/>
            <a:ext cx="222747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65122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6512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6874" y="2670048"/>
            <a:ext cx="180685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고개만 끄덕여도 되…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30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93184" y="2670048"/>
            <a:ext cx="15983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075480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7548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7232" y="2670048"/>
            <a:ext cx="11777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둘 중 고르기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91556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74436" y="2670048"/>
            <a:ext cx="15983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856732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673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8484" y="2670048"/>
            <a:ext cx="11777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한 단어 대답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280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55687" y="2670048"/>
            <a:ext cx="151241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37983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798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39735" y="2670048"/>
            <a:ext cx="109179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따라 말하기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810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50984" y="2670048"/>
            <a:ext cx="13551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333280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3328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35032" y="2670048"/>
            <a:ext cx="934516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열린 질문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⚡ 산만한 아이 · 실력차 — 현장 대처법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끌어내리지 말고 옮겨 붙이기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산만함은 에너지가 많은 것이고, 실력차는 속도가 다른 것입니다. 둘 다 억누르면 커지고, 방향을 바꿔 주면 자원이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산만할 땐 혼내지 말고 활동을 바꿔요 — 게임·화이트보드로 즉시 전환.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몸을 쓰게 해요 — 동작·손들기·화면에 그리기.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역할을 줘요 — “You be the teacher. Ask me!”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실력이 앞선 아이에겐 한 단계 어려운 과제를 따로 줘요.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느린 아이는 분량을 줄이고 성공 횟수를 늘려요.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산만한 아이에게 정적인 활동을 강요하면 수업 전체가 무너집니다.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앞선 아이가 지루해지면 태도 문제로 바뀝니다 — 미리 과제를 주세요.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느린 아이에게 필요한 건 시간이 아니라 작은 성공이에요.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algun Gothic"/>
              </a:rPr>
              <a:t>⚠️ 알아두기 · 1:1이 아닌 그룹 수업에서는 실력차 조정이 특히 중요합니다. 한 아이에게만 오래 매달리지 마세요.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산만한 아이일수록 화이트보드를 좋아합니다. 직접 그리게 하면 몰입이 확 올라가요.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078" y="3255264"/>
            <a:ext cx="470840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ga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2" y="3310128"/>
            <a:ext cx="4598675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9127" y="2670048"/>
            <a:ext cx="222747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1423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142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3175" y="2670048"/>
            <a:ext cx="180685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혼내지 말고 활동을…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660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99485" y="2670048"/>
            <a:ext cx="175564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81781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8178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3533" y="2670048"/>
            <a:ext cx="133502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몸을 쓰게 해요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5133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38013" y="2670048"/>
            <a:ext cx="1512417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20309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2030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22061" y="2670048"/>
            <a:ext cx="1091793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역할을 줘요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0431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33311" y="2670048"/>
            <a:ext cx="2156155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915607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15607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17359" y="2670048"/>
            <a:ext cx="1735531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한 단계 어려운 과…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89466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72346" y="2670048"/>
            <a:ext cx="222747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54642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5464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6394" y="2670048"/>
            <a:ext cx="180685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분량을 줄이고 성공…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🌐 연결이 흔들릴 때 — 수업을 지키는 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끊기지 않는 것이 최우선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망고아이의 1순위 원칙은 “수업이 끊기지 않는 것” 입니다. 화질이 나빠져도, 화면이 멈춰도 수업은 계속되어야 합니다. 당황하지 않는 것 자체가 기술이에요.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화질이 나빠지면 자동으로 낮은 화질로 내려갑니다 — 그대로 진행해요.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많이 느려지면 오디오 전용 모드로 바뀝니다. 목소리는 살아 있어요.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상대 화면이 멈추면 잠시 기다려요 — 자동 복구가 동작합니다.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그래도 안 되면 한 번만 새로고침하고 다시 입장해요.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수업이 실제로 중단되면 관리자에게 바로 알려요.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화면이 안 보여도 말하기 수업은 계속할 수 있습니다.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아이가 불안해하지 않도록 상황을 말로 설명해 주세요.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끊긴 시간은 관리자에게 알리면 보강으로 처리됩니다.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algun Gothic"/>
              </a:rPr>
              <a:t>⚠️ 알아두기 · 연결 문제로 수업을 임의로 종료하지 마세요. 시스템은 잠시 끊긴 것과 나간 것을 구분합니다.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수업 전 카메라·마이크 사전 점검을 습관화하면 사고의 절반이 사라집니다.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4078" y="3255264"/>
            <a:ext cx="4708403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oom_ba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42" y="3310128"/>
            <a:ext cx="4598675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2103" y="2670048"/>
            <a:ext cx="20702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399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399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1" y="2670048"/>
            <a:ext cx="16495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자동으로 낮은 화질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02305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85185" y="2670048"/>
            <a:ext cx="19129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67481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67481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9233" y="2670048"/>
            <a:ext cx="14923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오디오 전용 모드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8110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80990" y="2670048"/>
            <a:ext cx="16696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63286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63286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5038" y="2670048"/>
            <a:ext cx="12490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잠시 기다려요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068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33564" y="2670048"/>
            <a:ext cx="191292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115860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1586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17612" y="2670048"/>
            <a:ext cx="149230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한 번만 새로고침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6489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29369" y="2670048"/>
            <a:ext cx="222747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211665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11665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13417" y="2670048"/>
            <a:ext cx="180685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관리자에게 바로 알…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수업을 살리는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868680" cy="868680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868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Malgun Gothic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8229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E2340"/>
                </a:solidFill>
                <a:latin typeface="Malgun Gothic"/>
              </a:rPr>
              <a:t>📈 선생님의 성장 — 피드백을 자산으로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Malgun Gothic"/>
              </a:rPr>
              <a:t>AI 코칭 · 별점 피드백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28800"/>
            <a:ext cx="11430000" cy="73152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수업이 끝나면 AI가 그 수업에 대한 코칭 초안을 만들고, 학생·학부모의 별점과 한 줄 피드백이 쌓입니다. 이건 평가가 아니라 다음 수업을 위한 재료입니다.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이렇게 하세요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49040"/>
            <a:ext cx="5669280" cy="144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수업 후 AI 코칭 코멘트를 읽어요.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별점과 피드백 태그에서 반복되는 것을 찾아요.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다음 수업에 딱 한 가지만 바꿔 봐요.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바뀐 결과를 평가서에 기록해요.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7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900">
                <a:solidFill>
                  <a:srgbClr val="334155"/>
                </a:solidFill>
                <a:latin typeface="Malgun Gothic"/>
              </a:rPr>
              <a:t>잘 통한 방법은 동료 강사와 공유해요.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82946"/>
            <a:ext cx="5669280" cy="1067333"/>
          </a:xfrm>
          <a:prstGeom prst="roundRect">
            <a:avLst/>
          </a:prstGeom>
          <a:solidFill>
            <a:srgbClr val="F4F7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328666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FFF"/>
                </a:solidFill>
                <a:latin typeface="Malgun Gothic"/>
              </a:rPr>
              <a:t>✅ 핵심 포인트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575554"/>
            <a:ext cx="5394960" cy="73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한 번에 다 고치려 하지 마세요 — 한 수업에 한 가지면 충분해요.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반복되는 피드백이 진짜 개선점입니다. 단발성은 흘려보내세요.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65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850">
                <a:solidFill>
                  <a:srgbClr val="334155"/>
                </a:solidFill>
                <a:latin typeface="Malgun Gothic"/>
              </a:rPr>
              <a:t>성장 기록은 급여·재계약 근거로도 남습니다.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6172200"/>
            <a:ext cx="5646420" cy="52120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2670A"/>
                </a:solidFill>
                <a:latin typeface="Malgun Gothic"/>
              </a:rPr>
              <a:t>⚠️ 알아두기 · AI 코칭 초안은 참고 자료입니다. 사람이 확인하고 다듬은 뒤에 활용하세요.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6772" y="6172200"/>
            <a:ext cx="5646420" cy="521208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932" y="6217920"/>
            <a:ext cx="53721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B4A2A"/>
                </a:solidFill>
                <a:latin typeface="Malgun Gothic"/>
              </a:rPr>
              <a:t>💡 꿀팁 · 매달 한 가지 목표만 정하세요. “이번 달은 5초 기다리기” 한 문장이면 충분합니다.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6171" y="3255264"/>
            <a:ext cx="4484217" cy="2843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eacher_aicoa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1035" y="3310128"/>
            <a:ext cx="4374489" cy="2734056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65760" y="2578608"/>
            <a:ext cx="11457432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7E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97126" y="2670048"/>
            <a:ext cx="1770278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779422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7942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1174" y="2670048"/>
            <a:ext cx="1349654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AI 코칭 코멘트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7404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0284" y="2670048"/>
            <a:ext cx="207020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732580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2580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4332" y="2670048"/>
            <a:ext cx="164957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별점과 피드백 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20486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03366" y="2670048"/>
            <a:ext cx="1598371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85662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5662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7414" y="2670048"/>
            <a:ext cx="1177747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딱 한 가지만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01737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4617" y="2670048"/>
            <a:ext cx="1669694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66913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66913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68665" y="2670048"/>
            <a:ext cx="1249070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평가서에 기록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54312" y="2670048"/>
            <a:ext cx="182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5FFF"/>
                </a:solidFill>
                <a:latin typeface="Malgun Gothic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37192" y="2670048"/>
            <a:ext cx="954633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19488" y="2761488"/>
            <a:ext cx="274320" cy="274320"/>
          </a:xfrm>
          <a:prstGeom prst="ellipse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19488" y="2761488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2670048"/>
            <a:ext cx="534009" cy="457200"/>
          </a:xfrm>
          <a:prstGeom prst="rect">
            <a:avLst/>
          </a:prstGeom>
          <a:noFill/>
        </p:spPr>
        <p:txBody>
          <a:bodyPr wrap="non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4155"/>
                </a:solidFill>
                <a:latin typeface="Malgun Gothic"/>
              </a:rPr>
              <a:t>공유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기능 요약 ·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41248"/>
            <a:ext cx="658368" cy="512064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6583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68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5FFF"/>
                </a:solidFill>
                <a:latin typeface="Malgun Gothic"/>
              </a:rPr>
              <a:t>📋 🧰 수업 기술 요약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463040"/>
          <a:ext cx="1146017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2865043"/>
                <a:gridCol w="2865043"/>
                <a:gridCol w="2865046"/>
              </a:tblGrid>
              <a:tr h="46551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기술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무엇을 하나요?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언제 쓰나요?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기대 효과</a:t>
                      </a:r>
                    </a:p>
                  </a:txBody>
                  <a:tcPr>
                    <a:solidFill>
                      <a:srgbClr val="0B5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algun Gothic"/>
                        </a:rPr>
                        <a:t>에너지 만들기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첫 60초 인사·표정·리액션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매 수업 시작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수업 전체 분위기 결정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algun Gothic"/>
                        </a:rPr>
                        <a:t>5초 기다리기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질문 후 침묵을 견디기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질문할 때마다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학생 발화량 증가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algun Gothic"/>
                        </a:rPr>
                        <a:t>칭찬 바구니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잘한 순간을 눈에 보이게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수업 중 3회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지속 동기 형성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algun Gothic"/>
                        </a:rPr>
                        <a:t>AI 웜업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입을 먼저 풀기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수업 앞 3분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초반 침묵 제거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algun Gothic"/>
                        </a:rPr>
                        <a:t>학습 게임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복습을 놀이로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수업 뒤 5분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반복 학습·포인트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algun Gothic"/>
                        </a:rPr>
                        <a:t>탈출 게임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말해야 진행되는 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말 안 하는 아이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발화 강제·성공 경험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algun Gothic"/>
                        </a:rPr>
                        <a:t>단어장 3개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오늘 단어 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수업 마지막 1분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자동 복습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algun Gothic"/>
                        </a:rPr>
                        <a:t>평가서 2문장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잘한 것 1 · 목표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수업 직후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성적표·리포트 근거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algun Gothic"/>
                        </a:rPr>
                        <a:t>연령별 전술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나이에 맞춘 진행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학생 배정 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이탈 방지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5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4155"/>
                          </a:solidFill>
                          <a:latin typeface="Malgun Gothic"/>
                        </a:rPr>
                        <a:t>AI 코칭 확인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피드백에서 한 가지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매주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4155"/>
                          </a:solidFill>
                          <a:latin typeface="Malgun Gothic"/>
                        </a:rPr>
                        <a:t>강사 성장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한눈에 보는 데이터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41248"/>
            <a:ext cx="658368" cy="512064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6583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68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5FFF"/>
                </a:solidFill>
                <a:latin typeface="Malgun Gothic"/>
              </a:rPr>
              <a:t>📊 한눈에 보는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algun Gothic"/>
              </a:rPr>
              <a:t>연령별 한 활동 집중 시간(분)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92024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E2340"/>
                </a:solidFill>
                <a:latin typeface="Malgun Gothic"/>
              </a:rPr>
              <a:t>25분 수업 구성(분)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9360" y="1920240"/>
          <a:ext cx="548640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자주 묻는 질문 (FAQ)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41248"/>
            <a:ext cx="658368" cy="512064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6583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68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5FFF"/>
                </a:solidFill>
                <a:latin typeface="Malgun Gothic"/>
              </a:rPr>
              <a:t>❓ 자주 묻는 질문 (FAQ)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554480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Q. 아이가 계속 한국어로만 말해요.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algun Gothic"/>
              </a:rPr>
              <a:t>A. 혼내지 말고 영어로 대답할 수 있는 수준으로 질문을 낮추세요. 둘 중 고르기(“Pizza or chicken?”)부터 시작해 한 단어 → 한 문장으로 올립니다. 한국어를 금지하기보다 영어가 쉬운 상황을 만드는 편이 훨씬 빠릅니다.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542032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1518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Q. 발음을 계속 틀리는데 매번 고쳐 줘야 하나요?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53512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algun Gothic"/>
              </a:rPr>
              <a:t>A. 한 수업에 하나만 고치세요. 나머지는 올바른 문장으로 자연스럽게 되돌려 주는 것(recast)으로 충분합니다. 매번 지적하면 아이가 말을 멈춥니다.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529584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02736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Q. 수업 중에 게임을 얼마나 써도 되나요?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41064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algun Gothic"/>
              </a:rPr>
              <a:t>A. 25분 기준 5분 안팎이 적당합니다. 다만 목적 없이 틀면 노는 시간이 되므로, 반드시 오늘 배운 표현과 연결하고 목표를 먼저 말해 주세요.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517136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90288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Q. 평가서를 꼭 매번 써야 하나요?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28616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algun Gothic"/>
              </a:rPr>
              <a:t>A. 네. 평가서가 없으면 학부모에게 가는 성적표의 축이 비어 보입니다. 길게 쓸 필요는 없고 ‘잘한 것 1 + 다음 목표 1’ 두 문장이면 충분합니다.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504688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Q. 아이가 너무 산만해서 진행이 안 돼요.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16168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algun Gothic"/>
              </a:rPr>
              <a:t>A. 혼내는 대신 활동을 즉시 바꾸세요. 화이트보드에 그리게 하거나 역할을 주면 대부분 돌아옵니다. 산만함은 에너지가 많은 것이라 방향만 바꿔 주면 됩니다.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6492240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65392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Q. 인터넷이 끊겨서 수업을 못 했어요. 어떻게 하나요?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903720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algun Gothic"/>
              </a:rPr>
              <a:t>A. 임의로 종료하지 말고 관리자에게 바로 알리세요. 끊긴 시간은 확인 후 보강으로 처리됩니다. 시스템은 잠시 끊긴 것과 나간 것을 구분합니다.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7479792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7552944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Q. 근무·휴식·휴가는 어디서 등록하나요?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7891271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algun Gothic"/>
              </a:rPr>
              <a:t>A. 강사 통합 화면의 바로가기에서 등록합니다. 휴가는 미리 등록할수록 배정에 잘 반영됩니다.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8467344"/>
            <a:ext cx="11460175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8540496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Q. 오늘 배정된 수업이 없어 화면을 못 보겠어요.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8878824"/>
            <a:ext cx="1109441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475569"/>
                </a:solidFill>
                <a:latin typeface="Malgun Gothic"/>
              </a:rPr>
              <a:t>A. 관리자에게 샘플 수업 생성을 요청하세요. 데모 학생 계정으로 만들어지므로 실제 학생 데이터에는 영향이 없습니다.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F1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수업 체크리스트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41248"/>
            <a:ext cx="658368" cy="512064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6583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68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5FFF"/>
                </a:solidFill>
                <a:latin typeface="Malgun Gothic"/>
              </a:rPr>
              <a:t>✅ 매 수업 체크리스트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algun Gothic"/>
              </a:rPr>
              <a:t>수업 전 지난 평가서를 30초 확인했나요?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12848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algun Gothic"/>
              </a:rPr>
              <a:t>카메라·마이크를 미리 점검했나요?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79776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1576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algun Gothic"/>
              </a:rPr>
              <a:t>첫 60초에 이름을 부르며 인사했나요?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46704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8269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algun Gothic"/>
              </a:rPr>
              <a:t>질문 후 5초를 기다렸나요?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13632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9624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algun Gothic"/>
              </a:rPr>
              <a:t>구체적인 칭찬을 3번 이상 했나요?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480560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1655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algun Gothic"/>
              </a:rPr>
              <a:t>한 활동을 7분 넘기지 않았나요?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47488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algun Gothic"/>
              </a:rPr>
              <a:t>오늘 단어 3개를 단어장에 담게 했나요?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614416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5040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algun Gothic"/>
              </a:rPr>
              <a:t>다음 시간 예고로 수업을 닫았나요?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6181344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11733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algun Gothic"/>
              </a:rPr>
              <a:t>수업 직후 평가서를 작성했나요?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748272"/>
            <a:ext cx="292608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6684264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34155"/>
                </a:solidFill>
                <a:latin typeface="Malgun Gothic"/>
              </a:rPr>
              <a:t>이번 주 AI 코칭 피드백을 확인했나요?</a:t>
            </a:r>
          </a:p>
        </p:txBody>
      </p:sp>
      <p:pic>
        <p:nvPicPr>
          <p:cNvPr id="29" name="Picture 28" descr="mango_ch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162" y="4480559"/>
            <a:ext cx="2489892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54864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algun Gothic"/>
              </a:rPr>
              <a:t>🎓 망고아이 강사 교육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68335" y="27432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1F5F9"/>
                </a:solidFill>
                <a:latin typeface="Malgun Gothic"/>
              </a:rPr>
              <a:t>마무리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841248"/>
            <a:ext cx="658368" cy="512064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41248"/>
            <a:ext cx="65836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Malgun Gothic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686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B5FFF"/>
                </a:solidFill>
                <a:latin typeface="Malgun Gothic"/>
              </a:rPr>
              <a:t>🏁 선생님이 곧 커리큘럼입니다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11430000" cy="868680"/>
          </a:xfrm>
          <a:prstGeom prst="roundRect">
            <a:avLst/>
          </a:prstGeom>
          <a:solidFill>
            <a:srgbClr val="E9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2646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4155"/>
                </a:solidFill>
                <a:latin typeface="Malgun Gothic"/>
              </a:rPr>
              <a:t>좋은 교재와 좋은 시스템이 있어도, 아이가 말하게 만드는 것은 결국 선생님입니다. 이 매뉴얼의 기술을 전부 한 번에 쓰려 하지 마세요. 한 수업에 한 가지면 충분합니다.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🔄 한 수업의 흐름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88920"/>
            <a:ext cx="1600200" cy="384048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algun Gothic"/>
              </a:rPr>
              <a:t>수업 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770632"/>
            <a:ext cx="411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34155"/>
                </a:solidFill>
                <a:latin typeface="Malgun Gothic"/>
              </a:rPr>
              <a:t>지난 평가서 확인 · 카메라/마이크 점검 · 오늘의 관심사 한 가지 준비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46120"/>
            <a:ext cx="1600200" cy="384048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246120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algun Gothic"/>
              </a:rPr>
              <a:t>첫 3분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27832"/>
            <a:ext cx="411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34155"/>
                </a:solidFill>
                <a:latin typeface="Malgun Gothic"/>
              </a:rPr>
              <a:t>이름 부르며 인사 · AI 웜업으로 입 풀기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03320"/>
            <a:ext cx="1600200" cy="384048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algun Gothic"/>
              </a:rPr>
              <a:t>본 수업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685032"/>
            <a:ext cx="411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34155"/>
                </a:solidFill>
                <a:latin typeface="Malgun Gothic"/>
              </a:rPr>
              <a:t>질문 후 5초 기다리기 · 활동은 7분마다 전환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1600200" cy="384048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160520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algun Gothic"/>
              </a:rPr>
              <a:t>마지막 5분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42232"/>
            <a:ext cx="411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34155"/>
                </a:solidFill>
                <a:latin typeface="Malgun Gothic"/>
              </a:rPr>
              <a:t>학습 게임으로 복습 · 칭찬 바구니 · 오늘 단어 3개 담기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17720"/>
            <a:ext cx="1600200" cy="384048"/>
          </a:xfrm>
          <a:prstGeom prst="round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17720"/>
            <a:ext cx="16002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FFFFFF"/>
                </a:solidFill>
                <a:latin typeface="Malgun Gothic"/>
              </a:rPr>
              <a:t>수업 직후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599432"/>
            <a:ext cx="411480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334155"/>
                </a:solidFill>
                <a:latin typeface="Malgun Gothic"/>
              </a:rPr>
              <a:t>평가서 2문장 · 다음에 물어볼 것 메모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231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⭐ 핵심 원칙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78892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1100">
                <a:solidFill>
                  <a:srgbClr val="334155"/>
                </a:solidFill>
                <a:latin typeface="Malgun Gothic"/>
              </a:rPr>
              <a:t>많이 말하게 하기 — 선생님이 말을 줄일수록 아이의 실력이 늡니다.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1100">
                <a:solidFill>
                  <a:srgbClr val="334155"/>
                </a:solidFill>
                <a:latin typeface="Malgun Gothic"/>
              </a:rPr>
              <a:t>보이게 칭찬하기 — 말로 하는 칭찬은 사라지고, 쌓이는 칭찬은 남습니다.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1100">
                <a:solidFill>
                  <a:srgbClr val="334155"/>
                </a:solidFill>
                <a:latin typeface="Malgun Gothic"/>
              </a:rPr>
              <a:t>한 아이를 기억하기 — “나를 안다”는 느낌이 태도를 바꿉니다.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1100">
                <a:solidFill>
                  <a:srgbClr val="334155"/>
                </a:solidFill>
                <a:latin typeface="Malgun Gothic"/>
              </a:rPr>
              <a:t>리듬을 지키기 — 지루해 보이면 설명이 아니라 활동을 바꾸세요.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900" b="1">
                <a:solidFill>
                  <a:srgbClr val="0B5FFF"/>
                </a:solidFill>
                <a:latin typeface="Malgun Gothic"/>
              </a:rPr>
              <a:t>● </a:t>
            </a:r>
            <a:r>
              <a:rPr sz="1100">
                <a:solidFill>
                  <a:srgbClr val="334155"/>
                </a:solidFill>
                <a:latin typeface="Malgun Gothic"/>
              </a:rPr>
              <a:t>기록을 남기기 — 평가서 한 줄이 학부모 신뢰가 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92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FFF"/>
                </a:solidFill>
                <a:latin typeface="Malgun Gothic"/>
              </a:rPr>
              <a:t>📌 꼭 기억하세요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5780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9500"/>
                </a:solidFill>
                <a:latin typeface="Malgun Gothic"/>
              </a:rPr>
              <a:t>● </a:t>
            </a:r>
            <a:r>
              <a:rPr sz="1050">
                <a:solidFill>
                  <a:srgbClr val="334155"/>
                </a:solidFill>
                <a:latin typeface="Malgun Gothic"/>
              </a:rPr>
              <a:t>질문 뒤 5초를 기다리세요. 거기서 아이의 첫 문장이 나옵니다.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9500"/>
                </a:solidFill>
                <a:latin typeface="Malgun Gothic"/>
              </a:rPr>
              <a:t>● </a:t>
            </a:r>
            <a:r>
              <a:rPr sz="1050">
                <a:solidFill>
                  <a:srgbClr val="334155"/>
                </a:solidFill>
                <a:latin typeface="Malgun Gothic"/>
              </a:rPr>
              <a:t>구체적인 칭찬 3번이 “Good job” 서른 번보다 강합니다.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9500"/>
                </a:solidFill>
                <a:latin typeface="Malgun Gothic"/>
              </a:rPr>
              <a:t>● </a:t>
            </a:r>
            <a:r>
              <a:rPr sz="1050">
                <a:solidFill>
                  <a:srgbClr val="334155"/>
                </a:solidFill>
                <a:latin typeface="Malgun Gothic"/>
              </a:rPr>
              <a:t>말 안 하는 아이에게는 탈출 게임과 닫힌 질문부터.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9500"/>
                </a:solidFill>
                <a:latin typeface="Malgun Gothic"/>
              </a:rPr>
              <a:t>● </a:t>
            </a:r>
            <a:r>
              <a:rPr sz="1050">
                <a:solidFill>
                  <a:srgbClr val="334155"/>
                </a:solidFill>
                <a:latin typeface="Malgun Gothic"/>
              </a:rPr>
              <a:t>수업이 끊겨도 임의로 종료하지 마세요 — 관리자에게 알리면 됩니다.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FF9500"/>
                </a:solidFill>
                <a:latin typeface="Malgun Gothic"/>
              </a:rPr>
              <a:t>● </a:t>
            </a:r>
            <a:r>
              <a:rPr sz="1050">
                <a:solidFill>
                  <a:srgbClr val="334155"/>
                </a:solidFill>
                <a:latin typeface="Malgun Gothic"/>
              </a:rPr>
              <a:t>매달 바꿀 것 한 가지만 정하세요.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172200"/>
            <a:ext cx="11338560" cy="566928"/>
          </a:xfrm>
          <a:prstGeom prst="roundRect">
            <a:avLst/>
          </a:prstGeom>
          <a:solidFill>
            <a:srgbClr val="E9F1FF"/>
          </a:solidFill>
          <a:ln w="12700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208776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000" b="0">
                <a:solidFill>
                  <a:srgbClr val="5B4A2A"/>
                </a:solidFill>
                <a:latin typeface="Malgun Gothic"/>
              </a:rPr>
              <a:t>🍊 오늘 한 아이가 처음으로 한 문장을 말했다면, 그 수업은 성공입니다. 그 한 문장이 쌓여서 실력이 되고, 그 기록이 쌓여서 학부모의 신뢰가 됩니다. 선생님의 한 수업이 한 아이의 영어를 바꿉니다. 오늘도 고맙습니다! 🥭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8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4572000"/>
            <a:ext cx="3657600" cy="3657600"/>
          </a:xfrm>
          <a:prstGeom prst="ellipse">
            <a:avLst/>
          </a:prstGeom>
          <a:solidFill>
            <a:srgbClr val="082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algun Gothic"/>
              </a:rPr>
              <a:t>선생님이 곧 커리큘럼입니다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algun Gothic"/>
              </a:rPr>
              <a:t>궁금한 점은 강사 지원팀 또는 카카오 채널로 문의하세요.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FFFFFF"/>
                </a:solidFill>
                <a:latin typeface="Malgun Gothic"/>
              </a:rPr>
              <a:t>🌐 www.mangoi.co.kr    📞 1644-0561    ✉ support@mangoi.co.kr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