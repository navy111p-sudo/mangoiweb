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콘텐츠 수·게임 수는 서비스 내 집계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PART 1 전체의 지도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image" Target="../media/image-3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image" Target="../media/image-15-9.jpg"/><Relationship Id="rId10" Type="http://schemas.openxmlformats.org/officeDocument/2006/relationships/image" Target="../media/image-15-10.jpg"/><Relationship Id="rId11" Type="http://schemas.openxmlformats.org/officeDocument/2006/relationships/image" Target="../media/image-15-11.jpg"/><Relationship Id="rId12" Type="http://schemas.openxmlformats.org/officeDocument/2006/relationships/image" Target="../media/image-15-12.jpg"/><Relationship Id="rId13" Type="http://schemas.openxmlformats.org/officeDocument/2006/relationships/image" Target="../media/image-15-13.jpg"/><Relationship Id="rId14" Type="http://schemas.openxmlformats.org/officeDocument/2006/relationships/image" Target="../media/image-15-14.jpg"/><Relationship Id="rId15" Type="http://schemas.openxmlformats.org/officeDocument/2006/relationships/image" Target="../media/image-15-15.jpg"/><Relationship Id="rId16" Type="http://schemas.openxmlformats.org/officeDocument/2006/relationships/image" Target="../media/image-15-16.jpg"/><Relationship Id="rId17" Type="http://schemas.openxmlformats.org/officeDocument/2006/relationships/image" Target="../media/image-15-17.jpg"/><Relationship Id="rId18" Type="http://schemas.openxmlformats.org/officeDocument/2006/relationships/image" Target="../media/image-15-18.jpg"/><Relationship Id="rId19" Type="http://schemas.openxmlformats.org/officeDocument/2006/relationships/image" Target="../media/image-15-19.jpg"/><Relationship Id="rId20" Type="http://schemas.openxmlformats.org/officeDocument/2006/relationships/image" Target="../media/image-15-20.jpg"/><Relationship Id="rId21" Type="http://schemas.openxmlformats.org/officeDocument/2006/relationships/image" Target="../media/image-15-21.jpg"/><Relationship Id="rId22" Type="http://schemas.openxmlformats.org/officeDocument/2006/relationships/image" Target="../media/image-15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image" Target="../media/image-1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image" Target="../media/image-21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image" Target="../media/image-24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755648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889504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1097280" y="38404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안내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097280" y="438912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1097280" y="577900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8096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2962656"/>
            <a:ext cx="2212848" cy="12984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68096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" y="4370832"/>
            <a:ext cx="2212848" cy="129844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474720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712464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3712464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712464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 · 인지심리학 근거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75888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3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712464" y="2962656"/>
            <a:ext cx="2212848" cy="129844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675888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4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5"/>
          <a:srcRect l="2659" r="-2659" t="0" b="0"/>
          <a:stretch/>
        </p:blipFill>
        <p:spPr>
          <a:xfrm>
            <a:off x="3712464" y="4370832"/>
            <a:ext cx="2212848" cy="1298448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382512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62025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5" name="Text 18"/>
          <p:cNvSpPr/>
          <p:nvPr/>
        </p:nvSpPr>
        <p:spPr>
          <a:xfrm>
            <a:off x="6620256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6620256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 → 수업 → 복습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6583680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5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20256" y="2962656"/>
            <a:ext cx="2212848" cy="129844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6583680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6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20256" y="4370832"/>
            <a:ext cx="2212848" cy="1298448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9290304" y="1572768"/>
            <a:ext cx="2688336" cy="420624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952804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3" name="Text 24"/>
          <p:cNvSpPr/>
          <p:nvPr/>
        </p:nvSpPr>
        <p:spPr>
          <a:xfrm>
            <a:off x="9528048" y="22128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9528048" y="259689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개인화 AI</a:t>
            </a:r>
            <a:endParaRPr lang="en-US" sz="1000" dirty="0"/>
          </a:p>
        </p:txBody>
      </p:sp>
      <p:sp>
        <p:nvSpPr>
          <p:cNvPr id="35" name="Shape 26"/>
          <p:cNvSpPr/>
          <p:nvPr/>
        </p:nvSpPr>
        <p:spPr>
          <a:xfrm>
            <a:off x="9491472" y="292608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7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8048" y="2962656"/>
            <a:ext cx="2212848" cy="129844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9491472" y="4334256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8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528048" y="4370832"/>
            <a:ext cx="2212848" cy="1298448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시간을 채우는 A.I 콘텐츠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82512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65392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 말 걸 상대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90304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언어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473184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3035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61488"/>
            <a:ext cx="1728216" cy="108071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692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395728" y="2724912"/>
            <a:ext cx="1801368" cy="1164232"/>
          </a:xfrm>
          <a:prstGeom prst="roundRect">
            <a:avLst>
              <a:gd name="adj" fmla="val 628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2761488"/>
            <a:ext cx="1728216" cy="1091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32304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61104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3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761488"/>
            <a:ext cx="1728216" cy="108071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297680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26480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761488"/>
            <a:ext cx="1728216" cy="108071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63056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991856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2761488"/>
            <a:ext cx="1728216" cy="108071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028432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985723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6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08" y="2761488"/>
            <a:ext cx="1728216" cy="108071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9380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00" dirty="0"/>
          </a:p>
        </p:txBody>
      </p:sp>
      <p:sp>
        <p:nvSpPr>
          <p:cNvPr id="37" name="Shape 28"/>
          <p:cNvSpPr/>
          <p:nvPr/>
        </p:nvSpPr>
        <p:spPr>
          <a:xfrm>
            <a:off x="530352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7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34256"/>
            <a:ext cx="1728216" cy="1080711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6692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2395728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8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2304" y="4334256"/>
            <a:ext cx="1728216" cy="1080711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2432304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261104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334256"/>
            <a:ext cx="1728216" cy="1080711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297680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00" dirty="0"/>
          </a:p>
        </p:txBody>
      </p:sp>
      <p:sp>
        <p:nvSpPr>
          <p:cNvPr id="46" name="Shape 34"/>
          <p:cNvSpPr/>
          <p:nvPr/>
        </p:nvSpPr>
        <p:spPr>
          <a:xfrm>
            <a:off x="6126480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0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334256"/>
            <a:ext cx="1728216" cy="1080711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163056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7991856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8432" y="4334256"/>
            <a:ext cx="1728216" cy="1080711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8028432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9857232" y="4297680"/>
            <a:ext cx="1801368" cy="1183819"/>
          </a:xfrm>
          <a:prstGeom prst="roundRect">
            <a:avLst>
              <a:gd name="adj" fmla="val 617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2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3808" y="4334256"/>
            <a:ext cx="1728216" cy="1110667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989380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00" dirty="0"/>
          </a:p>
        </p:txBody>
      </p:sp>
      <p:sp>
        <p:nvSpPr>
          <p:cNvPr id="55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Answer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200분, 나머지 42,800분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" y="213969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6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중 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620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47104" y="213969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콘텐츠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547104" y="2889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말하고, 쓰고, 외우고, 게임합니다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0352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0" r="0" t="62" b="-62"/>
          <a:stretch/>
        </p:blipFill>
        <p:spPr>
          <a:xfrm>
            <a:off x="566928" y="4114800"/>
            <a:ext cx="2606040" cy="16276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928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 · AI 웜업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337560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62" b="-62"/>
          <a:stretch/>
        </p:blipFill>
        <p:spPr>
          <a:xfrm>
            <a:off x="3374136" y="4114800"/>
            <a:ext cx="2606040" cy="1627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74136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· AI 음성코치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44768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62" b="-62"/>
          <a:stretch/>
        </p:blipFill>
        <p:spPr>
          <a:xfrm>
            <a:off x="6181344" y="4114800"/>
            <a:ext cx="2606040" cy="16276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81344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· 복습 퀴즈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51976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62" b="-62"/>
          <a:stretch/>
        </p:blipFill>
        <p:spPr>
          <a:xfrm>
            <a:off x="8988552" y="4114800"/>
            <a:ext cx="2606040" cy="16276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88552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· 학습 게임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기르는가로 나눈 14가지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80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427732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92324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10612" y="2139696"/>
            <a:ext cx="109728" cy="10972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93492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8536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 · 문법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471416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4296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71416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71416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54296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49340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13932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2220" y="2139696"/>
            <a:ext cx="109728" cy="10972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15100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010144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74736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습관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193024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5904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93024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75904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93024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75904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포인트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87094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03554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· 평가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05382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3670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05382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23670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05382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3670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30352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9936"/>
            <a:ext cx="1737360" cy="1086429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56692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2386584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059936"/>
            <a:ext cx="1737360" cy="1086429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2423160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242816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4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4059936"/>
            <a:ext cx="1737360" cy="1086429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4279392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6099048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7" name="Image 4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4059936"/>
            <a:ext cx="1737360" cy="108642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6135624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7955280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0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4059936"/>
            <a:ext cx="1737360" cy="1086429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7991856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811512" y="4023360"/>
            <a:ext cx="1810512" cy="1189695"/>
          </a:xfrm>
          <a:prstGeom prst="roundRect">
            <a:avLst>
              <a:gd name="adj" fmla="val 614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3" name="Image 6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59936"/>
            <a:ext cx="1737360" cy="1116543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984808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950" dirty="0"/>
          </a:p>
        </p:txBody>
      </p:sp>
      <p:sp>
        <p:nvSpPr>
          <p:cNvPr id="65" name="Text 56"/>
          <p:cNvSpPr/>
          <p:nvPr/>
        </p:nvSpPr>
        <p:spPr>
          <a:xfrm>
            <a:off x="566928" y="561441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학습 콘텐츠 집계 (2026년 8월). 게임 21종은 «학습 게임» 하나로 셈했습니다.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하나씩 보여 드립니다.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21종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01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따라 말하면 즉시 채점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→ 원어민 발음 듣기 → 마이크 → 점수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 · BTS(Lv 1~8) · SIU 고급 · 중국어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발음을 먼저 듣고 그대로 발화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점수가 나온다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쌓인다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성장 추이로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 — 말해 봐야 규칙이 굳는다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02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24시간 말 걸 상대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41003"/>
          </a:xfrm>
          <a:prstGeom prst="roundRect">
            <a:avLst>
              <a:gd name="adj" fmla="val 185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678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86923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Jake와 영어로 자유 대화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고른다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않고, 한 마디마다 포인트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수준에 맞춰 준다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학습자 레벨에 맞는 문장 길이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 — 불안이 낮아야 습득된다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03 · 쓰기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왜 틀렸는지까지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이유를 설명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쓴다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자유롭게 작성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교정된다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부분을 문장 단위로 표시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알려준다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고쳤는지 설명까지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 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문장을 반영해 재작성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 — 꺼내 쓸 때 기억에 남는다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04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Vocab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단어만 넣으면 나머지는 A.I가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입력하면 뜻·예문 자동 생성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담는다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뜻과 예문은 A.I가 자동 생성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외운다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단어가 게임 문제로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남는다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진도와 정답률을 확인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수업과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 나온 단어가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— 간격을 두고 여러 번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05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1분이면 끝납니다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마이크로러닝 — 짧게, 자주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안에 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하루 한 번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단어장에서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담은 단어로 문제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빠를수록 포인트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속도가 오르면 보너스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연속으로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하면 스트릭이 쌓인다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 (Cepeda 2006 · Roediger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06 · 사고력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Training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 — 생각하고 영어로 답하기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읽고 스스로 판단해 영어로 말하기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상황이 주어진다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있을 법한 장면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고르기가 아니라 결정하기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답한다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판단한 이유를 영어로 설명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되짚는다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선택지의 결과도 알려준다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«AI로 생각하고 결정하는 영어»의 출발점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07 · 수업 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— 수업 전에 입을 풉니다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AI 친구와 짧은 대화 후 입장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한 번 말해 본다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두세 마디면 충분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1~2분이면 끝나는 짧은 대화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줄어든다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마디의 부담을 미리 덜어낸다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수업으로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후 화상수업 로비로 입장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조금 위의 이해 가능한 입력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복습이 놀이가 됩니다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4681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재료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골라 게임 문제로 넘긴다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 모두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언어 모두 지원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이기는 게임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발화가 조건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퀘스트로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깨면 다음 게임이 열린다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04748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157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358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 — 난이도와 실력이 맞을 때 계속한다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게임 라인업 전체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전부입니다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477670" cy="924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우주 괴물 사냥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212689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g02_avat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1517904"/>
            <a:ext cx="1477670" cy="9242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347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아바타 키우기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723437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1517904"/>
            <a:ext cx="1477670" cy="9242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60013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문법 피자 마스터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5319979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g04_escapevoic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555" y="1517904"/>
            <a:ext cx="1477670" cy="924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56555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말해야 열린다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91652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g05_escapezombi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98" y="1517904"/>
            <a:ext cx="1477670" cy="92421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309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좀비 실험실 탈출</a:t>
            </a:r>
            <a:endParaRPr lang="en-US" sz="800" dirty="0"/>
          </a:p>
        </p:txBody>
      </p:sp>
      <p:sp>
        <p:nvSpPr>
          <p:cNvPr id="22" name="Shape 14"/>
          <p:cNvSpPr/>
          <p:nvPr/>
        </p:nvSpPr>
        <p:spPr>
          <a:xfrm>
            <a:off x="851306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0" y="1517904"/>
            <a:ext cx="1477670" cy="9242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4964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학교 탈출 SOS</a:t>
            </a:r>
            <a:endParaRPr lang="en-US" sz="800" dirty="0"/>
          </a:p>
        </p:txBody>
      </p:sp>
      <p:sp>
        <p:nvSpPr>
          <p:cNvPr id="25" name="Shape 16"/>
          <p:cNvSpPr/>
          <p:nvPr/>
        </p:nvSpPr>
        <p:spPr>
          <a:xfrm>
            <a:off x="10109606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g07_tank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6182" y="1517904"/>
            <a:ext cx="1477670" cy="9242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0146182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셔먼 탱크대전</a:t>
            </a:r>
            <a:endParaRPr lang="en-US" sz="800" dirty="0"/>
          </a:p>
        </p:txBody>
      </p:sp>
      <p:sp>
        <p:nvSpPr>
          <p:cNvPr id="28" name="Shape 18"/>
          <p:cNvSpPr/>
          <p:nvPr/>
        </p:nvSpPr>
        <p:spPr>
          <a:xfrm>
            <a:off x="53035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8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2990088"/>
            <a:ext cx="1477670" cy="9242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6692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P-38 라이트닝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212689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9" descr="/tmp/claude-0/-home-user-mangoiweb/ca835eb4-1670-5fc1-a29a-2fc77598fea3/scratchpad/deck_img/g09_p383d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63470" y="2990088"/>
            <a:ext cx="1477670" cy="9242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16347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P-38 3D 조종석</a:t>
            </a:r>
            <a:endParaRPr lang="en-US" sz="800" dirty="0"/>
          </a:p>
        </p:txBody>
      </p:sp>
      <p:sp>
        <p:nvSpPr>
          <p:cNvPr id="34" name="Shape 22"/>
          <p:cNvSpPr/>
          <p:nvPr/>
        </p:nvSpPr>
        <p:spPr>
          <a:xfrm>
            <a:off x="3723437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0" descr="/tmp/claude-0/-home-user-mangoiweb/ca835eb4-1670-5fc1-a29a-2fc77598fea3/scratchpad/deck_img/g10_battle3d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0013" y="2990088"/>
            <a:ext cx="1477670" cy="9242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3760013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우주 배틀</a:t>
            </a:r>
            <a:endParaRPr lang="en-US" sz="800" dirty="0"/>
          </a:p>
        </p:txBody>
      </p:sp>
      <p:sp>
        <p:nvSpPr>
          <p:cNvPr id="37" name="Shape 24"/>
          <p:cNvSpPr/>
          <p:nvPr/>
        </p:nvSpPr>
        <p:spPr>
          <a:xfrm>
            <a:off x="5319979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11" descr="/tmp/claude-0/-home-user-mangoiweb/ca835eb4-1670-5fc1-a29a-2fc77598fea3/scratchpad/deck_img/g11_fish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2990088"/>
            <a:ext cx="1477670" cy="9242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5356555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낚시+말하기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691652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2" descr="/tmp/claude-0/-home-user-mangoiweb/ca835eb4-1670-5fc1-a29a-2fc77598fea3/scratchpad/deck_img/g12_shoote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098" y="2990088"/>
            <a:ext cx="1477670" cy="924216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95309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슈팅+말하기</a:t>
            </a:r>
            <a:endParaRPr lang="en-US" sz="800" dirty="0"/>
          </a:p>
        </p:txBody>
      </p:sp>
      <p:sp>
        <p:nvSpPr>
          <p:cNvPr id="43" name="Shape 28"/>
          <p:cNvSpPr/>
          <p:nvPr/>
        </p:nvSpPr>
        <p:spPr>
          <a:xfrm>
            <a:off x="851306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13" descr="/tmp/claude-0/-home-user-mangoiweb/ca835eb4-1670-5fc1-a29a-2fc77598fea3/scratchpad/deck_img/g13_brick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0" y="2990088"/>
            <a:ext cx="1477670" cy="924216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854964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문장 벽돌</a:t>
            </a:r>
            <a:endParaRPr lang="en-US" sz="800" dirty="0"/>
          </a:p>
        </p:txBody>
      </p:sp>
      <p:sp>
        <p:nvSpPr>
          <p:cNvPr id="46" name="Shape 30"/>
          <p:cNvSpPr/>
          <p:nvPr/>
        </p:nvSpPr>
        <p:spPr>
          <a:xfrm>
            <a:off x="10109606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4" descr="/tmp/claude-0/-home-user-mangoiweb/ca835eb4-1670-5fc1-a29a-2fc77598fea3/scratchpad/deck_img/g14_match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46182" y="2990088"/>
            <a:ext cx="1477670" cy="924216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10146182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단어 매칭</a:t>
            </a:r>
            <a:endParaRPr lang="en-US" sz="800" dirty="0"/>
          </a:p>
        </p:txBody>
      </p:sp>
      <p:sp>
        <p:nvSpPr>
          <p:cNvPr id="49" name="Shape 32"/>
          <p:cNvSpPr/>
          <p:nvPr/>
        </p:nvSpPr>
        <p:spPr>
          <a:xfrm>
            <a:off x="53035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5" descr="/tmp/claude-0/-home-user-mangoiweb/ca835eb4-1670-5fc1-a29a-2fc77598fea3/scratchpad/deck_img/g15_fill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462272"/>
            <a:ext cx="1477670" cy="924216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6692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빈칸 채우기</a:t>
            </a:r>
            <a:endParaRPr lang="en-US" sz="800" dirty="0"/>
          </a:p>
        </p:txBody>
      </p:sp>
      <p:sp>
        <p:nvSpPr>
          <p:cNvPr id="52" name="Shape 34"/>
          <p:cNvSpPr/>
          <p:nvPr/>
        </p:nvSpPr>
        <p:spPr>
          <a:xfrm>
            <a:off x="212689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6" descr="/tmp/claude-0/-home-user-mangoiweb/ca835eb4-1670-5fc1-a29a-2fc77598fea3/scratchpad/deck_img/g16_balloon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3470" y="4462272"/>
            <a:ext cx="1477670" cy="924216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216347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풍선 터뜨리기</a:t>
            </a:r>
            <a:endParaRPr lang="en-US" sz="800" dirty="0"/>
          </a:p>
        </p:txBody>
      </p:sp>
      <p:sp>
        <p:nvSpPr>
          <p:cNvPr id="55" name="Shape 36"/>
          <p:cNvSpPr/>
          <p:nvPr/>
        </p:nvSpPr>
        <p:spPr>
          <a:xfrm>
            <a:off x="3723437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17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013" y="4462272"/>
            <a:ext cx="1477670" cy="924216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3760013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용의자 추리</a:t>
            </a:r>
            <a:endParaRPr lang="en-US" sz="800" dirty="0"/>
          </a:p>
        </p:txBody>
      </p:sp>
      <p:sp>
        <p:nvSpPr>
          <p:cNvPr id="58" name="Shape 38"/>
          <p:cNvSpPr/>
          <p:nvPr/>
        </p:nvSpPr>
        <p:spPr>
          <a:xfrm>
            <a:off x="5319979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18" descr="/tmp/claude-0/-home-user-mangoiweb/ca835eb4-1670-5fc1-a29a-2fc77598fea3/scratchpad/deck_img/g18_speaking.jp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6555" y="4462272"/>
            <a:ext cx="1477670" cy="924216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5356555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말하기 퀴즈</a:t>
            </a:r>
            <a:endParaRPr lang="en-US" sz="800" dirty="0"/>
          </a:p>
        </p:txBody>
      </p:sp>
      <p:sp>
        <p:nvSpPr>
          <p:cNvPr id="61" name="Shape 40"/>
          <p:cNvSpPr/>
          <p:nvPr/>
        </p:nvSpPr>
        <p:spPr>
          <a:xfrm>
            <a:off x="691652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2" name="Image 19" descr="/tmp/claude-0/-home-user-mangoiweb/ca835eb4-1670-5fc1-a29a-2fc77598fea3/scratchpad/deck_img/g19_wordfighter.jp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098" y="4462272"/>
            <a:ext cx="1477670" cy="924216"/>
          </a:xfrm>
          <a:prstGeom prst="rect">
            <a:avLst/>
          </a:prstGeom>
        </p:spPr>
      </p:pic>
      <p:sp>
        <p:nvSpPr>
          <p:cNvPr id="63" name="Text 41"/>
          <p:cNvSpPr/>
          <p:nvPr/>
        </p:nvSpPr>
        <p:spPr>
          <a:xfrm>
            <a:off x="695309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워드 파이터</a:t>
            </a:r>
            <a:endParaRPr lang="en-US" sz="800" dirty="0"/>
          </a:p>
        </p:txBody>
      </p:sp>
      <p:sp>
        <p:nvSpPr>
          <p:cNvPr id="64" name="Shape 42"/>
          <p:cNvSpPr/>
          <p:nvPr/>
        </p:nvSpPr>
        <p:spPr>
          <a:xfrm>
            <a:off x="851306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5" name="Image 20" descr="/tmp/claude-0/-home-user-mangoiweb/ca835eb4-1670-5fc1-a29a-2fc77598fea3/scratchpad/deck_img/g20_tetris.jp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49640" y="4462272"/>
            <a:ext cx="1477670" cy="924216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854964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단어 테트리스</a:t>
            </a:r>
            <a:endParaRPr lang="en-US" sz="800" dirty="0"/>
          </a:p>
        </p:txBody>
      </p:sp>
      <p:sp>
        <p:nvSpPr>
          <p:cNvPr id="67" name="Shape 44"/>
          <p:cNvSpPr/>
          <p:nvPr/>
        </p:nvSpPr>
        <p:spPr>
          <a:xfrm>
            <a:off x="10109606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8" name="Image 21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46182" y="4462272"/>
            <a:ext cx="1477670" cy="924216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10146182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망고 구조선의 대항해</a:t>
            </a:r>
            <a:endParaRPr lang="en-US" sz="800" dirty="0"/>
          </a:p>
        </p:txBody>
      </p:sp>
      <p:sp>
        <p:nvSpPr>
          <p:cNvPr id="70" name="Text 46"/>
          <p:cNvSpPr/>
          <p:nvPr/>
        </p:nvSpPr>
        <p:spPr>
          <a:xfrm>
            <a:off x="566928" y="6035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전 종목 실제 화면 캡처. 게임마다 파일이 독립되어 있어 새 게임이 계속 추가됩니다.</a:t>
            </a:r>
            <a:endParaRPr lang="en-US" sz="850" dirty="0"/>
          </a:p>
        </p:txBody>
      </p:sp>
      <p:sp>
        <p:nvSpPr>
          <p:cNvPr id="71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대표 게임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식으로 영어를 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rcRect l="0" r="0" t="13891" b="-13891"/>
          <a:stretch/>
        </p:blipFill>
        <p:spPr>
          <a:xfrm>
            <a:off x="566928" y="1554480"/>
            <a:ext cx="3474720" cy="17007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66928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맞는 단어를 쏜다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242816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3"/>
          <a:srcRect l="0" r="0" t="13891" b="-13891"/>
          <a:stretch/>
        </p:blipFill>
        <p:spPr>
          <a:xfrm>
            <a:off x="4279392" y="1554480"/>
            <a:ext cx="3474720" cy="17007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79392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279392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재료를 올린다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955280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4"/>
          <a:srcRect l="0" r="0" t="13891" b="-13891"/>
          <a:stretch/>
        </p:blipFill>
        <p:spPr>
          <a:xfrm>
            <a:off x="7991856" y="1554480"/>
            <a:ext cx="3474720" cy="17007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91856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991856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열린다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0352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5"/>
          <a:srcRect l="0" r="0" t="13891" b="-13891"/>
          <a:stretch/>
        </p:blipFill>
        <p:spPr>
          <a:xfrm>
            <a:off x="566928" y="3931920"/>
            <a:ext cx="3474720" cy="17007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66928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66928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적기에 실린 단어를 어순대로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242816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6"/>
          <a:srcRect l="0" r="0" t="13891" b="-13891"/>
          <a:stretch/>
        </p:blipFill>
        <p:spPr>
          <a:xfrm>
            <a:off x="4279392" y="3931920"/>
            <a:ext cx="3474720" cy="17007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279392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용의자 추리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279392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힌트를 듣고 영어로 범인을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7955280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6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7"/>
          <a:srcRect l="0" r="0" t="13891" b="-13891"/>
          <a:stretch/>
        </p:blipFill>
        <p:spPr>
          <a:xfrm>
            <a:off x="7991856" y="3931920"/>
            <a:ext cx="3474720" cy="17007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991856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 구조선의 대항해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7991856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구한 단어로 문장을 말한다</a:t>
            </a:r>
            <a:endParaRPr lang="en-US" sz="950" dirty="0"/>
          </a:p>
        </p:txBody>
      </p:sp>
      <p:sp>
        <p:nvSpPr>
          <p:cNvPr id="31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09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말할수록 자랍니다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 · 여우 · 드래곤 · 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캐릭터 중 하나로 시작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미션마다 EXP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영어·중국어 미션이 곧 경험치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5단계까지 진화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진화할 때마다 연출이 바뀐다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유지된다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캐릭터를 바꿔도 EXP는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 — 능력은 노력으로 자란다 (Dweck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10 · 습관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&amp; Points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하루도 끊기지 않게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 · 포인트 · 배지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한 번이면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하나로 그날이 채워진다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일수가 보인다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끊기지 않게 만드는 가장 단순한 장치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포인트가 쌓인다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기프티콘으로 교환 가능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성적이 아니라 습관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아닌 과정에만 보상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보상의 역효과(Deci 1999)를 피해 «습관»에만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11 · 진단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 — 어디서 시작할지 정합니다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시작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ID만 입력하면 바로 진단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1~8 중 시작 지점 판정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강·약점까지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부족한지 함께 정리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교재가 연결된다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커리큘럼 자동 배정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수준보다 살짝 위에서 배운다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12 · 평가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4010436"/>
          </a:xfrm>
          <a:prstGeom prst="roundRect">
            <a:avLst>
              <a:gd name="adj" fmla="val 18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937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6563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 — 카카오톡으로 발송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자동 생성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A.I가 분석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약점이 복습으로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부분이 다음 퀴즈·게임 재료로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· 매달 요약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리포트와 월간 A.I 리포트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열지 않아도 손 안에 도착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피드백과 A.I 학습기록을 하나로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· 한 장 요약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이렇게 채워집니다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1323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23744"/>
            <a:ext cx="1431036" cy="894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95144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427732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574036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574036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537460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2523744"/>
            <a:ext cx="1431036" cy="9034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55948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4288536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434840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398264" y="2487168"/>
            <a:ext cx="1504188" cy="992831"/>
          </a:xfrm>
          <a:prstGeom prst="roundRect">
            <a:avLst>
              <a:gd name="adj" fmla="val 73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23744"/>
            <a:ext cx="1431036" cy="91967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16752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149340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295644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295644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· 단어장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259068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523744"/>
            <a:ext cx="1431036" cy="89487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77556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8010144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156448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156448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119872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523744"/>
            <a:ext cx="1431036" cy="903461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8360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987094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1001725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1001725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· 아바타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998067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7252" y="2523744"/>
            <a:ext cx="1431036" cy="894875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035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3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913632"/>
            <a:ext cx="1723644" cy="107785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6692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5" name="Shape 35"/>
          <p:cNvSpPr/>
          <p:nvPr/>
        </p:nvSpPr>
        <p:spPr>
          <a:xfrm>
            <a:off x="2391156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8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732" y="3913632"/>
            <a:ext cx="1723644" cy="1077852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2427732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4251960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9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8536" y="3913632"/>
            <a:ext cx="1723644" cy="1077852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4288536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6112764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10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49340" y="3913632"/>
            <a:ext cx="1723644" cy="1077852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149340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54" name="Shape 41"/>
          <p:cNvSpPr/>
          <p:nvPr/>
        </p:nvSpPr>
        <p:spPr>
          <a:xfrm>
            <a:off x="7973568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1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13632"/>
            <a:ext cx="1723644" cy="1077852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8010144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983437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12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0948" y="3913632"/>
            <a:ext cx="1723644" cy="1077852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87094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950" dirty="0"/>
          </a:p>
        </p:txBody>
      </p:sp>
      <p:sp>
        <p:nvSpPr>
          <p:cNvPr id="60" name="Shape 45"/>
          <p:cNvSpPr/>
          <p:nvPr/>
        </p:nvSpPr>
        <p:spPr>
          <a:xfrm>
            <a:off x="566928" y="5431536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2000" dirty="0"/>
          </a:p>
        </p:txBody>
      </p:sp>
      <p:sp>
        <p:nvSpPr>
          <p:cNvPr id="62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(1/2)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지도의 효과를, A.I로 매일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(1984) · VanLehn (2011)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048256"/>
            <a:ext cx="5632704" cy="2560320"/>
          </a:xfrm>
          <a:prstGeom prst="roundRect">
            <a:avLst>
              <a:gd name="adj" fmla="val 3571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2103120"/>
          <a:ext cx="5522976" cy="2450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4663440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지능형 튜터링(0.76)이 인간 튜터(0.79)에 근접 — 확장 가능한 개인화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(1978)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(ZPD)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893808" y="210312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040112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040112" y="23774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9893808" y="274320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040112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0040112" y="301752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힌트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93808" y="338328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0112" y="3438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0040112" y="365760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오르면 힌트↓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9893808" y="402336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40112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10040112" y="429768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 상시 측정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55664" y="4663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6928" y="502920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1:1로, 나머지 시간은 A.I 콘텐츠가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566928" y="59618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  ·  Clark, Tanner-Smith &amp; Killingsworth (2016). RER, 86(1), 79–122.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(2/2)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991295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91295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Krashen · Swain · Ebbinghaus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말하게 하고, 남게 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0352" y="2011680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256"/>
            <a:ext cx="5632704" cy="12590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529584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3529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2724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(1959·1965)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9028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6928" y="415137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12724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59028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 진단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66928" y="477316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731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12724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59028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 · Cepeda · Roediger · Sweller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419088" y="2011680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5175504" cy="288349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455664" y="495604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656832" y="4956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772400" y="4956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950976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단어 퀴즈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455664" y="548640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56832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7772400" y="5486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맞혀 봐야 남는다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950976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455664" y="6016752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656832" y="6016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7772400" y="6016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부하를 줄인다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09760" y="6016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66928" y="546811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546811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 · Ryan &amp; Deci (2000) · Csikszentmihalyi (1990) · Dweck (2006) · Bandura (1977)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3152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83464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2975458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283464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5219395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283464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7463333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283464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37360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복습</a:t>
            </a:r>
            <a:endParaRPr lang="en-US" sz="1450" dirty="0"/>
          </a:p>
        </p:txBody>
      </p:sp>
      <p:sp>
        <p:nvSpPr>
          <p:cNvPr id="35" name="Shape 28"/>
          <p:cNvSpPr/>
          <p:nvPr/>
        </p:nvSpPr>
        <p:spPr>
          <a:xfrm>
            <a:off x="970727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283464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352544"/>
            <a:ext cx="2079346" cy="13002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2774290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0866" y="4352544"/>
            <a:ext cx="2079346" cy="13002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5018227" y="4315968"/>
            <a:ext cx="2152498" cy="1385912"/>
          </a:xfrm>
          <a:prstGeom prst="roundRect">
            <a:avLst>
              <a:gd name="adj" fmla="val 52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03" y="4352544"/>
            <a:ext cx="2079346" cy="131276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46" name="Shape 35"/>
          <p:cNvSpPr/>
          <p:nvPr/>
        </p:nvSpPr>
        <p:spPr>
          <a:xfrm>
            <a:off x="7262165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8741" y="4352544"/>
            <a:ext cx="2079346" cy="13002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9506102" y="4315968"/>
            <a:ext cx="2152498" cy="1409478"/>
          </a:xfrm>
          <a:prstGeom prst="roundRect">
            <a:avLst>
              <a:gd name="adj" fmla="val 5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2678" y="4352544"/>
            <a:ext cx="2079346" cy="133632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50" dirty="0"/>
          </a:p>
        </p:txBody>
      </p:sp>
      <p:sp>
        <p:nvSpPr>
          <p:cNvPr id="52" name="Text 39"/>
          <p:cNvSpPr/>
          <p:nvPr/>
        </p:nvSpPr>
        <p:spPr>
          <a:xfrm>
            <a:off x="566928" y="60350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전후로 A.I 학습 콘텐츠가 이어집니다.</a:t>
            </a:r>
            <a:endParaRPr lang="en-US" sz="125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 — 신청 · 변경 · 관리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Admin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직접 고르고, 일정은 언제든 바꿉니다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54480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› 교사 › 결제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54480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54480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 · 시간 · 교사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1회~5회 · 20분 블록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향후 발전계획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학습의 주인공이 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미션마다 EXP가 쌓이고 5단계까지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게임·수업·리포트 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콘텐츠가 스스로 판을 짭니다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문제를 A.I가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1284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59689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2980944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1284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59689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298094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0352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3749040"/>
            <a:ext cx="2606040" cy="1463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66928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337560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3749040"/>
            <a:ext cx="2606040" cy="14630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374136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144768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3749040"/>
            <a:ext cx="2606040" cy="1463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181344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951976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3749040"/>
            <a:ext cx="2606040" cy="1463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988552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66928" y="561441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66928" y="561441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로드맵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4963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14가지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29900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48386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· 연속 학습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 · 월간 리포트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4963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29900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48386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39776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49631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29900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48386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39776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49631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29900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48386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84632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3337560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28917" b="-28917"/>
          <a:stretch/>
        </p:blipFill>
        <p:spPr>
          <a:xfrm>
            <a:off x="3374136" y="484632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144768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84632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8951976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28167" b="-28167"/>
          <a:stretch/>
        </p:blipFill>
        <p:spPr>
          <a:xfrm>
            <a:off x="8988552" y="484632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566928" y="6272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계획이며 일정은 변동될 수 있습니다.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1498" b="-1498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1992" b="-1992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5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6"/>
          <a:srcRect l="0" r="0" t="1498" b="-1498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3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097280" y="32004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15" name="Text 6"/>
          <p:cNvSpPr/>
          <p:nvPr/>
        </p:nvSpPr>
        <p:spPr>
          <a:xfrm>
            <a:off x="1097280" y="38953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1500" dirty="0"/>
          </a:p>
        </p:txBody>
      </p:sp>
      <p:sp>
        <p:nvSpPr>
          <p:cNvPr id="16" name="Shape 7"/>
          <p:cNvSpPr/>
          <p:nvPr/>
        </p:nvSpPr>
        <p:spPr>
          <a:xfrm>
            <a:off x="221284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221284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491032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0"/>
          <p:cNvSpPr/>
          <p:nvPr/>
        </p:nvSpPr>
        <p:spPr>
          <a:xfrm>
            <a:off x="491032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7607808" y="45171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7607808" y="45171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2" name="Text 13"/>
          <p:cNvSpPr/>
          <p:nvPr/>
        </p:nvSpPr>
        <p:spPr>
          <a:xfrm>
            <a:off x="1097280" y="54864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1097280" y="585216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2026-08-17T06:15:54Z</dcterms:created>
  <dcterms:modified xsi:type="dcterms:W3CDTF">2026-08-17T06:15:54Z</dcterms:modified>
</cp:coreProperties>
</file>