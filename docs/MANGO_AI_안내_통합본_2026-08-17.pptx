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1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효과크기</c:v>
                </c:pt>
              </c:strCache>
            </c:strRef>
          </c:tx>
          <c:spPr>
            <a:solidFill>
              <a:srgbClr val="38BDF8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950" u="none">
                    <a:solidFill>
                      <a:srgbClr val="FFFFFF"/>
                    </a:solidFill>
                    <a:latin typeface="맑은 고딕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1:1 개인교습
Bloom 1984</c:v>
                  </c:pt>
                  <c:pt idx="1">
                    <c:v>인간 튜터
VanLehn 2011</c:v>
                  </c:pt>
                  <c:pt idx="2">
                    <c:v>지능형 튜터링
VanLehn 2011</c:v>
                  </c:pt>
                  <c:pt idx="3">
                    <c:v>디지털 게임
Clark et al. 2016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0.79</c:v>
                </c:pt>
                <c:pt idx="2">
                  <c:v>0.76</c:v>
                </c:pt>
                <c:pt idx="3">
                  <c:v>0.33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950" u="none">
                  <a:solidFill>
                    <a:srgbClr val="FFFFFF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CBD5E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.4"/>
          <c:min val="0"/>
        </c:scaling>
        <c:delete val="0"/>
        <c:axPos val="b"/>
        <c:majorGridlines>
          <c:spPr>
            <a:ln w="12700" cap="flat">
              <a:solidFill>
                <a:srgbClr val="222C4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94A3B8"/>
                </a:solidFill>
                <a:latin typeface="맑은 고딕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E142A"/>
        </a:solidFill>
        <a:ln>
          <a:noFill/>
        </a:ln>
        <a:effectLst/>
      </c:spPr>
    </c:plotArea>
    <c:plotVisOnly val="1"/>
    <c:dispBlanksAs val="span"/>
  </c:chart>
  <c:spPr>
    <a:solidFill>
      <a:srgbClr val="0E142A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A.I 콘텐츠 수·게임 수는 서비스 내 집계 기준입니다.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장이 PART 1 전체의 지도 역할을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Bloom(1984)의 2σ는 이후 재현 연구에서 축소 보고되었습니다.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촘스키 본인은 교수법 처방을 하지 않았다는 단서를 슬라이드에 넣었습니다.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image" Target="../media/image-3-4.jpg"/><Relationship Id="rId5" Type="http://schemas.openxmlformats.org/officeDocument/2006/relationships/image" Target="../media/image-3-5.jpg"/><Relationship Id="rId6" Type="http://schemas.openxmlformats.org/officeDocument/2006/relationships/image" Target="../media/image-3-6.jpg"/><Relationship Id="rId7" Type="http://schemas.openxmlformats.org/officeDocument/2006/relationships/image" Target="../media/image-3-7.jpg"/><Relationship Id="rId8" Type="http://schemas.openxmlformats.org/officeDocument/2006/relationships/image" Target="../media/image-3-8.jpg"/><Relationship Id="rId9" Type="http://schemas.openxmlformats.org/officeDocument/2006/relationships/image" Target="../media/image-3-9.jpg"/><Relationship Id="rId10" Type="http://schemas.openxmlformats.org/officeDocument/2006/relationships/image" Target="../media/image-3-10.jpg"/><Relationship Id="rId11" Type="http://schemas.openxmlformats.org/officeDocument/2006/relationships/image" Target="../media/image-3-11.jpg"/><Relationship Id="rId12" Type="http://schemas.openxmlformats.org/officeDocument/2006/relationships/image" Target="../media/image-3-12.jpg"/><Relationship Id="rId13" Type="http://schemas.openxmlformats.org/officeDocument/2006/relationships/image" Target="../media/image-3-13.jp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image" Target="../media/image-4-3.jpg"/><Relationship Id="rId4" Type="http://schemas.openxmlformats.org/officeDocument/2006/relationships/image" Target="../media/image-4-4.jpg"/><Relationship Id="rId5" Type="http://schemas.openxmlformats.org/officeDocument/2006/relationships/image" Target="../media/image-4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image" Target="../media/image-5-4.jpg"/><Relationship Id="rId5" Type="http://schemas.openxmlformats.org/officeDocument/2006/relationships/image" Target="../media/image-5-5.jpg"/><Relationship Id="rId6" Type="http://schemas.openxmlformats.org/officeDocument/2006/relationships/image" Target="../media/image-5-6.jpg"/><Relationship Id="rId7" Type="http://schemas.openxmlformats.org/officeDocument/2006/relationships/image" Target="../media/image-5-7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jpg"/><Relationship Id="rId3" Type="http://schemas.openxmlformats.org/officeDocument/2006/relationships/image" Target="../media/image-15-3.jpg"/><Relationship Id="rId4" Type="http://schemas.openxmlformats.org/officeDocument/2006/relationships/image" Target="../media/image-15-4.jpg"/><Relationship Id="rId5" Type="http://schemas.openxmlformats.org/officeDocument/2006/relationships/image" Target="../media/image-15-5.jpg"/><Relationship Id="rId6" Type="http://schemas.openxmlformats.org/officeDocument/2006/relationships/image" Target="../media/image-15-6.jpg"/><Relationship Id="rId7" Type="http://schemas.openxmlformats.org/officeDocument/2006/relationships/image" Target="../media/image-15-7.jpg"/><Relationship Id="rId8" Type="http://schemas.openxmlformats.org/officeDocument/2006/relationships/image" Target="../media/image-15-8.jpg"/><Relationship Id="rId9" Type="http://schemas.openxmlformats.org/officeDocument/2006/relationships/image" Target="../media/image-15-9.jpg"/><Relationship Id="rId10" Type="http://schemas.openxmlformats.org/officeDocument/2006/relationships/image" Target="../media/image-15-10.jpg"/><Relationship Id="rId11" Type="http://schemas.openxmlformats.org/officeDocument/2006/relationships/image" Target="../media/image-15-11.jpg"/><Relationship Id="rId12" Type="http://schemas.openxmlformats.org/officeDocument/2006/relationships/image" Target="../media/image-15-12.jpg"/><Relationship Id="rId13" Type="http://schemas.openxmlformats.org/officeDocument/2006/relationships/image" Target="../media/image-15-13.jpg"/><Relationship Id="rId14" Type="http://schemas.openxmlformats.org/officeDocument/2006/relationships/image" Target="../media/image-15-14.jpg"/><Relationship Id="rId15" Type="http://schemas.openxmlformats.org/officeDocument/2006/relationships/image" Target="../media/image-15-15.jpg"/><Relationship Id="rId16" Type="http://schemas.openxmlformats.org/officeDocument/2006/relationships/image" Target="../media/image-15-16.jpg"/><Relationship Id="rId17" Type="http://schemas.openxmlformats.org/officeDocument/2006/relationships/image" Target="../media/image-15-17.jpg"/><Relationship Id="rId18" Type="http://schemas.openxmlformats.org/officeDocument/2006/relationships/image" Target="../media/image-15-18.jpg"/><Relationship Id="rId19" Type="http://schemas.openxmlformats.org/officeDocument/2006/relationships/image" Target="../media/image-15-19.jpg"/><Relationship Id="rId20" Type="http://schemas.openxmlformats.org/officeDocument/2006/relationships/image" Target="../media/image-15-20.jpg"/><Relationship Id="rId21" Type="http://schemas.openxmlformats.org/officeDocument/2006/relationships/image" Target="../media/image-15-21.jpg"/><Relationship Id="rId22" Type="http://schemas.openxmlformats.org/officeDocument/2006/relationships/image" Target="../media/image-15-22.jpg"/><Relationship Id="rId23" Type="http://schemas.openxmlformats.org/officeDocument/2006/relationships/slideLayout" Target="../slideLayouts/slideLayout1.xml"/><Relationship Id="rId2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jpg"/><Relationship Id="rId3" Type="http://schemas.openxmlformats.org/officeDocument/2006/relationships/image" Target="../media/image-16-3.jpg"/><Relationship Id="rId4" Type="http://schemas.openxmlformats.org/officeDocument/2006/relationships/image" Target="../media/image-16-4.jpg"/><Relationship Id="rId5" Type="http://schemas.openxmlformats.org/officeDocument/2006/relationships/image" Target="../media/image-16-5.jpg"/><Relationship Id="rId6" Type="http://schemas.openxmlformats.org/officeDocument/2006/relationships/image" Target="../media/image-16-6.jpg"/><Relationship Id="rId7" Type="http://schemas.openxmlformats.org/officeDocument/2006/relationships/image" Target="../media/image-16-7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jpg"/><Relationship Id="rId3" Type="http://schemas.openxmlformats.org/officeDocument/2006/relationships/image" Target="../media/image-21-3.jpg"/><Relationship Id="rId4" Type="http://schemas.openxmlformats.org/officeDocument/2006/relationships/image" Target="../media/image-21-4.jpg"/><Relationship Id="rId5" Type="http://schemas.openxmlformats.org/officeDocument/2006/relationships/image" Target="../media/image-21-5.jpg"/><Relationship Id="rId6" Type="http://schemas.openxmlformats.org/officeDocument/2006/relationships/image" Target="../media/image-21-6.jpg"/><Relationship Id="rId7" Type="http://schemas.openxmlformats.org/officeDocument/2006/relationships/image" Target="../media/image-21-7.jpg"/><Relationship Id="rId8" Type="http://schemas.openxmlformats.org/officeDocument/2006/relationships/image" Target="../media/image-21-8.jpg"/><Relationship Id="rId9" Type="http://schemas.openxmlformats.org/officeDocument/2006/relationships/image" Target="../media/image-21-9.jpg"/><Relationship Id="rId10" Type="http://schemas.openxmlformats.org/officeDocument/2006/relationships/image" Target="../media/image-21-10.jpg"/><Relationship Id="rId11" Type="http://schemas.openxmlformats.org/officeDocument/2006/relationships/image" Target="../media/image-21-11.jpg"/><Relationship Id="rId12" Type="http://schemas.openxmlformats.org/officeDocument/2006/relationships/image" Target="../media/image-21-12.jpg"/><Relationship Id="rId13" Type="http://schemas.openxmlformats.org/officeDocument/2006/relationships/image" Target="../media/image-21-13.jp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22-1.jpg"/><Relationship Id="rId3" Type="http://schemas.openxmlformats.org/officeDocument/2006/relationships/image" Target="../media/image-2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jpg"/><Relationship Id="rId3" Type="http://schemas.openxmlformats.org/officeDocument/2006/relationships/image" Target="../media/image-24-3.jpg"/><Relationship Id="rId4" Type="http://schemas.openxmlformats.org/officeDocument/2006/relationships/image" Target="../media/image-24-4.jpg"/><Relationship Id="rId5" Type="http://schemas.openxmlformats.org/officeDocument/2006/relationships/image" Target="../media/image-24-5.jpg"/><Relationship Id="rId6" Type="http://schemas.openxmlformats.org/officeDocument/2006/relationships/image" Target="../media/image-24-6.jpg"/><Relationship Id="rId7" Type="http://schemas.openxmlformats.org/officeDocument/2006/relationships/image" Target="../media/image-24-7.jpg"/><Relationship Id="rId8" Type="http://schemas.openxmlformats.org/officeDocument/2006/relationships/image" Target="../media/image-24-8.jpg"/><Relationship Id="rId9" Type="http://schemas.openxmlformats.org/officeDocument/2006/relationships/image" Target="../media/image-24-9.jpg"/><Relationship Id="rId10" Type="http://schemas.openxmlformats.org/officeDocument/2006/relationships/image" Target="../media/image-24-10.jpg"/><Relationship Id="rId11" Type="http://schemas.openxmlformats.org/officeDocument/2006/relationships/image" Target="../media/image-24-11.jp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image" Target="../media/image-25-2.jpg"/><Relationship Id="rId3" Type="http://schemas.openxmlformats.org/officeDocument/2006/relationships/image" Target="../media/image-25-3.jpg"/><Relationship Id="rId4" Type="http://schemas.openxmlformats.org/officeDocument/2006/relationships/image" Target="../media/image-25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image" Target="../media/image-2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image" Target="../media/image-27-2.jpg"/><Relationship Id="rId3" Type="http://schemas.openxmlformats.org/officeDocument/2006/relationships/image" Target="../media/image-27-3.jpg"/><Relationship Id="rId4" Type="http://schemas.openxmlformats.org/officeDocument/2006/relationships/image" Target="../media/image-27-4.jpg"/><Relationship Id="rId5" Type="http://schemas.openxmlformats.org/officeDocument/2006/relationships/image" Target="../media/image-27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image" Target="../media/image-28-2.jpg"/><Relationship Id="rId3" Type="http://schemas.openxmlformats.org/officeDocument/2006/relationships/image" Target="../media/image-28-3.jpg"/><Relationship Id="rId4" Type="http://schemas.openxmlformats.org/officeDocument/2006/relationships/image" Target="../media/image-28-4.jpg"/><Relationship Id="rId5" Type="http://schemas.openxmlformats.org/officeDocument/2006/relationships/image" Target="../media/image-28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cover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tmp/claude-0/-home-user-mangoiweb/ca835eb4-1670-5fc1-a29a-2fc77598fea3/scratchpad/deck_img/masco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9824" y="1755648"/>
            <a:ext cx="1298448" cy="106070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097280" y="2889504"/>
            <a:ext cx="9994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MANGO AI</a:t>
            </a:r>
            <a:endParaRPr lang="en-US" sz="5400" dirty="0"/>
          </a:p>
        </p:txBody>
      </p:sp>
      <p:sp>
        <p:nvSpPr>
          <p:cNvPr id="5" name="Text 1"/>
          <p:cNvSpPr/>
          <p:nvPr/>
        </p:nvSpPr>
        <p:spPr>
          <a:xfrm>
            <a:off x="1097280" y="3840480"/>
            <a:ext cx="9994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 안내</a:t>
            </a:r>
            <a:endParaRPr lang="en-US" sz="2200" dirty="0"/>
          </a:p>
        </p:txBody>
      </p:sp>
      <p:sp>
        <p:nvSpPr>
          <p:cNvPr id="6" name="Text 2"/>
          <p:cNvSpPr/>
          <p:nvPr/>
        </p:nvSpPr>
        <p:spPr>
          <a:xfrm>
            <a:off x="1097280" y="4389120"/>
            <a:ext cx="99943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 재미가 의지를 이깁니다 »</a:t>
            </a:r>
            <a:endParaRPr lang="en-US" sz="2600" dirty="0"/>
          </a:p>
        </p:txBody>
      </p:sp>
      <p:sp>
        <p:nvSpPr>
          <p:cNvPr id="7" name="Text 3"/>
          <p:cNvSpPr/>
          <p:nvPr/>
        </p:nvSpPr>
        <p:spPr>
          <a:xfrm>
            <a:off x="1097280" y="5779008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www.mangoi.ai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cover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CONTENTS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545775" y="384048"/>
            <a:ext cx="1078992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545775" y="384048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목차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66928" y="1828800"/>
            <a:ext cx="2688336" cy="2926080"/>
          </a:xfrm>
          <a:prstGeom prst="roundRect">
            <a:avLst>
              <a:gd name="adj" fmla="val 340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04672" y="1828800"/>
            <a:ext cx="566928" cy="82296"/>
          </a:xfrm>
          <a:prstGeom prst="roundRect">
            <a:avLst>
              <a:gd name="adj" fmla="val 44444"/>
            </a:avLst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4672" y="2212848"/>
            <a:ext cx="1463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804672" y="2980944"/>
            <a:ext cx="22128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804672" y="3493008"/>
            <a:ext cx="22311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말하기 · 쓰기 · 어휘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사고력 · 게임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474720" y="1828800"/>
            <a:ext cx="2688336" cy="2926080"/>
          </a:xfrm>
          <a:prstGeom prst="roundRect">
            <a:avLst>
              <a:gd name="adj" fmla="val 340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712464" y="1828800"/>
            <a:ext cx="566928" cy="82296"/>
          </a:xfrm>
          <a:prstGeom prst="roundRect">
            <a:avLst>
              <a:gd name="adj" fmla="val 44444"/>
            </a:avLst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712464" y="2212848"/>
            <a:ext cx="1463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4000" dirty="0"/>
          </a:p>
        </p:txBody>
      </p:sp>
      <p:sp>
        <p:nvSpPr>
          <p:cNvPr id="15" name="Text 12"/>
          <p:cNvSpPr/>
          <p:nvPr/>
        </p:nvSpPr>
        <p:spPr>
          <a:xfrm>
            <a:off x="3712464" y="2980944"/>
            <a:ext cx="22128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이렇게 만들었나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3712464" y="3493008"/>
            <a:ext cx="22311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교육학 · 인지심리학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382512" y="1828800"/>
            <a:ext cx="2688336" cy="2926080"/>
          </a:xfrm>
          <a:prstGeom prst="roundRect">
            <a:avLst>
              <a:gd name="adj" fmla="val 340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620256" y="1828800"/>
            <a:ext cx="566928" cy="82296"/>
          </a:xfrm>
          <a:prstGeom prst="roundRect">
            <a:avLst>
              <a:gd name="adj" fmla="val 44444"/>
            </a:avLst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620256" y="2212848"/>
            <a:ext cx="1463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620256" y="2980944"/>
            <a:ext cx="22128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사용방법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6620256" y="3493008"/>
            <a:ext cx="22311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레벨테스트 → 수업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복습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290304" y="1828800"/>
            <a:ext cx="2688336" cy="2926080"/>
          </a:xfrm>
          <a:prstGeom prst="roundRect">
            <a:avLst>
              <a:gd name="adj" fmla="val 340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9528048" y="1828800"/>
            <a:ext cx="566928" cy="82296"/>
          </a:xfrm>
          <a:prstGeom prst="roundRect">
            <a:avLst>
              <a:gd name="adj" fmla="val 44444"/>
            </a:avLst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528048" y="2212848"/>
            <a:ext cx="1463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4000" dirty="0"/>
          </a:p>
        </p:txBody>
      </p:sp>
      <p:sp>
        <p:nvSpPr>
          <p:cNvPr id="25" name="Text 22"/>
          <p:cNvSpPr/>
          <p:nvPr/>
        </p:nvSpPr>
        <p:spPr>
          <a:xfrm>
            <a:off x="9528048" y="2980944"/>
            <a:ext cx="22128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향후 발전계획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9528048" y="3493008"/>
            <a:ext cx="22311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아바타 진화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개인화 AI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cover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AT A GLANCE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9613087" y="384048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613087" y="38404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Learning Contents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수업이 없는 시간을 채우는 A.I 콘텐츠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66928" y="1536192"/>
            <a:ext cx="2688336" cy="1005840"/>
          </a:xfrm>
          <a:prstGeom prst="roundRect">
            <a:avLst>
              <a:gd name="adj" fmla="val 909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645920"/>
            <a:ext cx="23225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14가지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49808" y="2084832"/>
            <a:ext cx="2322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474720" y="1536192"/>
            <a:ext cx="2688336" cy="1005840"/>
          </a:xfrm>
          <a:prstGeom prst="roundRect">
            <a:avLst>
              <a:gd name="adj" fmla="val 909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657600" y="1645920"/>
            <a:ext cx="23225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21종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3657600" y="2084832"/>
            <a:ext cx="2322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언어 학습 게임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382512" y="1536192"/>
            <a:ext cx="2688336" cy="1005840"/>
          </a:xfrm>
          <a:prstGeom prst="roundRect">
            <a:avLst>
              <a:gd name="adj" fmla="val 909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565392" y="1645920"/>
            <a:ext cx="23225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24시간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6565392" y="2084832"/>
            <a:ext cx="2322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언제든 말 걸 상대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9290304" y="1536192"/>
            <a:ext cx="2688336" cy="1005840"/>
          </a:xfrm>
          <a:prstGeom prst="roundRect">
            <a:avLst>
              <a:gd name="adj" fmla="val 909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473184" y="1645920"/>
            <a:ext cx="23225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2개 언어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9473184" y="2084832"/>
            <a:ext cx="2322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 · 중국어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30352" y="2724912"/>
            <a:ext cx="1801368" cy="1153863"/>
          </a:xfrm>
          <a:prstGeom prst="roundRect">
            <a:avLst>
              <a:gd name="adj" fmla="val 634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0" name="Image 1" descr="/tmp/claude-0/-home-user-mangoiweb/ca835eb4-1670-5fc1-a29a-2fc77598fea3/scratchpad/deck_img/speech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761488"/>
            <a:ext cx="1728216" cy="1080711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566928" y="3931920"/>
            <a:ext cx="1728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음성코치</a:t>
            </a:r>
            <a:endParaRPr lang="en-US" sz="900" dirty="0"/>
          </a:p>
        </p:txBody>
      </p:sp>
      <p:sp>
        <p:nvSpPr>
          <p:cNvPr id="22" name="Shape 18"/>
          <p:cNvSpPr/>
          <p:nvPr/>
        </p:nvSpPr>
        <p:spPr>
          <a:xfrm>
            <a:off x="2395728" y="2724912"/>
            <a:ext cx="1801368" cy="1164232"/>
          </a:xfrm>
          <a:prstGeom prst="roundRect">
            <a:avLst>
              <a:gd name="adj" fmla="val 6283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3" name="Image 2" descr="/tmp/claude-0/-home-user-mangoiweb/ca835eb4-1670-5fc1-a29a-2fc77598fea3/scratchpad/deck_img/aifriend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2304" y="2761488"/>
            <a:ext cx="1728216" cy="109108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2432304" y="3931920"/>
            <a:ext cx="1728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친구 대화</a:t>
            </a:r>
            <a:endParaRPr lang="en-US" sz="900" dirty="0"/>
          </a:p>
        </p:txBody>
      </p:sp>
      <p:sp>
        <p:nvSpPr>
          <p:cNvPr id="25" name="Shape 20"/>
          <p:cNvSpPr/>
          <p:nvPr/>
        </p:nvSpPr>
        <p:spPr>
          <a:xfrm>
            <a:off x="4261104" y="2724912"/>
            <a:ext cx="1801368" cy="1153863"/>
          </a:xfrm>
          <a:prstGeom prst="roundRect">
            <a:avLst>
              <a:gd name="adj" fmla="val 634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6" name="Image 3" descr="/tmp/claude-0/-home-user-mangoiweb/ca835eb4-1670-5fc1-a29a-2fc77598fea3/scratchpad/deck_img/aiwrite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80" y="2761488"/>
            <a:ext cx="1728216" cy="1080711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4297680" y="3931920"/>
            <a:ext cx="1728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영작 첨삭</a:t>
            </a:r>
            <a:endParaRPr lang="en-US" sz="900" dirty="0"/>
          </a:p>
        </p:txBody>
      </p:sp>
      <p:sp>
        <p:nvSpPr>
          <p:cNvPr id="28" name="Shape 22"/>
          <p:cNvSpPr/>
          <p:nvPr/>
        </p:nvSpPr>
        <p:spPr>
          <a:xfrm>
            <a:off x="6126480" y="2724912"/>
            <a:ext cx="1801368" cy="1153863"/>
          </a:xfrm>
          <a:prstGeom prst="roundRect">
            <a:avLst>
              <a:gd name="adj" fmla="val 634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9" name="Image 4" descr="/tmp/claude-0/-home-user-mangoiweb/ca835eb4-1670-5fc1-a29a-2fc77598fea3/scratchpad/deck_img/vocab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63056" y="2761488"/>
            <a:ext cx="1728216" cy="1080711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6163056" y="3931920"/>
            <a:ext cx="1728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단어장</a:t>
            </a:r>
            <a:endParaRPr lang="en-US" sz="900" dirty="0"/>
          </a:p>
        </p:txBody>
      </p:sp>
      <p:sp>
        <p:nvSpPr>
          <p:cNvPr id="31" name="Shape 24"/>
          <p:cNvSpPr/>
          <p:nvPr/>
        </p:nvSpPr>
        <p:spPr>
          <a:xfrm>
            <a:off x="7991856" y="2724912"/>
            <a:ext cx="1801368" cy="1153863"/>
          </a:xfrm>
          <a:prstGeom prst="roundRect">
            <a:avLst>
              <a:gd name="adj" fmla="val 634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32" name="Image 5" descr="/tmp/claude-0/-home-user-mangoiweb/ca835eb4-1670-5fc1-a29a-2fc77598fea3/scratchpad/deck_img/microquiz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28432" y="2761488"/>
            <a:ext cx="1728216" cy="1080711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8028432" y="3931920"/>
            <a:ext cx="1728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단어 퀴즈</a:t>
            </a:r>
            <a:endParaRPr lang="en-US" sz="900" dirty="0"/>
          </a:p>
        </p:txBody>
      </p:sp>
      <p:sp>
        <p:nvSpPr>
          <p:cNvPr id="34" name="Shape 26"/>
          <p:cNvSpPr/>
          <p:nvPr/>
        </p:nvSpPr>
        <p:spPr>
          <a:xfrm>
            <a:off x="9857232" y="2724912"/>
            <a:ext cx="1801368" cy="1153863"/>
          </a:xfrm>
          <a:prstGeom prst="roundRect">
            <a:avLst>
              <a:gd name="adj" fmla="val 634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35" name="Image 6" descr="/tmp/claude-0/-home-user-mangoiweb/ca835eb4-1670-5fc1-a29a-2fc77598fea3/scratchpad/deck_img/judgment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93808" y="2761488"/>
            <a:ext cx="1728216" cy="1080711"/>
          </a:xfrm>
          <a:prstGeom prst="rect">
            <a:avLst/>
          </a:prstGeom>
        </p:spPr>
      </p:pic>
      <p:sp>
        <p:nvSpPr>
          <p:cNvPr id="36" name="Text 27"/>
          <p:cNvSpPr/>
          <p:nvPr/>
        </p:nvSpPr>
        <p:spPr>
          <a:xfrm>
            <a:off x="9893808" y="3931920"/>
            <a:ext cx="1728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판단력 훈련</a:t>
            </a:r>
            <a:endParaRPr lang="en-US" sz="900" dirty="0"/>
          </a:p>
        </p:txBody>
      </p:sp>
      <p:sp>
        <p:nvSpPr>
          <p:cNvPr id="37" name="Shape 28"/>
          <p:cNvSpPr/>
          <p:nvPr/>
        </p:nvSpPr>
        <p:spPr>
          <a:xfrm>
            <a:off x="530352" y="4297680"/>
            <a:ext cx="1801368" cy="1153863"/>
          </a:xfrm>
          <a:prstGeom prst="roundRect">
            <a:avLst>
              <a:gd name="adj" fmla="val 634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38" name="Image 7" descr="/tmp/claude-0/-home-user-mangoiweb/ca835eb4-1670-5fc1-a29a-2fc77598fea3/scratchpad/deck_img/warmup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6928" y="4334256"/>
            <a:ext cx="1728216" cy="1080711"/>
          </a:xfrm>
          <a:prstGeom prst="rect">
            <a:avLst/>
          </a:prstGeom>
        </p:spPr>
      </p:pic>
      <p:sp>
        <p:nvSpPr>
          <p:cNvPr id="39" name="Text 29"/>
          <p:cNvSpPr/>
          <p:nvPr/>
        </p:nvSpPr>
        <p:spPr>
          <a:xfrm>
            <a:off x="566928" y="5504688"/>
            <a:ext cx="1728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웜업</a:t>
            </a:r>
            <a:endParaRPr lang="en-US" sz="900" dirty="0"/>
          </a:p>
        </p:txBody>
      </p:sp>
      <p:sp>
        <p:nvSpPr>
          <p:cNvPr id="40" name="Shape 30"/>
          <p:cNvSpPr/>
          <p:nvPr/>
        </p:nvSpPr>
        <p:spPr>
          <a:xfrm>
            <a:off x="2395728" y="4297680"/>
            <a:ext cx="1801368" cy="1153863"/>
          </a:xfrm>
          <a:prstGeom prst="roundRect">
            <a:avLst>
              <a:gd name="adj" fmla="val 634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41" name="Image 8" descr="/tmp/claude-0/-home-user-mangoiweb/ca835eb4-1670-5fc1-a29a-2fc77598fea3/scratchpad/deck_img/games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32304" y="4334256"/>
            <a:ext cx="1728216" cy="1080711"/>
          </a:xfrm>
          <a:prstGeom prst="rect">
            <a:avLst/>
          </a:prstGeom>
        </p:spPr>
      </p:pic>
      <p:sp>
        <p:nvSpPr>
          <p:cNvPr id="42" name="Text 31"/>
          <p:cNvSpPr/>
          <p:nvPr/>
        </p:nvSpPr>
        <p:spPr>
          <a:xfrm>
            <a:off x="2432304" y="5504688"/>
            <a:ext cx="1728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게임</a:t>
            </a:r>
            <a:endParaRPr lang="en-US" sz="900" dirty="0"/>
          </a:p>
        </p:txBody>
      </p:sp>
      <p:sp>
        <p:nvSpPr>
          <p:cNvPr id="43" name="Shape 32"/>
          <p:cNvSpPr/>
          <p:nvPr/>
        </p:nvSpPr>
        <p:spPr>
          <a:xfrm>
            <a:off x="4261104" y="4297680"/>
            <a:ext cx="1801368" cy="1153863"/>
          </a:xfrm>
          <a:prstGeom prst="roundRect">
            <a:avLst>
              <a:gd name="adj" fmla="val 634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44" name="Image 9" descr="/tmp/claude-0/-home-user-mangoiweb/ca835eb4-1670-5fc1-a29a-2fc77598fea3/scratchpad/deck_img/avatar.jp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297680" y="4334256"/>
            <a:ext cx="1728216" cy="1080711"/>
          </a:xfrm>
          <a:prstGeom prst="rect">
            <a:avLst/>
          </a:prstGeom>
        </p:spPr>
      </p:pic>
      <p:sp>
        <p:nvSpPr>
          <p:cNvPr id="45" name="Text 33"/>
          <p:cNvSpPr/>
          <p:nvPr/>
        </p:nvSpPr>
        <p:spPr>
          <a:xfrm>
            <a:off x="4297680" y="5504688"/>
            <a:ext cx="1728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아바타 키우기</a:t>
            </a:r>
            <a:endParaRPr lang="en-US" sz="900" dirty="0"/>
          </a:p>
        </p:txBody>
      </p:sp>
      <p:sp>
        <p:nvSpPr>
          <p:cNvPr id="46" name="Shape 34"/>
          <p:cNvSpPr/>
          <p:nvPr/>
        </p:nvSpPr>
        <p:spPr>
          <a:xfrm>
            <a:off x="6126480" y="4297680"/>
            <a:ext cx="1801368" cy="1153863"/>
          </a:xfrm>
          <a:prstGeom prst="roundRect">
            <a:avLst>
              <a:gd name="adj" fmla="val 634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47" name="Image 10" descr="/tmp/claude-0/-home-user-mangoiweb/ca835eb4-1670-5fc1-a29a-2fc77598fea3/scratchpad/deck_img/streak.jp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163056" y="4334256"/>
            <a:ext cx="1728216" cy="1080711"/>
          </a:xfrm>
          <a:prstGeom prst="rect">
            <a:avLst/>
          </a:prstGeom>
        </p:spPr>
      </p:pic>
      <p:sp>
        <p:nvSpPr>
          <p:cNvPr id="48" name="Text 35"/>
          <p:cNvSpPr/>
          <p:nvPr/>
        </p:nvSpPr>
        <p:spPr>
          <a:xfrm>
            <a:off x="6163056" y="5504688"/>
            <a:ext cx="1728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연속 학습</a:t>
            </a:r>
            <a:endParaRPr lang="en-US" sz="900" dirty="0"/>
          </a:p>
        </p:txBody>
      </p:sp>
      <p:sp>
        <p:nvSpPr>
          <p:cNvPr id="49" name="Shape 36"/>
          <p:cNvSpPr/>
          <p:nvPr/>
        </p:nvSpPr>
        <p:spPr>
          <a:xfrm>
            <a:off x="7991856" y="4297680"/>
            <a:ext cx="1801368" cy="1153863"/>
          </a:xfrm>
          <a:prstGeom prst="roundRect">
            <a:avLst>
              <a:gd name="adj" fmla="val 634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50" name="Image 11" descr="/tmp/claude-0/-home-user-mangoiweb/ca835eb4-1670-5fc1-a29a-2fc77598fea3/scratchpad/deck_img/leveltestai.jp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028432" y="4334256"/>
            <a:ext cx="1728216" cy="1080711"/>
          </a:xfrm>
          <a:prstGeom prst="rect">
            <a:avLst/>
          </a:prstGeom>
        </p:spPr>
      </p:pic>
      <p:sp>
        <p:nvSpPr>
          <p:cNvPr id="51" name="Text 37"/>
          <p:cNvSpPr/>
          <p:nvPr/>
        </p:nvSpPr>
        <p:spPr>
          <a:xfrm>
            <a:off x="8028432" y="5504688"/>
            <a:ext cx="1728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레벨 진단</a:t>
            </a:r>
            <a:endParaRPr lang="en-US" sz="900" dirty="0"/>
          </a:p>
        </p:txBody>
      </p:sp>
      <p:sp>
        <p:nvSpPr>
          <p:cNvPr id="52" name="Shape 38"/>
          <p:cNvSpPr/>
          <p:nvPr/>
        </p:nvSpPr>
        <p:spPr>
          <a:xfrm>
            <a:off x="9857232" y="4297680"/>
            <a:ext cx="1801368" cy="1183819"/>
          </a:xfrm>
          <a:prstGeom prst="roundRect">
            <a:avLst>
              <a:gd name="adj" fmla="val 6179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53" name="Image 12" descr="/tmp/claude-0/-home-user-mangoiweb/ca835eb4-1670-5fc1-a29a-2fc77598fea3/scratchpad/deck_img/parent.jp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893808" y="4334256"/>
            <a:ext cx="1728216" cy="1110667"/>
          </a:xfrm>
          <a:prstGeom prst="rect">
            <a:avLst/>
          </a:prstGeom>
        </p:spPr>
      </p:pic>
      <p:sp>
        <p:nvSpPr>
          <p:cNvPr id="54" name="Text 39"/>
          <p:cNvSpPr/>
          <p:nvPr/>
        </p:nvSpPr>
        <p:spPr>
          <a:xfrm>
            <a:off x="9893808" y="5504688"/>
            <a:ext cx="1728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리포트</a:t>
            </a:r>
            <a:endParaRPr lang="en-US" sz="900" dirty="0"/>
          </a:p>
        </p:txBody>
      </p:sp>
      <p:sp>
        <p:nvSpPr>
          <p:cNvPr id="55" name="Text 40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cover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9923983" y="384048"/>
            <a:ext cx="1700784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923983" y="384048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&amp; Answer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200분, 나머지 42,800분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66928" y="1554480"/>
            <a:ext cx="5394960" cy="2286000"/>
          </a:xfrm>
          <a:prstGeom prst="roundRect">
            <a:avLst>
              <a:gd name="adj" fmla="val 4000"/>
            </a:avLst>
          </a:prstGeom>
          <a:solidFill>
            <a:srgbClr val="1A1230"/>
          </a:solidFill>
          <a:ln w="12700">
            <a:solidFill>
              <a:srgbClr val="4A357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77824" y="1773936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 2회 × 25분 = 월 200분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77824" y="2139696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0.5%</a:t>
            </a:r>
            <a:endParaRPr lang="en-US" sz="6600" dirty="0"/>
          </a:p>
        </p:txBody>
      </p:sp>
      <p:sp>
        <p:nvSpPr>
          <p:cNvPr id="10" name="Text 7"/>
          <p:cNvSpPr/>
          <p:nvPr/>
        </p:nvSpPr>
        <p:spPr>
          <a:xfrm>
            <a:off x="877824" y="32004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달 중 영어를 쓰는 시간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236208" y="1554480"/>
            <a:ext cx="5394960" cy="2286000"/>
          </a:xfrm>
          <a:prstGeom prst="roundRect">
            <a:avLst>
              <a:gd name="adj" fmla="val 4000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547104" y="1773936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망고아이의 답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547104" y="2139696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14가지 A.I 콘텐츠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6547104" y="2889504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수업이 없는 날에도 말하고, 쓰고, 외우고, 게임합니다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30352" y="4078224"/>
            <a:ext cx="2679192" cy="1700784"/>
          </a:xfrm>
          <a:prstGeom prst="roundRect">
            <a:avLst>
              <a:gd name="adj" fmla="val 4301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6" name="Image 1" descr="/tmp/claude-0/-home-user-mangoiweb/ca835eb4-1670-5fc1-a29a-2fc77598fea3/scratchpad/deck_img/warmup.jpg">    </p:cNvPr>
          <p:cNvPicPr>
            <a:picLocks noChangeAspect="1"/>
          </p:cNvPicPr>
          <p:nvPr/>
        </p:nvPicPr>
        <p:blipFill>
          <a:blip r:embed="rId2"/>
          <a:srcRect l="0" r="0" t="62" b="-62"/>
          <a:stretch/>
        </p:blipFill>
        <p:spPr>
          <a:xfrm>
            <a:off x="566928" y="4114800"/>
            <a:ext cx="2606040" cy="1627632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566928" y="5833872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전 · AI 웜업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3337560" y="4078224"/>
            <a:ext cx="2679192" cy="1700784"/>
          </a:xfrm>
          <a:prstGeom prst="roundRect">
            <a:avLst>
              <a:gd name="adj" fmla="val 4301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9" name="Image 2" descr="/tmp/claude-0/-home-user-mangoiweb/ca835eb4-1670-5fc1-a29a-2fc77598fea3/scratchpad/deck_img/speech.jpg">    </p:cNvPr>
          <p:cNvPicPr>
            <a:picLocks noChangeAspect="1"/>
          </p:cNvPicPr>
          <p:nvPr/>
        </p:nvPicPr>
        <p:blipFill>
          <a:blip r:embed="rId3"/>
          <a:srcRect l="0" r="0" t="62" b="-62"/>
          <a:stretch/>
        </p:blipFill>
        <p:spPr>
          <a:xfrm>
            <a:off x="3374136" y="4114800"/>
            <a:ext cx="2606040" cy="162763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3374136" y="5833872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· AI 음성코치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6144768" y="4078224"/>
            <a:ext cx="2679192" cy="1700784"/>
          </a:xfrm>
          <a:prstGeom prst="roundRect">
            <a:avLst>
              <a:gd name="adj" fmla="val 4301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2" name="Image 3" descr="/tmp/claude-0/-home-user-mangoiweb/ca835eb4-1670-5fc1-a29a-2fc77598fea3/scratchpad/deck_img/microquiz.jpg">    </p:cNvPr>
          <p:cNvPicPr>
            <a:picLocks noChangeAspect="1"/>
          </p:cNvPicPr>
          <p:nvPr/>
        </p:nvPicPr>
        <p:blipFill>
          <a:blip r:embed="rId4"/>
          <a:srcRect l="0" r="0" t="62" b="-62"/>
          <a:stretch/>
        </p:blipFill>
        <p:spPr>
          <a:xfrm>
            <a:off x="6181344" y="4114800"/>
            <a:ext cx="2606040" cy="162763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181344" y="5833872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후 · 복습 퀴즈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8951976" y="4078224"/>
            <a:ext cx="2679192" cy="1700784"/>
          </a:xfrm>
          <a:prstGeom prst="roundRect">
            <a:avLst>
              <a:gd name="adj" fmla="val 4301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5" name="Image 4" descr="/tmp/claude-0/-home-user-mangoiweb/ca835eb4-1670-5fc1-a29a-2fc77598fea3/scratchpad/deck_img/games.jpg">    </p:cNvPr>
          <p:cNvPicPr>
            <a:picLocks noChangeAspect="1"/>
          </p:cNvPicPr>
          <p:nvPr/>
        </p:nvPicPr>
        <p:blipFill>
          <a:blip r:embed="rId5"/>
          <a:srcRect l="0" r="0" t="62" b="-62"/>
          <a:stretch/>
        </p:blipFill>
        <p:spPr>
          <a:xfrm>
            <a:off x="8988552" y="4114800"/>
            <a:ext cx="2606040" cy="1627632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8988552" y="5833872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주말 · 학습 게임</a:t>
            </a:r>
            <a:endParaRPr lang="en-US" sz="1000" dirty="0"/>
          </a:p>
        </p:txBody>
      </p:sp>
      <p:sp>
        <p:nvSpPr>
          <p:cNvPr id="27" name="Text 20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cover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CONTENTS MAP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079431" y="384048"/>
            <a:ext cx="1545336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079431" y="38404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AI Contents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기르는가로 나눈 14가지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66928" y="1554480"/>
            <a:ext cx="1723644" cy="2103120"/>
          </a:xfrm>
          <a:prstGeom prst="roundRect">
            <a:avLst>
              <a:gd name="adj" fmla="val 5305"/>
            </a:avLst>
          </a:prstGeom>
          <a:solidFill>
            <a:srgbClr val="1B2036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31520" y="1700784"/>
            <a:ext cx="1394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말하기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49808" y="2139696"/>
            <a:ext cx="109728" cy="109728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32688" y="2066544"/>
            <a:ext cx="12115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음성코치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49808" y="2523744"/>
            <a:ext cx="109728" cy="109728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32688" y="2450592"/>
            <a:ext cx="12115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친구 대화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749808" y="2907792"/>
            <a:ext cx="109728" cy="109728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32688" y="2834640"/>
            <a:ext cx="12115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웜업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2427732" y="1554480"/>
            <a:ext cx="1723644" cy="2103120"/>
          </a:xfrm>
          <a:prstGeom prst="roundRect">
            <a:avLst>
              <a:gd name="adj" fmla="val 5305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2592324" y="1700784"/>
            <a:ext cx="1394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쓰기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2610612" y="2139696"/>
            <a:ext cx="109728" cy="109728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2793492" y="2066544"/>
            <a:ext cx="12115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영작 첨삭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288536" y="1554480"/>
            <a:ext cx="1723644" cy="2103120"/>
          </a:xfrm>
          <a:prstGeom prst="roundRect">
            <a:avLst>
              <a:gd name="adj" fmla="val 5305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453128" y="1700784"/>
            <a:ext cx="1394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어휘 · 문법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4471416" y="2139696"/>
            <a:ext cx="109728" cy="109728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654296" y="2066544"/>
            <a:ext cx="12115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단어장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4471416" y="2523744"/>
            <a:ext cx="109728" cy="109728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54296" y="2450592"/>
            <a:ext cx="12115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단어 퀴즈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4471416" y="2907792"/>
            <a:ext cx="109728" cy="109728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654296" y="2834640"/>
            <a:ext cx="12115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복습 퀴즈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6149340" y="1554480"/>
            <a:ext cx="1723644" cy="2103120"/>
          </a:xfrm>
          <a:prstGeom prst="roundRect">
            <a:avLst>
              <a:gd name="adj" fmla="val 5305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313932" y="1700784"/>
            <a:ext cx="1394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사고력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332220" y="2139696"/>
            <a:ext cx="109728" cy="109728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515100" y="2066544"/>
            <a:ext cx="12115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판단력 훈련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8010144" y="1554480"/>
            <a:ext cx="1723644" cy="2103120"/>
          </a:xfrm>
          <a:prstGeom prst="roundRect">
            <a:avLst>
              <a:gd name="adj" fmla="val 5305"/>
            </a:avLst>
          </a:prstGeom>
          <a:solidFill>
            <a:srgbClr val="1B2036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174736" y="1700784"/>
            <a:ext cx="1394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동기 · 습관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8193024" y="2139696"/>
            <a:ext cx="109728" cy="109728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375904" y="2066544"/>
            <a:ext cx="12115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게임 21종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8193024" y="2523744"/>
            <a:ext cx="109728" cy="109728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8375904" y="2450592"/>
            <a:ext cx="12115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아바타 키우기</a:t>
            </a:r>
            <a:endParaRPr lang="en-US" sz="950" dirty="0"/>
          </a:p>
        </p:txBody>
      </p:sp>
      <p:sp>
        <p:nvSpPr>
          <p:cNvPr id="37" name="Shape 34"/>
          <p:cNvSpPr/>
          <p:nvPr/>
        </p:nvSpPr>
        <p:spPr>
          <a:xfrm>
            <a:off x="8193024" y="2907792"/>
            <a:ext cx="109728" cy="109728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8375904" y="2834640"/>
            <a:ext cx="12115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연속 학습 · 포인트</a:t>
            </a:r>
            <a:endParaRPr lang="en-US" sz="950" dirty="0"/>
          </a:p>
        </p:txBody>
      </p:sp>
      <p:sp>
        <p:nvSpPr>
          <p:cNvPr id="39" name="Shape 36"/>
          <p:cNvSpPr/>
          <p:nvPr/>
        </p:nvSpPr>
        <p:spPr>
          <a:xfrm>
            <a:off x="9870948" y="1554480"/>
            <a:ext cx="1723644" cy="2103120"/>
          </a:xfrm>
          <a:prstGeom prst="roundRect">
            <a:avLst>
              <a:gd name="adj" fmla="val 5305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10035540" y="1700784"/>
            <a:ext cx="1394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진단 · 평가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10053828" y="2139696"/>
            <a:ext cx="109728" cy="109728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236708" y="2066544"/>
            <a:ext cx="12115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레벨 진단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10053828" y="2523744"/>
            <a:ext cx="109728" cy="109728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10236708" y="2450592"/>
            <a:ext cx="12115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자동 평가서</a:t>
            </a:r>
            <a:endParaRPr lang="en-US" sz="950" dirty="0"/>
          </a:p>
        </p:txBody>
      </p:sp>
      <p:sp>
        <p:nvSpPr>
          <p:cNvPr id="45" name="Shape 42"/>
          <p:cNvSpPr/>
          <p:nvPr/>
        </p:nvSpPr>
        <p:spPr>
          <a:xfrm>
            <a:off x="10053828" y="2907792"/>
            <a:ext cx="109728" cy="109728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10236708" y="2834640"/>
            <a:ext cx="12115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월간 A.I 리포트</a:t>
            </a:r>
            <a:endParaRPr lang="en-US" sz="950" dirty="0"/>
          </a:p>
        </p:txBody>
      </p:sp>
      <p:sp>
        <p:nvSpPr>
          <p:cNvPr id="47" name="Shape 44"/>
          <p:cNvSpPr/>
          <p:nvPr/>
        </p:nvSpPr>
        <p:spPr>
          <a:xfrm>
            <a:off x="530352" y="4023360"/>
            <a:ext cx="1810512" cy="1159581"/>
          </a:xfrm>
          <a:prstGeom prst="roundRect">
            <a:avLst>
              <a:gd name="adj" fmla="val 6308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48" name="Image 1" descr="/tmp/claude-0/-home-user-mangoiweb/ca835eb4-1670-5fc1-a29a-2fc77598fea3/scratchpad/deck_img/speech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4059936"/>
            <a:ext cx="1737360" cy="1086429"/>
          </a:xfrm>
          <a:prstGeom prst="rect">
            <a:avLst/>
          </a:prstGeom>
        </p:spPr>
      </p:pic>
      <p:sp>
        <p:nvSpPr>
          <p:cNvPr id="49" name="Text 45"/>
          <p:cNvSpPr/>
          <p:nvPr/>
        </p:nvSpPr>
        <p:spPr>
          <a:xfrm>
            <a:off x="566928" y="517550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말하기</a:t>
            </a:r>
            <a:endParaRPr lang="en-US" sz="950" dirty="0"/>
          </a:p>
        </p:txBody>
      </p:sp>
      <p:sp>
        <p:nvSpPr>
          <p:cNvPr id="50" name="Shape 46"/>
          <p:cNvSpPr/>
          <p:nvPr/>
        </p:nvSpPr>
        <p:spPr>
          <a:xfrm>
            <a:off x="2386584" y="4023360"/>
            <a:ext cx="1810512" cy="1159581"/>
          </a:xfrm>
          <a:prstGeom prst="roundRect">
            <a:avLst>
              <a:gd name="adj" fmla="val 6308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51" name="Image 2" descr="/tmp/claude-0/-home-user-mangoiweb/ca835eb4-1670-5fc1-a29a-2fc77598fea3/scratchpad/deck_img/aiwrit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60" y="4059936"/>
            <a:ext cx="1737360" cy="1086429"/>
          </a:xfrm>
          <a:prstGeom prst="rect">
            <a:avLst/>
          </a:prstGeom>
        </p:spPr>
      </p:pic>
      <p:sp>
        <p:nvSpPr>
          <p:cNvPr id="52" name="Text 47"/>
          <p:cNvSpPr/>
          <p:nvPr/>
        </p:nvSpPr>
        <p:spPr>
          <a:xfrm>
            <a:off x="2423160" y="517550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쓰기</a:t>
            </a:r>
            <a:endParaRPr lang="en-US" sz="950" dirty="0"/>
          </a:p>
        </p:txBody>
      </p:sp>
      <p:sp>
        <p:nvSpPr>
          <p:cNvPr id="53" name="Shape 48"/>
          <p:cNvSpPr/>
          <p:nvPr/>
        </p:nvSpPr>
        <p:spPr>
          <a:xfrm>
            <a:off x="4242816" y="4023360"/>
            <a:ext cx="1810512" cy="1159581"/>
          </a:xfrm>
          <a:prstGeom prst="roundRect">
            <a:avLst>
              <a:gd name="adj" fmla="val 6308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54" name="Image 3" descr="/tmp/claude-0/-home-user-mangoiweb/ca835eb4-1670-5fc1-a29a-2fc77598fea3/scratchpad/deck_img/vocab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9392" y="4059936"/>
            <a:ext cx="1737360" cy="1086429"/>
          </a:xfrm>
          <a:prstGeom prst="rect">
            <a:avLst/>
          </a:prstGeom>
        </p:spPr>
      </p:pic>
      <p:sp>
        <p:nvSpPr>
          <p:cNvPr id="55" name="Text 49"/>
          <p:cNvSpPr/>
          <p:nvPr/>
        </p:nvSpPr>
        <p:spPr>
          <a:xfrm>
            <a:off x="4279392" y="517550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어휘</a:t>
            </a:r>
            <a:endParaRPr lang="en-US" sz="950" dirty="0"/>
          </a:p>
        </p:txBody>
      </p:sp>
      <p:sp>
        <p:nvSpPr>
          <p:cNvPr id="56" name="Shape 50"/>
          <p:cNvSpPr/>
          <p:nvPr/>
        </p:nvSpPr>
        <p:spPr>
          <a:xfrm>
            <a:off x="6099048" y="4023360"/>
            <a:ext cx="1810512" cy="1159581"/>
          </a:xfrm>
          <a:prstGeom prst="roundRect">
            <a:avLst>
              <a:gd name="adj" fmla="val 6308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57" name="Image 4" descr="/tmp/claude-0/-home-user-mangoiweb/ca835eb4-1670-5fc1-a29a-2fc77598fea3/scratchpad/deck_img/judgment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5624" y="4059936"/>
            <a:ext cx="1737360" cy="1086429"/>
          </a:xfrm>
          <a:prstGeom prst="rect">
            <a:avLst/>
          </a:prstGeom>
        </p:spPr>
      </p:pic>
      <p:sp>
        <p:nvSpPr>
          <p:cNvPr id="58" name="Text 51"/>
          <p:cNvSpPr/>
          <p:nvPr/>
        </p:nvSpPr>
        <p:spPr>
          <a:xfrm>
            <a:off x="6135624" y="517550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사고력</a:t>
            </a:r>
            <a:endParaRPr lang="en-US" sz="950" dirty="0"/>
          </a:p>
        </p:txBody>
      </p:sp>
      <p:sp>
        <p:nvSpPr>
          <p:cNvPr id="59" name="Shape 52"/>
          <p:cNvSpPr/>
          <p:nvPr/>
        </p:nvSpPr>
        <p:spPr>
          <a:xfrm>
            <a:off x="7955280" y="4023360"/>
            <a:ext cx="1810512" cy="1159581"/>
          </a:xfrm>
          <a:prstGeom prst="roundRect">
            <a:avLst>
              <a:gd name="adj" fmla="val 6308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60" name="Image 5" descr="/tmp/claude-0/-home-user-mangoiweb/ca835eb4-1670-5fc1-a29a-2fc77598fea3/scratchpad/deck_img/games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91856" y="4059936"/>
            <a:ext cx="1737360" cy="1086429"/>
          </a:xfrm>
          <a:prstGeom prst="rect">
            <a:avLst/>
          </a:prstGeom>
        </p:spPr>
      </p:pic>
      <p:sp>
        <p:nvSpPr>
          <p:cNvPr id="61" name="Text 53"/>
          <p:cNvSpPr/>
          <p:nvPr/>
        </p:nvSpPr>
        <p:spPr>
          <a:xfrm>
            <a:off x="7991856" y="517550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동기</a:t>
            </a:r>
            <a:endParaRPr lang="en-US" sz="950" dirty="0"/>
          </a:p>
        </p:txBody>
      </p:sp>
      <p:sp>
        <p:nvSpPr>
          <p:cNvPr id="62" name="Shape 54"/>
          <p:cNvSpPr/>
          <p:nvPr/>
        </p:nvSpPr>
        <p:spPr>
          <a:xfrm>
            <a:off x="9811512" y="4023360"/>
            <a:ext cx="1810512" cy="1189695"/>
          </a:xfrm>
          <a:prstGeom prst="roundRect">
            <a:avLst>
              <a:gd name="adj" fmla="val 6149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63" name="Image 6" descr="/tmp/claude-0/-home-user-mangoiweb/ca835eb4-1670-5fc1-a29a-2fc77598fea3/scratchpad/deck_img/parent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48088" y="4059936"/>
            <a:ext cx="1737360" cy="1116543"/>
          </a:xfrm>
          <a:prstGeom prst="rect">
            <a:avLst/>
          </a:prstGeom>
        </p:spPr>
      </p:pic>
      <p:sp>
        <p:nvSpPr>
          <p:cNvPr id="64" name="Text 55"/>
          <p:cNvSpPr/>
          <p:nvPr/>
        </p:nvSpPr>
        <p:spPr>
          <a:xfrm>
            <a:off x="9848088" y="517550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</a:t>
            </a:r>
            <a:endParaRPr lang="en-US" sz="950" dirty="0"/>
          </a:p>
        </p:txBody>
      </p:sp>
      <p:sp>
        <p:nvSpPr>
          <p:cNvPr id="65" name="Text 56"/>
          <p:cNvSpPr/>
          <p:nvPr/>
        </p:nvSpPr>
        <p:spPr>
          <a:xfrm>
            <a:off x="566928" y="5614416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서비스 내 A.I 기반 학습 콘텐츠 집계 (2026년 8월). 게임 21종은 «학습 게임» 하나로 셈했습니다.</a:t>
            </a:r>
            <a:endParaRPr lang="en-US" sz="850" dirty="0"/>
          </a:p>
        </p:txBody>
      </p:sp>
      <p:sp>
        <p:nvSpPr>
          <p:cNvPr id="66" name="Text 57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66928" y="228600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66928" y="228600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8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01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66928" y="1024128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0" b="1" dirty="0">
                <a:solidFill>
                  <a:srgbClr val="222C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600" dirty="0"/>
          </a:p>
        </p:txBody>
      </p:sp>
      <p:sp>
        <p:nvSpPr>
          <p:cNvPr id="6" name="Text 3"/>
          <p:cNvSpPr/>
          <p:nvPr/>
        </p:nvSpPr>
        <p:spPr>
          <a:xfrm>
            <a:off x="566928" y="2779776"/>
            <a:ext cx="5852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566928" y="356616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5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Learning Contents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66928" y="4114800"/>
            <a:ext cx="5577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말하기 · 쓰기 · 어휘 · 사고력 · 게임.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서비스 화면으로 하나씩 보여 드립니다.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419088" y="1664208"/>
            <a:ext cx="5248656" cy="3309567"/>
          </a:xfrm>
          <a:prstGeom prst="roundRect">
            <a:avLst>
              <a:gd name="adj" fmla="val 221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0" name="Image 1" descr="/tmp/claude-0/-home-user-mangoiweb/ca835eb4-1670-5fc1-a29a-2fc77598fea3/scratchpad/deck_img/game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5664" y="1700784"/>
            <a:ext cx="5175504" cy="323641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455664" y="5120079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게임 허브 — 21종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 01 · 말하기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312603" y="384048"/>
            <a:ext cx="1312164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312603" y="384048"/>
            <a:ext cx="13121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 Coach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음성코치 — 따라 말하면 즉시 채점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30352" y="1517904"/>
            <a:ext cx="6199632" cy="3904244"/>
          </a:xfrm>
          <a:prstGeom prst="roundRect">
            <a:avLst>
              <a:gd name="adj" fmla="val 187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1" descr="/tmp/claude-0/-home-user-mangoiweb/ca835eb4-1670-5fc1-a29a-2fc77598fea3/scratchpad/deck_img/speech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54480"/>
            <a:ext cx="6126480" cy="38310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66928" y="5550164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 선택 → 원어민 발음 듣기 → 마이크 → 점수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6967728" y="1627632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205472" y="1956816"/>
            <a:ext cx="146304" cy="14630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479792" y="17373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레벨을 고른다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7479792" y="2029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Phonics · BTS(Lv 1~8) · SIU 고급 · 중국어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967728" y="2487168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205472" y="2816352"/>
            <a:ext cx="146304" cy="14630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479792" y="259689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듣고 따라 말한다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7479792" y="288950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원어민 발음을 먼저 듣고 그대로 발화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6967728" y="3346704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7205472" y="3675888"/>
            <a:ext cx="146304" cy="14630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7479792" y="34564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 점수가 나온다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7479792" y="37490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또박또박 말했는지 즉시 채점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6967728" y="4206240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7205472" y="4535424"/>
            <a:ext cx="146304" cy="14630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7479792" y="4315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기록이 쌓인다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7479792" y="460857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발음 점수와 발화량이 성장 추이로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6967728" y="5157216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7205472" y="526694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7205472" y="546811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스웨인 출력가설 — 말해 봐야 규칙이 굳는다</a:t>
            </a:r>
            <a:endParaRPr lang="en-US" sz="950" dirty="0"/>
          </a:p>
        </p:txBody>
      </p:sp>
      <p:sp>
        <p:nvSpPr>
          <p:cNvPr id="29" name="Text 25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 02 · 말하기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468051" y="384048"/>
            <a:ext cx="1156716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468051" y="384048"/>
            <a:ext cx="11567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Friend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친구 대화 — 24시간 말 걸 상대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449824" y="1517904"/>
            <a:ext cx="6199632" cy="3941003"/>
          </a:xfrm>
          <a:prstGeom prst="roundRect">
            <a:avLst>
              <a:gd name="adj" fmla="val 1856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1" descr="/tmp/claude-0/-home-user-mangoiweb/ca835eb4-1670-5fc1-a29a-2fc77598fea3/scratchpad/deck_img/aifrien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554480"/>
            <a:ext cx="6126480" cy="3867851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486400" y="5586923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Emma · Jake와 영어로 자유 대화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566928" y="1627632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804672" y="1956816"/>
            <a:ext cx="146304" cy="14630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1078992" y="17373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친구를 고른다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1078992" y="2029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다정한 Emma, 장난스러운 Jake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566928" y="2487168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04672" y="2816352"/>
            <a:ext cx="146304" cy="14630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1078992" y="259689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주제를 고른다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1078992" y="288950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피자 · 동물 · 우주 · 공룡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566928" y="3346704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04672" y="3675888"/>
            <a:ext cx="146304" cy="14630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078992" y="34564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틀려도 괜찮다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1078992" y="37490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웃지 않고, 한 마디마다 포인트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566928" y="4206240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804672" y="4535424"/>
            <a:ext cx="146304" cy="14630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1078992" y="4315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수준에 맞춰 준다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1078992" y="460857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학습자 레벨에 맞는 문장 길이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566928" y="5157216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804672" y="526694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804672" y="546811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크라션 정서 필터 — 불안이 낮아야 습득된다</a:t>
            </a:r>
            <a:endParaRPr lang="en-US" sz="950" dirty="0"/>
          </a:p>
        </p:txBody>
      </p:sp>
      <p:sp>
        <p:nvSpPr>
          <p:cNvPr id="29" name="Text 25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 03 · 쓰기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157155" y="384048"/>
            <a:ext cx="1467612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157155" y="384048"/>
            <a:ext cx="14676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Writing Coach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영작 첨삭 — 왜 틀렸는지까지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30352" y="1517904"/>
            <a:ext cx="6199632" cy="3904244"/>
          </a:xfrm>
          <a:prstGeom prst="roundRect">
            <a:avLst>
              <a:gd name="adj" fmla="val 187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1" descr="/tmp/claude-0/-home-user-mangoiweb/ca835eb4-1670-5fc1-a29a-2fc77598fea3/scratchpad/deck_img/aiwrit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54480"/>
            <a:ext cx="6126480" cy="38310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66928" y="5550164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쓴 문장을 즉시 교정하고 이유를 설명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6967728" y="1627632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205472" y="1956816"/>
            <a:ext cx="146304" cy="146304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479792" y="17373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문장을 쓴다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7479792" y="2029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주제를 골라 자유롭게 작성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967728" y="2487168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205472" y="2816352"/>
            <a:ext cx="146304" cy="146304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479792" y="259689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즉시 교정된다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7479792" y="288950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부분을 문장 단위로 표시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6967728" y="3346704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7205472" y="3675888"/>
            <a:ext cx="146304" cy="146304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7479792" y="34564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이유를 알려준다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7479792" y="37490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그렇게 고쳤는지 설명까지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6967728" y="4206240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7205472" y="4535424"/>
            <a:ext cx="146304" cy="146304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7479792" y="4315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써 본다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7479792" y="460857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고친 문장을 반영해 재작성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6967728" y="5157216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7205472" y="526694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7205472" y="546811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인출 연습 — 꺼내 쓸 때 기억에 남는다</a:t>
            </a:r>
            <a:endParaRPr lang="en-US" sz="950" dirty="0"/>
          </a:p>
        </p:txBody>
      </p:sp>
      <p:sp>
        <p:nvSpPr>
          <p:cNvPr id="29" name="Text 25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 04 · 어휘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545775" y="384048"/>
            <a:ext cx="1078992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545775" y="384048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Vocab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단어장 — 단어만 넣으면 나머지는 A.I가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449824" y="1517904"/>
            <a:ext cx="6199632" cy="3904244"/>
          </a:xfrm>
          <a:prstGeom prst="roundRect">
            <a:avLst>
              <a:gd name="adj" fmla="val 187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1" descr="/tmp/claude-0/-home-user-mangoiweb/ca835eb4-1670-5fc1-a29a-2fc77598fea3/scratchpad/deck_img/vocab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554480"/>
            <a:ext cx="6126480" cy="38310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486400" y="5550164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 단어만 입력하면 뜻·예문 자동 생성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566928" y="1627632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804672" y="1956816"/>
            <a:ext cx="146304" cy="14630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1078992" y="17373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단어만 담는다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1078992" y="2029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뜻과 예문은 A.I가 자동 생성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566928" y="2487168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04672" y="2816352"/>
            <a:ext cx="146304" cy="14630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1078992" y="259689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게임으로 외운다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1078992" y="288950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담은 단어가 게임 문제로 출제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566928" y="3346704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04672" y="3675888"/>
            <a:ext cx="146304" cy="14630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078992" y="34564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기록이 남는다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1078992" y="37490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진도와 정답률을 확인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566928" y="4206240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804672" y="4535424"/>
            <a:ext cx="146304" cy="14630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1078992" y="4315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수업과 이어진다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1078992" y="460857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수업에서 나온 단어가 그대로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566928" y="5157216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804672" y="526694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804672" y="546811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분산 연습 — 간격을 두고 여러 번</a:t>
            </a:r>
            <a:endParaRPr lang="en-US" sz="950" dirty="0"/>
          </a:p>
        </p:txBody>
      </p:sp>
      <p:sp>
        <p:nvSpPr>
          <p:cNvPr id="29" name="Text 25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 05 · 어휘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079431" y="384048"/>
            <a:ext cx="1545336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079431" y="38404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 Learning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단어 퀴즈 — 1분이면 끝납니다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30352" y="1517904"/>
            <a:ext cx="6199632" cy="3904244"/>
          </a:xfrm>
          <a:prstGeom prst="roundRect">
            <a:avLst>
              <a:gd name="adj" fmla="val 187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1" descr="/tmp/claude-0/-home-user-mangoiweb/ca835eb4-1670-5fc1-a29a-2fc77598fea3/scratchpad/deck_img/microquiz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54480"/>
            <a:ext cx="6126480" cy="38310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66928" y="5550164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마이크로러닝 — 짧게, 자주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6967728" y="1627632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205472" y="1956816"/>
            <a:ext cx="146304" cy="14630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479792" y="17373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1분 안에 끝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7479792" y="2029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부담 없이 하루 한 번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967728" y="2487168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205472" y="2816352"/>
            <a:ext cx="146304" cy="14630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479792" y="259689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단어장에서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7479792" y="288950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담은 단어로 문제 출제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6967728" y="3346704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7205472" y="3675888"/>
            <a:ext cx="146304" cy="14630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7479792" y="34564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빠를수록 포인트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7479792" y="37490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속도가 오르면 보너스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6967728" y="4206240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7205472" y="4535424"/>
            <a:ext cx="146304" cy="14630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7479792" y="4315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연속으로 이어진다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7479792" y="460857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하면 스트릭이 쌓인다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6967728" y="5157216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7205472" y="526694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7205472" y="546811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분산 연습 · 인출 연습 (Cepeda 2006 · Roediger 2006)</a:t>
            </a:r>
            <a:endParaRPr lang="en-US" sz="950" dirty="0"/>
          </a:p>
        </p:txBody>
      </p:sp>
      <p:sp>
        <p:nvSpPr>
          <p:cNvPr id="29" name="Text 25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 06 · 사고력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9846259" y="384048"/>
            <a:ext cx="1778508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846259" y="384048"/>
            <a:ext cx="17785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Judgment Training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판단력 훈련 — 생각하고 영어로 답하기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449824" y="1517904"/>
            <a:ext cx="6199632" cy="3904244"/>
          </a:xfrm>
          <a:prstGeom prst="roundRect">
            <a:avLst>
              <a:gd name="adj" fmla="val 187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1" descr="/tmp/claude-0/-home-user-mangoiweb/ca835eb4-1670-5fc1-a29a-2fc77598fea3/scratchpad/deck_img/judgmen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554480"/>
            <a:ext cx="6126480" cy="38310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486400" y="5550164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상황을 읽고 스스로 판단해 영어로 말하기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566928" y="1627632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804672" y="1956816"/>
            <a:ext cx="146304" cy="146304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1078992" y="17373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상황이 주어진다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1078992" y="2029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실제로 있을 법한 장면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566928" y="2487168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04672" y="2816352"/>
            <a:ext cx="146304" cy="146304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1078992" y="259689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스스로 판단한다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1078992" y="288950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고르기가 아니라 결정하기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566928" y="3346704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04672" y="3675888"/>
            <a:ext cx="146304" cy="146304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078992" y="34564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영어로 답한다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1078992" y="37490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판단한 이유를 영어로 설명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566928" y="4206240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804672" y="4535424"/>
            <a:ext cx="146304" cy="146304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1078992" y="4315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A.I가 되짚는다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1078992" y="460857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선택지의 결과도 알려준다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566928" y="5157216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804672" y="526694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804672" y="546811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«AI로 생각하고 결정하는 영어»의 출발점</a:t>
            </a:r>
            <a:endParaRPr lang="en-US" sz="950" dirty="0"/>
          </a:p>
        </p:txBody>
      </p:sp>
      <p:sp>
        <p:nvSpPr>
          <p:cNvPr id="29" name="Text 25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 07 · 수업 전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573207" y="38404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573207" y="384048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Warm-up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웜업 — 수업 전에 입을 풉니다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30352" y="1517904"/>
            <a:ext cx="6199632" cy="3904244"/>
          </a:xfrm>
          <a:prstGeom prst="roundRect">
            <a:avLst>
              <a:gd name="adj" fmla="val 187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1" descr="/tmp/claude-0/-home-user-mangoiweb/ca835eb4-1670-5fc1-a29a-2fc77598fea3/scratchpad/deck_img/warmup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54480"/>
            <a:ext cx="6126480" cy="38310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66928" y="5550164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직전 AI 친구와 짧은 대화 후 입장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6967728" y="1627632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205472" y="1956816"/>
            <a:ext cx="146304" cy="14630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479792" y="17373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배울 문장을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7479792" y="2029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미리 한 번 말해 본다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967728" y="2487168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205472" y="2816352"/>
            <a:ext cx="146304" cy="14630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479792" y="259689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두세 마디면 충분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7479792" y="288950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1~2분이면 끝나는 짧은 대화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6967728" y="3346704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7205472" y="3675888"/>
            <a:ext cx="146304" cy="14630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7479792" y="34564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긴장이 줄어든다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7479792" y="37490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마디의 부담을 미리 덜어낸다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6967728" y="4206240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7205472" y="4535424"/>
            <a:ext cx="146304" cy="14630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7479792" y="4315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 수업으로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7479792" y="460857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웜업 후 화상수업 로비로 입장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6967728" y="5157216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7205472" y="526694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7205472" y="546811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크라션 i+1 — 조금 위의 이해 가능한 입력</a:t>
            </a:r>
            <a:endParaRPr lang="en-US" sz="950" dirty="0"/>
          </a:p>
        </p:txBody>
      </p:sp>
      <p:sp>
        <p:nvSpPr>
          <p:cNvPr id="29" name="Text 25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 08 · 동기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9846259" y="384048"/>
            <a:ext cx="1778508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846259" y="384048"/>
            <a:ext cx="17785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Language Games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게임 21종 — 복습이 놀이가 됩니다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530352" y="1517904"/>
            <a:ext cx="6199632" cy="3904244"/>
          </a:xfrm>
          <a:prstGeom prst="roundRect">
            <a:avLst>
              <a:gd name="adj" fmla="val 187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1" descr="/tmp/claude-0/-home-user-mangoiweb/ca835eb4-1670-5fc1-a29a-2fc77598fea3/scratchpad/deck_img/game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54480"/>
            <a:ext cx="6126480" cy="38310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66928" y="5468112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게임 허브 — 퀘스트 · 연속 학습 · 랭킹 · 포인트 상점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6967728" y="1627632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205472" y="1956816"/>
            <a:ext cx="146304" cy="14630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479792" y="17373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틀린 단어가 재료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7479792" y="2029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A.I가 골라 게임 문제로 넘긴다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967728" y="2487168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205472" y="2816352"/>
            <a:ext cx="146304" cy="14630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479792" y="259689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 · 중국어 모두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7479792" y="288950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언어 모두 지원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6967728" y="3346704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7205472" y="3675888"/>
            <a:ext cx="146304" cy="14630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7479792" y="34564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말해야 이기는 게임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7479792" y="37490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클릭이 아니라 발화가 조건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6967728" y="4206240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7205472" y="4535424"/>
            <a:ext cx="146304" cy="14630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7479792" y="4315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퀘스트로 이어진다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7479792" y="460857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 깨면 다음 게임이 열린다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6967728" y="5047488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7205472" y="515721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7205472" y="535838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몰입 이론 — 난이도와 실력이 맞을 때 계속한다</a:t>
            </a:r>
            <a:endParaRPr lang="en-US" sz="950" dirty="0"/>
          </a:p>
        </p:txBody>
      </p:sp>
      <p:sp>
        <p:nvSpPr>
          <p:cNvPr id="29" name="Text 25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 08 · 게임 라인업 전체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234879" y="384048"/>
            <a:ext cx="1389888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234879" y="384048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21 Games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게임 21종 — 전부입니다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30352" y="1481328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1" descr="/tmp/claude-0/-home-user-mangoiweb/ca835eb4-1670-5fc1-a29a-2fc77598fea3/scratchpad/deck_img/g01_spacemonste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1477670" cy="9242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66928" y="2487168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우주 괴물 사냥</a:t>
            </a:r>
            <a:endParaRPr lang="en-US" sz="800" dirty="0"/>
          </a:p>
        </p:txBody>
      </p:sp>
      <p:sp>
        <p:nvSpPr>
          <p:cNvPr id="10" name="Shape 6"/>
          <p:cNvSpPr/>
          <p:nvPr/>
        </p:nvSpPr>
        <p:spPr>
          <a:xfrm>
            <a:off x="2126894" y="1481328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1" name="Image 2" descr="/tmp/claude-0/-home-user-mangoiweb/ca835eb4-1670-5fc1-a29a-2fc77598fea3/scratchpad/deck_img/g02_avatar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3470" y="1517904"/>
            <a:ext cx="1477670" cy="924216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2163470" y="2487168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아바타 키우기</a:t>
            </a:r>
            <a:endParaRPr lang="en-US" sz="800" dirty="0"/>
          </a:p>
        </p:txBody>
      </p:sp>
      <p:sp>
        <p:nvSpPr>
          <p:cNvPr id="13" name="Shape 8"/>
          <p:cNvSpPr/>
          <p:nvPr/>
        </p:nvSpPr>
        <p:spPr>
          <a:xfrm>
            <a:off x="3723437" y="1481328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4" name="Image 3" descr="/tmp/claude-0/-home-user-mangoiweb/ca835eb4-1670-5fc1-a29a-2fc77598fea3/scratchpad/deck_img/g03_pizza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0013" y="1517904"/>
            <a:ext cx="1477670" cy="924216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3760013" y="2487168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문법 피자 마스터</a:t>
            </a:r>
            <a:endParaRPr lang="en-US" sz="800" dirty="0"/>
          </a:p>
        </p:txBody>
      </p:sp>
      <p:sp>
        <p:nvSpPr>
          <p:cNvPr id="16" name="Shape 10"/>
          <p:cNvSpPr/>
          <p:nvPr/>
        </p:nvSpPr>
        <p:spPr>
          <a:xfrm>
            <a:off x="5319979" y="1481328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7" name="Image 4" descr="/tmp/claude-0/-home-user-mangoiweb/ca835eb4-1670-5fc1-a29a-2fc77598fea3/scratchpad/deck_img/g04_escapevoice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56555" y="1517904"/>
            <a:ext cx="1477670" cy="924216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5356555" y="2487168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말해야 열린다</a:t>
            </a:r>
            <a:endParaRPr lang="en-US" sz="800" dirty="0"/>
          </a:p>
        </p:txBody>
      </p:sp>
      <p:sp>
        <p:nvSpPr>
          <p:cNvPr id="19" name="Shape 12"/>
          <p:cNvSpPr/>
          <p:nvPr/>
        </p:nvSpPr>
        <p:spPr>
          <a:xfrm>
            <a:off x="6916522" y="1481328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0" name="Image 5" descr="/tmp/claude-0/-home-user-mangoiweb/ca835eb4-1670-5fc1-a29a-2fc77598fea3/scratchpad/deck_img/g05_escapezombie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53098" y="1517904"/>
            <a:ext cx="1477670" cy="924216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6953098" y="2487168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좀비 실험실 탈출</a:t>
            </a:r>
            <a:endParaRPr lang="en-US" sz="800" dirty="0"/>
          </a:p>
        </p:txBody>
      </p:sp>
      <p:sp>
        <p:nvSpPr>
          <p:cNvPr id="22" name="Shape 14"/>
          <p:cNvSpPr/>
          <p:nvPr/>
        </p:nvSpPr>
        <p:spPr>
          <a:xfrm>
            <a:off x="8513064" y="1481328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3" name="Image 6" descr="/tmp/claude-0/-home-user-mangoiweb/ca835eb4-1670-5fc1-a29a-2fc77598fea3/scratchpad/deck_img/g06_escapeschool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49640" y="1517904"/>
            <a:ext cx="1477670" cy="924216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8549640" y="2487168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학교 탈출 SOS</a:t>
            </a:r>
            <a:endParaRPr lang="en-US" sz="800" dirty="0"/>
          </a:p>
        </p:txBody>
      </p:sp>
      <p:sp>
        <p:nvSpPr>
          <p:cNvPr id="25" name="Shape 16"/>
          <p:cNvSpPr/>
          <p:nvPr/>
        </p:nvSpPr>
        <p:spPr>
          <a:xfrm>
            <a:off x="10109606" y="1481328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6" name="Image 7" descr="/tmp/claude-0/-home-user-mangoiweb/ca835eb4-1670-5fc1-a29a-2fc77598fea3/scratchpad/deck_img/g07_tank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46182" y="1517904"/>
            <a:ext cx="1477670" cy="924216"/>
          </a:xfrm>
          <a:prstGeom prst="rect">
            <a:avLst/>
          </a:prstGeom>
        </p:spPr>
      </p:pic>
      <p:sp>
        <p:nvSpPr>
          <p:cNvPr id="27" name="Text 17"/>
          <p:cNvSpPr/>
          <p:nvPr/>
        </p:nvSpPr>
        <p:spPr>
          <a:xfrm>
            <a:off x="10146182" y="2487168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셔먼 탱크대전</a:t>
            </a:r>
            <a:endParaRPr lang="en-US" sz="800" dirty="0"/>
          </a:p>
        </p:txBody>
      </p:sp>
      <p:sp>
        <p:nvSpPr>
          <p:cNvPr id="28" name="Shape 18"/>
          <p:cNvSpPr/>
          <p:nvPr/>
        </p:nvSpPr>
        <p:spPr>
          <a:xfrm>
            <a:off x="530352" y="2953512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9" name="Image 8" descr="/tmp/claude-0/-home-user-mangoiweb/ca835eb4-1670-5fc1-a29a-2fc77598fea3/scratchpad/deck_img/g08_langace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6928" y="2990088"/>
            <a:ext cx="1477670" cy="924216"/>
          </a:xfrm>
          <a:prstGeom prst="rect">
            <a:avLst/>
          </a:prstGeom>
        </p:spPr>
      </p:pic>
      <p:sp>
        <p:nvSpPr>
          <p:cNvPr id="30" name="Text 19"/>
          <p:cNvSpPr/>
          <p:nvPr/>
        </p:nvSpPr>
        <p:spPr>
          <a:xfrm>
            <a:off x="566928" y="3959352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 P-38 라이트닝</a:t>
            </a:r>
            <a:endParaRPr lang="en-US" sz="800" dirty="0"/>
          </a:p>
        </p:txBody>
      </p:sp>
      <p:sp>
        <p:nvSpPr>
          <p:cNvPr id="31" name="Shape 20"/>
          <p:cNvSpPr/>
          <p:nvPr/>
        </p:nvSpPr>
        <p:spPr>
          <a:xfrm>
            <a:off x="2126894" y="2953512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32" name="Image 9" descr="/tmp/claude-0/-home-user-mangoiweb/ca835eb4-1670-5fc1-a29a-2fc77598fea3/scratchpad/deck_img/g09_p383d.jp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163470" y="2990088"/>
            <a:ext cx="1477670" cy="924216"/>
          </a:xfrm>
          <a:prstGeom prst="rect">
            <a:avLst/>
          </a:prstGeom>
        </p:spPr>
      </p:pic>
      <p:sp>
        <p:nvSpPr>
          <p:cNvPr id="33" name="Text 21"/>
          <p:cNvSpPr/>
          <p:nvPr/>
        </p:nvSpPr>
        <p:spPr>
          <a:xfrm>
            <a:off x="2163470" y="3959352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 P-38 3D 조종석</a:t>
            </a:r>
            <a:endParaRPr lang="en-US" sz="800" dirty="0"/>
          </a:p>
        </p:txBody>
      </p:sp>
      <p:sp>
        <p:nvSpPr>
          <p:cNvPr id="34" name="Shape 22"/>
          <p:cNvSpPr/>
          <p:nvPr/>
        </p:nvSpPr>
        <p:spPr>
          <a:xfrm>
            <a:off x="3723437" y="2953512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35" name="Image 10" descr="/tmp/claude-0/-home-user-mangoiweb/ca835eb4-1670-5fc1-a29a-2fc77598fea3/scratchpad/deck_img/g10_battle3d.jp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760013" y="2990088"/>
            <a:ext cx="1477670" cy="924216"/>
          </a:xfrm>
          <a:prstGeom prst="rect">
            <a:avLst/>
          </a:prstGeom>
        </p:spPr>
      </p:pic>
      <p:sp>
        <p:nvSpPr>
          <p:cNvPr id="36" name="Text 23"/>
          <p:cNvSpPr/>
          <p:nvPr/>
        </p:nvSpPr>
        <p:spPr>
          <a:xfrm>
            <a:off x="3760013" y="3959352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 우주 배틀</a:t>
            </a:r>
            <a:endParaRPr lang="en-US" sz="800" dirty="0"/>
          </a:p>
        </p:txBody>
      </p:sp>
      <p:sp>
        <p:nvSpPr>
          <p:cNvPr id="37" name="Shape 24"/>
          <p:cNvSpPr/>
          <p:nvPr/>
        </p:nvSpPr>
        <p:spPr>
          <a:xfrm>
            <a:off x="5319979" y="2953512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38" name="Image 11" descr="/tmp/claude-0/-home-user-mangoiweb/ca835eb4-1670-5fc1-a29a-2fc77598fea3/scratchpad/deck_img/g11_fish.jp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356555" y="2990088"/>
            <a:ext cx="1477670" cy="924216"/>
          </a:xfrm>
          <a:prstGeom prst="rect">
            <a:avLst/>
          </a:prstGeom>
        </p:spPr>
      </p:pic>
      <p:sp>
        <p:nvSpPr>
          <p:cNvPr id="39" name="Text 25"/>
          <p:cNvSpPr/>
          <p:nvPr/>
        </p:nvSpPr>
        <p:spPr>
          <a:xfrm>
            <a:off x="5356555" y="3959352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 낚시+말하기</a:t>
            </a:r>
            <a:endParaRPr lang="en-US" sz="800" dirty="0"/>
          </a:p>
        </p:txBody>
      </p:sp>
      <p:sp>
        <p:nvSpPr>
          <p:cNvPr id="40" name="Shape 26"/>
          <p:cNvSpPr/>
          <p:nvPr/>
        </p:nvSpPr>
        <p:spPr>
          <a:xfrm>
            <a:off x="6916522" y="2953512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41" name="Image 12" descr="/tmp/claude-0/-home-user-mangoiweb/ca835eb4-1670-5fc1-a29a-2fc77598fea3/scratchpad/deck_img/g12_shooter.jp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953098" y="2990088"/>
            <a:ext cx="1477670" cy="924216"/>
          </a:xfrm>
          <a:prstGeom prst="rect">
            <a:avLst/>
          </a:prstGeom>
        </p:spPr>
      </p:pic>
      <p:sp>
        <p:nvSpPr>
          <p:cNvPr id="42" name="Text 27"/>
          <p:cNvSpPr/>
          <p:nvPr/>
        </p:nvSpPr>
        <p:spPr>
          <a:xfrm>
            <a:off x="6953098" y="3959352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 슈팅+말하기</a:t>
            </a:r>
            <a:endParaRPr lang="en-US" sz="800" dirty="0"/>
          </a:p>
        </p:txBody>
      </p:sp>
      <p:sp>
        <p:nvSpPr>
          <p:cNvPr id="43" name="Shape 28"/>
          <p:cNvSpPr/>
          <p:nvPr/>
        </p:nvSpPr>
        <p:spPr>
          <a:xfrm>
            <a:off x="8513064" y="2953512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44" name="Image 13" descr="/tmp/claude-0/-home-user-mangoiweb/ca835eb4-1670-5fc1-a29a-2fc77598fea3/scratchpad/deck_img/g13_brick.jp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549640" y="2990088"/>
            <a:ext cx="1477670" cy="924216"/>
          </a:xfrm>
          <a:prstGeom prst="rect">
            <a:avLst/>
          </a:prstGeom>
        </p:spPr>
      </p:pic>
      <p:sp>
        <p:nvSpPr>
          <p:cNvPr id="45" name="Text 29"/>
          <p:cNvSpPr/>
          <p:nvPr/>
        </p:nvSpPr>
        <p:spPr>
          <a:xfrm>
            <a:off x="8549640" y="3959352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13. 문장 벽돌</a:t>
            </a:r>
            <a:endParaRPr lang="en-US" sz="800" dirty="0"/>
          </a:p>
        </p:txBody>
      </p:sp>
      <p:sp>
        <p:nvSpPr>
          <p:cNvPr id="46" name="Shape 30"/>
          <p:cNvSpPr/>
          <p:nvPr/>
        </p:nvSpPr>
        <p:spPr>
          <a:xfrm>
            <a:off x="10109606" y="2953512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47" name="Image 14" descr="/tmp/claude-0/-home-user-mangoiweb/ca835eb4-1670-5fc1-a29a-2fc77598fea3/scratchpad/deck_img/g14_match.jp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146182" y="2990088"/>
            <a:ext cx="1477670" cy="924216"/>
          </a:xfrm>
          <a:prstGeom prst="rect">
            <a:avLst/>
          </a:prstGeom>
        </p:spPr>
      </p:pic>
      <p:sp>
        <p:nvSpPr>
          <p:cNvPr id="48" name="Text 31"/>
          <p:cNvSpPr/>
          <p:nvPr/>
        </p:nvSpPr>
        <p:spPr>
          <a:xfrm>
            <a:off x="10146182" y="3959352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 단어 매칭</a:t>
            </a:r>
            <a:endParaRPr lang="en-US" sz="800" dirty="0"/>
          </a:p>
        </p:txBody>
      </p:sp>
      <p:sp>
        <p:nvSpPr>
          <p:cNvPr id="49" name="Shape 32"/>
          <p:cNvSpPr/>
          <p:nvPr/>
        </p:nvSpPr>
        <p:spPr>
          <a:xfrm>
            <a:off x="530352" y="4425696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50" name="Image 15" descr="/tmp/claude-0/-home-user-mangoiweb/ca835eb4-1670-5fc1-a29a-2fc77598fea3/scratchpad/deck_img/g15_fill.jp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66928" y="4462272"/>
            <a:ext cx="1477670" cy="924216"/>
          </a:xfrm>
          <a:prstGeom prst="rect">
            <a:avLst/>
          </a:prstGeom>
        </p:spPr>
      </p:pic>
      <p:sp>
        <p:nvSpPr>
          <p:cNvPr id="51" name="Text 33"/>
          <p:cNvSpPr/>
          <p:nvPr/>
        </p:nvSpPr>
        <p:spPr>
          <a:xfrm>
            <a:off x="566928" y="5431536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15. 빈칸 채우기</a:t>
            </a:r>
            <a:endParaRPr lang="en-US" sz="800" dirty="0"/>
          </a:p>
        </p:txBody>
      </p:sp>
      <p:sp>
        <p:nvSpPr>
          <p:cNvPr id="52" name="Shape 34"/>
          <p:cNvSpPr/>
          <p:nvPr/>
        </p:nvSpPr>
        <p:spPr>
          <a:xfrm>
            <a:off x="2126894" y="4425696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53" name="Image 16" descr="/tmp/claude-0/-home-user-mangoiweb/ca835eb4-1670-5fc1-a29a-2fc77598fea3/scratchpad/deck_img/g16_balloon.jp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163470" y="4462272"/>
            <a:ext cx="1477670" cy="924216"/>
          </a:xfrm>
          <a:prstGeom prst="rect">
            <a:avLst/>
          </a:prstGeom>
        </p:spPr>
      </p:pic>
      <p:sp>
        <p:nvSpPr>
          <p:cNvPr id="54" name="Text 35"/>
          <p:cNvSpPr/>
          <p:nvPr/>
        </p:nvSpPr>
        <p:spPr>
          <a:xfrm>
            <a:off x="2163470" y="5431536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16. 풍선 터뜨리기</a:t>
            </a:r>
            <a:endParaRPr lang="en-US" sz="800" dirty="0"/>
          </a:p>
        </p:txBody>
      </p:sp>
      <p:sp>
        <p:nvSpPr>
          <p:cNvPr id="55" name="Shape 36"/>
          <p:cNvSpPr/>
          <p:nvPr/>
        </p:nvSpPr>
        <p:spPr>
          <a:xfrm>
            <a:off x="3723437" y="4425696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56" name="Image 17" descr="/tmp/claude-0/-home-user-mangoiweb/ca835eb4-1670-5fc1-a29a-2fc77598fea3/scratchpad/deck_img/g17_suspect.jp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760013" y="4462272"/>
            <a:ext cx="1477670" cy="924216"/>
          </a:xfrm>
          <a:prstGeom prst="rect">
            <a:avLst/>
          </a:prstGeom>
        </p:spPr>
      </p:pic>
      <p:sp>
        <p:nvSpPr>
          <p:cNvPr id="57" name="Text 37"/>
          <p:cNvSpPr/>
          <p:nvPr/>
        </p:nvSpPr>
        <p:spPr>
          <a:xfrm>
            <a:off x="3760013" y="5431536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17. 용의자 추리</a:t>
            </a:r>
            <a:endParaRPr lang="en-US" sz="800" dirty="0"/>
          </a:p>
        </p:txBody>
      </p:sp>
      <p:sp>
        <p:nvSpPr>
          <p:cNvPr id="58" name="Shape 38"/>
          <p:cNvSpPr/>
          <p:nvPr/>
        </p:nvSpPr>
        <p:spPr>
          <a:xfrm>
            <a:off x="5319979" y="4425696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59" name="Image 18" descr="/tmp/claude-0/-home-user-mangoiweb/ca835eb4-1670-5fc1-a29a-2fc77598fea3/scratchpad/deck_img/g18_speaking.jp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356555" y="4462272"/>
            <a:ext cx="1477670" cy="924216"/>
          </a:xfrm>
          <a:prstGeom prst="rect">
            <a:avLst/>
          </a:prstGeom>
        </p:spPr>
      </p:pic>
      <p:sp>
        <p:nvSpPr>
          <p:cNvPr id="60" name="Text 39"/>
          <p:cNvSpPr/>
          <p:nvPr/>
        </p:nvSpPr>
        <p:spPr>
          <a:xfrm>
            <a:off x="5356555" y="5431536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18. 말하기 퀴즈</a:t>
            </a:r>
            <a:endParaRPr lang="en-US" sz="800" dirty="0"/>
          </a:p>
        </p:txBody>
      </p:sp>
      <p:sp>
        <p:nvSpPr>
          <p:cNvPr id="61" name="Shape 40"/>
          <p:cNvSpPr/>
          <p:nvPr/>
        </p:nvSpPr>
        <p:spPr>
          <a:xfrm>
            <a:off x="6916522" y="4425696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62" name="Image 19" descr="/tmp/claude-0/-home-user-mangoiweb/ca835eb4-1670-5fc1-a29a-2fc77598fea3/scratchpad/deck_img/g19_wordfighter.jp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953098" y="4462272"/>
            <a:ext cx="1477670" cy="924216"/>
          </a:xfrm>
          <a:prstGeom prst="rect">
            <a:avLst/>
          </a:prstGeom>
        </p:spPr>
      </p:pic>
      <p:sp>
        <p:nvSpPr>
          <p:cNvPr id="63" name="Text 41"/>
          <p:cNvSpPr/>
          <p:nvPr/>
        </p:nvSpPr>
        <p:spPr>
          <a:xfrm>
            <a:off x="6953098" y="5431536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19. 워드 파이터</a:t>
            </a:r>
            <a:endParaRPr lang="en-US" sz="800" dirty="0"/>
          </a:p>
        </p:txBody>
      </p:sp>
      <p:sp>
        <p:nvSpPr>
          <p:cNvPr id="64" name="Shape 42"/>
          <p:cNvSpPr/>
          <p:nvPr/>
        </p:nvSpPr>
        <p:spPr>
          <a:xfrm>
            <a:off x="8513064" y="4425696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65" name="Image 20" descr="/tmp/claude-0/-home-user-mangoiweb/ca835eb4-1670-5fc1-a29a-2fc77598fea3/scratchpad/deck_img/g20_tetris.jp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549640" y="4462272"/>
            <a:ext cx="1477670" cy="924216"/>
          </a:xfrm>
          <a:prstGeom prst="rect">
            <a:avLst/>
          </a:prstGeom>
        </p:spPr>
      </p:pic>
      <p:sp>
        <p:nvSpPr>
          <p:cNvPr id="66" name="Text 43"/>
          <p:cNvSpPr/>
          <p:nvPr/>
        </p:nvSpPr>
        <p:spPr>
          <a:xfrm>
            <a:off x="8549640" y="5431536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20. 단어 테트리스</a:t>
            </a:r>
            <a:endParaRPr lang="en-US" sz="800" dirty="0"/>
          </a:p>
        </p:txBody>
      </p:sp>
      <p:sp>
        <p:nvSpPr>
          <p:cNvPr id="67" name="Shape 44"/>
          <p:cNvSpPr/>
          <p:nvPr/>
        </p:nvSpPr>
        <p:spPr>
          <a:xfrm>
            <a:off x="10109606" y="4425696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68" name="Image 21" descr="/tmp/claude-0/-home-user-mangoiweb/ca835eb4-1670-5fc1-a29a-2fc77598fea3/scratchpad/deck_img/g21_rescue.jp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146182" y="4462272"/>
            <a:ext cx="1477670" cy="924216"/>
          </a:xfrm>
          <a:prstGeom prst="rect">
            <a:avLst/>
          </a:prstGeom>
        </p:spPr>
      </p:pic>
      <p:sp>
        <p:nvSpPr>
          <p:cNvPr id="69" name="Text 45"/>
          <p:cNvSpPr/>
          <p:nvPr/>
        </p:nvSpPr>
        <p:spPr>
          <a:xfrm>
            <a:off x="10146182" y="5431536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21. 망고 구조선의 대항해</a:t>
            </a:r>
            <a:endParaRPr lang="en-US" sz="800" dirty="0"/>
          </a:p>
        </p:txBody>
      </p:sp>
      <p:sp>
        <p:nvSpPr>
          <p:cNvPr id="70" name="Text 46"/>
          <p:cNvSpPr/>
          <p:nvPr/>
        </p:nvSpPr>
        <p:spPr>
          <a:xfrm>
            <a:off x="566928" y="6035040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전 종목 실제 화면 캡처. 게임마다 파일이 독립되어 있어 새 게임이 계속 추가됩니다.</a:t>
            </a:r>
            <a:endParaRPr lang="en-US" sz="850" dirty="0"/>
          </a:p>
        </p:txBody>
      </p:sp>
      <p:sp>
        <p:nvSpPr>
          <p:cNvPr id="71" name="Text 47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 08 · 대표 게임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079431" y="384048"/>
            <a:ext cx="1545336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079431" y="38404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Featured Games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식으로 영어를 씁니다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30352" y="1517904"/>
            <a:ext cx="3547872" cy="1773936"/>
          </a:xfrm>
          <a:prstGeom prst="roundRect">
            <a:avLst>
              <a:gd name="adj" fmla="val 412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1" descr="/tmp/claude-0/-home-user-mangoiweb/ca835eb4-1670-5fc1-a29a-2fc77598fea3/scratchpad/deck_img/g01_spacemonster.jpg">    </p:cNvPr>
          <p:cNvPicPr>
            <a:picLocks noChangeAspect="1"/>
          </p:cNvPicPr>
          <p:nvPr/>
        </p:nvPicPr>
        <p:blipFill>
          <a:blip r:embed="rId2"/>
          <a:srcRect l="0" r="0" t="13891" b="-13891"/>
          <a:stretch/>
        </p:blipFill>
        <p:spPr>
          <a:xfrm>
            <a:off x="566928" y="1554480"/>
            <a:ext cx="3474720" cy="170078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66928" y="334670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우주 괴물 사냥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566928" y="358444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뜻에 맞는 단어를 쏜다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4242816" y="1517904"/>
            <a:ext cx="3547872" cy="1773936"/>
          </a:xfrm>
          <a:prstGeom prst="roundRect">
            <a:avLst>
              <a:gd name="adj" fmla="val 412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2" name="Image 2" descr="/tmp/claude-0/-home-user-mangoiweb/ca835eb4-1670-5fc1-a29a-2fc77598fea3/scratchpad/deck_img/g03_pizza.jpg">    </p:cNvPr>
          <p:cNvPicPr>
            <a:picLocks noChangeAspect="1"/>
          </p:cNvPicPr>
          <p:nvPr/>
        </p:nvPicPr>
        <p:blipFill>
          <a:blip r:embed="rId3"/>
          <a:srcRect l="0" r="0" t="13891" b="-13891"/>
          <a:stretch/>
        </p:blipFill>
        <p:spPr>
          <a:xfrm>
            <a:off x="4279392" y="1554480"/>
            <a:ext cx="3474720" cy="170078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279392" y="334670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문법 피자 마스터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4279392" y="358444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 어순대로 재료를 올린다</a:t>
            </a:r>
            <a:endParaRPr lang="en-US" sz="950" dirty="0"/>
          </a:p>
        </p:txBody>
      </p:sp>
      <p:sp>
        <p:nvSpPr>
          <p:cNvPr id="15" name="Shape 10"/>
          <p:cNvSpPr/>
          <p:nvPr/>
        </p:nvSpPr>
        <p:spPr>
          <a:xfrm>
            <a:off x="7955280" y="1517904"/>
            <a:ext cx="3547872" cy="1773936"/>
          </a:xfrm>
          <a:prstGeom prst="roundRect">
            <a:avLst>
              <a:gd name="adj" fmla="val 412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6" name="Image 3" descr="/tmp/claude-0/-home-user-mangoiweb/ca835eb4-1670-5fc1-a29a-2fc77598fea3/scratchpad/deck_img/g06_escapeschool.jpg">    </p:cNvPr>
          <p:cNvPicPr>
            <a:picLocks noChangeAspect="1"/>
          </p:cNvPicPr>
          <p:nvPr/>
        </p:nvPicPr>
        <p:blipFill>
          <a:blip r:embed="rId4"/>
          <a:srcRect l="0" r="0" t="13891" b="-13891"/>
          <a:stretch/>
        </p:blipFill>
        <p:spPr>
          <a:xfrm>
            <a:off x="7991856" y="1554480"/>
            <a:ext cx="3474720" cy="1700784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7991856" y="334670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 탈출 SOS</a:t>
            </a:r>
            <a:endParaRPr lang="en-US" sz="1200" dirty="0"/>
          </a:p>
        </p:txBody>
      </p:sp>
      <p:sp>
        <p:nvSpPr>
          <p:cNvPr id="18" name="Text 12"/>
          <p:cNvSpPr/>
          <p:nvPr/>
        </p:nvSpPr>
        <p:spPr>
          <a:xfrm>
            <a:off x="7991856" y="358444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말해야 문이 열린다</a:t>
            </a:r>
            <a:endParaRPr lang="en-US" sz="950" dirty="0"/>
          </a:p>
        </p:txBody>
      </p:sp>
      <p:sp>
        <p:nvSpPr>
          <p:cNvPr id="19" name="Shape 13"/>
          <p:cNvSpPr/>
          <p:nvPr/>
        </p:nvSpPr>
        <p:spPr>
          <a:xfrm>
            <a:off x="530352" y="3895344"/>
            <a:ext cx="3547872" cy="1773936"/>
          </a:xfrm>
          <a:prstGeom prst="roundRect">
            <a:avLst>
              <a:gd name="adj" fmla="val 412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0" name="Image 4" descr="/tmp/claude-0/-home-user-mangoiweb/ca835eb4-1670-5fc1-a29a-2fc77598fea3/scratchpad/deck_img/g08_langace.jpg">    </p:cNvPr>
          <p:cNvPicPr>
            <a:picLocks noChangeAspect="1"/>
          </p:cNvPicPr>
          <p:nvPr/>
        </p:nvPicPr>
        <p:blipFill>
          <a:blip r:embed="rId5"/>
          <a:srcRect l="0" r="0" t="13891" b="-13891"/>
          <a:stretch/>
        </p:blipFill>
        <p:spPr>
          <a:xfrm>
            <a:off x="566928" y="3931920"/>
            <a:ext cx="3474720" cy="1700784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566928" y="572414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P-38 라이트닝</a:t>
            </a:r>
            <a:endParaRPr lang="en-US" sz="1200" dirty="0"/>
          </a:p>
        </p:txBody>
      </p:sp>
      <p:sp>
        <p:nvSpPr>
          <p:cNvPr id="22" name="Text 15"/>
          <p:cNvSpPr/>
          <p:nvPr/>
        </p:nvSpPr>
        <p:spPr>
          <a:xfrm>
            <a:off x="566928" y="596188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적기에 실린 단어를 어순대로</a:t>
            </a:r>
            <a:endParaRPr lang="en-US" sz="950" dirty="0"/>
          </a:p>
        </p:txBody>
      </p:sp>
      <p:sp>
        <p:nvSpPr>
          <p:cNvPr id="23" name="Shape 16"/>
          <p:cNvSpPr/>
          <p:nvPr/>
        </p:nvSpPr>
        <p:spPr>
          <a:xfrm>
            <a:off x="4242816" y="3895344"/>
            <a:ext cx="3547872" cy="1773936"/>
          </a:xfrm>
          <a:prstGeom prst="roundRect">
            <a:avLst>
              <a:gd name="adj" fmla="val 412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4" name="Image 5" descr="/tmp/claude-0/-home-user-mangoiweb/ca835eb4-1670-5fc1-a29a-2fc77598fea3/scratchpad/deck_img/g17_suspect.jpg">    </p:cNvPr>
          <p:cNvPicPr>
            <a:picLocks noChangeAspect="1"/>
          </p:cNvPicPr>
          <p:nvPr/>
        </p:nvPicPr>
        <p:blipFill>
          <a:blip r:embed="rId6"/>
          <a:srcRect l="0" r="0" t="13891" b="-13891"/>
          <a:stretch/>
        </p:blipFill>
        <p:spPr>
          <a:xfrm>
            <a:off x="4279392" y="3931920"/>
            <a:ext cx="3474720" cy="1700784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4279392" y="572414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용의자 추리</a:t>
            </a:r>
            <a:endParaRPr lang="en-US" sz="1200" dirty="0"/>
          </a:p>
        </p:txBody>
      </p:sp>
      <p:sp>
        <p:nvSpPr>
          <p:cNvPr id="26" name="Text 18"/>
          <p:cNvSpPr/>
          <p:nvPr/>
        </p:nvSpPr>
        <p:spPr>
          <a:xfrm>
            <a:off x="4279392" y="596188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힌트를 듣고 영어로 범인을</a:t>
            </a:r>
            <a:endParaRPr lang="en-US" sz="950" dirty="0"/>
          </a:p>
        </p:txBody>
      </p:sp>
      <p:sp>
        <p:nvSpPr>
          <p:cNvPr id="27" name="Shape 19"/>
          <p:cNvSpPr/>
          <p:nvPr/>
        </p:nvSpPr>
        <p:spPr>
          <a:xfrm>
            <a:off x="7955280" y="3895344"/>
            <a:ext cx="3547872" cy="1773936"/>
          </a:xfrm>
          <a:prstGeom prst="roundRect">
            <a:avLst>
              <a:gd name="adj" fmla="val 412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8" name="Image 6" descr="/tmp/claude-0/-home-user-mangoiweb/ca835eb4-1670-5fc1-a29a-2fc77598fea3/scratchpad/deck_img/g21_rescue.jpg">    </p:cNvPr>
          <p:cNvPicPr>
            <a:picLocks noChangeAspect="1"/>
          </p:cNvPicPr>
          <p:nvPr/>
        </p:nvPicPr>
        <p:blipFill>
          <a:blip r:embed="rId7"/>
          <a:srcRect l="0" r="0" t="13891" b="-13891"/>
          <a:stretch/>
        </p:blipFill>
        <p:spPr>
          <a:xfrm>
            <a:off x="7991856" y="3931920"/>
            <a:ext cx="3474720" cy="1700784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7991856" y="572414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망고 구조선의 대항해</a:t>
            </a:r>
            <a:endParaRPr lang="en-US" sz="1200" dirty="0"/>
          </a:p>
        </p:txBody>
      </p:sp>
      <p:sp>
        <p:nvSpPr>
          <p:cNvPr id="30" name="Text 21"/>
          <p:cNvSpPr/>
          <p:nvPr/>
        </p:nvSpPr>
        <p:spPr>
          <a:xfrm>
            <a:off x="7991856" y="596188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구한 단어로 문장을 말한다</a:t>
            </a:r>
            <a:endParaRPr lang="en-US" sz="950" dirty="0"/>
          </a:p>
        </p:txBody>
      </p:sp>
      <p:sp>
        <p:nvSpPr>
          <p:cNvPr id="31" name="Text 22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 09 · 동기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234879" y="384048"/>
            <a:ext cx="1389888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234879" y="384048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Avatar Quest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아바타 키우기 — 말할수록 자랍니다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449824" y="1517904"/>
            <a:ext cx="6199632" cy="3904244"/>
          </a:xfrm>
          <a:prstGeom prst="roundRect">
            <a:avLst>
              <a:gd name="adj" fmla="val 187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1" descr="/tmp/claude-0/-home-user-mangoiweb/ca835eb4-1670-5fc1-a29a-2fc77598fea3/scratchpad/deck_img/avata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554480"/>
            <a:ext cx="6126480" cy="38310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486400" y="5550164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판다 · 여우 · 드래곤 · 강아지 중 하나를 골라 5단계 진화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566928" y="1627632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804672" y="1956816"/>
            <a:ext cx="146304" cy="146304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1078992" y="17373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친구를 고른다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1078992" y="2029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캐릭터 중 하나로 시작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566928" y="2487168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04672" y="2816352"/>
            <a:ext cx="146304" cy="146304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1078992" y="259689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미션마다 EXP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1078992" y="288950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영어·중국어 미션이 곧 경험치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566928" y="3346704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04672" y="3675888"/>
            <a:ext cx="146304" cy="146304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078992" y="34564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5단계까지 진화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1078992" y="37490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진화할 때마다 연출이 바뀐다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566928" y="4206240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804672" y="4535424"/>
            <a:ext cx="146304" cy="146304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1078992" y="4315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바꿔도 유지된다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1078992" y="460857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캐릭터를 바꿔도 EXP는 그대로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566928" y="5157216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804672" y="526694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804672" y="546811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성장 마인드셋 — 능력은 노력으로 자란다 (Dweck 2006)</a:t>
            </a:r>
            <a:endParaRPr lang="en-US" sz="950" dirty="0"/>
          </a:p>
        </p:txBody>
      </p:sp>
      <p:sp>
        <p:nvSpPr>
          <p:cNvPr id="29" name="Text 25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 10 · 습관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001707" y="384048"/>
            <a:ext cx="1623060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001707" y="384048"/>
            <a:ext cx="16230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Streak &amp; Points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연속 학습 — 하루도 끊기지 않게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30352" y="1517904"/>
            <a:ext cx="6199632" cy="3904244"/>
          </a:xfrm>
          <a:prstGeom prst="roundRect">
            <a:avLst>
              <a:gd name="adj" fmla="val 187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1" descr="/tmp/claude-0/-home-user-mangoiweb/ca835eb4-1670-5fc1-a29a-2fc77598fea3/scratchpad/deck_img/streak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54480"/>
            <a:ext cx="6126480" cy="38310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66928" y="5550164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연속 일수 · 포인트 · 배지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6967728" y="1627632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205472" y="1956816"/>
            <a:ext cx="146304" cy="14630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479792" y="17373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한 번이면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7479792" y="2029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1분 퀴즈 하나로 그날이 채워진다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967728" y="2487168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205472" y="2816352"/>
            <a:ext cx="146304" cy="14630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479792" y="259689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연속 일수가 보인다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7479792" y="288950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끊기지 않게 만드는 가장 단순한 장치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6967728" y="3346704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7205472" y="3675888"/>
            <a:ext cx="146304" cy="14630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7479792" y="34564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포인트가 쌓인다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7479792" y="37490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기프티콘으로 교환 가능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6967728" y="4206240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7205472" y="4535424"/>
            <a:ext cx="146304" cy="14630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7479792" y="4315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성적이 아니라 습관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7479792" y="460857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결과가 아닌 과정에만 보상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6967728" y="5157216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7205472" y="526694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7205472" y="546811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외적 보상의 역효과(Deci 1999)를 피해 «습관»에만 연결</a:t>
            </a:r>
            <a:endParaRPr lang="en-US" sz="950" dirty="0"/>
          </a:p>
        </p:txBody>
      </p:sp>
      <p:sp>
        <p:nvSpPr>
          <p:cNvPr id="29" name="Text 25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 11 · 진단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157155" y="384048"/>
            <a:ext cx="1467612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157155" y="384048"/>
            <a:ext cx="14676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Level Test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레벨 진단 — 어디서 시작할지 정합니다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449824" y="1517904"/>
            <a:ext cx="6199632" cy="3904244"/>
          </a:xfrm>
          <a:prstGeom prst="roundRect">
            <a:avLst>
              <a:gd name="adj" fmla="val 187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1" descr="/tmp/claude-0/-home-user-mangoiweb/ca835eb4-1670-5fc1-a29a-2fc77598fea3/scratchpad/deck_img/leveltestai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554480"/>
            <a:ext cx="6126480" cy="38310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486400" y="5550164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학생 ID만 넣으면 즉시 시작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566928" y="1627632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804672" y="1956816"/>
            <a:ext cx="146304" cy="14630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1078992" y="17373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즉시 시작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1078992" y="2029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ID만 입력하면 바로 진단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566928" y="2487168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04672" y="2816352"/>
            <a:ext cx="146304" cy="14630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1078992" y="259689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CEFR 기준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1078992" y="288950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1~8 중 시작 지점 판정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566928" y="3346704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04672" y="3675888"/>
            <a:ext cx="146304" cy="14630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078992" y="34564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강·약점까지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1078992" y="37490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부족한지 함께 정리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566928" y="4206240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804672" y="4535424"/>
            <a:ext cx="146304" cy="14630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1078992" y="4315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교재가 연결된다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1078992" y="460857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레벨에 맞는 커리큘럼 자동 배정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566928" y="5157216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804672" y="526694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804672" y="546811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크라션 i+1 — 수준보다 살짝 위에서 배운다</a:t>
            </a:r>
            <a:endParaRPr lang="en-US" sz="950" dirty="0"/>
          </a:p>
        </p:txBody>
      </p:sp>
      <p:sp>
        <p:nvSpPr>
          <p:cNvPr id="29" name="Text 25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 12 · 평가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468051" y="384048"/>
            <a:ext cx="1156716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468051" y="384048"/>
            <a:ext cx="11567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Report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자동 평가서 · 월간 리포트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30352" y="1517904"/>
            <a:ext cx="6199632" cy="4010436"/>
          </a:xfrm>
          <a:prstGeom prst="roundRect">
            <a:avLst>
              <a:gd name="adj" fmla="val 182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1" descr="/tmp/claude-0/-home-user-mangoiweb/ca835eb4-1670-5fc1-a29a-2fc77598fea3/scratchpad/deck_img/paren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54480"/>
            <a:ext cx="6126480" cy="393728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66928" y="5656356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학부모 리포트 — 카카오톡으로 발송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6967728" y="1627632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205472" y="1956816"/>
            <a:ext cx="146304" cy="146304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479792" y="17373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 수업 자동 생성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7479792" y="2029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발음 · 표현 · 참여도를 A.I가 분석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967728" y="2487168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205472" y="2816352"/>
            <a:ext cx="146304" cy="146304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479792" y="259689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약점이 복습으로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7479792" y="288950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부분이 다음 퀴즈·게임 재료로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6967728" y="3346704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7205472" y="3675888"/>
            <a:ext cx="146304" cy="146304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7479792" y="34564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매주 · 매달 요약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7479792" y="37490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주간 리포트와 월간 A.I 리포트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6967728" y="4206240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7205472" y="4535424"/>
            <a:ext cx="146304" cy="146304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7479792" y="4315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카카오톡으로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7479792" y="460857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앱을 열지 않아도 손 안에 도착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6967728" y="5157216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7205472" y="526694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7205472" y="546811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교사 피드백과 A.I 학습기록을 하나로 연결</a:t>
            </a:r>
            <a:endParaRPr lang="en-US" sz="950" dirty="0"/>
          </a:p>
        </p:txBody>
      </p:sp>
      <p:sp>
        <p:nvSpPr>
          <p:cNvPr id="29" name="Text 25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 · 한 장 요약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234879" y="384048"/>
            <a:ext cx="1389888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234879" y="384048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Contents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하루가 이렇게 채워집니다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66928" y="1554480"/>
            <a:ext cx="1723644" cy="2157984"/>
          </a:xfrm>
          <a:prstGeom prst="roundRect">
            <a:avLst>
              <a:gd name="adj" fmla="val 5305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1682496"/>
            <a:ext cx="14310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전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713232" y="1938528"/>
            <a:ext cx="14493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웜업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76656" y="2487168"/>
            <a:ext cx="1504188" cy="968027"/>
          </a:xfrm>
          <a:prstGeom prst="roundRect">
            <a:avLst>
              <a:gd name="adj" fmla="val 7557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1" name="Image 1" descr="/tmp/claude-0/-home-user-mangoiweb/ca835eb4-1670-5fc1-a29a-2fc77598fea3/scratchpad/deck_img/warmup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523744"/>
            <a:ext cx="1431036" cy="89487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295144" y="2651760"/>
            <a:ext cx="137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2427732" y="1554480"/>
            <a:ext cx="1723644" cy="2157984"/>
          </a:xfrm>
          <a:prstGeom prst="roundRect">
            <a:avLst>
              <a:gd name="adj" fmla="val 5305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2574036" y="1682496"/>
            <a:ext cx="14310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2574036" y="1938528"/>
            <a:ext cx="14493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원어민 1:1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2537460" y="2487168"/>
            <a:ext cx="1504188" cy="976613"/>
          </a:xfrm>
          <a:prstGeom prst="roundRect">
            <a:avLst>
              <a:gd name="adj" fmla="val 749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7" name="Image 2" descr="/tmp/claude-0/-home-user-mangoiweb/ca835eb4-1670-5fc1-a29a-2fc77598fea3/scratchpad/deck_img/curriculum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4036" y="2523744"/>
            <a:ext cx="1431036" cy="90346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4155948" y="2651760"/>
            <a:ext cx="137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4288536" y="1554480"/>
            <a:ext cx="1723644" cy="2157984"/>
          </a:xfrm>
          <a:prstGeom prst="roundRect">
            <a:avLst>
              <a:gd name="adj" fmla="val 5305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4434840" y="1682496"/>
            <a:ext cx="14310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직후</a:t>
            </a:r>
            <a:endParaRPr lang="en-US" sz="950" dirty="0"/>
          </a:p>
        </p:txBody>
      </p:sp>
      <p:sp>
        <p:nvSpPr>
          <p:cNvPr id="21" name="Text 16"/>
          <p:cNvSpPr/>
          <p:nvPr/>
        </p:nvSpPr>
        <p:spPr>
          <a:xfrm>
            <a:off x="4434840" y="1938528"/>
            <a:ext cx="14493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평가서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4398264" y="2487168"/>
            <a:ext cx="1504188" cy="992831"/>
          </a:xfrm>
          <a:prstGeom prst="roundRect">
            <a:avLst>
              <a:gd name="adj" fmla="val 7368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3" name="Image 3" descr="/tmp/claude-0/-home-user-mangoiweb/ca835eb4-1670-5fc1-a29a-2fc77598fea3/scratchpad/deck_img/parent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4840" y="2523744"/>
            <a:ext cx="1431036" cy="919679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6016752" y="2651760"/>
            <a:ext cx="137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800" dirty="0"/>
          </a:p>
        </p:txBody>
      </p:sp>
      <p:sp>
        <p:nvSpPr>
          <p:cNvPr id="25" name="Shape 19"/>
          <p:cNvSpPr/>
          <p:nvPr/>
        </p:nvSpPr>
        <p:spPr>
          <a:xfrm>
            <a:off x="6149340" y="1554480"/>
            <a:ext cx="1723644" cy="2157984"/>
          </a:xfrm>
          <a:prstGeom prst="roundRect">
            <a:avLst>
              <a:gd name="adj" fmla="val 5305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6295644" y="1682496"/>
            <a:ext cx="14310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저녁</a:t>
            </a:r>
            <a:endParaRPr lang="en-US" sz="950" dirty="0"/>
          </a:p>
        </p:txBody>
      </p:sp>
      <p:sp>
        <p:nvSpPr>
          <p:cNvPr id="27" name="Text 21"/>
          <p:cNvSpPr/>
          <p:nvPr/>
        </p:nvSpPr>
        <p:spPr>
          <a:xfrm>
            <a:off x="6295644" y="1938528"/>
            <a:ext cx="14493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복습 퀴즈 · 단어장</a:t>
            </a:r>
            <a:endParaRPr lang="en-US" sz="1250" dirty="0"/>
          </a:p>
        </p:txBody>
      </p:sp>
      <p:sp>
        <p:nvSpPr>
          <p:cNvPr id="28" name="Shape 22"/>
          <p:cNvSpPr/>
          <p:nvPr/>
        </p:nvSpPr>
        <p:spPr>
          <a:xfrm>
            <a:off x="6259068" y="2487168"/>
            <a:ext cx="1504188" cy="968027"/>
          </a:xfrm>
          <a:prstGeom prst="roundRect">
            <a:avLst>
              <a:gd name="adj" fmla="val 7557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9" name="Image 4" descr="/tmp/claude-0/-home-user-mangoiweb/ca835eb4-1670-5fc1-a29a-2fc77598fea3/scratchpad/deck_img/microquiz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5644" y="2523744"/>
            <a:ext cx="1431036" cy="894875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7877556" y="2651760"/>
            <a:ext cx="137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800" dirty="0"/>
          </a:p>
        </p:txBody>
      </p:sp>
      <p:sp>
        <p:nvSpPr>
          <p:cNvPr id="31" name="Shape 24"/>
          <p:cNvSpPr/>
          <p:nvPr/>
        </p:nvSpPr>
        <p:spPr>
          <a:xfrm>
            <a:off x="8010144" y="1554480"/>
            <a:ext cx="1723644" cy="2157984"/>
          </a:xfrm>
          <a:prstGeom prst="roundRect">
            <a:avLst>
              <a:gd name="adj" fmla="val 5305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32" name="Text 25"/>
          <p:cNvSpPr/>
          <p:nvPr/>
        </p:nvSpPr>
        <p:spPr>
          <a:xfrm>
            <a:off x="8156448" y="1682496"/>
            <a:ext cx="14310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 전</a:t>
            </a:r>
            <a:endParaRPr lang="en-US" sz="950" dirty="0"/>
          </a:p>
        </p:txBody>
      </p:sp>
      <p:sp>
        <p:nvSpPr>
          <p:cNvPr id="33" name="Text 26"/>
          <p:cNvSpPr/>
          <p:nvPr/>
        </p:nvSpPr>
        <p:spPr>
          <a:xfrm>
            <a:off x="8156448" y="1938528"/>
            <a:ext cx="14493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친구 대화</a:t>
            </a:r>
            <a:endParaRPr lang="en-US" sz="1250" dirty="0"/>
          </a:p>
        </p:txBody>
      </p:sp>
      <p:sp>
        <p:nvSpPr>
          <p:cNvPr id="34" name="Shape 27"/>
          <p:cNvSpPr/>
          <p:nvPr/>
        </p:nvSpPr>
        <p:spPr>
          <a:xfrm>
            <a:off x="8119872" y="2487168"/>
            <a:ext cx="1504188" cy="976613"/>
          </a:xfrm>
          <a:prstGeom prst="roundRect">
            <a:avLst>
              <a:gd name="adj" fmla="val 749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35" name="Image 5" descr="/tmp/claude-0/-home-user-mangoiweb/ca835eb4-1670-5fc1-a29a-2fc77598fea3/scratchpad/deck_img/aifriend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6448" y="2523744"/>
            <a:ext cx="1431036" cy="903461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9738360" y="2651760"/>
            <a:ext cx="137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800" dirty="0"/>
          </a:p>
        </p:txBody>
      </p:sp>
      <p:sp>
        <p:nvSpPr>
          <p:cNvPr id="37" name="Shape 29"/>
          <p:cNvSpPr/>
          <p:nvPr/>
        </p:nvSpPr>
        <p:spPr>
          <a:xfrm>
            <a:off x="9870948" y="1554480"/>
            <a:ext cx="1723644" cy="2157984"/>
          </a:xfrm>
          <a:prstGeom prst="roundRect">
            <a:avLst>
              <a:gd name="adj" fmla="val 5305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38" name="Text 30"/>
          <p:cNvSpPr/>
          <p:nvPr/>
        </p:nvSpPr>
        <p:spPr>
          <a:xfrm>
            <a:off x="10017252" y="1682496"/>
            <a:ext cx="14310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주말</a:t>
            </a:r>
            <a:endParaRPr lang="en-US" sz="950" dirty="0"/>
          </a:p>
        </p:txBody>
      </p:sp>
      <p:sp>
        <p:nvSpPr>
          <p:cNvPr id="39" name="Text 31"/>
          <p:cNvSpPr/>
          <p:nvPr/>
        </p:nvSpPr>
        <p:spPr>
          <a:xfrm>
            <a:off x="10017252" y="1938528"/>
            <a:ext cx="14493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게임 · 아바타</a:t>
            </a:r>
            <a:endParaRPr lang="en-US" sz="1250" dirty="0"/>
          </a:p>
        </p:txBody>
      </p:sp>
      <p:sp>
        <p:nvSpPr>
          <p:cNvPr id="40" name="Shape 32"/>
          <p:cNvSpPr/>
          <p:nvPr/>
        </p:nvSpPr>
        <p:spPr>
          <a:xfrm>
            <a:off x="9980676" y="2487168"/>
            <a:ext cx="1504188" cy="968027"/>
          </a:xfrm>
          <a:prstGeom prst="roundRect">
            <a:avLst>
              <a:gd name="adj" fmla="val 7557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41" name="Image 6" descr="/tmp/claude-0/-home-user-mangoiweb/ca835eb4-1670-5fc1-a29a-2fc77598fea3/scratchpad/deck_img/games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17252" y="2523744"/>
            <a:ext cx="1431036" cy="894875"/>
          </a:xfrm>
          <a:prstGeom prst="rect">
            <a:avLst/>
          </a:prstGeom>
        </p:spPr>
      </p:pic>
      <p:sp>
        <p:nvSpPr>
          <p:cNvPr id="42" name="Shape 33"/>
          <p:cNvSpPr/>
          <p:nvPr/>
        </p:nvSpPr>
        <p:spPr>
          <a:xfrm>
            <a:off x="530352" y="3877056"/>
            <a:ext cx="1796796" cy="1151004"/>
          </a:xfrm>
          <a:prstGeom prst="roundRect">
            <a:avLst>
              <a:gd name="adj" fmla="val 635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43" name="Image 7" descr="/tmp/claude-0/-home-user-mangoiweb/ca835eb4-1670-5fc1-a29a-2fc77598fea3/scratchpad/deck_img/speech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6928" y="3913632"/>
            <a:ext cx="1723644" cy="1077852"/>
          </a:xfrm>
          <a:prstGeom prst="rect">
            <a:avLst/>
          </a:prstGeom>
        </p:spPr>
      </p:pic>
      <p:sp>
        <p:nvSpPr>
          <p:cNvPr id="44" name="Text 34"/>
          <p:cNvSpPr/>
          <p:nvPr/>
        </p:nvSpPr>
        <p:spPr>
          <a:xfrm>
            <a:off x="566928" y="5029200"/>
            <a:ext cx="17236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음성코치</a:t>
            </a:r>
            <a:endParaRPr lang="en-US" sz="950" dirty="0"/>
          </a:p>
        </p:txBody>
      </p:sp>
      <p:sp>
        <p:nvSpPr>
          <p:cNvPr id="45" name="Shape 35"/>
          <p:cNvSpPr/>
          <p:nvPr/>
        </p:nvSpPr>
        <p:spPr>
          <a:xfrm>
            <a:off x="2391156" y="3877056"/>
            <a:ext cx="1796796" cy="1151004"/>
          </a:xfrm>
          <a:prstGeom prst="roundRect">
            <a:avLst>
              <a:gd name="adj" fmla="val 635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46" name="Image 8" descr="/tmp/claude-0/-home-user-mangoiweb/ca835eb4-1670-5fc1-a29a-2fc77598fea3/scratchpad/deck_img/aiwrite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27732" y="3913632"/>
            <a:ext cx="1723644" cy="1077852"/>
          </a:xfrm>
          <a:prstGeom prst="rect">
            <a:avLst/>
          </a:prstGeom>
        </p:spPr>
      </p:pic>
      <p:sp>
        <p:nvSpPr>
          <p:cNvPr id="47" name="Text 36"/>
          <p:cNvSpPr/>
          <p:nvPr/>
        </p:nvSpPr>
        <p:spPr>
          <a:xfrm>
            <a:off x="2427732" y="5029200"/>
            <a:ext cx="17236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영작 첨삭</a:t>
            </a:r>
            <a:endParaRPr lang="en-US" sz="950" dirty="0"/>
          </a:p>
        </p:txBody>
      </p:sp>
      <p:sp>
        <p:nvSpPr>
          <p:cNvPr id="48" name="Shape 37"/>
          <p:cNvSpPr/>
          <p:nvPr/>
        </p:nvSpPr>
        <p:spPr>
          <a:xfrm>
            <a:off x="4251960" y="3877056"/>
            <a:ext cx="1796796" cy="1151004"/>
          </a:xfrm>
          <a:prstGeom prst="roundRect">
            <a:avLst>
              <a:gd name="adj" fmla="val 635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49" name="Image 9" descr="/tmp/claude-0/-home-user-mangoiweb/ca835eb4-1670-5fc1-a29a-2fc77598fea3/scratchpad/deck_img/vocab.jp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288536" y="3913632"/>
            <a:ext cx="1723644" cy="1077852"/>
          </a:xfrm>
          <a:prstGeom prst="rect">
            <a:avLst/>
          </a:prstGeom>
        </p:spPr>
      </p:pic>
      <p:sp>
        <p:nvSpPr>
          <p:cNvPr id="50" name="Text 38"/>
          <p:cNvSpPr/>
          <p:nvPr/>
        </p:nvSpPr>
        <p:spPr>
          <a:xfrm>
            <a:off x="4288536" y="5029200"/>
            <a:ext cx="17236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단어장</a:t>
            </a:r>
            <a:endParaRPr lang="en-US" sz="950" dirty="0"/>
          </a:p>
        </p:txBody>
      </p:sp>
      <p:sp>
        <p:nvSpPr>
          <p:cNvPr id="51" name="Shape 39"/>
          <p:cNvSpPr/>
          <p:nvPr/>
        </p:nvSpPr>
        <p:spPr>
          <a:xfrm>
            <a:off x="6112764" y="3877056"/>
            <a:ext cx="1796796" cy="1151004"/>
          </a:xfrm>
          <a:prstGeom prst="roundRect">
            <a:avLst>
              <a:gd name="adj" fmla="val 635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52" name="Image 10" descr="/tmp/claude-0/-home-user-mangoiweb/ca835eb4-1670-5fc1-a29a-2fc77598fea3/scratchpad/deck_img/judgment.jp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149340" y="3913632"/>
            <a:ext cx="1723644" cy="1077852"/>
          </a:xfrm>
          <a:prstGeom prst="rect">
            <a:avLst/>
          </a:prstGeom>
        </p:spPr>
      </p:pic>
      <p:sp>
        <p:nvSpPr>
          <p:cNvPr id="53" name="Text 40"/>
          <p:cNvSpPr/>
          <p:nvPr/>
        </p:nvSpPr>
        <p:spPr>
          <a:xfrm>
            <a:off x="6149340" y="5029200"/>
            <a:ext cx="17236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판단력 훈련</a:t>
            </a:r>
            <a:endParaRPr lang="en-US" sz="950" dirty="0"/>
          </a:p>
        </p:txBody>
      </p:sp>
      <p:sp>
        <p:nvSpPr>
          <p:cNvPr id="54" name="Shape 41"/>
          <p:cNvSpPr/>
          <p:nvPr/>
        </p:nvSpPr>
        <p:spPr>
          <a:xfrm>
            <a:off x="7973568" y="3877056"/>
            <a:ext cx="1796796" cy="1151004"/>
          </a:xfrm>
          <a:prstGeom prst="roundRect">
            <a:avLst>
              <a:gd name="adj" fmla="val 635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55" name="Image 11" descr="/tmp/claude-0/-home-user-mangoiweb/ca835eb4-1670-5fc1-a29a-2fc77598fea3/scratchpad/deck_img/streak.jp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010144" y="3913632"/>
            <a:ext cx="1723644" cy="1077852"/>
          </a:xfrm>
          <a:prstGeom prst="rect">
            <a:avLst/>
          </a:prstGeom>
        </p:spPr>
      </p:pic>
      <p:sp>
        <p:nvSpPr>
          <p:cNvPr id="56" name="Text 42"/>
          <p:cNvSpPr/>
          <p:nvPr/>
        </p:nvSpPr>
        <p:spPr>
          <a:xfrm>
            <a:off x="8010144" y="5029200"/>
            <a:ext cx="17236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연속 학습</a:t>
            </a:r>
            <a:endParaRPr lang="en-US" sz="950" dirty="0"/>
          </a:p>
        </p:txBody>
      </p:sp>
      <p:sp>
        <p:nvSpPr>
          <p:cNvPr id="57" name="Shape 43"/>
          <p:cNvSpPr/>
          <p:nvPr/>
        </p:nvSpPr>
        <p:spPr>
          <a:xfrm>
            <a:off x="9834372" y="3877056"/>
            <a:ext cx="1796796" cy="1151004"/>
          </a:xfrm>
          <a:prstGeom prst="roundRect">
            <a:avLst>
              <a:gd name="adj" fmla="val 635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58" name="Image 12" descr="/tmp/claude-0/-home-user-mangoiweb/ca835eb4-1670-5fc1-a29a-2fc77598fea3/scratchpad/deck_img/avatar.jp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870948" y="3913632"/>
            <a:ext cx="1723644" cy="1077852"/>
          </a:xfrm>
          <a:prstGeom prst="rect">
            <a:avLst/>
          </a:prstGeom>
        </p:spPr>
      </p:pic>
      <p:sp>
        <p:nvSpPr>
          <p:cNvPr id="59" name="Text 44"/>
          <p:cNvSpPr/>
          <p:nvPr/>
        </p:nvSpPr>
        <p:spPr>
          <a:xfrm>
            <a:off x="9870948" y="5029200"/>
            <a:ext cx="17236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아바타</a:t>
            </a:r>
            <a:endParaRPr lang="en-US" sz="950" dirty="0"/>
          </a:p>
        </p:txBody>
      </p:sp>
      <p:sp>
        <p:nvSpPr>
          <p:cNvPr id="60" name="Shape 45"/>
          <p:cNvSpPr/>
          <p:nvPr/>
        </p:nvSpPr>
        <p:spPr>
          <a:xfrm>
            <a:off x="566928" y="5431536"/>
            <a:ext cx="11055096" cy="822960"/>
          </a:xfrm>
          <a:prstGeom prst="roundRect">
            <a:avLst>
              <a:gd name="adj" fmla="val 11111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61" name="Text 46"/>
          <p:cNvSpPr/>
          <p:nvPr/>
        </p:nvSpPr>
        <p:spPr>
          <a:xfrm>
            <a:off x="566928" y="5431536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수업은 주 2회, A.I 학습 콘텐츠는 매일</a:t>
            </a:r>
            <a:endParaRPr lang="en-US" sz="2000" dirty="0"/>
          </a:p>
        </p:txBody>
      </p:sp>
      <p:sp>
        <p:nvSpPr>
          <p:cNvPr id="62" name="Text 47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theory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02 · 왜 이렇게 만들었나  (1/2)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9923983" y="384048"/>
            <a:ext cx="1700784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923983" y="384048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Bloom · Vygotsky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1:1 지도의 효과를, A.I로 매일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66928" y="1517904"/>
            <a:ext cx="50292" cy="40233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31520" y="1481328"/>
            <a:ext cx="5468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Bloom (1984) · VanLehn (2011)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731520" y="1664208"/>
            <a:ext cx="5468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2시그마 문제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66928" y="2048256"/>
            <a:ext cx="5632704" cy="2560320"/>
          </a:xfrm>
          <a:prstGeom prst="roundRect">
            <a:avLst>
              <a:gd name="adj" fmla="val 3571"/>
            </a:avLst>
          </a:prstGeom>
          <a:solidFill>
            <a:srgbClr val="0E142A"/>
          </a:solidFill>
          <a:ln w="12700">
            <a:solidFill>
              <a:srgbClr val="2A3557"/>
            </a:solidFill>
            <a:prstDash val="solid"/>
          </a:ln>
        </p:spPr>
      </p:sp>
      <p:graphicFrame>
        <p:nvGraphicFramePr>
          <p:cNvPr id="11" name="Chart 0" descr=""/>
          <p:cNvGraphicFramePr/>
          <p:nvPr/>
        </p:nvGraphicFramePr>
        <p:xfrm>
          <a:off x="621792" y="2103120"/>
          <a:ext cx="5522976" cy="24505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 8"/>
          <p:cNvSpPr/>
          <p:nvPr/>
        </p:nvSpPr>
        <p:spPr>
          <a:xfrm>
            <a:off x="566928" y="4663440"/>
            <a:ext cx="5632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지능형 튜터링(0.76)이 인간 튜터(0.79)에 근접 — 확장 가능한 개인화</a:t>
            </a: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6455664" y="1517904"/>
            <a:ext cx="50292" cy="40233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620256" y="1481328"/>
            <a:ext cx="5010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Vygotsky (1978)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6620256" y="1664208"/>
            <a:ext cx="5010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근접발달영역 (ZPD)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6419088" y="2011680"/>
            <a:ext cx="3273552" cy="2514135"/>
          </a:xfrm>
          <a:prstGeom prst="roundRect">
            <a:avLst>
              <a:gd name="adj" fmla="val 291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7" name="Image 1" descr="/tmp/claude-0/-home-user-mangoiweb/ca835eb4-1670-5fc1-a29a-2fc77598fea3/scratchpad/deck_img/d_zp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5664" y="2048256"/>
            <a:ext cx="3200400" cy="2440983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9893808" y="2103120"/>
            <a:ext cx="1737360" cy="566928"/>
          </a:xfrm>
          <a:prstGeom prst="roundRect">
            <a:avLst>
              <a:gd name="adj" fmla="val 16129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10040112" y="215798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유능한 타인</a:t>
            </a:r>
            <a:endParaRPr lang="en-US" sz="950" dirty="0"/>
          </a:p>
        </p:txBody>
      </p:sp>
      <p:sp>
        <p:nvSpPr>
          <p:cNvPr id="20" name="Text 15"/>
          <p:cNvSpPr/>
          <p:nvPr/>
        </p:nvSpPr>
        <p:spPr>
          <a:xfrm>
            <a:off x="10040112" y="2377440"/>
            <a:ext cx="1481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전담 원어민 교사</a:t>
            </a:r>
            <a:endParaRPr lang="en-US" sz="750" dirty="0"/>
          </a:p>
        </p:txBody>
      </p:sp>
      <p:sp>
        <p:nvSpPr>
          <p:cNvPr id="21" name="Shape 16"/>
          <p:cNvSpPr/>
          <p:nvPr/>
        </p:nvSpPr>
        <p:spPr>
          <a:xfrm>
            <a:off x="9893808" y="2743200"/>
            <a:ext cx="1737360" cy="566928"/>
          </a:xfrm>
          <a:prstGeom prst="roundRect">
            <a:avLst>
              <a:gd name="adj" fmla="val 16129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10040112" y="279806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스캐폴딩</a:t>
            </a:r>
            <a:endParaRPr lang="en-US" sz="950" dirty="0"/>
          </a:p>
        </p:txBody>
      </p:sp>
      <p:sp>
        <p:nvSpPr>
          <p:cNvPr id="23" name="Text 18"/>
          <p:cNvSpPr/>
          <p:nvPr/>
        </p:nvSpPr>
        <p:spPr>
          <a:xfrm>
            <a:off x="10040112" y="3017520"/>
            <a:ext cx="1481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음성코치 · 힌트</a:t>
            </a:r>
            <a:endParaRPr lang="en-US" sz="750" dirty="0"/>
          </a:p>
        </p:txBody>
      </p:sp>
      <p:sp>
        <p:nvSpPr>
          <p:cNvPr id="24" name="Shape 19"/>
          <p:cNvSpPr/>
          <p:nvPr/>
        </p:nvSpPr>
        <p:spPr>
          <a:xfrm>
            <a:off x="9893808" y="3383280"/>
            <a:ext cx="1737360" cy="566928"/>
          </a:xfrm>
          <a:prstGeom prst="roundRect">
            <a:avLst>
              <a:gd name="adj" fmla="val 16129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10040112" y="343814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점진적 철수</a:t>
            </a:r>
            <a:endParaRPr lang="en-US" sz="950" dirty="0"/>
          </a:p>
        </p:txBody>
      </p:sp>
      <p:sp>
        <p:nvSpPr>
          <p:cNvPr id="26" name="Text 21"/>
          <p:cNvSpPr/>
          <p:nvPr/>
        </p:nvSpPr>
        <p:spPr>
          <a:xfrm>
            <a:off x="10040112" y="3657600"/>
            <a:ext cx="1481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정확도 오르면 힌트↓</a:t>
            </a:r>
            <a:endParaRPr lang="en-US" sz="750" dirty="0"/>
          </a:p>
        </p:txBody>
      </p:sp>
      <p:sp>
        <p:nvSpPr>
          <p:cNvPr id="27" name="Shape 22"/>
          <p:cNvSpPr/>
          <p:nvPr/>
        </p:nvSpPr>
        <p:spPr>
          <a:xfrm>
            <a:off x="9893808" y="4023360"/>
            <a:ext cx="1737360" cy="566928"/>
          </a:xfrm>
          <a:prstGeom prst="roundRect">
            <a:avLst>
              <a:gd name="adj" fmla="val 16129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10040112" y="407822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움직인다</a:t>
            </a:r>
            <a:endParaRPr lang="en-US" sz="950" dirty="0"/>
          </a:p>
        </p:txBody>
      </p:sp>
      <p:sp>
        <p:nvSpPr>
          <p:cNvPr id="29" name="Text 24"/>
          <p:cNvSpPr/>
          <p:nvPr/>
        </p:nvSpPr>
        <p:spPr>
          <a:xfrm>
            <a:off x="10040112" y="4297680"/>
            <a:ext cx="1481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발화량·정확도 상시 측정</a:t>
            </a:r>
            <a:endParaRPr lang="en-US" sz="750" dirty="0"/>
          </a:p>
        </p:txBody>
      </p:sp>
      <p:sp>
        <p:nvSpPr>
          <p:cNvPr id="30" name="Text 25"/>
          <p:cNvSpPr/>
          <p:nvPr/>
        </p:nvSpPr>
        <p:spPr>
          <a:xfrm>
            <a:off x="6455664" y="4663440"/>
            <a:ext cx="5175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혼자선 못 하지만 도우면 되는 구간 — 교사와 A.I가 함께</a:t>
            </a:r>
            <a:endParaRPr lang="en-US" sz="850" dirty="0"/>
          </a:p>
        </p:txBody>
      </p:sp>
      <p:sp>
        <p:nvSpPr>
          <p:cNvPr id="31" name="Shape 26"/>
          <p:cNvSpPr/>
          <p:nvPr/>
        </p:nvSpPr>
        <p:spPr>
          <a:xfrm>
            <a:off x="566928" y="5029200"/>
            <a:ext cx="11055096" cy="786384"/>
          </a:xfrm>
          <a:prstGeom prst="roundRect">
            <a:avLst>
              <a:gd name="adj" fmla="val 11628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32" name="Text 27"/>
          <p:cNvSpPr/>
          <p:nvPr/>
        </p:nvSpPr>
        <p:spPr>
          <a:xfrm>
            <a:off x="566928" y="5029200"/>
            <a:ext cx="110550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수업은 사람이 1:1로, 나머지 시간은 A.I 콘텐츠가</a:t>
            </a:r>
            <a:endParaRPr lang="en-US" sz="1700" dirty="0"/>
          </a:p>
        </p:txBody>
      </p:sp>
      <p:sp>
        <p:nvSpPr>
          <p:cNvPr id="33" name="Text 28"/>
          <p:cNvSpPr/>
          <p:nvPr/>
        </p:nvSpPr>
        <p:spPr>
          <a:xfrm>
            <a:off x="566928" y="5961888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750" i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Bloom, B. S. (1984). Educational Researcher, 13(6), 4–16.  ·  VanLehn, K. (2011). Educational Psychologist, 46(4), 197–221.  ·  Vygotsky, L. S. (1978). Mind in Society.  ·  Wood, Bruner &amp; Ross (1976). JCPP, 17(2), 89–100.  ·  Clark, Tanner-Smith &amp; Killingsworth (2016). RER, 86(1), 79–122.</a:t>
            </a:r>
            <a:endParaRPr lang="en-US" sz="750" dirty="0"/>
          </a:p>
        </p:txBody>
      </p:sp>
      <p:sp>
        <p:nvSpPr>
          <p:cNvPr id="34" name="Text 29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theory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02 · 왜 이렇게 만들었나  (2/2)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8991295" y="384048"/>
            <a:ext cx="2633472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991295" y="384048"/>
            <a:ext cx="2633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Krashen · Swain · Ebbinghaus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말하게 하고, 남게 합니다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66928" y="1517904"/>
            <a:ext cx="50292" cy="40233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31520" y="1481328"/>
            <a:ext cx="5468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Chomsky · Krashen · Swain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731520" y="1664208"/>
            <a:ext cx="5468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듣고 · 말하고 · 고쳐 받는다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30352" y="2011680"/>
            <a:ext cx="5705856" cy="1332227"/>
          </a:xfrm>
          <a:prstGeom prst="roundRect">
            <a:avLst>
              <a:gd name="adj" fmla="val 5491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1" name="Image 1" descr="/tmp/claude-0/-home-user-mangoiweb/ca835eb4-1670-5fc1-a29a-2fc77598fea3/scratchpad/deck_img/d_i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048256"/>
            <a:ext cx="5632704" cy="1259075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566928" y="3529584"/>
            <a:ext cx="5632704" cy="548640"/>
          </a:xfrm>
          <a:prstGeom prst="roundRect">
            <a:avLst>
              <a:gd name="adj" fmla="val 16667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6384" y="3529584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암기로는 안 된다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3127248" y="3529584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촘스키 (1959·1965)</a:t>
            </a:r>
            <a:endParaRPr lang="en-US" sz="800" dirty="0"/>
          </a:p>
        </p:txBody>
      </p:sp>
      <p:sp>
        <p:nvSpPr>
          <p:cNvPr id="15" name="Text 11"/>
          <p:cNvSpPr/>
          <p:nvPr/>
        </p:nvSpPr>
        <p:spPr>
          <a:xfrm>
            <a:off x="4590288" y="3529584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</a:t>
            </a:r>
            <a:endParaRPr lang="en-US" sz="850" dirty="0"/>
          </a:p>
        </p:txBody>
      </p:sp>
      <p:sp>
        <p:nvSpPr>
          <p:cNvPr id="16" name="Shape 12"/>
          <p:cNvSpPr/>
          <p:nvPr/>
        </p:nvSpPr>
        <p:spPr>
          <a:xfrm>
            <a:off x="566928" y="4151376"/>
            <a:ext cx="5632704" cy="548640"/>
          </a:xfrm>
          <a:prstGeom prst="roundRect">
            <a:avLst>
              <a:gd name="adj" fmla="val 16667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786384" y="4151376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조금 위의 입력 (i+1)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3127248" y="4151376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크라션 (1982)</a:t>
            </a:r>
            <a:endParaRPr lang="en-US" sz="800" dirty="0"/>
          </a:p>
        </p:txBody>
      </p:sp>
      <p:sp>
        <p:nvSpPr>
          <p:cNvPr id="19" name="Text 15"/>
          <p:cNvSpPr/>
          <p:nvPr/>
        </p:nvSpPr>
        <p:spPr>
          <a:xfrm>
            <a:off x="4590288" y="4151376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웜업 · 레벨 진단</a:t>
            </a:r>
            <a:endParaRPr lang="en-US" sz="850" dirty="0"/>
          </a:p>
        </p:txBody>
      </p:sp>
      <p:sp>
        <p:nvSpPr>
          <p:cNvPr id="20" name="Shape 16"/>
          <p:cNvSpPr/>
          <p:nvPr/>
        </p:nvSpPr>
        <p:spPr>
          <a:xfrm>
            <a:off x="566928" y="4773168"/>
            <a:ext cx="5632704" cy="548640"/>
          </a:xfrm>
          <a:prstGeom prst="roundRect">
            <a:avLst>
              <a:gd name="adj" fmla="val 16667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86384" y="477316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말해 봐야 굳는다</a:t>
            </a:r>
            <a:endParaRPr lang="en-US" sz="1100" dirty="0"/>
          </a:p>
        </p:txBody>
      </p:sp>
      <p:sp>
        <p:nvSpPr>
          <p:cNvPr id="22" name="Text 18"/>
          <p:cNvSpPr/>
          <p:nvPr/>
        </p:nvSpPr>
        <p:spPr>
          <a:xfrm>
            <a:off x="3127248" y="4773168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스웨인 (1985)</a:t>
            </a:r>
            <a:endParaRPr lang="en-US" sz="800" dirty="0"/>
          </a:p>
        </p:txBody>
      </p:sp>
      <p:sp>
        <p:nvSpPr>
          <p:cNvPr id="23" name="Text 19"/>
          <p:cNvSpPr/>
          <p:nvPr/>
        </p:nvSpPr>
        <p:spPr>
          <a:xfrm>
            <a:off x="4590288" y="4773168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음성코치 · 친구 대화</a:t>
            </a:r>
            <a:endParaRPr lang="en-US" sz="850" dirty="0"/>
          </a:p>
        </p:txBody>
      </p:sp>
      <p:sp>
        <p:nvSpPr>
          <p:cNvPr id="24" name="Shape 20"/>
          <p:cNvSpPr/>
          <p:nvPr/>
        </p:nvSpPr>
        <p:spPr>
          <a:xfrm>
            <a:off x="6455664" y="1517904"/>
            <a:ext cx="50292" cy="40233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620256" y="1481328"/>
            <a:ext cx="5010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Ebbinghaus · Cepeda · Roediger · Sweller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620256" y="1664208"/>
            <a:ext cx="5010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간격을 두고, 꺼내 볼 것</a:t>
            </a:r>
            <a:endParaRPr lang="en-US" sz="1500" dirty="0"/>
          </a:p>
        </p:txBody>
      </p:sp>
      <p:sp>
        <p:nvSpPr>
          <p:cNvPr id="27" name="Shape 23"/>
          <p:cNvSpPr/>
          <p:nvPr/>
        </p:nvSpPr>
        <p:spPr>
          <a:xfrm>
            <a:off x="6419088" y="2011680"/>
            <a:ext cx="5248656" cy="2956647"/>
          </a:xfrm>
          <a:prstGeom prst="roundRect">
            <a:avLst>
              <a:gd name="adj" fmla="val 247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8" name="Image 2" descr="/tmp/claude-0/-home-user-mangoiweb/ca835eb4-1670-5fc1-a29a-2fc77598fea3/scratchpad/deck_img/d_forge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5664" y="2048256"/>
            <a:ext cx="5175504" cy="2883495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6455664" y="4956048"/>
            <a:ext cx="5175504" cy="457200"/>
          </a:xfrm>
          <a:prstGeom prst="roundRect">
            <a:avLst>
              <a:gd name="adj" fmla="val 20000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6656832" y="495604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분산 연습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7772400" y="495604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짧게 여러 번</a:t>
            </a:r>
            <a:endParaRPr lang="en-US" sz="850" dirty="0"/>
          </a:p>
        </p:txBody>
      </p:sp>
      <p:sp>
        <p:nvSpPr>
          <p:cNvPr id="32" name="Text 27"/>
          <p:cNvSpPr/>
          <p:nvPr/>
        </p:nvSpPr>
        <p:spPr>
          <a:xfrm>
            <a:off x="9509760" y="495604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1분 단어 퀴즈</a:t>
            </a:r>
            <a:endParaRPr lang="en-US" sz="850" dirty="0"/>
          </a:p>
        </p:txBody>
      </p:sp>
      <p:sp>
        <p:nvSpPr>
          <p:cNvPr id="33" name="Shape 28"/>
          <p:cNvSpPr/>
          <p:nvPr/>
        </p:nvSpPr>
        <p:spPr>
          <a:xfrm>
            <a:off x="6455664" y="5486400"/>
            <a:ext cx="5175504" cy="457200"/>
          </a:xfrm>
          <a:prstGeom prst="roundRect">
            <a:avLst>
              <a:gd name="adj" fmla="val 20000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6656832" y="54864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인출 연습</a:t>
            </a:r>
            <a:endParaRPr lang="en-US" sz="1000" dirty="0"/>
          </a:p>
        </p:txBody>
      </p:sp>
      <p:sp>
        <p:nvSpPr>
          <p:cNvPr id="35" name="Text 30"/>
          <p:cNvSpPr/>
          <p:nvPr/>
        </p:nvSpPr>
        <p:spPr>
          <a:xfrm>
            <a:off x="7772400" y="54864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맞혀 봐야 남는다</a:t>
            </a:r>
            <a:endParaRPr lang="en-US" sz="850" dirty="0"/>
          </a:p>
        </p:txBody>
      </p:sp>
      <p:sp>
        <p:nvSpPr>
          <p:cNvPr id="36" name="Text 31"/>
          <p:cNvSpPr/>
          <p:nvPr/>
        </p:nvSpPr>
        <p:spPr>
          <a:xfrm>
            <a:off x="9509760" y="54864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복습 퀴즈 10문항</a:t>
            </a:r>
            <a:endParaRPr lang="en-US" sz="850" dirty="0"/>
          </a:p>
        </p:txBody>
      </p:sp>
      <p:sp>
        <p:nvSpPr>
          <p:cNvPr id="37" name="Shape 32"/>
          <p:cNvSpPr/>
          <p:nvPr/>
        </p:nvSpPr>
        <p:spPr>
          <a:xfrm>
            <a:off x="6455664" y="6016752"/>
            <a:ext cx="5175504" cy="457200"/>
          </a:xfrm>
          <a:prstGeom prst="roundRect">
            <a:avLst>
              <a:gd name="adj" fmla="val 20000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38" name="Text 33"/>
          <p:cNvSpPr/>
          <p:nvPr/>
        </p:nvSpPr>
        <p:spPr>
          <a:xfrm>
            <a:off x="6656832" y="601675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인지부하</a:t>
            </a:r>
            <a:endParaRPr lang="en-US" sz="1000" dirty="0"/>
          </a:p>
        </p:txBody>
      </p:sp>
      <p:sp>
        <p:nvSpPr>
          <p:cNvPr id="39" name="Text 34"/>
          <p:cNvSpPr/>
          <p:nvPr/>
        </p:nvSpPr>
        <p:spPr>
          <a:xfrm>
            <a:off x="7772400" y="601675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부하를 줄인다</a:t>
            </a:r>
            <a:endParaRPr lang="en-US" sz="850" dirty="0"/>
          </a:p>
        </p:txBody>
      </p:sp>
      <p:sp>
        <p:nvSpPr>
          <p:cNvPr id="40" name="Text 35"/>
          <p:cNvSpPr/>
          <p:nvPr/>
        </p:nvSpPr>
        <p:spPr>
          <a:xfrm>
            <a:off x="9509760" y="601675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한 화면에 한 과제</a:t>
            </a:r>
            <a:endParaRPr lang="en-US" sz="850" dirty="0"/>
          </a:p>
        </p:txBody>
      </p:sp>
      <p:sp>
        <p:nvSpPr>
          <p:cNvPr id="41" name="Shape 36"/>
          <p:cNvSpPr/>
          <p:nvPr/>
        </p:nvSpPr>
        <p:spPr>
          <a:xfrm>
            <a:off x="566928" y="5468112"/>
            <a:ext cx="5632704" cy="512064"/>
          </a:xfrm>
          <a:prstGeom prst="roundRect">
            <a:avLst>
              <a:gd name="adj" fmla="val 17857"/>
            </a:avLst>
          </a:prstGeom>
          <a:solidFill>
            <a:srgbClr val="1A1230"/>
          </a:solidFill>
          <a:ln w="12700">
            <a:solidFill>
              <a:srgbClr val="4A3570"/>
            </a:solidFill>
            <a:prstDash val="solid"/>
          </a:ln>
        </p:spPr>
      </p:sp>
      <p:sp>
        <p:nvSpPr>
          <p:cNvPr id="42" name="Text 37"/>
          <p:cNvSpPr/>
          <p:nvPr/>
        </p:nvSpPr>
        <p:spPr>
          <a:xfrm>
            <a:off x="786384" y="5468112"/>
            <a:ext cx="5212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촘스키 본인은 교수법 적용을 경계했습니다 — 교실 근거는 크라션·스웨인입니다.</a:t>
            </a:r>
            <a:endParaRPr lang="en-US" sz="900" dirty="0"/>
          </a:p>
        </p:txBody>
      </p:sp>
      <p:sp>
        <p:nvSpPr>
          <p:cNvPr id="43" name="Text 38"/>
          <p:cNvSpPr/>
          <p:nvPr/>
        </p:nvSpPr>
        <p:spPr>
          <a:xfrm>
            <a:off x="566928" y="6126480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750" i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Chomsky (1959; 1965) · Krashen (1982) · Swain (1985) · Ebbinghaus (1885/1913) · Cepeda et al. (2006) · Roediger &amp; Karpicke (2006) · Sweller (1988) · Ryan &amp; Deci (2000) · Csikszentmihalyi (1990) · Dweck (2006) · Bandura (1977)</a:t>
            </a:r>
            <a:endParaRPr lang="en-US" sz="750" dirty="0"/>
          </a:p>
        </p:txBody>
      </p:sp>
      <p:sp>
        <p:nvSpPr>
          <p:cNvPr id="44" name="Text 39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usag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03 · 사용방법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573207" y="38404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573207" y="384048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Steps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가입부터 복습까지, 다섯 걸음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66928" y="1554480"/>
            <a:ext cx="2079346" cy="2487168"/>
          </a:xfrm>
          <a:prstGeom prst="roundRect">
            <a:avLst>
              <a:gd name="adj" fmla="val 439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737360"/>
            <a:ext cx="420624" cy="42062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8096" y="1737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2B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68096" y="2249424"/>
            <a:ext cx="167701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무료 상담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731520" y="2798064"/>
            <a:ext cx="1750162" cy="1121842"/>
          </a:xfrm>
          <a:prstGeom prst="roundRect">
            <a:avLst>
              <a:gd name="adj" fmla="val 6521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2" name="Image 1" descr="/tmp/claude-0/-home-user-mangoiweb/ca835eb4-1670-5fc1-a29a-2fc77598fea3/scratchpad/deck_img/faq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2834640"/>
            <a:ext cx="1677010" cy="104869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2810866" y="1554480"/>
            <a:ext cx="2079346" cy="2487168"/>
          </a:xfrm>
          <a:prstGeom prst="roundRect">
            <a:avLst>
              <a:gd name="adj" fmla="val 439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3012034" y="1737360"/>
            <a:ext cx="420624" cy="42062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3012034" y="1737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2B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3012034" y="2249424"/>
            <a:ext cx="167701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 테스트</a:t>
            </a:r>
            <a:endParaRPr lang="en-US" sz="1450" dirty="0"/>
          </a:p>
        </p:txBody>
      </p:sp>
      <p:sp>
        <p:nvSpPr>
          <p:cNvPr id="17" name="Shape 13"/>
          <p:cNvSpPr/>
          <p:nvPr/>
        </p:nvSpPr>
        <p:spPr>
          <a:xfrm>
            <a:off x="2975458" y="2798064"/>
            <a:ext cx="1750162" cy="1121842"/>
          </a:xfrm>
          <a:prstGeom prst="roundRect">
            <a:avLst>
              <a:gd name="adj" fmla="val 6521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8" name="Image 2" descr="/tmp/claude-0/-home-user-mangoiweb/ca835eb4-1670-5fc1-a29a-2fc77598fea3/scratchpad/deck_img/leveltestai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2034" y="2834640"/>
            <a:ext cx="1677010" cy="1048690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5054803" y="1554480"/>
            <a:ext cx="2079346" cy="2487168"/>
          </a:xfrm>
          <a:prstGeom prst="roundRect">
            <a:avLst>
              <a:gd name="adj" fmla="val 439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5255971" y="1737360"/>
            <a:ext cx="420624" cy="420624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5255971" y="1737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2B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7"/>
          <p:cNvSpPr/>
          <p:nvPr/>
        </p:nvSpPr>
        <p:spPr>
          <a:xfrm>
            <a:off x="5255971" y="2249424"/>
            <a:ext cx="167701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신청 · 결제</a:t>
            </a:r>
            <a:endParaRPr lang="en-US" sz="1450" dirty="0"/>
          </a:p>
        </p:txBody>
      </p:sp>
      <p:sp>
        <p:nvSpPr>
          <p:cNvPr id="23" name="Shape 18"/>
          <p:cNvSpPr/>
          <p:nvPr/>
        </p:nvSpPr>
        <p:spPr>
          <a:xfrm>
            <a:off x="5219395" y="2798064"/>
            <a:ext cx="1750162" cy="1121842"/>
          </a:xfrm>
          <a:prstGeom prst="roundRect">
            <a:avLst>
              <a:gd name="adj" fmla="val 6521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4" name="Image 3" descr="/tmp/claude-0/-home-user-mangoiweb/ca835eb4-1670-5fc1-a29a-2fc77598fea3/scratchpad/deck_img/booking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5971" y="2834640"/>
            <a:ext cx="1677010" cy="1048690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7298741" y="1554480"/>
            <a:ext cx="2079346" cy="2487168"/>
          </a:xfrm>
          <a:prstGeom prst="roundRect">
            <a:avLst>
              <a:gd name="adj" fmla="val 439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7499909" y="1737360"/>
            <a:ext cx="420624" cy="420624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7499909" y="1737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2B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Text 22"/>
          <p:cNvSpPr/>
          <p:nvPr/>
        </p:nvSpPr>
        <p:spPr>
          <a:xfrm>
            <a:off x="7499909" y="2249424"/>
            <a:ext cx="167701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당일</a:t>
            </a:r>
            <a:endParaRPr lang="en-US" sz="1450" dirty="0"/>
          </a:p>
        </p:txBody>
      </p:sp>
      <p:sp>
        <p:nvSpPr>
          <p:cNvPr id="29" name="Shape 23"/>
          <p:cNvSpPr/>
          <p:nvPr/>
        </p:nvSpPr>
        <p:spPr>
          <a:xfrm>
            <a:off x="7463333" y="2798064"/>
            <a:ext cx="1750162" cy="1121842"/>
          </a:xfrm>
          <a:prstGeom prst="roundRect">
            <a:avLst>
              <a:gd name="adj" fmla="val 6521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30" name="Image 4" descr="/tmp/claude-0/-home-user-mangoiweb/ca835eb4-1670-5fc1-a29a-2fc77598fea3/scratchpad/deck_img/precheck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9909" y="2834640"/>
            <a:ext cx="1677010" cy="1048690"/>
          </a:xfrm>
          <a:prstGeom prst="rect">
            <a:avLst/>
          </a:prstGeom>
        </p:spPr>
      </p:pic>
      <p:sp>
        <p:nvSpPr>
          <p:cNvPr id="31" name="Shape 24"/>
          <p:cNvSpPr/>
          <p:nvPr/>
        </p:nvSpPr>
        <p:spPr>
          <a:xfrm>
            <a:off x="9542678" y="1554480"/>
            <a:ext cx="2079346" cy="2487168"/>
          </a:xfrm>
          <a:prstGeom prst="roundRect">
            <a:avLst>
              <a:gd name="adj" fmla="val 4398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9743846" y="1737360"/>
            <a:ext cx="420624" cy="42062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3" name="Text 26"/>
          <p:cNvSpPr/>
          <p:nvPr/>
        </p:nvSpPr>
        <p:spPr>
          <a:xfrm>
            <a:off x="9743846" y="1737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2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300" dirty="0"/>
          </a:p>
        </p:txBody>
      </p:sp>
      <p:sp>
        <p:nvSpPr>
          <p:cNvPr id="34" name="Text 27"/>
          <p:cNvSpPr/>
          <p:nvPr/>
        </p:nvSpPr>
        <p:spPr>
          <a:xfrm>
            <a:off x="9743846" y="2249424"/>
            <a:ext cx="167701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복습</a:t>
            </a:r>
            <a:endParaRPr lang="en-US" sz="1450" dirty="0"/>
          </a:p>
        </p:txBody>
      </p:sp>
      <p:sp>
        <p:nvSpPr>
          <p:cNvPr id="35" name="Shape 28"/>
          <p:cNvSpPr/>
          <p:nvPr/>
        </p:nvSpPr>
        <p:spPr>
          <a:xfrm>
            <a:off x="9707270" y="2798064"/>
            <a:ext cx="1750162" cy="1121842"/>
          </a:xfrm>
          <a:prstGeom prst="roundRect">
            <a:avLst>
              <a:gd name="adj" fmla="val 6521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36" name="Image 5" descr="/tmp/claude-0/-home-user-mangoiweb/ca835eb4-1670-5fc1-a29a-2fc77598fea3/scratchpad/deck_img/microquiz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43846" y="2834640"/>
            <a:ext cx="1677010" cy="1048690"/>
          </a:xfrm>
          <a:prstGeom prst="rect">
            <a:avLst/>
          </a:prstGeom>
        </p:spPr>
      </p:pic>
      <p:sp>
        <p:nvSpPr>
          <p:cNvPr id="37" name="Shape 29"/>
          <p:cNvSpPr/>
          <p:nvPr/>
        </p:nvSpPr>
        <p:spPr>
          <a:xfrm>
            <a:off x="530352" y="4315968"/>
            <a:ext cx="2152498" cy="1373436"/>
          </a:xfrm>
          <a:prstGeom prst="roundRect">
            <a:avLst>
              <a:gd name="adj" fmla="val 5326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38" name="Image 6" descr="/tmp/claude-0/-home-user-mangoiweb/ca835eb4-1670-5fc1-a29a-2fc77598fea3/scratchpad/deck_img/warmup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6928" y="4352544"/>
            <a:ext cx="2079346" cy="1300284"/>
          </a:xfrm>
          <a:prstGeom prst="rect">
            <a:avLst/>
          </a:prstGeom>
        </p:spPr>
      </p:pic>
      <p:sp>
        <p:nvSpPr>
          <p:cNvPr id="39" name="Text 30"/>
          <p:cNvSpPr/>
          <p:nvPr/>
        </p:nvSpPr>
        <p:spPr>
          <a:xfrm>
            <a:off x="566928" y="5669280"/>
            <a:ext cx="20793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웜업</a:t>
            </a:r>
            <a:endParaRPr lang="en-US" sz="950" dirty="0"/>
          </a:p>
        </p:txBody>
      </p:sp>
      <p:sp>
        <p:nvSpPr>
          <p:cNvPr id="40" name="Shape 31"/>
          <p:cNvSpPr/>
          <p:nvPr/>
        </p:nvSpPr>
        <p:spPr>
          <a:xfrm>
            <a:off x="2774290" y="4315968"/>
            <a:ext cx="2152498" cy="1373436"/>
          </a:xfrm>
          <a:prstGeom prst="roundRect">
            <a:avLst>
              <a:gd name="adj" fmla="val 5326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41" name="Image 7" descr="/tmp/claude-0/-home-user-mangoiweb/ca835eb4-1670-5fc1-a29a-2fc77598fea3/scratchpad/deck_img/speech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10866" y="4352544"/>
            <a:ext cx="2079346" cy="1300284"/>
          </a:xfrm>
          <a:prstGeom prst="rect">
            <a:avLst/>
          </a:prstGeom>
        </p:spPr>
      </p:pic>
      <p:sp>
        <p:nvSpPr>
          <p:cNvPr id="42" name="Text 32"/>
          <p:cNvSpPr/>
          <p:nvPr/>
        </p:nvSpPr>
        <p:spPr>
          <a:xfrm>
            <a:off x="2810866" y="5669280"/>
            <a:ext cx="20793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음성코치</a:t>
            </a:r>
            <a:endParaRPr lang="en-US" sz="950" dirty="0"/>
          </a:p>
        </p:txBody>
      </p:sp>
      <p:sp>
        <p:nvSpPr>
          <p:cNvPr id="43" name="Shape 33"/>
          <p:cNvSpPr/>
          <p:nvPr/>
        </p:nvSpPr>
        <p:spPr>
          <a:xfrm>
            <a:off x="5018227" y="4315968"/>
            <a:ext cx="2152498" cy="1385912"/>
          </a:xfrm>
          <a:prstGeom prst="roundRect">
            <a:avLst>
              <a:gd name="adj" fmla="val 5278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44" name="Image 8" descr="/tmp/claude-0/-home-user-mangoiweb/ca835eb4-1670-5fc1-a29a-2fc77598fea3/scratchpad/deck_img/aifriend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54803" y="4352544"/>
            <a:ext cx="2079346" cy="1312760"/>
          </a:xfrm>
          <a:prstGeom prst="rect">
            <a:avLst/>
          </a:prstGeom>
        </p:spPr>
      </p:pic>
      <p:sp>
        <p:nvSpPr>
          <p:cNvPr id="45" name="Text 34"/>
          <p:cNvSpPr/>
          <p:nvPr/>
        </p:nvSpPr>
        <p:spPr>
          <a:xfrm>
            <a:off x="5054803" y="5669280"/>
            <a:ext cx="20793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친구 대화</a:t>
            </a:r>
            <a:endParaRPr lang="en-US" sz="950" dirty="0"/>
          </a:p>
        </p:txBody>
      </p:sp>
      <p:sp>
        <p:nvSpPr>
          <p:cNvPr id="46" name="Shape 35"/>
          <p:cNvSpPr/>
          <p:nvPr/>
        </p:nvSpPr>
        <p:spPr>
          <a:xfrm>
            <a:off x="7262165" y="4315968"/>
            <a:ext cx="2152498" cy="1373436"/>
          </a:xfrm>
          <a:prstGeom prst="roundRect">
            <a:avLst>
              <a:gd name="adj" fmla="val 5326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47" name="Image 9" descr="/tmp/claude-0/-home-user-mangoiweb/ca835eb4-1670-5fc1-a29a-2fc77598fea3/scratchpad/deck_img/games.jp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98741" y="4352544"/>
            <a:ext cx="2079346" cy="1300284"/>
          </a:xfrm>
          <a:prstGeom prst="rect">
            <a:avLst/>
          </a:prstGeom>
        </p:spPr>
      </p:pic>
      <p:sp>
        <p:nvSpPr>
          <p:cNvPr id="48" name="Text 36"/>
          <p:cNvSpPr/>
          <p:nvPr/>
        </p:nvSpPr>
        <p:spPr>
          <a:xfrm>
            <a:off x="7298741" y="5669280"/>
            <a:ext cx="20793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게임</a:t>
            </a:r>
            <a:endParaRPr lang="en-US" sz="950" dirty="0"/>
          </a:p>
        </p:txBody>
      </p:sp>
      <p:sp>
        <p:nvSpPr>
          <p:cNvPr id="49" name="Shape 37"/>
          <p:cNvSpPr/>
          <p:nvPr/>
        </p:nvSpPr>
        <p:spPr>
          <a:xfrm>
            <a:off x="9506102" y="4315968"/>
            <a:ext cx="2152498" cy="1409478"/>
          </a:xfrm>
          <a:prstGeom prst="roundRect">
            <a:avLst>
              <a:gd name="adj" fmla="val 519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50" name="Image 10" descr="/tmp/claude-0/-home-user-mangoiweb/ca835eb4-1670-5fc1-a29a-2fc77598fea3/scratchpad/deck_img/parent.jp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542678" y="4352544"/>
            <a:ext cx="2079346" cy="1336326"/>
          </a:xfrm>
          <a:prstGeom prst="rect">
            <a:avLst/>
          </a:prstGeom>
        </p:spPr>
      </p:pic>
      <p:sp>
        <p:nvSpPr>
          <p:cNvPr id="51" name="Text 38"/>
          <p:cNvSpPr/>
          <p:nvPr/>
        </p:nvSpPr>
        <p:spPr>
          <a:xfrm>
            <a:off x="9542678" y="5669280"/>
            <a:ext cx="20793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리포트</a:t>
            </a:r>
            <a:endParaRPr lang="en-US" sz="950" dirty="0"/>
          </a:p>
        </p:txBody>
      </p:sp>
      <p:sp>
        <p:nvSpPr>
          <p:cNvPr id="52" name="Text 39"/>
          <p:cNvSpPr/>
          <p:nvPr/>
        </p:nvSpPr>
        <p:spPr>
          <a:xfrm>
            <a:off x="566928" y="6035040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전후로 A.I 학습 콘텐츠가 이어집니다.</a:t>
            </a:r>
            <a:endParaRPr lang="en-US" sz="1250" dirty="0"/>
          </a:p>
        </p:txBody>
      </p:sp>
      <p:sp>
        <p:nvSpPr>
          <p:cNvPr id="53" name="Text 40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usag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03 · 사용방법 — 신청 · 변경 · 관리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001707" y="384048"/>
            <a:ext cx="1623060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001707" y="384048"/>
            <a:ext cx="16230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 &amp; Admin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시간은 직접 고르고, 일정은 언제든 바꿉니다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530352" y="1517904"/>
            <a:ext cx="3547872" cy="2249424"/>
          </a:xfrm>
          <a:prstGeom prst="roundRect">
            <a:avLst>
              <a:gd name="adj" fmla="val 3252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1" descr="/tmp/claude-0/-home-user-mangoiweb/ca835eb4-1670-5fc1-a29a-2fc77598fea3/scratchpad/deck_img/booking.jpg">    </p:cNvPr>
          <p:cNvPicPr>
            <a:picLocks noChangeAspect="1"/>
          </p:cNvPicPr>
          <p:nvPr/>
        </p:nvPicPr>
        <p:blipFill>
          <a:blip r:embed="rId2"/>
          <a:srcRect l="79" r="-79" t="0" b="0"/>
          <a:stretch/>
        </p:blipFill>
        <p:spPr>
          <a:xfrm>
            <a:off x="566928" y="1554480"/>
            <a:ext cx="3474720" cy="217627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66928" y="382219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신청 — 시간 › 교사 › 결제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4242816" y="1517904"/>
            <a:ext cx="3547872" cy="2249424"/>
          </a:xfrm>
          <a:prstGeom prst="roundRect">
            <a:avLst>
              <a:gd name="adj" fmla="val 3252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1" name="Image 2" descr="/tmp/claude-0/-home-user-mangoiweb/ca835eb4-1670-5fc1-a29a-2fc77598fea3/scratchpad/deck_img/postpone.jpg">    </p:cNvPr>
          <p:cNvPicPr>
            <a:picLocks noChangeAspect="1"/>
          </p:cNvPicPr>
          <p:nvPr/>
        </p:nvPicPr>
        <p:blipFill>
          <a:blip r:embed="rId3"/>
          <a:srcRect l="79" r="-79" t="0" b="0"/>
          <a:stretch/>
        </p:blipFill>
        <p:spPr>
          <a:xfrm>
            <a:off x="4279392" y="1554480"/>
            <a:ext cx="3474720" cy="217627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4279392" y="382219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연기 · 변경</a:t>
            </a:r>
            <a:endParaRPr lang="en-US" sz="1150" dirty="0"/>
          </a:p>
        </p:txBody>
      </p:sp>
      <p:sp>
        <p:nvSpPr>
          <p:cNvPr id="13" name="Shape 8"/>
          <p:cNvSpPr/>
          <p:nvPr/>
        </p:nvSpPr>
        <p:spPr>
          <a:xfrm>
            <a:off x="7955280" y="1517904"/>
            <a:ext cx="3547872" cy="2249424"/>
          </a:xfrm>
          <a:prstGeom prst="roundRect">
            <a:avLst>
              <a:gd name="adj" fmla="val 3252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4" name="Image 3" descr="/tmp/claude-0/-home-user-mangoiweb/ca835eb4-1670-5fc1-a29a-2fc77598fea3/scratchpad/deck_img/admin.jpg">    </p:cNvPr>
          <p:cNvPicPr>
            <a:picLocks noChangeAspect="1"/>
          </p:cNvPicPr>
          <p:nvPr/>
        </p:nvPicPr>
        <p:blipFill>
          <a:blip r:embed="rId4"/>
          <a:srcRect l="0" r="0" t="986" b="-986"/>
          <a:stretch/>
        </p:blipFill>
        <p:spPr>
          <a:xfrm>
            <a:off x="7991856" y="1554480"/>
            <a:ext cx="3474720" cy="2176272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7991856" y="382219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콘솔 · AI 운영비서</a:t>
            </a:r>
            <a:endParaRPr lang="en-US" sz="1150" dirty="0"/>
          </a:p>
        </p:txBody>
      </p:sp>
      <p:sp>
        <p:nvSpPr>
          <p:cNvPr id="16" name="Shape 10"/>
          <p:cNvSpPr/>
          <p:nvPr/>
        </p:nvSpPr>
        <p:spPr>
          <a:xfrm>
            <a:off x="566928" y="4261104"/>
            <a:ext cx="3474720" cy="822960"/>
          </a:xfrm>
          <a:prstGeom prst="roundRect">
            <a:avLst>
              <a:gd name="adj" fmla="val 1111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786384" y="437083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요일 · 시간 · 교사</a:t>
            </a:r>
            <a:endParaRPr lang="en-US" sz="1250" dirty="0"/>
          </a:p>
        </p:txBody>
      </p:sp>
      <p:sp>
        <p:nvSpPr>
          <p:cNvPr id="18" name="Text 12"/>
          <p:cNvSpPr/>
          <p:nvPr/>
        </p:nvSpPr>
        <p:spPr>
          <a:xfrm>
            <a:off x="786384" y="464515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 1회~5회 · 20분 블록</a:t>
            </a:r>
            <a:endParaRPr lang="en-US" sz="1000" dirty="0"/>
          </a:p>
        </p:txBody>
      </p:sp>
      <p:sp>
        <p:nvSpPr>
          <p:cNvPr id="19" name="Shape 13"/>
          <p:cNvSpPr/>
          <p:nvPr/>
        </p:nvSpPr>
        <p:spPr>
          <a:xfrm>
            <a:off x="4279392" y="4261104"/>
            <a:ext cx="3474720" cy="822960"/>
          </a:xfrm>
          <a:prstGeom prst="roundRect">
            <a:avLst>
              <a:gd name="adj" fmla="val 1111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4498848" y="437083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빠져도 사라지지 않음</a:t>
            </a:r>
            <a:endParaRPr lang="en-US" sz="1250" dirty="0"/>
          </a:p>
        </p:txBody>
      </p:sp>
      <p:sp>
        <p:nvSpPr>
          <p:cNvPr id="21" name="Text 15"/>
          <p:cNvSpPr/>
          <p:nvPr/>
        </p:nvSpPr>
        <p:spPr>
          <a:xfrm>
            <a:off x="4498848" y="464515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연기 · 변경을 직접 선택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7991856" y="4261104"/>
            <a:ext cx="3474720" cy="822960"/>
          </a:xfrm>
          <a:prstGeom prst="roundRect">
            <a:avLst>
              <a:gd name="adj" fmla="val 1111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8211312" y="437083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학원 운영 전부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8211312" y="464515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학생 · 강사 · 정산 · 시스템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road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04 · 향후 발전계획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079431" y="384048"/>
            <a:ext cx="1545336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079431" y="38404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Avatar Roadmap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아바타가 학습의 주인공이 됩니다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30352" y="1517904"/>
            <a:ext cx="5925312" cy="3732703"/>
          </a:xfrm>
          <a:prstGeom prst="roundRect">
            <a:avLst>
              <a:gd name="adj" fmla="val 196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1" descr="/tmp/claude-0/-home-user-mangoiweb/ca835eb4-1670-5fc1-a29a-2fc77598fea3/scratchpad/deck_img/avata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54480"/>
            <a:ext cx="5852160" cy="3659551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66928" y="5303520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현재 — 미션마다 EXP가 쌓이고 5단계까지 진화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6675120" y="1554480"/>
            <a:ext cx="4956048" cy="932688"/>
          </a:xfrm>
          <a:prstGeom prst="roundRect">
            <a:avLst>
              <a:gd name="adj" fmla="val 9804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912864" y="1554480"/>
            <a:ext cx="9144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7863840" y="1554480"/>
            <a:ext cx="35661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5단계 진화 · EXP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6675120" y="2578608"/>
            <a:ext cx="4956048" cy="932688"/>
          </a:xfrm>
          <a:prstGeom prst="roundRect">
            <a:avLst>
              <a:gd name="adj" fmla="val 9804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912864" y="2578608"/>
            <a:ext cx="9144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7863840" y="2578608"/>
            <a:ext cx="35661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표정과 감정 반응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6675120" y="3602736"/>
            <a:ext cx="4956048" cy="932688"/>
          </a:xfrm>
          <a:prstGeom prst="roundRect">
            <a:avLst>
              <a:gd name="adj" fmla="val 9804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912864" y="3602736"/>
            <a:ext cx="9144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그다음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7863840" y="3602736"/>
            <a:ext cx="35661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목소리와 대화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6675120" y="4626864"/>
            <a:ext cx="4956048" cy="932688"/>
          </a:xfrm>
          <a:prstGeom prst="roundRect">
            <a:avLst>
              <a:gd name="adj" fmla="val 9804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6912864" y="4626864"/>
            <a:ext cx="9144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7863840" y="4626864"/>
            <a:ext cx="35661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게임·수업·리포트 통합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road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04 · 콘텐츠가 스스로 판을 짭니다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001707" y="384048"/>
            <a:ext cx="1623060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001707" y="384048"/>
            <a:ext cx="16230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Personalised AI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문제를 A.I가 고릅니다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66928" y="1554480"/>
            <a:ext cx="5394960" cy="2011680"/>
          </a:xfrm>
          <a:prstGeom prst="roundRect">
            <a:avLst>
              <a:gd name="adj" fmla="val 4545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17373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59536" y="2212848"/>
            <a:ext cx="128016" cy="128016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97280" y="213969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정해진 순서로 출제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59536" y="2596896"/>
            <a:ext cx="128016" cy="128016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97280" y="252374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문제를 다시 출제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59536" y="2980944"/>
            <a:ext cx="128016" cy="128016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0" y="29077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정해진 복습 주기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236208" y="1554480"/>
            <a:ext cx="5394960" cy="2011680"/>
          </a:xfrm>
          <a:prstGeom prst="roundRect">
            <a:avLst>
              <a:gd name="adj" fmla="val 4545"/>
            </a:avLst>
          </a:prstGeom>
          <a:solidFill>
            <a:srgbClr val="0E2333"/>
          </a:solidFill>
          <a:ln w="12700">
            <a:solidFill>
              <a:srgbClr val="1E5A7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510528" y="17373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(강화학습)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6528816" y="2212848"/>
            <a:ext cx="128016" cy="128016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766560" y="213969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가장 효과 큰 한 문제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6528816" y="2596896"/>
            <a:ext cx="128016" cy="128016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766560" y="252374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포기 직전 난이도 감지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6528816" y="2980944"/>
            <a:ext cx="128016" cy="128016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766560" y="29077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발음 약점 모델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30352" y="3712464"/>
            <a:ext cx="2679192" cy="1536192"/>
          </a:xfrm>
          <a:prstGeom prst="roundRect">
            <a:avLst>
              <a:gd name="adj" fmla="val 4762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4" name="Image 1" descr="/tmp/claude-0/-home-user-mangoiweb/ca835eb4-1670-5fc1-a29a-2fc77598fea3/scratchpad/deck_img/spacemon.jpg">    </p:cNvPr>
          <p:cNvPicPr>
            <a:picLocks noChangeAspect="1"/>
          </p:cNvPicPr>
          <p:nvPr/>
        </p:nvPicPr>
        <p:blipFill>
          <a:blip r:embed="rId2"/>
          <a:srcRect l="0" r="0" t="5694" b="-5694"/>
          <a:stretch/>
        </p:blipFill>
        <p:spPr>
          <a:xfrm>
            <a:off x="566928" y="3749040"/>
            <a:ext cx="2606040" cy="1463040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566928" y="5303520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세계관 통합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3337560" y="3712464"/>
            <a:ext cx="2679192" cy="1536192"/>
          </a:xfrm>
          <a:prstGeom prst="roundRect">
            <a:avLst>
              <a:gd name="adj" fmla="val 4762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7" name="Image 2" descr="/tmp/claude-0/-home-user-mangoiweb/ca835eb4-1670-5fc1-a29a-2fc77598fea3/scratchpad/deck_img/battle3d.jpg">    </p:cNvPr>
          <p:cNvPicPr>
            <a:picLocks noChangeAspect="1"/>
          </p:cNvPicPr>
          <p:nvPr/>
        </p:nvPicPr>
        <p:blipFill>
          <a:blip r:embed="rId3"/>
          <a:srcRect l="0" r="0" t="5694" b="-5694"/>
          <a:stretch/>
        </p:blipFill>
        <p:spPr>
          <a:xfrm>
            <a:off x="3374136" y="3749040"/>
            <a:ext cx="2606040" cy="1463040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3374136" y="5303520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말해야 이긴다</a:t>
            </a:r>
            <a:endParaRPr lang="en-US" sz="1000" dirty="0"/>
          </a:p>
        </p:txBody>
      </p:sp>
      <p:sp>
        <p:nvSpPr>
          <p:cNvPr id="29" name="Shape 24"/>
          <p:cNvSpPr/>
          <p:nvPr/>
        </p:nvSpPr>
        <p:spPr>
          <a:xfrm>
            <a:off x="6144768" y="3712464"/>
            <a:ext cx="2679192" cy="1536192"/>
          </a:xfrm>
          <a:prstGeom prst="roundRect">
            <a:avLst>
              <a:gd name="adj" fmla="val 4762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30" name="Image 3" descr="/tmp/claude-0/-home-user-mangoiweb/ca835eb4-1670-5fc1-a29a-2fc77598fea3/scratchpad/deck_img/suspect.jpg">    </p:cNvPr>
          <p:cNvPicPr>
            <a:picLocks noChangeAspect="1"/>
          </p:cNvPicPr>
          <p:nvPr/>
        </p:nvPicPr>
        <p:blipFill>
          <a:blip r:embed="rId4"/>
          <a:srcRect l="0" r="0" t="5694" b="-5694"/>
          <a:stretch/>
        </p:blipFill>
        <p:spPr>
          <a:xfrm>
            <a:off x="6181344" y="3749040"/>
            <a:ext cx="2606040" cy="146304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6181344" y="5303520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친구와 함께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8951976" y="3712464"/>
            <a:ext cx="2679192" cy="1536192"/>
          </a:xfrm>
          <a:prstGeom prst="roundRect">
            <a:avLst>
              <a:gd name="adj" fmla="val 4762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33" name="Image 4" descr="/tmp/claude-0/-home-user-mangoiweb/ca835eb4-1670-5fc1-a29a-2fc77598fea3/scratchpad/deck_img/escape.jpg">    </p:cNvPr>
          <p:cNvPicPr>
            <a:picLocks noChangeAspect="1"/>
          </p:cNvPicPr>
          <p:nvPr/>
        </p:nvPicPr>
        <p:blipFill>
          <a:blip r:embed="rId5"/>
          <a:srcRect l="0" r="0" t="5694" b="-5694"/>
          <a:stretch/>
        </p:blipFill>
        <p:spPr>
          <a:xfrm>
            <a:off x="8988552" y="3749040"/>
            <a:ext cx="2606040" cy="1463040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8988552" y="5303520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 심리 기반</a:t>
            </a:r>
            <a:endParaRPr lang="en-US" sz="1000" dirty="0"/>
          </a:p>
        </p:txBody>
      </p:sp>
      <p:sp>
        <p:nvSpPr>
          <p:cNvPr id="35" name="Shape 28"/>
          <p:cNvSpPr/>
          <p:nvPr/>
        </p:nvSpPr>
        <p:spPr>
          <a:xfrm>
            <a:off x="566928" y="5614416"/>
            <a:ext cx="11055096" cy="658368"/>
          </a:xfrm>
          <a:prstGeom prst="roundRect">
            <a:avLst>
              <a:gd name="adj" fmla="val 13889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36" name="Text 29"/>
          <p:cNvSpPr/>
          <p:nvPr/>
        </p:nvSpPr>
        <p:spPr>
          <a:xfrm>
            <a:off x="566928" y="5614416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A.I가 교사를 대신하는 것이 아니라, 교사가 못 보는 시간을 대신 봅니다</a:t>
            </a:r>
            <a:endParaRPr lang="en-US" sz="1400" dirty="0"/>
          </a:p>
        </p:txBody>
      </p:sp>
      <p:sp>
        <p:nvSpPr>
          <p:cNvPr id="37" name="Text 30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road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04 · 로드맵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545775" y="384048"/>
            <a:ext cx="1078992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545775" y="384048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Timeline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무엇을 하는가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66928" y="1554480"/>
            <a:ext cx="2651760" cy="3108960"/>
          </a:xfrm>
          <a:prstGeom prst="roundRect">
            <a:avLst>
              <a:gd name="adj" fmla="val 3448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4672" y="171907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 중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04672" y="204825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822960" y="2496312"/>
            <a:ext cx="118872" cy="118872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24128" y="2414016"/>
            <a:ext cx="1956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 14가지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822960" y="2990088"/>
            <a:ext cx="118872" cy="118872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024128" y="2907792"/>
            <a:ext cx="1956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게임 21종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822960" y="3483864"/>
            <a:ext cx="118872" cy="118872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24128" y="3401568"/>
            <a:ext cx="1956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아바타 · 연속 학습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822960" y="3977640"/>
            <a:ext cx="118872" cy="118872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24128" y="3895344"/>
            <a:ext cx="1956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평가서 · 월간 리포트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3374136" y="1554480"/>
            <a:ext cx="2651760" cy="3108960"/>
          </a:xfrm>
          <a:prstGeom prst="roundRect">
            <a:avLst>
              <a:gd name="adj" fmla="val 344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611880" y="171907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단기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3611880" y="204825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6~12개월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3630168" y="2496312"/>
            <a:ext cx="118872" cy="118872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3831336" y="2414016"/>
            <a:ext cx="1956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아바타 감정·표정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3630168" y="2990088"/>
            <a:ext cx="118872" cy="118872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3831336" y="2907792"/>
            <a:ext cx="1956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게임 세계관 통합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3630168" y="3483864"/>
            <a:ext cx="118872" cy="118872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3831336" y="3401568"/>
            <a:ext cx="1956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말하기 승리 조건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3630168" y="3977640"/>
            <a:ext cx="118872" cy="118872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3831336" y="3895344"/>
            <a:ext cx="1956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선제 안내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6181344" y="1554480"/>
            <a:ext cx="2651760" cy="3108960"/>
          </a:xfrm>
          <a:prstGeom prst="roundRect">
            <a:avLst>
              <a:gd name="adj" fmla="val 344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419088" y="171907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중기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6419088" y="204825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1~2년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6437376" y="2496312"/>
            <a:ext cx="118872" cy="118872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638544" y="2414016"/>
            <a:ext cx="1956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강화학습 문제 선택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6437376" y="2990088"/>
            <a:ext cx="118872" cy="118872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638544" y="2907792"/>
            <a:ext cx="1956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발음 약점 모델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6437376" y="3483864"/>
            <a:ext cx="118872" cy="118872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638544" y="3401568"/>
            <a:ext cx="1956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교사 브리핑 자동화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6437376" y="3977640"/>
            <a:ext cx="118872" cy="118872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6638544" y="3895344"/>
            <a:ext cx="1956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협동·대결 모드</a:t>
            </a:r>
            <a:endParaRPr lang="en-US" sz="1050" dirty="0"/>
          </a:p>
        </p:txBody>
      </p:sp>
      <p:sp>
        <p:nvSpPr>
          <p:cNvPr id="40" name="Shape 37"/>
          <p:cNvSpPr/>
          <p:nvPr/>
        </p:nvSpPr>
        <p:spPr>
          <a:xfrm>
            <a:off x="8988552" y="1554480"/>
            <a:ext cx="2651760" cy="3108960"/>
          </a:xfrm>
          <a:prstGeom prst="roundRect">
            <a:avLst>
              <a:gd name="adj" fmla="val 3448"/>
            </a:avLst>
          </a:prstGeom>
          <a:solidFill>
            <a:srgbClr val="0E2333"/>
          </a:solidFill>
          <a:ln w="12700">
            <a:solidFill>
              <a:srgbClr val="1E5A7A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9226296" y="171907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장기</a:t>
            </a:r>
            <a:endParaRPr lang="en-US" sz="1500" dirty="0"/>
          </a:p>
        </p:txBody>
      </p:sp>
      <p:sp>
        <p:nvSpPr>
          <p:cNvPr id="42" name="Text 39"/>
          <p:cNvSpPr/>
          <p:nvPr/>
        </p:nvSpPr>
        <p:spPr>
          <a:xfrm>
            <a:off x="9226296" y="204825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2~3년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9244584" y="2496312"/>
            <a:ext cx="118872" cy="118872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9445752" y="2414016"/>
            <a:ext cx="1956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아바타 = AI 친구 통합</a:t>
            </a:r>
            <a:endParaRPr lang="en-US" sz="1050" dirty="0"/>
          </a:p>
        </p:txBody>
      </p:sp>
      <p:sp>
        <p:nvSpPr>
          <p:cNvPr id="45" name="Shape 42"/>
          <p:cNvSpPr/>
          <p:nvPr/>
        </p:nvSpPr>
        <p:spPr>
          <a:xfrm>
            <a:off x="9244584" y="2990088"/>
            <a:ext cx="118872" cy="118872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9445752" y="2907792"/>
            <a:ext cx="1956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바이브 코딩 영어</a:t>
            </a:r>
            <a:endParaRPr lang="en-US" sz="1050" dirty="0"/>
          </a:p>
        </p:txBody>
      </p:sp>
      <p:sp>
        <p:nvSpPr>
          <p:cNvPr id="47" name="Shape 44"/>
          <p:cNvSpPr/>
          <p:nvPr/>
        </p:nvSpPr>
        <p:spPr>
          <a:xfrm>
            <a:off x="9244584" y="3483864"/>
            <a:ext cx="118872" cy="118872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445752" y="3401568"/>
            <a:ext cx="1956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프로젝트형 수업</a:t>
            </a:r>
            <a:endParaRPr lang="en-US" sz="1050" dirty="0"/>
          </a:p>
        </p:txBody>
      </p:sp>
      <p:sp>
        <p:nvSpPr>
          <p:cNvPr id="49" name="Shape 46"/>
          <p:cNvSpPr/>
          <p:nvPr/>
        </p:nvSpPr>
        <p:spPr>
          <a:xfrm>
            <a:off x="530352" y="4809744"/>
            <a:ext cx="2679192" cy="1115568"/>
          </a:xfrm>
          <a:prstGeom prst="roundRect">
            <a:avLst>
              <a:gd name="adj" fmla="val 6557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50" name="Image 1" descr="/tmp/claude-0/-home-user-mangoiweb/ca835eb4-1670-5fc1-a29a-2fc77598fea3/scratchpad/deck_img/speech.jpg">    </p:cNvPr>
          <p:cNvPicPr>
            <a:picLocks noChangeAspect="1"/>
          </p:cNvPicPr>
          <p:nvPr/>
        </p:nvPicPr>
        <p:blipFill>
          <a:blip r:embed="rId2"/>
          <a:srcRect l="0" r="0" t="28167" b="-28167"/>
          <a:stretch/>
        </p:blipFill>
        <p:spPr>
          <a:xfrm>
            <a:off x="566928" y="4846320"/>
            <a:ext cx="2606040" cy="1042416"/>
          </a:xfrm>
          <a:prstGeom prst="rect">
            <a:avLst/>
          </a:prstGeom>
        </p:spPr>
      </p:pic>
      <p:sp>
        <p:nvSpPr>
          <p:cNvPr id="51" name="Text 47"/>
          <p:cNvSpPr/>
          <p:nvPr/>
        </p:nvSpPr>
        <p:spPr>
          <a:xfrm>
            <a:off x="566928" y="5980176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음성코치</a:t>
            </a:r>
            <a:endParaRPr lang="en-US" sz="1000" dirty="0"/>
          </a:p>
        </p:txBody>
      </p:sp>
      <p:sp>
        <p:nvSpPr>
          <p:cNvPr id="52" name="Shape 48"/>
          <p:cNvSpPr/>
          <p:nvPr/>
        </p:nvSpPr>
        <p:spPr>
          <a:xfrm>
            <a:off x="3337560" y="4809744"/>
            <a:ext cx="2679192" cy="1115568"/>
          </a:xfrm>
          <a:prstGeom prst="roundRect">
            <a:avLst>
              <a:gd name="adj" fmla="val 6557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53" name="Image 2" descr="/tmp/claude-0/-home-user-mangoiweb/ca835eb4-1670-5fc1-a29a-2fc77598fea3/scratchpad/deck_img/aifriend.jpg">    </p:cNvPr>
          <p:cNvPicPr>
            <a:picLocks noChangeAspect="1"/>
          </p:cNvPicPr>
          <p:nvPr/>
        </p:nvPicPr>
        <p:blipFill>
          <a:blip r:embed="rId3"/>
          <a:srcRect l="0" r="0" t="28917" b="-28917"/>
          <a:stretch/>
        </p:blipFill>
        <p:spPr>
          <a:xfrm>
            <a:off x="3374136" y="4846320"/>
            <a:ext cx="2606040" cy="1042416"/>
          </a:xfrm>
          <a:prstGeom prst="rect">
            <a:avLst/>
          </a:prstGeom>
        </p:spPr>
      </p:pic>
      <p:sp>
        <p:nvSpPr>
          <p:cNvPr id="54" name="Text 49"/>
          <p:cNvSpPr/>
          <p:nvPr/>
        </p:nvSpPr>
        <p:spPr>
          <a:xfrm>
            <a:off x="3374136" y="5980176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친구</a:t>
            </a:r>
            <a:endParaRPr lang="en-US" sz="1000" dirty="0"/>
          </a:p>
        </p:txBody>
      </p:sp>
      <p:sp>
        <p:nvSpPr>
          <p:cNvPr id="55" name="Shape 50"/>
          <p:cNvSpPr/>
          <p:nvPr/>
        </p:nvSpPr>
        <p:spPr>
          <a:xfrm>
            <a:off x="6144768" y="4809744"/>
            <a:ext cx="2679192" cy="1115568"/>
          </a:xfrm>
          <a:prstGeom prst="roundRect">
            <a:avLst>
              <a:gd name="adj" fmla="val 6557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56" name="Image 3" descr="/tmp/claude-0/-home-user-mangoiweb/ca835eb4-1670-5fc1-a29a-2fc77598fea3/scratchpad/deck_img/games.jpg">    </p:cNvPr>
          <p:cNvPicPr>
            <a:picLocks noChangeAspect="1"/>
          </p:cNvPicPr>
          <p:nvPr/>
        </p:nvPicPr>
        <p:blipFill>
          <a:blip r:embed="rId4"/>
          <a:srcRect l="0" r="0" t="28167" b="-28167"/>
          <a:stretch/>
        </p:blipFill>
        <p:spPr>
          <a:xfrm>
            <a:off x="6181344" y="4846320"/>
            <a:ext cx="2606040" cy="1042416"/>
          </a:xfrm>
          <a:prstGeom prst="rect">
            <a:avLst/>
          </a:prstGeom>
        </p:spPr>
      </p:pic>
      <p:sp>
        <p:nvSpPr>
          <p:cNvPr id="57" name="Text 51"/>
          <p:cNvSpPr/>
          <p:nvPr/>
        </p:nvSpPr>
        <p:spPr>
          <a:xfrm>
            <a:off x="6181344" y="5980176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게임</a:t>
            </a:r>
            <a:endParaRPr lang="en-US" sz="1000" dirty="0"/>
          </a:p>
        </p:txBody>
      </p:sp>
      <p:sp>
        <p:nvSpPr>
          <p:cNvPr id="58" name="Shape 52"/>
          <p:cNvSpPr/>
          <p:nvPr/>
        </p:nvSpPr>
        <p:spPr>
          <a:xfrm>
            <a:off x="8951976" y="4809744"/>
            <a:ext cx="2679192" cy="1115568"/>
          </a:xfrm>
          <a:prstGeom prst="roundRect">
            <a:avLst>
              <a:gd name="adj" fmla="val 6557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59" name="Image 4" descr="/tmp/claude-0/-home-user-mangoiweb/ca835eb4-1670-5fc1-a29a-2fc77598fea3/scratchpad/deck_img/avatar.jpg">    </p:cNvPr>
          <p:cNvPicPr>
            <a:picLocks noChangeAspect="1"/>
          </p:cNvPicPr>
          <p:nvPr/>
        </p:nvPicPr>
        <p:blipFill>
          <a:blip r:embed="rId5"/>
          <a:srcRect l="0" r="0" t="28167" b="-28167"/>
          <a:stretch/>
        </p:blipFill>
        <p:spPr>
          <a:xfrm>
            <a:off x="8988552" y="4846320"/>
            <a:ext cx="2606040" cy="1042416"/>
          </a:xfrm>
          <a:prstGeom prst="rect">
            <a:avLst/>
          </a:prstGeom>
        </p:spPr>
      </p:pic>
      <p:sp>
        <p:nvSpPr>
          <p:cNvPr id="60" name="Text 53"/>
          <p:cNvSpPr/>
          <p:nvPr/>
        </p:nvSpPr>
        <p:spPr>
          <a:xfrm>
            <a:off x="8988552" y="5980176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아바타</a:t>
            </a:r>
            <a:endParaRPr lang="en-US" sz="1000" dirty="0"/>
          </a:p>
        </p:txBody>
      </p:sp>
      <p:sp>
        <p:nvSpPr>
          <p:cNvPr id="61" name="Text 54"/>
          <p:cNvSpPr/>
          <p:nvPr/>
        </p:nvSpPr>
        <p:spPr>
          <a:xfrm>
            <a:off x="566928" y="6272784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단기·중기·장기 항목은 계획이며 일정은 변동될 수 있습니다.</a:t>
            </a:r>
            <a:endParaRPr lang="en-US" sz="800" dirty="0"/>
          </a:p>
        </p:txBody>
      </p:sp>
      <p:sp>
        <p:nvSpPr>
          <p:cNvPr id="62" name="Text 55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clos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tmp/claude-0/-home-user-mangoiweb/ca835eb4-1670-5fc1-a29a-2fc77598fea3/scratchpad/deck_img/masco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6128" y="1554480"/>
            <a:ext cx="1298448" cy="106070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097280" y="2743200"/>
            <a:ext cx="9994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AI로 생각하고 결정하는 영어</a:t>
            </a:r>
            <a:endParaRPr lang="en-US" sz="3200" dirty="0"/>
          </a:p>
        </p:txBody>
      </p:sp>
      <p:sp>
        <p:nvSpPr>
          <p:cNvPr id="5" name="Text 1"/>
          <p:cNvSpPr/>
          <p:nvPr/>
        </p:nvSpPr>
        <p:spPr>
          <a:xfrm>
            <a:off x="1097280" y="3438144"/>
            <a:ext cx="9994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수업은 주 2회, A.I 학습 콘텐츠는 매일</a:t>
            </a:r>
            <a:endParaRPr lang="en-US" sz="1500" dirty="0"/>
          </a:p>
        </p:txBody>
      </p:sp>
      <p:sp>
        <p:nvSpPr>
          <p:cNvPr id="6" name="Shape 2"/>
          <p:cNvSpPr/>
          <p:nvPr/>
        </p:nvSpPr>
        <p:spPr>
          <a:xfrm>
            <a:off x="2212848" y="4059936"/>
            <a:ext cx="2468880" cy="694944"/>
          </a:xfrm>
          <a:prstGeom prst="roundRect">
            <a:avLst>
              <a:gd name="adj" fmla="val 15789"/>
            </a:avLst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2212848" y="4059936"/>
            <a:ext cx="24688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2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무료 체험 신청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4910328" y="4059936"/>
            <a:ext cx="2468880" cy="694944"/>
          </a:xfrm>
          <a:prstGeom prst="roundRect">
            <a:avLst>
              <a:gd name="adj" fmla="val 15789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4910328" y="4059936"/>
            <a:ext cx="24688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 테스트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7607808" y="4059936"/>
            <a:ext cx="2468880" cy="694944"/>
          </a:xfrm>
          <a:prstGeom prst="roundRect">
            <a:avLst>
              <a:gd name="adj" fmla="val 15789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607808" y="4059936"/>
            <a:ext cx="24688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카카오 상담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1097280" y="5138928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www.mangoi.ai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1097280" y="5541264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67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자료의 화면은 실제 서비스 캡처입니다.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망고아이 홈페이지 안내</dc:title>
  <dc:subject>PptxGenJS Presentation</dc:subject>
  <dc:creator>Mango Ai</dc:creator>
  <cp:lastModifiedBy>Mango Ai</cp:lastModifiedBy>
  <cp:revision>1</cp:revision>
  <dcterms:created xsi:type="dcterms:W3CDTF">2026-08-17T08:43:42Z</dcterms:created>
  <dcterms:modified xsi:type="dcterms:W3CDTF">2026-08-17T08:43:42Z</dcterms:modified>
</cp:coreProperties>
</file>