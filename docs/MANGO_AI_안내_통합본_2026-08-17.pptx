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FFFFFF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
VanLehn 2011</c:v>
                  </c:pt>
                  <c:pt idx="3">
                    <c:v>디지털 게임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900" u="none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CBD5E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222C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94A3B8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42A"/>
        </a:solidFill>
        <a:ln>
          <a:noFill/>
        </a:ln>
        <a:effectLst/>
      </c:spPr>
    </c:plotArea>
    <c:plotVisOnly val="1"/>
    <c:dispBlanksAs val="span"/>
  </c:chart>
  <c:spPr>
    <a:solidFill>
      <a:srgbClr val="0E14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«재미가 의지를 이깁니다»가 덱 전체의 한 줄 메시지입니다.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수·게임 수는 서비스 내 집계 기준입니다. 발표 전 최신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지도. 14가지는 전부 현재 서비스 중입니다.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이론적 배경 1/3. Bloom(1984)의 2σ는 이후 재현 연구에서 축소 보고되었습니다 — 슬라이드에 명시했습니다.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이론적 배경 2/3. 촘스키 본인은 교수법 처방을 하지 않았다는 단서를 슬라이드에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이론적 배경 3/3. 하단에 참고문헌 19편 전체를 APA 7판으로 정리했습니다.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비교표의 «일반 화상영어»는 업계 통상 구성을 요약한 것으로 특정 업체를 지칭하지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바이브 코딩 영어는 제안 단계의 방향성입니다. 확정 커리큘럼이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계획이며 변동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jp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image" Target="../media/image-17-3.jpg"/><Relationship Id="rId4" Type="http://schemas.openxmlformats.org/officeDocument/2006/relationships/image" Target="../media/image-17-4.jpg"/><Relationship Id="rId5" Type="http://schemas.openxmlformats.org/officeDocument/2006/relationships/image" Target="../media/image-17-5.jpg"/><Relationship Id="rId6" Type="http://schemas.openxmlformats.org/officeDocument/2006/relationships/image" Target="../media/image-17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image" Target="../media/image-1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image" Target="../media/image-26-3.jpg"/><Relationship Id="rId4" Type="http://schemas.openxmlformats.org/officeDocument/2006/relationships/image" Target="../media/image-26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image" Target="../media/image-33-2.jpg"/><Relationship Id="rId3" Type="http://schemas.openxmlformats.org/officeDocument/2006/relationships/image" Target="../media/image-33-3.jpg"/><Relationship Id="rId4" Type="http://schemas.openxmlformats.org/officeDocument/2006/relationships/image" Target="../media/image-33-4.jpg"/><Relationship Id="rId5" Type="http://schemas.openxmlformats.org/officeDocument/2006/relationships/image" Target="../media/image-33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g"/><Relationship Id="rId2" Type="http://schemas.openxmlformats.org/officeDocument/2006/relationships/image" Target="../media/image-36-2.jpg"/><Relationship Id="rId3" Type="http://schemas.openxmlformats.org/officeDocument/2006/relationships/image" Target="../media/image-36-3.jpg"/><Relationship Id="rId4" Type="http://schemas.openxmlformats.org/officeDocument/2006/relationships/image" Target="../media/image-36-4.jpg"/><Relationship Id="rId5" Type="http://schemas.openxmlformats.org/officeDocument/2006/relationships/image" Target="../media/image-36-5.jpg"/><Relationship Id="rId6" Type="http://schemas.openxmlformats.org/officeDocument/2006/relationships/image" Target="../media/image-36-6.jpg"/><Relationship Id="rId7" Type="http://schemas.openxmlformats.org/officeDocument/2006/relationships/image" Target="../media/image-3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310128" y="841248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310128" y="841248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 · 국내 최초 화상영어 · 필리핀 직영센터</a:t>
            </a:r>
            <a:endParaRPr lang="en-US" sz="1100" dirty="0"/>
          </a:p>
        </p:txBody>
      </p:sp>
      <p:pic>
        <p:nvPicPr>
          <p:cNvPr id="5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371600"/>
            <a:ext cx="1298448" cy="10607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97280" y="2487168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7" name="Text 3"/>
          <p:cNvSpPr/>
          <p:nvPr/>
        </p:nvSpPr>
        <p:spPr>
          <a:xfrm>
            <a:off x="1097280" y="3401568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097280" y="3877056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2800" dirty="0"/>
          </a:p>
        </p:txBody>
      </p:sp>
      <p:sp>
        <p:nvSpPr>
          <p:cNvPr id="9" name="Text 5"/>
          <p:cNvSpPr/>
          <p:nvPr/>
        </p:nvSpPr>
        <p:spPr>
          <a:xfrm>
            <a:off x="1097280" y="4535424"/>
            <a:ext cx="9994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화상수업  +  24시간 14가지 A.I 학습관리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2761488" y="5175504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61488" y="51755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· 1:2 수업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5047488" y="5175504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047488" y="51755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 A.I 학습관리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333488" y="5175504"/>
            <a:ext cx="2103120" cy="365760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333488" y="51755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 캡처 30컷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1097280" y="5833872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 · 목차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문서에서 다루는 것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7007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7007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664208" y="17007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무엇인가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5047488" y="18105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수업(사람) + 학습관리(A.I) 결합 구조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서비스 중인 A.I 기능 14가지 전체 지도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66928" y="26151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26151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664208" y="26151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5047488" y="27249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· 촘스키 · 인지심리학 · 동기이론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설계했는지 연구 인용과 함께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66928" y="35295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7824" y="35295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664208" y="35295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1550" dirty="0"/>
          </a:p>
        </p:txBody>
      </p:sp>
      <p:sp>
        <p:nvSpPr>
          <p:cNvPr id="18" name="Text 15"/>
          <p:cNvSpPr/>
          <p:nvPr/>
        </p:nvSpPr>
        <p:spPr>
          <a:xfrm>
            <a:off x="5047488" y="36393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AI 친구 대화 · 자동 평가서 · 학습 게임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무엇이 다른가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66928" y="44439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7824" y="44439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664208" y="44439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5047488" y="45537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→ 레벨테스트 → 수업신청 → 수업 → 평가·복습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화면으로 보는 5단계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66928" y="5358384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7824" y="5358384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664208" y="5358384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550" dirty="0"/>
          </a:p>
        </p:txBody>
      </p:sp>
      <p:sp>
        <p:nvSpPr>
          <p:cNvPr id="26" name="Text 23"/>
          <p:cNvSpPr/>
          <p:nvPr/>
        </p:nvSpPr>
        <p:spPr>
          <a:xfrm>
            <a:off x="5047488" y="5468112"/>
            <a:ext cx="6309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강화학습 개인화 · 에듀테인먼트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시대의 영어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 · 한눈에 보는 망고아이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Highlights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파는 화상영어가 아닙니다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학습 전체를 끌고 가는 플랫폼입니다.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084832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286000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14가지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41248" y="2907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 · 대화 · 첨삭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평가서까지 전 과정에 A.I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61688" y="2084832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36008" y="2286000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4636008" y="2907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걸 상대가 있습니다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56448" y="2084832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30768" y="2286000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리포트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8430768" y="2907792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평가서와 월간 리포트를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스스로 작성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6928" y="3840480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1248" y="4041648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 게임</a:t>
            </a:r>
            <a:endParaRPr lang="en-US" sz="2800" dirty="0"/>
          </a:p>
        </p:txBody>
      </p:sp>
      <p:sp>
        <p:nvSpPr>
          <p:cNvPr id="19" name="Text 16"/>
          <p:cNvSpPr/>
          <p:nvPr/>
        </p:nvSpPr>
        <p:spPr>
          <a:xfrm>
            <a:off x="841248" y="4663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놀이로 바꾸는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361688" y="3840480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36008" y="4041648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/ 1:2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4636008" y="4663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소수정예 수업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8156448" y="3840480"/>
            <a:ext cx="3529584" cy="1517904"/>
          </a:xfrm>
          <a:prstGeom prst="roundRect">
            <a:avLst>
              <a:gd name="adj" fmla="val 602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0768" y="4041648"/>
            <a:ext cx="2980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· 직영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430768" y="46634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최초 화상영어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현지 센터 직접 운영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66928" y="55778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A.I 기능 수·게임 수는 서비스 내 집계 기준 (2026년 8월)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화상수업만으로는 영어가 늘지 않습니다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700784"/>
            <a:ext cx="4114800" cy="2286000"/>
          </a:xfrm>
          <a:prstGeom prst="roundRect">
            <a:avLst>
              <a:gd name="adj" fmla="val 4000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9202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 = 월 200분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7824" y="2267712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</a:t>
            </a:r>
            <a:endParaRPr lang="en-US" sz="6000" dirty="0"/>
          </a:p>
        </p:txBody>
      </p:sp>
      <p:sp>
        <p:nvSpPr>
          <p:cNvPr id="10" name="Text 7"/>
          <p:cNvSpPr/>
          <p:nvPr/>
        </p:nvSpPr>
        <p:spPr>
          <a:xfrm>
            <a:off x="877824" y="32004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43,000분 중 영어를 쓰는 시간의 비율입니다.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시간을 아무도 관리하지 않는 것이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화상영어의 가장 큰 빈틈입니다.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956048" y="1700784"/>
            <a:ext cx="666597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248656" y="1975104"/>
            <a:ext cx="365760" cy="365760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48656" y="19751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760720" y="193852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끝나면 학습도 끝난다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760720" y="2304288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맡기면 실제로 하는 아이는 소수입니다. 배운 문장은 다음 수업 전에 이미 사라집니다.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956048" y="3108960"/>
            <a:ext cx="666597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248656" y="3383280"/>
            <a:ext cx="365760" cy="365760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248656" y="33832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760720" y="3346704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연습량이 절대적으로 부족하다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5760720" y="3712464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25분 수업에서 학생이 실제로 말하는 시간은 그중 일부입니다. 발화량이 부족하면 입은 트이지 않습니다.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956048" y="4517136"/>
            <a:ext cx="6665976" cy="1298448"/>
          </a:xfrm>
          <a:prstGeom prst="roundRect">
            <a:avLst>
              <a:gd name="adj" fmla="val 704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248656" y="4791456"/>
            <a:ext cx="365760" cy="365760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248656" y="47914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0F4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760720" y="4754880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학부모는 아이 상태를 알 수 없다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760720" y="512064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출결과 진도는 알아도 «오늘 무엇을 얼마나 말했는지»는 보이지 않습니다. 그래서 불안하고, 그래서 그만둡니다.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OUR ANSWER · 우리의 답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</a:t>
            </a:r>
            <a:pPr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이끌고, 나머지 시간은 </a:t>
            </a:r>
            <a:pPr indent="0" marL="0">
              <a:buNone/>
            </a:pPr>
            <a:r>
              <a:rPr lang="en-US" sz="3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</a:t>
            </a:r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채웁니다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591056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수업(사람)과 학습관리(A.I)를 한 시스템 안에서 맞물려 돌립니다. 수업만 제공하는 대부분의 화상외국어 업체들과 다른 지점입니다.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395728"/>
            <a:ext cx="3529584" cy="2889504"/>
          </a:xfrm>
          <a:prstGeom prst="roundRect">
            <a:avLst>
              <a:gd name="adj" fmla="val 316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633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 (Human Teacher)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41248" y="29626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교사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859536" y="362102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소수정예 수업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59536" y="413308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교정과 동기 부여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59536" y="464515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97280" y="45537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수업일지 · 평가 작성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361688" y="2395728"/>
            <a:ext cx="3529584" cy="2889504"/>
          </a:xfrm>
          <a:prstGeom prst="roundRect">
            <a:avLst>
              <a:gd name="adj" fmla="val 316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36008" y="2633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하는 일 (14가지)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636008" y="29626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학습관리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4654296" y="3621024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89204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 · 친구 대화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4654296" y="4133088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892040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영작 첨삭 · 자동 평가서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654296" y="464515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892040" y="45537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· 퀴즈 · 게임형 반복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156448" y="2395728"/>
            <a:ext cx="3529584" cy="2889504"/>
          </a:xfrm>
          <a:prstGeom prst="roundRect">
            <a:avLst>
              <a:gd name="adj" fmla="val 316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430768" y="26334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잇는 것 (Data)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8430768" y="2962656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소통</a:t>
            </a:r>
            <a:endParaRPr lang="en-US" sz="1900" dirty="0"/>
          </a:p>
        </p:txBody>
      </p:sp>
      <p:sp>
        <p:nvSpPr>
          <p:cNvPr id="29" name="Shape 26"/>
          <p:cNvSpPr/>
          <p:nvPr/>
        </p:nvSpPr>
        <p:spPr>
          <a:xfrm>
            <a:off x="8449056" y="3621024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686800" y="35295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 + AI 학습기록 연동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449056" y="4133088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686800" y="404164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리포트 자동 생성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449056" y="4645152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686800" y="45537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카카오톡 실시간 전달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MAP · 망고아이를 움직이는 14가지 A.I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Features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학습의 모든 단계마다 담당 A.I가 있습니다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«AI를 쓴다»가 아니라 단계별로 역할이 나뉘어 있습니다. 아래 14가지는 전부 지금 서비스 중입니다.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68096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준비시키는 A.I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68096" y="326440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9264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969264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배울 문장 미리 말해 보기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68096" y="3886200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9264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9264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레벨테스트로 시작점 파악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2810866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012034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3012034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평가하는 A.I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012034" y="3264408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13202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213202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 분석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012034" y="3886200"/>
            <a:ext cx="128016" cy="128016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13202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3213202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요약 발송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054803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255971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255971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쓰게 하는 A.I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255971" y="3264408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457139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5457139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말한 문장 즉시 채점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5255971" y="3886200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5457139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5457139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영어 대화 상대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5255971" y="4507992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457139" y="4443984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457139" y="4672584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 교정 + 이유 설명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5255971" y="5129784"/>
            <a:ext cx="128016" cy="128016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457139" y="5065776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5457139" y="5294376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 판단해 영어로 답하기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7298741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499909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예복습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499909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반복시키는 A.I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7499909" y="3264408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701077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701077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뜻·예문 자동 생성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7499909" y="3886200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701077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7701077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마이크로러닝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7499909" y="4507992"/>
            <a:ext cx="128016" cy="128016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701077" y="4443984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1100" dirty="0"/>
          </a:p>
        </p:txBody>
      </p:sp>
      <p:sp>
        <p:nvSpPr>
          <p:cNvPr id="52" name="Text 49"/>
          <p:cNvSpPr/>
          <p:nvPr/>
        </p:nvSpPr>
        <p:spPr>
          <a:xfrm>
            <a:off x="7701077" y="4672584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10문항 자동 출제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542678" y="2139696"/>
            <a:ext cx="2079346" cy="3547872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9743846" y="2322576"/>
            <a:ext cx="16952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 찾을 때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9743846" y="2578608"/>
            <a:ext cx="171358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찾아 주는 A.I</a:t>
            </a:r>
            <a:endParaRPr lang="en-US" sz="1300" dirty="0"/>
          </a:p>
        </p:txBody>
      </p:sp>
      <p:sp>
        <p:nvSpPr>
          <p:cNvPr id="56" name="Shape 53"/>
          <p:cNvSpPr/>
          <p:nvPr/>
        </p:nvSpPr>
        <p:spPr>
          <a:xfrm>
            <a:off x="9743846" y="326440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9945014" y="3200400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상담사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9945014" y="3429000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홈에서 바로 묻고 답변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9743846" y="3886200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9945014" y="3822192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통합검색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9945014" y="4050792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기능으로 이동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9743846" y="4507992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9945014" y="4443984"/>
            <a:ext cx="153070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</a:t>
            </a:r>
            <a:endParaRPr lang="en-US" sz="1100" dirty="0"/>
          </a:p>
        </p:txBody>
      </p:sp>
      <p:sp>
        <p:nvSpPr>
          <p:cNvPr id="64" name="Text 61"/>
          <p:cNvSpPr/>
          <p:nvPr/>
        </p:nvSpPr>
        <p:spPr>
          <a:xfrm>
            <a:off x="9945014" y="4672584"/>
            <a:ext cx="153070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지표 자동 정리</a:t>
            </a:r>
            <a:endParaRPr lang="en-US" sz="900" dirty="0"/>
          </a:p>
        </p:txBody>
      </p:sp>
      <p:sp>
        <p:nvSpPr>
          <p:cNvPr id="65" name="Text 62"/>
          <p:cNvSpPr/>
          <p:nvPr/>
        </p:nvSpPr>
        <p:spPr>
          <a:xfrm>
            <a:off x="566928" y="57607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기능 집계 (2026년 8월). 학습 게임 21종은 별도입니다.</a:t>
            </a:r>
            <a:endParaRPr lang="en-US" sz="950" dirty="0"/>
          </a:p>
        </p:txBody>
      </p:sp>
      <p:sp>
        <p:nvSpPr>
          <p:cNvPr id="66" name="Text 6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65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365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2103120" y="36576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(Theoretical Foundation)   ·   1/3   왜 개인화 지도인가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· Vygotsky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76809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1:1인가, 그리고 왜 A.I인가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12984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구조는 두 개의 고전 연구 위에 서 있습니다 — 개인화 지도의 효과(블룸), 그리고 «도우면 되는 구간»(비고츠키).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1755648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1719072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01 · Bloom (1984)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" y="1901952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블룸의 «2시그마 문제»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566928" y="2249424"/>
            <a:ext cx="5632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개인교습을 받은 학생의 평균은 일반 학급 학생 상위 2% 수준이었습니다. 문제는 «그걸 모두에게 줄 방법이 없다»는 것이었습니다.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66928" y="2706624"/>
            <a:ext cx="5632704" cy="2212848"/>
          </a:xfrm>
          <a:prstGeom prst="roundRect">
            <a:avLst>
              <a:gd name="adj" fmla="val 4132"/>
            </a:avLst>
          </a:prstGeom>
          <a:solidFill>
            <a:srgbClr val="0E142A"/>
          </a:solidFill>
          <a:ln w="12700">
            <a:solidFill>
              <a:srgbClr val="2A3557"/>
            </a:solidFill>
            <a:prstDash val="solid"/>
          </a:ln>
        </p:spPr>
      </p:sp>
      <p:graphicFrame>
        <p:nvGraphicFramePr>
          <p:cNvPr id="15" name="Chart 0" descr=""/>
          <p:cNvGraphicFramePr/>
          <p:nvPr/>
        </p:nvGraphicFramePr>
        <p:xfrm>
          <a:off x="621792" y="2743200"/>
          <a:ext cx="5522976" cy="213969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Text 12"/>
          <p:cNvSpPr/>
          <p:nvPr/>
        </p:nvSpPr>
        <p:spPr>
          <a:xfrm>
            <a:off x="566928" y="4974336"/>
            <a:ext cx="5632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효과크기(d) — 무처치 대조군 대비 표준편차 단위. Bloom(1984)의 2σ는 이후 재현 연구에서 축소 보고되었습니다.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566928" y="5285232"/>
            <a:ext cx="5632704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04672" y="537667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804672" y="5577840"/>
            <a:ext cx="51389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교사는 1:1·1:2로 유지하고, 교사가 없는 시간은 A.I 튜터가 맡습니다. VanLehn(2011)은 지능형 튜터링이 인간 튜터에 근접(0.76 vs 0.79)한다고 보고했습니다.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6455664" y="1755648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620256" y="17190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02 · Vygotsky (1978)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6620256" y="1901952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근접발달영역(ZPD)과 스캐폴딩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6455664" y="2249424"/>
            <a:ext cx="5175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i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“근접발달영역이란 독립적 문제해결로 결정되는 실제 발달 수준과, 성인의 안내 또는 더 유능한 또래와의 협력으로 결정되는 잠재적 발달 수준 사이의 거리다.” — Mind in Society, p. 86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19088" y="2743200"/>
            <a:ext cx="2816352" cy="2165423"/>
          </a:xfrm>
          <a:prstGeom prst="roundRect">
            <a:avLst>
              <a:gd name="adj" fmla="val 337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779776"/>
            <a:ext cx="2743200" cy="2092271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9436608" y="2779776"/>
            <a:ext cx="2194560" cy="530352"/>
          </a:xfrm>
          <a:prstGeom prst="roundRect">
            <a:avLst>
              <a:gd name="adj" fmla="val 1724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9601200" y="2825496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9601200" y="2999232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 — 이 아이의 ZPD를 안다</a:t>
            </a:r>
            <a:endParaRPr lang="en-US" sz="700" dirty="0"/>
          </a:p>
        </p:txBody>
      </p:sp>
      <p:sp>
        <p:nvSpPr>
          <p:cNvPr id="29" name="Shape 24"/>
          <p:cNvSpPr/>
          <p:nvPr/>
        </p:nvSpPr>
        <p:spPr>
          <a:xfrm>
            <a:off x="9436608" y="3364992"/>
            <a:ext cx="2194560" cy="530352"/>
          </a:xfrm>
          <a:prstGeom prst="roundRect">
            <a:avLst>
              <a:gd name="adj" fmla="val 17241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9601200" y="3410712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900" dirty="0"/>
          </a:p>
        </p:txBody>
      </p:sp>
      <p:sp>
        <p:nvSpPr>
          <p:cNvPr id="31" name="Text 26"/>
          <p:cNvSpPr/>
          <p:nvPr/>
        </p:nvSpPr>
        <p:spPr>
          <a:xfrm>
            <a:off x="9601200" y="3584448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채점 · AI 친구 힌트 · 단계적 난이도</a:t>
            </a:r>
            <a:endParaRPr lang="en-US" sz="700" dirty="0"/>
          </a:p>
        </p:txBody>
      </p:sp>
      <p:sp>
        <p:nvSpPr>
          <p:cNvPr id="32" name="Shape 27"/>
          <p:cNvSpPr/>
          <p:nvPr/>
        </p:nvSpPr>
        <p:spPr>
          <a:xfrm>
            <a:off x="9436608" y="3950208"/>
            <a:ext cx="2194560" cy="530352"/>
          </a:xfrm>
          <a:prstGeom prst="roundRect">
            <a:avLst>
              <a:gd name="adj" fmla="val 1724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9601200" y="3995928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9601200" y="4169664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오르면 힌트를 줄이고 난이도를 올린다</a:t>
            </a:r>
            <a:endParaRPr lang="en-US" sz="700" dirty="0"/>
          </a:p>
        </p:txBody>
      </p:sp>
      <p:sp>
        <p:nvSpPr>
          <p:cNvPr id="35" name="Shape 30"/>
          <p:cNvSpPr/>
          <p:nvPr/>
        </p:nvSpPr>
        <p:spPr>
          <a:xfrm>
            <a:off x="9436608" y="4535424"/>
            <a:ext cx="2194560" cy="530352"/>
          </a:xfrm>
          <a:prstGeom prst="roundRect">
            <a:avLst>
              <a:gd name="adj" fmla="val 17241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9601200" y="4581144"/>
            <a:ext cx="18836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움직인다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9601200" y="47548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발화량·정확도·연속 학습을 상시 측정하는 이유</a:t>
            </a:r>
            <a:endParaRPr lang="en-US" sz="700" dirty="0"/>
          </a:p>
        </p:txBody>
      </p:sp>
      <p:sp>
        <p:nvSpPr>
          <p:cNvPr id="38" name="Text 33"/>
          <p:cNvSpPr/>
          <p:nvPr/>
        </p:nvSpPr>
        <p:spPr>
          <a:xfrm>
            <a:off x="6455664" y="4974336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노란 고리가 «도우면 되는 구간» — 교사와 A.I가 이 안에 함께 서 있습니다</a:t>
            </a:r>
            <a:endParaRPr lang="en-US" sz="800" dirty="0"/>
          </a:p>
        </p:txBody>
      </p:sp>
      <p:sp>
        <p:nvSpPr>
          <p:cNvPr id="39" name="Shape 34"/>
          <p:cNvSpPr/>
          <p:nvPr/>
        </p:nvSpPr>
        <p:spPr>
          <a:xfrm>
            <a:off x="6455664" y="5285232"/>
            <a:ext cx="5175504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40" name="Text 35"/>
          <p:cNvSpPr/>
          <p:nvPr/>
        </p:nvSpPr>
        <p:spPr>
          <a:xfrm>
            <a:off x="6693408" y="537667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900" dirty="0"/>
          </a:p>
        </p:txBody>
      </p:sp>
      <p:sp>
        <p:nvSpPr>
          <p:cNvPr id="41" name="Text 36"/>
          <p:cNvSpPr/>
          <p:nvPr/>
        </p:nvSpPr>
        <p:spPr>
          <a:xfrm>
            <a:off x="6693408" y="5577840"/>
            <a:ext cx="470001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혼자서는 못 하지만 도우면 되는 이 구간을, 교사(주 2~5회)와 A.I(상시)가 함께 채웁니다. 도움은 «없애기 위해» 줍니다.</a:t>
            </a:r>
            <a:endParaRPr lang="en-US" sz="850" dirty="0"/>
          </a:p>
        </p:txBody>
      </p:sp>
      <p:sp>
        <p:nvSpPr>
          <p:cNvPr id="42" name="Text 37"/>
          <p:cNvSpPr/>
          <p:nvPr/>
        </p:nvSpPr>
        <p:spPr>
          <a:xfrm>
            <a:off x="566928" y="621792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  ·  VanLehn, K. (2011). Educational Psychologist, 46(4), 197–221.  ·  Vygotsky, L. S. (1978). Mind in Society. Harvard University Press.  ·  Wood, D., Bruner, J. S., &amp; Ross, G. (1976). JCPP, 17(2), 89–100.</a:t>
            </a:r>
            <a:endParaRPr lang="en-US" sz="750" dirty="0"/>
          </a:p>
        </p:txBody>
      </p:sp>
      <p:sp>
        <p:nvSpPr>
          <p:cNvPr id="43" name="Text 3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65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365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2103120" y="36576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(Theoretical Foundation)   ·   2/3   언어 습득과 기억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224467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224467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Chomsky · Krashen · Swain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76809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어떻게 «자라고», 어떻게 «남는가»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129844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촘스키는 규칙 암기로 언어를 설명하려는 시도를 비판했고, 인지심리학은 «배운 것»과 «남은 것»이 다르다는 것을 반복해 확인했습니다.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1755648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31520" y="1719072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03 · Chomsky · Krashen · Swain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731520" y="1901952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«배우는» 것이 아니라 «자라는» 것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66928" y="2267712"/>
            <a:ext cx="1819656" cy="1335024"/>
          </a:xfrm>
          <a:prstGeom prst="roundRect">
            <a:avLst>
              <a:gd name="adj" fmla="val 684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31520" y="235915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(1959, 1965)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731520" y="2542032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생득적 언어 능력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731520" y="2962656"/>
            <a:ext cx="1545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반복·강화로 축적되지 않는다. «문법 설명 → 암기 → 시험»만으로는 말하기가 자라지 않는다.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2464308" y="2267712"/>
            <a:ext cx="1819656" cy="1335024"/>
          </a:xfrm>
          <a:prstGeom prst="roundRect">
            <a:avLst>
              <a:gd name="adj" fmla="val 684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628900" y="235915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2628900" y="2542032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 가능한 입력 · i+1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2628900" y="2962656"/>
            <a:ext cx="1545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수준보다 조금 위의 입력에서 습득이 일어난다. 불안이 높으면 정서 필터가 입력을 막는다.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4361688" y="2267712"/>
            <a:ext cx="1819656" cy="1335024"/>
          </a:xfrm>
          <a:prstGeom prst="roundRect">
            <a:avLst>
              <a:gd name="adj" fmla="val 684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26280" y="2359152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4526280" y="2542032"/>
            <a:ext cx="1527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 가능한 출력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4526280" y="2962656"/>
            <a:ext cx="15453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말해 보며 «내가 모르는 지점»을 마주칠 때 규칙이 굳는다. 발화량이 곧 학습량.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530352" y="3712464"/>
            <a:ext cx="5705856" cy="1332227"/>
          </a:xfrm>
          <a:prstGeom prst="roundRect">
            <a:avLst>
              <a:gd name="adj" fmla="val 549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1" descr="/tmp/claude-0/-home-user-mangoiweb/ca835eb4-1670-5fc1-a29a-2fc77598fea3/scratchpad/deck_img/d_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749040"/>
            <a:ext cx="5632704" cy="1259075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66928" y="5138928"/>
            <a:ext cx="5632704" cy="932688"/>
          </a:xfrm>
          <a:prstGeom prst="roundRect">
            <a:avLst>
              <a:gd name="adj" fmla="val 9804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04672" y="5230368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정직하게 덧붙이면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804672" y="5431536"/>
            <a:ext cx="5138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50"/>
              </a:lnSpc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자신의 이론을 외국어 교수법에 바로 적용하는 것을 경계했습니다. 교실 설계의 직접 근거는 크라션·스웨인 계열의 제2언어 습득 연구입니다.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6455664" y="1755648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620256" y="1719072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04 · Ebbinghaus · Cepeda · Roediger · Sweller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6620256" y="1901952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«배웠다»와 «남았다»는 다른 말</a:t>
            </a:r>
            <a:endParaRPr lang="en-US" sz="1500" dirty="0"/>
          </a:p>
        </p:txBody>
      </p:sp>
      <p:sp>
        <p:nvSpPr>
          <p:cNvPr id="33" name="Shape 29"/>
          <p:cNvSpPr/>
          <p:nvPr/>
        </p:nvSpPr>
        <p:spPr>
          <a:xfrm>
            <a:off x="6766560" y="2157984"/>
            <a:ext cx="4553712" cy="2569464"/>
          </a:xfrm>
          <a:prstGeom prst="roundRect">
            <a:avLst>
              <a:gd name="adj" fmla="val 284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4" name="Image 2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36" y="2194560"/>
            <a:ext cx="4480560" cy="2496312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6455664" y="4718304"/>
            <a:ext cx="5175504" cy="512064"/>
          </a:xfrm>
          <a:prstGeom prst="roundRect">
            <a:avLst>
              <a:gd name="adj" fmla="val 1785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6656832" y="475488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7827264" y="4764024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Cepeda et al. (2006)</a:t>
            </a:r>
            <a:endParaRPr lang="en-US" sz="650" dirty="0"/>
          </a:p>
        </p:txBody>
      </p:sp>
      <p:sp>
        <p:nvSpPr>
          <p:cNvPr id="38" name="Text 33"/>
          <p:cNvSpPr/>
          <p:nvPr/>
        </p:nvSpPr>
        <p:spPr>
          <a:xfrm>
            <a:off x="6656832" y="493776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 나눠 학습할 때 장기 보존이 좋다</a:t>
            </a:r>
            <a:endParaRPr lang="en-US" sz="700" dirty="0"/>
          </a:p>
        </p:txBody>
      </p:sp>
      <p:sp>
        <p:nvSpPr>
          <p:cNvPr id="39" name="Text 34"/>
          <p:cNvSpPr/>
          <p:nvPr/>
        </p:nvSpPr>
        <p:spPr>
          <a:xfrm>
            <a:off x="9674352" y="4718304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1분 마이크로러닝 · 연속 학습</a:t>
            </a:r>
            <a:endParaRPr lang="en-US" sz="700" dirty="0"/>
          </a:p>
        </p:txBody>
      </p:sp>
      <p:sp>
        <p:nvSpPr>
          <p:cNvPr id="40" name="Shape 35"/>
          <p:cNvSpPr/>
          <p:nvPr/>
        </p:nvSpPr>
        <p:spPr>
          <a:xfrm>
            <a:off x="6455664" y="5266944"/>
            <a:ext cx="5175504" cy="512064"/>
          </a:xfrm>
          <a:prstGeom prst="roundRect">
            <a:avLst>
              <a:gd name="adj" fmla="val 1785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656832" y="530352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900" dirty="0"/>
          </a:p>
        </p:txBody>
      </p:sp>
      <p:sp>
        <p:nvSpPr>
          <p:cNvPr id="42" name="Text 37"/>
          <p:cNvSpPr/>
          <p:nvPr/>
        </p:nvSpPr>
        <p:spPr>
          <a:xfrm>
            <a:off x="7827264" y="5312664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Roediger &amp; Karpicke (2006)</a:t>
            </a:r>
            <a:endParaRPr lang="en-US" sz="650" dirty="0"/>
          </a:p>
        </p:txBody>
      </p:sp>
      <p:sp>
        <p:nvSpPr>
          <p:cNvPr id="43" name="Text 38"/>
          <p:cNvSpPr/>
          <p:nvPr/>
        </p:nvSpPr>
        <p:spPr>
          <a:xfrm>
            <a:off x="6656832" y="548640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읽기보다 «꺼내 보기»가 기억을 더 높인다</a:t>
            </a:r>
            <a:endParaRPr lang="en-US" sz="700" dirty="0"/>
          </a:p>
        </p:txBody>
      </p:sp>
      <p:sp>
        <p:nvSpPr>
          <p:cNvPr id="44" name="Text 39"/>
          <p:cNvSpPr/>
          <p:nvPr/>
        </p:nvSpPr>
        <p:spPr>
          <a:xfrm>
            <a:off x="9674352" y="5266944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복습 퀴즈 10문항 · AI 단어 퀴즈</a:t>
            </a:r>
            <a:endParaRPr lang="en-US" sz="700" dirty="0"/>
          </a:p>
        </p:txBody>
      </p:sp>
      <p:sp>
        <p:nvSpPr>
          <p:cNvPr id="45" name="Shape 40"/>
          <p:cNvSpPr/>
          <p:nvPr/>
        </p:nvSpPr>
        <p:spPr>
          <a:xfrm>
            <a:off x="6455664" y="5815584"/>
            <a:ext cx="5175504" cy="512064"/>
          </a:xfrm>
          <a:prstGeom prst="roundRect">
            <a:avLst>
              <a:gd name="adj" fmla="val 1785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6" name="Text 41"/>
          <p:cNvSpPr/>
          <p:nvPr/>
        </p:nvSpPr>
        <p:spPr>
          <a:xfrm>
            <a:off x="6656832" y="58521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900" dirty="0"/>
          </a:p>
        </p:txBody>
      </p:sp>
      <p:sp>
        <p:nvSpPr>
          <p:cNvPr id="47" name="Text 42"/>
          <p:cNvSpPr/>
          <p:nvPr/>
        </p:nvSpPr>
        <p:spPr>
          <a:xfrm>
            <a:off x="7827264" y="5861304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Sweller (1988)</a:t>
            </a:r>
            <a:endParaRPr lang="en-US" sz="650" dirty="0"/>
          </a:p>
        </p:txBody>
      </p:sp>
      <p:sp>
        <p:nvSpPr>
          <p:cNvPr id="48" name="Text 43"/>
          <p:cNvSpPr/>
          <p:nvPr/>
        </p:nvSpPr>
        <p:spPr>
          <a:xfrm>
            <a:off x="6656832" y="60350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학습과 무관한 부하를 줄여야 자원이 학습에 간다</a:t>
            </a:r>
            <a:endParaRPr lang="en-US" sz="700" dirty="0"/>
          </a:p>
        </p:txBody>
      </p:sp>
      <p:sp>
        <p:nvSpPr>
          <p:cNvPr id="49" name="Text 44"/>
          <p:cNvSpPr/>
          <p:nvPr/>
        </p:nvSpPr>
        <p:spPr>
          <a:xfrm>
            <a:off x="9674352" y="5815584"/>
            <a:ext cx="18470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950"/>
              </a:lnSpc>
              <a:buNone/>
            </a:pPr>
            <a:r>
              <a:rPr lang="en-US" sz="7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게임 UI 단순화 · 한 화면 한 과제</a:t>
            </a:r>
            <a:endParaRPr lang="en-US" sz="700" dirty="0"/>
          </a:p>
        </p:txBody>
      </p:sp>
      <p:sp>
        <p:nvSpPr>
          <p:cNvPr id="50" name="Text 45"/>
          <p:cNvSpPr/>
          <p:nvPr/>
        </p:nvSpPr>
        <p:spPr>
          <a:xfrm>
            <a:off x="6455664" y="6345936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서지사항은 다음 장 하단 REFERENCES 에 정리했습니다.</a:t>
            </a:r>
            <a:endParaRPr lang="en-US" sz="750" dirty="0"/>
          </a:p>
        </p:txBody>
      </p:sp>
      <p:sp>
        <p:nvSpPr>
          <p:cNvPr id="51" name="Text 4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36576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3657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8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950" dirty="0"/>
          </a:p>
        </p:txBody>
      </p:sp>
      <p:sp>
        <p:nvSpPr>
          <p:cNvPr id="5" name="Text 2"/>
          <p:cNvSpPr/>
          <p:nvPr/>
        </p:nvSpPr>
        <p:spPr>
          <a:xfrm>
            <a:off x="2103120" y="365760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 (Theoretical Foundation)   ·   3/3   동기 · 이론에서 기능으로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9535363" y="384048"/>
            <a:ext cx="208940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535363" y="384048"/>
            <a:ext cx="20894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Ryan &amp; Deci · Mapping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66928" y="76809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«재미»는 설계 조건이고, 모든 기능에는 근거가 있습니다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566928" y="1408176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71600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05 · 동기와 몰입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31520" y="1554480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«재미가 의지를 이깁니다»의 근거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66928" y="1938528"/>
            <a:ext cx="5632704" cy="676656"/>
          </a:xfrm>
          <a:prstGeom prst="roundRect">
            <a:avLst>
              <a:gd name="adj" fmla="val 1351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68096" y="1993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157984" y="200253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 &amp; Deci (2000)</a:t>
            </a:r>
            <a:endParaRPr lang="en-US" sz="700" dirty="0"/>
          </a:p>
        </p:txBody>
      </p:sp>
      <p:sp>
        <p:nvSpPr>
          <p:cNvPr id="15" name="Text 12"/>
          <p:cNvSpPr/>
          <p:nvPr/>
        </p:nvSpPr>
        <p:spPr>
          <a:xfrm>
            <a:off x="768096" y="219456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자율성·유능감·관계성이 충족될 때 내재동기가 유지된다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768096" y="237744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게임·주제·아바타 선택권 · 레벨업 · AI 친구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66928" y="2670048"/>
            <a:ext cx="5632704" cy="676656"/>
          </a:xfrm>
          <a:prstGeom prst="roundRect">
            <a:avLst>
              <a:gd name="adj" fmla="val 1351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68096" y="272491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157984" y="273405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 (1990)</a:t>
            </a:r>
            <a:endParaRPr lang="en-US" sz="700" dirty="0"/>
          </a:p>
        </p:txBody>
      </p:sp>
      <p:sp>
        <p:nvSpPr>
          <p:cNvPr id="20" name="Text 17"/>
          <p:cNvSpPr/>
          <p:nvPr/>
        </p:nvSpPr>
        <p:spPr>
          <a:xfrm>
            <a:off x="768096" y="292608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난이도와 실력이 균형을 이루는 좁은 구간에서 몰입이 일어난다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768096" y="310896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속도 조절(거북이~불꽃) · 정확도 기반 난이도 조정</a:t>
            </a:r>
            <a:endParaRPr lang="en-US" sz="750" dirty="0"/>
          </a:p>
        </p:txBody>
      </p:sp>
      <p:sp>
        <p:nvSpPr>
          <p:cNvPr id="22" name="Shape 19"/>
          <p:cNvSpPr/>
          <p:nvPr/>
        </p:nvSpPr>
        <p:spPr>
          <a:xfrm>
            <a:off x="566928" y="3401568"/>
            <a:ext cx="5632704" cy="676656"/>
          </a:xfrm>
          <a:prstGeom prst="roundRect">
            <a:avLst>
              <a:gd name="adj" fmla="val 1351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68096" y="34564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157984" y="346557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 (2006)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능력은 노력으로 자란다는 믿음이 성취를 바꾼다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768096" y="384048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말할수록 자라는 아바타 · 과정(연속 일수)을 칭찬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566928" y="4133088"/>
            <a:ext cx="5632704" cy="676656"/>
          </a:xfrm>
          <a:prstGeom prst="roundRect">
            <a:avLst>
              <a:gd name="adj" fmla="val 1351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68096" y="418795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자기효능감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2157984" y="4197096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 (1977)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768096" y="438912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«할 수 있다»는 믿음은 작은 성공 경험이 쌓일 때 생긴다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1분이면 끝나는 과제 · 즉시 채점되는 발음 점수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566928" y="4901184"/>
            <a:ext cx="5632704" cy="640080"/>
          </a:xfrm>
          <a:prstGeom prst="roundRect">
            <a:avLst>
              <a:gd name="adj" fmla="val 14286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4901184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경계하는 지점 — 외적 보상이 내재동기를 떨어뜨릴 수 있다는 메타분석(Deci, Koestner &amp; Ryan, 1999)에 따라, 포인트·기프티콘은 «성적»이 아니라 «습관»에만 겁니다. 사행성 요소는 넣지 않습니다.</a:t>
            </a:r>
            <a:endParaRPr lang="en-US" sz="800" dirty="0"/>
          </a:p>
        </p:txBody>
      </p:sp>
      <p:sp>
        <p:nvSpPr>
          <p:cNvPr id="34" name="Shape 31"/>
          <p:cNvSpPr/>
          <p:nvPr/>
        </p:nvSpPr>
        <p:spPr>
          <a:xfrm>
            <a:off x="6455664" y="1408176"/>
            <a:ext cx="50292" cy="40233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20256" y="1371600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→ 기능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6620256" y="15544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이론이 어떤 화면이 되었는가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6455664" y="1938528"/>
            <a:ext cx="5175504" cy="3602736"/>
          </a:xfrm>
          <a:prstGeom prst="roundRect">
            <a:avLst>
              <a:gd name="adj" fmla="val 253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547104" y="2066544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56832" y="2066544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블룸 2시그마 · ITS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8668512" y="206654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1:1·1:2 수업 + 24시간 A.I 학습관리의 결합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6656832" y="246888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ZPD · 스캐폴딩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8668512" y="246888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 + AI 음성코치·AI 친구의 힌트와 단계적 난이도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547104" y="2871216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656832" y="287121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입력가설 (i+1)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8668512" y="2871216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CEFR 8단계 배정 · 원어민 발음 듣기</a:t>
            </a:r>
            <a:endParaRPr lang="en-US" sz="750" dirty="0"/>
          </a:p>
        </p:txBody>
      </p:sp>
      <p:sp>
        <p:nvSpPr>
          <p:cNvPr id="46" name="Text 43"/>
          <p:cNvSpPr/>
          <p:nvPr/>
        </p:nvSpPr>
        <p:spPr>
          <a:xfrm>
            <a:off x="6656832" y="327355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8668512" y="327355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틀려도 웃지 않는 상대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6547104" y="3675888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6656832" y="3675888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8668512" y="3675888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발화 채점 · 말하기가 승리 조건인 게임</a:t>
            </a:r>
            <a:endParaRPr lang="en-US" sz="750" dirty="0"/>
          </a:p>
        </p:txBody>
      </p:sp>
      <p:sp>
        <p:nvSpPr>
          <p:cNvPr id="51" name="Text 48"/>
          <p:cNvSpPr/>
          <p:nvPr/>
        </p:nvSpPr>
        <p:spPr>
          <a:xfrm>
            <a:off x="6656832" y="4078224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8668512" y="4078224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AI 단어 퀴즈 · 복습 10문항 · 연속 학습(스트릭)</a:t>
            </a:r>
            <a:endParaRPr lang="en-US" sz="750" dirty="0"/>
          </a:p>
        </p:txBody>
      </p:sp>
      <p:sp>
        <p:nvSpPr>
          <p:cNvPr id="53" name="Shape 50"/>
          <p:cNvSpPr/>
          <p:nvPr/>
        </p:nvSpPr>
        <p:spPr>
          <a:xfrm>
            <a:off x="6547104" y="4480560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656832" y="4480560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 이론</a:t>
            </a:r>
            <a:endParaRPr lang="en-US" sz="850" dirty="0"/>
          </a:p>
        </p:txBody>
      </p:sp>
      <p:sp>
        <p:nvSpPr>
          <p:cNvPr id="55" name="Text 52"/>
          <p:cNvSpPr/>
          <p:nvPr/>
        </p:nvSpPr>
        <p:spPr>
          <a:xfrm>
            <a:off x="8668512" y="4480560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한 과제 · 게임 UI 단순화</a:t>
            </a:r>
            <a:endParaRPr lang="en-US" sz="750" dirty="0"/>
          </a:p>
        </p:txBody>
      </p:sp>
      <p:sp>
        <p:nvSpPr>
          <p:cNvPr id="56" name="Text 53"/>
          <p:cNvSpPr/>
          <p:nvPr/>
        </p:nvSpPr>
        <p:spPr>
          <a:xfrm>
            <a:off x="6656832" y="48828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 · 몰입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8668512" y="4882896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게임·주제·아바타 선택권 · 속도 조절 · 레벨과 배지</a:t>
            </a:r>
            <a:endParaRPr lang="en-US" sz="750" dirty="0"/>
          </a:p>
        </p:txBody>
      </p:sp>
      <p:sp>
        <p:nvSpPr>
          <p:cNvPr id="58" name="Shape 55"/>
          <p:cNvSpPr/>
          <p:nvPr/>
        </p:nvSpPr>
        <p:spPr>
          <a:xfrm>
            <a:off x="6547104" y="5285232"/>
            <a:ext cx="4992624" cy="384048"/>
          </a:xfrm>
          <a:prstGeom prst="rect">
            <a:avLst/>
          </a:prstGeom>
          <a:solidFill>
            <a:srgbClr val="2B2010"/>
          </a:solidFill>
          <a:ln w="12700">
            <a:solidFill>
              <a:srgbClr val="2B2010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6656832" y="5285232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8668512" y="5285232"/>
            <a:ext cx="2816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자라는 아바타 · 과정을 칭찬하는 리포트</a:t>
            </a:r>
            <a:endParaRPr lang="en-US" sz="750" dirty="0"/>
          </a:p>
        </p:txBody>
      </p:sp>
      <p:sp>
        <p:nvSpPr>
          <p:cNvPr id="61" name="Text 58"/>
          <p:cNvSpPr/>
          <p:nvPr/>
        </p:nvSpPr>
        <p:spPr>
          <a:xfrm>
            <a:off x="566928" y="56692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REFERENCES · 참고문헌 (APA 7판)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566928" y="5888736"/>
            <a:ext cx="2734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The 2 sigma problem. Educational Researcher, 13(6), 4–16.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VanLehn, K. (2011). The relative effectiveness of human tutoring, intelligent tutoring systems, and other tutoring systems. Educational Psychologist, 46(4), 197–221.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Vygotsky, L. S. (1978). Mind in Society. Harvard University Press.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Wood, D., Bruner, J. S., &amp; Ross, G. (1976). The role of tutoring in problem solving. Journal of Child Psychology and Psychiatry, 17(2), 89–100.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(1959). Review of Verbal Behavior. Language, 35(1), 26–58.</a:t>
            </a:r>
            <a:endParaRPr lang="en-US" sz="600" dirty="0"/>
          </a:p>
        </p:txBody>
      </p:sp>
      <p:sp>
        <p:nvSpPr>
          <p:cNvPr id="63" name="Text 60"/>
          <p:cNvSpPr/>
          <p:nvPr/>
        </p:nvSpPr>
        <p:spPr>
          <a:xfrm>
            <a:off x="3337560" y="5888736"/>
            <a:ext cx="2734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(1965). Aspects of the Theory of Syntax. MIT Press.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Krashen, S. D. (1982). Principles and Practice in Second Language Acquisition. Pergamon Press.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Swain, M. (1985). In S. Gass &amp; C. Madden (Eds.), Input in Second Language Acquisition (pp. 235–253). Newbury House.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Ebbinghaus, H. (1913). Memory. Teachers College. (원저 1885 출간)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Cepeda, N. J., Pashler, H., Vul, E., Wixted, J. T., &amp; Rohrer, D. (2006). Psychological Bulletin, 132(3), 354–380.</a:t>
            </a:r>
            <a:endParaRPr lang="en-US" sz="600" dirty="0"/>
          </a:p>
        </p:txBody>
      </p:sp>
      <p:sp>
        <p:nvSpPr>
          <p:cNvPr id="64" name="Text 61"/>
          <p:cNvSpPr/>
          <p:nvPr/>
        </p:nvSpPr>
        <p:spPr>
          <a:xfrm>
            <a:off x="6108192" y="5888736"/>
            <a:ext cx="2734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Roediger, H. L., &amp; Karpicke, J. D. (2006). Test-enhanced learning. Psychological Science, 17(3), 249–255.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Sweller, J. (1988). Cognitive load during problem solving. Cognitive Science, 12(2), 257–285.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Ryan, R. M., &amp; Deci, E. L. (2000). American Psychologist, 55(1), 68–78.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Deci, E. L., Koestner, R., &amp; Ryan, R. M. (1999). Psychological Bulletin, 125(6), 627–668.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Csikszentmihalyi, M. (1990). Flow. Harper &amp; Row.</a:t>
            </a:r>
            <a:endParaRPr lang="en-US" sz="600" dirty="0"/>
          </a:p>
        </p:txBody>
      </p:sp>
      <p:sp>
        <p:nvSpPr>
          <p:cNvPr id="65" name="Text 62"/>
          <p:cNvSpPr/>
          <p:nvPr/>
        </p:nvSpPr>
        <p:spPr>
          <a:xfrm>
            <a:off x="8878824" y="5888736"/>
            <a:ext cx="27340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Dweck, C. S. (2006). Mindset. Random House.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Bandura, A. (1977). Self-efficacy. Psychological Review, 84(2), 191–215.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Mayer, R. E. (2019). Computer games in education. Annual Review of Psychology, 70, 531–549.</a:t>
            </a:r>
            <a:endParaRPr lang="en-US" sz="600" dirty="0"/>
          </a:p>
          <a:p>
            <a:pPr indent="0" marL="0">
              <a:lnSpc>
                <a:spcPts val="750"/>
              </a:lnSpc>
              <a:spcAft>
                <a:spcPts val="150"/>
              </a:spcAft>
              <a:buNone/>
            </a:pPr>
            <a:r>
              <a:rPr lang="en-US" sz="6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Clark, D. B., Tanner-Smith, E. E., &amp; Killingsworth, S. S. (2016). Digital games, design, and learning. Review of Educational Research, 86(1), 79–122.</a:t>
            </a:r>
            <a:endParaRPr lang="en-US" sz="600" dirty="0"/>
          </a:p>
        </p:txBody>
      </p:sp>
      <p:sp>
        <p:nvSpPr>
          <p:cNvPr id="66" name="Text 6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02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Features &amp; UI Showcase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자랑하는 13가지 특장점과, 실제 서비스 화면으로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확인되는 핵심 8가지를 캡처와 함께 소개합니다.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40620"/>
          </a:xfrm>
          <a:prstGeom prst="roundRect">
            <a:avLst>
              <a:gd name="adj" fmla="val 21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6746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5113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13가지 특장점 카드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특장점 전체 지도 · 홈페이지 «망고아이란?» 13가지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Features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첫 버튼에 담긴 13가지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중 8가지를 다음 장부터 실제 화면과 함께 자세히 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48840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048256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A.I가 함께 학생 실력 향상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2432304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선생님과 1:1 / 1:2 수업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66928" y="2916936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816352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커뮤니케이션 능력의 향상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3300984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20040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저렴한 비용으로 최고의 학습 효과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685032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3584448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최고의 강사진과 체계적인 관리 시스템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" y="4069080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2960" y="3968496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시간과 장소에 구애받지 않는 시스템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4453128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4352544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우수한 교재로 영어 말하기 동기 부여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785616" y="2148840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041648" y="2048256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편리하고 다양한 기능의 앱과 홈페이지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785616" y="2532888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041648" y="2432304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예복습 — 수업 전후를 A.I가 챙김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3785616" y="2916936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041648" y="2816352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A.I를 활용한 평가 · 복습 · 소통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785616" y="3300984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041648" y="3200400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필리핀 현지 교육센터 운영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3785616" y="3685032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041648" y="3584448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전통, 국내 최초의 화상영어 기업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3785616" y="4069080"/>
            <a:ext cx="155448" cy="15544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041648" y="3968496"/>
            <a:ext cx="2761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정보를 카카오톡으로 실시간 제공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931152" y="1481328"/>
            <a:ext cx="4736592" cy="3017337"/>
          </a:xfrm>
          <a:prstGeom prst="roundRect">
            <a:avLst>
              <a:gd name="adj" fmla="val 24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1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1517904"/>
            <a:ext cx="4663440" cy="2944185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6967728" y="451713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카드를 누르면 항목별 상세가 열립니다</a:t>
            </a:r>
            <a:endParaRPr lang="en-US" sz="950" dirty="0"/>
          </a:p>
        </p:txBody>
      </p:sp>
      <p:sp>
        <p:nvSpPr>
          <p:cNvPr id="37" name="Text 3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01 · 교사와 A.I, 두 개의 엔진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768535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68535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Engine System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A.I, 두 개의 엔진으로 굴러갑니다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이끌고, 예습·복습·평가·발음 교정은 A.I가 24시간 채웁니다. 둘이 같은 데이터를 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86384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말해 봅니다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656332" y="3035808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2825496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0203A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044952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중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044952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교사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3044952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실시간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교정과 발화 유도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914900" y="3035808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084064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303520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303520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303520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분석해 자동 작성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173468" y="3035808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3" name="Shape 20"/>
          <p:cNvSpPr/>
          <p:nvPr/>
        </p:nvSpPr>
        <p:spPr>
          <a:xfrm>
            <a:off x="7342632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562088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7562088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 복습 10문항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7562088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듣기·말하기·쓰기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퀴즈 즉시 진행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9432036" y="3035808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9601200" y="2157984"/>
            <a:ext cx="2084832" cy="2231136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20656" y="2340864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9820656" y="2615184"/>
            <a:ext cx="16824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반영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820656" y="33467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것이 다시 나오고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교사에게도 전달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566928" y="4608576"/>
            <a:ext cx="11055096" cy="969264"/>
          </a:xfrm>
          <a:prstGeom prst="roundRect">
            <a:avLst>
              <a:gd name="adj" fmla="val 943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48280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2487168" y="4608576"/>
            <a:ext cx="8778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제공하는 화상영어와 달리, 망고아이는 수업 밖의 시간까지 같은 시스템 안에서 관리합니다.</a:t>
            </a:r>
            <a:endParaRPr lang="en-US" sz="1400" dirty="0"/>
          </a:p>
        </p:txBody>
      </p:sp>
      <p:sp>
        <p:nvSpPr>
          <p:cNvPr id="35" name="Text 3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02 · 전담 원어민 교사 &amp; CEFR 8단계 커리큘럼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90811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90811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· 1:2 Level 1-8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27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단계별 커리큘럼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566928" y="1883664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바뀌는 랜덤 매칭이 아니라, 같은 선생님이 계속 봅니다.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아이의 성향과 약점을 정확히 압니다.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74320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285292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225296" y="274320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교사제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310128" y="274320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랜덤 매칭이 아닌 전담 선생님이 지속 관리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338328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9808" y="349300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225296" y="338328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또는 1:2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310128" y="338328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형제·친구와 함께하면 비용은 낮추고 효과는 그대로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413308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225296" y="402336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정규 교사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310128" y="40233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외주가 아닌 필리핀 직영 센터의 검증된 정규 교사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466344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77316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4773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1225296" y="466344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기반 8단계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3310128" y="466344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Novice부터 Proficient까지 국제 기준에 맞춘 설계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5303520"/>
            <a:ext cx="594360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41324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4132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1225296" y="5303520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연령·관심사 맞춤 교재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3310128" y="530352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교재 뷰어로 예습·복습까지 한 곳에서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7022592" y="1847088"/>
            <a:ext cx="4645152" cy="2959608"/>
          </a:xfrm>
          <a:prstGeom prst="roundRect">
            <a:avLst>
              <a:gd name="adj" fmla="val 247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4" name="Image 1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9168" y="1883664"/>
            <a:ext cx="4572000" cy="2886456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059168" y="48646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교육과정 안내 — Level 1~8, Novice ~ Proficient</a:t>
            </a:r>
            <a:endParaRPr lang="en-US" sz="950" dirty="0"/>
          </a:p>
        </p:txBody>
      </p:sp>
      <p:sp>
        <p:nvSpPr>
          <p:cNvPr id="36" name="Text 3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03 · AI 음성코치 (Voice Coach)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Coach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30352" y="1700784"/>
            <a:ext cx="5742432" cy="3618342"/>
          </a:xfrm>
          <a:prstGeom prst="roundRect">
            <a:avLst>
              <a:gd name="adj" fmla="val 202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7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5669280" cy="354519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5376672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레벨 선택 → 원어민 발음 듣기 → 따라 말하기 → 즉시 채점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6656832" y="82296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2600" dirty="0"/>
          </a:p>
          <a:p>
            <a:pPr algn="l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말하기를 멈추지 않습니다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656832" y="18288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음성코치는 원어민 발음을 들려주고, 따라 말한 문장이 또렷했는지 즉시 채점합니다.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656832" y="2688336"/>
            <a:ext cx="4974336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912864" y="281635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골라서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6912864" y="3090672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Phonics(Lv 0) · BTS(Lv 1~8) · SIU(고급)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중국어 마스터(Lv 1~20)까지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656832" y="3694176"/>
            <a:ext cx="4974336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912864" y="382219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따라 말하고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912864" y="4096512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 듣기 → 마이크 버튼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또박또박 발화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656832" y="4700016"/>
            <a:ext cx="4974336" cy="914400"/>
          </a:xfrm>
          <a:prstGeom prst="roundRect">
            <a:avLst>
              <a:gd name="adj" fmla="val 1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912864" y="482803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점수로 확인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6912864" y="5102352"/>
            <a:ext cx="4498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데이터로 쌓여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추이가 보입니다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04 · AI 친구 대화 (Emma &amp; Jake)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90811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90811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24h Conversation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«말 걸 상대»가 24시간 있습니다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51790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영어를 못 하는 이유는 대부분 «틀릴까 봐»입니다.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친구는 아무리 틀려도 웃지 않고, 한 마디마다 포인트를 줍니다.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450592"/>
            <a:ext cx="585216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4672" y="2761488"/>
            <a:ext cx="164592" cy="16459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56032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성격이 다른 친구를 고릅니다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1097280" y="2834640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Jake, 또는 둘 다 번갈아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66928" y="3310128"/>
            <a:ext cx="585216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4672" y="3621024"/>
            <a:ext cx="164592" cy="16459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341985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모험처럼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097280" y="3694176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 — 좋아하는 세계에서 대화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66928" y="4169664"/>
            <a:ext cx="585216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" y="4480560"/>
            <a:ext cx="164592" cy="16459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7280" y="42793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쌓입니다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1097280" y="4553712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레벨(새싹 망고 → …) · 연속 학습 일수 · 포인트 · 오늘의 단어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5029200"/>
            <a:ext cx="585216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" y="5340096"/>
            <a:ext cx="164592" cy="16459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0" y="513892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맞춰 말해 줍니다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097280" y="5413248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 등 학습자 수준에 맞춘 문장 길이와 어휘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821424" y="1481328"/>
            <a:ext cx="4873752" cy="3103931"/>
          </a:xfrm>
          <a:prstGeom prst="roundRect">
            <a:avLst>
              <a:gd name="adj" fmla="val 23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17904"/>
            <a:ext cx="4800600" cy="3030779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858000" y="462686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음성 입력과 힌트 버튼도 함께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05 · My Vocab &amp; AI 영작 첨삭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535363" y="384048"/>
            <a:ext cx="208940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535363" y="384048"/>
            <a:ext cx="20894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Smart Vocab &amp; Writing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두지 않습니다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넣으면 A.I가 뜻과 예문을 만들고, 틀린 문장은 A.I가 이유까지 설명해 고쳐 줍니다.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5166360" cy="32306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41324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My Vocab · 스마트 단어장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66928" y="56692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단어만 넣으면 뜻·예문을 A.I가 자동 생성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419088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103120"/>
            <a:ext cx="5166360" cy="32306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55664" y="5413248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· Writing Coach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55664" y="566928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즉시 교정하고 왜 틀렸는지 설명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06 · 언어 학습 게임 21종 (Gamification)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Language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«해야 하는 것»에서 «하고 싶은 것»으로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틀린 단어·문장을 골라 그대로 게임의 재료로 넘깁니다. 영어와 중국어 모두 지원합니다.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121408"/>
            <a:ext cx="5879592" cy="3704112"/>
          </a:xfrm>
          <a:prstGeom prst="roundRect">
            <a:avLst>
              <a:gd name="adj" fmla="val 197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57984"/>
            <a:ext cx="5806440" cy="36309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888736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 허브 — 오늘의 퀘스트 · 연속 학습 · 랭킹 · 포인트 상점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656832" y="2121408"/>
            <a:ext cx="2340864" cy="1353312"/>
          </a:xfrm>
          <a:prstGeom prst="roundRect">
            <a:avLst>
              <a:gd name="adj" fmla="val 54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3"/>
          <a:srcRect l="0" r="0" t="5387" b="-5387"/>
          <a:stretch/>
        </p:blipFill>
        <p:spPr>
          <a:xfrm>
            <a:off x="6693408" y="2157984"/>
            <a:ext cx="2267712" cy="12801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693408" y="35112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6693408" y="3730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1인칭 라이트건 단어 퀴즈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9144000" y="2121408"/>
            <a:ext cx="2340864" cy="1353312"/>
          </a:xfrm>
          <a:prstGeom prst="roundRect">
            <a:avLst>
              <a:gd name="adj" fmla="val 54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4"/>
          <a:srcRect l="0" r="0" t="5387" b="-5387"/>
          <a:stretch/>
        </p:blipFill>
        <p:spPr>
          <a:xfrm>
            <a:off x="9180576" y="2157984"/>
            <a:ext cx="2267712" cy="12801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9180576" y="351129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050" dirty="0"/>
          </a:p>
        </p:txBody>
      </p:sp>
      <p:sp>
        <p:nvSpPr>
          <p:cNvPr id="18" name="Text 12"/>
          <p:cNvSpPr/>
          <p:nvPr/>
        </p:nvSpPr>
        <p:spPr>
          <a:xfrm>
            <a:off x="9180576" y="37307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어순대로 재료 올리기</a:t>
            </a:r>
            <a:endParaRPr lang="en-US" sz="850" dirty="0"/>
          </a:p>
        </p:txBody>
      </p:sp>
      <p:sp>
        <p:nvSpPr>
          <p:cNvPr id="19" name="Shape 13"/>
          <p:cNvSpPr/>
          <p:nvPr/>
        </p:nvSpPr>
        <p:spPr>
          <a:xfrm>
            <a:off x="6656832" y="4041648"/>
            <a:ext cx="2340864" cy="1353312"/>
          </a:xfrm>
          <a:prstGeom prst="roundRect">
            <a:avLst>
              <a:gd name="adj" fmla="val 54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4" descr="/tmp/claude-0/-home-user-mangoiweb/ca835eb4-1670-5fc1-a29a-2fc77598fea3/scratchpad/deck_img/langace.jpg">    </p:cNvPr>
          <p:cNvPicPr>
            <a:picLocks noChangeAspect="1"/>
          </p:cNvPicPr>
          <p:nvPr/>
        </p:nvPicPr>
        <p:blipFill>
          <a:blip r:embed="rId5"/>
          <a:srcRect l="0" r="0" t="5387" b="-5387"/>
          <a:stretch/>
        </p:blipFill>
        <p:spPr>
          <a:xfrm>
            <a:off x="6693408" y="4078224"/>
            <a:ext cx="2267712" cy="128016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693408" y="54315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6693408" y="56509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공중전 + 영어 미션</a:t>
            </a:r>
            <a:endParaRPr lang="en-US" sz="850" dirty="0"/>
          </a:p>
        </p:txBody>
      </p:sp>
      <p:sp>
        <p:nvSpPr>
          <p:cNvPr id="23" name="Shape 16"/>
          <p:cNvSpPr/>
          <p:nvPr/>
        </p:nvSpPr>
        <p:spPr>
          <a:xfrm>
            <a:off x="9144000" y="4041648"/>
            <a:ext cx="2340864" cy="1353312"/>
          </a:xfrm>
          <a:prstGeom prst="roundRect">
            <a:avLst>
              <a:gd name="adj" fmla="val 54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5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6"/>
          <a:srcRect l="0" r="0" t="5387" b="-5387"/>
          <a:stretch/>
        </p:blipFill>
        <p:spPr>
          <a:xfrm>
            <a:off x="9180576" y="4078224"/>
            <a:ext cx="2267712" cy="128016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180576" y="54315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050" dirty="0"/>
          </a:p>
        </p:txBody>
      </p:sp>
      <p:sp>
        <p:nvSpPr>
          <p:cNvPr id="26" name="Text 18"/>
          <p:cNvSpPr/>
          <p:nvPr/>
        </p:nvSpPr>
        <p:spPr>
          <a:xfrm>
            <a:off x="9180576" y="56509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문이 열리는 방탈출</a:t>
            </a:r>
            <a:endParaRPr lang="en-US" sz="850" dirty="0"/>
          </a:p>
        </p:txBody>
      </p:sp>
      <p:sp>
        <p:nvSpPr>
          <p:cNvPr id="27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07 · 학부모 카카오톡 실시간 리포트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Report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학부모가 «깜깜이»가 되지 않게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51790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출결·평가·진도·공지를 카카오톡으로 실시간 전달합니다.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따로 열지 않아도 아이의 학습 상황이 손 안에 도착합니다.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450592"/>
            <a:ext cx="5852160" cy="969264"/>
          </a:xfrm>
          <a:prstGeom prst="roundRect">
            <a:avLst>
              <a:gd name="adj" fmla="val 943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57860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22960" y="28163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675888" y="2651760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분석해 수업 직후 자동 생성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3511296"/>
            <a:ext cx="5852160" cy="969264"/>
          </a:xfrm>
          <a:prstGeom prst="roundRect">
            <a:avLst>
              <a:gd name="adj" fmla="val 943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363931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822960" y="3877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675888" y="3712464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 학습량과 약점을 정리해 발송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66928" y="4572000"/>
            <a:ext cx="5852160" cy="969264"/>
          </a:xfrm>
          <a:prstGeom prst="roundRect">
            <a:avLst>
              <a:gd name="adj" fmla="val 943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470001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822960" y="49377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학습 리포트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3675888" y="4773168"/>
            <a:ext cx="2560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흐름을 요약, 카카오톡으로도 발송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748272" y="1700784"/>
            <a:ext cx="4919472" cy="2157984"/>
          </a:xfrm>
          <a:prstGeom prst="roundRect">
            <a:avLst>
              <a:gd name="adj" fmla="val 33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1" name="Image 1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84848" y="1737360"/>
            <a:ext cx="4846320" cy="2084832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784848" y="4005072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 — 카카오톡 발송 화면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08 · 올인원 스마트 플랫폼 (All-in-One)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768535" y="384048"/>
            <a:ext cx="185623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768535" y="384048"/>
            <a:ext cx="1856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 Website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여러 개 오갈 필요가 없습니다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입장 · 예복습 · 평가 확인 · 결제 · 상담까지 하나의 홈페이지와 앱에서 끝납니다. 원하는 기능은 검색창에 말하면 바로 이동합니다.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66544"/>
            <a:ext cx="5468112" cy="3479170"/>
          </a:xfrm>
          <a:prstGeom prst="roundRect">
            <a:avLst>
              <a:gd name="adj" fmla="val 210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5394960" cy="340601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5412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— AI 검색창에 말하거나 입력하면 해당 기능으로 바로 이동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382512" y="2066544"/>
            <a:ext cx="5285232" cy="3363712"/>
          </a:xfrm>
          <a:prstGeom prst="roundRect">
            <a:avLst>
              <a:gd name="adj" fmla="val 217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allmenu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2103120"/>
            <a:ext cx="5212080" cy="32905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19088" y="5431536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메뉴 — 학습·수업·평가·결제·상담이 한 화면에</a:t>
            </a:r>
            <a:endParaRPr lang="en-US" sz="950" dirty="0"/>
          </a:p>
        </p:txBody>
      </p:sp>
      <p:sp>
        <p:nvSpPr>
          <p:cNvPr id="14" name="Text 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 · 일반 화상영어 vs MANGO AI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90327" y="384048"/>
            <a:ext cx="123444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90327" y="3840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Comparison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망고아이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«수업을 파는가»와 «학습을 관리하는가»의 차이입니다.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882128" y="2048256"/>
            <a:ext cx="3739896" cy="3657600"/>
          </a:xfrm>
          <a:prstGeom prst="roundRect">
            <a:avLst>
              <a:gd name="adj" fmla="val 25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315968" y="2121408"/>
            <a:ext cx="32186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83296" y="2121408"/>
            <a:ext cx="33741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66928" y="2578608"/>
            <a:ext cx="7315200" cy="49377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" y="261518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315968" y="2615184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화상수업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083296" y="2615184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1:1 · 1:2 (직영 센터)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68096" y="3127248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밖 시간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315968" y="3127248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자율에 맡김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083296" y="3127248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음성코치 · AI 친구 대화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66928" y="3602736"/>
            <a:ext cx="7315200" cy="49377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68096" y="3639312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315968" y="3639312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 또는 없음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083296" y="3639312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생성 10문항 + 학습 게임 21종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768096" y="4151376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315968" y="4151376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코멘트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083296" y="4151376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 + 월간 A.I 리포트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66928" y="4626864"/>
            <a:ext cx="7315200" cy="493776"/>
          </a:xfrm>
          <a:prstGeom prst="rect">
            <a:avLst/>
          </a:prstGeom>
          <a:solidFill>
            <a:srgbClr val="121830"/>
          </a:solidFill>
          <a:ln w="12700">
            <a:solidFill>
              <a:srgbClr val="12183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68096" y="4663440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소통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315968" y="4663440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1회 상담 정도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083296" y="4663440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· 주간/월간 리포트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68096" y="5175504"/>
            <a:ext cx="30175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315968" y="5175504"/>
            <a:ext cx="3218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도구 위주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083296" y="5175504"/>
            <a:ext cx="3337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입장·학습·평가·결제·상담 올인원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579729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일반 화상영어 열은 업계에서 흔히 보이는 구성을 요약한 것으로, 특정 업체를 지칭하지 않습니다.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03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Guide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오신 분이 상담부터 수업, 복습까지 마치는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과정을 실제 화면으로 따라갑니다.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· 교사 · 결제 3단계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 · 가입부터 복습까지 5단계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가운데에도 «무료 상담 › 레벨 테스트 › 수업 신청 › 평가표·복습» 순서가 그대로 표시됩니다.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4672" y="2395728"/>
            <a:ext cx="438912" cy="4389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04672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 · 가입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804672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채널 또는 홈의 «무료 체험 신청»으로 시작합니다.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825496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063240" y="2395728"/>
            <a:ext cx="438912" cy="43891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632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3063240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3063240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진단으로 현재 실력과 시작 레벨을 확인합니다.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084064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321808" y="2395728"/>
            <a:ext cx="438912" cy="43891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321808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321808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321808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 직접 고르고 그 자리에서 결제합니다.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342632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80376" y="2395728"/>
            <a:ext cx="438912" cy="43891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580376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7580376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580376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진단으로 마이크·카메라를 점검하고, 웜업 후 입장합니다.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601200" y="2157984"/>
            <a:ext cx="2084832" cy="2834640"/>
          </a:xfrm>
          <a:prstGeom prst="roundRect">
            <a:avLst>
              <a:gd name="adj" fmla="val 4386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38944" y="2395728"/>
            <a:ext cx="438912" cy="43891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838944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8"/>
          <p:cNvSpPr/>
          <p:nvPr/>
        </p:nvSpPr>
        <p:spPr>
          <a:xfrm>
            <a:off x="9838944" y="2980944"/>
            <a:ext cx="16276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평가 · 복습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9838944" y="3694176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평가서 → 복습 퀴즈 → 게임 → 리포트로 이어집니다.</a:t>
            </a:r>
            <a:endParaRPr lang="en-US" sz="1050" dirty="0"/>
          </a:p>
        </p:txBody>
      </p:sp>
      <p:sp>
        <p:nvSpPr>
          <p:cNvPr id="33" name="Text 30"/>
          <p:cNvSpPr/>
          <p:nvPr/>
        </p:nvSpPr>
        <p:spPr>
          <a:xfrm>
            <a:off x="566928" y="5193792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수강 중이라면 홈의 «수업 입장 →» 한 번으로 바로 교실로 들어갑니다.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· 2 — 무료 상담과 레벨 테스트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224467" y="384048"/>
            <a:ext cx="240030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224467" y="384048"/>
            <a:ext cx="2400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Consultation &amp; Level Test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상담하고, 내 레벨을 확인합니다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홈의 «무료 체험 신청»으로 상담을 시작하고, 레벨 테스트로 시작 지점을 정합니다.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194560"/>
            <a:ext cx="5760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23225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무료 상담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25968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 또는 카카오 상담. 채널 홈에서 채팅·챗봇·전화가 모두 열립니다.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66928" y="3108960"/>
            <a:ext cx="5760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32369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레벨 테스트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22960" y="35112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레벨테스트. AI 자동 진단은 학생 ID만 넣으면 바로 시작합니다.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66928" y="4023360"/>
            <a:ext cx="5760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41513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결과 확인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2960" y="44256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 Level 1~8 중 시작 레벨과 강·약점이 정리되어 나옵니다.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66928" y="4937760"/>
            <a:ext cx="5760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5065776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커리큘럼 배정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822960" y="53400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교재와 주제가 자동으로 연결됩니다.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711696" y="2157984"/>
            <a:ext cx="4965192" cy="1901952"/>
          </a:xfrm>
          <a:prstGeom prst="roundRect">
            <a:avLst>
              <a:gd name="adj" fmla="val 384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1" name="Image 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48272" y="2194560"/>
            <a:ext cx="4892040" cy="182880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748272" y="420624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 — 학생 ID 입력 후 즉시 시작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 — 요일·시간·교사를 직접 고르는 마스터 클래스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System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30352" y="1700784"/>
            <a:ext cx="5513832" cy="3475391"/>
          </a:xfrm>
          <a:prstGeom prst="roundRect">
            <a:avLst>
              <a:gd name="adj" fmla="val 210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7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737360"/>
            <a:ext cx="5440680" cy="340223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" y="5285232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① 시간 선택 › ② 교사 선택 › ③ 결제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6455664" y="822960"/>
            <a:ext cx="5175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</a:t>
            </a:r>
            <a:endParaRPr lang="en-US" sz="2700" dirty="0"/>
          </a:p>
          <a:p>
            <a:pPr algn="l" indent="0" marL="0">
              <a:lnSpc>
                <a:spcPts val="36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고릅니다</a:t>
            </a:r>
            <a:endParaRPr lang="en-US" sz="2700" dirty="0"/>
          </a:p>
        </p:txBody>
      </p:sp>
      <p:sp>
        <p:nvSpPr>
          <p:cNvPr id="10" name="Text 6"/>
          <p:cNvSpPr/>
          <p:nvPr/>
        </p:nvSpPr>
        <p:spPr>
          <a:xfrm>
            <a:off x="6455664" y="1883664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«마스터 클래스 디자인» 화면에서 시간 → 교사 → 결제까지 3단계로 끝납니다.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455664" y="2706624"/>
            <a:ext cx="51755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75120" y="270662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형태</a:t>
            </a:r>
            <a:endParaRPr lang="en-US" sz="1150" dirty="0"/>
          </a:p>
        </p:txBody>
      </p:sp>
      <p:sp>
        <p:nvSpPr>
          <p:cNvPr id="13" name="Text 9"/>
          <p:cNvSpPr/>
          <p:nvPr/>
        </p:nvSpPr>
        <p:spPr>
          <a:xfrm>
            <a:off x="8183880" y="27066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마스터 또는 그룹 토론 중 선택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455664" y="3328416"/>
            <a:ext cx="5175504" cy="548640"/>
          </a:xfrm>
          <a:prstGeom prst="roundRect">
            <a:avLst>
              <a:gd name="adj" fmla="val 16667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675120" y="332841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방식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8183880" y="332841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날짜로 고르거나, 교사로 고르거나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455664" y="3950208"/>
            <a:ext cx="51755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675120" y="395020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횟수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8183880" y="395020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 ~ 주 5회 중 선택</a:t>
            </a:r>
            <a:endParaRPr lang="en-US" sz="1000" dirty="0"/>
          </a:p>
        </p:txBody>
      </p:sp>
      <p:sp>
        <p:nvSpPr>
          <p:cNvPr id="20" name="Shape 16"/>
          <p:cNvSpPr/>
          <p:nvPr/>
        </p:nvSpPr>
        <p:spPr>
          <a:xfrm>
            <a:off x="6455664" y="4572000"/>
            <a:ext cx="5175504" cy="694944"/>
          </a:xfrm>
          <a:prstGeom prst="roundRect">
            <a:avLst>
              <a:gd name="adj" fmla="val 13158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675120" y="4572000"/>
            <a:ext cx="1417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선택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8183880" y="4572000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20분 자동 블록 + 연속 확장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가능 / 예약 / 휴무를 구분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455664" y="5340096"/>
            <a:ext cx="51755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675120" y="534009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183880" y="534009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장바구니에 일정을 모두 담은 뒤 결제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 — 수업 당일: 진단하고, 몸을 풀고, 입장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Pre-Class Prep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 — 점검하고, 몸을 풀고, 입장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시작 전 마이크·카메라·네트워크를 스스로 점검하고, AI 웜업으로 오늘 배울 문장을 미리 말해 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5166360" cy="32306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3949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수업 진단 (PreCheck)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66928" y="565099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마이크·카메라·STUN/TURN·네트워크를 항목별로 점검해 점수로 표시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419088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103120"/>
            <a:ext cx="5166360" cy="32306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55664" y="53949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수업 전 AI 웜업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55664" y="565099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친구와 짧게 대화하며 입을 풀고 바로 화상수업 로비로 입장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 — 수업 후: AI 단어퀴즈 &amp; 데일리 스트릭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13087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13087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After-Class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끝나고부터가 진짜입니다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→ 복습 퀴즈 → 게임 → 리포트. 아이가 «해야지» 하고 마음먹지 않아도 순서대로 이어집니다.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194560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49808" y="2322576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49808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225296" y="2194560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자동 생성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456432" y="2194560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 분석 결과가 수업 직후 도착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" y="2871216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49808" y="2999232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49808" y="29992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225296" y="2871216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10문항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3456432" y="2871216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내용으로 듣기·말하기·쓰기 문제를 즉시 출제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3547872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3675888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9808" y="3675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1225296" y="354787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반복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3456432" y="3547872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단어·문장이 게임 재료가 되어 다시 등장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4224528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49808" y="4352544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49808" y="43525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50" dirty="0"/>
          </a:p>
        </p:txBody>
      </p:sp>
      <p:sp>
        <p:nvSpPr>
          <p:cNvPr id="26" name="Text 23"/>
          <p:cNvSpPr/>
          <p:nvPr/>
        </p:nvSpPr>
        <p:spPr>
          <a:xfrm>
            <a:off x="1225296" y="4224528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유지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3456432" y="4224528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스트릭(연속 일수)과 포인트로 습관을 잡습니다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566928" y="4901184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029200"/>
            <a:ext cx="347472" cy="3474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029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1225296" y="4901184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3456432" y="4901184"/>
            <a:ext cx="2834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요약이 카카오톡으로 발송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748272" y="1335024"/>
            <a:ext cx="4919472" cy="3103717"/>
          </a:xfrm>
          <a:prstGeom prst="roundRect">
            <a:avLst>
              <a:gd name="adj" fmla="val 23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4" name="Image 1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371600"/>
            <a:ext cx="4846320" cy="3030565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6784848" y="448056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마이크로러닝, 1분 안에 끝</a:t>
            </a:r>
            <a:endParaRPr lang="en-US" sz="950" dirty="0"/>
          </a:p>
        </p:txBody>
      </p:sp>
      <p:sp>
        <p:nvSpPr>
          <p:cNvPr id="36" name="Shape 32"/>
          <p:cNvSpPr/>
          <p:nvPr/>
        </p:nvSpPr>
        <p:spPr>
          <a:xfrm>
            <a:off x="6748272" y="4663440"/>
            <a:ext cx="2404872" cy="1133856"/>
          </a:xfrm>
          <a:prstGeom prst="roundRect">
            <a:avLst>
              <a:gd name="adj" fmla="val 64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7" name="Image 2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3"/>
          <a:srcRect l="0" r="0" t="18733" b="-18733"/>
          <a:stretch/>
        </p:blipFill>
        <p:spPr>
          <a:xfrm>
            <a:off x="6784848" y="4700016"/>
            <a:ext cx="2331720" cy="1060704"/>
          </a:xfrm>
          <a:prstGeom prst="rect">
            <a:avLst/>
          </a:prstGeom>
        </p:spPr>
      </p:pic>
      <p:sp>
        <p:nvSpPr>
          <p:cNvPr id="38" name="Shape 33"/>
          <p:cNvSpPr/>
          <p:nvPr/>
        </p:nvSpPr>
        <p:spPr>
          <a:xfrm>
            <a:off x="9262872" y="4663440"/>
            <a:ext cx="2404872" cy="1133856"/>
          </a:xfrm>
          <a:prstGeom prst="roundRect">
            <a:avLst>
              <a:gd name="adj" fmla="val 64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9" name="Image 3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4"/>
          <a:srcRect l="0" r="0" t="18733" b="-18733"/>
          <a:stretch/>
        </p:blipFill>
        <p:spPr>
          <a:xfrm>
            <a:off x="9299448" y="4700016"/>
            <a:ext cx="2331720" cy="1060704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6784848" y="58155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데일리 스트릭 · 게임형 복습</a:t>
            </a:r>
            <a:endParaRPr lang="en-US" sz="950" dirty="0"/>
          </a:p>
        </p:txBody>
      </p:sp>
      <p:sp>
        <p:nvSpPr>
          <p:cNvPr id="41" name="Text 3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언제든지 · 일정 변경 &amp; 자주 묻는 질문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Convenience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일정이 바뀌어도 수업은 사라지지 않습니다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갑자기 일이 생기면 «연기»하거나 «변경»하면 됩니다. 궁금한 것은 FAQ와 카카오 상담에서 바로 확인합니다.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103120"/>
            <a:ext cx="5166360" cy="323069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3949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66928" y="565099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 연기하기»와 «수업 변경하기»를 한 화면에서 선택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419088" y="2066544"/>
            <a:ext cx="5239512" cy="3303849"/>
          </a:xfrm>
          <a:prstGeom prst="roundRect">
            <a:avLst>
              <a:gd name="adj" fmla="val 221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103120"/>
            <a:ext cx="5166360" cy="323069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55664" y="5394960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 · 카카오 상담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455664" y="5650992"/>
            <a:ext cx="5257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카테고리별 FAQ + 카카오톡 채널에서 채팅·챗봇·전화 연결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콘솔 &amp; AI 운영비서 (Admin Console)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Assistant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운영에 필요한 모든 기능이 한 화면에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1554480"/>
            <a:ext cx="5760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학생·강사·수업·정산·시스템이 하나의 콘솔에 모여 있고,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 운영비서»에게 말로 물어볼 수도 있습니다.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395728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04672" y="263347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395728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2779776" y="2395728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수업 현황 · 오늘의 매출 · 학생수 · 신규 등록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3072384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4672" y="331012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3072384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2779776" y="3072384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관리, 강사 명부·매칭·성장 리포트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04672" y="398678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97280" y="3749040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· 콘텐츠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779776" y="3749040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스케줄, 평가서, 교재, 공지·팝업 스튜디오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" y="4425696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04672" y="4663440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0" y="4425696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정산 · 매출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2779776" y="4425696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급여·정산·구독·리텐션 지표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566928" y="5102352"/>
            <a:ext cx="5852160" cy="603504"/>
          </a:xfrm>
          <a:prstGeom prst="roundRect">
            <a:avLst>
              <a:gd name="adj" fmla="val 15152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5340096"/>
            <a:ext cx="146304" cy="146304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97280" y="5102352"/>
            <a:ext cx="1645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2779776" y="5102352"/>
            <a:ext cx="3474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매트릭스(역할별 카드 on/off), 진단, 자료실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6748272" y="1517904"/>
            <a:ext cx="4919472" cy="3168335"/>
          </a:xfrm>
          <a:prstGeom prst="roundRect">
            <a:avLst>
              <a:gd name="adj" fmla="val 230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1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554480"/>
            <a:ext cx="4846320" cy="3095183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784848" y="4718304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— 통합 검색으로 학생·교사·가맹점·메뉴를 한 번에</a:t>
            </a:r>
            <a:endParaRPr lang="en-US" sz="950" dirty="0"/>
          </a:p>
        </p:txBody>
      </p:sp>
      <p:sp>
        <p:nvSpPr>
          <p:cNvPr id="31" name="Text 2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04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&amp; Future Vision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진화, 강화학습 기반 개인화, 고객 상호작용,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«바이브 코딩 시대의 영어»까지.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이미 서비스 중인 기능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01 · 말할수록 함께 자라는 동반자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Quest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— 말할수록 함께 자라는 동반자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«아바타 키우기»는 이미 서비스 중입니다. 판다·여우·드래곤·강아지 중 하나를 골라 5단계까지 진화시킵니다.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단계는 이 아바타를 학습 전체의 주인공으로 만드는 것입니다.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0352" y="2249424"/>
            <a:ext cx="5422392" cy="3418210"/>
          </a:xfrm>
          <a:prstGeom prst="roundRect">
            <a:avLst>
              <a:gd name="adj" fmla="val 21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286000"/>
            <a:ext cx="5349240" cy="334505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563270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영어·중국어 미션을 할 때마다 EXP가 쌓이고 진화합니다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382512" y="2286000"/>
            <a:ext cx="5248656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620256" y="239572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7534656" y="237744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진화 시 연출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7534656" y="267004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수행량에 따라 EXP 축적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382512" y="3145536"/>
            <a:ext cx="5248656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620256" y="325526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7534656" y="3236976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7534656" y="35295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학생의 발음·대답 속도에 반응하는 얼굴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6382512" y="4005072"/>
            <a:ext cx="5248656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620256" y="4114800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7534656" y="409651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534656" y="43891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곧 AI 친구 — 같은 캐릭터로 말하기 연습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382512" y="4864608"/>
            <a:ext cx="5248656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620256" y="4974336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7534656" y="495604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학습의 주인공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7534656" y="52486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· 수업 · 리포트에 같은 아바타가 등장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02 · «사람처럼 가르치는» 개인화 AI 튜터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457639" y="384048"/>
            <a:ext cx="216712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457639" y="384048"/>
            <a:ext cx="2167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Reinforcement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«사람처럼 가르치는» 개인화 튜터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지금의 AI는 정해진 문제를 냅니다. 다음 단계의 AI는 «이 아이에게 지금 무엇을 시킬지»를 스스로 정합니다.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5166360" cy="3017520"/>
          </a:xfrm>
          <a:prstGeom prst="roundRect">
            <a:avLst>
              <a:gd name="adj" fmla="val 303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23774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(Rule-Based)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96112" y="2907792"/>
            <a:ext cx="137160" cy="13716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52144" y="28163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문제를 순서대로 출제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96112" y="3364992"/>
            <a:ext cx="137160" cy="13716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52144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6112" y="3822192"/>
            <a:ext cx="137160" cy="137160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152144" y="37307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규칙으로 복습 주기 결정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55664" y="2157984"/>
            <a:ext cx="5166360" cy="3017520"/>
          </a:xfrm>
          <a:prstGeom prst="roundRect">
            <a:avLst>
              <a:gd name="adj" fmla="val 3030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7665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(강화학습 기반 RL)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784848" y="290779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040880" y="28163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학생별 «지금 가장 효과가 큰 다음 한 문제»를 선택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784848" y="336499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40880" y="32735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직전의 난이도를 감지해 실시간으로 조절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6784848" y="382219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40880" y="37307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데이터로 개인 발음 약점 모델을 학습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784848" y="4279392"/>
            <a:ext cx="137160" cy="137160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40880" y="4187952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피드백을 보상 신호로 삼아 스스로 개선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340096"/>
            <a:ext cx="11055096" cy="658368"/>
          </a:xfrm>
          <a:prstGeom prst="roundRect">
            <a:avLst>
              <a:gd name="adj" fmla="val 13889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6112" y="5340096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«AI가 사람 교사를 대신하는 것»이 아니라, 교사가 못 보는 시간과 데이터를 AI가 대신 보는 것입니다.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03 · 묻기 전에 먼저 말을 거는 선제적 AI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Proactive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전에 먼저 말을 거는 서비스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홈에는 이미 «A.i 상담사»가, 관리자에는 «AI 운영비서»가 있습니다.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 이들이 «답하는 창구»에서 «먼저 알려주는 상대»가 되는 단계입니다.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194560"/>
            <a:ext cx="5852160" cy="841248"/>
          </a:xfrm>
          <a:prstGeom prst="roundRect">
            <a:avLst>
              <a:gd name="adj" fmla="val 1087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3225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학생에게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938528" y="23042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«어제 틀린 단어 3개, 지금 1분이면 끝나요»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938528" y="26151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흐름이 끊긴 시점을 감지해 먼저 제안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66928" y="3108960"/>
            <a:ext cx="5852160" cy="841248"/>
          </a:xfrm>
          <a:prstGeom prst="roundRect">
            <a:avLst>
              <a:gd name="adj" fmla="val 1087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04672" y="32369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학부모에게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938528" y="32186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«이번 주 발화량이 지난주보다 늘었어요»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938528" y="35295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물어보기 전에 변화를 카카오톡으로 요약 전달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66928" y="4023360"/>
            <a:ext cx="5852160" cy="841248"/>
          </a:xfrm>
          <a:prstGeom prst="roundRect">
            <a:avLst>
              <a:gd name="adj" fmla="val 1087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04672" y="41513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938528" y="41330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 학생은 과거시제에서 계속 막힙니다»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938528" y="44439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브리핑으로 준비 시간을 줄임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" y="4937760"/>
            <a:ext cx="5852160" cy="841248"/>
          </a:xfrm>
          <a:prstGeom prst="roundRect">
            <a:avLst>
              <a:gd name="adj" fmla="val 1087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4672" y="5065776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운영자에게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938528" y="50474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«이탈 위험 학생 5명, 사유는 시간대»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938528" y="53583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운영비서가 지표 이상을 먼저 보고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748272" y="1517904"/>
            <a:ext cx="4919472" cy="3132795"/>
          </a:xfrm>
          <a:prstGeom prst="roundRect">
            <a:avLst>
              <a:gd name="adj" fmla="val 2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4848" y="1554480"/>
            <a:ext cx="4846320" cy="3059643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6784848" y="466344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현재의 AI 친구 대화 — 이 대화 능력을 상담·안내로 확장합니다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6784848" y="5029200"/>
            <a:ext cx="4846320" cy="914400"/>
          </a:xfrm>
          <a:prstGeom prst="roundRect">
            <a:avLst>
              <a:gd name="adj" fmla="val 100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040880" y="5157216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채널을 가리지 않게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7040880" y="5413248"/>
            <a:ext cx="4315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· 앱 · 카카오톡 · 문자에서 같은 AI가 같은 맥락으로 응답합니다.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04 · 학습 목표를 게임 목표 안에 숨긴다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Edutainment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목표를 게임 목표 안에 숨깁니다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표지의 그 한 줄 — «재미가 의지를 이깁니다». 앞으로의 학습 게임은 A.I가 그날의 약점을 재료로 삼아 스스로 판을 짜는 방향으로 갑니다.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30352" y="2121408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694" b="-5694"/>
          <a:stretch/>
        </p:blipFill>
        <p:spPr>
          <a:xfrm>
            <a:off x="566928" y="2157984"/>
            <a:ext cx="2606040" cy="14630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337560" y="2121408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3"/>
          <a:srcRect l="0" r="0" t="5694" b="-5694"/>
          <a:stretch/>
        </p:blipFill>
        <p:spPr>
          <a:xfrm>
            <a:off x="3374136" y="2157984"/>
            <a:ext cx="2606040" cy="14630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144768" y="2121408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3" name="Image 3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4"/>
          <a:srcRect l="0" r="0" t="5694" b="-5694"/>
          <a:stretch/>
        </p:blipFill>
        <p:spPr>
          <a:xfrm>
            <a:off x="6181344" y="2157984"/>
            <a:ext cx="2606040" cy="1463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8951976" y="2121408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5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694" b="-5694"/>
          <a:stretch/>
        </p:blipFill>
        <p:spPr>
          <a:xfrm>
            <a:off x="8988552" y="2157984"/>
            <a:ext cx="2606040" cy="1463040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566928" y="3895344"/>
            <a:ext cx="2606040" cy="1773936"/>
          </a:xfrm>
          <a:prstGeom prst="roundRect">
            <a:avLst>
              <a:gd name="adj" fmla="val 515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0"/>
          <p:cNvSpPr/>
          <p:nvPr/>
        </p:nvSpPr>
        <p:spPr>
          <a:xfrm>
            <a:off x="804672" y="4096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세계관을 잇습니다</a:t>
            </a:r>
            <a:endParaRPr lang="en-US" sz="1300" dirty="0"/>
          </a:p>
        </p:txBody>
      </p:sp>
      <p:sp>
        <p:nvSpPr>
          <p:cNvPr id="18" name="Text 11"/>
          <p:cNvSpPr/>
          <p:nvPr/>
        </p:nvSpPr>
        <p:spPr>
          <a:xfrm>
            <a:off x="804672" y="4425696"/>
            <a:ext cx="21671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게임마다 독립적입니다. 하나의 세계와 하나의 아바타로 묶습니다.</a:t>
            </a:r>
            <a:endParaRPr lang="en-US" sz="1050" dirty="0"/>
          </a:p>
        </p:txBody>
      </p:sp>
      <p:sp>
        <p:nvSpPr>
          <p:cNvPr id="19" name="Shape 12"/>
          <p:cNvSpPr/>
          <p:nvPr/>
        </p:nvSpPr>
        <p:spPr>
          <a:xfrm>
            <a:off x="3374136" y="3895344"/>
            <a:ext cx="2606040" cy="1773936"/>
          </a:xfrm>
          <a:prstGeom prst="roundRect">
            <a:avLst>
              <a:gd name="adj" fmla="val 515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3"/>
          <p:cNvSpPr/>
          <p:nvPr/>
        </p:nvSpPr>
        <p:spPr>
          <a:xfrm>
            <a:off x="3611880" y="4096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이깁니다</a:t>
            </a:r>
            <a:endParaRPr lang="en-US" sz="1300" dirty="0"/>
          </a:p>
        </p:txBody>
      </p:sp>
      <p:sp>
        <p:nvSpPr>
          <p:cNvPr id="21" name="Text 14"/>
          <p:cNvSpPr/>
          <p:nvPr/>
        </p:nvSpPr>
        <p:spPr>
          <a:xfrm>
            <a:off x="3611880" y="4425696"/>
            <a:ext cx="21671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«소리 내어 말하기»가 승리 조건이 되는 설계로.</a:t>
            </a:r>
            <a:endParaRPr lang="en-US" sz="1050" dirty="0"/>
          </a:p>
        </p:txBody>
      </p:sp>
      <p:sp>
        <p:nvSpPr>
          <p:cNvPr id="22" name="Shape 15"/>
          <p:cNvSpPr/>
          <p:nvPr/>
        </p:nvSpPr>
        <p:spPr>
          <a:xfrm>
            <a:off x="6181344" y="3895344"/>
            <a:ext cx="2606040" cy="1773936"/>
          </a:xfrm>
          <a:prstGeom prst="roundRect">
            <a:avLst>
              <a:gd name="adj" fmla="val 515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6"/>
          <p:cNvSpPr/>
          <p:nvPr/>
        </p:nvSpPr>
        <p:spPr>
          <a:xfrm>
            <a:off x="6419088" y="4096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19088" y="4425696"/>
            <a:ext cx="21671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랭킹을 넘어 협동·대결 모드로. 혼자 하는 학습에는 한계가 있습니다.</a:t>
            </a:r>
            <a:endParaRPr lang="en-US" sz="1050" dirty="0"/>
          </a:p>
        </p:txBody>
      </p:sp>
      <p:sp>
        <p:nvSpPr>
          <p:cNvPr id="25" name="Shape 18"/>
          <p:cNvSpPr/>
          <p:nvPr/>
        </p:nvSpPr>
        <p:spPr>
          <a:xfrm>
            <a:off x="8988552" y="3895344"/>
            <a:ext cx="2606040" cy="1773936"/>
          </a:xfrm>
          <a:prstGeom prst="roundRect">
            <a:avLst>
              <a:gd name="adj" fmla="val 515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9226296" y="409651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9226296" y="4425696"/>
            <a:ext cx="216712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몰입·보상·난이도 곡선을 근거로 설계합니다. 사행성 요소는 넣지 않습니다.</a:t>
            </a:r>
            <a:endParaRPr lang="en-US" sz="1050" dirty="0"/>
          </a:p>
        </p:txBody>
      </p:sp>
      <p:sp>
        <p:nvSpPr>
          <p:cNvPr id="28" name="Text 21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05 · 핵심 제안 — AI 시대의 영어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90811" y="384048"/>
            <a:ext cx="193395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90811" y="384048"/>
            <a:ext cx="19339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English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«바이브 코딩»을 위한 영어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시키는 시대의 영어는 시험 영어가 아닙니다. 원하는 것을 정확히 설명하는 능력이 곧 실력입니다.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0312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2286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영어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77824" y="257860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대화하기 위한 언어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236208" y="2103120"/>
            <a:ext cx="5394960" cy="1280160"/>
          </a:xfrm>
          <a:prstGeom prst="roundRect">
            <a:avLst>
              <a:gd name="adj" fmla="val 7143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47104" y="22860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영어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47104" y="257860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시키기 위한 언어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66928" y="3602736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준비하는 것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9808" y="4087368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88720" y="40233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설명하는 영어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3364992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«무엇을 만들고 싶은지»를 순서와 조건으로 말하는 훈련. 이미 «문법 피자 마스터»가 같은 감각을 다룹니다.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66928" y="4535424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49808" y="4599432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4599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88720" y="4535424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작문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3364992" y="453542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첨삭을 확장해, 잘 통하는 요청문과 안 통하는 요청문을 비교하며 배웁니다.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566928" y="5047488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49808" y="5111496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49808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1188720" y="504748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판단하고 되묻기</a:t>
            </a:r>
            <a:endParaRPr lang="en-US" sz="1150" dirty="0"/>
          </a:p>
        </p:txBody>
      </p:sp>
      <p:sp>
        <p:nvSpPr>
          <p:cNvPr id="29" name="Text 26"/>
          <p:cNvSpPr/>
          <p:nvPr/>
        </p:nvSpPr>
        <p:spPr>
          <a:xfrm>
            <a:off x="3364992" y="504748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AI의 답이 틀렸을 때 영어로 반박하고 다시 요구하는 능력. 지금의 «판단력 훈련»이 그 출발점입니다.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566928" y="5559552"/>
            <a:ext cx="11055096" cy="457200"/>
          </a:xfrm>
          <a:prstGeom prst="roundRect">
            <a:avLst>
              <a:gd name="adj" fmla="val 20000"/>
            </a:avLst>
          </a:prstGeom>
          <a:solidFill>
            <a:srgbClr val="12183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49808" y="5623560"/>
            <a:ext cx="329184" cy="32918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49808" y="5623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1188720" y="5559552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만들며 배우기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3364992" y="555955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지시해 작은 결과물을 직접 만들어 보는 프로젝트형 수업.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 · 언제 무엇을 하는가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Timeline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822960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" y="1481328"/>
            <a:ext cx="110550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서비스 중인 것과 앞으로 만들 것을 구분해 정리했습니다.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66928" y="2157984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04672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22960" y="310896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24128" y="303580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· 1:2 화상수업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822960" y="3584448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24128" y="35112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AI 친구 대화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822960" y="4059936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22960" y="4535424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4128" y="446227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· 아바타 키우기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822960" y="501091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024128" y="4937760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알림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3374136" y="2157984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611880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3611880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630168" y="310896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31336" y="303580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 반응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630168" y="358444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831336" y="35112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3630168" y="4059936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3831336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 게임 설계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630168" y="453542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831336" y="446227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상담사 선제 안내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181344" y="2157984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419088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419088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437376" y="310896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638544" y="303580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기반 문제 선택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6437376" y="3584448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638544" y="35112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437376" y="4059936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638544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 생성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6437376" y="4535424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638544" y="4462272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학습 모드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988552" y="2157984"/>
            <a:ext cx="2651760" cy="3200400"/>
          </a:xfrm>
          <a:prstGeom prst="roundRect">
            <a:avLst>
              <a:gd name="adj" fmla="val 34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226296" y="235915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9226296" y="26700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9244584" y="3108960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45752" y="3035808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= 학습 동반자 통합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244584" y="3584448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445752" y="3511296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 커리큘럼</a:t>
            </a:r>
            <a:endParaRPr lang="en-US" sz="1000" dirty="0"/>
          </a:p>
        </p:txBody>
      </p:sp>
      <p:sp>
        <p:nvSpPr>
          <p:cNvPr id="50" name="Shape 47"/>
          <p:cNvSpPr/>
          <p:nvPr/>
        </p:nvSpPr>
        <p:spPr>
          <a:xfrm>
            <a:off x="9244584" y="4059936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445752" y="3986784"/>
            <a:ext cx="195681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«만들며 배우는» 수업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566928" y="5504688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개발 계획이며 일정은 변동될 수 있습니다.</a:t>
            </a:r>
            <a:endParaRPr lang="en-US" sz="950" dirty="0"/>
          </a:p>
        </p:txBody>
      </p:sp>
      <p:sp>
        <p:nvSpPr>
          <p:cNvPr id="53" name="Text 5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39496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rcRect l="0" r="0" t="1992" b="-1992"/>
          <a:stretch/>
        </p:blipFill>
        <p:spPr>
          <a:xfrm>
            <a:off x="566928" y="457200"/>
            <a:ext cx="2048256" cy="12435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788920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1498" b="-1498"/>
          <a:stretch/>
        </p:blipFill>
        <p:spPr>
          <a:xfrm>
            <a:off x="2816352" y="457200"/>
            <a:ext cx="2048256" cy="1243584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5038344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3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4"/>
          <a:srcRect l="0" r="0" t="1498" b="-1498"/>
          <a:stretch/>
        </p:blipFill>
        <p:spPr>
          <a:xfrm>
            <a:off x="5065776" y="457200"/>
            <a:ext cx="2048256" cy="1243584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>
            <a:off x="7287768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1498" b="-1498"/>
          <a:stretch/>
        </p:blipFill>
        <p:spPr>
          <a:xfrm>
            <a:off x="7315200" y="457200"/>
            <a:ext cx="2048256" cy="1243584"/>
          </a:xfrm>
          <a:prstGeom prst="rect">
            <a:avLst/>
          </a:prstGeom>
        </p:spPr>
      </p:pic>
      <p:sp>
        <p:nvSpPr>
          <p:cNvPr id="11" name="Shape 4"/>
          <p:cNvSpPr/>
          <p:nvPr/>
        </p:nvSpPr>
        <p:spPr>
          <a:xfrm>
            <a:off x="9537192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5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6"/>
          <a:srcRect l="0" r="0" t="2596" b="-2596"/>
          <a:stretch/>
        </p:blipFill>
        <p:spPr>
          <a:xfrm>
            <a:off x="9564624" y="457200"/>
            <a:ext cx="2048256" cy="1243584"/>
          </a:xfrm>
          <a:prstGeom prst="rect">
            <a:avLst/>
          </a:prstGeom>
        </p:spPr>
      </p:pic>
      <p:pic>
        <p:nvPicPr>
          <p:cNvPr id="13" name="Image 6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6128" y="2011680"/>
            <a:ext cx="1298448" cy="106070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097280" y="32004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200" dirty="0"/>
          </a:p>
        </p:txBody>
      </p:sp>
      <p:sp>
        <p:nvSpPr>
          <p:cNvPr id="15" name="Text 6"/>
          <p:cNvSpPr/>
          <p:nvPr/>
        </p:nvSpPr>
        <p:spPr>
          <a:xfrm>
            <a:off x="1097280" y="3895344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   수업은 사람이, 나머지 24시간은 A.I가 함께합니다.</a:t>
            </a:r>
            <a:endParaRPr lang="en-US" sz="1400" dirty="0"/>
          </a:p>
        </p:txBody>
      </p:sp>
      <p:sp>
        <p:nvSpPr>
          <p:cNvPr id="16" name="Shape 7"/>
          <p:cNvSpPr/>
          <p:nvPr/>
        </p:nvSpPr>
        <p:spPr>
          <a:xfrm>
            <a:off x="2212848" y="4517136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8"/>
          <p:cNvSpPr/>
          <p:nvPr/>
        </p:nvSpPr>
        <p:spPr>
          <a:xfrm>
            <a:off x="2212848" y="4645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18" name="Text 9"/>
          <p:cNvSpPr/>
          <p:nvPr/>
        </p:nvSpPr>
        <p:spPr>
          <a:xfrm>
            <a:off x="221284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4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</a:t>
            </a:r>
            <a:endParaRPr lang="en-US" sz="1000" dirty="0"/>
          </a:p>
        </p:txBody>
      </p:sp>
      <p:sp>
        <p:nvSpPr>
          <p:cNvPr id="19" name="Shape 10"/>
          <p:cNvSpPr/>
          <p:nvPr/>
        </p:nvSpPr>
        <p:spPr>
          <a:xfrm>
            <a:off x="4910328" y="4517136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1"/>
          <p:cNvSpPr/>
          <p:nvPr/>
        </p:nvSpPr>
        <p:spPr>
          <a:xfrm>
            <a:off x="4910328" y="4645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21" name="Text 12"/>
          <p:cNvSpPr/>
          <p:nvPr/>
        </p:nvSpPr>
        <p:spPr>
          <a:xfrm>
            <a:off x="491032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레벨테스트</a:t>
            </a:r>
            <a:endParaRPr lang="en-US" sz="1000" dirty="0"/>
          </a:p>
        </p:txBody>
      </p:sp>
      <p:sp>
        <p:nvSpPr>
          <p:cNvPr id="22" name="Shape 13"/>
          <p:cNvSpPr/>
          <p:nvPr/>
        </p:nvSpPr>
        <p:spPr>
          <a:xfrm>
            <a:off x="7607808" y="4517136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4"/>
          <p:cNvSpPr/>
          <p:nvPr/>
        </p:nvSpPr>
        <p:spPr>
          <a:xfrm>
            <a:off x="7607808" y="4645152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24" name="Text 15"/>
          <p:cNvSpPr/>
          <p:nvPr/>
        </p:nvSpPr>
        <p:spPr>
          <a:xfrm>
            <a:off x="7607808" y="495604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카카오 상담</a:t>
            </a:r>
            <a:endParaRPr lang="en-US" sz="1000" dirty="0"/>
          </a:p>
        </p:txBody>
      </p:sp>
      <p:sp>
        <p:nvSpPr>
          <p:cNvPr id="25" name="Text 16"/>
          <p:cNvSpPr/>
          <p:nvPr/>
        </p:nvSpPr>
        <p:spPr>
          <a:xfrm>
            <a:off x="1097280" y="5614416"/>
            <a:ext cx="9994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1097280" y="5943600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 · 20년 전통, 국내 최초의 화상영어 기업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1097280" y="6254496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7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화면은 실제 서비스(test.mangoi.co.kr) 캡처입니다.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2026-08-17T05:21:20Z</dcterms:created>
  <dcterms:modified xsi:type="dcterms:W3CDTF">2026-08-17T05:21:20Z</dcterms:modified>
</cp:coreProperties>
</file>