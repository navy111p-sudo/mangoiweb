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효과크기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FFFFFF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1:1 개인교습
Bloom 1984</c:v>
                  </c:pt>
                  <c:pt idx="1">
                    <c:v>인간 튜터
VanLehn 2011</c:v>
                  </c:pt>
                  <c:pt idx="2">
                    <c:v>지능형 튜터링
VanLehn 2011</c:v>
                  </c:pt>
                  <c:pt idx="3">
                    <c:v>디지털 게임
Clark et al. 2016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0.79</c:v>
                </c:pt>
                <c:pt idx="2">
                  <c:v>0.76</c:v>
                </c:pt>
                <c:pt idx="3">
                  <c:v>0.33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950" u="none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0"/>
        </c:scaling>
        <c:delete val="0"/>
        <c:axPos val="b"/>
        <c:majorGridlines>
          <c:spPr>
            <a:ln w="12700" cap="flat">
              <a:solidFill>
                <a:srgbClr val="222C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42A"/>
        </a:solidFill>
        <a:ln>
          <a:noFill/>
        </a:ln>
        <a:effectLst/>
      </c:spPr>
    </c:plotArea>
    <c:plotVisOnly val="1"/>
    <c:dispBlanksAs val="span"/>
  </c:chart>
  <c:spPr>
    <a:solidFill>
      <a:srgbClr val="0E14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A.I 콘텐츠 수·게임 수는 서비스 내 집계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PART 1 전체의 지도 역할을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Bloom(1984)의 2σ는 이후 재현 연구에서 축소 보고되었습니다.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촘스키 본인은 교수법 처방을 하지 않았다는 단서를 슬라이드에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g"/><Relationship Id="rId7" Type="http://schemas.openxmlformats.org/officeDocument/2006/relationships/image" Target="../media/image-2-7.jpg"/><Relationship Id="rId8" Type="http://schemas.openxmlformats.org/officeDocument/2006/relationships/image" Target="../media/image-2-8.jpg"/><Relationship Id="rId9" Type="http://schemas.openxmlformats.org/officeDocument/2006/relationships/image" Target="../media/image-2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image" Target="../media/image-3-9.jpg"/><Relationship Id="rId10" Type="http://schemas.openxmlformats.org/officeDocument/2006/relationships/image" Target="../media/image-3-10.jpg"/><Relationship Id="rId11" Type="http://schemas.openxmlformats.org/officeDocument/2006/relationships/image" Target="../media/image-3-11.jpg"/><Relationship Id="rId12" Type="http://schemas.openxmlformats.org/officeDocument/2006/relationships/image" Target="../media/image-3-12.jpg"/><Relationship Id="rId13" Type="http://schemas.openxmlformats.org/officeDocument/2006/relationships/image" Target="../media/image-3-13.jp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image" Target="../media/image-15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jpg"/><Relationship Id="rId6" Type="http://schemas.openxmlformats.org/officeDocument/2006/relationships/image" Target="../media/image-20-6.jpg"/><Relationship Id="rId7" Type="http://schemas.openxmlformats.org/officeDocument/2006/relationships/image" Target="../media/image-20-7.jpg"/><Relationship Id="rId8" Type="http://schemas.openxmlformats.org/officeDocument/2006/relationships/image" Target="../media/image-20-8.jpg"/><Relationship Id="rId9" Type="http://schemas.openxmlformats.org/officeDocument/2006/relationships/image" Target="../media/image-20-9.jpg"/><Relationship Id="rId10" Type="http://schemas.openxmlformats.org/officeDocument/2006/relationships/image" Target="../media/image-20-10.jpg"/><Relationship Id="rId11" Type="http://schemas.openxmlformats.org/officeDocument/2006/relationships/image" Target="../media/image-20-11.jpg"/><Relationship Id="rId12" Type="http://schemas.openxmlformats.org/officeDocument/2006/relationships/image" Target="../media/image-20-12.jpg"/><Relationship Id="rId13" Type="http://schemas.openxmlformats.org/officeDocument/2006/relationships/image" Target="../media/image-20-13.jp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1-1.jpg"/><Relationship Id="rId3" Type="http://schemas.openxmlformats.org/officeDocument/2006/relationships/image" Target="../media/image-2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image" Target="../media/image-23-5.jpg"/><Relationship Id="rId6" Type="http://schemas.openxmlformats.org/officeDocument/2006/relationships/image" Target="../media/image-23-6.jpg"/><Relationship Id="rId7" Type="http://schemas.openxmlformats.org/officeDocument/2006/relationships/image" Target="../media/image-23-7.jpg"/><Relationship Id="rId8" Type="http://schemas.openxmlformats.org/officeDocument/2006/relationships/image" Target="../media/image-23-8.jpg"/><Relationship Id="rId9" Type="http://schemas.openxmlformats.org/officeDocument/2006/relationships/image" Target="../media/image-23-9.jpg"/><Relationship Id="rId10" Type="http://schemas.openxmlformats.org/officeDocument/2006/relationships/image" Target="../media/image-23-10.jpg"/><Relationship Id="rId11" Type="http://schemas.openxmlformats.org/officeDocument/2006/relationships/image" Target="../media/image-23-11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image" Target="../media/image-2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image" Target="../media/image-26-4.jpg"/><Relationship Id="rId5" Type="http://schemas.openxmlformats.org/officeDocument/2006/relationships/image" Target="../media/image-2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image" Target="../media/image-27-4.jpg"/><Relationship Id="rId5" Type="http://schemas.openxmlformats.org/officeDocument/2006/relationships/image" Target="../media/image-2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4" Type="http://schemas.openxmlformats.org/officeDocument/2006/relationships/image" Target="../media/image-28-4.jpg"/><Relationship Id="rId5" Type="http://schemas.openxmlformats.org/officeDocument/2006/relationships/image" Target="../media/image-28-5.jpg"/><Relationship Id="rId6" Type="http://schemas.openxmlformats.org/officeDocument/2006/relationships/image" Target="../media/image-28-6.jp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cover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mangoiweb/ca835eb4-1670-5fc1-a29a-2fc77598fea3/scratchpad/deck_img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060704"/>
            <a:ext cx="1298448" cy="10607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2194560"/>
            <a:ext cx="9994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 AI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1097280" y="310896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안내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97280" y="3639312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 재미가 의지를 이깁니다 »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539496" y="4416552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2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3"/>
          <a:srcRect l="0" r="0" t="1498" b="-1498"/>
          <a:stretch/>
        </p:blipFill>
        <p:spPr>
          <a:xfrm>
            <a:off x="566928" y="4443984"/>
            <a:ext cx="2048256" cy="124358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788920" y="4416552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0" name="Image 3" descr="/tmp/claude-0/-home-user-mangoiweb/ca835eb4-1670-5fc1-a29a-2fc77598fea3/scratchpad/deck_img/aifriend.jpg">    </p:cNvPr>
          <p:cNvPicPr>
            <a:picLocks noChangeAspect="1"/>
          </p:cNvPicPr>
          <p:nvPr/>
        </p:nvPicPr>
        <p:blipFill>
          <a:blip r:embed="rId4"/>
          <a:srcRect l="0" r="0" t="1992" b="-1992"/>
          <a:stretch/>
        </p:blipFill>
        <p:spPr>
          <a:xfrm>
            <a:off x="2816352" y="4443984"/>
            <a:ext cx="2048256" cy="124358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038344" y="4416552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2" name="Image 4" descr="/tmp/claude-0/-home-user-mangoiweb/ca835eb4-1670-5fc1-a29a-2fc77598fea3/scratchpad/deck_img/vocab.jpg">    </p:cNvPr>
          <p:cNvPicPr>
            <a:picLocks noChangeAspect="1"/>
          </p:cNvPicPr>
          <p:nvPr/>
        </p:nvPicPr>
        <p:blipFill>
          <a:blip r:embed="rId5"/>
          <a:srcRect l="0" r="0" t="1498" b="-1498"/>
          <a:stretch/>
        </p:blipFill>
        <p:spPr>
          <a:xfrm>
            <a:off x="5065776" y="4443984"/>
            <a:ext cx="2048256" cy="1243584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287768" y="4416552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4" name="Image 5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6"/>
          <a:srcRect l="0" r="0" t="1498" b="-1498"/>
          <a:stretch/>
        </p:blipFill>
        <p:spPr>
          <a:xfrm>
            <a:off x="7315200" y="4443984"/>
            <a:ext cx="2048256" cy="1243584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537192" y="4416552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6" name="Image 6" descr="/tmp/claude-0/-home-user-mangoiweb/ca835eb4-1670-5fc1-a29a-2fc77598fea3/scratchpad/deck_img/avatar.jpg">    </p:cNvPr>
          <p:cNvPicPr>
            <a:picLocks noChangeAspect="1"/>
          </p:cNvPicPr>
          <p:nvPr/>
        </p:nvPicPr>
        <p:blipFill>
          <a:blip r:embed="rId7"/>
          <a:srcRect l="0" r="0" t="1498" b="-1498"/>
          <a:stretch/>
        </p:blipFill>
        <p:spPr>
          <a:xfrm>
            <a:off x="9564624" y="4443984"/>
            <a:ext cx="2048256" cy="124358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97280" y="5943600"/>
            <a:ext cx="9994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test.mangoi.co.kr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cover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545775" y="384048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45775" y="38404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572768"/>
            <a:ext cx="2688336" cy="4206240"/>
          </a:xfrm>
          <a:prstGeom prst="roundRect">
            <a:avLst>
              <a:gd name="adj" fmla="val 3401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04672" y="22128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259689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 · 쓰기 · 어휘 · 사고력 · 게임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8096" y="29260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2" name="Image 1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4672" y="2962656"/>
            <a:ext cx="2212848" cy="12984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8096" y="4334256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4" name="Image 2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" y="4370832"/>
            <a:ext cx="2212848" cy="129844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474720" y="1572768"/>
            <a:ext cx="2688336" cy="4206240"/>
          </a:xfrm>
          <a:prstGeom prst="roundRect">
            <a:avLst>
              <a:gd name="adj" fmla="val 3401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712464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3712464" y="22128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이렇게 만들었나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712464" y="259689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교육학 · 인지심리학 근거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75888" y="29260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0" name="Image 3" descr="/tmp/claude-0/-home-user-mangoiweb/ca835eb4-1670-5fc1-a29a-2fc77598fea3/scratchpad/deck_img/d_zp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12464" y="2962656"/>
            <a:ext cx="2212848" cy="129844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675888" y="4334256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2" name="Image 4" descr="/tmp/claude-0/-home-user-mangoiweb/ca835eb4-1670-5fc1-a29a-2fc77598fea3/scratchpad/deck_img/d_forget.png">    </p:cNvPr>
          <p:cNvPicPr>
            <a:picLocks noChangeAspect="1"/>
          </p:cNvPicPr>
          <p:nvPr/>
        </p:nvPicPr>
        <p:blipFill>
          <a:blip r:embed="rId5"/>
          <a:srcRect l="2659" r="-2659" t="0" b="0"/>
          <a:stretch/>
        </p:blipFill>
        <p:spPr>
          <a:xfrm>
            <a:off x="3712464" y="4370832"/>
            <a:ext cx="2212848" cy="129844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382512" y="1572768"/>
            <a:ext cx="2688336" cy="4206240"/>
          </a:xfrm>
          <a:prstGeom prst="roundRect">
            <a:avLst>
              <a:gd name="adj" fmla="val 3401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620256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18"/>
          <p:cNvSpPr/>
          <p:nvPr/>
        </p:nvSpPr>
        <p:spPr>
          <a:xfrm>
            <a:off x="6620256" y="22128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사용방법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620256" y="259689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레벨테스트 → 수업 → 복습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583680" y="29260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8" name="Image 5" descr="/tmp/claude-0/-home-user-mangoiweb/ca835eb4-1670-5fc1-a29a-2fc77598fea3/scratchpad/deck_img/leveltestai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620256" y="2962656"/>
            <a:ext cx="2212848" cy="129844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583680" y="4334256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0" name="Image 6" descr="/tmp/claude-0/-home-user-mangoiweb/ca835eb4-1670-5fc1-a29a-2fc77598fea3/scratchpad/deck_img/booking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20256" y="4370832"/>
            <a:ext cx="2212848" cy="1298448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9290304" y="1572768"/>
            <a:ext cx="2688336" cy="4206240"/>
          </a:xfrm>
          <a:prstGeom prst="roundRect">
            <a:avLst>
              <a:gd name="adj" fmla="val 3401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9528048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33" name="Text 24"/>
          <p:cNvSpPr/>
          <p:nvPr/>
        </p:nvSpPr>
        <p:spPr>
          <a:xfrm>
            <a:off x="9528048" y="22128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발전계획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9528048" y="259689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진화 · 개인화 AI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9491472" y="29260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6" name="Image 7" descr="/tmp/claude-0/-home-user-mangoiweb/ca835eb4-1670-5fc1-a29a-2fc77598fea3/scratchpad/deck_img/avatar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528048" y="2962656"/>
            <a:ext cx="2212848" cy="129844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9491472" y="4334256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8" name="Image 8" descr="/tmp/claude-0/-home-user-mangoiweb/ca835eb4-1670-5fc1-a29a-2fc77598fea3/scratchpad/deck_img/spacemon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528048" y="4370832"/>
            <a:ext cx="2212848" cy="129844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cover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9613087" y="38404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13087" y="384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Learning Contents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수업이 없는 시간을 채우는 A.I 콘텐츠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536192"/>
            <a:ext cx="2688336" cy="1005840"/>
          </a:xfrm>
          <a:prstGeom prst="roundRect">
            <a:avLst>
              <a:gd name="adj" fmla="val 9091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64592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14가지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208483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1536192"/>
            <a:ext cx="2688336" cy="1005840"/>
          </a:xfrm>
          <a:prstGeom prst="roundRect">
            <a:avLst>
              <a:gd name="adj" fmla="val 9091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164592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21종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57600" y="208483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학습 게임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82512" y="1536192"/>
            <a:ext cx="2688336" cy="1005840"/>
          </a:xfrm>
          <a:prstGeom prst="roundRect">
            <a:avLst>
              <a:gd name="adj" fmla="val 9091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164592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65392" y="208483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언제든 말 걸 상대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290304" y="1536192"/>
            <a:ext cx="2688336" cy="1005840"/>
          </a:xfrm>
          <a:prstGeom prst="roundRect">
            <a:avLst>
              <a:gd name="adj" fmla="val 9091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73184" y="164592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 언어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473184" y="208483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· 중국어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30352" y="2724912"/>
            <a:ext cx="1801368" cy="1153863"/>
          </a:xfrm>
          <a:prstGeom prst="roundRect">
            <a:avLst>
              <a:gd name="adj" fmla="val 634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0" name="Image 1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61488"/>
            <a:ext cx="1728216" cy="108071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6928" y="3931920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음성코치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395728" y="2724912"/>
            <a:ext cx="1801368" cy="1164232"/>
          </a:xfrm>
          <a:prstGeom prst="roundRect">
            <a:avLst>
              <a:gd name="adj" fmla="val 6283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3" name="Image 2" descr="/tmp/claude-0/-home-user-mangoiweb/ca835eb4-1670-5fc1-a29a-2fc77598fea3/scratchpad/deck_img/aifrien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2761488"/>
            <a:ext cx="1728216" cy="1091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432304" y="3931920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친구 대화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261104" y="2724912"/>
            <a:ext cx="1801368" cy="1153863"/>
          </a:xfrm>
          <a:prstGeom prst="roundRect">
            <a:avLst>
              <a:gd name="adj" fmla="val 634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6" name="Image 3" descr="/tmp/claude-0/-home-user-mangoiweb/ca835eb4-1670-5fc1-a29a-2fc77598fea3/scratchpad/deck_img/aiwrit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761488"/>
            <a:ext cx="1728216" cy="108071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297680" y="3931920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영작 첨삭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126480" y="2724912"/>
            <a:ext cx="1801368" cy="1153863"/>
          </a:xfrm>
          <a:prstGeom prst="roundRect">
            <a:avLst>
              <a:gd name="adj" fmla="val 634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9" name="Image 4" descr="/tmp/claude-0/-home-user-mangoiweb/ca835eb4-1670-5fc1-a29a-2fc77598fea3/scratchpad/deck_img/vocab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2761488"/>
            <a:ext cx="1728216" cy="108071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163056" y="3931920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단어장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7991856" y="2724912"/>
            <a:ext cx="1801368" cy="1153863"/>
          </a:xfrm>
          <a:prstGeom prst="roundRect">
            <a:avLst>
              <a:gd name="adj" fmla="val 634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2" name="Image 5" descr="/tmp/claude-0/-home-user-mangoiweb/ca835eb4-1670-5fc1-a29a-2fc77598fea3/scratchpad/deck_img/microquiz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432" y="2761488"/>
            <a:ext cx="1728216" cy="108071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28432" y="3931920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단어 퀴즈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9857232" y="2724912"/>
            <a:ext cx="1801368" cy="1153863"/>
          </a:xfrm>
          <a:prstGeom prst="roundRect">
            <a:avLst>
              <a:gd name="adj" fmla="val 634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5" name="Image 6" descr="/tmp/claude-0/-home-user-mangoiweb/ca835eb4-1670-5fc1-a29a-2fc77598fea3/scratchpad/deck_img/judgment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08" y="2761488"/>
            <a:ext cx="1728216" cy="108071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893808" y="3931920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판단력 훈련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530352" y="4297680"/>
            <a:ext cx="1801368" cy="1153863"/>
          </a:xfrm>
          <a:prstGeom prst="roundRect">
            <a:avLst>
              <a:gd name="adj" fmla="val 634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8" name="Image 7" descr="/tmp/claude-0/-home-user-mangoiweb/ca835eb4-1670-5fc1-a29a-2fc77598fea3/scratchpad/deck_img/warmup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4334256"/>
            <a:ext cx="1728216" cy="1080711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66928" y="5504688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웜업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2395728" y="4297680"/>
            <a:ext cx="1801368" cy="1153863"/>
          </a:xfrm>
          <a:prstGeom prst="roundRect">
            <a:avLst>
              <a:gd name="adj" fmla="val 634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1" name="Image 8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2304" y="4334256"/>
            <a:ext cx="1728216" cy="1080711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2432304" y="5504688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게임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4261104" y="4297680"/>
            <a:ext cx="1801368" cy="1153863"/>
          </a:xfrm>
          <a:prstGeom prst="roundRect">
            <a:avLst>
              <a:gd name="adj" fmla="val 634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4" name="Image 9" descr="/tmp/claude-0/-home-user-mangoiweb/ca835eb4-1670-5fc1-a29a-2fc77598fea3/scratchpad/deck_img/avatar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7680" y="4334256"/>
            <a:ext cx="1728216" cy="1080711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297680" y="5504688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키우기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6126480" y="4297680"/>
            <a:ext cx="1801368" cy="1153863"/>
          </a:xfrm>
          <a:prstGeom prst="roundRect">
            <a:avLst>
              <a:gd name="adj" fmla="val 634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7" name="Image 10" descr="/tmp/claude-0/-home-user-mangoiweb/ca835eb4-1670-5fc1-a29a-2fc77598fea3/scratchpad/deck_img/streak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3056" y="4334256"/>
            <a:ext cx="1728216" cy="1080711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163056" y="5504688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학습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7991856" y="4297680"/>
            <a:ext cx="1801368" cy="1153863"/>
          </a:xfrm>
          <a:prstGeom prst="roundRect">
            <a:avLst>
              <a:gd name="adj" fmla="val 634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0" name="Image 11" descr="/tmp/claude-0/-home-user-mangoiweb/ca835eb4-1670-5fc1-a29a-2fc77598fea3/scratchpad/deck_img/leveltestai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8432" y="4334256"/>
            <a:ext cx="1728216" cy="1080711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8028432" y="5504688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레벨 진단</a:t>
            </a:r>
            <a:endParaRPr lang="en-US" sz="900" dirty="0"/>
          </a:p>
        </p:txBody>
      </p:sp>
      <p:sp>
        <p:nvSpPr>
          <p:cNvPr id="52" name="Shape 38"/>
          <p:cNvSpPr/>
          <p:nvPr/>
        </p:nvSpPr>
        <p:spPr>
          <a:xfrm>
            <a:off x="9857232" y="4297680"/>
            <a:ext cx="1801368" cy="1183819"/>
          </a:xfrm>
          <a:prstGeom prst="roundRect">
            <a:avLst>
              <a:gd name="adj" fmla="val 6179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3" name="Image 12" descr="/tmp/claude-0/-home-user-mangoiweb/ca835eb4-1670-5fc1-a29a-2fc77598fea3/scratchpad/deck_img/parent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3808" y="4334256"/>
            <a:ext cx="1728216" cy="1110667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9893808" y="5504688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리포트</a:t>
            </a:r>
            <a:endParaRPr lang="en-US" sz="900" dirty="0"/>
          </a:p>
        </p:txBody>
      </p:sp>
      <p:sp>
        <p:nvSpPr>
          <p:cNvPr id="55" name="Text 40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cover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9923983" y="384048"/>
            <a:ext cx="1700784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23983" y="3840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Answer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200분, 나머지 42,800분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554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A123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7739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2회 × 25분 = 월 200분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7824" y="213969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6600" dirty="0"/>
          </a:p>
        </p:txBody>
      </p:sp>
      <p:sp>
        <p:nvSpPr>
          <p:cNvPr id="10" name="Text 7"/>
          <p:cNvSpPr/>
          <p:nvPr/>
        </p:nvSpPr>
        <p:spPr>
          <a:xfrm>
            <a:off x="877824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 중 영어를 쓰는 시간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6208" y="1554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47104" y="17739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망고아이의 답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47104" y="2139696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14가지 A.I 콘텐츠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547104" y="28895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수업이 없는 날에도 말하고, 쓰고, 외우고, 게임합니다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30352" y="4078224"/>
            <a:ext cx="2679192" cy="1700784"/>
          </a:xfrm>
          <a:prstGeom prst="roundRect">
            <a:avLst>
              <a:gd name="adj" fmla="val 4301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6" name="Image 1" descr="/tmp/claude-0/-home-user-mangoiweb/ca835eb4-1670-5fc1-a29a-2fc77598fea3/scratchpad/deck_img/warmup.jpg">    </p:cNvPr>
          <p:cNvPicPr>
            <a:picLocks noChangeAspect="1"/>
          </p:cNvPicPr>
          <p:nvPr/>
        </p:nvPicPr>
        <p:blipFill>
          <a:blip r:embed="rId2"/>
          <a:srcRect l="0" r="0" t="62" b="-62"/>
          <a:stretch/>
        </p:blipFill>
        <p:spPr>
          <a:xfrm>
            <a:off x="566928" y="4114800"/>
            <a:ext cx="2606040" cy="16276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928" y="5833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전 · AI 웜업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337560" y="4078224"/>
            <a:ext cx="2679192" cy="1700784"/>
          </a:xfrm>
          <a:prstGeom prst="roundRect">
            <a:avLst>
              <a:gd name="adj" fmla="val 4301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9" name="Image 2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3"/>
          <a:srcRect l="0" r="0" t="62" b="-62"/>
          <a:stretch/>
        </p:blipFill>
        <p:spPr>
          <a:xfrm>
            <a:off x="3374136" y="4114800"/>
            <a:ext cx="2606040" cy="16276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74136" y="5833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· AI 음성코치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44768" y="4078224"/>
            <a:ext cx="2679192" cy="1700784"/>
          </a:xfrm>
          <a:prstGeom prst="roundRect">
            <a:avLst>
              <a:gd name="adj" fmla="val 4301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2" name="Image 3" descr="/tmp/claude-0/-home-user-mangoiweb/ca835eb4-1670-5fc1-a29a-2fc77598fea3/scratchpad/deck_img/microquiz.jpg">    </p:cNvPr>
          <p:cNvPicPr>
            <a:picLocks noChangeAspect="1"/>
          </p:cNvPicPr>
          <p:nvPr/>
        </p:nvPicPr>
        <p:blipFill>
          <a:blip r:embed="rId4"/>
          <a:srcRect l="0" r="0" t="62" b="-62"/>
          <a:stretch/>
        </p:blipFill>
        <p:spPr>
          <a:xfrm>
            <a:off x="6181344" y="4114800"/>
            <a:ext cx="2606040" cy="16276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81344" y="5833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후 · 복습 퀴즈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951976" y="4078224"/>
            <a:ext cx="2679192" cy="1700784"/>
          </a:xfrm>
          <a:prstGeom prst="roundRect">
            <a:avLst>
              <a:gd name="adj" fmla="val 4301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5" name="Image 4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5"/>
          <a:srcRect l="0" r="0" t="62" b="-62"/>
          <a:stretch/>
        </p:blipFill>
        <p:spPr>
          <a:xfrm>
            <a:off x="8988552" y="4114800"/>
            <a:ext cx="2606040" cy="16276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988552" y="5833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 · 학습 게임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cover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 MAP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079431" y="384048"/>
            <a:ext cx="1545336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79431" y="38404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AI Contents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기르는가로 나눈 14가지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554480"/>
            <a:ext cx="1723644" cy="2103120"/>
          </a:xfrm>
          <a:prstGeom prst="roundRect">
            <a:avLst>
              <a:gd name="adj" fmla="val 5305"/>
            </a:avLst>
          </a:prstGeom>
          <a:solidFill>
            <a:srgbClr val="1B2036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700784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9808" y="21396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2066544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음성코치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49808" y="252374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450592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친구 대화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9808" y="290779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2834640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웜업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427732" y="1554480"/>
            <a:ext cx="1723644" cy="2103120"/>
          </a:xfrm>
          <a:prstGeom prst="roundRect">
            <a:avLst>
              <a:gd name="adj" fmla="val 5305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92324" y="1700784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610612" y="2139696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93492" y="2066544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영작 첨삭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88536" y="1554480"/>
            <a:ext cx="1723644" cy="2103120"/>
          </a:xfrm>
          <a:prstGeom prst="roundRect">
            <a:avLst>
              <a:gd name="adj" fmla="val 5305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3128" y="1700784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어휘 · 문법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471416" y="213969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54296" y="2066544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단어장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471416" y="252374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54296" y="2450592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단어 퀴즈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471416" y="2907792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54296" y="2834640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퀴즈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149340" y="1554480"/>
            <a:ext cx="1723644" cy="2103120"/>
          </a:xfrm>
          <a:prstGeom prst="roundRect">
            <a:avLst>
              <a:gd name="adj" fmla="val 5305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13932" y="1700784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사고력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332220" y="213969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15100" y="2066544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판단력 훈련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010144" y="1554480"/>
            <a:ext cx="1723644" cy="2103120"/>
          </a:xfrm>
          <a:prstGeom prst="roundRect">
            <a:avLst>
              <a:gd name="adj" fmla="val 5305"/>
            </a:avLst>
          </a:prstGeom>
          <a:solidFill>
            <a:srgbClr val="1B2036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74736" y="1700784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 · 습관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193024" y="213969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75904" y="2066544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게임 21종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193024" y="252374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75904" y="2450592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키우기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193024" y="2907792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75904" y="2834640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학습 · 포인트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9870948" y="1554480"/>
            <a:ext cx="1723644" cy="2103120"/>
          </a:xfrm>
          <a:prstGeom prst="roundRect">
            <a:avLst>
              <a:gd name="adj" fmla="val 5305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35540" y="1700784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· 평가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10053828" y="21396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36708" y="2066544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레벨 진단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10053828" y="252374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236708" y="2450592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평가서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10053828" y="290779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236708" y="2834640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A.I 리포트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30352" y="4023360"/>
            <a:ext cx="1810512" cy="1159581"/>
          </a:xfrm>
          <a:prstGeom prst="roundRect">
            <a:avLst>
              <a:gd name="adj" fmla="val 6308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8" name="Image 1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59936"/>
            <a:ext cx="1737360" cy="1086429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566928" y="51755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2386584" y="4023360"/>
            <a:ext cx="1810512" cy="1159581"/>
          </a:xfrm>
          <a:prstGeom prst="roundRect">
            <a:avLst>
              <a:gd name="adj" fmla="val 6308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1" name="Image 2" descr="/tmp/claude-0/-home-user-mangoiweb/ca835eb4-1670-5fc1-a29a-2fc77598fea3/scratchpad/deck_img/aiwrit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4059936"/>
            <a:ext cx="1737360" cy="1086429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2423160" y="51755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4242816" y="4023360"/>
            <a:ext cx="1810512" cy="1159581"/>
          </a:xfrm>
          <a:prstGeom prst="roundRect">
            <a:avLst>
              <a:gd name="adj" fmla="val 6308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4" name="Image 3" descr="/tmp/claude-0/-home-user-mangoiweb/ca835eb4-1670-5fc1-a29a-2fc77598fea3/scratchpad/deck_img/vocab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4059936"/>
            <a:ext cx="1737360" cy="1086429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4279392" y="51755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어휘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6099048" y="4023360"/>
            <a:ext cx="1810512" cy="1159581"/>
          </a:xfrm>
          <a:prstGeom prst="roundRect">
            <a:avLst>
              <a:gd name="adj" fmla="val 6308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7" name="Image 4" descr="/tmp/claude-0/-home-user-mangoiweb/ca835eb4-1670-5fc1-a29a-2fc77598fea3/scratchpad/deck_img/judgment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4059936"/>
            <a:ext cx="1737360" cy="1086429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6135624" y="51755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사고력</a:t>
            </a:r>
            <a:endParaRPr lang="en-US" sz="950" dirty="0"/>
          </a:p>
        </p:txBody>
      </p:sp>
      <p:sp>
        <p:nvSpPr>
          <p:cNvPr id="59" name="Shape 52"/>
          <p:cNvSpPr/>
          <p:nvPr/>
        </p:nvSpPr>
        <p:spPr>
          <a:xfrm>
            <a:off x="7955280" y="4023360"/>
            <a:ext cx="1810512" cy="1159581"/>
          </a:xfrm>
          <a:prstGeom prst="roundRect">
            <a:avLst>
              <a:gd name="adj" fmla="val 6308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60" name="Image 5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856" y="4059936"/>
            <a:ext cx="1737360" cy="1086429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7991856" y="51755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</a:t>
            </a:r>
            <a:endParaRPr lang="en-US" sz="950" dirty="0"/>
          </a:p>
        </p:txBody>
      </p:sp>
      <p:sp>
        <p:nvSpPr>
          <p:cNvPr id="62" name="Shape 54"/>
          <p:cNvSpPr/>
          <p:nvPr/>
        </p:nvSpPr>
        <p:spPr>
          <a:xfrm>
            <a:off x="9811512" y="4023360"/>
            <a:ext cx="1810512" cy="1189695"/>
          </a:xfrm>
          <a:prstGeom prst="roundRect">
            <a:avLst>
              <a:gd name="adj" fmla="val 6149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63" name="Image 6" descr="/tmp/claude-0/-home-user-mangoiweb/ca835eb4-1670-5fc1-a29a-2fc77598fea3/scratchpad/deck_img/parent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088" y="4059936"/>
            <a:ext cx="1737360" cy="1116543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9848088" y="51755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  <a:endParaRPr lang="en-US" sz="950" dirty="0"/>
          </a:p>
        </p:txBody>
      </p:sp>
      <p:sp>
        <p:nvSpPr>
          <p:cNvPr id="65" name="Text 56"/>
          <p:cNvSpPr/>
          <p:nvPr/>
        </p:nvSpPr>
        <p:spPr>
          <a:xfrm>
            <a:off x="566928" y="561441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서비스 내 A.I 기반 학습 콘텐츠 집계 (2026년 8월). 게임 21종은 «학습 게임» 하나로 셈했습니다.</a:t>
            </a:r>
            <a:endParaRPr lang="en-US" sz="850" dirty="0"/>
          </a:p>
        </p:txBody>
      </p:sp>
      <p:sp>
        <p:nvSpPr>
          <p:cNvPr id="66" name="Text 57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22860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22860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222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600" dirty="0"/>
          </a:p>
        </p:txBody>
      </p:sp>
      <p:sp>
        <p:nvSpPr>
          <p:cNvPr id="6" name="Text 3"/>
          <p:cNvSpPr/>
          <p:nvPr/>
        </p:nvSpPr>
        <p:spPr>
          <a:xfrm>
            <a:off x="566928" y="2779776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66928" y="3566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Learning Contents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41148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 · 쓰기 · 어휘 · 사고력 · 게임.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서비스 화면으로 하나씩 보여 드립니다.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19088" y="1664208"/>
            <a:ext cx="5248656" cy="3309567"/>
          </a:xfrm>
          <a:prstGeom prst="roundRect">
            <a:avLst>
              <a:gd name="adj" fmla="val 221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0" name="Image 1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700784"/>
            <a:ext cx="5175504" cy="32364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55664" y="5120079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게임 허브 — 21종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01 · 말하기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312603" y="384048"/>
            <a:ext cx="1312164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312603" y="384048"/>
            <a:ext cx="1312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Coach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음성코치 — 따라 말하면 즉시 채점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30352" y="1517904"/>
            <a:ext cx="6199632" cy="3904244"/>
          </a:xfrm>
          <a:prstGeom prst="roundRect">
            <a:avLst>
              <a:gd name="adj" fmla="val 187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6126480" cy="3831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55501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선택 → 원어민 발음 듣기 → 마이크 → 점수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9677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205472" y="1956816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797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레벨을 고른다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797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Phonics · BTS(Lv 1~8) · SIU 고급 · 중국어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9677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05472" y="2816352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따라 말한다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4797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원어민 발음을 먼저 듣고 그대로 발화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677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05472" y="3675888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797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점수가 나온다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4797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또박또박 말했는지 즉시 채점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9677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05472" y="4535424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797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쌓인다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797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점수와 발화량이 성장 추이로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967728" y="5157216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205472" y="5266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205472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스웨인 출력가설 — 말해 봐야 규칙이 굳는다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02 · 말하기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468051" y="384048"/>
            <a:ext cx="1156716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68051" y="384048"/>
            <a:ext cx="1156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Friend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친구 대화 — 24시간 말 걸 상대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49824" y="1517904"/>
            <a:ext cx="6199632" cy="3941003"/>
          </a:xfrm>
          <a:prstGeom prst="roundRect">
            <a:avLst>
              <a:gd name="adj" fmla="val 1856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aifrien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126480" cy="38678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5586923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Emma · Jake와 영어로 자유 대화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669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4672" y="1956816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789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친구를 고른다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89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다정한 Emma, 장난스러운 Jake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669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2816352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89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주제를 고른다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789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피자 · 동물 · 우주 · 공룡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669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" y="3675888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789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틀려도 괜찮다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789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웃지 않고, 한 마디마다 포인트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69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04672" y="4535424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789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수준에 맞춰 준다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789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학습자 레벨에 맞는 문장 길이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66928" y="5157216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04672" y="5266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04672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크라션 정서 필터 — 불안이 낮아야 습득된다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03 · 쓰기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157155" y="384048"/>
            <a:ext cx="1467612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57155" y="384048"/>
            <a:ext cx="1467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Coach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영작 첨삭 — 왜 틀렸는지까지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30352" y="1517904"/>
            <a:ext cx="6199632" cy="3904244"/>
          </a:xfrm>
          <a:prstGeom prst="roundRect">
            <a:avLst>
              <a:gd name="adj" fmla="val 187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aiwri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6126480" cy="3831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55501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문장을 즉시 교정하고 이유를 설명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9677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205472" y="1956816"/>
            <a:ext cx="146304" cy="14630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797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쓴다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797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주제를 골라 자유롭게 작성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9677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05472" y="2816352"/>
            <a:ext cx="146304" cy="14630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교정된다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4797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부분을 문장 단위로 표시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677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05472" y="3675888"/>
            <a:ext cx="146304" cy="14630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797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이유를 알려준다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4797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고쳤는지 설명까지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9677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05472" y="4535424"/>
            <a:ext cx="146304" cy="14630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797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써 본다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797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문장을 반영해 재작성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967728" y="5157216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205472" y="5266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205472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인출 연습 — 꺼내 쓸 때 기억에 남는다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04 · 어휘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545775" y="384048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45775" y="38404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Vocab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단어장 — 단어만 넣으면 나머지는 A.I가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49824" y="1517904"/>
            <a:ext cx="6199632" cy="3904244"/>
          </a:xfrm>
          <a:prstGeom prst="roundRect">
            <a:avLst>
              <a:gd name="adj" fmla="val 187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voca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126480" cy="3831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55501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단어만 입력하면 뜻·예문 자동 생성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669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4672" y="1956816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789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단어만 담는다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89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뜻과 예문은 A.I가 자동 생성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669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2816352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89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게임으로 외운다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789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담은 단어가 게임 문제로 출제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669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" y="3675888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789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남는다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789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진도와 정답률을 확인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69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04672" y="4535424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789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수업과 이어진다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789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수업에서 나온 단어가 그대로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66928" y="5157216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04672" y="5266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04672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 연습 — 간격을 두고 여러 번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05 · 어휘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079431" y="384048"/>
            <a:ext cx="1545336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79431" y="38404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Learning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단어 퀴즈 — 1분이면 끝납니다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30352" y="1517904"/>
            <a:ext cx="6199632" cy="3904244"/>
          </a:xfrm>
          <a:prstGeom prst="roundRect">
            <a:avLst>
              <a:gd name="adj" fmla="val 187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microquiz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6126480" cy="3831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55501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마이크로러닝 — 짧게, 자주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9677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205472" y="1956816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797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안에 끝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797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 없이 하루 한 번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9677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05472" y="2816352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단어장에서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4797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담은 단어로 문제 출제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677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05472" y="3675888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797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빠를수록 포인트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4797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속도가 오르면 보너스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9677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05472" y="4535424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797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연속으로 이어진다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797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하면 스트릭이 쌓인다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967728" y="5157216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205472" y="5266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205472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 연습 · 인출 연습 (Cepeda 2006 · Roediger 2006)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06 · 사고력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9846259" y="384048"/>
            <a:ext cx="1778508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46259" y="384048"/>
            <a:ext cx="177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Training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판단력 훈련 — 생각하고 영어로 답하기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49824" y="1517904"/>
            <a:ext cx="6199632" cy="3904244"/>
          </a:xfrm>
          <a:prstGeom prst="roundRect">
            <a:avLst>
              <a:gd name="adj" fmla="val 187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judgme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126480" cy="3831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55501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상황을 읽고 스스로 판단해 영어로 말하기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669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4672" y="1956816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789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상황이 주어진다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89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있을 법한 장면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669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2816352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89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판단한다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789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고르기가 아니라 결정하기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669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" y="3675888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789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답한다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789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판단한 이유를 영어로 설명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69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04672" y="4535424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789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A.I가 되짚는다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789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선택지의 결과도 알려준다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66928" y="5157216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04672" y="5266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04672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«AI로 생각하고 결정하는 영어»의 출발점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07 · 수업 전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573207" y="3840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73207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웜업 — 수업 전에 입을 풉니다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30352" y="1517904"/>
            <a:ext cx="6199632" cy="3904244"/>
          </a:xfrm>
          <a:prstGeom prst="roundRect">
            <a:avLst>
              <a:gd name="adj" fmla="val 187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warm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6126480" cy="3831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55501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직전 AI 친구와 짧은 대화 후 입장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9677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205472" y="1956816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797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문장을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797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한 번 말해 본다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9677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05472" y="2816352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두세 마디면 충분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4797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1~2분이면 끝나는 짧은 대화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677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05472" y="3675888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797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긴장이 줄어든다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4797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마디의 부담을 미리 덜어낸다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9677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05472" y="4535424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797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수업으로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797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웜업 후 화상수업 로비로 입장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967728" y="5157216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205472" y="5266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205472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크라션 i+1 — 조금 위의 이해 가능한 입력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08 · 동기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9846259" y="384048"/>
            <a:ext cx="1778508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46259" y="384048"/>
            <a:ext cx="177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Language Games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게임 21종 — 복습이 놀이가 됩니다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30352" y="1517904"/>
            <a:ext cx="6199632" cy="3904244"/>
          </a:xfrm>
          <a:prstGeom prst="roundRect">
            <a:avLst>
              <a:gd name="adj" fmla="val 187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6126480" cy="3831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546811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게임 허브 — 퀘스트 · 연속 학습 · 랭킹 · 포인트 상점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9677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205472" y="1956816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797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틀린 단어가 재료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797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A.I가 골라 게임 문제로 넘긴다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9677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05472" y="2816352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· 중국어 모두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4797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언어 모두 지원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677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05472" y="3675888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797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말해야 이기는 게임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4797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클릭이 아니라 발화가 조건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9677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05472" y="4535424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797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퀘스트로 이어진다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797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 깨면 다음 게임이 열린다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967728" y="504748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205472" y="51572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205472" y="53583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몰입 이론 — 난이도와 실력이 맞을 때 계속한다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08 · 게임 라인업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312603" y="384048"/>
            <a:ext cx="1312164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312603" y="384048"/>
            <a:ext cx="1312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Lineup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게임들이 있습니다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30352" y="1517904"/>
            <a:ext cx="3547872" cy="1773936"/>
          </a:xfrm>
          <a:prstGeom prst="roundRect">
            <a:avLst>
              <a:gd name="adj" fmla="val 412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spacemon.jpg">    </p:cNvPr>
          <p:cNvPicPr>
            <a:picLocks noChangeAspect="1"/>
          </p:cNvPicPr>
          <p:nvPr/>
        </p:nvPicPr>
        <p:blipFill>
          <a:blip r:embed="rId2"/>
          <a:srcRect l="0" r="0" t="13878" b="-13878"/>
          <a:stretch/>
        </p:blipFill>
        <p:spPr>
          <a:xfrm>
            <a:off x="566928" y="1554480"/>
            <a:ext cx="3474720" cy="17007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3346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우주 괴물 사냥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66928" y="35844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뜻에 맞는 단어를 쏜다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242816" y="1517904"/>
            <a:ext cx="3547872" cy="1773936"/>
          </a:xfrm>
          <a:prstGeom prst="roundRect">
            <a:avLst>
              <a:gd name="adj" fmla="val 412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2" name="Image 2" descr="/tmp/claude-0/-home-user-mangoiweb/ca835eb4-1670-5fc1-a29a-2fc77598fea3/scratchpad/deck_img/grammarpizza.jpg">    </p:cNvPr>
          <p:cNvPicPr>
            <a:picLocks noChangeAspect="1"/>
          </p:cNvPicPr>
          <p:nvPr/>
        </p:nvPicPr>
        <p:blipFill>
          <a:blip r:embed="rId3"/>
          <a:srcRect l="0" r="0" t="13878" b="-13878"/>
          <a:stretch/>
        </p:blipFill>
        <p:spPr>
          <a:xfrm>
            <a:off x="4279392" y="1554480"/>
            <a:ext cx="3474720" cy="17007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79392" y="3346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문법 피자 마스터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279392" y="35844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어순대로 재료를 올린다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7955280" y="1517904"/>
            <a:ext cx="3547872" cy="1773936"/>
          </a:xfrm>
          <a:prstGeom prst="roundRect">
            <a:avLst>
              <a:gd name="adj" fmla="val 412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6" name="Image 3" descr="/tmp/claude-0/-home-user-mangoiweb/ca835eb4-1670-5fc1-a29a-2fc77598fea3/scratchpad/deck_img/langace.jpg">    </p:cNvPr>
          <p:cNvPicPr>
            <a:picLocks noChangeAspect="1"/>
          </p:cNvPicPr>
          <p:nvPr/>
        </p:nvPicPr>
        <p:blipFill>
          <a:blip r:embed="rId4"/>
          <a:srcRect l="0" r="0" t="13878" b="-13878"/>
          <a:stretch/>
        </p:blipFill>
        <p:spPr>
          <a:xfrm>
            <a:off x="7991856" y="1554480"/>
            <a:ext cx="3474720" cy="17007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91856" y="3346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P-38 라이트닝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991856" y="35844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공중전 중 영어 미션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30352" y="3895344"/>
            <a:ext cx="3547872" cy="1773936"/>
          </a:xfrm>
          <a:prstGeom prst="roundRect">
            <a:avLst>
              <a:gd name="adj" fmla="val 412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0" name="Image 4" descr="/tmp/claude-0/-home-user-mangoiweb/ca835eb4-1670-5fc1-a29a-2fc77598fea3/scratchpad/deck_img/escape.jpg">    </p:cNvPr>
          <p:cNvPicPr>
            <a:picLocks noChangeAspect="1"/>
          </p:cNvPicPr>
          <p:nvPr/>
        </p:nvPicPr>
        <p:blipFill>
          <a:blip r:embed="rId5"/>
          <a:srcRect l="0" r="0" t="13878" b="-13878"/>
          <a:stretch/>
        </p:blipFill>
        <p:spPr>
          <a:xfrm>
            <a:off x="566928" y="3931920"/>
            <a:ext cx="3474720" cy="17007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6928" y="5724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탈출 SOS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66928" y="59618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말해야 문이 열린다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4242816" y="3895344"/>
            <a:ext cx="3547872" cy="1773936"/>
          </a:xfrm>
          <a:prstGeom prst="roundRect">
            <a:avLst>
              <a:gd name="adj" fmla="val 412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4" name="Image 5" descr="/tmp/claude-0/-home-user-mangoiweb/ca835eb4-1670-5fc1-a29a-2fc77598fea3/scratchpad/deck_img/suspect.jpg">    </p:cNvPr>
          <p:cNvPicPr>
            <a:picLocks noChangeAspect="1"/>
          </p:cNvPicPr>
          <p:nvPr/>
        </p:nvPicPr>
        <p:blipFill>
          <a:blip r:embed="rId6"/>
          <a:srcRect l="0" r="0" t="13878" b="-13878"/>
          <a:stretch/>
        </p:blipFill>
        <p:spPr>
          <a:xfrm>
            <a:off x="4279392" y="3931920"/>
            <a:ext cx="3474720" cy="17007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279392" y="5724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서스펙트 미스터리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279392" y="59618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범인을 추리한다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7955280" y="3895344"/>
            <a:ext cx="3547872" cy="1773936"/>
          </a:xfrm>
          <a:prstGeom prst="roundRect">
            <a:avLst>
              <a:gd name="adj" fmla="val 412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8" name="Image 6" descr="/tmp/claude-0/-home-user-mangoiweb/ca835eb4-1670-5fc1-a29a-2fc77598fea3/scratchpad/deck_img/battle3d.jpg">    </p:cNvPr>
          <p:cNvPicPr>
            <a:picLocks noChangeAspect="1"/>
          </p:cNvPicPr>
          <p:nvPr/>
        </p:nvPicPr>
        <p:blipFill>
          <a:blip r:embed="rId7"/>
          <a:srcRect l="0" r="0" t="13878" b="-13878"/>
          <a:stretch/>
        </p:blipFill>
        <p:spPr>
          <a:xfrm>
            <a:off x="7991856" y="3931920"/>
            <a:ext cx="3474720" cy="17007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991856" y="5724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배틀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7991856" y="59618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단어 대결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566928" y="63642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전체 21종 중 6종. 게임마다 파일이 독립되어 있어 계속 추가됩니다.</a:t>
            </a:r>
            <a:endParaRPr lang="en-US" sz="850" dirty="0"/>
          </a:p>
        </p:txBody>
      </p:sp>
      <p:sp>
        <p:nvSpPr>
          <p:cNvPr id="32" name="Text 23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09 · 동기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234879" y="384048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34879" y="38404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Quest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키우기 — 말할수록 자랍니다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49824" y="1517904"/>
            <a:ext cx="6199632" cy="3904244"/>
          </a:xfrm>
          <a:prstGeom prst="roundRect">
            <a:avLst>
              <a:gd name="adj" fmla="val 187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avata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126480" cy="3831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55501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판다 · 여우 · 드래곤 · 강아지 중 하나를 골라 5단계 진화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669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4672" y="1956816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789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친구를 고른다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89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캐릭터 중 하나로 시작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669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2816352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89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미션마다 EXP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789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영어·중국어 미션이 곧 경험치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669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" y="3675888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789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5단계까지 진화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789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진화할 때마다 연출이 바뀐다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69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04672" y="4535424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789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바꿔도 유지된다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789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캐릭터를 바꿔도 EXP는 그대로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66928" y="5157216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04672" y="5266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04672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 마인드셋 — 능력은 노력으로 자란다 (Dweck 2006)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10 · 습관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001707" y="384048"/>
            <a:ext cx="1623060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1707" y="384048"/>
            <a:ext cx="1623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&amp; Points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학습 — 하루도 끊기지 않게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30352" y="1517904"/>
            <a:ext cx="6199632" cy="3904244"/>
          </a:xfrm>
          <a:prstGeom prst="roundRect">
            <a:avLst>
              <a:gd name="adj" fmla="val 187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strea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6126480" cy="3831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55501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일수 · 포인트 · 배지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9677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205472" y="1956816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797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한 번이면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797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퀴즈 하나로 그날이 채워진다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9677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05472" y="2816352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일수가 보인다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4797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끊기지 않게 만드는 가장 단순한 장치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677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05472" y="3675888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797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포인트가 쌓인다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4797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기프티콘으로 교환 가능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9677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05472" y="4535424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797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성적이 아니라 습관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797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아닌 과정에만 보상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967728" y="5157216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205472" y="5266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205472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외적 보상의 역효과(Deci 1999)를 피해 «습관»에만 연결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11 · 진단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157155" y="384048"/>
            <a:ext cx="1467612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57155" y="384048"/>
            <a:ext cx="1467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Level Test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레벨 진단 — 어디서 시작할지 정합니다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49824" y="1517904"/>
            <a:ext cx="6199632" cy="3904244"/>
          </a:xfrm>
          <a:prstGeom prst="roundRect">
            <a:avLst>
              <a:gd name="adj" fmla="val 187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leveltesta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126480" cy="3831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55501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ID만 넣으면 즉시 시작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669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4672" y="1956816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789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시작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89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ID만 입력하면 바로 진단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669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2816352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89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CEFR 기준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789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1~8 중 시작 지점 판정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669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" y="3675888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789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강·약점까지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789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부족한지 함께 정리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69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04672" y="4535424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789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교재가 연결된다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789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레벨에 맞는 커리큘럼 자동 배정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66928" y="5157216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04672" y="5266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04672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크라션 i+1 — 수준보다 살짝 위에서 배운다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12 · 평가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468051" y="384048"/>
            <a:ext cx="1156716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68051" y="384048"/>
            <a:ext cx="1156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Report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평가서 · 월간 리포트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30352" y="1517904"/>
            <a:ext cx="6199632" cy="4010436"/>
          </a:xfrm>
          <a:prstGeom prst="roundRect">
            <a:avLst>
              <a:gd name="adj" fmla="val 182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pare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6126480" cy="39372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565635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 리포트 — 카카오톡으로 발송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967728" y="1627632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205472" y="1956816"/>
            <a:ext cx="146304" cy="14630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79792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수업 자동 생성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79792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· 표현 · 참여도를 A.I가 분석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967728" y="2487168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05472" y="2816352"/>
            <a:ext cx="146304" cy="14630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약점이 복습으로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479792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부분이 다음 퀴즈·게임 재료로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67728" y="3346704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05472" y="3675888"/>
            <a:ext cx="146304" cy="14630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7979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· 매달 요약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47979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리포트와 월간 A.I 리포트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967728" y="4206240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05472" y="4535424"/>
            <a:ext cx="146304" cy="14630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7979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카카오톡으로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797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앱을 열지 않아도 손 안에 도착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967728" y="5157216"/>
            <a:ext cx="4663440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205472" y="5266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205472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피드백과 A.I 학습기록을 하나로 연결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featur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· 한 장 요약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234879" y="384048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34879" y="38404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Contents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하루가 이렇게 채워집니다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554480"/>
            <a:ext cx="1723644" cy="2157984"/>
          </a:xfrm>
          <a:prstGeom prst="roundRect">
            <a:avLst>
              <a:gd name="adj" fmla="val 5305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1682496"/>
            <a:ext cx="14310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전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13232" y="1938528"/>
            <a:ext cx="14493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웜업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6656" y="2487168"/>
            <a:ext cx="1504188" cy="968027"/>
          </a:xfrm>
          <a:prstGeom prst="roundRect">
            <a:avLst>
              <a:gd name="adj" fmla="val 7557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1" name="Image 1" descr="/tmp/claude-0/-home-user-mangoiweb/ca835eb4-1670-5fc1-a29a-2fc77598fea3/scratchpad/deck_img/warm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23744"/>
            <a:ext cx="1431036" cy="894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95144" y="2651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2427732" y="1554480"/>
            <a:ext cx="1723644" cy="2157984"/>
          </a:xfrm>
          <a:prstGeom prst="roundRect">
            <a:avLst>
              <a:gd name="adj" fmla="val 5305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74036" y="1682496"/>
            <a:ext cx="14310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574036" y="1938528"/>
            <a:ext cx="14493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원어민 1:1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2537460" y="2487168"/>
            <a:ext cx="1504188" cy="976613"/>
          </a:xfrm>
          <a:prstGeom prst="roundRect">
            <a:avLst>
              <a:gd name="adj" fmla="val 749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7" name="Image 2" descr="/tmp/claude-0/-home-user-mangoiweb/ca835eb4-1670-5fc1-a29a-2fc77598fea3/scratchpad/deck_img/curriculum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036" y="2523744"/>
            <a:ext cx="1431036" cy="9034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55948" y="2651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4288536" y="1554480"/>
            <a:ext cx="1723644" cy="2157984"/>
          </a:xfrm>
          <a:prstGeom prst="roundRect">
            <a:avLst>
              <a:gd name="adj" fmla="val 5305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434840" y="1682496"/>
            <a:ext cx="14310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직후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434840" y="1938528"/>
            <a:ext cx="14493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평가서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398264" y="2487168"/>
            <a:ext cx="1504188" cy="992831"/>
          </a:xfrm>
          <a:prstGeom prst="roundRect">
            <a:avLst>
              <a:gd name="adj" fmla="val 7368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3" name="Image 3" descr="/tmp/claude-0/-home-user-mangoiweb/ca835eb4-1670-5fc1-a29a-2fc77598fea3/scratchpad/deck_img/paren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523744"/>
            <a:ext cx="1431036" cy="91967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016752" y="2651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6149340" y="1554480"/>
            <a:ext cx="1723644" cy="2157984"/>
          </a:xfrm>
          <a:prstGeom prst="roundRect">
            <a:avLst>
              <a:gd name="adj" fmla="val 5305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295644" y="1682496"/>
            <a:ext cx="14310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295644" y="1938528"/>
            <a:ext cx="14493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퀴즈 · 단어장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259068" y="2487168"/>
            <a:ext cx="1504188" cy="968027"/>
          </a:xfrm>
          <a:prstGeom prst="roundRect">
            <a:avLst>
              <a:gd name="adj" fmla="val 7557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9" name="Image 4" descr="/tmp/claude-0/-home-user-mangoiweb/ca835eb4-1670-5fc1-a29a-2fc77598fea3/scratchpad/deck_img/microquiz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644" y="2523744"/>
            <a:ext cx="1431036" cy="89487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77556" y="2651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8010144" y="1554480"/>
            <a:ext cx="1723644" cy="2157984"/>
          </a:xfrm>
          <a:prstGeom prst="roundRect">
            <a:avLst>
              <a:gd name="adj" fmla="val 5305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156448" y="1682496"/>
            <a:ext cx="14310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전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8156448" y="1938528"/>
            <a:ext cx="14493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친구 대화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119872" y="2487168"/>
            <a:ext cx="1504188" cy="976613"/>
          </a:xfrm>
          <a:prstGeom prst="roundRect">
            <a:avLst>
              <a:gd name="adj" fmla="val 749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5" name="Image 5" descr="/tmp/claude-0/-home-user-mangoiweb/ca835eb4-1670-5fc1-a29a-2fc77598fea3/scratchpad/deck_img/aifrien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2523744"/>
            <a:ext cx="1431036" cy="903461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738360" y="2651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37" name="Shape 29"/>
          <p:cNvSpPr/>
          <p:nvPr/>
        </p:nvSpPr>
        <p:spPr>
          <a:xfrm>
            <a:off x="9870948" y="1554480"/>
            <a:ext cx="1723644" cy="2157984"/>
          </a:xfrm>
          <a:prstGeom prst="roundRect">
            <a:avLst>
              <a:gd name="adj" fmla="val 5305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10017252" y="1682496"/>
            <a:ext cx="14310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10017252" y="1938528"/>
            <a:ext cx="14493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게임 · 아바타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9980676" y="2487168"/>
            <a:ext cx="1504188" cy="968027"/>
          </a:xfrm>
          <a:prstGeom prst="roundRect">
            <a:avLst>
              <a:gd name="adj" fmla="val 7557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1" name="Image 6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7252" y="2523744"/>
            <a:ext cx="1431036" cy="894875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530352" y="3877056"/>
            <a:ext cx="1796796" cy="1151004"/>
          </a:xfrm>
          <a:prstGeom prst="roundRect">
            <a:avLst>
              <a:gd name="adj" fmla="val 6355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3" name="Image 7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3913632"/>
            <a:ext cx="1723644" cy="107785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66928" y="5029200"/>
            <a:ext cx="1723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음성코치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2391156" y="3877056"/>
            <a:ext cx="1796796" cy="1151004"/>
          </a:xfrm>
          <a:prstGeom prst="roundRect">
            <a:avLst>
              <a:gd name="adj" fmla="val 6355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6" name="Image 8" descr="/tmp/claude-0/-home-user-mangoiweb/ca835eb4-1670-5fc1-a29a-2fc77598fea3/scratchpad/deck_img/aiwrite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7732" y="3913632"/>
            <a:ext cx="1723644" cy="107785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2427732" y="5029200"/>
            <a:ext cx="1723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영작 첨삭</a:t>
            </a:r>
            <a:endParaRPr lang="en-US" sz="950" dirty="0"/>
          </a:p>
        </p:txBody>
      </p:sp>
      <p:sp>
        <p:nvSpPr>
          <p:cNvPr id="48" name="Shape 37"/>
          <p:cNvSpPr/>
          <p:nvPr/>
        </p:nvSpPr>
        <p:spPr>
          <a:xfrm>
            <a:off x="4251960" y="3877056"/>
            <a:ext cx="1796796" cy="1151004"/>
          </a:xfrm>
          <a:prstGeom prst="roundRect">
            <a:avLst>
              <a:gd name="adj" fmla="val 6355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9" name="Image 9" descr="/tmp/claude-0/-home-user-mangoiweb/ca835eb4-1670-5fc1-a29a-2fc77598fea3/scratchpad/deck_img/vocab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8536" y="3913632"/>
            <a:ext cx="1723644" cy="1077852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4288536" y="5029200"/>
            <a:ext cx="1723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단어장</a:t>
            </a:r>
            <a:endParaRPr lang="en-US" sz="950" dirty="0"/>
          </a:p>
        </p:txBody>
      </p:sp>
      <p:sp>
        <p:nvSpPr>
          <p:cNvPr id="51" name="Shape 39"/>
          <p:cNvSpPr/>
          <p:nvPr/>
        </p:nvSpPr>
        <p:spPr>
          <a:xfrm>
            <a:off x="6112764" y="3877056"/>
            <a:ext cx="1796796" cy="1151004"/>
          </a:xfrm>
          <a:prstGeom prst="roundRect">
            <a:avLst>
              <a:gd name="adj" fmla="val 6355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2" name="Image 10" descr="/tmp/claude-0/-home-user-mangoiweb/ca835eb4-1670-5fc1-a29a-2fc77598fea3/scratchpad/deck_img/judgment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9340" y="3913632"/>
            <a:ext cx="1723644" cy="1077852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6149340" y="5029200"/>
            <a:ext cx="1723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판단력 훈련</a:t>
            </a:r>
            <a:endParaRPr lang="en-US" sz="950" dirty="0"/>
          </a:p>
        </p:txBody>
      </p:sp>
      <p:sp>
        <p:nvSpPr>
          <p:cNvPr id="54" name="Shape 41"/>
          <p:cNvSpPr/>
          <p:nvPr/>
        </p:nvSpPr>
        <p:spPr>
          <a:xfrm>
            <a:off x="7973568" y="3877056"/>
            <a:ext cx="1796796" cy="1151004"/>
          </a:xfrm>
          <a:prstGeom prst="roundRect">
            <a:avLst>
              <a:gd name="adj" fmla="val 6355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5" name="Image 11" descr="/tmp/claude-0/-home-user-mangoiweb/ca835eb4-1670-5fc1-a29a-2fc77598fea3/scratchpad/deck_img/streak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0144" y="3913632"/>
            <a:ext cx="1723644" cy="1077852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8010144" y="5029200"/>
            <a:ext cx="1723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학습</a:t>
            </a:r>
            <a:endParaRPr lang="en-US" sz="950" dirty="0"/>
          </a:p>
        </p:txBody>
      </p:sp>
      <p:sp>
        <p:nvSpPr>
          <p:cNvPr id="57" name="Shape 43"/>
          <p:cNvSpPr/>
          <p:nvPr/>
        </p:nvSpPr>
        <p:spPr>
          <a:xfrm>
            <a:off x="9834372" y="3877056"/>
            <a:ext cx="1796796" cy="1151004"/>
          </a:xfrm>
          <a:prstGeom prst="roundRect">
            <a:avLst>
              <a:gd name="adj" fmla="val 6355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8" name="Image 12" descr="/tmp/claude-0/-home-user-mangoiweb/ca835eb4-1670-5fc1-a29a-2fc77598fea3/scratchpad/deck_img/avatar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0948" y="3913632"/>
            <a:ext cx="1723644" cy="1077852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9870948" y="5029200"/>
            <a:ext cx="1723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</a:t>
            </a:r>
            <a:endParaRPr lang="en-US" sz="950" dirty="0"/>
          </a:p>
        </p:txBody>
      </p:sp>
      <p:sp>
        <p:nvSpPr>
          <p:cNvPr id="60" name="Shape 45"/>
          <p:cNvSpPr/>
          <p:nvPr/>
        </p:nvSpPr>
        <p:spPr>
          <a:xfrm>
            <a:off x="566928" y="5431536"/>
            <a:ext cx="11055096" cy="822960"/>
          </a:xfrm>
          <a:prstGeom prst="roundRect">
            <a:avLst>
              <a:gd name="adj" fmla="val 11111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61" name="Text 46"/>
          <p:cNvSpPr/>
          <p:nvPr/>
        </p:nvSpPr>
        <p:spPr>
          <a:xfrm>
            <a:off x="566928" y="5431536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수업은 주 2회, A.I 학습 콘텐츠는 매일</a:t>
            </a:r>
            <a:endParaRPr lang="en-US" sz="2000" dirty="0"/>
          </a:p>
        </p:txBody>
      </p:sp>
      <p:sp>
        <p:nvSpPr>
          <p:cNvPr id="62" name="Text 47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theory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02 · 왜 이렇게 만들었나  (1/2)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9923983" y="384048"/>
            <a:ext cx="1700784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23983" y="3840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· Vygotsky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지도의 효과를, A.I로 매일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517904"/>
            <a:ext cx="50292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481328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Bloom (1984) · VanLehn (2011)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1664208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2시그마 문제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2048256"/>
            <a:ext cx="5632704" cy="2560320"/>
          </a:xfrm>
          <a:prstGeom prst="roundRect">
            <a:avLst>
              <a:gd name="adj" fmla="val 3571"/>
            </a:avLst>
          </a:prstGeom>
          <a:solidFill>
            <a:srgbClr val="0E142A"/>
          </a:solidFill>
          <a:ln w="12700">
            <a:solidFill>
              <a:srgbClr val="2A3557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621792" y="2103120"/>
          <a:ext cx="5522976" cy="24505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566928" y="4663440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지능형 튜터링(0.76)이 인간 튜터(0.79)에 근접 — 확장 가능한 개인화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455664" y="1517904"/>
            <a:ext cx="50292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20256" y="1481328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Vygotsky (1978)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620256" y="1664208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근접발달영역 (ZPD)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19088" y="2011680"/>
            <a:ext cx="3273552" cy="2514135"/>
          </a:xfrm>
          <a:prstGeom prst="roundRect">
            <a:avLst>
              <a:gd name="adj" fmla="val 291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7" name="Image 1" descr="/tmp/claude-0/-home-user-mangoiweb/ca835eb4-1670-5fc1-a29a-2fc77598fea3/scratchpad/deck_img/d_zp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048256"/>
            <a:ext cx="3200400" cy="2440983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893808" y="210312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40112" y="21579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유능한 타인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0040112" y="23774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원어민 교사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9893808" y="274320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0040112" y="27980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스캐폴딩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0040112" y="30175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음성코치 · 힌트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9893808" y="338328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040112" y="34381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점진적 철수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0040112" y="36576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오르면 힌트↓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9893808" y="402336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040112" y="40782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움직인다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10040112" y="42976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발화량·정확도 상시 측정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6455664" y="4663440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혼자선 못 하지만 도우면 되는 구간 — 교사와 A.I가 함께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5029200"/>
            <a:ext cx="11055096" cy="786384"/>
          </a:xfrm>
          <a:prstGeom prst="roundRect">
            <a:avLst>
              <a:gd name="adj" fmla="val 1162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66928" y="5029200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수업은 사람이 1:1로, 나머지 시간은 A.I 콘텐츠가</a:t>
            </a:r>
            <a:endParaRPr lang="en-US" sz="1700" dirty="0"/>
          </a:p>
        </p:txBody>
      </p:sp>
      <p:sp>
        <p:nvSpPr>
          <p:cNvPr id="33" name="Text 28"/>
          <p:cNvSpPr/>
          <p:nvPr/>
        </p:nvSpPr>
        <p:spPr>
          <a:xfrm>
            <a:off x="566928" y="59618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75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Bloom, B. S. (1984). Educational Researcher, 13(6), 4–16.  ·  VanLehn, K. (2011). Educational Psychologist, 46(4), 197–221.  ·  Vygotsky, L. S. (1978). Mind in Society.  ·  Wood, Bruner &amp; Ross (1976). JCPP, 17(2), 89–100.  ·  Clark, Tanner-Smith &amp; Killingsworth (2016). RER, 86(1), 79–122.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theory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02 · 왜 이렇게 만들었나  (2/2)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8991295" y="384048"/>
            <a:ext cx="2633472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91295" y="3840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Krashen · Swain · Ebbinghaus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말하게 하고, 남게 합니다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517904"/>
            <a:ext cx="50292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481328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Chomsky · Krashen · Swain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1664208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· 말하고 · 고쳐 받는다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30352" y="2011680"/>
            <a:ext cx="5705856" cy="1332227"/>
          </a:xfrm>
          <a:prstGeom prst="roundRect">
            <a:avLst>
              <a:gd name="adj" fmla="val 5491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1" name="Image 1" descr="/tmp/claude-0/-home-user-mangoiweb/ca835eb4-1670-5fc1-a29a-2fc77598fea3/scratchpad/deck_img/d_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48256"/>
            <a:ext cx="5632704" cy="125907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6928" y="3529584"/>
            <a:ext cx="5632704" cy="548640"/>
          </a:xfrm>
          <a:prstGeom prst="roundRect">
            <a:avLst>
              <a:gd name="adj" fmla="val 16667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6384" y="35295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암기로는 안 된다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127248" y="35295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촘스키 (1959·1965)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590288" y="35295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66928" y="4151376"/>
            <a:ext cx="5632704" cy="548640"/>
          </a:xfrm>
          <a:prstGeom prst="roundRect">
            <a:avLst>
              <a:gd name="adj" fmla="val 16667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6384" y="415137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위의 입력 (i+1)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127248" y="41513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크라션 (1982)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590288" y="41513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웜업 · 레벨 진단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66928" y="4773168"/>
            <a:ext cx="5632704" cy="548640"/>
          </a:xfrm>
          <a:prstGeom prst="roundRect">
            <a:avLst>
              <a:gd name="adj" fmla="val 16667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86384" y="4773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 봐야 굳는다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127248" y="47731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스웨인 (1985)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590288" y="47731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음성코치 · 친구 대화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455664" y="1517904"/>
            <a:ext cx="50292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20256" y="1481328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Ebbinghaus · Cepeda · Roediger · Sweller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620256" y="1664208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간격을 두고, 꺼내 볼 것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6419088" y="2011680"/>
            <a:ext cx="5248656" cy="2956647"/>
          </a:xfrm>
          <a:prstGeom prst="roundRect">
            <a:avLst>
              <a:gd name="adj" fmla="val 247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8" name="Image 2" descr="/tmp/claude-0/-home-user-mangoiweb/ca835eb4-1670-5fc1-a29a-2fc77598fea3/scratchpad/deck_img/d_fo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048256"/>
            <a:ext cx="5175504" cy="2883495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455664" y="4956048"/>
            <a:ext cx="5175504" cy="457200"/>
          </a:xfrm>
          <a:prstGeom prst="roundRect">
            <a:avLst>
              <a:gd name="adj" fmla="val 20000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656832" y="4956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 연습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7772400" y="4956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 여러 번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9509760" y="4956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1분 단어 퀴즈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6455664" y="5486400"/>
            <a:ext cx="5175504" cy="457200"/>
          </a:xfrm>
          <a:prstGeom prst="roundRect">
            <a:avLst>
              <a:gd name="adj" fmla="val 20000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656832" y="5486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인출 연습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7772400" y="5486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맞혀 봐야 남는다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9509760" y="5486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복습 퀴즈 10문항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6455664" y="6016752"/>
            <a:ext cx="5175504" cy="457200"/>
          </a:xfrm>
          <a:prstGeom prst="roundRect">
            <a:avLst>
              <a:gd name="adj" fmla="val 20000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656832" y="6016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인지부하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7772400" y="6016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부하를 줄인다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9509760" y="6016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한 화면에 한 과제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566928" y="5468112"/>
            <a:ext cx="5632704" cy="512064"/>
          </a:xfrm>
          <a:prstGeom prst="roundRect">
            <a:avLst>
              <a:gd name="adj" fmla="val 17857"/>
            </a:avLst>
          </a:prstGeom>
          <a:solidFill>
            <a:srgbClr val="1A123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786384" y="5468112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촘스키 본인은 교수법 적용을 경계했습니다 — 교실 근거는 크라션·스웨인입니다.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566928" y="61264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75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Chomsky (1959; 1965) · Krashen (1982) · Swain (1985) · Ebbinghaus (1885/1913) · Cepeda et al. (2006) · Roediger &amp; Karpicke (2006) · Sweller (1988) · Ryan &amp; Deci (2000) · Csikszentmihalyi (1990) · Dweck (2006) · Bandura (1977)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usag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03 · 사용방법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573207" y="3840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73207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Steps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가입부터 복습까지, 다섯 걸음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554480"/>
            <a:ext cx="2079346" cy="2487168"/>
          </a:xfrm>
          <a:prstGeom prst="roundRect">
            <a:avLst>
              <a:gd name="adj" fmla="val 439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1737360"/>
            <a:ext cx="420624" cy="42062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" y="2249424"/>
            <a:ext cx="16770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상담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31520" y="2798064"/>
            <a:ext cx="1750162" cy="1121842"/>
          </a:xfrm>
          <a:prstGeom prst="roundRect">
            <a:avLst>
              <a:gd name="adj" fmla="val 6521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2" name="Image 1" descr="/tmp/claude-0/-home-user-mangoiweb/ca835eb4-1670-5fc1-a29a-2fc77598fea3/scratchpad/deck_img/faq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834640"/>
            <a:ext cx="1677010" cy="104869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10866" y="1554480"/>
            <a:ext cx="2079346" cy="2487168"/>
          </a:xfrm>
          <a:prstGeom prst="roundRect">
            <a:avLst>
              <a:gd name="adj" fmla="val 439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012034" y="1737360"/>
            <a:ext cx="420624" cy="42062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12034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012034" y="2249424"/>
            <a:ext cx="16770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테스트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2975458" y="2798064"/>
            <a:ext cx="1750162" cy="1121842"/>
          </a:xfrm>
          <a:prstGeom prst="roundRect">
            <a:avLst>
              <a:gd name="adj" fmla="val 6521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8" name="Image 2" descr="/tmp/claude-0/-home-user-mangoiweb/ca835eb4-1670-5fc1-a29a-2fc77598fea3/scratchpad/deck_img/leveltestai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034" y="2834640"/>
            <a:ext cx="1677010" cy="104869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054803" y="1554480"/>
            <a:ext cx="2079346" cy="2487168"/>
          </a:xfrm>
          <a:prstGeom prst="roundRect">
            <a:avLst>
              <a:gd name="adj" fmla="val 439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55971" y="1737360"/>
            <a:ext cx="420624" cy="42062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255971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255971" y="2249424"/>
            <a:ext cx="16770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신청 · 결제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5219395" y="2798064"/>
            <a:ext cx="1750162" cy="1121842"/>
          </a:xfrm>
          <a:prstGeom prst="roundRect">
            <a:avLst>
              <a:gd name="adj" fmla="val 6521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4" name="Image 3" descr="/tmp/claude-0/-home-user-mangoiweb/ca835eb4-1670-5fc1-a29a-2fc77598fea3/scratchpad/deck_img/bookin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971" y="2834640"/>
            <a:ext cx="1677010" cy="104869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298741" y="1554480"/>
            <a:ext cx="2079346" cy="2487168"/>
          </a:xfrm>
          <a:prstGeom prst="roundRect">
            <a:avLst>
              <a:gd name="adj" fmla="val 439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99909" y="1737360"/>
            <a:ext cx="420624" cy="42062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499909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499909" y="2249424"/>
            <a:ext cx="16770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당일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7463333" y="2798064"/>
            <a:ext cx="1750162" cy="1121842"/>
          </a:xfrm>
          <a:prstGeom prst="roundRect">
            <a:avLst>
              <a:gd name="adj" fmla="val 6521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0" name="Image 4" descr="/tmp/claude-0/-home-user-mangoiweb/ca835eb4-1670-5fc1-a29a-2fc77598fea3/scratchpad/deck_img/precheck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9909" y="2834640"/>
            <a:ext cx="1677010" cy="104869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542678" y="1554480"/>
            <a:ext cx="2079346" cy="2487168"/>
          </a:xfrm>
          <a:prstGeom prst="roundRect">
            <a:avLst>
              <a:gd name="adj" fmla="val 439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9743846" y="1737360"/>
            <a:ext cx="420624" cy="42062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9743846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743846" y="2249424"/>
            <a:ext cx="16770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복습</a:t>
            </a:r>
            <a:endParaRPr lang="en-US" sz="1450" dirty="0"/>
          </a:p>
        </p:txBody>
      </p:sp>
      <p:sp>
        <p:nvSpPr>
          <p:cNvPr id="35" name="Shape 28"/>
          <p:cNvSpPr/>
          <p:nvPr/>
        </p:nvSpPr>
        <p:spPr>
          <a:xfrm>
            <a:off x="9707270" y="2798064"/>
            <a:ext cx="1750162" cy="1121842"/>
          </a:xfrm>
          <a:prstGeom prst="roundRect">
            <a:avLst>
              <a:gd name="adj" fmla="val 6521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6" name="Image 5" descr="/tmp/claude-0/-home-user-mangoiweb/ca835eb4-1670-5fc1-a29a-2fc77598fea3/scratchpad/deck_img/microquiz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3846" y="2834640"/>
            <a:ext cx="1677010" cy="104869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30352" y="4315968"/>
            <a:ext cx="2152498" cy="1373436"/>
          </a:xfrm>
          <a:prstGeom prst="roundRect">
            <a:avLst>
              <a:gd name="adj" fmla="val 5326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8" name="Image 6" descr="/tmp/claude-0/-home-user-mangoiweb/ca835eb4-1670-5fc1-a29a-2fc77598fea3/scratchpad/deck_img/warmup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352544"/>
            <a:ext cx="2079346" cy="13002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66928" y="5669280"/>
            <a:ext cx="2079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웜업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2774290" y="4315968"/>
            <a:ext cx="2152498" cy="1373436"/>
          </a:xfrm>
          <a:prstGeom prst="roundRect">
            <a:avLst>
              <a:gd name="adj" fmla="val 5326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1" name="Image 7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0866" y="4352544"/>
            <a:ext cx="2079346" cy="13002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2810866" y="5669280"/>
            <a:ext cx="2079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음성코치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5018227" y="4315968"/>
            <a:ext cx="2152498" cy="1385912"/>
          </a:xfrm>
          <a:prstGeom prst="roundRect">
            <a:avLst>
              <a:gd name="adj" fmla="val 5278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4" name="Image 8" descr="/tmp/claude-0/-home-user-mangoiweb/ca835eb4-1670-5fc1-a29a-2fc77598fea3/scratchpad/deck_img/aifriend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4803" y="4352544"/>
            <a:ext cx="2079346" cy="131276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054803" y="5669280"/>
            <a:ext cx="2079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친구 대화</a:t>
            </a:r>
            <a:endParaRPr lang="en-US" sz="950" dirty="0"/>
          </a:p>
        </p:txBody>
      </p:sp>
      <p:sp>
        <p:nvSpPr>
          <p:cNvPr id="46" name="Shape 35"/>
          <p:cNvSpPr/>
          <p:nvPr/>
        </p:nvSpPr>
        <p:spPr>
          <a:xfrm>
            <a:off x="7262165" y="4315968"/>
            <a:ext cx="2152498" cy="1373436"/>
          </a:xfrm>
          <a:prstGeom prst="roundRect">
            <a:avLst>
              <a:gd name="adj" fmla="val 5326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7" name="Image 9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8741" y="4352544"/>
            <a:ext cx="2079346" cy="1300284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298741" y="5669280"/>
            <a:ext cx="2079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게임</a:t>
            </a:r>
            <a:endParaRPr lang="en-US" sz="950" dirty="0"/>
          </a:p>
        </p:txBody>
      </p:sp>
      <p:sp>
        <p:nvSpPr>
          <p:cNvPr id="49" name="Shape 37"/>
          <p:cNvSpPr/>
          <p:nvPr/>
        </p:nvSpPr>
        <p:spPr>
          <a:xfrm>
            <a:off x="9506102" y="4315968"/>
            <a:ext cx="2152498" cy="1409478"/>
          </a:xfrm>
          <a:prstGeom prst="roundRect">
            <a:avLst>
              <a:gd name="adj" fmla="val 519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0" name="Image 10" descr="/tmp/claude-0/-home-user-mangoiweb/ca835eb4-1670-5fc1-a29a-2fc77598fea3/scratchpad/deck_img/parent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2678" y="4352544"/>
            <a:ext cx="2079346" cy="1336326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9542678" y="5669280"/>
            <a:ext cx="2079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리포트</a:t>
            </a:r>
            <a:endParaRPr lang="en-US" sz="950" dirty="0"/>
          </a:p>
        </p:txBody>
      </p:sp>
      <p:sp>
        <p:nvSpPr>
          <p:cNvPr id="52" name="Text 39"/>
          <p:cNvSpPr/>
          <p:nvPr/>
        </p:nvSpPr>
        <p:spPr>
          <a:xfrm>
            <a:off x="566928" y="603504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전후로 A.I 학습 콘텐츠가 이어집니다.</a:t>
            </a:r>
            <a:endParaRPr lang="en-US" sz="1250" dirty="0"/>
          </a:p>
        </p:txBody>
      </p:sp>
      <p:sp>
        <p:nvSpPr>
          <p:cNvPr id="53" name="Text 40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usag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03 · 사용방법 — 신청 · 변경 · 관리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001707" y="384048"/>
            <a:ext cx="1623060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1707" y="384048"/>
            <a:ext cx="1623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&amp; Admin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시간은 직접 고르고, 일정은 언제든 바꿉니다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30352" y="1517904"/>
            <a:ext cx="3547872" cy="2249424"/>
          </a:xfrm>
          <a:prstGeom prst="roundRect">
            <a:avLst>
              <a:gd name="adj" fmla="val 3252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booking.jpg">    </p:cNvPr>
          <p:cNvPicPr>
            <a:picLocks noChangeAspect="1"/>
          </p:cNvPicPr>
          <p:nvPr/>
        </p:nvPicPr>
        <p:blipFill>
          <a:blip r:embed="rId2"/>
          <a:srcRect l="79" r="-79" t="0" b="0"/>
          <a:stretch/>
        </p:blipFill>
        <p:spPr>
          <a:xfrm>
            <a:off x="566928" y="1554480"/>
            <a:ext cx="3474720" cy="21762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신청 — 시간 › 교사 › 결제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42816" y="1517904"/>
            <a:ext cx="3547872" cy="2249424"/>
          </a:xfrm>
          <a:prstGeom prst="roundRect">
            <a:avLst>
              <a:gd name="adj" fmla="val 3252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1" name="Image 2" descr="/tmp/claude-0/-home-user-mangoiweb/ca835eb4-1670-5fc1-a29a-2fc77598fea3/scratchpad/deck_img/postpone.jpg">    </p:cNvPr>
          <p:cNvPicPr>
            <a:picLocks noChangeAspect="1"/>
          </p:cNvPicPr>
          <p:nvPr/>
        </p:nvPicPr>
        <p:blipFill>
          <a:blip r:embed="rId3"/>
          <a:srcRect l="79" r="-79" t="0" b="0"/>
          <a:stretch/>
        </p:blipFill>
        <p:spPr>
          <a:xfrm>
            <a:off x="4279392" y="1554480"/>
            <a:ext cx="3474720" cy="21762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79392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연기 · 변경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7955280" y="1517904"/>
            <a:ext cx="3547872" cy="2249424"/>
          </a:xfrm>
          <a:prstGeom prst="roundRect">
            <a:avLst>
              <a:gd name="adj" fmla="val 3252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4" name="Image 3" descr="/tmp/claude-0/-home-user-mangoiweb/ca835eb4-1670-5fc1-a29a-2fc77598fea3/scratchpad/deck_img/admin.jpg">    </p:cNvPr>
          <p:cNvPicPr>
            <a:picLocks noChangeAspect="1"/>
          </p:cNvPicPr>
          <p:nvPr/>
        </p:nvPicPr>
        <p:blipFill>
          <a:blip r:embed="rId4"/>
          <a:srcRect l="0" r="0" t="986" b="-986"/>
          <a:stretch/>
        </p:blipFill>
        <p:spPr>
          <a:xfrm>
            <a:off x="7991856" y="1554480"/>
            <a:ext cx="3474720" cy="21762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91856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콘솔 · AI 운영비서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66928" y="4261104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86384" y="4370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 · 시간 · 교사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786384" y="4645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1회~5회 · 20분 블록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279392" y="4261104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498848" y="4370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빠져도 사라지지 않음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498848" y="4645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 · 변경을 직접 선택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991856" y="4261104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211312" y="4370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학원 운영 전부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211312" y="4645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· 강사 · 정산 · 시스템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road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04 · 향후 발전계획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079431" y="384048"/>
            <a:ext cx="1545336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79431" y="38404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Roadmap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아바타가 학습의 주인공이 됩니다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30352" y="1517904"/>
            <a:ext cx="5925312" cy="3732703"/>
          </a:xfrm>
          <a:prstGeom prst="roundRect">
            <a:avLst>
              <a:gd name="adj" fmla="val 1960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mangoiweb/ca835eb4-1670-5fc1-a29a-2fc77598fea3/scratchpad/deck_img/avata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5852160" cy="36595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53035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— 미션마다 EXP가 쌓이고 5단계까지 진화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675120" y="1554480"/>
            <a:ext cx="4956048" cy="932688"/>
          </a:xfrm>
          <a:prstGeom prst="roundRect">
            <a:avLst>
              <a:gd name="adj" fmla="val 9804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12864" y="1554480"/>
            <a:ext cx="914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63840" y="155448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진화 · EXP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675120" y="2578608"/>
            <a:ext cx="4956048" cy="932688"/>
          </a:xfrm>
          <a:prstGeom prst="roundRect">
            <a:avLst>
              <a:gd name="adj" fmla="val 9804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12864" y="2578608"/>
            <a:ext cx="914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863840" y="2578608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표정과 감정 반응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675120" y="3602736"/>
            <a:ext cx="4956048" cy="932688"/>
          </a:xfrm>
          <a:prstGeom prst="roundRect">
            <a:avLst>
              <a:gd name="adj" fmla="val 9804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912864" y="3602736"/>
            <a:ext cx="914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863840" y="3602736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목소리와 대화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675120" y="4626864"/>
            <a:ext cx="4956048" cy="932688"/>
          </a:xfrm>
          <a:prstGeom prst="roundRect">
            <a:avLst>
              <a:gd name="adj" fmla="val 9804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12864" y="4626864"/>
            <a:ext cx="914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863840" y="4626864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게임·수업·리포트 통합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road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04 · 콘텐츠가 스스로 판을 짭니다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001707" y="384048"/>
            <a:ext cx="1623060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1707" y="384048"/>
            <a:ext cx="1623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AI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문제를 A.I가 고릅니다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55448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9536" y="2212848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2139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순서로 출제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9536" y="2596896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523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문제를 다시 출제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9536" y="2980944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2907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복습 주기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36208" y="155448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0E2333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(강화학습)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28816" y="2212848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2139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가장 효과 큰 한 문제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28816" y="2596896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2523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 직전 난이도 감지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528816" y="298094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2907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발음 약점 모델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30352" y="3712464"/>
            <a:ext cx="2679192" cy="1536192"/>
          </a:xfrm>
          <a:prstGeom prst="roundRect">
            <a:avLst>
              <a:gd name="adj" fmla="val 4762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4" name="Image 1" descr="/tmp/claude-0/-home-user-mangoiweb/ca835eb4-1670-5fc1-a29a-2fc77598fea3/scratchpad/deck_img/spacemon.jpg">    </p:cNvPr>
          <p:cNvPicPr>
            <a:picLocks noChangeAspect="1"/>
          </p:cNvPicPr>
          <p:nvPr/>
        </p:nvPicPr>
        <p:blipFill>
          <a:blip r:embed="rId2"/>
          <a:srcRect l="0" r="0" t="5694" b="-5694"/>
          <a:stretch/>
        </p:blipFill>
        <p:spPr>
          <a:xfrm>
            <a:off x="566928" y="3749040"/>
            <a:ext cx="2606040" cy="1463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66928" y="53035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세계관 통합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3712464"/>
            <a:ext cx="2679192" cy="1536192"/>
          </a:xfrm>
          <a:prstGeom prst="roundRect">
            <a:avLst>
              <a:gd name="adj" fmla="val 4762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7" name="Image 2" descr="/tmp/claude-0/-home-user-mangoiweb/ca835eb4-1670-5fc1-a29a-2fc77598fea3/scratchpad/deck_img/battle3d.jpg">    </p:cNvPr>
          <p:cNvPicPr>
            <a:picLocks noChangeAspect="1"/>
          </p:cNvPicPr>
          <p:nvPr/>
        </p:nvPicPr>
        <p:blipFill>
          <a:blip r:embed="rId3"/>
          <a:srcRect l="0" r="0" t="5694" b="-5694"/>
          <a:stretch/>
        </p:blipFill>
        <p:spPr>
          <a:xfrm>
            <a:off x="3374136" y="3749040"/>
            <a:ext cx="2606040" cy="1463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374136" y="53035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말해야 이긴다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144768" y="3712464"/>
            <a:ext cx="2679192" cy="1536192"/>
          </a:xfrm>
          <a:prstGeom prst="roundRect">
            <a:avLst>
              <a:gd name="adj" fmla="val 4762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0" name="Image 3" descr="/tmp/claude-0/-home-user-mangoiweb/ca835eb4-1670-5fc1-a29a-2fc77598fea3/scratchpad/deck_img/suspect.jpg">    </p:cNvPr>
          <p:cNvPicPr>
            <a:picLocks noChangeAspect="1"/>
          </p:cNvPicPr>
          <p:nvPr/>
        </p:nvPicPr>
        <p:blipFill>
          <a:blip r:embed="rId4"/>
          <a:srcRect l="0" r="0" t="5694" b="-5694"/>
          <a:stretch/>
        </p:blipFill>
        <p:spPr>
          <a:xfrm>
            <a:off x="6181344" y="3749040"/>
            <a:ext cx="2606040" cy="1463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181344" y="53035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함께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951976" y="3712464"/>
            <a:ext cx="2679192" cy="1536192"/>
          </a:xfrm>
          <a:prstGeom prst="roundRect">
            <a:avLst>
              <a:gd name="adj" fmla="val 4762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3" name="Image 4" descr="/tmp/claude-0/-home-user-mangoiweb/ca835eb4-1670-5fc1-a29a-2fc77598fea3/scratchpad/deck_img/escape.jpg">    </p:cNvPr>
          <p:cNvPicPr>
            <a:picLocks noChangeAspect="1"/>
          </p:cNvPicPr>
          <p:nvPr/>
        </p:nvPicPr>
        <p:blipFill>
          <a:blip r:embed="rId5"/>
          <a:srcRect l="0" r="0" t="5694" b="-5694"/>
          <a:stretch/>
        </p:blipFill>
        <p:spPr>
          <a:xfrm>
            <a:off x="8988552" y="3749040"/>
            <a:ext cx="2606040" cy="1463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988552" y="53035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심리 기반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66928" y="5614416"/>
            <a:ext cx="11055096" cy="658368"/>
          </a:xfrm>
          <a:prstGeom prst="roundRect">
            <a:avLst>
              <a:gd name="adj" fmla="val 13889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66928" y="561441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A.I가 교사를 대신하는 것이 아니라, 교사가 못 보는 시간을 대신 봅니다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road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04 · 로드맵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545775" y="384048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45775" y="38404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78638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무엇을 하는가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5544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231B08"/>
          </a:solidFill>
          <a:ln w="12700">
            <a:solidFill>
              <a:srgbClr val="6B53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719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중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2496312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414016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학습 콘텐츠 14가지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2990088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128" y="290779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게임 21종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2960" y="3483864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3401568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· 연속 학습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22960" y="3977640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3895344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평가서 · 월간 리포트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74136" y="15544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1880" y="1719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61188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6~12개월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30168" y="2496312"/>
            <a:ext cx="118872" cy="1188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31336" y="2414016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감정·표정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630168" y="2990088"/>
            <a:ext cx="118872" cy="1188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31336" y="290779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세계관 통합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630168" y="3483864"/>
            <a:ext cx="118872" cy="1188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31336" y="3401568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 승리 조건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630168" y="3977640"/>
            <a:ext cx="118872" cy="1188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31336" y="3895344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선제 안내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181344" y="15544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61C33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19088" y="1719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중기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419088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1~2년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437376" y="2496312"/>
            <a:ext cx="118872" cy="11887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38544" y="2414016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강화학습 문제 선택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437376" y="2990088"/>
            <a:ext cx="118872" cy="11887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38544" y="290779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발음 약점 모델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437376" y="3483864"/>
            <a:ext cx="118872" cy="11887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38544" y="3401568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브리핑 자동화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437376" y="3977640"/>
            <a:ext cx="118872" cy="11887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38544" y="3895344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협동·대결 모드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988552" y="15544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0E2333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226296" y="1719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226296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2~3년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9244584" y="2496312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445752" y="2414016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= AI 친구 통합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9244584" y="2990088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445752" y="290779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바이브 코딩 영어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9244584" y="3483864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445752" y="3401568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프로젝트형 수업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30352" y="4809744"/>
            <a:ext cx="2679192" cy="1115568"/>
          </a:xfrm>
          <a:prstGeom prst="roundRect">
            <a:avLst>
              <a:gd name="adj" fmla="val 6557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0" name="Image 1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2"/>
          <a:srcRect l="0" r="0" t="28167" b="-28167"/>
          <a:stretch/>
        </p:blipFill>
        <p:spPr>
          <a:xfrm>
            <a:off x="566928" y="4846320"/>
            <a:ext cx="2606040" cy="1042416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566928" y="59801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음성코치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3337560" y="4809744"/>
            <a:ext cx="2679192" cy="1115568"/>
          </a:xfrm>
          <a:prstGeom prst="roundRect">
            <a:avLst>
              <a:gd name="adj" fmla="val 6557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3" name="Image 2" descr="/tmp/claude-0/-home-user-mangoiweb/ca835eb4-1670-5fc1-a29a-2fc77598fea3/scratchpad/deck_img/aifriend.jpg">    </p:cNvPr>
          <p:cNvPicPr>
            <a:picLocks noChangeAspect="1"/>
          </p:cNvPicPr>
          <p:nvPr/>
        </p:nvPicPr>
        <p:blipFill>
          <a:blip r:embed="rId3"/>
          <a:srcRect l="0" r="0" t="28917" b="-28917"/>
          <a:stretch/>
        </p:blipFill>
        <p:spPr>
          <a:xfrm>
            <a:off x="3374136" y="4846320"/>
            <a:ext cx="2606040" cy="1042416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3374136" y="59801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친구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6144768" y="4809744"/>
            <a:ext cx="2679192" cy="1115568"/>
          </a:xfrm>
          <a:prstGeom prst="roundRect">
            <a:avLst>
              <a:gd name="adj" fmla="val 6557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6" name="Image 3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4"/>
          <a:srcRect l="0" r="0" t="28167" b="-28167"/>
          <a:stretch/>
        </p:blipFill>
        <p:spPr>
          <a:xfrm>
            <a:off x="6181344" y="4846320"/>
            <a:ext cx="2606040" cy="1042416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6181344" y="59801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게임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8951976" y="4809744"/>
            <a:ext cx="2679192" cy="1115568"/>
          </a:xfrm>
          <a:prstGeom prst="roundRect">
            <a:avLst>
              <a:gd name="adj" fmla="val 6557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9" name="Image 4" descr="/tmp/claude-0/-home-user-mangoiweb/ca835eb4-1670-5fc1-a29a-2fc77598fea3/scratchpad/deck_img/avatar.jpg">    </p:cNvPr>
          <p:cNvPicPr>
            <a:picLocks noChangeAspect="1"/>
          </p:cNvPicPr>
          <p:nvPr/>
        </p:nvPicPr>
        <p:blipFill>
          <a:blip r:embed="rId5"/>
          <a:srcRect l="0" r="0" t="28167" b="-28167"/>
          <a:stretch/>
        </p:blipFill>
        <p:spPr>
          <a:xfrm>
            <a:off x="8988552" y="4846320"/>
            <a:ext cx="2606040" cy="1042416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8988552" y="59801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</a:t>
            </a:r>
            <a:endParaRPr lang="en-US" sz="1000" dirty="0"/>
          </a:p>
        </p:txBody>
      </p:sp>
      <p:sp>
        <p:nvSpPr>
          <p:cNvPr id="61" name="Text 54"/>
          <p:cNvSpPr/>
          <p:nvPr/>
        </p:nvSpPr>
        <p:spPr>
          <a:xfrm>
            <a:off x="566928" y="62727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단기·중기·장기 항목은 계획이며 일정은 변동될 수 있습니다.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11350447" y="64373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goiweb/ca835eb4-1670-5fc1-a29a-2fc77598fea3/scratchpad/deck_img/d_bg_close.jpg">    </p:cNvPr>
          <p:cNvPicPr>
            <a:picLocks noChangeAspect="1"/>
          </p:cNvPicPr>
          <p:nvPr/>
        </p:nvPicPr>
        <p:blipFill>
          <a:blip r:embed="rId1"/>
          <a:srcRect l="1" r="-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9496" y="42976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" name="Image 1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2"/>
          <a:srcRect l="0" r="0" t="1498" b="-1498"/>
          <a:stretch/>
        </p:blipFill>
        <p:spPr>
          <a:xfrm>
            <a:off x="566928" y="457200"/>
            <a:ext cx="2048256" cy="124358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88920" y="42976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6" name="Image 2" descr="/tmp/claude-0/-home-user-mangoiweb/ca835eb4-1670-5fc1-a29a-2fc77598fea3/scratchpad/deck_img/aifriend.jpg">    </p:cNvPr>
          <p:cNvPicPr>
            <a:picLocks noChangeAspect="1"/>
          </p:cNvPicPr>
          <p:nvPr/>
        </p:nvPicPr>
        <p:blipFill>
          <a:blip r:embed="rId3"/>
          <a:srcRect l="0" r="0" t="1992" b="-1992"/>
          <a:stretch/>
        </p:blipFill>
        <p:spPr>
          <a:xfrm>
            <a:off x="2816352" y="457200"/>
            <a:ext cx="2048256" cy="124358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038344" y="42976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3" descr="/tmp/claude-0/-home-user-mangoiweb/ca835eb4-1670-5fc1-a29a-2fc77598fea3/scratchpad/deck_img/vocab.jpg">    </p:cNvPr>
          <p:cNvPicPr>
            <a:picLocks noChangeAspect="1"/>
          </p:cNvPicPr>
          <p:nvPr/>
        </p:nvPicPr>
        <p:blipFill>
          <a:blip r:embed="rId4"/>
          <a:srcRect l="0" r="0" t="1498" b="-1498"/>
          <a:stretch/>
        </p:blipFill>
        <p:spPr>
          <a:xfrm>
            <a:off x="5065776" y="457200"/>
            <a:ext cx="2048256" cy="124358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7287768" y="42976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0" name="Image 4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5"/>
          <a:srcRect l="0" r="0" t="1498" b="-1498"/>
          <a:stretch/>
        </p:blipFill>
        <p:spPr>
          <a:xfrm>
            <a:off x="7315200" y="457200"/>
            <a:ext cx="2048256" cy="1243584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9537192" y="42976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2A3557"/>
          </a:solidFill>
          <a:ln w="12700">
            <a:solidFill>
              <a:srgbClr val="2A3557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2" name="Image 5" descr="/tmp/claude-0/-home-user-mangoiweb/ca835eb4-1670-5fc1-a29a-2fc77598fea3/scratchpad/deck_img/avatar.jpg">    </p:cNvPr>
          <p:cNvPicPr>
            <a:picLocks noChangeAspect="1"/>
          </p:cNvPicPr>
          <p:nvPr/>
        </p:nvPicPr>
        <p:blipFill>
          <a:blip r:embed="rId6"/>
          <a:srcRect l="0" r="0" t="1498" b="-1498"/>
          <a:stretch/>
        </p:blipFill>
        <p:spPr>
          <a:xfrm>
            <a:off x="9564624" y="457200"/>
            <a:ext cx="2048256" cy="1243584"/>
          </a:xfrm>
          <a:prstGeom prst="rect">
            <a:avLst/>
          </a:prstGeom>
        </p:spPr>
      </p:pic>
      <p:pic>
        <p:nvPicPr>
          <p:cNvPr id="13" name="Image 6" descr="/tmp/claude-0/-home-user-mangoiweb/ca835eb4-1670-5fc1-a29a-2fc77598fea3/scratchpad/deck_img/masco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128" y="2011680"/>
            <a:ext cx="1298448" cy="1060704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097280" y="3200400"/>
            <a:ext cx="9994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생각하고 결정하는 영어</a:t>
            </a:r>
            <a:endParaRPr lang="en-US" sz="3200" dirty="0"/>
          </a:p>
        </p:txBody>
      </p:sp>
      <p:sp>
        <p:nvSpPr>
          <p:cNvPr id="15" name="Text 6"/>
          <p:cNvSpPr/>
          <p:nvPr/>
        </p:nvSpPr>
        <p:spPr>
          <a:xfrm>
            <a:off x="1097280" y="3895344"/>
            <a:ext cx="9994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수업은 주 2회, A.I 학습 콘텐츠는 매일</a:t>
            </a:r>
            <a:endParaRPr lang="en-US" sz="1500" dirty="0"/>
          </a:p>
        </p:txBody>
      </p:sp>
      <p:sp>
        <p:nvSpPr>
          <p:cNvPr id="16" name="Shape 7"/>
          <p:cNvSpPr/>
          <p:nvPr/>
        </p:nvSpPr>
        <p:spPr>
          <a:xfrm>
            <a:off x="2212848" y="4517136"/>
            <a:ext cx="2468880" cy="694944"/>
          </a:xfrm>
          <a:prstGeom prst="roundRect">
            <a:avLst>
              <a:gd name="adj" fmla="val 15789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8"/>
          <p:cNvSpPr/>
          <p:nvPr/>
        </p:nvSpPr>
        <p:spPr>
          <a:xfrm>
            <a:off x="2212848" y="451713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체험 신청</a:t>
            </a:r>
            <a:endParaRPr lang="en-US" sz="1400" dirty="0"/>
          </a:p>
        </p:txBody>
      </p:sp>
      <p:sp>
        <p:nvSpPr>
          <p:cNvPr id="18" name="Shape 9"/>
          <p:cNvSpPr/>
          <p:nvPr/>
        </p:nvSpPr>
        <p:spPr>
          <a:xfrm>
            <a:off x="4910328" y="4517136"/>
            <a:ext cx="2468880" cy="694944"/>
          </a:xfrm>
          <a:prstGeom prst="roundRect">
            <a:avLst>
              <a:gd name="adj" fmla="val 15789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4910328" y="451713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테스트</a:t>
            </a:r>
            <a:endParaRPr lang="en-US" sz="1400" dirty="0"/>
          </a:p>
        </p:txBody>
      </p:sp>
      <p:sp>
        <p:nvSpPr>
          <p:cNvPr id="20" name="Shape 11"/>
          <p:cNvSpPr/>
          <p:nvPr/>
        </p:nvSpPr>
        <p:spPr>
          <a:xfrm>
            <a:off x="7607808" y="4517136"/>
            <a:ext cx="2468880" cy="694944"/>
          </a:xfrm>
          <a:prstGeom prst="roundRect">
            <a:avLst>
              <a:gd name="adj" fmla="val 15789"/>
            </a:avLst>
          </a:prstGeom>
          <a:solidFill>
            <a:srgbClr val="1E2540"/>
          </a:solidFill>
          <a:ln w="12700">
            <a:solidFill>
              <a:srgbClr val="2A3557"/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7607808" y="451713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상담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1097280" y="5486400"/>
            <a:ext cx="9994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test.mangoi.co.kr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1097280" y="585216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7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자료의 화면은 실제 서비스 캡처입니다.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망고아이 홈페이지 안내</dc:title>
  <dc:subject>PptxGenJS Presentation</dc:subject>
  <dc:creator>Mango Ai</dc:creator>
  <cp:lastModifiedBy>Mango Ai</cp:lastModifiedBy>
  <cp:revision>1</cp:revision>
  <dcterms:created xsi:type="dcterms:W3CDTF">2026-08-17T05:49:48Z</dcterms:created>
  <dcterms:modified xsi:type="dcterms:W3CDTF">2026-08-17T05:49:48Z</dcterms:modified>
</cp:coreProperties>
</file>