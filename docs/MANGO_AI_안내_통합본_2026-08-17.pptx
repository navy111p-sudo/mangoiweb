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</p:sldIdLst>
  <p:notesMasterIdLst>
    <p:notesMasterId r:id="rId4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notesMaster" Target="notesMasters/notesMaster1.xml"/><Relationship Id="rId45" Type="http://schemas.openxmlformats.org/officeDocument/2006/relationships/presProps" Target="presProps.xml"/><Relationship Id="rId46" Type="http://schemas.openxmlformats.org/officeDocument/2006/relationships/viewProps" Target="viewProps.xml"/><Relationship Id="rId47" Type="http://schemas.openxmlformats.org/officeDocument/2006/relationships/theme" Target="theme/theme1.xml"/><Relationship Id="rId4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효과크기</c:v>
                </c:pt>
              </c:strCache>
            </c:strRef>
          </c:tx>
          <c:spPr>
            <a:solidFill>
              <a:srgbClr val="38BDF8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1" i="0" strike="noStrike" sz="1050" u="none">
                    <a:solidFill>
                      <a:srgbClr val="FFFFFF"/>
                    </a:solidFill>
                    <a:latin typeface="맑은 고딕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1:1 개인교습
Bloom 1984</c:v>
                  </c:pt>
                  <c:pt idx="1">
                    <c:v>인간 튜터
VanLehn 2011</c:v>
                  </c:pt>
                  <c:pt idx="2">
                    <c:v>지능형 튜터링
VanLehn 2011</c:v>
                  </c:pt>
                  <c:pt idx="3">
                    <c:v>디지털 게임 학습
Clark et al. 2016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</c:v>
                </c:pt>
                <c:pt idx="1">
                  <c:v>0.79</c:v>
                </c:pt>
                <c:pt idx="2">
                  <c:v>0.76</c:v>
                </c:pt>
                <c:pt idx="3">
                  <c:v>0.33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1" i="0" strike="noStrike" sz="1050" u="none">
                  <a:solidFill>
                    <a:srgbClr val="FFFFFF"/>
                  </a:solidFill>
                  <a:latin typeface="맑은 고딕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CBD5E1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.4"/>
          <c:min val="0"/>
        </c:scaling>
        <c:delete val="0"/>
        <c:axPos val="b"/>
        <c:majorGridlines>
          <c:spPr>
            <a:ln w="12700" cap="flat">
              <a:solidFill>
                <a:srgbClr val="222C4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4A3B8"/>
                </a:solidFill>
                <a:latin typeface="맑은 고딕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E142A"/>
        </a:solidFill>
        <a:ln>
          <a:noFill/>
        </a:ln>
        <a:effectLst/>
      </c:spPr>
    </c:plotArea>
    <c:plotVisOnly val="1"/>
    <c:dispBlanksAs val="span"/>
  </c:chart>
  <c:spPr>
    <a:solidFill>
      <a:srgbClr val="0E142A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표지. «재미가 의지를 이깁니다»가 덱 전체의 한 줄 메시지입니다.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자료는 어른용 본문과 청소년용 노란 줄, 두 트랙으로 읽힙니다.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A.I 기능 수·게임 수는 서비스 내 집계 기준입니다. 발표 전 최신 수치로 갱신하세요.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A.I 기능 지도. 14가지는 전부 현재 서비스 중입니다.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Bloom(1984)의 2σ는 이후 재현 연구에서 축소 보고되었습니다. 슬라이드에 명시했습니다.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촘스키 본인은 교수법 처방을 하지 않았다는 단서를 슬라이드에 넣었습니다.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참고문헌 전체 목록. APA 7판 표기.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비교표의 «일반 화상영어»는 업계 통상 구성을 요약한 것으로 특정 업체를 지칭하지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바이브 코딩 영어는 제안 단계의 방향성입니다. 확정 커리큘럼이 아닙니다.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일정은 계획이며 변동 가능합니다.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9-1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image" Target="../media/image-16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image" Target="../media/image-17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image" Target="../media/image-19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image" Target="../media/image-20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image" Target="../media/image-21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image" Target="../media/image-22-2.jpg"/><Relationship Id="rId3" Type="http://schemas.openxmlformats.org/officeDocument/2006/relationships/image" Target="../media/image-22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image" Target="../media/image-23-2.jpg"/><Relationship Id="rId3" Type="http://schemas.openxmlformats.org/officeDocument/2006/relationships/image" Target="../media/image-23-3.jpg"/><Relationship Id="rId4" Type="http://schemas.openxmlformats.org/officeDocument/2006/relationships/image" Target="../media/image-23-4.jpg"/><Relationship Id="rId5" Type="http://schemas.openxmlformats.org/officeDocument/2006/relationships/image" Target="../media/image-23-5.jpg"/><Relationship Id="rId6" Type="http://schemas.openxmlformats.org/officeDocument/2006/relationships/image" Target="../media/image-23-6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image" Target="../media/image-24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image" Target="../media/image-25-2.jpg"/><Relationship Id="rId3" Type="http://schemas.openxmlformats.org/officeDocument/2006/relationships/image" Target="../media/image-25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g"/><Relationship Id="rId2" Type="http://schemas.openxmlformats.org/officeDocument/2006/relationships/image" Target="../media/image-27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g"/><Relationship Id="rId2" Type="http://schemas.openxmlformats.org/officeDocument/2006/relationships/image" Target="../media/image-29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jpg"/><Relationship Id="rId2" Type="http://schemas.openxmlformats.org/officeDocument/2006/relationships/image" Target="../media/image-30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jpg"/><Relationship Id="rId2" Type="http://schemas.openxmlformats.org/officeDocument/2006/relationships/image" Target="../media/image-31-2.jpg"/><Relationship Id="rId3" Type="http://schemas.openxmlformats.org/officeDocument/2006/relationships/image" Target="../media/image-31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jpg"/><Relationship Id="rId2" Type="http://schemas.openxmlformats.org/officeDocument/2006/relationships/image" Target="../media/image-32-2.jpg"/><Relationship Id="rId3" Type="http://schemas.openxmlformats.org/officeDocument/2006/relationships/image" Target="../media/image-32-3.jpg"/><Relationship Id="rId4" Type="http://schemas.openxmlformats.org/officeDocument/2006/relationships/image" Target="../media/image-32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jpg"/><Relationship Id="rId2" Type="http://schemas.openxmlformats.org/officeDocument/2006/relationships/image" Target="../media/image-33-2.jpg"/><Relationship Id="rId3" Type="http://schemas.openxmlformats.org/officeDocument/2006/relationships/image" Target="../media/image-33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jpg"/><Relationship Id="rId2" Type="http://schemas.openxmlformats.org/officeDocument/2006/relationships/image" Target="../media/image-34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jpg"/><Relationship Id="rId2" Type="http://schemas.openxmlformats.org/officeDocument/2006/relationships/image" Target="../media/image-35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jpg"/><Relationship Id="rId2" Type="http://schemas.openxmlformats.org/officeDocument/2006/relationships/image" Target="../media/image-36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jpg"/><Relationship Id="rId2" Type="http://schemas.openxmlformats.org/officeDocument/2006/relationships/image" Target="../media/image-38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jpg"/><Relationship Id="rId2" Type="http://schemas.openxmlformats.org/officeDocument/2006/relationships/image" Target="../media/image-39-2.jpg"/><Relationship Id="rId3" Type="http://schemas.openxmlformats.org/officeDocument/2006/relationships/image" Target="../media/image-39-3.jpg"/><Relationship Id="rId4" Type="http://schemas.openxmlformats.org/officeDocument/2006/relationships/image" Target="../media/image-39-4.jpg"/><Relationship Id="rId5" Type="http://schemas.openxmlformats.org/officeDocument/2006/relationships/image" Target="../media/image-39-5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jpg"/><Relationship Id="rId2" Type="http://schemas.openxmlformats.org/officeDocument/2006/relationships/image" Target="../media/image-42-2.jpg"/><Relationship Id="rId3" Type="http://schemas.openxmlformats.org/officeDocument/2006/relationships/image" Target="../media/image-42-3.jpg"/><Relationship Id="rId4" Type="http://schemas.openxmlformats.org/officeDocument/2006/relationships/image" Target="../media/image-42-4.jpg"/><Relationship Id="rId5" Type="http://schemas.openxmlformats.org/officeDocument/2006/relationships/image" Target="../media/image-42-5.jpg"/><Relationship Id="rId6" Type="http://schemas.openxmlformats.org/officeDocument/2006/relationships/image" Target="../media/image-42-6.jpg"/><Relationship Id="rId7" Type="http://schemas.openxmlformats.org/officeDocument/2006/relationships/image" Target="../media/image-42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4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cover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310128" y="841248"/>
            <a:ext cx="5577840" cy="365760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3310128" y="841248"/>
            <a:ext cx="557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20년 전통 · 국내 최초 화상영어 · 필리핀 직영센터</a:t>
            </a:r>
            <a:endParaRPr lang="en-US" sz="1100" dirty="0"/>
          </a:p>
        </p:txBody>
      </p:sp>
      <p:pic>
        <p:nvPicPr>
          <p:cNvPr id="5" name="Image 1" descr="/tmp/claude-0/-home-user-mangoiweb/ca835eb4-1670-5fc1-a29a-2fc77598fea3/scratchpad/deck_img/masco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9824" y="1371600"/>
            <a:ext cx="1298448" cy="1060704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097280" y="2487168"/>
            <a:ext cx="99943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MANGO AI</a:t>
            </a:r>
            <a:endParaRPr lang="en-US" sz="5400" dirty="0"/>
          </a:p>
        </p:txBody>
      </p:sp>
      <p:sp>
        <p:nvSpPr>
          <p:cNvPr id="7" name="Text 3"/>
          <p:cNvSpPr/>
          <p:nvPr/>
        </p:nvSpPr>
        <p:spPr>
          <a:xfrm>
            <a:off x="1097280" y="3401568"/>
            <a:ext cx="9994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AI로 생각하고 결정하는 영어</a:t>
            </a:r>
            <a:endParaRPr lang="en-US" sz="1600" dirty="0"/>
          </a:p>
        </p:txBody>
      </p:sp>
      <p:sp>
        <p:nvSpPr>
          <p:cNvPr id="8" name="Text 4"/>
          <p:cNvSpPr/>
          <p:nvPr/>
        </p:nvSpPr>
        <p:spPr>
          <a:xfrm>
            <a:off x="1097280" y="3877056"/>
            <a:ext cx="99943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« 재미가 의지를 이깁니다 »</a:t>
            </a:r>
            <a:endParaRPr lang="en-US" sz="2800" dirty="0"/>
          </a:p>
        </p:txBody>
      </p:sp>
      <p:sp>
        <p:nvSpPr>
          <p:cNvPr id="9" name="Text 5"/>
          <p:cNvSpPr/>
          <p:nvPr/>
        </p:nvSpPr>
        <p:spPr>
          <a:xfrm>
            <a:off x="1097280" y="4535424"/>
            <a:ext cx="99943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원어민 1:1 화상수업  +  24시간 14가지 A.I 학습관리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2761488" y="5175504"/>
            <a:ext cx="2103120" cy="365760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2761488" y="5175504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학부모 · 성인용 설명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5047488" y="5175504"/>
            <a:ext cx="2103120" cy="365760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5047488" y="5175504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청소년 눈높이 요약 포함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333488" y="5175504"/>
            <a:ext cx="2103120" cy="365760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7333488" y="5175504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08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화면 캡처 30컷</a:t>
            </a:r>
            <a:endParaRPr lang="en-US" sz="1000" dirty="0"/>
          </a:p>
        </p:txBody>
      </p:sp>
      <p:sp>
        <p:nvSpPr>
          <p:cNvPr id="16" name="Text 12"/>
          <p:cNvSpPr/>
          <p:nvPr/>
        </p:nvSpPr>
        <p:spPr>
          <a:xfrm>
            <a:off x="1097280" y="5833872"/>
            <a:ext cx="9994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test.mangoi.co.kr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cover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CONTENTS · 목차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10545775" y="384048"/>
            <a:ext cx="1078992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0545775" y="384048"/>
            <a:ext cx="1078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Overview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822960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문서에서 다루는 것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566928" y="1700784"/>
            <a:ext cx="11055096" cy="822960"/>
          </a:xfrm>
          <a:prstGeom prst="roundRect">
            <a:avLst>
              <a:gd name="adj" fmla="val 11111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77824" y="1700784"/>
            <a:ext cx="731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1664208" y="1700784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망고아이는 무엇인가</a:t>
            </a:r>
            <a:endParaRPr lang="en-US" sz="1550" dirty="0"/>
          </a:p>
        </p:txBody>
      </p:sp>
      <p:sp>
        <p:nvSpPr>
          <p:cNvPr id="10" name="Text 7"/>
          <p:cNvSpPr/>
          <p:nvPr/>
        </p:nvSpPr>
        <p:spPr>
          <a:xfrm>
            <a:off x="5047488" y="1810512"/>
            <a:ext cx="6309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수업(사람) + 학습관리(A.I) 결합 구조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 서비스 중인 A.I 기능 14가지 전체 지도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566928" y="2615184"/>
            <a:ext cx="11055096" cy="822960"/>
          </a:xfrm>
          <a:prstGeom prst="roundRect">
            <a:avLst>
              <a:gd name="adj" fmla="val 11111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77824" y="2615184"/>
            <a:ext cx="731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1664208" y="2615184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이론적 배경</a:t>
            </a:r>
            <a:endParaRPr lang="en-US" sz="1550" dirty="0"/>
          </a:p>
        </p:txBody>
      </p:sp>
      <p:sp>
        <p:nvSpPr>
          <p:cNvPr id="14" name="Text 11"/>
          <p:cNvSpPr/>
          <p:nvPr/>
        </p:nvSpPr>
        <p:spPr>
          <a:xfrm>
            <a:off x="5047488" y="2724912"/>
            <a:ext cx="6309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비고츠키 · 촘스키 · 인지심리학 · 동기이론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이렇게 설계했는지 연구 인용과 함께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566928" y="3529584"/>
            <a:ext cx="11055096" cy="822960"/>
          </a:xfrm>
          <a:prstGeom prst="roundRect">
            <a:avLst>
              <a:gd name="adj" fmla="val 11111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77824" y="3529584"/>
            <a:ext cx="731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200" dirty="0"/>
          </a:p>
        </p:txBody>
      </p:sp>
      <p:sp>
        <p:nvSpPr>
          <p:cNvPr id="17" name="Text 14"/>
          <p:cNvSpPr/>
          <p:nvPr/>
        </p:nvSpPr>
        <p:spPr>
          <a:xfrm>
            <a:off x="1664208" y="3529584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특징과 장점</a:t>
            </a:r>
            <a:endParaRPr lang="en-US" sz="1550" dirty="0"/>
          </a:p>
        </p:txBody>
      </p:sp>
      <p:sp>
        <p:nvSpPr>
          <p:cNvPr id="18" name="Text 15"/>
          <p:cNvSpPr/>
          <p:nvPr/>
        </p:nvSpPr>
        <p:spPr>
          <a:xfrm>
            <a:off x="5047488" y="3639312"/>
            <a:ext cx="6309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음성코치 · AI 친구 대화 · 자동 평가서 · 학습 게임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 화상영어와 무엇이 다른가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566928" y="4443984"/>
            <a:ext cx="11055096" cy="822960"/>
          </a:xfrm>
          <a:prstGeom prst="roundRect">
            <a:avLst>
              <a:gd name="adj" fmla="val 11111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77824" y="4443984"/>
            <a:ext cx="731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200" dirty="0"/>
          </a:p>
        </p:txBody>
      </p:sp>
      <p:sp>
        <p:nvSpPr>
          <p:cNvPr id="21" name="Text 18"/>
          <p:cNvSpPr/>
          <p:nvPr/>
        </p:nvSpPr>
        <p:spPr>
          <a:xfrm>
            <a:off x="1664208" y="4443984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사용방법</a:t>
            </a:r>
            <a:endParaRPr lang="en-US" sz="1550" dirty="0"/>
          </a:p>
        </p:txBody>
      </p:sp>
      <p:sp>
        <p:nvSpPr>
          <p:cNvPr id="22" name="Text 19"/>
          <p:cNvSpPr/>
          <p:nvPr/>
        </p:nvSpPr>
        <p:spPr>
          <a:xfrm>
            <a:off x="5047488" y="4553712"/>
            <a:ext cx="6309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 → 레벨테스트 → 수업신청 → 수업 → 평가·복습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화면으로 보는 5단계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566928" y="5358384"/>
            <a:ext cx="11055096" cy="822960"/>
          </a:xfrm>
          <a:prstGeom prst="roundRect">
            <a:avLst>
              <a:gd name="adj" fmla="val 11111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77824" y="5358384"/>
            <a:ext cx="731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200" dirty="0"/>
          </a:p>
        </p:txBody>
      </p:sp>
      <p:sp>
        <p:nvSpPr>
          <p:cNvPr id="25" name="Text 22"/>
          <p:cNvSpPr/>
          <p:nvPr/>
        </p:nvSpPr>
        <p:spPr>
          <a:xfrm>
            <a:off x="1664208" y="5358384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향후 발전계획</a:t>
            </a:r>
            <a:endParaRPr lang="en-US" sz="1550" dirty="0"/>
          </a:p>
        </p:txBody>
      </p:sp>
      <p:sp>
        <p:nvSpPr>
          <p:cNvPr id="26" name="Text 23"/>
          <p:cNvSpPr/>
          <p:nvPr/>
        </p:nvSpPr>
        <p:spPr>
          <a:xfrm>
            <a:off x="5047488" y="5468112"/>
            <a:ext cx="6309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아바타 진화 · 강화학습 개인화 · 에듀테인먼트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바이브 코딩 시대의 영어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566928" y="5943600"/>
            <a:ext cx="11055096" cy="621792"/>
          </a:xfrm>
          <a:prstGeom prst="roundRect">
            <a:avLst>
              <a:gd name="adj" fmla="val 14706"/>
            </a:avLst>
          </a:prstGeom>
          <a:solidFill>
            <a:srgbClr val="231B08"/>
          </a:solidFill>
          <a:ln w="12700">
            <a:solidFill>
              <a:srgbClr val="6B5316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31520" y="6089904"/>
            <a:ext cx="1133856" cy="329184"/>
          </a:xfrm>
          <a:prstGeom prst="roundRect">
            <a:avLst>
              <a:gd name="adj" fmla="val 50000"/>
            </a:avLst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731520" y="6089904"/>
            <a:ext cx="11338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2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쉽게 말하면</a:t>
            </a:r>
            <a:endParaRPr lang="en-US" sz="1050" dirty="0"/>
          </a:p>
        </p:txBody>
      </p:sp>
      <p:sp>
        <p:nvSpPr>
          <p:cNvPr id="30" name="Text 27"/>
          <p:cNvSpPr/>
          <p:nvPr/>
        </p:nvSpPr>
        <p:spPr>
          <a:xfrm>
            <a:off x="2011680" y="5943600"/>
            <a:ext cx="942746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FFE7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00은 «망고아이가 뭐야?», 01은 «왜 이렇게 만들었어?», 02~03은 «뭐가 있고 어떻게 써?», 04는 «앞으로 뭐가 더 생겨?» 예요.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cover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HOW TO READ · 읽는 법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10234879" y="384048"/>
            <a:ext cx="1389888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0234879" y="384048"/>
            <a:ext cx="13898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Everyone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822960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어른도, 청소년도 같이 읽는 자료입니다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566928" y="1481328"/>
            <a:ext cx="110550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장 안에 두 가지 설명이 함께 들어 있습니다. 필요한 쪽만 읽으셔도 내용이 끊기지 않습니다.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66928" y="2157984"/>
            <a:ext cx="5394960" cy="3291840"/>
          </a:xfrm>
          <a:prstGeom prst="roundRect">
            <a:avLst>
              <a:gd name="adj" fmla="val 277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41248" y="2395728"/>
            <a:ext cx="1554480" cy="329184"/>
          </a:xfrm>
          <a:prstGeom prst="roundRect">
            <a:avLst>
              <a:gd name="adj" fmla="val 50000"/>
            </a:avLst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41248" y="2395728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학부모 · 성인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841248" y="287121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여기를 보세요 — 본문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877824" y="3483864"/>
            <a:ext cx="137160" cy="137160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133856" y="3401568"/>
            <a:ext cx="4572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슬라이드 제목과 본문 카드가 어른용 설명입니다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77824" y="3959352"/>
            <a:ext cx="137160" cy="137160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133856" y="3877056"/>
            <a:ext cx="4572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교육학·인지심리학 연구 인용은 이탤릭 작은 글씨로 표기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877824" y="4434840"/>
            <a:ext cx="137160" cy="137160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133856" y="4352544"/>
            <a:ext cx="4572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1 이론적 배경은 «왜 이 기능인가»의 근거입니다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877824" y="4910328"/>
            <a:ext cx="137160" cy="137160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133856" y="4828032"/>
            <a:ext cx="4572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숫자와 출처를 그대로 확인하실 수 있습니다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6227064" y="2157984"/>
            <a:ext cx="5394960" cy="3291840"/>
          </a:xfrm>
          <a:prstGeom prst="roundRect">
            <a:avLst>
              <a:gd name="adj" fmla="val 2778"/>
            </a:avLst>
          </a:prstGeom>
          <a:solidFill>
            <a:srgbClr val="10203A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501384" y="2395728"/>
            <a:ext cx="1554480" cy="329184"/>
          </a:xfrm>
          <a:prstGeom prst="roundRect">
            <a:avLst>
              <a:gd name="adj" fmla="val 50000"/>
            </a:avLst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501384" y="2395728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62B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청소년 · 학생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6501384" y="287121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여기를 보세요 — 노란 «쉽게 말하면» 줄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6537960" y="3483864"/>
            <a:ext cx="137160" cy="137160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793992" y="3401568"/>
            <a:ext cx="4572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각 장 아래 노란 띠 한 줄만 읽어도 흐름이 이어집니다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6537960" y="3959352"/>
            <a:ext cx="137160" cy="137160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793992" y="3877056"/>
            <a:ext cx="4572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어려운 말은 빼고, 실제로 뭘 하게 되는지로 적었습니다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6537960" y="4434840"/>
            <a:ext cx="137160" cy="137160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6793992" y="4352544"/>
            <a:ext cx="4572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2·3의 화면 캡처만 훑어도 됩니다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6537960" y="4910328"/>
            <a:ext cx="137160" cy="137160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6793992" y="4828032"/>
            <a:ext cx="4572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이론 파트는 건너뛰어도 사용에는 지장이 없습니다</a:t>
            </a:r>
            <a:endParaRPr lang="en-US" sz="1150" dirty="0"/>
          </a:p>
        </p:txBody>
      </p:sp>
      <p:sp>
        <p:nvSpPr>
          <p:cNvPr id="32" name="Shape 29"/>
          <p:cNvSpPr/>
          <p:nvPr/>
        </p:nvSpPr>
        <p:spPr>
          <a:xfrm>
            <a:off x="566928" y="5705856"/>
            <a:ext cx="11055096" cy="621792"/>
          </a:xfrm>
          <a:prstGeom prst="roundRect">
            <a:avLst>
              <a:gd name="adj" fmla="val 14706"/>
            </a:avLst>
          </a:prstGeom>
          <a:solidFill>
            <a:srgbClr val="231B08"/>
          </a:solidFill>
          <a:ln w="12700">
            <a:solidFill>
              <a:srgbClr val="6B5316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31520" y="5852160"/>
            <a:ext cx="1133856" cy="329184"/>
          </a:xfrm>
          <a:prstGeom prst="roundRect">
            <a:avLst>
              <a:gd name="adj" fmla="val 50000"/>
            </a:avLst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731520" y="5852160"/>
            <a:ext cx="11338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2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쉽게 말하면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2011680" y="5705856"/>
            <a:ext cx="942746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FFE7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아래 이 노란 줄이 너를 위한 설명이야. 이것만 따라 읽어도 망고아이가 뭔지 다 알 수 있어.</a:t>
            </a:r>
            <a:endParaRPr lang="en-US" sz="1200" dirty="0"/>
          </a:p>
        </p:txBody>
      </p:sp>
      <p:sp>
        <p:nvSpPr>
          <p:cNvPr id="36" name="Text 33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cover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AT A GLANCE · 한눈에 보는 망고아이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10079431" y="384048"/>
            <a:ext cx="1545336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0079431" y="38404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Highlights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822960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수업만 파는 화상영어가 아닙니다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566928" y="1481328"/>
            <a:ext cx="110550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A.I가 학습 전체를 끌고 가는 플랫폼입니다.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66928" y="2084832"/>
            <a:ext cx="3529584" cy="1517904"/>
          </a:xfrm>
          <a:prstGeom prst="roundRect">
            <a:avLst>
              <a:gd name="adj" fmla="val 6024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41248" y="2286000"/>
            <a:ext cx="29809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A.I 14가지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841248" y="2907792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웜업 · 발음코치 · 대화 · 첨삭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평가서까지 전 과정에 A.I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361688" y="2084832"/>
            <a:ext cx="3529584" cy="1517904"/>
          </a:xfrm>
          <a:prstGeom prst="roundRect">
            <a:avLst>
              <a:gd name="adj" fmla="val 6024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636008" y="2286000"/>
            <a:ext cx="29809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24시간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4636008" y="2907792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수업이 없는 날에도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 걸 상대가 있습니다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8156448" y="2084832"/>
            <a:ext cx="3529584" cy="1517904"/>
          </a:xfrm>
          <a:prstGeom prst="roundRect">
            <a:avLst>
              <a:gd name="adj" fmla="val 6024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430768" y="2286000"/>
            <a:ext cx="29809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08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 리포트</a:t>
            </a:r>
            <a:endParaRPr lang="en-US" sz="2800" dirty="0"/>
          </a:p>
        </p:txBody>
      </p:sp>
      <p:sp>
        <p:nvSpPr>
          <p:cNvPr id="16" name="Text 13"/>
          <p:cNvSpPr/>
          <p:nvPr/>
        </p:nvSpPr>
        <p:spPr>
          <a:xfrm>
            <a:off x="8430768" y="2907792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 수업 평가서와 월간 리포트를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A.I가 스스로 작성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566928" y="3840480"/>
            <a:ext cx="3529584" cy="1517904"/>
          </a:xfrm>
          <a:prstGeom prst="roundRect">
            <a:avLst>
              <a:gd name="adj" fmla="val 6024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41248" y="4041648"/>
            <a:ext cx="29809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4D39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21종 게임</a:t>
            </a:r>
            <a:endParaRPr lang="en-US" sz="2800" dirty="0"/>
          </a:p>
        </p:txBody>
      </p:sp>
      <p:sp>
        <p:nvSpPr>
          <p:cNvPr id="19" name="Text 16"/>
          <p:cNvSpPr/>
          <p:nvPr/>
        </p:nvSpPr>
        <p:spPr>
          <a:xfrm>
            <a:off x="841248" y="466344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복습을 놀이로 바꾸는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언어 학습 게임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361688" y="3840480"/>
            <a:ext cx="3529584" cy="1517904"/>
          </a:xfrm>
          <a:prstGeom prst="roundRect">
            <a:avLst>
              <a:gd name="adj" fmla="val 6024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636008" y="4041648"/>
            <a:ext cx="29809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1:1 / 1:2</a:t>
            </a:r>
            <a:endParaRPr lang="en-US" sz="2200" dirty="0"/>
          </a:p>
        </p:txBody>
      </p:sp>
      <p:sp>
        <p:nvSpPr>
          <p:cNvPr id="22" name="Text 19"/>
          <p:cNvSpPr/>
          <p:nvPr/>
        </p:nvSpPr>
        <p:spPr>
          <a:xfrm>
            <a:off x="4636008" y="466344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전담 원어민 교사와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소수정예 수업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8156448" y="3840480"/>
            <a:ext cx="3529584" cy="1517904"/>
          </a:xfrm>
          <a:prstGeom prst="roundRect">
            <a:avLst>
              <a:gd name="adj" fmla="val 6024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430768" y="4041648"/>
            <a:ext cx="29809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20년 · 직영</a:t>
            </a:r>
            <a:endParaRPr lang="en-US" sz="2200" dirty="0"/>
          </a:p>
        </p:txBody>
      </p:sp>
      <p:sp>
        <p:nvSpPr>
          <p:cNvPr id="25" name="Text 22"/>
          <p:cNvSpPr/>
          <p:nvPr/>
        </p:nvSpPr>
        <p:spPr>
          <a:xfrm>
            <a:off x="8430768" y="466344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국내 최초 화상영어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필리핀 현지 센터 직접 운영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566928" y="557784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A.I 기능 수·게임 수는 서비스 내 집계 기준 (2026년 8월)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566928" y="5943600"/>
            <a:ext cx="11055096" cy="621792"/>
          </a:xfrm>
          <a:prstGeom prst="roundRect">
            <a:avLst>
              <a:gd name="adj" fmla="val 14706"/>
            </a:avLst>
          </a:prstGeom>
          <a:solidFill>
            <a:srgbClr val="231B08"/>
          </a:solidFill>
          <a:ln w="12700">
            <a:solidFill>
              <a:srgbClr val="6B5316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31520" y="6089904"/>
            <a:ext cx="1133856" cy="329184"/>
          </a:xfrm>
          <a:prstGeom prst="roundRect">
            <a:avLst>
              <a:gd name="adj" fmla="val 50000"/>
            </a:avLst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731520" y="6089904"/>
            <a:ext cx="11338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2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쉽게 말하면</a:t>
            </a:r>
            <a:endParaRPr lang="en-US" sz="1050" dirty="0"/>
          </a:p>
        </p:txBody>
      </p:sp>
      <p:sp>
        <p:nvSpPr>
          <p:cNvPr id="30" name="Text 27"/>
          <p:cNvSpPr/>
          <p:nvPr/>
        </p:nvSpPr>
        <p:spPr>
          <a:xfrm>
            <a:off x="2011680" y="5943600"/>
            <a:ext cx="942746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FFE7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선생님이랑 하는 수업은 그대로 있고, 수업 없는 날에도 AI 14명이 번갈아 가며 너랑 영어로 놀아 줘.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cover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필요한가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9846259" y="384048"/>
            <a:ext cx="1778508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9846259" y="384048"/>
            <a:ext cx="17785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Statement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822960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화상수업만으로는 영어가 늘지 않습니다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566928" y="1700784"/>
            <a:ext cx="4114800" cy="2286000"/>
          </a:xfrm>
          <a:prstGeom prst="roundRect">
            <a:avLst>
              <a:gd name="adj" fmla="val 4000"/>
            </a:avLst>
          </a:prstGeom>
          <a:solidFill>
            <a:srgbClr val="1A1230"/>
          </a:solidFill>
          <a:ln w="12700">
            <a:solidFill>
              <a:srgbClr val="4A357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77824" y="192024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08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 2회 × 25분 = 월 200분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77824" y="2267712"/>
            <a:ext cx="35661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0.5%</a:t>
            </a:r>
            <a:endParaRPr lang="en-US" sz="6000" dirty="0"/>
          </a:p>
        </p:txBody>
      </p:sp>
      <p:sp>
        <p:nvSpPr>
          <p:cNvPr id="10" name="Text 7"/>
          <p:cNvSpPr/>
          <p:nvPr/>
        </p:nvSpPr>
        <p:spPr>
          <a:xfrm>
            <a:off x="877824" y="320040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달 43,000분 중 영어를 쓰는 시간의 비율입니다.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나머지 시간을 아무도 관리하지 않는 것이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 화상영어의 가장 큰 빈틈입니다.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4956048" y="1700784"/>
            <a:ext cx="6665976" cy="1298448"/>
          </a:xfrm>
          <a:prstGeom prst="roundRect">
            <a:avLst>
              <a:gd name="adj" fmla="val 7042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248656" y="1975104"/>
            <a:ext cx="365760" cy="365760"/>
          </a:xfrm>
          <a:prstGeom prst="ellipse">
            <a:avLst/>
          </a:prstGeom>
          <a:solidFill>
            <a:srgbClr val="C084FC"/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248656" y="19751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A0F4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5760720" y="193852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수업이 끝나면 학습도 끝난다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5760720" y="2304288"/>
            <a:ext cx="5577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예습·복습을 아이 혼자 하라고 맡기면 실제로 하는 아이는 소수입니다. 배운 문장은 다음 수업 전에 이미 사라집니다.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956048" y="3108960"/>
            <a:ext cx="6665976" cy="1298448"/>
          </a:xfrm>
          <a:prstGeom prst="roundRect">
            <a:avLst>
              <a:gd name="adj" fmla="val 7042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5248656" y="3383280"/>
            <a:ext cx="365760" cy="365760"/>
          </a:xfrm>
          <a:prstGeom prst="ellipse">
            <a:avLst/>
          </a:prstGeom>
          <a:solidFill>
            <a:srgbClr val="C084FC"/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248656" y="33832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A0F4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5760720" y="3346704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말하기 연습량이 절대적으로 부족하다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5760720" y="3712464"/>
            <a:ext cx="5577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25분 수업에서 학생이 실제로 말하는 시간은 그중 일부입니다. 발화량이 부족하면 입은 트이지 않습니다.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4956048" y="4517136"/>
            <a:ext cx="6665976" cy="1298448"/>
          </a:xfrm>
          <a:prstGeom prst="roundRect">
            <a:avLst>
              <a:gd name="adj" fmla="val 7042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248656" y="4791456"/>
            <a:ext cx="365760" cy="365760"/>
          </a:xfrm>
          <a:prstGeom prst="ellipse">
            <a:avLst/>
          </a:prstGeom>
          <a:solidFill>
            <a:srgbClr val="C084FC"/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248656" y="47914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A0F4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5760720" y="4754880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학부모는 아이 상태를 알 수 없다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5760720" y="5120640"/>
            <a:ext cx="5577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출결과 진도는 알아도 «오늘 무엇을 얼마나 말했는지»는 보이지 않습니다. 그래서 불안하고, 그래서 그만둡니다.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566928" y="5943600"/>
            <a:ext cx="11055096" cy="621792"/>
          </a:xfrm>
          <a:prstGeom prst="roundRect">
            <a:avLst>
              <a:gd name="adj" fmla="val 14706"/>
            </a:avLst>
          </a:prstGeom>
          <a:solidFill>
            <a:srgbClr val="231B08"/>
          </a:solidFill>
          <a:ln w="12700">
            <a:solidFill>
              <a:srgbClr val="6B5316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31520" y="6089904"/>
            <a:ext cx="1133856" cy="329184"/>
          </a:xfrm>
          <a:prstGeom prst="roundRect">
            <a:avLst>
              <a:gd name="adj" fmla="val 50000"/>
            </a:avLst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31520" y="6089904"/>
            <a:ext cx="11338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2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쉽게 말하면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2011680" y="5943600"/>
            <a:ext cx="942746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FFE7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일주일에 두 번, 25분씩. 그거 말고 남는 시간엔 영어를 아예 안 쓰지? 딱 그게 문제야.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cover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OUR ANSWER · 우리의 답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10545775" y="384048"/>
            <a:ext cx="1078992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0545775" y="384048"/>
            <a:ext cx="1078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822960"/>
            <a:ext cx="110550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수업은 </a:t>
            </a:r>
            <a:pPr indent="0" marL="0">
              <a:buNone/>
            </a:pPr>
            <a:r>
              <a:rPr lang="en-US" sz="3000" b="1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</a:t>
            </a:r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이끌고, 나머지 시간은 </a:t>
            </a:r>
            <a:pPr indent="0" marL="0">
              <a:buNone/>
            </a:pPr>
            <a:r>
              <a:rPr lang="en-US" sz="30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A.I</a:t>
            </a:r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 채웁니다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566928" y="1591056"/>
            <a:ext cx="110550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망고아이는 수업(사람)과 학습관리(A.I)를 한 시스템 안에서 맞물려 돌립니다. 수업만 제공하는 대부분의 화상외국어 업체들과 다른 지점입니다.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66928" y="2395728"/>
            <a:ext cx="3529584" cy="2889504"/>
          </a:xfrm>
          <a:prstGeom prst="roundRect">
            <a:avLst>
              <a:gd name="adj" fmla="val 3165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41248" y="2633472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사람이 하는 일 (Human Teacher)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41248" y="2962656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원어민 전담 교사</a:t>
            </a:r>
            <a:endParaRPr lang="en-US" sz="1900" dirty="0"/>
          </a:p>
        </p:txBody>
      </p:sp>
      <p:sp>
        <p:nvSpPr>
          <p:cNvPr id="11" name="Shape 8"/>
          <p:cNvSpPr/>
          <p:nvPr/>
        </p:nvSpPr>
        <p:spPr>
          <a:xfrm>
            <a:off x="859536" y="3621024"/>
            <a:ext cx="128016" cy="128016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97280" y="3529584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1:1 · 1:2 소수정예 수업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859536" y="4133088"/>
            <a:ext cx="128016" cy="128016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0" y="404164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교정과 동기 부여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859536" y="4645152"/>
            <a:ext cx="128016" cy="128016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097280" y="4553712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수업일지 · 평가 작성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4361688" y="2395728"/>
            <a:ext cx="3529584" cy="2889504"/>
          </a:xfrm>
          <a:prstGeom prst="roundRect">
            <a:avLst>
              <a:gd name="adj" fmla="val 3165"/>
            </a:avLst>
          </a:prstGeom>
          <a:solidFill>
            <a:srgbClr val="1B2036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636008" y="2633472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A.I가 하는 일 (14가지)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4636008" y="2962656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24시간 학습관리</a:t>
            </a:r>
            <a:endParaRPr lang="en-US" sz="1900" dirty="0"/>
          </a:p>
        </p:txBody>
      </p:sp>
      <p:sp>
        <p:nvSpPr>
          <p:cNvPr id="20" name="Shape 17"/>
          <p:cNvSpPr/>
          <p:nvPr/>
        </p:nvSpPr>
        <p:spPr>
          <a:xfrm>
            <a:off x="4654296" y="3621024"/>
            <a:ext cx="128016" cy="128016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892040" y="3529584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웜업 · 발음코치 · 친구 대화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4654296" y="4133088"/>
            <a:ext cx="128016" cy="128016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892040" y="404164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영작 첨삭 · 자동 평가서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4654296" y="4645152"/>
            <a:ext cx="128016" cy="128016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892040" y="4553712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단어장 · 퀴즈 · 게임형 반복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8156448" y="2395728"/>
            <a:ext cx="3529584" cy="2889504"/>
          </a:xfrm>
          <a:prstGeom prst="roundRect">
            <a:avLst>
              <a:gd name="adj" fmla="val 3165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8430768" y="2633472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8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둘을 잇는 것 (Data)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8430768" y="2962656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데이터와 소통</a:t>
            </a:r>
            <a:endParaRPr lang="en-US" sz="1900" dirty="0"/>
          </a:p>
        </p:txBody>
      </p:sp>
      <p:sp>
        <p:nvSpPr>
          <p:cNvPr id="29" name="Shape 26"/>
          <p:cNvSpPr/>
          <p:nvPr/>
        </p:nvSpPr>
        <p:spPr>
          <a:xfrm>
            <a:off x="8449056" y="3621024"/>
            <a:ext cx="128016" cy="128016"/>
          </a:xfrm>
          <a:prstGeom prst="ellipse">
            <a:avLst/>
          </a:prstGeom>
          <a:solidFill>
            <a:srgbClr val="C084FC"/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686800" y="3529584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교사 피드백 + AI 학습기록 연동</a:t>
            </a:r>
            <a:endParaRPr lang="en-US" sz="1150" dirty="0"/>
          </a:p>
        </p:txBody>
      </p:sp>
      <p:sp>
        <p:nvSpPr>
          <p:cNvPr id="31" name="Shape 28"/>
          <p:cNvSpPr/>
          <p:nvPr/>
        </p:nvSpPr>
        <p:spPr>
          <a:xfrm>
            <a:off x="8449056" y="4133088"/>
            <a:ext cx="128016" cy="128016"/>
          </a:xfrm>
          <a:prstGeom prst="ellipse">
            <a:avLst/>
          </a:prstGeom>
          <a:solidFill>
            <a:srgbClr val="C084FC"/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8686800" y="404164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월간 리포트 자동 생성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8449056" y="4645152"/>
            <a:ext cx="128016" cy="128016"/>
          </a:xfrm>
          <a:prstGeom prst="ellipse">
            <a:avLst/>
          </a:prstGeom>
          <a:solidFill>
            <a:srgbClr val="C084FC"/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686800" y="4553712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학부모 카카오톡 실시간 전달</a:t>
            </a:r>
            <a:endParaRPr lang="en-US" sz="1150" dirty="0"/>
          </a:p>
        </p:txBody>
      </p:sp>
      <p:sp>
        <p:nvSpPr>
          <p:cNvPr id="35" name="Shape 32"/>
          <p:cNvSpPr/>
          <p:nvPr/>
        </p:nvSpPr>
        <p:spPr>
          <a:xfrm>
            <a:off x="566928" y="5943600"/>
            <a:ext cx="11055096" cy="621792"/>
          </a:xfrm>
          <a:prstGeom prst="roundRect">
            <a:avLst>
              <a:gd name="adj" fmla="val 14706"/>
            </a:avLst>
          </a:prstGeom>
          <a:solidFill>
            <a:srgbClr val="231B08"/>
          </a:solidFill>
          <a:ln w="12700">
            <a:solidFill>
              <a:srgbClr val="6B5316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731520" y="6089904"/>
            <a:ext cx="1133856" cy="329184"/>
          </a:xfrm>
          <a:prstGeom prst="roundRect">
            <a:avLst>
              <a:gd name="adj" fmla="val 50000"/>
            </a:avLst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731520" y="6089904"/>
            <a:ext cx="11338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2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쉽게 말하면</a:t>
            </a:r>
            <a:endParaRPr lang="en-US" sz="1050" dirty="0"/>
          </a:p>
        </p:txBody>
      </p:sp>
      <p:sp>
        <p:nvSpPr>
          <p:cNvPr id="38" name="Text 35"/>
          <p:cNvSpPr/>
          <p:nvPr/>
        </p:nvSpPr>
        <p:spPr>
          <a:xfrm>
            <a:off x="2011680" y="5943600"/>
            <a:ext cx="942746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FFE7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선생님은 수업을 이끌고, AI는 네가 혼자 있는 시간에 붙어 다니면서 계속 영어를 시켜. 둘이 같은 기록을 봐.</a:t>
            </a:r>
            <a:endParaRPr lang="en-US" sz="1200" dirty="0"/>
          </a:p>
        </p:txBody>
      </p:sp>
      <p:sp>
        <p:nvSpPr>
          <p:cNvPr id="39" name="Text 36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cover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A.I MAP · 망고아이를 움직이는 14가지 A.I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10312603" y="384048"/>
            <a:ext cx="1312164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0312603" y="384048"/>
            <a:ext cx="13121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Features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822960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학습의 모든 단계마다 담당 A.I가 있습니다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566928" y="1481328"/>
            <a:ext cx="110550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«AI를 쓴다»가 아니라 단계별로 역할이 나뉘어 있습니다. 아래 14가지는 전부 지금 서비스 중입니다.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66928" y="2139696"/>
            <a:ext cx="2079346" cy="3547872"/>
          </a:xfrm>
          <a:prstGeom prst="roundRect">
            <a:avLst>
              <a:gd name="adj" fmla="val 439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68096" y="2322576"/>
            <a:ext cx="169529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 전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768096" y="2578608"/>
            <a:ext cx="171358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준비시키는 A.I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768096" y="3264408"/>
            <a:ext cx="128016" cy="128016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969264" y="3200400"/>
            <a:ext cx="153070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웜업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969264" y="3429000"/>
            <a:ext cx="153070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배울 문장 미리 말해 보기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768096" y="3886200"/>
            <a:ext cx="128016" cy="128016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69264" y="3822192"/>
            <a:ext cx="153070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자동 진단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969264" y="4050792"/>
            <a:ext cx="153070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레벨테스트로 시작점 파악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2810866" y="2139696"/>
            <a:ext cx="2079346" cy="3547872"/>
          </a:xfrm>
          <a:prstGeom prst="roundRect">
            <a:avLst>
              <a:gd name="adj" fmla="val 439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012034" y="2322576"/>
            <a:ext cx="169529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08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 후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3012034" y="2578608"/>
            <a:ext cx="171358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평가하는 A.I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3012034" y="3264408"/>
            <a:ext cx="128016" cy="128016"/>
          </a:xfrm>
          <a:prstGeom prst="ellipse">
            <a:avLst/>
          </a:prstGeom>
          <a:solidFill>
            <a:srgbClr val="C084FC"/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3213202" y="3200400"/>
            <a:ext cx="153070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자동 평가서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3213202" y="3429000"/>
            <a:ext cx="153070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발음·표현·참여도 분석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3012034" y="3886200"/>
            <a:ext cx="128016" cy="128016"/>
          </a:xfrm>
          <a:prstGeom prst="ellipse">
            <a:avLst/>
          </a:prstGeom>
          <a:solidFill>
            <a:srgbClr val="C084FC"/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3213202" y="3822192"/>
            <a:ext cx="153070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월간 A.I 리포트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3213202" y="4050792"/>
            <a:ext cx="153070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달 성장 요약 발송</a:t>
            </a:r>
            <a:endParaRPr lang="en-US" sz="900" dirty="0"/>
          </a:p>
        </p:txBody>
      </p:sp>
      <p:sp>
        <p:nvSpPr>
          <p:cNvPr id="26" name="Shape 23"/>
          <p:cNvSpPr/>
          <p:nvPr/>
        </p:nvSpPr>
        <p:spPr>
          <a:xfrm>
            <a:off x="5054803" y="2139696"/>
            <a:ext cx="2079346" cy="3547872"/>
          </a:xfrm>
          <a:prstGeom prst="roundRect">
            <a:avLst>
              <a:gd name="adj" fmla="val 4398"/>
            </a:avLst>
          </a:prstGeom>
          <a:solidFill>
            <a:srgbClr val="1B2036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5255971" y="2322576"/>
            <a:ext cx="169529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매일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5255971" y="2578608"/>
            <a:ext cx="171358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말하고 쓰게 하는 A.I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5255971" y="3264408"/>
            <a:ext cx="128016" cy="128016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5457139" y="3200400"/>
            <a:ext cx="153070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음성코치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5457139" y="3429000"/>
            <a:ext cx="153070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따라 말한 문장 즉시 채점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5255971" y="3886200"/>
            <a:ext cx="128016" cy="128016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5457139" y="3822192"/>
            <a:ext cx="153070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친구 대화</a:t>
            </a:r>
            <a:endParaRPr lang="en-US" sz="1100" dirty="0"/>
          </a:p>
        </p:txBody>
      </p:sp>
      <p:sp>
        <p:nvSpPr>
          <p:cNvPr id="34" name="Text 31"/>
          <p:cNvSpPr/>
          <p:nvPr/>
        </p:nvSpPr>
        <p:spPr>
          <a:xfrm>
            <a:off x="5457139" y="4050792"/>
            <a:ext cx="153070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24시간 영어 대화 상대</a:t>
            </a:r>
            <a:endParaRPr lang="en-US" sz="900" dirty="0"/>
          </a:p>
        </p:txBody>
      </p:sp>
      <p:sp>
        <p:nvSpPr>
          <p:cNvPr id="35" name="Shape 32"/>
          <p:cNvSpPr/>
          <p:nvPr/>
        </p:nvSpPr>
        <p:spPr>
          <a:xfrm>
            <a:off x="5255971" y="4507992"/>
            <a:ext cx="128016" cy="128016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5457139" y="4443984"/>
            <a:ext cx="153070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영작 첨삭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5457139" y="4672584"/>
            <a:ext cx="153070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쓴 문장 교정 + 이유 설명</a:t>
            </a:r>
            <a:endParaRPr lang="en-US" sz="900" dirty="0"/>
          </a:p>
        </p:txBody>
      </p:sp>
      <p:sp>
        <p:nvSpPr>
          <p:cNvPr id="38" name="Shape 35"/>
          <p:cNvSpPr/>
          <p:nvPr/>
        </p:nvSpPr>
        <p:spPr>
          <a:xfrm>
            <a:off x="5255971" y="5129784"/>
            <a:ext cx="128016" cy="128016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5457139" y="5065776"/>
            <a:ext cx="153070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판단력 훈련</a:t>
            </a:r>
            <a:endParaRPr lang="en-US" sz="1100" dirty="0"/>
          </a:p>
        </p:txBody>
      </p:sp>
      <p:sp>
        <p:nvSpPr>
          <p:cNvPr id="40" name="Text 37"/>
          <p:cNvSpPr/>
          <p:nvPr/>
        </p:nvSpPr>
        <p:spPr>
          <a:xfrm>
            <a:off x="5457139" y="5294376"/>
            <a:ext cx="153070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상황 판단해 영어로 답하기</a:t>
            </a:r>
            <a:endParaRPr lang="en-US" sz="900" dirty="0"/>
          </a:p>
        </p:txBody>
      </p:sp>
      <p:sp>
        <p:nvSpPr>
          <p:cNvPr id="41" name="Shape 38"/>
          <p:cNvSpPr/>
          <p:nvPr/>
        </p:nvSpPr>
        <p:spPr>
          <a:xfrm>
            <a:off x="7298741" y="2139696"/>
            <a:ext cx="2079346" cy="3547872"/>
          </a:xfrm>
          <a:prstGeom prst="roundRect">
            <a:avLst>
              <a:gd name="adj" fmla="val 439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7499909" y="2322576"/>
            <a:ext cx="169529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4D39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예복습</a:t>
            </a:r>
            <a:endParaRPr lang="en-US" sz="1000" dirty="0"/>
          </a:p>
        </p:txBody>
      </p:sp>
      <p:sp>
        <p:nvSpPr>
          <p:cNvPr id="43" name="Text 40"/>
          <p:cNvSpPr/>
          <p:nvPr/>
        </p:nvSpPr>
        <p:spPr>
          <a:xfrm>
            <a:off x="7499909" y="2578608"/>
            <a:ext cx="171358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반복시키는 A.I</a:t>
            </a:r>
            <a:endParaRPr lang="en-US" sz="1300" dirty="0"/>
          </a:p>
        </p:txBody>
      </p:sp>
      <p:sp>
        <p:nvSpPr>
          <p:cNvPr id="44" name="Shape 41"/>
          <p:cNvSpPr/>
          <p:nvPr/>
        </p:nvSpPr>
        <p:spPr>
          <a:xfrm>
            <a:off x="7499909" y="3264408"/>
            <a:ext cx="128016" cy="128016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7701077" y="3200400"/>
            <a:ext cx="153070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단어장</a:t>
            </a:r>
            <a:endParaRPr lang="en-US" sz="1100" dirty="0"/>
          </a:p>
        </p:txBody>
      </p:sp>
      <p:sp>
        <p:nvSpPr>
          <p:cNvPr id="46" name="Text 43"/>
          <p:cNvSpPr/>
          <p:nvPr/>
        </p:nvSpPr>
        <p:spPr>
          <a:xfrm>
            <a:off x="7701077" y="3429000"/>
            <a:ext cx="153070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뜻·예문 자동 생성</a:t>
            </a:r>
            <a:endParaRPr lang="en-US" sz="900" dirty="0"/>
          </a:p>
        </p:txBody>
      </p:sp>
      <p:sp>
        <p:nvSpPr>
          <p:cNvPr id="47" name="Shape 44"/>
          <p:cNvSpPr/>
          <p:nvPr/>
        </p:nvSpPr>
        <p:spPr>
          <a:xfrm>
            <a:off x="7499909" y="3886200"/>
            <a:ext cx="128016" cy="128016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7701077" y="3822192"/>
            <a:ext cx="153070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단어 퀴즈</a:t>
            </a:r>
            <a:endParaRPr lang="en-US" sz="1100" dirty="0"/>
          </a:p>
        </p:txBody>
      </p:sp>
      <p:sp>
        <p:nvSpPr>
          <p:cNvPr id="49" name="Text 46"/>
          <p:cNvSpPr/>
          <p:nvPr/>
        </p:nvSpPr>
        <p:spPr>
          <a:xfrm>
            <a:off x="7701077" y="4050792"/>
            <a:ext cx="153070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1분 마이크로러닝</a:t>
            </a:r>
            <a:endParaRPr lang="en-US" sz="900" dirty="0"/>
          </a:p>
        </p:txBody>
      </p:sp>
      <p:sp>
        <p:nvSpPr>
          <p:cNvPr id="50" name="Shape 47"/>
          <p:cNvSpPr/>
          <p:nvPr/>
        </p:nvSpPr>
        <p:spPr>
          <a:xfrm>
            <a:off x="7499909" y="4507992"/>
            <a:ext cx="128016" cy="128016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7701077" y="4443984"/>
            <a:ext cx="153070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복습 퀴즈</a:t>
            </a:r>
            <a:endParaRPr lang="en-US" sz="1100" dirty="0"/>
          </a:p>
        </p:txBody>
      </p:sp>
      <p:sp>
        <p:nvSpPr>
          <p:cNvPr id="52" name="Text 49"/>
          <p:cNvSpPr/>
          <p:nvPr/>
        </p:nvSpPr>
        <p:spPr>
          <a:xfrm>
            <a:off x="7701077" y="4672584"/>
            <a:ext cx="153070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10문항 자동 출제</a:t>
            </a:r>
            <a:endParaRPr lang="en-US" sz="900" dirty="0"/>
          </a:p>
        </p:txBody>
      </p:sp>
      <p:sp>
        <p:nvSpPr>
          <p:cNvPr id="53" name="Shape 50"/>
          <p:cNvSpPr/>
          <p:nvPr/>
        </p:nvSpPr>
        <p:spPr>
          <a:xfrm>
            <a:off x="9542678" y="2139696"/>
            <a:ext cx="2079346" cy="3547872"/>
          </a:xfrm>
          <a:prstGeom prst="roundRect">
            <a:avLst>
              <a:gd name="adj" fmla="val 439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4" name="Text 51"/>
          <p:cNvSpPr/>
          <p:nvPr/>
        </p:nvSpPr>
        <p:spPr>
          <a:xfrm>
            <a:off x="9743846" y="2322576"/>
            <a:ext cx="169529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묻고 찾을 때</a:t>
            </a:r>
            <a:endParaRPr lang="en-US" sz="1000" dirty="0"/>
          </a:p>
        </p:txBody>
      </p:sp>
      <p:sp>
        <p:nvSpPr>
          <p:cNvPr id="55" name="Text 52"/>
          <p:cNvSpPr/>
          <p:nvPr/>
        </p:nvSpPr>
        <p:spPr>
          <a:xfrm>
            <a:off x="9743846" y="2578608"/>
            <a:ext cx="171358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대신 찾아 주는 A.I</a:t>
            </a:r>
            <a:endParaRPr lang="en-US" sz="1300" dirty="0"/>
          </a:p>
        </p:txBody>
      </p:sp>
      <p:sp>
        <p:nvSpPr>
          <p:cNvPr id="56" name="Shape 53"/>
          <p:cNvSpPr/>
          <p:nvPr/>
        </p:nvSpPr>
        <p:spPr>
          <a:xfrm>
            <a:off x="9743846" y="3264408"/>
            <a:ext cx="128016" cy="128016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57" name="Text 54"/>
          <p:cNvSpPr/>
          <p:nvPr/>
        </p:nvSpPr>
        <p:spPr>
          <a:xfrm>
            <a:off x="9945014" y="3200400"/>
            <a:ext cx="153070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A.i 상담사</a:t>
            </a:r>
            <a:endParaRPr lang="en-US" sz="1100" dirty="0"/>
          </a:p>
        </p:txBody>
      </p:sp>
      <p:sp>
        <p:nvSpPr>
          <p:cNvPr id="58" name="Text 55"/>
          <p:cNvSpPr/>
          <p:nvPr/>
        </p:nvSpPr>
        <p:spPr>
          <a:xfrm>
            <a:off x="9945014" y="3429000"/>
            <a:ext cx="153070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홈에서 바로 묻고 답변</a:t>
            </a:r>
            <a:endParaRPr lang="en-US" sz="900" dirty="0"/>
          </a:p>
        </p:txBody>
      </p:sp>
      <p:sp>
        <p:nvSpPr>
          <p:cNvPr id="59" name="Shape 56"/>
          <p:cNvSpPr/>
          <p:nvPr/>
        </p:nvSpPr>
        <p:spPr>
          <a:xfrm>
            <a:off x="9743846" y="3886200"/>
            <a:ext cx="128016" cy="128016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60" name="Text 57"/>
          <p:cNvSpPr/>
          <p:nvPr/>
        </p:nvSpPr>
        <p:spPr>
          <a:xfrm>
            <a:off x="9945014" y="3822192"/>
            <a:ext cx="153070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통합검색</a:t>
            </a:r>
            <a:endParaRPr lang="en-US" sz="1100" dirty="0"/>
          </a:p>
        </p:txBody>
      </p:sp>
      <p:sp>
        <p:nvSpPr>
          <p:cNvPr id="61" name="Text 58"/>
          <p:cNvSpPr/>
          <p:nvPr/>
        </p:nvSpPr>
        <p:spPr>
          <a:xfrm>
            <a:off x="9945014" y="4050792"/>
            <a:ext cx="153070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말하면 기능으로 이동</a:t>
            </a:r>
            <a:endParaRPr lang="en-US" sz="900" dirty="0"/>
          </a:p>
        </p:txBody>
      </p:sp>
      <p:sp>
        <p:nvSpPr>
          <p:cNvPr id="62" name="Shape 59"/>
          <p:cNvSpPr/>
          <p:nvPr/>
        </p:nvSpPr>
        <p:spPr>
          <a:xfrm>
            <a:off x="9743846" y="4507992"/>
            <a:ext cx="128016" cy="128016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63" name="Text 60"/>
          <p:cNvSpPr/>
          <p:nvPr/>
        </p:nvSpPr>
        <p:spPr>
          <a:xfrm>
            <a:off x="9945014" y="4443984"/>
            <a:ext cx="153070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운영비서</a:t>
            </a:r>
            <a:endParaRPr lang="en-US" sz="1100" dirty="0"/>
          </a:p>
        </p:txBody>
      </p:sp>
      <p:sp>
        <p:nvSpPr>
          <p:cNvPr id="64" name="Text 61"/>
          <p:cNvSpPr/>
          <p:nvPr/>
        </p:nvSpPr>
        <p:spPr>
          <a:xfrm>
            <a:off x="9945014" y="4672584"/>
            <a:ext cx="153070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관리자 지표 자동 정리</a:t>
            </a:r>
            <a:endParaRPr lang="en-US" sz="900" dirty="0"/>
          </a:p>
        </p:txBody>
      </p:sp>
      <p:sp>
        <p:nvSpPr>
          <p:cNvPr id="65" name="Text 62"/>
          <p:cNvSpPr/>
          <p:nvPr/>
        </p:nvSpPr>
        <p:spPr>
          <a:xfrm>
            <a:off x="566928" y="57607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서비스 내 A.I 기반 기능 집계 (2026년 8월). 학습 게임 21종은 별도입니다.</a:t>
            </a:r>
            <a:endParaRPr lang="en-US" sz="950" dirty="0"/>
          </a:p>
        </p:txBody>
      </p:sp>
      <p:sp>
        <p:nvSpPr>
          <p:cNvPr id="66" name="Shape 63"/>
          <p:cNvSpPr/>
          <p:nvPr/>
        </p:nvSpPr>
        <p:spPr>
          <a:xfrm>
            <a:off x="566928" y="6053328"/>
            <a:ext cx="11055096" cy="621792"/>
          </a:xfrm>
          <a:prstGeom prst="roundRect">
            <a:avLst>
              <a:gd name="adj" fmla="val 14706"/>
            </a:avLst>
          </a:prstGeom>
          <a:solidFill>
            <a:srgbClr val="231B08"/>
          </a:solidFill>
          <a:ln w="12700">
            <a:solidFill>
              <a:srgbClr val="6B5316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731520" y="6199632"/>
            <a:ext cx="1133856" cy="329184"/>
          </a:xfrm>
          <a:prstGeom prst="roundRect">
            <a:avLst>
              <a:gd name="adj" fmla="val 50000"/>
            </a:avLst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68" name="Text 65"/>
          <p:cNvSpPr/>
          <p:nvPr/>
        </p:nvSpPr>
        <p:spPr>
          <a:xfrm>
            <a:off x="731520" y="6199632"/>
            <a:ext cx="11338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2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쉽게 말하면</a:t>
            </a:r>
            <a:endParaRPr lang="en-US" sz="1050" dirty="0"/>
          </a:p>
        </p:txBody>
      </p:sp>
      <p:sp>
        <p:nvSpPr>
          <p:cNvPr id="69" name="Text 66"/>
          <p:cNvSpPr/>
          <p:nvPr/>
        </p:nvSpPr>
        <p:spPr>
          <a:xfrm>
            <a:off x="2011680" y="6053328"/>
            <a:ext cx="942746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FFE7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14명이 각자 담당이 달라. 수업 전엔 웜업, 매일은 발음코치랑 친구, 수업 끝나면 평가서랑 퀴즈.</a:t>
            </a:r>
            <a:endParaRPr lang="en-US" sz="1200" dirty="0"/>
          </a:p>
        </p:txBody>
      </p:sp>
      <p:sp>
        <p:nvSpPr>
          <p:cNvPr id="70" name="Text 67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theory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66928" y="228600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566928" y="228600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8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01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66928" y="1024128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0" b="1" dirty="0">
                <a:solidFill>
                  <a:srgbClr val="222C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8600" dirty="0"/>
          </a:p>
        </p:txBody>
      </p:sp>
      <p:sp>
        <p:nvSpPr>
          <p:cNvPr id="6" name="Text 3"/>
          <p:cNvSpPr/>
          <p:nvPr/>
        </p:nvSpPr>
        <p:spPr>
          <a:xfrm>
            <a:off x="566928" y="2779776"/>
            <a:ext cx="5852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이론적 배경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566928" y="3566160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spc="5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Theoretical Foundation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566928" y="4114800"/>
            <a:ext cx="5577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망고아이의 기능은 «재미있어 보여서» 만든 것이 아닙니다.</a:t>
            </a:r>
            <a:endParaRPr lang="en-US" sz="12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비고츠키·촘스키·인지심리학·동기이론이 각각 어떤 기능이 되었는지</a:t>
            </a:r>
            <a:endParaRPr lang="en-US" sz="12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연구 인용과 함께 밝힙니다.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419088" y="1664208"/>
            <a:ext cx="5248656" cy="4020570"/>
          </a:xfrm>
          <a:prstGeom prst="roundRect">
            <a:avLst>
              <a:gd name="adj" fmla="val 1819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10" name="Image 1" descr="/tmp/claude-0/-home-user-mangoiweb/ca835eb4-1670-5fc1-a29a-2fc77598fea3/scratchpad/deck_img/d_zp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5664" y="1700784"/>
            <a:ext cx="5175504" cy="394741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455664" y="5831082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근접발달영역 — 교사(사람)와 A.I가 함께 이 구간을 채웁니다</a:t>
            </a:r>
            <a:endParaRPr lang="en-US" sz="950" dirty="0"/>
          </a:p>
        </p:txBody>
      </p:sp>
      <p:sp>
        <p:nvSpPr>
          <p:cNvPr id="12" name="Text 8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theory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이론 01 · 왜 1:1인가, 왜 A.I인가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10390327" y="384048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0390327" y="384048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Bloom 1984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822960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블룸의 «2시그마 문제»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566928" y="1481328"/>
            <a:ext cx="110550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1:1 개인교습을 받은 학생의 평균은 일반 학급 학생 상위 2% 수준이었습니다. 문제는 «그걸 모두에게 줄 방법이 없다»는 것이었습니다.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66928" y="2157984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효과크기 비교 (표준편차 단위, 무처치 대조군 대비)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66928" y="2432304"/>
            <a:ext cx="6126480" cy="2834640"/>
          </a:xfrm>
          <a:prstGeom prst="roundRect">
            <a:avLst>
              <a:gd name="adj" fmla="val 3226"/>
            </a:avLst>
          </a:prstGeom>
          <a:solidFill>
            <a:srgbClr val="0E142A"/>
          </a:solidFill>
          <a:ln w="12700">
            <a:solidFill>
              <a:srgbClr val="2A3557"/>
            </a:solidFill>
            <a:prstDash val="solid"/>
          </a:ln>
        </p:spPr>
      </p:sp>
      <p:graphicFrame>
        <p:nvGraphicFramePr>
          <p:cNvPr id="10" name="Chart 0" descr=""/>
          <p:cNvGraphicFramePr/>
          <p:nvPr/>
        </p:nvGraphicFramePr>
        <p:xfrm>
          <a:off x="658368" y="2505456"/>
          <a:ext cx="5943600" cy="2688336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Text 7"/>
          <p:cNvSpPr/>
          <p:nvPr/>
        </p:nvSpPr>
        <p:spPr>
          <a:xfrm>
            <a:off x="566928" y="5340096"/>
            <a:ext cx="6126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850" i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 = 표준화 평균차. Bloom(1984)의 2σ는 이후 재현 연구에서 축소 보고되었습니다.</a:t>
            </a:r>
            <a:endParaRPr lang="en-US" sz="850" dirty="0"/>
          </a:p>
        </p:txBody>
      </p:sp>
      <p:sp>
        <p:nvSpPr>
          <p:cNvPr id="12" name="Shape 8"/>
          <p:cNvSpPr/>
          <p:nvPr/>
        </p:nvSpPr>
        <p:spPr>
          <a:xfrm>
            <a:off x="6967728" y="2157984"/>
            <a:ext cx="4663440" cy="1060704"/>
          </a:xfrm>
          <a:prstGeom prst="roundRect">
            <a:avLst>
              <a:gd name="adj" fmla="val 8621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223760" y="2286000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연구가 말하는 것</a:t>
            </a:r>
            <a:endParaRPr lang="en-US" sz="1200" dirty="0"/>
          </a:p>
        </p:txBody>
      </p:sp>
      <p:sp>
        <p:nvSpPr>
          <p:cNvPr id="14" name="Text 10"/>
          <p:cNvSpPr/>
          <p:nvPr/>
        </p:nvSpPr>
        <p:spPr>
          <a:xfrm>
            <a:off x="7223760" y="2542032"/>
            <a:ext cx="41696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9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개인화된 1:1 지도는 집단 수업을 크게 앞선다. 다만 인원과 비용 때문에 모두에게 줄 수 없다 — 이것이 «2시그마 문제»다.</a:t>
            </a:r>
            <a:endParaRPr lang="en-US" sz="950" dirty="0"/>
          </a:p>
        </p:txBody>
      </p:sp>
      <p:sp>
        <p:nvSpPr>
          <p:cNvPr id="15" name="Shape 11"/>
          <p:cNvSpPr/>
          <p:nvPr/>
        </p:nvSpPr>
        <p:spPr>
          <a:xfrm>
            <a:off x="6967728" y="3291840"/>
            <a:ext cx="4663440" cy="1060704"/>
          </a:xfrm>
          <a:prstGeom prst="roundRect">
            <a:avLst>
              <a:gd name="adj" fmla="val 8621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7223760" y="3419856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08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A.I가 바꾼 것</a:t>
            </a:r>
            <a:endParaRPr lang="en-US" sz="1200" dirty="0"/>
          </a:p>
        </p:txBody>
      </p:sp>
      <p:sp>
        <p:nvSpPr>
          <p:cNvPr id="17" name="Text 13"/>
          <p:cNvSpPr/>
          <p:nvPr/>
        </p:nvSpPr>
        <p:spPr>
          <a:xfrm>
            <a:off x="7223760" y="3675888"/>
            <a:ext cx="41696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9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VanLehn(2011)은 지능형 튜터링 시스템이 인간 튜터에 거의 근접한다고 보고했다(0.76 vs 0.79). 확장 가능한 개인화가 실현 가능해졌다.</a:t>
            </a:r>
            <a:endParaRPr lang="en-US" sz="950" dirty="0"/>
          </a:p>
        </p:txBody>
      </p:sp>
      <p:sp>
        <p:nvSpPr>
          <p:cNvPr id="18" name="Shape 14"/>
          <p:cNvSpPr/>
          <p:nvPr/>
        </p:nvSpPr>
        <p:spPr>
          <a:xfrm>
            <a:off x="6967728" y="4425696"/>
            <a:ext cx="4663440" cy="1060704"/>
          </a:xfrm>
          <a:prstGeom prst="roundRect">
            <a:avLst>
              <a:gd name="adj" fmla="val 8621"/>
            </a:avLst>
          </a:prstGeom>
          <a:solidFill>
            <a:srgbClr val="231B08"/>
          </a:solidFill>
          <a:ln w="12700">
            <a:solidFill>
              <a:srgbClr val="6B531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7223760" y="4553712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망고아이의 답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7223760" y="4809744"/>
            <a:ext cx="41696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9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 교사는 1:1·1:2로 유지하고, 교사가 없는 시간은 A.I 튜터가 맡는다. 두 축을 곱해서 «2시그마 문제»에 접근한다.</a:t>
            </a:r>
            <a:endParaRPr lang="en-US" sz="950" dirty="0"/>
          </a:p>
        </p:txBody>
      </p:sp>
      <p:sp>
        <p:nvSpPr>
          <p:cNvPr id="21" name="Text 17"/>
          <p:cNvSpPr/>
          <p:nvPr/>
        </p:nvSpPr>
        <p:spPr>
          <a:xfrm>
            <a:off x="6967728" y="554126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850" i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Bloom, B. S. (1984). Educational Researcher, 13(6), 4–16.</a:t>
            </a:r>
            <a:endParaRPr lang="en-US" sz="850" dirty="0"/>
          </a:p>
          <a:p>
            <a:pPr indent="0" marL="0">
              <a:lnSpc>
                <a:spcPts val="1250"/>
              </a:lnSpc>
              <a:buNone/>
            </a:pPr>
            <a:r>
              <a:rPr lang="en-US" sz="850" i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VanLehn, K. (2011). Educational Psychologist, 46(4), 197–221.</a:t>
            </a:r>
            <a:endParaRPr lang="en-US" sz="850" dirty="0"/>
          </a:p>
        </p:txBody>
      </p:sp>
      <p:sp>
        <p:nvSpPr>
          <p:cNvPr id="22" name="Shape 18"/>
          <p:cNvSpPr/>
          <p:nvPr/>
        </p:nvSpPr>
        <p:spPr>
          <a:xfrm>
            <a:off x="566928" y="5943600"/>
            <a:ext cx="11055096" cy="621792"/>
          </a:xfrm>
          <a:prstGeom prst="roundRect">
            <a:avLst>
              <a:gd name="adj" fmla="val 14706"/>
            </a:avLst>
          </a:prstGeom>
          <a:solidFill>
            <a:srgbClr val="231B08"/>
          </a:solidFill>
          <a:ln w="12700">
            <a:solidFill>
              <a:srgbClr val="6B5316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731520" y="6089904"/>
            <a:ext cx="1133856" cy="329184"/>
          </a:xfrm>
          <a:prstGeom prst="roundRect">
            <a:avLst>
              <a:gd name="adj" fmla="val 50000"/>
            </a:avLst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731520" y="6089904"/>
            <a:ext cx="11338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2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쉽게 말하면</a:t>
            </a:r>
            <a:endParaRPr lang="en-US" sz="1050" dirty="0"/>
          </a:p>
        </p:txBody>
      </p:sp>
      <p:sp>
        <p:nvSpPr>
          <p:cNvPr id="25" name="Text 21"/>
          <p:cNvSpPr/>
          <p:nvPr/>
        </p:nvSpPr>
        <p:spPr>
          <a:xfrm>
            <a:off x="2011680" y="5943600"/>
            <a:ext cx="942746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FFE7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«선생님이 나 한 명만 봐 주면 성적이 확 오른다»는 건 40년 전에 이미 증명됐어. 문제는 비싸다는 거였고, 그걸 AI가 메워 주는 거야.</a:t>
            </a:r>
            <a:endParaRPr lang="en-US" sz="1200" dirty="0"/>
          </a:p>
        </p:txBody>
      </p:sp>
      <p:sp>
        <p:nvSpPr>
          <p:cNvPr id="26" name="Text 22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theory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이론 02 · 비고츠키 근접발달영역(ZPD) &amp; 스캐폴딩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10157155" y="384048"/>
            <a:ext cx="1467612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0157155" y="384048"/>
            <a:ext cx="14676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Vygotsky 1978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768096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«도우면 되는 구간»을</a:t>
            </a:r>
            <a:endParaRPr lang="en-US" sz="2600" dirty="0"/>
          </a:p>
          <a:p>
            <a:pPr algn="l" indent="0" marL="0">
              <a:lnSpc>
                <a:spcPts val="34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비워 두지 않습니다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566928" y="1773936"/>
            <a:ext cx="5943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i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“근접발달영역이란 독립적 문제해결로 결정되는 실제 발달 수준과, 성인의 안내 또는 더 유능한 또래와의 협력을 통한 문제해결로 결정되는 잠재적 발달 수준 사이의 거리다.”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66928" y="254203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850" i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— Vygotsky, L. S. (1978). Mind in Society. Harvard University Press, p. 86.</a:t>
            </a:r>
            <a:endParaRPr lang="en-US" sz="850" dirty="0"/>
          </a:p>
        </p:txBody>
      </p:sp>
      <p:sp>
        <p:nvSpPr>
          <p:cNvPr id="9" name="Shape 6"/>
          <p:cNvSpPr/>
          <p:nvPr/>
        </p:nvSpPr>
        <p:spPr>
          <a:xfrm>
            <a:off x="566928" y="2871216"/>
            <a:ext cx="5943600" cy="603504"/>
          </a:xfrm>
          <a:prstGeom prst="roundRect">
            <a:avLst>
              <a:gd name="adj" fmla="val 15152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49808" y="2999232"/>
            <a:ext cx="347472" cy="347472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49808" y="299923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62B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1225296" y="2871216"/>
            <a:ext cx="1828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유능한 타인 (MKO)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3127248" y="2871216"/>
            <a:ext cx="3291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전담 원어민 교사 — 매번 바뀌지 않으므로 이 아이의 ZPD를 안다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66928" y="3547872"/>
            <a:ext cx="5943600" cy="603504"/>
          </a:xfrm>
          <a:prstGeom prst="roundRect">
            <a:avLst>
              <a:gd name="adj" fmla="val 15152"/>
            </a:avLst>
          </a:prstGeom>
          <a:solidFill>
            <a:srgbClr val="12183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749808" y="3675888"/>
            <a:ext cx="347472" cy="347472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49808" y="36758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62B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1225296" y="3547872"/>
            <a:ext cx="1828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스캐폴딩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3127248" y="3547872"/>
            <a:ext cx="3291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음성코치의 발음 채점, AI 친구의 힌트, 퀴즈의 단계적 난이도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566928" y="4224528"/>
            <a:ext cx="5943600" cy="603504"/>
          </a:xfrm>
          <a:prstGeom prst="roundRect">
            <a:avLst>
              <a:gd name="adj" fmla="val 15152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749808" y="4352544"/>
            <a:ext cx="347472" cy="347472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49808" y="435254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62B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50" dirty="0"/>
          </a:p>
        </p:txBody>
      </p:sp>
      <p:sp>
        <p:nvSpPr>
          <p:cNvPr id="22" name="Text 19"/>
          <p:cNvSpPr/>
          <p:nvPr/>
        </p:nvSpPr>
        <p:spPr>
          <a:xfrm>
            <a:off x="1225296" y="4224528"/>
            <a:ext cx="1828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점진적 철수 (fading)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3127248" y="4224528"/>
            <a:ext cx="3291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정확도가 오르면 힌트를 줄이고 난이도를 올린다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566928" y="4901184"/>
            <a:ext cx="5943600" cy="603504"/>
          </a:xfrm>
          <a:prstGeom prst="roundRect">
            <a:avLst>
              <a:gd name="adj" fmla="val 15152"/>
            </a:avLst>
          </a:prstGeom>
          <a:solidFill>
            <a:srgbClr val="12183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749808" y="5029200"/>
            <a:ext cx="347472" cy="347472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49808" y="50292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62B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50" dirty="0"/>
          </a:p>
        </p:txBody>
      </p:sp>
      <p:sp>
        <p:nvSpPr>
          <p:cNvPr id="27" name="Text 24"/>
          <p:cNvSpPr/>
          <p:nvPr/>
        </p:nvSpPr>
        <p:spPr>
          <a:xfrm>
            <a:off x="1225296" y="4901184"/>
            <a:ext cx="1828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ZPD는 매일 움직인다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3127248" y="4901184"/>
            <a:ext cx="3291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발화량·정확도·연속 학습을 상시 측정한다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566928" y="555955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850" i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Wood, D., Bruner, J. S., &amp; Ross, G. (1976). JCPP, 17(2), 89–100. — «스캐폴딩» 개념의 출처</a:t>
            </a:r>
            <a:endParaRPr lang="en-US" sz="850" dirty="0"/>
          </a:p>
        </p:txBody>
      </p:sp>
      <p:sp>
        <p:nvSpPr>
          <p:cNvPr id="30" name="Shape 27"/>
          <p:cNvSpPr/>
          <p:nvPr/>
        </p:nvSpPr>
        <p:spPr>
          <a:xfrm>
            <a:off x="7022592" y="1261872"/>
            <a:ext cx="4645152" cy="3560271"/>
          </a:xfrm>
          <a:prstGeom prst="roundRect">
            <a:avLst>
              <a:gd name="adj" fmla="val 2055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31" name="Image 1" descr="/tmp/claude-0/-home-user-mangoiweb/ca835eb4-1670-5fc1-a29a-2fc77598fea3/scratchpad/deck_img/d_zp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59168" y="1298448"/>
            <a:ext cx="4572000" cy="3487119"/>
          </a:xfrm>
          <a:prstGeom prst="rect">
            <a:avLst/>
          </a:prstGeom>
        </p:spPr>
      </p:pic>
      <p:sp>
        <p:nvSpPr>
          <p:cNvPr id="32" name="Text 28"/>
          <p:cNvSpPr/>
          <p:nvPr/>
        </p:nvSpPr>
        <p:spPr>
          <a:xfrm>
            <a:off x="7059168" y="4882896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노란 고리가 «도우면 되는 구간». 교사와 A.I가 이 안에 함께 서 있습니다</a:t>
            </a:r>
            <a:endParaRPr lang="en-US" sz="950" dirty="0"/>
          </a:p>
        </p:txBody>
      </p:sp>
      <p:sp>
        <p:nvSpPr>
          <p:cNvPr id="33" name="Shape 29"/>
          <p:cNvSpPr/>
          <p:nvPr/>
        </p:nvSpPr>
        <p:spPr>
          <a:xfrm>
            <a:off x="566928" y="5943600"/>
            <a:ext cx="11055096" cy="621792"/>
          </a:xfrm>
          <a:prstGeom prst="roundRect">
            <a:avLst>
              <a:gd name="adj" fmla="val 14706"/>
            </a:avLst>
          </a:prstGeom>
          <a:solidFill>
            <a:srgbClr val="231B08"/>
          </a:solidFill>
          <a:ln w="12700">
            <a:solidFill>
              <a:srgbClr val="6B5316"/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731520" y="6089904"/>
            <a:ext cx="1133856" cy="329184"/>
          </a:xfrm>
          <a:prstGeom prst="roundRect">
            <a:avLst>
              <a:gd name="adj" fmla="val 50000"/>
            </a:avLst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35" name="Text 31"/>
          <p:cNvSpPr/>
          <p:nvPr/>
        </p:nvSpPr>
        <p:spPr>
          <a:xfrm>
            <a:off x="731520" y="6089904"/>
            <a:ext cx="11338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2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쉽게 말하면</a:t>
            </a:r>
            <a:endParaRPr lang="en-US" sz="1050" dirty="0"/>
          </a:p>
        </p:txBody>
      </p:sp>
      <p:sp>
        <p:nvSpPr>
          <p:cNvPr id="36" name="Text 32"/>
          <p:cNvSpPr/>
          <p:nvPr/>
        </p:nvSpPr>
        <p:spPr>
          <a:xfrm>
            <a:off x="2011680" y="5943600"/>
            <a:ext cx="942746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FFE7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혼자선 못 풀지만 누가 살짝 도와주면 풀리는 문제 있잖아. 딱 그 구간을 선생님이랑 AI가 채워 주는 거야.</a:t>
            </a:r>
            <a:endParaRPr lang="en-US" sz="1200" dirty="0"/>
          </a:p>
        </p:txBody>
      </p:sp>
      <p:sp>
        <p:nvSpPr>
          <p:cNvPr id="37" name="Text 33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theory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이론 03 · 촘스키 &amp; 제2언어 습득 (Krashen · Swain)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10234879" y="384048"/>
            <a:ext cx="1389888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0234879" y="384048"/>
            <a:ext cx="13898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Chomsky 1959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822960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언어는 «배우는» 것이 아니라 «자라는» 것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566928" y="1481328"/>
            <a:ext cx="110550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촘스키는 언어 능력을 자극-반응의 축적으로 설명하려는 시도를 정면으로 비판했습니다. 규칙을 외워서 되는 것이 아니라면, 수업은 무엇을 해야 하는가.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66928" y="2121408"/>
            <a:ext cx="2688336" cy="1298448"/>
          </a:xfrm>
          <a:prstGeom prst="roundRect">
            <a:avLst>
              <a:gd name="adj" fmla="val 7042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2249424"/>
            <a:ext cx="22677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촘스키 (1959, 1965)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786384" y="24871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생득적 언어 능력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786384" y="2798064"/>
            <a:ext cx="230428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언어는 반복·강화로 축적되지 않는다. 인간은 들어 본 적 없는 문장을 만들어 낸다. «문법 설명 → 암기 → 시험»만으로는 말하기가 자라지 않는다.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474720" y="2121408"/>
            <a:ext cx="2688336" cy="1298448"/>
          </a:xfrm>
          <a:prstGeom prst="roundRect">
            <a:avLst>
              <a:gd name="adj" fmla="val 7042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3694176" y="2249424"/>
            <a:ext cx="22677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크라션 (1982)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3694176" y="24871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이해 가능한 입력 · i+1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3694176" y="2798064"/>
            <a:ext cx="230428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습득은 현재 수준보다 조금 위(i+1)의 이해 가능한 입력에서 일어난다. 불안이 높으면 정서 필터가 올라가 입력이 습득으로 넘어가지 못한다.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6382512" y="2121408"/>
            <a:ext cx="2688336" cy="1298448"/>
          </a:xfrm>
          <a:prstGeom prst="roundRect">
            <a:avLst>
              <a:gd name="adj" fmla="val 7042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601968" y="2249424"/>
            <a:ext cx="22677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08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스웨인 (1985)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6601968" y="24871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이해 가능한 출력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6601968" y="2798064"/>
            <a:ext cx="230428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듣기만으로는 부족하다. 직접 말해 보며 «내가 모르는 지점»을 마주칠 때 규칙이 굳는다. 발화량이 곧 학습량인 이유.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9290304" y="2121408"/>
            <a:ext cx="2825496" cy="1298448"/>
          </a:xfrm>
          <a:prstGeom prst="roundRect">
            <a:avLst>
              <a:gd name="adj" fmla="val 7042"/>
            </a:avLst>
          </a:prstGeom>
          <a:solidFill>
            <a:srgbClr val="1A1230"/>
          </a:solidFill>
          <a:ln w="12700">
            <a:solidFill>
              <a:srgbClr val="4A3570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9509760" y="2249424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08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정직하게 덧붙이면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9509760" y="2505456"/>
            <a:ext cx="23774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촘스키 본인은 자신의 이론을 외국어 교수법에 바로 적용하는 것을 경계했습니다. 교실 설계의 직접 근거는 크라션·스웨인 계열의 제2언어 습득 연구입니다.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566928" y="3511296"/>
            <a:ext cx="110550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850" i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Chomsky, N. (1959). Language, 35(1), 26–58.  ·  Chomsky, N. (1965). Aspects of the Theory of Syntax. MIT Press.  ·  Krashen, S. D. (1982). Principles and Practice in SLA. Pergamon.  ·  Swain, M. (1985). In Gass &amp; Madden (Eds.), Input in SLA (pp. 235–253). Newbury House.</a:t>
            </a:r>
            <a:endParaRPr lang="en-US" sz="850" dirty="0"/>
          </a:p>
        </p:txBody>
      </p:sp>
      <p:sp>
        <p:nvSpPr>
          <p:cNvPr id="24" name="Shape 21"/>
          <p:cNvSpPr/>
          <p:nvPr/>
        </p:nvSpPr>
        <p:spPr>
          <a:xfrm>
            <a:off x="1536192" y="3877056"/>
            <a:ext cx="9125712" cy="2096665"/>
          </a:xfrm>
          <a:prstGeom prst="roundRect">
            <a:avLst>
              <a:gd name="adj" fmla="val 3489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25" name="Image 1" descr="/tmp/claude-0/-home-user-mangoiweb/ca835eb4-1670-5fc1-a29a-2fc77598fea3/scratchpad/deck_img/d_i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2768" y="3913632"/>
            <a:ext cx="9052560" cy="2023513"/>
          </a:xfrm>
          <a:prstGeom prst="rect">
            <a:avLst/>
          </a:prstGeom>
        </p:spPr>
      </p:pic>
      <p:sp>
        <p:nvSpPr>
          <p:cNvPr id="26" name="Shape 22"/>
          <p:cNvSpPr/>
          <p:nvPr/>
        </p:nvSpPr>
        <p:spPr>
          <a:xfrm>
            <a:off x="566928" y="6089904"/>
            <a:ext cx="11055096" cy="621792"/>
          </a:xfrm>
          <a:prstGeom prst="roundRect">
            <a:avLst>
              <a:gd name="adj" fmla="val 14706"/>
            </a:avLst>
          </a:prstGeom>
          <a:solidFill>
            <a:srgbClr val="231B08"/>
          </a:solidFill>
          <a:ln w="12700">
            <a:solidFill>
              <a:srgbClr val="6B5316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731520" y="6236208"/>
            <a:ext cx="1133856" cy="329184"/>
          </a:xfrm>
          <a:prstGeom prst="roundRect">
            <a:avLst>
              <a:gd name="adj" fmla="val 50000"/>
            </a:avLst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731520" y="6236208"/>
            <a:ext cx="11338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2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쉽게 말하면</a:t>
            </a:r>
            <a:endParaRPr lang="en-US" sz="1050" dirty="0"/>
          </a:p>
        </p:txBody>
      </p:sp>
      <p:sp>
        <p:nvSpPr>
          <p:cNvPr id="29" name="Text 25"/>
          <p:cNvSpPr/>
          <p:nvPr/>
        </p:nvSpPr>
        <p:spPr>
          <a:xfrm>
            <a:off x="2011680" y="6089904"/>
            <a:ext cx="942746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FFE7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문법책 외운다고 말이 트이진 않아. 조금 어려운 영어를 계속 듣고(입력), 겁먹지 않고 말해 보고(출력), 바로 고쳐 받는 게 핵심이야.</a:t>
            </a:r>
            <a:endParaRPr lang="en-US" sz="1200" dirty="0"/>
          </a:p>
        </p:txBody>
      </p:sp>
      <p:sp>
        <p:nvSpPr>
          <p:cNvPr id="30" name="Text 26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theory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이론 04 · 인지심리학 — «배웠다»와 «남았다»의 차이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9613087" y="384048"/>
            <a:ext cx="2011680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9613087" y="384048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Ebbinghaus · Sweller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822960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«배웠다»와 «남았다»는 다른 말입니다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566928" y="1481328"/>
            <a:ext cx="110550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에빙하우스 이래 기억 연구가 반복해서 확인한 것은 두 가지입니다 — 간격을 두고, 꺼내 볼 것.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30352" y="2029968"/>
            <a:ext cx="6291072" cy="3537422"/>
          </a:xfrm>
          <a:prstGeom prst="roundRect">
            <a:avLst>
              <a:gd name="adj" fmla="val 2068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9" name="Image 1" descr="/tmp/claude-0/-home-user-mangoiweb/ca835eb4-1670-5fc1-a29a-2fc77598fea3/scratchpad/deck_img/d_forge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066544"/>
            <a:ext cx="6217920" cy="346427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7168896" y="2066544"/>
            <a:ext cx="4462272" cy="1133856"/>
          </a:xfrm>
          <a:prstGeom prst="roundRect">
            <a:avLst>
              <a:gd name="adj" fmla="val 8065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7406640" y="2176272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분산 연습</a:t>
            </a:r>
            <a:endParaRPr lang="en-US" sz="1200" dirty="0"/>
          </a:p>
        </p:txBody>
      </p:sp>
      <p:sp>
        <p:nvSpPr>
          <p:cNvPr id="12" name="Text 8"/>
          <p:cNvSpPr/>
          <p:nvPr/>
        </p:nvSpPr>
        <p:spPr>
          <a:xfrm>
            <a:off x="9235440" y="2194560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i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Cepeda et al. (2006)</a:t>
            </a:r>
            <a:endParaRPr lang="en-US" sz="850" dirty="0"/>
          </a:p>
        </p:txBody>
      </p:sp>
      <p:sp>
        <p:nvSpPr>
          <p:cNvPr id="13" name="Text 9"/>
          <p:cNvSpPr/>
          <p:nvPr/>
        </p:nvSpPr>
        <p:spPr>
          <a:xfrm>
            <a:off x="7406640" y="2450592"/>
            <a:ext cx="40050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몰아서보다 간격을 두고 나눠 학습할 때 장기 보존이 더 좋다.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7406640" y="2889504"/>
            <a:ext cx="40050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 1분 마이크로러닝 · 연속 학습(스트릭)</a:t>
            </a:r>
            <a:endParaRPr lang="en-US" sz="950" dirty="0"/>
          </a:p>
        </p:txBody>
      </p:sp>
      <p:sp>
        <p:nvSpPr>
          <p:cNvPr id="15" name="Shape 11"/>
          <p:cNvSpPr/>
          <p:nvPr/>
        </p:nvSpPr>
        <p:spPr>
          <a:xfrm>
            <a:off x="7168896" y="3273552"/>
            <a:ext cx="4462272" cy="1133856"/>
          </a:xfrm>
          <a:prstGeom prst="roundRect">
            <a:avLst>
              <a:gd name="adj" fmla="val 8065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7406640" y="338328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인출 연습</a:t>
            </a:r>
            <a:endParaRPr lang="en-US" sz="1200" dirty="0"/>
          </a:p>
        </p:txBody>
      </p:sp>
      <p:sp>
        <p:nvSpPr>
          <p:cNvPr id="17" name="Text 13"/>
          <p:cNvSpPr/>
          <p:nvPr/>
        </p:nvSpPr>
        <p:spPr>
          <a:xfrm>
            <a:off x="9235440" y="3401568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i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Roediger &amp; Karpicke (2006)</a:t>
            </a:r>
            <a:endParaRPr lang="en-US" sz="850" dirty="0"/>
          </a:p>
        </p:txBody>
      </p:sp>
      <p:sp>
        <p:nvSpPr>
          <p:cNvPr id="18" name="Text 14"/>
          <p:cNvSpPr/>
          <p:nvPr/>
        </p:nvSpPr>
        <p:spPr>
          <a:xfrm>
            <a:off x="7406640" y="3657600"/>
            <a:ext cx="40050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다시 읽는 것보다 «시험처럼 꺼내 보는 것»이 장기 기억을 더 높인다.</a:t>
            </a:r>
            <a:endParaRPr lang="en-US" sz="950" dirty="0"/>
          </a:p>
        </p:txBody>
      </p:sp>
      <p:sp>
        <p:nvSpPr>
          <p:cNvPr id="19" name="Text 15"/>
          <p:cNvSpPr/>
          <p:nvPr/>
        </p:nvSpPr>
        <p:spPr>
          <a:xfrm>
            <a:off x="7406640" y="4096512"/>
            <a:ext cx="40050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 수업 후 복습 퀴즈 10문항 · AI 단어 퀴즈</a:t>
            </a:r>
            <a:endParaRPr lang="en-US" sz="950" dirty="0"/>
          </a:p>
        </p:txBody>
      </p:sp>
      <p:sp>
        <p:nvSpPr>
          <p:cNvPr id="20" name="Shape 16"/>
          <p:cNvSpPr/>
          <p:nvPr/>
        </p:nvSpPr>
        <p:spPr>
          <a:xfrm>
            <a:off x="7168896" y="4480560"/>
            <a:ext cx="4462272" cy="1133856"/>
          </a:xfrm>
          <a:prstGeom prst="roundRect">
            <a:avLst>
              <a:gd name="adj" fmla="val 8065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7406640" y="459028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인지부하</a:t>
            </a:r>
            <a:endParaRPr lang="en-US" sz="1200" dirty="0"/>
          </a:p>
        </p:txBody>
      </p:sp>
      <p:sp>
        <p:nvSpPr>
          <p:cNvPr id="22" name="Text 18"/>
          <p:cNvSpPr/>
          <p:nvPr/>
        </p:nvSpPr>
        <p:spPr>
          <a:xfrm>
            <a:off x="9235440" y="4608576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i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Sweller (1988)</a:t>
            </a:r>
            <a:endParaRPr lang="en-US" sz="850" dirty="0"/>
          </a:p>
        </p:txBody>
      </p:sp>
      <p:sp>
        <p:nvSpPr>
          <p:cNvPr id="23" name="Text 19"/>
          <p:cNvSpPr/>
          <p:nvPr/>
        </p:nvSpPr>
        <p:spPr>
          <a:xfrm>
            <a:off x="7406640" y="4864608"/>
            <a:ext cx="40050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작업기억은 제한적이다. 학습과 무관한 부하를 줄여야 한다.</a:t>
            </a:r>
            <a:endParaRPr lang="en-US" sz="950" dirty="0"/>
          </a:p>
        </p:txBody>
      </p:sp>
      <p:sp>
        <p:nvSpPr>
          <p:cNvPr id="24" name="Text 20"/>
          <p:cNvSpPr/>
          <p:nvPr/>
        </p:nvSpPr>
        <p:spPr>
          <a:xfrm>
            <a:off x="7406640" y="5303520"/>
            <a:ext cx="40050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08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 게임 UI 단순화 · 한 화면에 한 과제</a:t>
            </a:r>
            <a:endParaRPr lang="en-US" sz="950" dirty="0"/>
          </a:p>
        </p:txBody>
      </p:sp>
      <p:sp>
        <p:nvSpPr>
          <p:cNvPr id="25" name="Text 21"/>
          <p:cNvSpPr/>
          <p:nvPr/>
        </p:nvSpPr>
        <p:spPr>
          <a:xfrm>
            <a:off x="566928" y="5522976"/>
            <a:ext cx="1024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850" i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Ebbinghaus, H. (1885/1913). Memory.  ·  Cepeda, N. J., Pashler, H., Vul, E., Wixted, J. T., &amp; Rohrer, D. (2006). Psychological Bulletin, 132(3), 354–380.  ·  Roediger, H. L., &amp; Karpicke, J. D. (2006). Psychological Science, 17(3), 249–255.  ·  Sweller, J. (1988). Cognitive Science, 12(2), 257–285.</a:t>
            </a:r>
            <a:endParaRPr lang="en-US" sz="850" dirty="0"/>
          </a:p>
        </p:txBody>
      </p:sp>
      <p:sp>
        <p:nvSpPr>
          <p:cNvPr id="26" name="Shape 22"/>
          <p:cNvSpPr/>
          <p:nvPr/>
        </p:nvSpPr>
        <p:spPr>
          <a:xfrm>
            <a:off x="566928" y="5943600"/>
            <a:ext cx="11055096" cy="621792"/>
          </a:xfrm>
          <a:prstGeom prst="roundRect">
            <a:avLst>
              <a:gd name="adj" fmla="val 14706"/>
            </a:avLst>
          </a:prstGeom>
          <a:solidFill>
            <a:srgbClr val="231B08"/>
          </a:solidFill>
          <a:ln w="12700">
            <a:solidFill>
              <a:srgbClr val="6B5316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731520" y="6089904"/>
            <a:ext cx="1133856" cy="329184"/>
          </a:xfrm>
          <a:prstGeom prst="roundRect">
            <a:avLst>
              <a:gd name="adj" fmla="val 50000"/>
            </a:avLst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731520" y="6089904"/>
            <a:ext cx="11338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2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쉽게 말하면</a:t>
            </a:r>
            <a:endParaRPr lang="en-US" sz="1050" dirty="0"/>
          </a:p>
        </p:txBody>
      </p:sp>
      <p:sp>
        <p:nvSpPr>
          <p:cNvPr id="29" name="Text 25"/>
          <p:cNvSpPr/>
          <p:nvPr/>
        </p:nvSpPr>
        <p:spPr>
          <a:xfrm>
            <a:off x="2011680" y="5943600"/>
            <a:ext cx="942746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FFE7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번에 몰아서 외우면 며칠 뒤에 다 날아가. 짧게 여러 번, 그리고 «다시 보기»가 아니라 «맞혀 보기»를 해야 남아.</a:t>
            </a:r>
            <a:endParaRPr lang="en-US" sz="1200" dirty="0"/>
          </a:p>
        </p:txBody>
      </p:sp>
      <p:sp>
        <p:nvSpPr>
          <p:cNvPr id="30" name="Text 26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theory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이론 05 · 동기와 몰입 — «재미»는 설계 조건입니다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8835847" y="384048"/>
            <a:ext cx="2788920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8835847" y="384048"/>
            <a:ext cx="2788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Ryan &amp; Deci · Csikszentmihalyi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82296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«재미»는 포장이 아니라 설계 조건입니다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566928" y="1481328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표지의 한 줄 — «재미가 의지를 이깁니다» — 은 구호가 아니라</a:t>
            </a:r>
            <a:endParaRPr lang="en-US" sz="12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동기 연구가 반복해서 말해 온 결론을 그대로 옮긴 것입니다.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66928" y="2286000"/>
            <a:ext cx="6053328" cy="822960"/>
          </a:xfrm>
          <a:prstGeom prst="roundRect">
            <a:avLst>
              <a:gd name="adj" fmla="val 11111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04672" y="237744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자기결정이론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2670048" y="2395728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Ryan &amp; Deci (2000)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804672" y="2633472"/>
            <a:ext cx="5577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자율성 · 유능감 · 관계성이 충족될 때 내재동기가 유지된다.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804672" y="2843784"/>
            <a:ext cx="5577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 게임·주제·아바타를 «내가» 고른다 · 레벨업 · AI 친구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566928" y="3182112"/>
            <a:ext cx="6053328" cy="822960"/>
          </a:xfrm>
          <a:prstGeom prst="roundRect">
            <a:avLst>
              <a:gd name="adj" fmla="val 11111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04672" y="3273552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몰입 이론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2670048" y="3291840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Csikszentmihalyi (1990)</a:t>
            </a:r>
            <a:endParaRPr lang="en-US" sz="850" dirty="0"/>
          </a:p>
        </p:txBody>
      </p:sp>
      <p:sp>
        <p:nvSpPr>
          <p:cNvPr id="16" name="Text 13"/>
          <p:cNvSpPr/>
          <p:nvPr/>
        </p:nvSpPr>
        <p:spPr>
          <a:xfrm>
            <a:off x="804672" y="3529584"/>
            <a:ext cx="5577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난이도와 실력이 균형을 이루는 좁은 구간에서 몰입이 일어난다.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804672" y="3739896"/>
            <a:ext cx="5577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 속도 조절(거북이~불꽃) · 정확도 기반 난이도 조정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566928" y="4078224"/>
            <a:ext cx="6053328" cy="822960"/>
          </a:xfrm>
          <a:prstGeom prst="roundRect">
            <a:avLst>
              <a:gd name="adj" fmla="val 11111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04672" y="4169664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성장 마인드셋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2670048" y="4187952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Dweck (2006)</a:t>
            </a:r>
            <a:endParaRPr lang="en-US" sz="850" dirty="0"/>
          </a:p>
        </p:txBody>
      </p:sp>
      <p:sp>
        <p:nvSpPr>
          <p:cNvPr id="21" name="Text 18"/>
          <p:cNvSpPr/>
          <p:nvPr/>
        </p:nvSpPr>
        <p:spPr>
          <a:xfrm>
            <a:off x="804672" y="4425696"/>
            <a:ext cx="5577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능력은 고정된 것이 아니라 노력으로 자란다는 믿음이 성취를 바꾼다.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804672" y="4636008"/>
            <a:ext cx="5577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08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 «말할수록 자라는» 아바타 · 과정(연속 일수)을 칭찬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566928" y="4974336"/>
            <a:ext cx="6053328" cy="822960"/>
          </a:xfrm>
          <a:prstGeom prst="roundRect">
            <a:avLst>
              <a:gd name="adj" fmla="val 11111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04672" y="5065776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자기효능감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2670048" y="5084064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Bandura (1977)</a:t>
            </a:r>
            <a:endParaRPr lang="en-US" sz="850" dirty="0"/>
          </a:p>
        </p:txBody>
      </p:sp>
      <p:sp>
        <p:nvSpPr>
          <p:cNvPr id="26" name="Text 23"/>
          <p:cNvSpPr/>
          <p:nvPr/>
        </p:nvSpPr>
        <p:spPr>
          <a:xfrm>
            <a:off x="804672" y="5321808"/>
            <a:ext cx="5577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«할 수 있다»는 믿음은 작은 성공 경험이 쌓일 때 생긴다.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804672" y="5532120"/>
            <a:ext cx="5577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4D39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 1분이면 끝나는 과제 · 즉시 채점되는 발음 점수</a:t>
            </a:r>
            <a:endParaRPr lang="en-US" sz="950" dirty="0"/>
          </a:p>
        </p:txBody>
      </p:sp>
      <p:sp>
        <p:nvSpPr>
          <p:cNvPr id="28" name="Shape 25"/>
          <p:cNvSpPr/>
          <p:nvPr/>
        </p:nvSpPr>
        <p:spPr>
          <a:xfrm>
            <a:off x="7022592" y="1261872"/>
            <a:ext cx="4005072" cy="3005431"/>
          </a:xfrm>
          <a:prstGeom prst="roundRect">
            <a:avLst>
              <a:gd name="adj" fmla="val 2434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29" name="Image 1" descr="/tmp/claude-0/-home-user-mangoiweb/ca835eb4-1670-5fc1-a29a-2fc77598fea3/scratchpad/deck_img/d_f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59168" y="1298448"/>
            <a:ext cx="3931920" cy="2932279"/>
          </a:xfrm>
          <a:prstGeom prst="rect">
            <a:avLst/>
          </a:prstGeom>
        </p:spPr>
      </p:pic>
      <p:sp>
        <p:nvSpPr>
          <p:cNvPr id="30" name="Shape 26"/>
          <p:cNvSpPr/>
          <p:nvPr/>
        </p:nvSpPr>
        <p:spPr>
          <a:xfrm>
            <a:off x="7059168" y="4626864"/>
            <a:ext cx="4572000" cy="1133856"/>
          </a:xfrm>
          <a:prstGeom prst="roundRect">
            <a:avLst>
              <a:gd name="adj" fmla="val 8065"/>
            </a:avLst>
          </a:prstGeom>
          <a:solidFill>
            <a:srgbClr val="1A1230"/>
          </a:solidFill>
          <a:ln w="12700">
            <a:solidFill>
              <a:srgbClr val="4A3570"/>
            </a:solidFill>
            <a:prstDash val="solid"/>
          </a:ln>
        </p:spPr>
      </p:sp>
      <p:sp>
        <p:nvSpPr>
          <p:cNvPr id="31" name="Text 27"/>
          <p:cNvSpPr/>
          <p:nvPr/>
        </p:nvSpPr>
        <p:spPr>
          <a:xfrm>
            <a:off x="7296912" y="4754880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08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스스로 경계하는 지점</a:t>
            </a:r>
            <a:endParaRPr lang="en-US" sz="1000" dirty="0"/>
          </a:p>
        </p:txBody>
      </p:sp>
      <p:sp>
        <p:nvSpPr>
          <p:cNvPr id="32" name="Text 28"/>
          <p:cNvSpPr/>
          <p:nvPr/>
        </p:nvSpPr>
        <p:spPr>
          <a:xfrm>
            <a:off x="7296912" y="5010912"/>
            <a:ext cx="4114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외적 보상은 내재동기를 오히려 떨어뜨릴 수 있다는 메타분석이 있습니다(Deci, Koestner &amp; Ryan, 1999). 그래서 포인트·기프티콘은 «성적»이 아니라 «습관»에만 걸고, 사행성 요소는 넣지 않습니다.</a:t>
            </a:r>
            <a:endParaRPr lang="en-US" sz="900" dirty="0"/>
          </a:p>
        </p:txBody>
      </p:sp>
      <p:sp>
        <p:nvSpPr>
          <p:cNvPr id="33" name="Text 29"/>
          <p:cNvSpPr/>
          <p:nvPr/>
        </p:nvSpPr>
        <p:spPr>
          <a:xfrm>
            <a:off x="566928" y="58887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850" i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Ryan, R. M., &amp; Deci, E. L. (2000). American Psychologist, 55(1), 68–78.  ·  Csikszentmihalyi, M. (1990). Flow. Harper &amp; Row.  ·  Dweck, C. S. (2006). Mindset. Random House.  ·  Bandura, A. (1977). Psychological Review, 84(2), 191–215.</a:t>
            </a:r>
            <a:endParaRPr lang="en-US" sz="850" dirty="0"/>
          </a:p>
        </p:txBody>
      </p:sp>
      <p:sp>
        <p:nvSpPr>
          <p:cNvPr id="34" name="Shape 30"/>
          <p:cNvSpPr/>
          <p:nvPr/>
        </p:nvSpPr>
        <p:spPr>
          <a:xfrm>
            <a:off x="566928" y="6163056"/>
            <a:ext cx="11055096" cy="621792"/>
          </a:xfrm>
          <a:prstGeom prst="roundRect">
            <a:avLst>
              <a:gd name="adj" fmla="val 14706"/>
            </a:avLst>
          </a:prstGeom>
          <a:solidFill>
            <a:srgbClr val="231B08"/>
          </a:solidFill>
          <a:ln w="12700">
            <a:solidFill>
              <a:srgbClr val="6B5316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731520" y="6309360"/>
            <a:ext cx="1133856" cy="329184"/>
          </a:xfrm>
          <a:prstGeom prst="roundRect">
            <a:avLst>
              <a:gd name="adj" fmla="val 50000"/>
            </a:avLst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36" name="Text 32"/>
          <p:cNvSpPr/>
          <p:nvPr/>
        </p:nvSpPr>
        <p:spPr>
          <a:xfrm>
            <a:off x="731520" y="6309360"/>
            <a:ext cx="11338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2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쉽게 말하면</a:t>
            </a:r>
            <a:endParaRPr lang="en-US" sz="1050" dirty="0"/>
          </a:p>
        </p:txBody>
      </p:sp>
      <p:sp>
        <p:nvSpPr>
          <p:cNvPr id="37" name="Text 33"/>
          <p:cNvSpPr/>
          <p:nvPr/>
        </p:nvSpPr>
        <p:spPr>
          <a:xfrm>
            <a:off x="2011680" y="6163056"/>
            <a:ext cx="942746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FFE7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너무 어려우면 겁나서 도망가고, 너무 쉬우면 지루해서 안 해. 딱 그 사이를 맞춰 주는 게 게임이 하는 일이야.</a:t>
            </a:r>
            <a:endParaRPr lang="en-US" sz="1200" dirty="0"/>
          </a:p>
        </p:txBody>
      </p:sp>
      <p:sp>
        <p:nvSpPr>
          <p:cNvPr id="38" name="Text 34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theory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이론 → 기능 · 학술 연구와 망고아이 기능 매핑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10157155" y="384048"/>
            <a:ext cx="1467612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0157155" y="384048"/>
            <a:ext cx="14676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Mapping Table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822960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각 이론이 어떤 기능이 되었는가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566928" y="1481328"/>
            <a:ext cx="110550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왼쪽은 연구, 오른쪽은 지금 화면에 있는 기능입니다. 근거 없이 만든 화면은 없습니다.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943600" y="2011680"/>
            <a:ext cx="5687568" cy="3712464"/>
          </a:xfrm>
          <a:prstGeom prst="roundRect">
            <a:avLst>
              <a:gd name="adj" fmla="val 2463"/>
            </a:avLst>
          </a:prstGeom>
          <a:solidFill>
            <a:srgbClr val="231B08"/>
          </a:solidFill>
          <a:ln w="12700">
            <a:solidFill>
              <a:srgbClr val="6B531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" y="208483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이론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3273552" y="2084832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주장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181344" y="2084832"/>
            <a:ext cx="5687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망고아이의 구현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66928" y="2432304"/>
            <a:ext cx="5852160" cy="402336"/>
          </a:xfrm>
          <a:prstGeom prst="rect">
            <a:avLst/>
          </a:prstGeom>
          <a:solidFill>
            <a:srgbClr val="121830"/>
          </a:solidFill>
          <a:ln w="12700">
            <a:solidFill>
              <a:srgbClr val="12183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40080" y="2450592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비고츠키 ZPD · 스캐폴딩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3273552" y="2450592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혼자선 못 하지만 도우면 되는 구간에서 배운다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6181344" y="2450592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FFE7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전담 교사 + AI 음성코치·AI 친구의 힌트와 단계적 난이도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640080" y="2889504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크라션 입력가설 (i+1)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3273552" y="2889504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수준보다 살짝 위의 이해 가능한 입력이 필요하다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6181344" y="2889504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FFE7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웜업 · 레벨테스트 기반 CEFR 8단계 배정 · 원어민 발음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566928" y="3310128"/>
            <a:ext cx="5852160" cy="402336"/>
          </a:xfrm>
          <a:prstGeom prst="rect">
            <a:avLst/>
          </a:prstGeom>
          <a:solidFill>
            <a:srgbClr val="121830"/>
          </a:solidFill>
          <a:ln w="12700">
            <a:solidFill>
              <a:srgbClr val="12183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40080" y="3328416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크라션 정서 필터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3273552" y="3328416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불안이 높으면 입력이 습득으로 넘어가지 않는다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6181344" y="3328416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FFE7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친구 대화 — 틀려도 웃지 않는 상대, 한 마디마다 포인트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640080" y="3767328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스웨인 출력가설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3273552" y="3767328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직접 말해 봐야 규칙이 굳는다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6181344" y="3767328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FFE7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음성코치의 발화 채점 · 말하기가 승리 조건인 학습 게임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566928" y="4187952"/>
            <a:ext cx="5852160" cy="402336"/>
          </a:xfrm>
          <a:prstGeom prst="rect">
            <a:avLst/>
          </a:prstGeom>
          <a:solidFill>
            <a:srgbClr val="121830"/>
          </a:solidFill>
          <a:ln w="12700">
            <a:solidFill>
              <a:srgbClr val="121830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40080" y="420624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분산 연습 · 인출 연습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3273552" y="42062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간격을 두고 꺼내 볼 때 오래 남는다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6181344" y="420624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FFE7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1분 AI 단어 퀴즈 · 복습 10문항 · 연속 학습(스트릭)</a:t>
            </a:r>
            <a:endParaRPr lang="en-US" sz="950" dirty="0"/>
          </a:p>
        </p:txBody>
      </p:sp>
      <p:sp>
        <p:nvSpPr>
          <p:cNvPr id="30" name="Text 27"/>
          <p:cNvSpPr/>
          <p:nvPr/>
        </p:nvSpPr>
        <p:spPr>
          <a:xfrm>
            <a:off x="640080" y="4645152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인지부하 이론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3273552" y="4645152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학습과 무관한 부하를 줄여야 한다</a:t>
            </a:r>
            <a:endParaRPr lang="en-US" sz="900" dirty="0"/>
          </a:p>
        </p:txBody>
      </p:sp>
      <p:sp>
        <p:nvSpPr>
          <p:cNvPr id="32" name="Text 29"/>
          <p:cNvSpPr/>
          <p:nvPr/>
        </p:nvSpPr>
        <p:spPr>
          <a:xfrm>
            <a:off x="6181344" y="4645152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FFE7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화면에 한 과제 · 게임 UI 단순화</a:t>
            </a:r>
            <a:endParaRPr lang="en-US" sz="950" dirty="0"/>
          </a:p>
        </p:txBody>
      </p:sp>
      <p:sp>
        <p:nvSpPr>
          <p:cNvPr id="33" name="Shape 30"/>
          <p:cNvSpPr/>
          <p:nvPr/>
        </p:nvSpPr>
        <p:spPr>
          <a:xfrm>
            <a:off x="566928" y="5065776"/>
            <a:ext cx="5852160" cy="402336"/>
          </a:xfrm>
          <a:prstGeom prst="rect">
            <a:avLst/>
          </a:prstGeom>
          <a:solidFill>
            <a:srgbClr val="121830"/>
          </a:solidFill>
          <a:ln w="12700">
            <a:solidFill>
              <a:srgbClr val="121830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640080" y="5084064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자기결정이론 · 몰입</a:t>
            </a:r>
            <a:endParaRPr lang="en-US" sz="1000" dirty="0"/>
          </a:p>
        </p:txBody>
      </p:sp>
      <p:sp>
        <p:nvSpPr>
          <p:cNvPr id="35" name="Text 32"/>
          <p:cNvSpPr/>
          <p:nvPr/>
        </p:nvSpPr>
        <p:spPr>
          <a:xfrm>
            <a:off x="3273552" y="5084064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자율성·유능감·관계성, 그리고 난이도 균형</a:t>
            </a:r>
            <a:endParaRPr lang="en-US" sz="900" dirty="0"/>
          </a:p>
        </p:txBody>
      </p:sp>
      <p:sp>
        <p:nvSpPr>
          <p:cNvPr id="36" name="Text 33"/>
          <p:cNvSpPr/>
          <p:nvPr/>
        </p:nvSpPr>
        <p:spPr>
          <a:xfrm>
            <a:off x="6181344" y="5084064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FFE7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게임·주제·아바타 선택권 · 속도 조절 · 레벨과 배지</a:t>
            </a:r>
            <a:endParaRPr lang="en-US" sz="950" dirty="0"/>
          </a:p>
        </p:txBody>
      </p:sp>
      <p:sp>
        <p:nvSpPr>
          <p:cNvPr id="37" name="Text 34"/>
          <p:cNvSpPr/>
          <p:nvPr/>
        </p:nvSpPr>
        <p:spPr>
          <a:xfrm>
            <a:off x="640080" y="5522976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성장 마인드셋</a:t>
            </a:r>
            <a:endParaRPr lang="en-US" sz="1000" dirty="0"/>
          </a:p>
        </p:txBody>
      </p:sp>
      <p:sp>
        <p:nvSpPr>
          <p:cNvPr id="38" name="Text 35"/>
          <p:cNvSpPr/>
          <p:nvPr/>
        </p:nvSpPr>
        <p:spPr>
          <a:xfrm>
            <a:off x="3273552" y="5522976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능력은 노력으로 자란다는 믿음</a:t>
            </a:r>
            <a:endParaRPr lang="en-US" sz="900" dirty="0"/>
          </a:p>
        </p:txBody>
      </p:sp>
      <p:sp>
        <p:nvSpPr>
          <p:cNvPr id="39" name="Text 36"/>
          <p:cNvSpPr/>
          <p:nvPr/>
        </p:nvSpPr>
        <p:spPr>
          <a:xfrm>
            <a:off x="6181344" y="5522976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FFE7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말할수록 자라는 아바타 · 과정을 칭찬하는 리포트</a:t>
            </a:r>
            <a:endParaRPr lang="en-US" sz="950" dirty="0"/>
          </a:p>
        </p:txBody>
      </p:sp>
      <p:sp>
        <p:nvSpPr>
          <p:cNvPr id="40" name="Shape 37"/>
          <p:cNvSpPr/>
          <p:nvPr/>
        </p:nvSpPr>
        <p:spPr>
          <a:xfrm>
            <a:off x="566928" y="5943600"/>
            <a:ext cx="11055096" cy="621792"/>
          </a:xfrm>
          <a:prstGeom prst="roundRect">
            <a:avLst>
              <a:gd name="adj" fmla="val 14706"/>
            </a:avLst>
          </a:prstGeom>
          <a:solidFill>
            <a:srgbClr val="231B08"/>
          </a:solidFill>
          <a:ln w="12700">
            <a:solidFill>
              <a:srgbClr val="6B5316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731520" y="6089904"/>
            <a:ext cx="1133856" cy="329184"/>
          </a:xfrm>
          <a:prstGeom prst="roundRect">
            <a:avLst>
              <a:gd name="adj" fmla="val 50000"/>
            </a:avLst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731520" y="6089904"/>
            <a:ext cx="11338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2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쉽게 말하면</a:t>
            </a:r>
            <a:endParaRPr lang="en-US" sz="1050" dirty="0"/>
          </a:p>
        </p:txBody>
      </p:sp>
      <p:sp>
        <p:nvSpPr>
          <p:cNvPr id="43" name="Text 40"/>
          <p:cNvSpPr/>
          <p:nvPr/>
        </p:nvSpPr>
        <p:spPr>
          <a:xfrm>
            <a:off x="2011680" y="5943600"/>
            <a:ext cx="942746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FFE7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왼쪽은 «학자들이 이렇게 말했다», 오른쪽은 «그래서 우리가 이걸 만들었다». 한 줄씩 짝이 맞아.</a:t>
            </a:r>
            <a:endParaRPr lang="en-US" sz="1200" dirty="0"/>
          </a:p>
        </p:txBody>
      </p:sp>
      <p:sp>
        <p:nvSpPr>
          <p:cNvPr id="44" name="Text 41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theory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REFERENCES · 참고문헌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10573207" y="384048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0573207" y="384048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APA 7th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822960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참고문헌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566928" y="1371600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문서의 이론적 주장은 아래 문헌에 근거합니다. 표기는 APA 7판을 따랐습니다.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566928" y="1810512"/>
            <a:ext cx="5486400" cy="1956816"/>
          </a:xfrm>
          <a:prstGeom prst="roundRect">
            <a:avLst>
              <a:gd name="adj" fmla="val 4673"/>
            </a:avLst>
          </a:prstGeom>
          <a:solidFill>
            <a:srgbClr val="10162C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68096" y="1938528"/>
            <a:ext cx="5084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언어 · 제2언어 습득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768096" y="2212848"/>
            <a:ext cx="508406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50"/>
              </a:lnSpc>
              <a:spcAft>
                <a:spcPts val="300"/>
              </a:spcAft>
              <a:buNone/>
            </a:pPr>
            <a:r>
              <a:rPr lang="en-US" sz="8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Chomsky, N. (1959). Review of Verbal Behavior by B. F. Skinner. Language, 35(1), 26–58.</a:t>
            </a:r>
            <a:endParaRPr lang="en-US" sz="800" dirty="0"/>
          </a:p>
          <a:p>
            <a:pPr indent="0" marL="0">
              <a:lnSpc>
                <a:spcPts val="1050"/>
              </a:lnSpc>
              <a:spcAft>
                <a:spcPts val="300"/>
              </a:spcAft>
              <a:buNone/>
            </a:pPr>
            <a:r>
              <a:rPr lang="en-US" sz="8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Chomsky, N. (1965). Aspects of the Theory of Syntax. MIT Press.</a:t>
            </a:r>
            <a:endParaRPr lang="en-US" sz="800" dirty="0"/>
          </a:p>
          <a:p>
            <a:pPr indent="0" marL="0">
              <a:lnSpc>
                <a:spcPts val="1050"/>
              </a:lnSpc>
              <a:spcAft>
                <a:spcPts val="300"/>
              </a:spcAft>
              <a:buNone/>
            </a:pPr>
            <a:r>
              <a:rPr lang="en-US" sz="8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Krashen, S. D. (1982). Principles and Practice in Second Language Acquisition. Pergamon Press.</a:t>
            </a:r>
            <a:endParaRPr lang="en-US" sz="800" dirty="0"/>
          </a:p>
          <a:p>
            <a:pPr indent="0" marL="0">
              <a:lnSpc>
                <a:spcPts val="1050"/>
              </a:lnSpc>
              <a:spcAft>
                <a:spcPts val="300"/>
              </a:spcAft>
              <a:buNone/>
            </a:pPr>
            <a:r>
              <a:rPr lang="en-US" sz="8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Swain, M. (1985). Communicative competence: Some roles of comprehensible input and comprehensible output in its development. In S. Gass &amp; C. Madden (Eds.), Input in Second Language Acquisition (pp. 235–253). Newbury House.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318504" y="1810512"/>
            <a:ext cx="5486400" cy="1956816"/>
          </a:xfrm>
          <a:prstGeom prst="roundRect">
            <a:avLst>
              <a:gd name="adj" fmla="val 4673"/>
            </a:avLst>
          </a:prstGeom>
          <a:solidFill>
            <a:srgbClr val="10162C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519672" y="1938528"/>
            <a:ext cx="5084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발달 · 교수 이론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6519672" y="2212848"/>
            <a:ext cx="508406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50"/>
              </a:lnSpc>
              <a:spcAft>
                <a:spcPts val="300"/>
              </a:spcAft>
              <a:buNone/>
            </a:pPr>
            <a:r>
              <a:rPr lang="en-US" sz="8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Vygotsky, L. S. (1978). Mind in Society: The Development of Higher Psychological Processes. Harvard University Press.</a:t>
            </a:r>
            <a:endParaRPr lang="en-US" sz="800" dirty="0"/>
          </a:p>
          <a:p>
            <a:pPr indent="0" marL="0">
              <a:lnSpc>
                <a:spcPts val="1050"/>
              </a:lnSpc>
              <a:spcAft>
                <a:spcPts val="300"/>
              </a:spcAft>
              <a:buNone/>
            </a:pPr>
            <a:r>
              <a:rPr lang="en-US" sz="8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Wood, D., Bruner, J. S., &amp; Ross, G. (1976). The role of tutoring in problem solving. Journal of Child Psychology and Psychiatry, 17(2), 89–100.</a:t>
            </a:r>
            <a:endParaRPr lang="en-US" sz="800" dirty="0"/>
          </a:p>
          <a:p>
            <a:pPr indent="0" marL="0">
              <a:lnSpc>
                <a:spcPts val="1050"/>
              </a:lnSpc>
              <a:spcAft>
                <a:spcPts val="300"/>
              </a:spcAft>
              <a:buNone/>
            </a:pPr>
            <a:r>
              <a:rPr lang="en-US" sz="8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Bloom, B. S. (1984). The 2 sigma problem. Educational Researcher, 13(6), 4–16.</a:t>
            </a:r>
            <a:endParaRPr lang="en-US" sz="800" dirty="0"/>
          </a:p>
          <a:p>
            <a:pPr indent="0" marL="0">
              <a:lnSpc>
                <a:spcPts val="1050"/>
              </a:lnSpc>
              <a:spcAft>
                <a:spcPts val="300"/>
              </a:spcAft>
              <a:buNone/>
            </a:pPr>
            <a:r>
              <a:rPr lang="en-US" sz="8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VanLehn, K. (2011). The relative effectiveness of human tutoring, intelligent tutoring systems, and other tutoring systems. Educational Psychologist, 46(4), 197–221.</a:t>
            </a:r>
            <a:endParaRPr lang="en-US" sz="800" dirty="0"/>
          </a:p>
        </p:txBody>
      </p:sp>
      <p:sp>
        <p:nvSpPr>
          <p:cNvPr id="14" name="Shape 11"/>
          <p:cNvSpPr/>
          <p:nvPr/>
        </p:nvSpPr>
        <p:spPr>
          <a:xfrm>
            <a:off x="566928" y="3913632"/>
            <a:ext cx="5486400" cy="1956816"/>
          </a:xfrm>
          <a:prstGeom prst="roundRect">
            <a:avLst>
              <a:gd name="adj" fmla="val 4673"/>
            </a:avLst>
          </a:prstGeom>
          <a:solidFill>
            <a:srgbClr val="10162C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68096" y="4041648"/>
            <a:ext cx="5084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8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인지 · 기억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768096" y="4315968"/>
            <a:ext cx="508406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50"/>
              </a:lnSpc>
              <a:spcAft>
                <a:spcPts val="300"/>
              </a:spcAft>
              <a:buNone/>
            </a:pPr>
            <a:r>
              <a:rPr lang="en-US" sz="8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Ebbinghaus, H. (1913). Memory: A Contribution to Experimental Psychology. Teachers College. (원저 1885 출간)</a:t>
            </a:r>
            <a:endParaRPr lang="en-US" sz="800" dirty="0"/>
          </a:p>
          <a:p>
            <a:pPr indent="0" marL="0">
              <a:lnSpc>
                <a:spcPts val="1050"/>
              </a:lnSpc>
              <a:spcAft>
                <a:spcPts val="300"/>
              </a:spcAft>
              <a:buNone/>
            </a:pPr>
            <a:r>
              <a:rPr lang="en-US" sz="8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Cepeda, N. J., Pashler, H., Vul, E., Wixted, J. T., &amp; Rohrer, D. (2006). Distributed practice in verbal recall tasks. Psychological Bulletin, 132(3), 354–380.</a:t>
            </a:r>
            <a:endParaRPr lang="en-US" sz="800" dirty="0"/>
          </a:p>
          <a:p>
            <a:pPr indent="0" marL="0">
              <a:lnSpc>
                <a:spcPts val="1050"/>
              </a:lnSpc>
              <a:spcAft>
                <a:spcPts val="300"/>
              </a:spcAft>
              <a:buNone/>
            </a:pPr>
            <a:r>
              <a:rPr lang="en-US" sz="8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Roediger, H. L., &amp; Karpicke, J. D. (2006). Test-enhanced learning. Psychological Science, 17(3), 249–255.</a:t>
            </a:r>
            <a:endParaRPr lang="en-US" sz="800" dirty="0"/>
          </a:p>
          <a:p>
            <a:pPr indent="0" marL="0">
              <a:lnSpc>
                <a:spcPts val="1050"/>
              </a:lnSpc>
              <a:spcAft>
                <a:spcPts val="300"/>
              </a:spcAft>
              <a:buNone/>
            </a:pPr>
            <a:r>
              <a:rPr lang="en-US" sz="8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Sweller, J. (1988). Cognitive load during problem solving. Cognitive Science, 12(2), 257–285.</a:t>
            </a:r>
            <a:endParaRPr lang="en-US" sz="800" dirty="0"/>
          </a:p>
        </p:txBody>
      </p:sp>
      <p:sp>
        <p:nvSpPr>
          <p:cNvPr id="17" name="Shape 14"/>
          <p:cNvSpPr/>
          <p:nvPr/>
        </p:nvSpPr>
        <p:spPr>
          <a:xfrm>
            <a:off x="6318504" y="3913632"/>
            <a:ext cx="5486400" cy="1956816"/>
          </a:xfrm>
          <a:prstGeom prst="roundRect">
            <a:avLst>
              <a:gd name="adj" fmla="val 4673"/>
            </a:avLst>
          </a:prstGeom>
          <a:solidFill>
            <a:srgbClr val="10162C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519672" y="4041648"/>
            <a:ext cx="5084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4D39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동기 · 게임 기반 학습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6519672" y="4315968"/>
            <a:ext cx="508406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50"/>
              </a:lnSpc>
              <a:spcAft>
                <a:spcPts val="300"/>
              </a:spcAft>
              <a:buNone/>
            </a:pPr>
            <a:r>
              <a:rPr lang="en-US" sz="8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Ryan, R. M., &amp; Deci, E. L. (2000). Self-determination theory and the facilitation of intrinsic motivation. American Psychologist, 55(1), 68–78.</a:t>
            </a:r>
            <a:endParaRPr lang="en-US" sz="800" dirty="0"/>
          </a:p>
          <a:p>
            <a:pPr indent="0" marL="0">
              <a:lnSpc>
                <a:spcPts val="1050"/>
              </a:lnSpc>
              <a:spcAft>
                <a:spcPts val="300"/>
              </a:spcAft>
              <a:buNone/>
            </a:pPr>
            <a:r>
              <a:rPr lang="en-US" sz="8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Deci, E. L., Koestner, R., &amp; Ryan, R. M. (1999). A meta-analytic review of experiments examining the effects of extrinsic rewards on intrinsic motivation. Psychological Bulletin, 125(6), 627–668.</a:t>
            </a:r>
            <a:endParaRPr lang="en-US" sz="800" dirty="0"/>
          </a:p>
          <a:p>
            <a:pPr indent="0" marL="0">
              <a:lnSpc>
                <a:spcPts val="1050"/>
              </a:lnSpc>
              <a:spcAft>
                <a:spcPts val="300"/>
              </a:spcAft>
              <a:buNone/>
            </a:pPr>
            <a:r>
              <a:rPr lang="en-US" sz="8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Csikszentmihalyi, M. (1990). Flow: The Psychology of Optimal Experience. Harper &amp; Row.</a:t>
            </a:r>
            <a:endParaRPr lang="en-US" sz="800" dirty="0"/>
          </a:p>
          <a:p>
            <a:pPr indent="0" marL="0">
              <a:lnSpc>
                <a:spcPts val="1050"/>
              </a:lnSpc>
              <a:spcAft>
                <a:spcPts val="300"/>
              </a:spcAft>
              <a:buNone/>
            </a:pPr>
            <a:r>
              <a:rPr lang="en-US" sz="8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Dweck, C. S. (2006). Mindset: The New Psychology of Success. Random House.</a:t>
            </a:r>
            <a:endParaRPr lang="en-US" sz="800" dirty="0"/>
          </a:p>
          <a:p>
            <a:pPr indent="0" marL="0">
              <a:lnSpc>
                <a:spcPts val="1050"/>
              </a:lnSpc>
              <a:spcAft>
                <a:spcPts val="300"/>
              </a:spcAft>
              <a:buNone/>
            </a:pPr>
            <a:r>
              <a:rPr lang="en-US" sz="8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Bandura, A. (1977). Self-efficacy: Toward a unifying theory of behavioral change. Psychological Review, 84(2), 191–215.</a:t>
            </a:r>
            <a:endParaRPr lang="en-US" sz="800" dirty="0"/>
          </a:p>
          <a:p>
            <a:pPr indent="0" marL="0">
              <a:lnSpc>
                <a:spcPts val="1050"/>
              </a:lnSpc>
              <a:spcAft>
                <a:spcPts val="300"/>
              </a:spcAft>
              <a:buNone/>
            </a:pPr>
            <a:r>
              <a:rPr lang="en-US" sz="8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Mayer, R. E. (2019). Computer games in education. Annual Review of Psychology, 70, 531–549.</a:t>
            </a:r>
            <a:endParaRPr lang="en-US" sz="800" dirty="0"/>
          </a:p>
          <a:p>
            <a:pPr indent="0" marL="0">
              <a:lnSpc>
                <a:spcPts val="1050"/>
              </a:lnSpc>
              <a:spcAft>
                <a:spcPts val="300"/>
              </a:spcAft>
              <a:buNone/>
            </a:pPr>
            <a:r>
              <a:rPr lang="en-US" sz="8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Clark, D. B., Tanner-Smith, E. E., &amp; Killingsworth, S. S. (2016). Digital games, design, and learning. Review of Educational Research, 86(1), 79–122.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566928" y="6053328"/>
            <a:ext cx="11055096" cy="621792"/>
          </a:xfrm>
          <a:prstGeom prst="roundRect">
            <a:avLst>
              <a:gd name="adj" fmla="val 14706"/>
            </a:avLst>
          </a:prstGeom>
          <a:solidFill>
            <a:srgbClr val="231B08"/>
          </a:solidFill>
          <a:ln w="12700">
            <a:solidFill>
              <a:srgbClr val="6B5316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31520" y="6199632"/>
            <a:ext cx="1133856" cy="329184"/>
          </a:xfrm>
          <a:prstGeom prst="roundRect">
            <a:avLst>
              <a:gd name="adj" fmla="val 50000"/>
            </a:avLst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31520" y="6199632"/>
            <a:ext cx="11338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2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쉽게 말하면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2011680" y="6053328"/>
            <a:ext cx="942746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FFE7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여기 나온 연구들은 다 진짜 논문이야. 궁금하면 이름으로 검색해 봐 — 전부 찾을 수 있어.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feature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66928" y="228600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566928" y="228600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80" kern="0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02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66928" y="1024128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0" b="1" dirty="0">
                <a:solidFill>
                  <a:srgbClr val="222C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600" dirty="0"/>
          </a:p>
        </p:txBody>
      </p:sp>
      <p:sp>
        <p:nvSpPr>
          <p:cNvPr id="6" name="Text 3"/>
          <p:cNvSpPr/>
          <p:nvPr/>
        </p:nvSpPr>
        <p:spPr>
          <a:xfrm>
            <a:off x="566928" y="2779776"/>
            <a:ext cx="5852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특징과 장점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566928" y="3566160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spc="50" kern="0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Features &amp; UI Showcase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566928" y="4114800"/>
            <a:ext cx="5577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망고아이가 자랑하는 13가지 특장점과, 실제 서비스 화면으로</a:t>
            </a:r>
            <a:endParaRPr lang="en-US" sz="12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확인되는 핵심 8가지를 캡처와 함께 소개합니다.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419088" y="1664208"/>
            <a:ext cx="5248656" cy="3340620"/>
          </a:xfrm>
          <a:prstGeom prst="roundRect">
            <a:avLst>
              <a:gd name="adj" fmla="val 2190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10" name="Image 1" descr="/tmp/claude-0/-home-user-mangoiweb/ca835eb4-1670-5fc1-a29a-2fc77598fea3/scratchpad/deck_img/about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5664" y="1700784"/>
            <a:ext cx="5175504" cy="326746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455664" y="5151132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 › 망고아이란? — 13가지 특장점 카드</a:t>
            </a:r>
            <a:endParaRPr lang="en-US" sz="950" dirty="0"/>
          </a:p>
        </p:txBody>
      </p:sp>
      <p:sp>
        <p:nvSpPr>
          <p:cNvPr id="12" name="Text 8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feature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특장점 전체 지도 · 홈페이지 «망고아이란?» 13가지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10312603" y="384048"/>
            <a:ext cx="1312164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0312603" y="384048"/>
            <a:ext cx="13121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Features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822960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 첫 버튼에 담긴 13가지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566928" y="1481328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중 8가지를 다음 장부터 실제 화면과 함께 자세히 봅니다.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66928" y="2148840"/>
            <a:ext cx="155448" cy="155448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2960" y="2048256"/>
            <a:ext cx="2761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교사와 A.I가 함께 학생 실력 향상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566928" y="2532888"/>
            <a:ext cx="155448" cy="155448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2960" y="2432304"/>
            <a:ext cx="2761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원어민 선생님과 1:1 / 1:2 수업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566928" y="2916936"/>
            <a:ext cx="155448" cy="155448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2960" y="2816352"/>
            <a:ext cx="2761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영어 커뮤니케이션 능력의 향상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566928" y="3300984"/>
            <a:ext cx="155448" cy="155448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200400"/>
            <a:ext cx="2761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저렴한 비용으로 최고의 학습 효과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566928" y="3685032"/>
            <a:ext cx="155448" cy="155448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22960" y="3584448"/>
            <a:ext cx="2761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최고의 강사진과 체계적인 관리 시스템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566928" y="4069080"/>
            <a:ext cx="155448" cy="155448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22960" y="3968496"/>
            <a:ext cx="2761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시간과 장소에 구애받지 않는 시스템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566928" y="4453128"/>
            <a:ext cx="155448" cy="155448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22960" y="4352544"/>
            <a:ext cx="2761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우수한 교재로 영어 말하기 동기 부여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3785616" y="2148840"/>
            <a:ext cx="155448" cy="155448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041648" y="2048256"/>
            <a:ext cx="2761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편리하고 다양한 기능의 앱과 홈페이지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3785616" y="2532888"/>
            <a:ext cx="155448" cy="155448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041648" y="2432304"/>
            <a:ext cx="2761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예복습 — 수업 전후를 A.I가 챙김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3785616" y="2916936"/>
            <a:ext cx="155448" cy="155448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041648" y="2816352"/>
            <a:ext cx="2761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A.I를 활용한 평가 · 복습 · 소통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3785616" y="3300984"/>
            <a:ext cx="155448" cy="155448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4041648" y="3200400"/>
            <a:ext cx="2761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직영 필리핀 현지 교육센터 운영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3785616" y="3685032"/>
            <a:ext cx="155448" cy="155448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4041648" y="3584448"/>
            <a:ext cx="2761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20년 전통, 국내 최초의 화상영어 기업</a:t>
            </a:r>
            <a:endParaRPr lang="en-US" sz="1050" dirty="0"/>
          </a:p>
        </p:txBody>
      </p:sp>
      <p:sp>
        <p:nvSpPr>
          <p:cNvPr id="32" name="Shape 29"/>
          <p:cNvSpPr/>
          <p:nvPr/>
        </p:nvSpPr>
        <p:spPr>
          <a:xfrm>
            <a:off x="3785616" y="4069080"/>
            <a:ext cx="155448" cy="155448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4041648" y="3968496"/>
            <a:ext cx="2761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학생 정보를 카카오톡으로 실시간 제공</a:t>
            </a:r>
            <a:endParaRPr lang="en-US" sz="1050" dirty="0"/>
          </a:p>
        </p:txBody>
      </p:sp>
      <p:sp>
        <p:nvSpPr>
          <p:cNvPr id="34" name="Shape 31"/>
          <p:cNvSpPr/>
          <p:nvPr/>
        </p:nvSpPr>
        <p:spPr>
          <a:xfrm>
            <a:off x="6931152" y="1481328"/>
            <a:ext cx="4736592" cy="3017337"/>
          </a:xfrm>
          <a:prstGeom prst="roundRect">
            <a:avLst>
              <a:gd name="adj" fmla="val 2424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35" name="Image 1" descr="/tmp/claude-0/-home-user-mangoiweb/ca835eb4-1670-5fc1-a29a-2fc77598fea3/scratchpad/deck_img/about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67728" y="1517904"/>
            <a:ext cx="4663440" cy="2944185"/>
          </a:xfrm>
          <a:prstGeom prst="rect">
            <a:avLst/>
          </a:prstGeom>
        </p:spPr>
      </p:pic>
      <p:sp>
        <p:nvSpPr>
          <p:cNvPr id="36" name="Text 32"/>
          <p:cNvSpPr/>
          <p:nvPr/>
        </p:nvSpPr>
        <p:spPr>
          <a:xfrm>
            <a:off x="6967728" y="4517136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 › 망고아이란? — 카드를 누르면 항목별 상세가 열립니다</a:t>
            </a:r>
            <a:endParaRPr lang="en-US" sz="950" dirty="0"/>
          </a:p>
        </p:txBody>
      </p:sp>
      <p:sp>
        <p:nvSpPr>
          <p:cNvPr id="37" name="Shape 33"/>
          <p:cNvSpPr/>
          <p:nvPr/>
        </p:nvSpPr>
        <p:spPr>
          <a:xfrm>
            <a:off x="566928" y="5943600"/>
            <a:ext cx="11055096" cy="621792"/>
          </a:xfrm>
          <a:prstGeom prst="roundRect">
            <a:avLst>
              <a:gd name="adj" fmla="val 14706"/>
            </a:avLst>
          </a:prstGeom>
          <a:solidFill>
            <a:srgbClr val="231B08"/>
          </a:solidFill>
          <a:ln w="12700">
            <a:solidFill>
              <a:srgbClr val="6B5316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731520" y="6089904"/>
            <a:ext cx="1133856" cy="329184"/>
          </a:xfrm>
          <a:prstGeom prst="roundRect">
            <a:avLst>
              <a:gd name="adj" fmla="val 50000"/>
            </a:avLst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39" name="Text 35"/>
          <p:cNvSpPr/>
          <p:nvPr/>
        </p:nvSpPr>
        <p:spPr>
          <a:xfrm>
            <a:off x="731520" y="6089904"/>
            <a:ext cx="11338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2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쉽게 말하면</a:t>
            </a:r>
            <a:endParaRPr lang="en-US" sz="1050" dirty="0"/>
          </a:p>
        </p:txBody>
      </p:sp>
      <p:sp>
        <p:nvSpPr>
          <p:cNvPr id="40" name="Text 36"/>
          <p:cNvSpPr/>
          <p:nvPr/>
        </p:nvSpPr>
        <p:spPr>
          <a:xfrm>
            <a:off x="2011680" y="5943600"/>
            <a:ext cx="942746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FFE7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 화면 첫 버튼 «망고아이란?»을 누르면 이 13개가 카드로 쭉 나와. 궁금한 것만 눌러 보면 돼.</a:t>
            </a:r>
            <a:endParaRPr lang="en-US" sz="1200" dirty="0"/>
          </a:p>
        </p:txBody>
      </p:sp>
      <p:sp>
        <p:nvSpPr>
          <p:cNvPr id="41" name="Text 37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feature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장점 01 · 교사와 A.I, 두 개의 엔진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9768535" y="384048"/>
            <a:ext cx="1856232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9768535" y="384048"/>
            <a:ext cx="1856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Dual Engine System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822960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교사와 A.I, 두 개의 엔진으로 굴러갑니다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566928" y="1481328"/>
            <a:ext cx="110550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수업은 사람이 이끌고, 예습·복습·평가·발음 교정은 A.I가 24시간 채웁니다. 둘이 같은 데이터를 봅니다.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66928" y="2157984"/>
            <a:ext cx="2084832" cy="2231136"/>
          </a:xfrm>
          <a:prstGeom prst="roundRect">
            <a:avLst>
              <a:gd name="adj" fmla="val 4386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2340864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 전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786384" y="2615184"/>
            <a:ext cx="16824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웜업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786384" y="3346704"/>
            <a:ext cx="17007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배울 문장을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미리 말해 봅니다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2656332" y="3035808"/>
            <a:ext cx="173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2825496" y="2157984"/>
            <a:ext cx="2084832" cy="2231136"/>
          </a:xfrm>
          <a:prstGeom prst="roundRect">
            <a:avLst>
              <a:gd name="adj" fmla="val 4386"/>
            </a:avLst>
          </a:prstGeom>
          <a:solidFill>
            <a:srgbClr val="10203A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044952" y="2340864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 중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3044952" y="2615184"/>
            <a:ext cx="16824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원어민 교사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3044952" y="3346704"/>
            <a:ext cx="17007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1:1 · 1:2 실시간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교정과 발화 유도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4914900" y="3035808"/>
            <a:ext cx="173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000" dirty="0"/>
          </a:p>
        </p:txBody>
      </p:sp>
      <p:sp>
        <p:nvSpPr>
          <p:cNvPr id="18" name="Shape 15"/>
          <p:cNvSpPr/>
          <p:nvPr/>
        </p:nvSpPr>
        <p:spPr>
          <a:xfrm>
            <a:off x="5084064" y="2157984"/>
            <a:ext cx="2084832" cy="2231136"/>
          </a:xfrm>
          <a:prstGeom prst="roundRect">
            <a:avLst>
              <a:gd name="adj" fmla="val 4386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303520" y="2340864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 직후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5303520" y="2615184"/>
            <a:ext cx="16824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자동 평가서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5303520" y="3346704"/>
            <a:ext cx="17007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발음 · 표현 · 참여도를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분석해 자동 작성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7173468" y="3035808"/>
            <a:ext cx="173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000" dirty="0"/>
          </a:p>
        </p:txBody>
      </p:sp>
      <p:sp>
        <p:nvSpPr>
          <p:cNvPr id="23" name="Shape 20"/>
          <p:cNvSpPr/>
          <p:nvPr/>
        </p:nvSpPr>
        <p:spPr>
          <a:xfrm>
            <a:off x="7342632" y="2157984"/>
            <a:ext cx="2084832" cy="2231136"/>
          </a:xfrm>
          <a:prstGeom prst="roundRect">
            <a:avLst>
              <a:gd name="adj" fmla="val 4386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562088" y="2340864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 후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7562088" y="2615184"/>
            <a:ext cx="16824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맞춤 복습 10문항</a:t>
            </a:r>
            <a:endParaRPr lang="en-US" sz="1500" dirty="0"/>
          </a:p>
        </p:txBody>
      </p:sp>
      <p:sp>
        <p:nvSpPr>
          <p:cNvPr id="26" name="Text 23"/>
          <p:cNvSpPr/>
          <p:nvPr/>
        </p:nvSpPr>
        <p:spPr>
          <a:xfrm>
            <a:off x="7562088" y="3346704"/>
            <a:ext cx="17007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듣기·말하기·쓰기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퀴즈 즉시 진행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9432036" y="3035808"/>
            <a:ext cx="173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000" dirty="0"/>
          </a:p>
        </p:txBody>
      </p:sp>
      <p:sp>
        <p:nvSpPr>
          <p:cNvPr id="28" name="Shape 25"/>
          <p:cNvSpPr/>
          <p:nvPr/>
        </p:nvSpPr>
        <p:spPr>
          <a:xfrm>
            <a:off x="9601200" y="2157984"/>
            <a:ext cx="2084832" cy="2231136"/>
          </a:xfrm>
          <a:prstGeom prst="roundRect">
            <a:avLst>
              <a:gd name="adj" fmla="val 4386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9820656" y="2340864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08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9820656" y="2615184"/>
            <a:ext cx="16824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약점 반영</a:t>
            </a:r>
            <a:endParaRPr lang="en-US" sz="1500" dirty="0"/>
          </a:p>
        </p:txBody>
      </p:sp>
      <p:sp>
        <p:nvSpPr>
          <p:cNvPr id="31" name="Text 28"/>
          <p:cNvSpPr/>
          <p:nvPr/>
        </p:nvSpPr>
        <p:spPr>
          <a:xfrm>
            <a:off x="9820656" y="3346704"/>
            <a:ext cx="17007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것이 다시 나오고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교사에게도 전달</a:t>
            </a:r>
            <a:endParaRPr lang="en-US" sz="1050" dirty="0"/>
          </a:p>
        </p:txBody>
      </p:sp>
      <p:sp>
        <p:nvSpPr>
          <p:cNvPr id="32" name="Shape 29"/>
          <p:cNvSpPr/>
          <p:nvPr/>
        </p:nvSpPr>
        <p:spPr>
          <a:xfrm>
            <a:off x="566928" y="4608576"/>
            <a:ext cx="11055096" cy="969264"/>
          </a:xfrm>
          <a:prstGeom prst="roundRect">
            <a:avLst>
              <a:gd name="adj" fmla="val 9434"/>
            </a:avLst>
          </a:prstGeom>
          <a:solidFill>
            <a:srgbClr val="231B08"/>
          </a:solidFill>
          <a:ln w="12700">
            <a:solidFill>
              <a:srgbClr val="6B5316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896112" y="48280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문장으로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2487168" y="4608576"/>
            <a:ext cx="877824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E7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수업만 제공하는 화상영어와 달리, 망고아이는 수업 밖의 시간까지 같은 시스템 안에서 관리합니다.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566928" y="5779008"/>
            <a:ext cx="11055096" cy="621792"/>
          </a:xfrm>
          <a:prstGeom prst="roundRect">
            <a:avLst>
              <a:gd name="adj" fmla="val 14706"/>
            </a:avLst>
          </a:prstGeom>
          <a:solidFill>
            <a:srgbClr val="231B08"/>
          </a:solidFill>
          <a:ln w="12700">
            <a:solidFill>
              <a:srgbClr val="6B5316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731520" y="5925312"/>
            <a:ext cx="1133856" cy="329184"/>
          </a:xfrm>
          <a:prstGeom prst="roundRect">
            <a:avLst>
              <a:gd name="adj" fmla="val 50000"/>
            </a:avLst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731520" y="5925312"/>
            <a:ext cx="11338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2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쉽게 말하면</a:t>
            </a:r>
            <a:endParaRPr lang="en-US" sz="1050" dirty="0"/>
          </a:p>
        </p:txBody>
      </p:sp>
      <p:sp>
        <p:nvSpPr>
          <p:cNvPr id="38" name="Text 35"/>
          <p:cNvSpPr/>
          <p:nvPr/>
        </p:nvSpPr>
        <p:spPr>
          <a:xfrm>
            <a:off x="2011680" y="5779008"/>
            <a:ext cx="942746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FFE7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 전에 몸풀기, 수업 중엔 선생님, 끝나면 자동 평가서랑 퀴즈. 그리고 틀린 건 다음에 또 나와.</a:t>
            </a:r>
            <a:endParaRPr lang="en-US" sz="1200" dirty="0"/>
          </a:p>
        </p:txBody>
      </p:sp>
      <p:sp>
        <p:nvSpPr>
          <p:cNvPr id="39" name="Text 36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feature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장점 02 · 전담 원어민 교사 &amp; CEFR 8단계 커리큘럼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9690811" y="384048"/>
            <a:ext cx="1933956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9690811" y="384048"/>
            <a:ext cx="19339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1:1 · 1:2 Level 1-8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82296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전담 원어민 교사와</a:t>
            </a:r>
            <a:endParaRPr lang="en-US" sz="2700" dirty="0"/>
          </a:p>
          <a:p>
            <a:pPr algn="l" indent="0" marL="0">
              <a:lnSpc>
                <a:spcPts val="36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CEFR 단계별 커리큘럼</a:t>
            </a:r>
            <a:endParaRPr lang="en-US" sz="2700" dirty="0"/>
          </a:p>
        </p:txBody>
      </p:sp>
      <p:sp>
        <p:nvSpPr>
          <p:cNvPr id="7" name="Text 4"/>
          <p:cNvSpPr/>
          <p:nvPr/>
        </p:nvSpPr>
        <p:spPr>
          <a:xfrm>
            <a:off x="566928" y="1883664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매번 바뀌는 랜덤 매칭이 아니라, 같은 선생님이 계속 봅니다.</a:t>
            </a:r>
            <a:endParaRPr lang="en-US" sz="12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아이의 성향과 약점을 정확히 압니다.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66928" y="2743200"/>
            <a:ext cx="5943600" cy="566928"/>
          </a:xfrm>
          <a:prstGeom prst="roundRect">
            <a:avLst>
              <a:gd name="adj" fmla="val 16129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49808" y="2852928"/>
            <a:ext cx="347472" cy="347472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49808" y="285292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A2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1225296" y="2743200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전담 교사제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310128" y="274320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랜덤 매칭이 아닌 전담 선생님이 지속 관리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566928" y="3383280"/>
            <a:ext cx="5943600" cy="566928"/>
          </a:xfrm>
          <a:prstGeom prst="roundRect">
            <a:avLst>
              <a:gd name="adj" fmla="val 16129"/>
            </a:avLst>
          </a:prstGeom>
          <a:solidFill>
            <a:srgbClr val="12183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49808" y="3493008"/>
            <a:ext cx="347472" cy="347472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49808" y="349300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A2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1225296" y="3383280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1:1 또는 1:2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3310128" y="338328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형제·친구와 함께하면 비용은 낮추고 효과는 그대로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566928" y="4023360"/>
            <a:ext cx="5943600" cy="566928"/>
          </a:xfrm>
          <a:prstGeom prst="roundRect">
            <a:avLst>
              <a:gd name="adj" fmla="val 16129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49808" y="4133088"/>
            <a:ext cx="347472" cy="347472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49808" y="41330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A2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1225296" y="4023360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직영 정규 교사</a:t>
            </a:r>
            <a:endParaRPr lang="en-US" sz="1150" dirty="0"/>
          </a:p>
        </p:txBody>
      </p:sp>
      <p:sp>
        <p:nvSpPr>
          <p:cNvPr id="22" name="Text 19"/>
          <p:cNvSpPr/>
          <p:nvPr/>
        </p:nvSpPr>
        <p:spPr>
          <a:xfrm>
            <a:off x="3310128" y="402336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외주가 아닌 필리핀 직영 센터의 검증된 정규 교사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566928" y="4663440"/>
            <a:ext cx="5943600" cy="566928"/>
          </a:xfrm>
          <a:prstGeom prst="roundRect">
            <a:avLst>
              <a:gd name="adj" fmla="val 16129"/>
            </a:avLst>
          </a:prstGeom>
          <a:solidFill>
            <a:srgbClr val="12183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49808" y="4773168"/>
            <a:ext cx="347472" cy="347472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49808" y="477316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A2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50" dirty="0"/>
          </a:p>
        </p:txBody>
      </p:sp>
      <p:sp>
        <p:nvSpPr>
          <p:cNvPr id="26" name="Text 23"/>
          <p:cNvSpPr/>
          <p:nvPr/>
        </p:nvSpPr>
        <p:spPr>
          <a:xfrm>
            <a:off x="1225296" y="4663440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CEFR 기반 8단계</a:t>
            </a:r>
            <a:endParaRPr lang="en-US" sz="1150" dirty="0"/>
          </a:p>
        </p:txBody>
      </p:sp>
      <p:sp>
        <p:nvSpPr>
          <p:cNvPr id="27" name="Text 24"/>
          <p:cNvSpPr/>
          <p:nvPr/>
        </p:nvSpPr>
        <p:spPr>
          <a:xfrm>
            <a:off x="3310128" y="466344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Novice부터 Proficient까지 국제 기준에 맞춘 설계</a:t>
            </a:r>
            <a:endParaRPr lang="en-US" sz="950" dirty="0"/>
          </a:p>
        </p:txBody>
      </p:sp>
      <p:sp>
        <p:nvSpPr>
          <p:cNvPr id="28" name="Shape 25"/>
          <p:cNvSpPr/>
          <p:nvPr/>
        </p:nvSpPr>
        <p:spPr>
          <a:xfrm>
            <a:off x="566928" y="5303520"/>
            <a:ext cx="5943600" cy="566928"/>
          </a:xfrm>
          <a:prstGeom prst="roundRect">
            <a:avLst>
              <a:gd name="adj" fmla="val 16129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49808" y="5413248"/>
            <a:ext cx="347472" cy="347472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49808" y="541324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A2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50" dirty="0"/>
          </a:p>
        </p:txBody>
      </p:sp>
      <p:sp>
        <p:nvSpPr>
          <p:cNvPr id="31" name="Text 28"/>
          <p:cNvSpPr/>
          <p:nvPr/>
        </p:nvSpPr>
        <p:spPr>
          <a:xfrm>
            <a:off x="1225296" y="5303520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연령·관심사 맞춤 교재</a:t>
            </a:r>
            <a:endParaRPr lang="en-US" sz="1150" dirty="0"/>
          </a:p>
        </p:txBody>
      </p:sp>
      <p:sp>
        <p:nvSpPr>
          <p:cNvPr id="32" name="Text 29"/>
          <p:cNvSpPr/>
          <p:nvPr/>
        </p:nvSpPr>
        <p:spPr>
          <a:xfrm>
            <a:off x="3310128" y="530352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디지털 교재 뷰어로 예습·복습까지 한 곳에서</a:t>
            </a:r>
            <a:endParaRPr lang="en-US" sz="950" dirty="0"/>
          </a:p>
        </p:txBody>
      </p:sp>
      <p:sp>
        <p:nvSpPr>
          <p:cNvPr id="33" name="Shape 30"/>
          <p:cNvSpPr/>
          <p:nvPr/>
        </p:nvSpPr>
        <p:spPr>
          <a:xfrm>
            <a:off x="7022592" y="1847088"/>
            <a:ext cx="4645152" cy="2959608"/>
          </a:xfrm>
          <a:prstGeom prst="roundRect">
            <a:avLst>
              <a:gd name="adj" fmla="val 2472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34" name="Image 1" descr="/tmp/claude-0/-home-user-mangoiweb/ca835eb4-1670-5fc1-a29a-2fc77598fea3/scratchpad/deck_img/curriculum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59168" y="1883664"/>
            <a:ext cx="4572000" cy="2886456"/>
          </a:xfrm>
          <a:prstGeom prst="rect">
            <a:avLst/>
          </a:prstGeom>
        </p:spPr>
      </p:pic>
      <p:sp>
        <p:nvSpPr>
          <p:cNvPr id="35" name="Text 31"/>
          <p:cNvSpPr/>
          <p:nvPr/>
        </p:nvSpPr>
        <p:spPr>
          <a:xfrm>
            <a:off x="7059168" y="4864608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교육과정 안내 — Level 1~8, Novice ~ Proficient</a:t>
            </a:r>
            <a:endParaRPr lang="en-US" sz="950" dirty="0"/>
          </a:p>
        </p:txBody>
      </p:sp>
      <p:sp>
        <p:nvSpPr>
          <p:cNvPr id="36" name="Shape 32"/>
          <p:cNvSpPr/>
          <p:nvPr/>
        </p:nvSpPr>
        <p:spPr>
          <a:xfrm>
            <a:off x="566928" y="5943600"/>
            <a:ext cx="11055096" cy="621792"/>
          </a:xfrm>
          <a:prstGeom prst="roundRect">
            <a:avLst>
              <a:gd name="adj" fmla="val 14706"/>
            </a:avLst>
          </a:prstGeom>
          <a:solidFill>
            <a:srgbClr val="231B08"/>
          </a:solidFill>
          <a:ln w="12700">
            <a:solidFill>
              <a:srgbClr val="6B5316"/>
            </a:solidFill>
            <a:prstDash val="solid"/>
          </a:ln>
        </p:spPr>
      </p:sp>
      <p:sp>
        <p:nvSpPr>
          <p:cNvPr id="37" name="Shape 33"/>
          <p:cNvSpPr/>
          <p:nvPr/>
        </p:nvSpPr>
        <p:spPr>
          <a:xfrm>
            <a:off x="731520" y="6089904"/>
            <a:ext cx="1133856" cy="329184"/>
          </a:xfrm>
          <a:prstGeom prst="roundRect">
            <a:avLst>
              <a:gd name="adj" fmla="val 50000"/>
            </a:avLst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38" name="Text 34"/>
          <p:cNvSpPr/>
          <p:nvPr/>
        </p:nvSpPr>
        <p:spPr>
          <a:xfrm>
            <a:off x="731520" y="6089904"/>
            <a:ext cx="11338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2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쉽게 말하면</a:t>
            </a:r>
            <a:endParaRPr lang="en-US" sz="1050" dirty="0"/>
          </a:p>
        </p:txBody>
      </p:sp>
      <p:sp>
        <p:nvSpPr>
          <p:cNvPr id="39" name="Text 35"/>
          <p:cNvSpPr/>
          <p:nvPr/>
        </p:nvSpPr>
        <p:spPr>
          <a:xfrm>
            <a:off x="2011680" y="5943600"/>
            <a:ext cx="942746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FFE7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매번 다른 선생님이 아니라 «내 선생님»이 계속 봐 줘. 그래서 내가 뭘 못하는지 이미 알고 있어.</a:t>
            </a:r>
            <a:endParaRPr lang="en-US" sz="1200" dirty="0"/>
          </a:p>
        </p:txBody>
      </p:sp>
      <p:sp>
        <p:nvSpPr>
          <p:cNvPr id="40" name="Text 36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feature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장점 03 · AI 음성코치 (Voice Coach)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10312603" y="384048"/>
            <a:ext cx="1312164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0312603" y="384048"/>
            <a:ext cx="13121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Voice Coach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30352" y="1700784"/>
            <a:ext cx="5742432" cy="3618342"/>
          </a:xfrm>
          <a:prstGeom prst="roundRect">
            <a:avLst>
              <a:gd name="adj" fmla="val 2022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7" name="Image 1" descr="/tmp/claude-0/-home-user-mangoiweb/ca835eb4-1670-5fc1-a29a-2fc77598fea3/scratchpad/deck_img/speech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737360"/>
            <a:ext cx="5669280" cy="354519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66928" y="5376672"/>
            <a:ext cx="5760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음성코치 — 레벨 선택 → 원어민 발음 듣기 → 따라 말하기 → 즉시 채점</a:t>
            </a:r>
            <a:endParaRPr lang="en-US" sz="950" dirty="0"/>
          </a:p>
        </p:txBody>
      </p:sp>
      <p:sp>
        <p:nvSpPr>
          <p:cNvPr id="9" name="Text 5"/>
          <p:cNvSpPr/>
          <p:nvPr/>
        </p:nvSpPr>
        <p:spPr>
          <a:xfrm>
            <a:off x="6656832" y="822960"/>
            <a:ext cx="4983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수업이 없는 날에도</a:t>
            </a:r>
            <a:endParaRPr lang="en-US" sz="2600" dirty="0"/>
          </a:p>
          <a:p>
            <a:pPr algn="l" indent="0" marL="0">
              <a:lnSpc>
                <a:spcPts val="34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말하기를 멈추지 않습니다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6656832" y="1828800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음성코치는 원어민 발음을 들려주고, 따라 말한 문장이 또렷했는지 즉시 채점합니다.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6656832" y="2688336"/>
            <a:ext cx="4974336" cy="914400"/>
          </a:xfrm>
          <a:prstGeom prst="roundRect">
            <a:avLst>
              <a:gd name="adj" fmla="val 10000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912864" y="2816352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레벨을 골라서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6912864" y="3090672"/>
            <a:ext cx="449884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Phonics(Lv 0) · BTS(Lv 1~8) · SIU(고급)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중국어 마스터(Lv 1~20)까지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6656832" y="3694176"/>
            <a:ext cx="4974336" cy="914400"/>
          </a:xfrm>
          <a:prstGeom prst="roundRect">
            <a:avLst>
              <a:gd name="adj" fmla="val 10000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6912864" y="3822192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듣고 · 따라 말하고</a:t>
            </a:r>
            <a:endParaRPr lang="en-US" sz="1250" dirty="0"/>
          </a:p>
        </p:txBody>
      </p:sp>
      <p:sp>
        <p:nvSpPr>
          <p:cNvPr id="16" name="Text 12"/>
          <p:cNvSpPr/>
          <p:nvPr/>
        </p:nvSpPr>
        <p:spPr>
          <a:xfrm>
            <a:off x="6912864" y="4096512"/>
            <a:ext cx="449884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원어민 발음 듣기 → 마이크 버튼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또박또박 발화</a:t>
            </a:r>
            <a:endParaRPr 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6656832" y="4700016"/>
            <a:ext cx="4974336" cy="914400"/>
          </a:xfrm>
          <a:prstGeom prst="roundRect">
            <a:avLst>
              <a:gd name="adj" fmla="val 10000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6912864" y="4828032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08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바로 점수로 확인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6912864" y="5102352"/>
            <a:ext cx="449884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발음 점수와 발화량이 데이터로 쌓여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성장 추이가 보입니다</a:t>
            </a:r>
            <a:endParaRPr lang="en-US" sz="1000" dirty="0"/>
          </a:p>
        </p:txBody>
      </p:sp>
      <p:sp>
        <p:nvSpPr>
          <p:cNvPr id="20" name="Shape 16"/>
          <p:cNvSpPr/>
          <p:nvPr/>
        </p:nvSpPr>
        <p:spPr>
          <a:xfrm>
            <a:off x="566928" y="5852160"/>
            <a:ext cx="11055096" cy="621792"/>
          </a:xfrm>
          <a:prstGeom prst="roundRect">
            <a:avLst>
              <a:gd name="adj" fmla="val 14706"/>
            </a:avLst>
          </a:prstGeom>
          <a:solidFill>
            <a:srgbClr val="231B08"/>
          </a:solidFill>
          <a:ln w="12700">
            <a:solidFill>
              <a:srgbClr val="6B5316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731520" y="5998464"/>
            <a:ext cx="1133856" cy="329184"/>
          </a:xfrm>
          <a:prstGeom prst="roundRect">
            <a:avLst>
              <a:gd name="adj" fmla="val 50000"/>
            </a:avLst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731520" y="5998464"/>
            <a:ext cx="11338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2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쉽게 말하면</a:t>
            </a:r>
            <a:endParaRPr lang="en-US" sz="1050" dirty="0"/>
          </a:p>
        </p:txBody>
      </p:sp>
      <p:sp>
        <p:nvSpPr>
          <p:cNvPr id="23" name="Text 19"/>
          <p:cNvSpPr/>
          <p:nvPr/>
        </p:nvSpPr>
        <p:spPr>
          <a:xfrm>
            <a:off x="2011680" y="5852160"/>
            <a:ext cx="942746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FFE7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원어민 발음 듣고 따라 말하면 «또박또박 말했는지» 바로 점수가 나와. 몇 번을 해도 아무도 눈치 안 줘.</a:t>
            </a:r>
            <a:endParaRPr lang="en-US" sz="1200" dirty="0"/>
          </a:p>
        </p:txBody>
      </p:sp>
      <p:sp>
        <p:nvSpPr>
          <p:cNvPr id="24" name="Text 20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feature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장점 04 · AI 친구 대화 (Emma &amp; Jake)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9690811" y="384048"/>
            <a:ext cx="1933956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9690811" y="384048"/>
            <a:ext cx="19339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24h Conversation AI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82296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«말 걸 상대»가 24시간 있습니다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566928" y="1517904"/>
            <a:ext cx="5852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영어를 못 하는 이유는 대부분 «틀릴까 봐»입니다.</a:t>
            </a:r>
            <a:endParaRPr lang="en-US" sz="12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친구는 아무리 틀려도 웃지 않고, 한 마디마다 포인트를 줍니다.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66928" y="2450592"/>
            <a:ext cx="585216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04672" y="2761488"/>
            <a:ext cx="164592" cy="164592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097280" y="2560320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성격이 다른 친구를 고릅니다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1097280" y="283464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다정한 Emma, 장난스러운 Jake, 또는 둘 다 번갈아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566928" y="3310128"/>
            <a:ext cx="585216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804672" y="3621024"/>
            <a:ext cx="164592" cy="164592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0" y="3419856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주제를 골라 모험처럼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1097280" y="3694176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피자 · 동물 · 우주 · 공룡 — 좋아하는 세계에서 대화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566928" y="4169664"/>
            <a:ext cx="585216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04672" y="4480560"/>
            <a:ext cx="164592" cy="164592"/>
          </a:xfrm>
          <a:prstGeom prst="ellipse">
            <a:avLst/>
          </a:prstGeom>
          <a:solidFill>
            <a:srgbClr val="C084FC"/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1097280" y="4279392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말할수록 쌓입니다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1097280" y="4553712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레벨(새싹 망고 → …) · 연속 학습 일수 · 포인트 · 오늘의 단어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566928" y="5029200"/>
            <a:ext cx="585216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04672" y="5340096"/>
            <a:ext cx="164592" cy="164592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97280" y="5138928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레벨에 맞춰 말해 줍니다</a:t>
            </a:r>
            <a:endParaRPr lang="en-US" sz="1250" dirty="0"/>
          </a:p>
        </p:txBody>
      </p:sp>
      <p:sp>
        <p:nvSpPr>
          <p:cNvPr id="23" name="Text 20"/>
          <p:cNvSpPr/>
          <p:nvPr/>
        </p:nvSpPr>
        <p:spPr>
          <a:xfrm>
            <a:off x="1097280" y="5413248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B1 등 학습자 수준에 맞춘 문장 길이와 어휘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6821424" y="1481328"/>
            <a:ext cx="4873752" cy="3103931"/>
          </a:xfrm>
          <a:prstGeom prst="roundRect">
            <a:avLst>
              <a:gd name="adj" fmla="val 2357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25" name="Image 1" descr="/tmp/claude-0/-home-user-mangoiweb/ca835eb4-1670-5fc1-a29a-2fc77598fea3/scratchpad/deck_img/aifriend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517904"/>
            <a:ext cx="4800600" cy="3030779"/>
          </a:xfrm>
          <a:prstGeom prst="rect">
            <a:avLst/>
          </a:prstGeom>
        </p:spPr>
      </p:pic>
      <p:sp>
        <p:nvSpPr>
          <p:cNvPr id="26" name="Text 22"/>
          <p:cNvSpPr/>
          <p:nvPr/>
        </p:nvSpPr>
        <p:spPr>
          <a:xfrm>
            <a:off x="6858000" y="4626864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친구 대화 — 음성 입력과 힌트 버튼도 함께</a:t>
            </a:r>
            <a:endParaRPr lang="en-US" sz="950" dirty="0"/>
          </a:p>
        </p:txBody>
      </p:sp>
      <p:sp>
        <p:nvSpPr>
          <p:cNvPr id="27" name="Shape 23"/>
          <p:cNvSpPr/>
          <p:nvPr/>
        </p:nvSpPr>
        <p:spPr>
          <a:xfrm>
            <a:off x="566928" y="5943600"/>
            <a:ext cx="11055096" cy="621792"/>
          </a:xfrm>
          <a:prstGeom prst="roundRect">
            <a:avLst>
              <a:gd name="adj" fmla="val 14706"/>
            </a:avLst>
          </a:prstGeom>
          <a:solidFill>
            <a:srgbClr val="231B08"/>
          </a:solidFill>
          <a:ln w="12700">
            <a:solidFill>
              <a:srgbClr val="6B5316"/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731520" y="6089904"/>
            <a:ext cx="1133856" cy="329184"/>
          </a:xfrm>
          <a:prstGeom prst="roundRect">
            <a:avLst>
              <a:gd name="adj" fmla="val 50000"/>
            </a:avLst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731520" y="6089904"/>
            <a:ext cx="11338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2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쉽게 말하면</a:t>
            </a:r>
            <a:endParaRPr lang="en-US" sz="1050" dirty="0"/>
          </a:p>
        </p:txBody>
      </p:sp>
      <p:sp>
        <p:nvSpPr>
          <p:cNvPr id="30" name="Text 26"/>
          <p:cNvSpPr/>
          <p:nvPr/>
        </p:nvSpPr>
        <p:spPr>
          <a:xfrm>
            <a:off x="2011680" y="5943600"/>
            <a:ext cx="942746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FFE7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영어로 말 걸 사람이 없어서 못 하는 거잖아. Emma랑 Jake는 밤 12시에도 대답해 주고, 틀려도 안 웃어.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feature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장점 05 · My Vocab &amp; AI 영작 첨삭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9535363" y="384048"/>
            <a:ext cx="2089404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9535363" y="384048"/>
            <a:ext cx="20894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Vocab &amp; Writing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822960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예습·복습을 아이 혼자 하라고 두지 않습니다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566928" y="1481328"/>
            <a:ext cx="110550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단어만 넣으면 A.I가 뜻과 예문을 만들고, 틀린 문장은 A.I가 이유까지 설명해 고쳐 줍니다.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30352" y="2066544"/>
            <a:ext cx="5239512" cy="3303849"/>
          </a:xfrm>
          <a:prstGeom prst="roundRect">
            <a:avLst>
              <a:gd name="adj" fmla="val 2214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9" name="Image 1" descr="/tmp/claude-0/-home-user-mangoiweb/ca835eb4-1670-5fc1-a29a-2fc77598fea3/scratchpad/deck_img/vocab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103120"/>
            <a:ext cx="5166360" cy="3230697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66928" y="5413248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My Vocab · 스마트 단어장</a:t>
            </a:r>
            <a:endParaRPr lang="en-US" sz="1200" dirty="0"/>
          </a:p>
        </p:txBody>
      </p:sp>
      <p:sp>
        <p:nvSpPr>
          <p:cNvPr id="11" name="Text 7"/>
          <p:cNvSpPr/>
          <p:nvPr/>
        </p:nvSpPr>
        <p:spPr>
          <a:xfrm>
            <a:off x="566928" y="5669280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영어 단어만 넣으면 뜻·예문을 A.I가 자동 생성</a:t>
            </a:r>
            <a:endParaRPr lang="en-US" sz="950" dirty="0"/>
          </a:p>
        </p:txBody>
      </p:sp>
      <p:sp>
        <p:nvSpPr>
          <p:cNvPr id="12" name="Shape 8"/>
          <p:cNvSpPr/>
          <p:nvPr/>
        </p:nvSpPr>
        <p:spPr>
          <a:xfrm>
            <a:off x="6419088" y="2066544"/>
            <a:ext cx="5239512" cy="3303849"/>
          </a:xfrm>
          <a:prstGeom prst="roundRect">
            <a:avLst>
              <a:gd name="adj" fmla="val 2214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13" name="Image 2" descr="/tmp/claude-0/-home-user-mangoiweb/ca835eb4-1670-5fc1-a29a-2fc77598fea3/scratchpad/deck_img/aiwrite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5664" y="2103120"/>
            <a:ext cx="5166360" cy="3230697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455664" y="5413248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영작 첨삭 · Writing Coach</a:t>
            </a:r>
            <a:endParaRPr lang="en-US" sz="1200" dirty="0"/>
          </a:p>
        </p:txBody>
      </p:sp>
      <p:sp>
        <p:nvSpPr>
          <p:cNvPr id="15" name="Text 10"/>
          <p:cNvSpPr/>
          <p:nvPr/>
        </p:nvSpPr>
        <p:spPr>
          <a:xfrm>
            <a:off x="6455664" y="5669280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쓴 문장을 즉시 교정하고 왜 틀렸는지 설명</a:t>
            </a:r>
            <a:endParaRPr lang="en-US" sz="950" dirty="0"/>
          </a:p>
        </p:txBody>
      </p:sp>
      <p:sp>
        <p:nvSpPr>
          <p:cNvPr id="16" name="Shape 11"/>
          <p:cNvSpPr/>
          <p:nvPr/>
        </p:nvSpPr>
        <p:spPr>
          <a:xfrm>
            <a:off x="566928" y="6035040"/>
            <a:ext cx="11055096" cy="621792"/>
          </a:xfrm>
          <a:prstGeom prst="roundRect">
            <a:avLst>
              <a:gd name="adj" fmla="val 14706"/>
            </a:avLst>
          </a:prstGeom>
          <a:solidFill>
            <a:srgbClr val="231B08"/>
          </a:solidFill>
          <a:ln w="12700">
            <a:solidFill>
              <a:srgbClr val="6B5316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731520" y="6181344"/>
            <a:ext cx="1133856" cy="329184"/>
          </a:xfrm>
          <a:prstGeom prst="roundRect">
            <a:avLst>
              <a:gd name="adj" fmla="val 50000"/>
            </a:avLst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731520" y="6181344"/>
            <a:ext cx="11338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2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쉽게 말하면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2011680" y="6035040"/>
            <a:ext cx="942746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FFE7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모르는 단어 그냥 넣기만 해. 뜻이랑 예문은 AI가 만들어 줘. 영작도 쓰면 바로 고쳐 주고 이유까지 알려 줘.</a:t>
            </a:r>
            <a:endParaRPr lang="en-US" sz="1200" dirty="0"/>
          </a:p>
        </p:txBody>
      </p:sp>
      <p:sp>
        <p:nvSpPr>
          <p:cNvPr id="20" name="Text 15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feature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장점 06 · 언어 학습 게임 21종 (Gamification)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9846259" y="384048"/>
            <a:ext cx="1778508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9846259" y="384048"/>
            <a:ext cx="17785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Language Games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822960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복습을 «해야 하는 것»에서 «하고 싶은 것»으로</a:t>
            </a:r>
            <a:endParaRPr lang="en-US" sz="2800" dirty="0"/>
          </a:p>
        </p:txBody>
      </p:sp>
      <p:sp>
        <p:nvSpPr>
          <p:cNvPr id="7" name="Text 4"/>
          <p:cNvSpPr/>
          <p:nvPr/>
        </p:nvSpPr>
        <p:spPr>
          <a:xfrm>
            <a:off x="566928" y="1481328"/>
            <a:ext cx="110550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A.I가 틀린 단어·문장을 골라 그대로 게임의 재료로 넘깁니다. 영어와 중국어 모두 지원합니다.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30352" y="2121408"/>
            <a:ext cx="5879592" cy="3704112"/>
          </a:xfrm>
          <a:prstGeom prst="roundRect">
            <a:avLst>
              <a:gd name="adj" fmla="val 1975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9" name="Image 1" descr="/tmp/claude-0/-home-user-mangoiweb/ca835eb4-1670-5fc1-a29a-2fc77598fea3/scratchpad/deck_img/game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157984"/>
            <a:ext cx="5806440" cy="363096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66928" y="5888736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언어 학습 게임 허브 — 오늘의 퀘스트 · 연속 학습 · 랭킹 · 포인트 상점</a:t>
            </a:r>
            <a:endParaRPr lang="en-US" sz="950" dirty="0"/>
          </a:p>
        </p:txBody>
      </p:sp>
      <p:sp>
        <p:nvSpPr>
          <p:cNvPr id="11" name="Shape 7"/>
          <p:cNvSpPr/>
          <p:nvPr/>
        </p:nvSpPr>
        <p:spPr>
          <a:xfrm>
            <a:off x="6656832" y="2121408"/>
            <a:ext cx="2340864" cy="1353312"/>
          </a:xfrm>
          <a:prstGeom prst="roundRect">
            <a:avLst>
              <a:gd name="adj" fmla="val 5405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12" name="Image 2" descr="/tmp/claude-0/-home-user-mangoiweb/ca835eb4-1670-5fc1-a29a-2fc77598fea3/scratchpad/deck_img/spacemon.jpg">    </p:cNvPr>
          <p:cNvPicPr>
            <a:picLocks noChangeAspect="1"/>
          </p:cNvPicPr>
          <p:nvPr/>
        </p:nvPicPr>
        <p:blipFill>
          <a:blip r:embed="rId3"/>
          <a:srcRect l="0" r="0" t="5387" b="-5387"/>
          <a:stretch/>
        </p:blipFill>
        <p:spPr>
          <a:xfrm>
            <a:off x="6693408" y="2157984"/>
            <a:ext cx="2267712" cy="128016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6693408" y="3511296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우주 괴물 사냥</a:t>
            </a:r>
            <a:endParaRPr lang="en-US" sz="1050" dirty="0"/>
          </a:p>
        </p:txBody>
      </p:sp>
      <p:sp>
        <p:nvSpPr>
          <p:cNvPr id="14" name="Text 9"/>
          <p:cNvSpPr/>
          <p:nvPr/>
        </p:nvSpPr>
        <p:spPr>
          <a:xfrm>
            <a:off x="6693408" y="3730752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1인칭 라이트건 단어 퀴즈</a:t>
            </a:r>
            <a:endParaRPr lang="en-US" sz="850" dirty="0"/>
          </a:p>
        </p:txBody>
      </p:sp>
      <p:sp>
        <p:nvSpPr>
          <p:cNvPr id="15" name="Shape 10"/>
          <p:cNvSpPr/>
          <p:nvPr/>
        </p:nvSpPr>
        <p:spPr>
          <a:xfrm>
            <a:off x="9144000" y="2121408"/>
            <a:ext cx="2340864" cy="1353312"/>
          </a:xfrm>
          <a:prstGeom prst="roundRect">
            <a:avLst>
              <a:gd name="adj" fmla="val 5405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16" name="Image 3" descr="/tmp/claude-0/-home-user-mangoiweb/ca835eb4-1670-5fc1-a29a-2fc77598fea3/scratchpad/deck_img/grammarpizza.jpg">    </p:cNvPr>
          <p:cNvPicPr>
            <a:picLocks noChangeAspect="1"/>
          </p:cNvPicPr>
          <p:nvPr/>
        </p:nvPicPr>
        <p:blipFill>
          <a:blip r:embed="rId4"/>
          <a:srcRect l="0" r="0" t="5387" b="-5387"/>
          <a:stretch/>
        </p:blipFill>
        <p:spPr>
          <a:xfrm>
            <a:off x="9180576" y="2157984"/>
            <a:ext cx="2267712" cy="128016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9180576" y="3511296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문법 피자 마스터</a:t>
            </a:r>
            <a:endParaRPr lang="en-US" sz="1050" dirty="0"/>
          </a:p>
        </p:txBody>
      </p:sp>
      <p:sp>
        <p:nvSpPr>
          <p:cNvPr id="18" name="Text 12"/>
          <p:cNvSpPr/>
          <p:nvPr/>
        </p:nvSpPr>
        <p:spPr>
          <a:xfrm>
            <a:off x="9180576" y="3730752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문장 어순대로 재료 올리기</a:t>
            </a:r>
            <a:endParaRPr lang="en-US" sz="850" dirty="0"/>
          </a:p>
        </p:txBody>
      </p:sp>
      <p:sp>
        <p:nvSpPr>
          <p:cNvPr id="19" name="Shape 13"/>
          <p:cNvSpPr/>
          <p:nvPr/>
        </p:nvSpPr>
        <p:spPr>
          <a:xfrm>
            <a:off x="6656832" y="4041648"/>
            <a:ext cx="2340864" cy="1353312"/>
          </a:xfrm>
          <a:prstGeom prst="roundRect">
            <a:avLst>
              <a:gd name="adj" fmla="val 5405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20" name="Image 4" descr="/tmp/claude-0/-home-user-mangoiweb/ca835eb4-1670-5fc1-a29a-2fc77598fea3/scratchpad/deck_img/langace.jpg">    </p:cNvPr>
          <p:cNvPicPr>
            <a:picLocks noChangeAspect="1"/>
          </p:cNvPicPr>
          <p:nvPr/>
        </p:nvPicPr>
        <p:blipFill>
          <a:blip r:embed="rId5"/>
          <a:srcRect l="0" r="0" t="5387" b="-5387"/>
          <a:stretch/>
        </p:blipFill>
        <p:spPr>
          <a:xfrm>
            <a:off x="6693408" y="4078224"/>
            <a:ext cx="2267712" cy="128016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6693408" y="5431536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P-38 라이트닝</a:t>
            </a:r>
            <a:endParaRPr lang="en-US" sz="1050" dirty="0"/>
          </a:p>
        </p:txBody>
      </p:sp>
      <p:sp>
        <p:nvSpPr>
          <p:cNvPr id="22" name="Text 15"/>
          <p:cNvSpPr/>
          <p:nvPr/>
        </p:nvSpPr>
        <p:spPr>
          <a:xfrm>
            <a:off x="6693408" y="5650992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공중전 + 영어 미션</a:t>
            </a:r>
            <a:endParaRPr lang="en-US" sz="850" dirty="0"/>
          </a:p>
        </p:txBody>
      </p:sp>
      <p:sp>
        <p:nvSpPr>
          <p:cNvPr id="23" name="Shape 16"/>
          <p:cNvSpPr/>
          <p:nvPr/>
        </p:nvSpPr>
        <p:spPr>
          <a:xfrm>
            <a:off x="9144000" y="4041648"/>
            <a:ext cx="2340864" cy="1353312"/>
          </a:xfrm>
          <a:prstGeom prst="roundRect">
            <a:avLst>
              <a:gd name="adj" fmla="val 5405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24" name="Image 5" descr="/tmp/claude-0/-home-user-mangoiweb/ca835eb4-1670-5fc1-a29a-2fc77598fea3/scratchpad/deck_img/escape.jpg">    </p:cNvPr>
          <p:cNvPicPr>
            <a:picLocks noChangeAspect="1"/>
          </p:cNvPicPr>
          <p:nvPr/>
        </p:nvPicPr>
        <p:blipFill>
          <a:blip r:embed="rId6"/>
          <a:srcRect l="0" r="0" t="5387" b="-5387"/>
          <a:stretch/>
        </p:blipFill>
        <p:spPr>
          <a:xfrm>
            <a:off x="9180576" y="4078224"/>
            <a:ext cx="2267712" cy="128016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180576" y="5431536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학교 탈출 SOS</a:t>
            </a:r>
            <a:endParaRPr lang="en-US" sz="1050" dirty="0"/>
          </a:p>
        </p:txBody>
      </p:sp>
      <p:sp>
        <p:nvSpPr>
          <p:cNvPr id="26" name="Text 18"/>
          <p:cNvSpPr/>
          <p:nvPr/>
        </p:nvSpPr>
        <p:spPr>
          <a:xfrm>
            <a:off x="9180576" y="5650992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말해야 문이 열리는 방탈출</a:t>
            </a:r>
            <a:endParaRPr lang="en-US" sz="850" dirty="0"/>
          </a:p>
        </p:txBody>
      </p:sp>
      <p:sp>
        <p:nvSpPr>
          <p:cNvPr id="27" name="Shape 19"/>
          <p:cNvSpPr/>
          <p:nvPr/>
        </p:nvSpPr>
        <p:spPr>
          <a:xfrm>
            <a:off x="566928" y="6053328"/>
            <a:ext cx="11055096" cy="621792"/>
          </a:xfrm>
          <a:prstGeom prst="roundRect">
            <a:avLst>
              <a:gd name="adj" fmla="val 14706"/>
            </a:avLst>
          </a:prstGeom>
          <a:solidFill>
            <a:srgbClr val="231B08"/>
          </a:solidFill>
          <a:ln w="12700">
            <a:solidFill>
              <a:srgbClr val="6B5316"/>
            </a:solidFill>
            <a:prstDash val="solid"/>
          </a:ln>
        </p:spPr>
      </p:sp>
      <p:sp>
        <p:nvSpPr>
          <p:cNvPr id="28" name="Shape 20"/>
          <p:cNvSpPr/>
          <p:nvPr/>
        </p:nvSpPr>
        <p:spPr>
          <a:xfrm>
            <a:off x="731520" y="6199632"/>
            <a:ext cx="1133856" cy="329184"/>
          </a:xfrm>
          <a:prstGeom prst="roundRect">
            <a:avLst>
              <a:gd name="adj" fmla="val 50000"/>
            </a:avLst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9" name="Text 21"/>
          <p:cNvSpPr/>
          <p:nvPr/>
        </p:nvSpPr>
        <p:spPr>
          <a:xfrm>
            <a:off x="731520" y="6199632"/>
            <a:ext cx="11338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2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쉽게 말하면</a:t>
            </a:r>
            <a:endParaRPr lang="en-US" sz="1050" dirty="0"/>
          </a:p>
        </p:txBody>
      </p:sp>
      <p:sp>
        <p:nvSpPr>
          <p:cNvPr id="30" name="Text 22"/>
          <p:cNvSpPr/>
          <p:nvPr/>
        </p:nvSpPr>
        <p:spPr>
          <a:xfrm>
            <a:off x="2011680" y="6053328"/>
            <a:ext cx="942746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FFE7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우주 괴물 잡고 피자 만들고 학교 탈출하면서 영어를 해. 오늘 수업에서 틀린 단어가 그대로 게임 문제로 나와.</a:t>
            </a:r>
            <a:endParaRPr lang="en-US" sz="1200" dirty="0"/>
          </a:p>
        </p:txBody>
      </p:sp>
      <p:sp>
        <p:nvSpPr>
          <p:cNvPr id="31" name="Text 23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feature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장점 07 · 학부모 카카오톡 실시간 리포트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10157155" y="384048"/>
            <a:ext cx="1467612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0157155" y="384048"/>
            <a:ext cx="14676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Parent Report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82296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학부모가 «깜깜이»가 되지 않게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566928" y="1517904"/>
            <a:ext cx="5852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 출결·평가·진도·공지를 카카오톡으로 실시간 전달합니다.</a:t>
            </a:r>
            <a:endParaRPr lang="en-US" sz="12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앱을 따로 열지 않아도 아이의 학습 상황이 손 안에 도착합니다.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66928" y="2450592"/>
            <a:ext cx="5852160" cy="969264"/>
          </a:xfrm>
          <a:prstGeom prst="roundRect">
            <a:avLst>
              <a:gd name="adj" fmla="val 9434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2960" y="2578608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 수업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822960" y="2816352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A.I 자동 평가서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3675888" y="2651760"/>
            <a:ext cx="2560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9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발음 · 표현 · 참여도를 분석해 수업 직후 자동 생성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566928" y="3511296"/>
            <a:ext cx="5852160" cy="969264"/>
          </a:xfrm>
          <a:prstGeom prst="roundRect">
            <a:avLst>
              <a:gd name="adj" fmla="val 9434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2960" y="363931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매주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822960" y="3877056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학부모 주간 리포트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675888" y="3712464"/>
            <a:ext cx="2560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9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주 학습량과 약점을 정리해 발송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566928" y="4572000"/>
            <a:ext cx="5852160" cy="969264"/>
          </a:xfrm>
          <a:prstGeom prst="roundRect">
            <a:avLst>
              <a:gd name="adj" fmla="val 9434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22960" y="4700016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08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매달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822960" y="493776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월간 A.I 학습 리포트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3675888" y="4773168"/>
            <a:ext cx="2560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9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달 성장 흐름을 요약, 카카오톡으로도 발송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6748272" y="1700784"/>
            <a:ext cx="4919472" cy="2157984"/>
          </a:xfrm>
          <a:prstGeom prst="roundRect">
            <a:avLst>
              <a:gd name="adj" fmla="val 3390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21" name="Image 1" descr="/tmp/claude-0/-home-user-mangoiweb/ca835eb4-1670-5fc1-a29a-2fc77598fea3/scratchpad/deck_img/parent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784848" y="1737360"/>
            <a:ext cx="4846320" cy="2084832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6784848" y="4005072"/>
            <a:ext cx="4892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학부모 주간 리포트 — 카카오톡 발송 화면</a:t>
            </a:r>
            <a:endParaRPr lang="en-US" sz="950" dirty="0"/>
          </a:p>
        </p:txBody>
      </p:sp>
      <p:sp>
        <p:nvSpPr>
          <p:cNvPr id="23" name="Shape 19"/>
          <p:cNvSpPr/>
          <p:nvPr/>
        </p:nvSpPr>
        <p:spPr>
          <a:xfrm>
            <a:off x="566928" y="5852160"/>
            <a:ext cx="11055096" cy="621792"/>
          </a:xfrm>
          <a:prstGeom prst="roundRect">
            <a:avLst>
              <a:gd name="adj" fmla="val 14706"/>
            </a:avLst>
          </a:prstGeom>
          <a:solidFill>
            <a:srgbClr val="231B08"/>
          </a:solidFill>
          <a:ln w="12700">
            <a:solidFill>
              <a:srgbClr val="6B5316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731520" y="5998464"/>
            <a:ext cx="1133856" cy="329184"/>
          </a:xfrm>
          <a:prstGeom prst="roundRect">
            <a:avLst>
              <a:gd name="adj" fmla="val 50000"/>
            </a:avLst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731520" y="5998464"/>
            <a:ext cx="11338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2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쉽게 말하면</a:t>
            </a:r>
            <a:endParaRPr lang="en-US" sz="1050" dirty="0"/>
          </a:p>
        </p:txBody>
      </p:sp>
      <p:sp>
        <p:nvSpPr>
          <p:cNvPr id="26" name="Text 22"/>
          <p:cNvSpPr/>
          <p:nvPr/>
        </p:nvSpPr>
        <p:spPr>
          <a:xfrm>
            <a:off x="2011680" y="5852160"/>
            <a:ext cx="942746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FFE7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부모님한테 «오늘 뭐 했는지»가 카톡으로 자동으로 가. 잔소리 대신 기록이 대신 말해 주는 거지.</a:t>
            </a:r>
            <a:endParaRPr lang="en-US" sz="1200" dirty="0"/>
          </a:p>
        </p:txBody>
      </p:sp>
      <p:sp>
        <p:nvSpPr>
          <p:cNvPr id="27" name="Text 23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feature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장점 08 · 올인원 스마트 플랫폼 (All-in-One)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9768535" y="384048"/>
            <a:ext cx="1856232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9768535" y="384048"/>
            <a:ext cx="1856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All-in-One Website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82296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앱을 여러 개 오갈 필요가 없습니다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566928" y="1481328"/>
            <a:ext cx="110550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 입장 · 예복습 · 평가 확인 · 결제 · 상담까지 하나의 홈페이지와 앱에서 끝납니다. 원하는 기능은 검색창에 말하면 바로 이동합니다.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30352" y="2066544"/>
            <a:ext cx="5468112" cy="3479170"/>
          </a:xfrm>
          <a:prstGeom prst="roundRect">
            <a:avLst>
              <a:gd name="adj" fmla="val 2103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9" name="Image 1" descr="/tmp/claude-0/-home-user-mangoiweb/ca835eb4-1670-5fc1-a29a-2fc77598fea3/scratchpad/deck_img/home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103120"/>
            <a:ext cx="5394960" cy="340601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66928" y="5541264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 — AI 검색창에 말하거나 입력하면 해당 기능으로 바로 이동</a:t>
            </a:r>
            <a:endParaRPr lang="en-US" sz="950" dirty="0"/>
          </a:p>
        </p:txBody>
      </p:sp>
      <p:sp>
        <p:nvSpPr>
          <p:cNvPr id="11" name="Shape 7"/>
          <p:cNvSpPr/>
          <p:nvPr/>
        </p:nvSpPr>
        <p:spPr>
          <a:xfrm>
            <a:off x="6382512" y="2066544"/>
            <a:ext cx="5285232" cy="3363712"/>
          </a:xfrm>
          <a:prstGeom prst="roundRect">
            <a:avLst>
              <a:gd name="adj" fmla="val 2175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12" name="Image 2" descr="/tmp/claude-0/-home-user-mangoiweb/ca835eb4-1670-5fc1-a29a-2fc77598fea3/scratchpad/deck_img/allmenu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9088" y="2103120"/>
            <a:ext cx="5212080" cy="329056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6419088" y="5431536"/>
            <a:ext cx="5257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메뉴 — 학습·수업·평가·결제·상담이 한 화면에</a:t>
            </a:r>
            <a:endParaRPr lang="en-US" sz="950" dirty="0"/>
          </a:p>
        </p:txBody>
      </p:sp>
      <p:sp>
        <p:nvSpPr>
          <p:cNvPr id="14" name="Shape 9"/>
          <p:cNvSpPr/>
          <p:nvPr/>
        </p:nvSpPr>
        <p:spPr>
          <a:xfrm>
            <a:off x="566928" y="5943600"/>
            <a:ext cx="11055096" cy="621792"/>
          </a:xfrm>
          <a:prstGeom prst="roundRect">
            <a:avLst>
              <a:gd name="adj" fmla="val 14706"/>
            </a:avLst>
          </a:prstGeom>
          <a:solidFill>
            <a:srgbClr val="231B08"/>
          </a:solidFill>
          <a:ln w="12700">
            <a:solidFill>
              <a:srgbClr val="6B5316"/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731520" y="6089904"/>
            <a:ext cx="1133856" cy="329184"/>
          </a:xfrm>
          <a:prstGeom prst="roundRect">
            <a:avLst>
              <a:gd name="adj" fmla="val 50000"/>
            </a:avLst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6" name="Text 11"/>
          <p:cNvSpPr/>
          <p:nvPr/>
        </p:nvSpPr>
        <p:spPr>
          <a:xfrm>
            <a:off x="731520" y="6089904"/>
            <a:ext cx="11338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2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쉽게 말하면</a:t>
            </a:r>
            <a:endParaRPr lang="en-US" sz="1050" dirty="0"/>
          </a:p>
        </p:txBody>
      </p:sp>
      <p:sp>
        <p:nvSpPr>
          <p:cNvPr id="17" name="Text 12"/>
          <p:cNvSpPr/>
          <p:nvPr/>
        </p:nvSpPr>
        <p:spPr>
          <a:xfrm>
            <a:off x="2011680" y="5943600"/>
            <a:ext cx="942746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FFE7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앱 여러 개 깔 필요 없어. 홈 화면 검색창에 «단어장» 하고 말하면 바로 거기로 데려다 줘.</a:t>
            </a:r>
            <a:endParaRPr lang="en-US" sz="1200" dirty="0"/>
          </a:p>
        </p:txBody>
      </p:sp>
      <p:sp>
        <p:nvSpPr>
          <p:cNvPr id="18" name="Text 13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feature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무엇이 다른가 · 일반 화상영어 vs MANGO AI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10390327" y="384048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0390327" y="384048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Comparison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822960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 화상영어와 망고아이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566928" y="1481328"/>
            <a:ext cx="110550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«수업을 파는가»와 «학습을 관리하는가»의 차이입니다.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7882128" y="2048256"/>
            <a:ext cx="3739896" cy="3657600"/>
          </a:xfrm>
          <a:prstGeom prst="roundRect">
            <a:avLst>
              <a:gd name="adj" fmla="val 2500"/>
            </a:avLst>
          </a:prstGeom>
          <a:solidFill>
            <a:srgbClr val="231B08"/>
          </a:solidFill>
          <a:ln w="12700">
            <a:solidFill>
              <a:srgbClr val="6B531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315968" y="2121408"/>
            <a:ext cx="32186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 화상영어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083296" y="2121408"/>
            <a:ext cx="33741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MANGO AI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566928" y="2578608"/>
            <a:ext cx="7315200" cy="493776"/>
          </a:xfrm>
          <a:prstGeom prst="rect">
            <a:avLst/>
          </a:prstGeom>
          <a:solidFill>
            <a:srgbClr val="121830"/>
          </a:solidFill>
          <a:ln w="12700">
            <a:solidFill>
              <a:srgbClr val="12183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68096" y="2615184"/>
            <a:ext cx="3017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4315968" y="2615184"/>
            <a:ext cx="32186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원어민 화상수업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083296" y="2615184"/>
            <a:ext cx="3337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E7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원어민 전담 1:1 · 1:2 (직영 센터)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768096" y="3127248"/>
            <a:ext cx="3017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 밖 시간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315968" y="3127248"/>
            <a:ext cx="32186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학생 자율에 맡김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8083296" y="3127248"/>
            <a:ext cx="3337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E7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웜업 · 음성코치 · AI 친구 대화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66928" y="3602736"/>
            <a:ext cx="7315200" cy="493776"/>
          </a:xfrm>
          <a:prstGeom prst="rect">
            <a:avLst/>
          </a:prstGeom>
          <a:solidFill>
            <a:srgbClr val="121830"/>
          </a:solidFill>
          <a:ln w="12700">
            <a:solidFill>
              <a:srgbClr val="12183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68096" y="3639312"/>
            <a:ext cx="3017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복습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4315968" y="3639312"/>
            <a:ext cx="32186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숙제 또는 없음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8083296" y="3639312"/>
            <a:ext cx="3337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E7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 생성 10문항 + 학습 게임 21종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768096" y="4151376"/>
            <a:ext cx="3017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평가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4315968" y="4151376"/>
            <a:ext cx="32186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교사 코멘트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8083296" y="4151376"/>
            <a:ext cx="3337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E7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A.I 자동 평가서 + 월간 A.I 리포트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566928" y="4626864"/>
            <a:ext cx="7315200" cy="493776"/>
          </a:xfrm>
          <a:prstGeom prst="rect">
            <a:avLst/>
          </a:prstGeom>
          <a:solidFill>
            <a:srgbClr val="121830"/>
          </a:solidFill>
          <a:ln w="12700">
            <a:solidFill>
              <a:srgbClr val="121830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68096" y="4663440"/>
            <a:ext cx="3017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학부모 소통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4315968" y="4663440"/>
            <a:ext cx="32186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 1회 상담 정도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8083296" y="4663440"/>
            <a:ext cx="3337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E7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카카오톡 실시간 · 주간/월간 리포트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768096" y="5175504"/>
            <a:ext cx="3017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플랫폼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315968" y="5175504"/>
            <a:ext cx="32186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 도구 위주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8083296" y="5175504"/>
            <a:ext cx="3337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E7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입장·학습·평가·결제·상담 올인원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566928" y="5797296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일반 화상영어 열은 업계에서 흔히 보이는 구성을 요약한 것으로, 특정 업체를 지칭하지 않습니다.</a:t>
            </a:r>
            <a:endParaRPr lang="en-US" sz="950" dirty="0"/>
          </a:p>
        </p:txBody>
      </p:sp>
      <p:sp>
        <p:nvSpPr>
          <p:cNvPr id="33" name="Shape 30"/>
          <p:cNvSpPr/>
          <p:nvPr/>
        </p:nvSpPr>
        <p:spPr>
          <a:xfrm>
            <a:off x="566928" y="6089904"/>
            <a:ext cx="11055096" cy="621792"/>
          </a:xfrm>
          <a:prstGeom prst="roundRect">
            <a:avLst>
              <a:gd name="adj" fmla="val 14706"/>
            </a:avLst>
          </a:prstGeom>
          <a:solidFill>
            <a:srgbClr val="231B08"/>
          </a:solidFill>
          <a:ln w="12700">
            <a:solidFill>
              <a:srgbClr val="6B5316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731520" y="6236208"/>
            <a:ext cx="1133856" cy="329184"/>
          </a:xfrm>
          <a:prstGeom prst="roundRect">
            <a:avLst>
              <a:gd name="adj" fmla="val 50000"/>
            </a:avLst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731520" y="6236208"/>
            <a:ext cx="11338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2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쉽게 말하면</a:t>
            </a:r>
            <a:endParaRPr lang="en-US" sz="1050" dirty="0"/>
          </a:p>
        </p:txBody>
      </p:sp>
      <p:sp>
        <p:nvSpPr>
          <p:cNvPr id="36" name="Text 33"/>
          <p:cNvSpPr/>
          <p:nvPr/>
        </p:nvSpPr>
        <p:spPr>
          <a:xfrm>
            <a:off x="2011680" y="6089904"/>
            <a:ext cx="942746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FFE7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데는 «수업»만 팔아. 망고아이는 수업 끝난 뒤에 네가 뭘 할지까지 정해 줘. 그게 제일 큰 차이야.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usage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66928" y="228600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566928" y="228600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80" kern="0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03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66928" y="1024128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0" b="1" dirty="0">
                <a:solidFill>
                  <a:srgbClr val="222C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600" dirty="0"/>
          </a:p>
        </p:txBody>
      </p:sp>
      <p:sp>
        <p:nvSpPr>
          <p:cNvPr id="6" name="Text 3"/>
          <p:cNvSpPr/>
          <p:nvPr/>
        </p:nvSpPr>
        <p:spPr>
          <a:xfrm>
            <a:off x="566928" y="2779776"/>
            <a:ext cx="5852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사용방법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566928" y="3566160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spc="50" kern="0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Journey Guide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566928" y="4114800"/>
            <a:ext cx="5577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 오신 분이 상담부터 수업, 복습까지 마치는</a:t>
            </a:r>
            <a:endParaRPr lang="en-US" sz="12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 과정을 실제 화면으로 따라갑니다.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419088" y="1664208"/>
            <a:ext cx="5248656" cy="3309567"/>
          </a:xfrm>
          <a:prstGeom prst="roundRect">
            <a:avLst>
              <a:gd name="adj" fmla="val 2210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10" name="Image 1" descr="/tmp/claude-0/-home-user-mangoiweb/ca835eb4-1670-5fc1-a29a-2fc77598fea3/scratchpad/deck_img/booking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5664" y="1700784"/>
            <a:ext cx="5175504" cy="3236415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455664" y="5120079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 신청 — 시간 · 교사 · 결제 3단계</a:t>
            </a:r>
            <a:endParaRPr lang="en-US" sz="950" dirty="0"/>
          </a:p>
        </p:txBody>
      </p:sp>
      <p:sp>
        <p:nvSpPr>
          <p:cNvPr id="12" name="Text 8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usage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C08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흐름 · 가입부터 복습까지 5단계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10573207" y="384048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0573207" y="384048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Steps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822960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가입부터 복습까지, 다섯 걸음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566928" y="1481328"/>
            <a:ext cx="110550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 화면 가운데에도 «무료 상담 › 레벨 테스트 › 수업 신청 › 평가표·복습» 순서가 그대로 표시됩니다.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66928" y="2157984"/>
            <a:ext cx="2084832" cy="2834640"/>
          </a:xfrm>
          <a:prstGeom prst="roundRect">
            <a:avLst>
              <a:gd name="adj" fmla="val 4386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04672" y="2395728"/>
            <a:ext cx="438912" cy="438912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04672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62B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804672" y="2980944"/>
            <a:ext cx="162763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무료 상담 · 가입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804672" y="3694176"/>
            <a:ext cx="1645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카카오톡 채널 또는 홈의 «무료 체험 신청»으로 시작합니다.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2825496" y="2157984"/>
            <a:ext cx="2084832" cy="2834640"/>
          </a:xfrm>
          <a:prstGeom prst="roundRect">
            <a:avLst>
              <a:gd name="adj" fmla="val 4386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063240" y="2395728"/>
            <a:ext cx="438912" cy="438912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06324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62B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3063240" y="2980944"/>
            <a:ext cx="162763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레벨 테스트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3063240" y="3694176"/>
            <a:ext cx="1645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자동 진단으로 현재 실력과 시작 레벨을 확인합니다.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5084064" y="2157984"/>
            <a:ext cx="2084832" cy="2834640"/>
          </a:xfrm>
          <a:prstGeom prst="roundRect">
            <a:avLst>
              <a:gd name="adj" fmla="val 4386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5321808" y="2395728"/>
            <a:ext cx="438912" cy="438912"/>
          </a:xfrm>
          <a:prstGeom prst="ellipse">
            <a:avLst/>
          </a:prstGeom>
          <a:solidFill>
            <a:srgbClr val="C084FC"/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321808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62B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5321808" y="2980944"/>
            <a:ext cx="162763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 신청 · 결제</a:t>
            </a:r>
            <a:endParaRPr lang="en-US" sz="1500" dirty="0"/>
          </a:p>
        </p:txBody>
      </p:sp>
      <p:sp>
        <p:nvSpPr>
          <p:cNvPr id="22" name="Text 19"/>
          <p:cNvSpPr/>
          <p:nvPr/>
        </p:nvSpPr>
        <p:spPr>
          <a:xfrm>
            <a:off x="5321808" y="3694176"/>
            <a:ext cx="1645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요일·시간·교사를 직접 고르고 그 자리에서 결제합니다.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7342632" y="2157984"/>
            <a:ext cx="2084832" cy="2834640"/>
          </a:xfrm>
          <a:prstGeom prst="roundRect">
            <a:avLst>
              <a:gd name="adj" fmla="val 4386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580376" y="2395728"/>
            <a:ext cx="438912" cy="438912"/>
          </a:xfrm>
          <a:prstGeom prst="ellipse">
            <a:avLst/>
          </a:prstGeom>
          <a:solidFill>
            <a:srgbClr val="C084FC"/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580376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62B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400" dirty="0"/>
          </a:p>
        </p:txBody>
      </p:sp>
      <p:sp>
        <p:nvSpPr>
          <p:cNvPr id="26" name="Text 23"/>
          <p:cNvSpPr/>
          <p:nvPr/>
        </p:nvSpPr>
        <p:spPr>
          <a:xfrm>
            <a:off x="7580376" y="2980944"/>
            <a:ext cx="162763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 당일</a:t>
            </a:r>
            <a:endParaRPr lang="en-US" sz="1500" dirty="0"/>
          </a:p>
        </p:txBody>
      </p:sp>
      <p:sp>
        <p:nvSpPr>
          <p:cNvPr id="27" name="Text 24"/>
          <p:cNvSpPr/>
          <p:nvPr/>
        </p:nvSpPr>
        <p:spPr>
          <a:xfrm>
            <a:off x="7580376" y="3694176"/>
            <a:ext cx="1645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진단으로 마이크·카메라를 점검하고, 웜업 후 입장합니다.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9601200" y="2157984"/>
            <a:ext cx="2084832" cy="2834640"/>
          </a:xfrm>
          <a:prstGeom prst="roundRect">
            <a:avLst>
              <a:gd name="adj" fmla="val 4386"/>
            </a:avLst>
          </a:prstGeom>
          <a:solidFill>
            <a:srgbClr val="231B08"/>
          </a:solidFill>
          <a:ln w="12700">
            <a:solidFill>
              <a:srgbClr val="6B5316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9838944" y="2395728"/>
            <a:ext cx="438912" cy="438912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9838944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2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400" dirty="0"/>
          </a:p>
        </p:txBody>
      </p:sp>
      <p:sp>
        <p:nvSpPr>
          <p:cNvPr id="31" name="Text 28"/>
          <p:cNvSpPr/>
          <p:nvPr/>
        </p:nvSpPr>
        <p:spPr>
          <a:xfrm>
            <a:off x="9838944" y="2980944"/>
            <a:ext cx="162763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 후 평가 · 복습</a:t>
            </a:r>
            <a:endParaRPr lang="en-US" sz="1500" dirty="0"/>
          </a:p>
        </p:txBody>
      </p:sp>
      <p:sp>
        <p:nvSpPr>
          <p:cNvPr id="32" name="Text 29"/>
          <p:cNvSpPr/>
          <p:nvPr/>
        </p:nvSpPr>
        <p:spPr>
          <a:xfrm>
            <a:off x="9838944" y="3694176"/>
            <a:ext cx="1645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 평가서 → 복습 퀴즈 → 게임 → 리포트로 이어집니다.</a:t>
            </a:r>
            <a:endParaRPr lang="en-US" sz="1050" dirty="0"/>
          </a:p>
        </p:txBody>
      </p:sp>
      <p:sp>
        <p:nvSpPr>
          <p:cNvPr id="33" name="Text 30"/>
          <p:cNvSpPr/>
          <p:nvPr/>
        </p:nvSpPr>
        <p:spPr>
          <a:xfrm>
            <a:off x="566928" y="5193792"/>
            <a:ext cx="11055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이미 수강 중이라면 홈의 «수업 입장 →» 한 번으로 바로 교실로 들어갑니다.</a:t>
            </a:r>
            <a:endParaRPr lang="en-US" sz="1300" dirty="0"/>
          </a:p>
        </p:txBody>
      </p:sp>
      <p:sp>
        <p:nvSpPr>
          <p:cNvPr id="34" name="Shape 31"/>
          <p:cNvSpPr/>
          <p:nvPr/>
        </p:nvSpPr>
        <p:spPr>
          <a:xfrm>
            <a:off x="566928" y="5852160"/>
            <a:ext cx="11055096" cy="621792"/>
          </a:xfrm>
          <a:prstGeom prst="roundRect">
            <a:avLst>
              <a:gd name="adj" fmla="val 14706"/>
            </a:avLst>
          </a:prstGeom>
          <a:solidFill>
            <a:srgbClr val="231B08"/>
          </a:solidFill>
          <a:ln w="12700">
            <a:solidFill>
              <a:srgbClr val="6B5316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731520" y="5998464"/>
            <a:ext cx="1133856" cy="329184"/>
          </a:xfrm>
          <a:prstGeom prst="roundRect">
            <a:avLst>
              <a:gd name="adj" fmla="val 50000"/>
            </a:avLst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731520" y="5998464"/>
            <a:ext cx="11338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2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쉽게 말하면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2011680" y="5852160"/>
            <a:ext cx="942746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FFE7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상담 → ② 내 레벨 확인 → ③ 시간 고르기 → ④ 수업 → ⑤ 복습. 딱 다섯 번이면 끝나.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usage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C08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1 · 2 — 무료 상담과 레벨 테스트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9224467" y="384048"/>
            <a:ext cx="2400300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9224467" y="384048"/>
            <a:ext cx="24003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Consultation &amp; Level Test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822960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상담하고, 내 레벨을 확인합니다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566928" y="1481328"/>
            <a:ext cx="5852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홈의 «무료 체험 신청»으로 상담을 시작하고, 레벨 테스트로 시작 지점을 정합니다.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66928" y="2194560"/>
            <a:ext cx="5760720" cy="822960"/>
          </a:xfrm>
          <a:prstGeom prst="roundRect">
            <a:avLst>
              <a:gd name="adj" fmla="val 11111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2960" y="2322576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무료 상담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822960" y="2596896"/>
            <a:ext cx="5303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 › 무료 체험 신청 또는 카카오 상담. 채널 홈에서 채팅·챗봇·전화가 모두 열립니다.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66928" y="3108960"/>
            <a:ext cx="5760720" cy="822960"/>
          </a:xfrm>
          <a:prstGeom prst="roundRect">
            <a:avLst>
              <a:gd name="adj" fmla="val 11111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3236976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레벨 테스트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822960" y="3511296"/>
            <a:ext cx="5303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 › 레벨테스트. AI 자동 진단은 학생 ID만 넣으면 바로 시작합니다.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566928" y="4023360"/>
            <a:ext cx="5760720" cy="822960"/>
          </a:xfrm>
          <a:prstGeom prst="roundRect">
            <a:avLst>
              <a:gd name="adj" fmla="val 11111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4151376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결과 확인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822960" y="4425696"/>
            <a:ext cx="5303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CEFR 기준 Level 1~8 중 시작 레벨과 강·약점이 정리되어 나옵니다.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566928" y="4937760"/>
            <a:ext cx="5760720" cy="822960"/>
          </a:xfrm>
          <a:prstGeom prst="roundRect">
            <a:avLst>
              <a:gd name="adj" fmla="val 11111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5065776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커리큘럼 배정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822960" y="5340096"/>
            <a:ext cx="5303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레벨에 맞는 교재와 주제가 자동으로 연결됩니다.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6711696" y="2157984"/>
            <a:ext cx="4965192" cy="1901952"/>
          </a:xfrm>
          <a:prstGeom prst="roundRect">
            <a:avLst>
              <a:gd name="adj" fmla="val 3846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21" name="Image 1" descr="/tmp/claude-0/-home-user-mangoiweb/ca835eb4-1670-5fc1-a29a-2fc77598fea3/scratchpad/deck_img/leveltestai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748272" y="2194560"/>
            <a:ext cx="4892040" cy="182880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6748272" y="4206240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자동 진단 — 학생 ID 입력 후 즉시 시작</a:t>
            </a:r>
            <a:endParaRPr lang="en-US" sz="950" dirty="0"/>
          </a:p>
        </p:txBody>
      </p:sp>
      <p:sp>
        <p:nvSpPr>
          <p:cNvPr id="23" name="Shape 19"/>
          <p:cNvSpPr/>
          <p:nvPr/>
        </p:nvSpPr>
        <p:spPr>
          <a:xfrm>
            <a:off x="566928" y="5943600"/>
            <a:ext cx="11055096" cy="621792"/>
          </a:xfrm>
          <a:prstGeom prst="roundRect">
            <a:avLst>
              <a:gd name="adj" fmla="val 14706"/>
            </a:avLst>
          </a:prstGeom>
          <a:solidFill>
            <a:srgbClr val="231B08"/>
          </a:solidFill>
          <a:ln w="12700">
            <a:solidFill>
              <a:srgbClr val="6B5316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731520" y="6089904"/>
            <a:ext cx="1133856" cy="329184"/>
          </a:xfrm>
          <a:prstGeom prst="roundRect">
            <a:avLst>
              <a:gd name="adj" fmla="val 50000"/>
            </a:avLst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731520" y="6089904"/>
            <a:ext cx="11338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2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쉽게 말하면</a:t>
            </a:r>
            <a:endParaRPr lang="en-US" sz="1050" dirty="0"/>
          </a:p>
        </p:txBody>
      </p:sp>
      <p:sp>
        <p:nvSpPr>
          <p:cNvPr id="26" name="Text 22"/>
          <p:cNvSpPr/>
          <p:nvPr/>
        </p:nvSpPr>
        <p:spPr>
          <a:xfrm>
            <a:off x="2011680" y="5943600"/>
            <a:ext cx="942746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FFE7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먼저 무료로 상담받고, 레벨 테스트로 «내가 지금 몇 단계인지»만 확인하면 준비 끝이야.</a:t>
            </a:r>
            <a:endParaRPr lang="en-US" sz="1200" dirty="0"/>
          </a:p>
        </p:txBody>
      </p:sp>
      <p:sp>
        <p:nvSpPr>
          <p:cNvPr id="27" name="Text 23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usage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C08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3 — 요일·시간·교사를 직접 고르는 마스터 클래스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10079431" y="384048"/>
            <a:ext cx="1545336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0079431" y="38404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Booking System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30352" y="1700784"/>
            <a:ext cx="5513832" cy="3475391"/>
          </a:xfrm>
          <a:prstGeom prst="roundRect">
            <a:avLst>
              <a:gd name="adj" fmla="val 2105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7" name="Image 1" descr="/tmp/claude-0/-home-user-mangoiweb/ca835eb4-1670-5fc1-a29a-2fc77598fea3/scratchpad/deck_img/booking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737360"/>
            <a:ext cx="5440680" cy="3402239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66928" y="528523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 신청 — ① 시간 선택 › ② 교사 선택 › ③ 결제</a:t>
            </a:r>
            <a:endParaRPr lang="en-US" sz="950" dirty="0"/>
          </a:p>
        </p:txBody>
      </p:sp>
      <p:sp>
        <p:nvSpPr>
          <p:cNvPr id="9" name="Text 5"/>
          <p:cNvSpPr/>
          <p:nvPr/>
        </p:nvSpPr>
        <p:spPr>
          <a:xfrm>
            <a:off x="6455664" y="822960"/>
            <a:ext cx="51755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요일·시간·교사를</a:t>
            </a:r>
            <a:endParaRPr lang="en-US" sz="2700" dirty="0"/>
          </a:p>
          <a:p>
            <a:pPr algn="l" indent="0" marL="0">
              <a:lnSpc>
                <a:spcPts val="36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직접 고릅니다</a:t>
            </a:r>
            <a:endParaRPr lang="en-US" sz="2700" dirty="0"/>
          </a:p>
        </p:txBody>
      </p:sp>
      <p:sp>
        <p:nvSpPr>
          <p:cNvPr id="10" name="Text 6"/>
          <p:cNvSpPr/>
          <p:nvPr/>
        </p:nvSpPr>
        <p:spPr>
          <a:xfrm>
            <a:off x="6455664" y="1883664"/>
            <a:ext cx="5120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«마스터 클래스 디자인» 화면에서 시간 → 교사 → 결제까지 3단계로 끝납니다.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6455664" y="2706624"/>
            <a:ext cx="5175504" cy="548640"/>
          </a:xfrm>
          <a:prstGeom prst="roundRect">
            <a:avLst>
              <a:gd name="adj" fmla="val 16667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675120" y="2706624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 형태</a:t>
            </a:r>
            <a:endParaRPr lang="en-US" sz="1150" dirty="0"/>
          </a:p>
        </p:txBody>
      </p:sp>
      <p:sp>
        <p:nvSpPr>
          <p:cNvPr id="13" name="Text 9"/>
          <p:cNvSpPr/>
          <p:nvPr/>
        </p:nvSpPr>
        <p:spPr>
          <a:xfrm>
            <a:off x="8183880" y="2706624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1:1 마스터 또는 그룹 토론 중 선택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6455664" y="3328416"/>
            <a:ext cx="5175504" cy="548640"/>
          </a:xfrm>
          <a:prstGeom prst="roundRect">
            <a:avLst>
              <a:gd name="adj" fmla="val 16667"/>
            </a:avLst>
          </a:prstGeom>
          <a:solidFill>
            <a:srgbClr val="12183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6675120" y="3328416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선택 방식</a:t>
            </a:r>
            <a:endParaRPr lang="en-US" sz="1150" dirty="0"/>
          </a:p>
        </p:txBody>
      </p:sp>
      <p:sp>
        <p:nvSpPr>
          <p:cNvPr id="16" name="Text 12"/>
          <p:cNvSpPr/>
          <p:nvPr/>
        </p:nvSpPr>
        <p:spPr>
          <a:xfrm>
            <a:off x="8183880" y="3328416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날짜로 고르거나, 교사로 고르거나</a:t>
            </a:r>
            <a:endParaRPr 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6455664" y="3950208"/>
            <a:ext cx="5175504" cy="548640"/>
          </a:xfrm>
          <a:prstGeom prst="roundRect">
            <a:avLst>
              <a:gd name="adj" fmla="val 16667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6675120" y="3950208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주간 횟수</a:t>
            </a:r>
            <a:endParaRPr lang="en-US" sz="1150" dirty="0"/>
          </a:p>
        </p:txBody>
      </p:sp>
      <p:sp>
        <p:nvSpPr>
          <p:cNvPr id="19" name="Text 15"/>
          <p:cNvSpPr/>
          <p:nvPr/>
        </p:nvSpPr>
        <p:spPr>
          <a:xfrm>
            <a:off x="8183880" y="3950208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 1회 ~ 주 5회 중 선택</a:t>
            </a:r>
            <a:endParaRPr lang="en-US" sz="1000" dirty="0"/>
          </a:p>
        </p:txBody>
      </p:sp>
      <p:sp>
        <p:nvSpPr>
          <p:cNvPr id="20" name="Shape 16"/>
          <p:cNvSpPr/>
          <p:nvPr/>
        </p:nvSpPr>
        <p:spPr>
          <a:xfrm>
            <a:off x="6455664" y="4572000"/>
            <a:ext cx="5175504" cy="694944"/>
          </a:xfrm>
          <a:prstGeom prst="roundRect">
            <a:avLst>
              <a:gd name="adj" fmla="val 13158"/>
            </a:avLst>
          </a:prstGeom>
          <a:solidFill>
            <a:srgbClr val="12183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6675120" y="4572000"/>
            <a:ext cx="14173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시간 선택</a:t>
            </a:r>
            <a:endParaRPr lang="en-US" sz="1150" dirty="0"/>
          </a:p>
        </p:txBody>
      </p:sp>
      <p:sp>
        <p:nvSpPr>
          <p:cNvPr id="22" name="Text 18"/>
          <p:cNvSpPr/>
          <p:nvPr/>
        </p:nvSpPr>
        <p:spPr>
          <a:xfrm>
            <a:off x="8183880" y="4572000"/>
            <a:ext cx="3291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최소 20분 자동 블록 + 연속 확장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색으로 가능 / 예약 / 휴무를 구분</a:t>
            </a:r>
            <a:endParaRPr lang="en-US" sz="1000" dirty="0"/>
          </a:p>
        </p:txBody>
      </p:sp>
      <p:sp>
        <p:nvSpPr>
          <p:cNvPr id="23" name="Shape 19"/>
          <p:cNvSpPr/>
          <p:nvPr/>
        </p:nvSpPr>
        <p:spPr>
          <a:xfrm>
            <a:off x="6455664" y="5340096"/>
            <a:ext cx="5175504" cy="548640"/>
          </a:xfrm>
          <a:prstGeom prst="roundRect">
            <a:avLst>
              <a:gd name="adj" fmla="val 16667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6675120" y="5340096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결제</a:t>
            </a:r>
            <a:endParaRPr lang="en-US" sz="1150" dirty="0"/>
          </a:p>
        </p:txBody>
      </p:sp>
      <p:sp>
        <p:nvSpPr>
          <p:cNvPr id="25" name="Text 21"/>
          <p:cNvSpPr/>
          <p:nvPr/>
        </p:nvSpPr>
        <p:spPr>
          <a:xfrm>
            <a:off x="8183880" y="5340096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장바구니에 일정을 모두 담은 뒤 결제</a:t>
            </a:r>
            <a:endParaRPr lang="en-US" sz="1000" dirty="0"/>
          </a:p>
        </p:txBody>
      </p:sp>
      <p:sp>
        <p:nvSpPr>
          <p:cNvPr id="26" name="Shape 22"/>
          <p:cNvSpPr/>
          <p:nvPr/>
        </p:nvSpPr>
        <p:spPr>
          <a:xfrm>
            <a:off x="566928" y="5943600"/>
            <a:ext cx="11055096" cy="621792"/>
          </a:xfrm>
          <a:prstGeom prst="roundRect">
            <a:avLst>
              <a:gd name="adj" fmla="val 14706"/>
            </a:avLst>
          </a:prstGeom>
          <a:solidFill>
            <a:srgbClr val="231B08"/>
          </a:solidFill>
          <a:ln w="12700">
            <a:solidFill>
              <a:srgbClr val="6B5316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731520" y="6089904"/>
            <a:ext cx="1133856" cy="329184"/>
          </a:xfrm>
          <a:prstGeom prst="roundRect">
            <a:avLst>
              <a:gd name="adj" fmla="val 50000"/>
            </a:avLst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731520" y="6089904"/>
            <a:ext cx="11338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2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쉽게 말하면</a:t>
            </a:r>
            <a:endParaRPr lang="en-US" sz="1050" dirty="0"/>
          </a:p>
        </p:txBody>
      </p:sp>
      <p:sp>
        <p:nvSpPr>
          <p:cNvPr id="29" name="Text 25"/>
          <p:cNvSpPr/>
          <p:nvPr/>
        </p:nvSpPr>
        <p:spPr>
          <a:xfrm>
            <a:off x="2011680" y="5943600"/>
            <a:ext cx="942746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FFE7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학원처럼 시간이 정해져 있는 게 아니라, 달력에서 내가 되는 시간을 골라서 담으면 돼.</a:t>
            </a:r>
            <a:endParaRPr lang="en-US" sz="1200" dirty="0"/>
          </a:p>
        </p:txBody>
      </p:sp>
      <p:sp>
        <p:nvSpPr>
          <p:cNvPr id="30" name="Text 26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usage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C08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4 — 수업 당일: 진단하고, 몸을 풀고, 입장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10079431" y="384048"/>
            <a:ext cx="1545336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0079431" y="38404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Pre-Class Prep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822960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 당일 — 점검하고, 몸을 풀고, 입장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566928" y="1481328"/>
            <a:ext cx="110550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 시작 전 마이크·카메라·네트워크를 스스로 점검하고, AI 웜업으로 오늘 배울 문장을 미리 말해 봅니다.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30352" y="2066544"/>
            <a:ext cx="5239512" cy="3303849"/>
          </a:xfrm>
          <a:prstGeom prst="roundRect">
            <a:avLst>
              <a:gd name="adj" fmla="val 2214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9" name="Image 1" descr="/tmp/claude-0/-home-user-mangoiweb/ca835eb4-1670-5fc1-a29a-2fc77598fea3/scratchpad/deck_img/precheck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103120"/>
            <a:ext cx="5166360" cy="3230697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66928" y="5394960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수업 진단 (PreCheck)</a:t>
            </a:r>
            <a:endParaRPr lang="en-US" sz="1200" dirty="0"/>
          </a:p>
        </p:txBody>
      </p:sp>
      <p:sp>
        <p:nvSpPr>
          <p:cNvPr id="11" name="Text 7"/>
          <p:cNvSpPr/>
          <p:nvPr/>
        </p:nvSpPr>
        <p:spPr>
          <a:xfrm>
            <a:off x="566928" y="5650992"/>
            <a:ext cx="5257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마이크·카메라·STUN/TURN·네트워크를 항목별로 점검해 점수로 표시</a:t>
            </a:r>
            <a:endParaRPr lang="en-US" sz="950" dirty="0"/>
          </a:p>
        </p:txBody>
      </p:sp>
      <p:sp>
        <p:nvSpPr>
          <p:cNvPr id="12" name="Shape 8"/>
          <p:cNvSpPr/>
          <p:nvPr/>
        </p:nvSpPr>
        <p:spPr>
          <a:xfrm>
            <a:off x="6419088" y="2066544"/>
            <a:ext cx="5239512" cy="3303849"/>
          </a:xfrm>
          <a:prstGeom prst="roundRect">
            <a:avLst>
              <a:gd name="adj" fmla="val 2214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13" name="Image 2" descr="/tmp/claude-0/-home-user-mangoiweb/ca835eb4-1670-5fc1-a29a-2fc77598fea3/scratchpad/deck_img/warmup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5664" y="2103120"/>
            <a:ext cx="5166360" cy="3230697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455664" y="5394960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수업 전 AI 웜업</a:t>
            </a:r>
            <a:endParaRPr lang="en-US" sz="1200" dirty="0"/>
          </a:p>
        </p:txBody>
      </p:sp>
      <p:sp>
        <p:nvSpPr>
          <p:cNvPr id="15" name="Text 10"/>
          <p:cNvSpPr/>
          <p:nvPr/>
        </p:nvSpPr>
        <p:spPr>
          <a:xfrm>
            <a:off x="6455664" y="5650992"/>
            <a:ext cx="5257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친구와 짧게 대화하며 입을 풀고 바로 화상수업 로비로 입장</a:t>
            </a:r>
            <a:endParaRPr lang="en-US" sz="950" dirty="0"/>
          </a:p>
        </p:txBody>
      </p:sp>
      <p:sp>
        <p:nvSpPr>
          <p:cNvPr id="16" name="Shape 11"/>
          <p:cNvSpPr/>
          <p:nvPr/>
        </p:nvSpPr>
        <p:spPr>
          <a:xfrm>
            <a:off x="566928" y="6016752"/>
            <a:ext cx="11055096" cy="621792"/>
          </a:xfrm>
          <a:prstGeom prst="roundRect">
            <a:avLst>
              <a:gd name="adj" fmla="val 14706"/>
            </a:avLst>
          </a:prstGeom>
          <a:solidFill>
            <a:srgbClr val="231B08"/>
          </a:solidFill>
          <a:ln w="12700">
            <a:solidFill>
              <a:srgbClr val="6B5316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731520" y="6163056"/>
            <a:ext cx="1133856" cy="329184"/>
          </a:xfrm>
          <a:prstGeom prst="roundRect">
            <a:avLst>
              <a:gd name="adj" fmla="val 50000"/>
            </a:avLst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731520" y="6163056"/>
            <a:ext cx="11338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2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쉽게 말하면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2011680" y="6016752"/>
            <a:ext cx="942746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FFE7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 직전에 마이크 잘 되는지 먼저 확인하고, AI랑 두세 마디 하고 들어가면 훨씬 덜 긴장돼.</a:t>
            </a:r>
            <a:endParaRPr lang="en-US" sz="1200" dirty="0"/>
          </a:p>
        </p:txBody>
      </p:sp>
      <p:sp>
        <p:nvSpPr>
          <p:cNvPr id="20" name="Text 15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usage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C08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5 — 수업 후: AI 단어퀴즈 &amp; 데일리 스트릭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9613087" y="384048"/>
            <a:ext cx="2011680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9613087" y="384048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After-Class Learning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822960"/>
            <a:ext cx="6766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수업이 끝나고부터가 진짜입니다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566928" y="1481328"/>
            <a:ext cx="5852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평가서 → 복습 퀴즈 → 게임 → 리포트. 아이가 «해야지» 하고 마음먹지 않아도 순서대로 이어집니다.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66928" y="2194560"/>
            <a:ext cx="5852160" cy="603504"/>
          </a:xfrm>
          <a:prstGeom prst="roundRect">
            <a:avLst>
              <a:gd name="adj" fmla="val 15152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49808" y="2322576"/>
            <a:ext cx="347472" cy="347472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49808" y="232257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A2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1225296" y="2194560"/>
            <a:ext cx="2194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평가서 자동 생성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456432" y="2194560"/>
            <a:ext cx="2834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발음·표현·참여도 분석 결과가 수업 직후 도착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566928" y="2871216"/>
            <a:ext cx="5852160" cy="603504"/>
          </a:xfrm>
          <a:prstGeom prst="roundRect">
            <a:avLst>
              <a:gd name="adj" fmla="val 15152"/>
            </a:avLst>
          </a:prstGeom>
          <a:solidFill>
            <a:srgbClr val="12183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49808" y="2999232"/>
            <a:ext cx="347472" cy="347472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49808" y="299923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A2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1225296" y="2871216"/>
            <a:ext cx="2194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복습 퀴즈 10문항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3456432" y="2871216"/>
            <a:ext cx="2834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배운 내용으로 듣기·말하기·쓰기 문제를 즉시 출제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566928" y="3547872"/>
            <a:ext cx="5852160" cy="603504"/>
          </a:xfrm>
          <a:prstGeom prst="roundRect">
            <a:avLst>
              <a:gd name="adj" fmla="val 15152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49808" y="3675888"/>
            <a:ext cx="347472" cy="347472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49808" y="36758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A2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1225296" y="3547872"/>
            <a:ext cx="2194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게임으로 반복</a:t>
            </a:r>
            <a:endParaRPr lang="en-US" sz="1150" dirty="0"/>
          </a:p>
        </p:txBody>
      </p:sp>
      <p:sp>
        <p:nvSpPr>
          <p:cNvPr id="22" name="Text 19"/>
          <p:cNvSpPr/>
          <p:nvPr/>
        </p:nvSpPr>
        <p:spPr>
          <a:xfrm>
            <a:off x="3456432" y="3547872"/>
            <a:ext cx="2834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단어·문장이 게임 재료가 되어 다시 등장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566928" y="4224528"/>
            <a:ext cx="5852160" cy="603504"/>
          </a:xfrm>
          <a:prstGeom prst="roundRect">
            <a:avLst>
              <a:gd name="adj" fmla="val 15152"/>
            </a:avLst>
          </a:prstGeom>
          <a:solidFill>
            <a:srgbClr val="12183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49808" y="4352544"/>
            <a:ext cx="347472" cy="347472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49808" y="435254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A2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50" dirty="0"/>
          </a:p>
        </p:txBody>
      </p:sp>
      <p:sp>
        <p:nvSpPr>
          <p:cNvPr id="26" name="Text 23"/>
          <p:cNvSpPr/>
          <p:nvPr/>
        </p:nvSpPr>
        <p:spPr>
          <a:xfrm>
            <a:off x="1225296" y="4224528"/>
            <a:ext cx="2194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연속 학습 유지</a:t>
            </a:r>
            <a:endParaRPr lang="en-US" sz="1150" dirty="0"/>
          </a:p>
        </p:txBody>
      </p:sp>
      <p:sp>
        <p:nvSpPr>
          <p:cNvPr id="27" name="Text 24"/>
          <p:cNvSpPr/>
          <p:nvPr/>
        </p:nvSpPr>
        <p:spPr>
          <a:xfrm>
            <a:off x="3456432" y="4224528"/>
            <a:ext cx="2834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스트릭(연속 일수)과 포인트로 습관을 잡습니다</a:t>
            </a:r>
            <a:endParaRPr lang="en-US" sz="950" dirty="0"/>
          </a:p>
        </p:txBody>
      </p:sp>
      <p:sp>
        <p:nvSpPr>
          <p:cNvPr id="28" name="Shape 25"/>
          <p:cNvSpPr/>
          <p:nvPr/>
        </p:nvSpPr>
        <p:spPr>
          <a:xfrm>
            <a:off x="566928" y="4901184"/>
            <a:ext cx="5852160" cy="603504"/>
          </a:xfrm>
          <a:prstGeom prst="roundRect">
            <a:avLst>
              <a:gd name="adj" fmla="val 15152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49808" y="5029200"/>
            <a:ext cx="347472" cy="347472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49808" y="50292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A2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50" dirty="0"/>
          </a:p>
        </p:txBody>
      </p:sp>
      <p:sp>
        <p:nvSpPr>
          <p:cNvPr id="31" name="Text 28"/>
          <p:cNvSpPr/>
          <p:nvPr/>
        </p:nvSpPr>
        <p:spPr>
          <a:xfrm>
            <a:off x="1225296" y="4901184"/>
            <a:ext cx="2194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월간 A.I 리포트</a:t>
            </a:r>
            <a:endParaRPr lang="en-US" sz="1150" dirty="0"/>
          </a:p>
        </p:txBody>
      </p:sp>
      <p:sp>
        <p:nvSpPr>
          <p:cNvPr id="32" name="Text 29"/>
          <p:cNvSpPr/>
          <p:nvPr/>
        </p:nvSpPr>
        <p:spPr>
          <a:xfrm>
            <a:off x="3456432" y="4901184"/>
            <a:ext cx="2834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달 성장 요약이 카카오톡으로 발송</a:t>
            </a:r>
            <a:endParaRPr lang="en-US" sz="950" dirty="0"/>
          </a:p>
        </p:txBody>
      </p:sp>
      <p:sp>
        <p:nvSpPr>
          <p:cNvPr id="33" name="Shape 30"/>
          <p:cNvSpPr/>
          <p:nvPr/>
        </p:nvSpPr>
        <p:spPr>
          <a:xfrm>
            <a:off x="6748272" y="1335024"/>
            <a:ext cx="4919472" cy="3103717"/>
          </a:xfrm>
          <a:prstGeom prst="roundRect">
            <a:avLst>
              <a:gd name="adj" fmla="val 2357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34" name="Image 1" descr="/tmp/claude-0/-home-user-mangoiweb/ca835eb4-1670-5fc1-a29a-2fc77598fea3/scratchpad/deck_img/microquiz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4848" y="1371600"/>
            <a:ext cx="4846320" cy="3030565"/>
          </a:xfrm>
          <a:prstGeom prst="rect">
            <a:avLst/>
          </a:prstGeom>
        </p:spPr>
      </p:pic>
      <p:sp>
        <p:nvSpPr>
          <p:cNvPr id="35" name="Text 31"/>
          <p:cNvSpPr/>
          <p:nvPr/>
        </p:nvSpPr>
        <p:spPr>
          <a:xfrm>
            <a:off x="6784848" y="4480560"/>
            <a:ext cx="4892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단어 퀴즈 — 마이크로러닝, 1분 안에 끝</a:t>
            </a:r>
            <a:endParaRPr lang="en-US" sz="950" dirty="0"/>
          </a:p>
        </p:txBody>
      </p:sp>
      <p:sp>
        <p:nvSpPr>
          <p:cNvPr id="36" name="Shape 32"/>
          <p:cNvSpPr/>
          <p:nvPr/>
        </p:nvSpPr>
        <p:spPr>
          <a:xfrm>
            <a:off x="6748272" y="4663440"/>
            <a:ext cx="2404872" cy="1133856"/>
          </a:xfrm>
          <a:prstGeom prst="roundRect">
            <a:avLst>
              <a:gd name="adj" fmla="val 6452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37" name="Image 2" descr="/tmp/claude-0/-home-user-mangoiweb/ca835eb4-1670-5fc1-a29a-2fc77598fea3/scratchpad/deck_img/streak.jpg">    </p:cNvPr>
          <p:cNvPicPr>
            <a:picLocks noChangeAspect="1"/>
          </p:cNvPicPr>
          <p:nvPr/>
        </p:nvPicPr>
        <p:blipFill>
          <a:blip r:embed="rId3"/>
          <a:srcRect l="0" r="0" t="18733" b="-18733"/>
          <a:stretch/>
        </p:blipFill>
        <p:spPr>
          <a:xfrm>
            <a:off x="6784848" y="4700016"/>
            <a:ext cx="2331720" cy="1060704"/>
          </a:xfrm>
          <a:prstGeom prst="rect">
            <a:avLst/>
          </a:prstGeom>
        </p:spPr>
      </p:pic>
      <p:sp>
        <p:nvSpPr>
          <p:cNvPr id="38" name="Shape 33"/>
          <p:cNvSpPr/>
          <p:nvPr/>
        </p:nvSpPr>
        <p:spPr>
          <a:xfrm>
            <a:off x="9262872" y="4663440"/>
            <a:ext cx="2404872" cy="1133856"/>
          </a:xfrm>
          <a:prstGeom prst="roundRect">
            <a:avLst>
              <a:gd name="adj" fmla="val 6452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39" name="Image 3" descr="/tmp/claude-0/-home-user-mangoiweb/ca835eb4-1670-5fc1-a29a-2fc77598fea3/scratchpad/deck_img/grammarpizza.jpg">    </p:cNvPr>
          <p:cNvPicPr>
            <a:picLocks noChangeAspect="1"/>
          </p:cNvPicPr>
          <p:nvPr/>
        </p:nvPicPr>
        <p:blipFill>
          <a:blip r:embed="rId4"/>
          <a:srcRect l="0" r="0" t="18733" b="-18733"/>
          <a:stretch/>
        </p:blipFill>
        <p:spPr>
          <a:xfrm>
            <a:off x="9299448" y="4700016"/>
            <a:ext cx="2331720" cy="1060704"/>
          </a:xfrm>
          <a:prstGeom prst="rect">
            <a:avLst/>
          </a:prstGeom>
        </p:spPr>
      </p:pic>
      <p:sp>
        <p:nvSpPr>
          <p:cNvPr id="40" name="Text 34"/>
          <p:cNvSpPr/>
          <p:nvPr/>
        </p:nvSpPr>
        <p:spPr>
          <a:xfrm>
            <a:off x="6784848" y="5815584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데일리 스트릭 · 게임형 복습</a:t>
            </a:r>
            <a:endParaRPr lang="en-US" sz="950" dirty="0"/>
          </a:p>
        </p:txBody>
      </p:sp>
      <p:sp>
        <p:nvSpPr>
          <p:cNvPr id="41" name="Shape 35"/>
          <p:cNvSpPr/>
          <p:nvPr/>
        </p:nvSpPr>
        <p:spPr>
          <a:xfrm>
            <a:off x="566928" y="6089904"/>
            <a:ext cx="11055096" cy="621792"/>
          </a:xfrm>
          <a:prstGeom prst="roundRect">
            <a:avLst>
              <a:gd name="adj" fmla="val 14706"/>
            </a:avLst>
          </a:prstGeom>
          <a:solidFill>
            <a:srgbClr val="231B08"/>
          </a:solidFill>
          <a:ln w="12700">
            <a:solidFill>
              <a:srgbClr val="6B5316"/>
            </a:solidFill>
            <a:prstDash val="solid"/>
          </a:ln>
        </p:spPr>
      </p:sp>
      <p:sp>
        <p:nvSpPr>
          <p:cNvPr id="42" name="Shape 36"/>
          <p:cNvSpPr/>
          <p:nvPr/>
        </p:nvSpPr>
        <p:spPr>
          <a:xfrm>
            <a:off x="731520" y="6236208"/>
            <a:ext cx="1133856" cy="329184"/>
          </a:xfrm>
          <a:prstGeom prst="roundRect">
            <a:avLst>
              <a:gd name="adj" fmla="val 50000"/>
            </a:avLst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43" name="Text 37"/>
          <p:cNvSpPr/>
          <p:nvPr/>
        </p:nvSpPr>
        <p:spPr>
          <a:xfrm>
            <a:off x="731520" y="6236208"/>
            <a:ext cx="11338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2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쉽게 말하면</a:t>
            </a:r>
            <a:endParaRPr lang="en-US" sz="1050" dirty="0"/>
          </a:p>
        </p:txBody>
      </p:sp>
      <p:sp>
        <p:nvSpPr>
          <p:cNvPr id="44" name="Text 38"/>
          <p:cNvSpPr/>
          <p:nvPr/>
        </p:nvSpPr>
        <p:spPr>
          <a:xfrm>
            <a:off x="2011680" y="6089904"/>
            <a:ext cx="942746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FFE7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 끝나면 자동으로 문제 10개가 나와. 1분짜리 단어 퀴즈랑 연속 출석까지 채우면 그날 복습 끝.</a:t>
            </a:r>
            <a:endParaRPr lang="en-US" sz="1200" dirty="0"/>
          </a:p>
        </p:txBody>
      </p:sp>
      <p:sp>
        <p:nvSpPr>
          <p:cNvPr id="45" name="Text 39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usage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C08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언제든지 · 일정 변경 &amp; 자주 묻는 질문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10312603" y="384048"/>
            <a:ext cx="1312164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0312603" y="384048"/>
            <a:ext cx="13121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Convenience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822960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일정이 바뀌어도 수업은 사라지지 않습니다</a:t>
            </a:r>
            <a:endParaRPr lang="en-US" sz="2800" dirty="0"/>
          </a:p>
        </p:txBody>
      </p:sp>
      <p:sp>
        <p:nvSpPr>
          <p:cNvPr id="7" name="Text 4"/>
          <p:cNvSpPr/>
          <p:nvPr/>
        </p:nvSpPr>
        <p:spPr>
          <a:xfrm>
            <a:off x="566928" y="1481328"/>
            <a:ext cx="110550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갑자기 일이 생기면 «연기»하거나 «변경»하면 됩니다. 궁금한 것은 FAQ와 카카오 상담에서 바로 확인합니다.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30352" y="2066544"/>
            <a:ext cx="5239512" cy="3303849"/>
          </a:xfrm>
          <a:prstGeom prst="roundRect">
            <a:avLst>
              <a:gd name="adj" fmla="val 2214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9" name="Image 1" descr="/tmp/claude-0/-home-user-mangoiweb/ca835eb4-1670-5fc1-a29a-2fc77598fea3/scratchpad/deck_img/postpone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103120"/>
            <a:ext cx="5166360" cy="3230697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66928" y="5394960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 연기 · 변경</a:t>
            </a:r>
            <a:endParaRPr lang="en-US" sz="1200" dirty="0"/>
          </a:p>
        </p:txBody>
      </p:sp>
      <p:sp>
        <p:nvSpPr>
          <p:cNvPr id="11" name="Text 7"/>
          <p:cNvSpPr/>
          <p:nvPr/>
        </p:nvSpPr>
        <p:spPr>
          <a:xfrm>
            <a:off x="566928" y="5650992"/>
            <a:ext cx="5257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«수업 연기하기»와 «수업 변경하기»를 한 화면에서 선택</a:t>
            </a:r>
            <a:endParaRPr lang="en-US" sz="950" dirty="0"/>
          </a:p>
        </p:txBody>
      </p:sp>
      <p:sp>
        <p:nvSpPr>
          <p:cNvPr id="12" name="Shape 8"/>
          <p:cNvSpPr/>
          <p:nvPr/>
        </p:nvSpPr>
        <p:spPr>
          <a:xfrm>
            <a:off x="6419088" y="2066544"/>
            <a:ext cx="5239512" cy="3303849"/>
          </a:xfrm>
          <a:prstGeom prst="roundRect">
            <a:avLst>
              <a:gd name="adj" fmla="val 2214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13" name="Image 2" descr="/tmp/claude-0/-home-user-mangoiweb/ca835eb4-1670-5fc1-a29a-2fc77598fea3/scratchpad/deck_img/faq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5664" y="2103120"/>
            <a:ext cx="5166360" cy="3230697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455664" y="5394960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자주 묻는 질문 · 카카오 상담</a:t>
            </a:r>
            <a:endParaRPr lang="en-US" sz="1200" dirty="0"/>
          </a:p>
        </p:txBody>
      </p:sp>
      <p:sp>
        <p:nvSpPr>
          <p:cNvPr id="15" name="Text 10"/>
          <p:cNvSpPr/>
          <p:nvPr/>
        </p:nvSpPr>
        <p:spPr>
          <a:xfrm>
            <a:off x="6455664" y="5650992"/>
            <a:ext cx="5257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카테고리별 FAQ + 카카오톡 채널에서 채팅·챗봇·전화 연결</a:t>
            </a:r>
            <a:endParaRPr lang="en-US" sz="950" dirty="0"/>
          </a:p>
        </p:txBody>
      </p:sp>
      <p:sp>
        <p:nvSpPr>
          <p:cNvPr id="16" name="Shape 11"/>
          <p:cNvSpPr/>
          <p:nvPr/>
        </p:nvSpPr>
        <p:spPr>
          <a:xfrm>
            <a:off x="566928" y="6016752"/>
            <a:ext cx="11055096" cy="621792"/>
          </a:xfrm>
          <a:prstGeom prst="roundRect">
            <a:avLst>
              <a:gd name="adj" fmla="val 14706"/>
            </a:avLst>
          </a:prstGeom>
          <a:solidFill>
            <a:srgbClr val="231B08"/>
          </a:solidFill>
          <a:ln w="12700">
            <a:solidFill>
              <a:srgbClr val="6B5316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731520" y="6163056"/>
            <a:ext cx="1133856" cy="329184"/>
          </a:xfrm>
          <a:prstGeom prst="roundRect">
            <a:avLst>
              <a:gd name="adj" fmla="val 50000"/>
            </a:avLst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731520" y="6163056"/>
            <a:ext cx="11338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2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쉽게 말하면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2011680" y="6016752"/>
            <a:ext cx="942746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FFE7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학원 빠지면 그냥 날아가지만, 여기선 «연기»를 누르면 그 수업이 그대로 남아 있어.</a:t>
            </a:r>
            <a:endParaRPr lang="en-US" sz="1200" dirty="0"/>
          </a:p>
        </p:txBody>
      </p:sp>
      <p:sp>
        <p:nvSpPr>
          <p:cNvPr id="20" name="Text 15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usage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운영자 콘솔 &amp; AI 운영비서 (Admin Console)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10001707" y="384048"/>
            <a:ext cx="1623060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0001707" y="384048"/>
            <a:ext cx="16230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 Assistant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822960"/>
            <a:ext cx="6766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학원 운영에 필요한 모든 기능이 한 화면에</a:t>
            </a:r>
            <a:endParaRPr lang="en-US" sz="2800" dirty="0"/>
          </a:p>
        </p:txBody>
      </p:sp>
      <p:sp>
        <p:nvSpPr>
          <p:cNvPr id="7" name="Text 4"/>
          <p:cNvSpPr/>
          <p:nvPr/>
        </p:nvSpPr>
        <p:spPr>
          <a:xfrm>
            <a:off x="566928" y="1554480"/>
            <a:ext cx="5760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학생·강사·수업·정산·시스템이 하나의 콘솔에 모여 있고,</a:t>
            </a:r>
            <a:endParaRPr lang="en-US" sz="12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«AI 운영비서»에게 말로 물어볼 수도 있습니다.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66928" y="2395728"/>
            <a:ext cx="5852160" cy="603504"/>
          </a:xfrm>
          <a:prstGeom prst="roundRect">
            <a:avLst>
              <a:gd name="adj" fmla="val 15152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04672" y="2633472"/>
            <a:ext cx="146304" cy="146304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097280" y="2395728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2779776" y="2395728"/>
            <a:ext cx="3474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수업 현황 · 오늘의 매출 · 학생수 · 신규 등록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566928" y="3072384"/>
            <a:ext cx="5852160" cy="603504"/>
          </a:xfrm>
          <a:prstGeom prst="roundRect">
            <a:avLst>
              <a:gd name="adj" fmla="val 15152"/>
            </a:avLst>
          </a:prstGeom>
          <a:solidFill>
            <a:srgbClr val="12183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804672" y="3310128"/>
            <a:ext cx="146304" cy="146304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0" y="3072384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학생 · 강사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2779776" y="3072384"/>
            <a:ext cx="3474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학생 관리, 강사 명부·매칭·성장 리포트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566928" y="3749040"/>
            <a:ext cx="5852160" cy="603504"/>
          </a:xfrm>
          <a:prstGeom prst="roundRect">
            <a:avLst>
              <a:gd name="adj" fmla="val 15152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04672" y="3986784"/>
            <a:ext cx="146304" cy="146304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1097280" y="3749040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 · 콘텐츠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2779776" y="3749040"/>
            <a:ext cx="3474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스케줄, 평가서, 교재, 공지·팝업 스튜디오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566928" y="4425696"/>
            <a:ext cx="5852160" cy="603504"/>
          </a:xfrm>
          <a:prstGeom prst="roundRect">
            <a:avLst>
              <a:gd name="adj" fmla="val 15152"/>
            </a:avLst>
          </a:prstGeom>
          <a:solidFill>
            <a:srgbClr val="12183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04672" y="4663440"/>
            <a:ext cx="146304" cy="146304"/>
          </a:xfrm>
          <a:prstGeom prst="ellipse">
            <a:avLst/>
          </a:prstGeom>
          <a:solidFill>
            <a:srgbClr val="C084FC"/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97280" y="4425696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정산 · 매출</a:t>
            </a:r>
            <a:endParaRPr lang="en-US" sz="1150" dirty="0"/>
          </a:p>
        </p:txBody>
      </p:sp>
      <p:sp>
        <p:nvSpPr>
          <p:cNvPr id="23" name="Text 20"/>
          <p:cNvSpPr/>
          <p:nvPr/>
        </p:nvSpPr>
        <p:spPr>
          <a:xfrm>
            <a:off x="2779776" y="4425696"/>
            <a:ext cx="3474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급여·정산·구독·리텐션 지표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566928" y="5102352"/>
            <a:ext cx="5852160" cy="603504"/>
          </a:xfrm>
          <a:prstGeom prst="roundRect">
            <a:avLst>
              <a:gd name="adj" fmla="val 15152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804672" y="5340096"/>
            <a:ext cx="146304" cy="146304"/>
          </a:xfrm>
          <a:prstGeom prst="ellipse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1097280" y="5102352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</a:t>
            </a:r>
            <a:endParaRPr lang="en-US" sz="1150" dirty="0"/>
          </a:p>
        </p:txBody>
      </p:sp>
      <p:sp>
        <p:nvSpPr>
          <p:cNvPr id="27" name="Text 24"/>
          <p:cNvSpPr/>
          <p:nvPr/>
        </p:nvSpPr>
        <p:spPr>
          <a:xfrm>
            <a:off x="2779776" y="5102352"/>
            <a:ext cx="3474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권한 매트릭스(역할별 카드 on/off), 진단, 자료실</a:t>
            </a:r>
            <a:endParaRPr lang="en-US" sz="950" dirty="0"/>
          </a:p>
        </p:txBody>
      </p:sp>
      <p:sp>
        <p:nvSpPr>
          <p:cNvPr id="28" name="Shape 25"/>
          <p:cNvSpPr/>
          <p:nvPr/>
        </p:nvSpPr>
        <p:spPr>
          <a:xfrm>
            <a:off x="6748272" y="1517904"/>
            <a:ext cx="4919472" cy="3168335"/>
          </a:xfrm>
          <a:prstGeom prst="roundRect">
            <a:avLst>
              <a:gd name="adj" fmla="val 2309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29" name="Image 1" descr="/tmp/claude-0/-home-user-mangoiweb/ca835eb4-1670-5fc1-a29a-2fc77598fea3/scratchpad/deck_img/admin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4848" y="1554480"/>
            <a:ext cx="4846320" cy="3095183"/>
          </a:xfrm>
          <a:prstGeom prst="rect">
            <a:avLst/>
          </a:prstGeom>
        </p:spPr>
      </p:pic>
      <p:sp>
        <p:nvSpPr>
          <p:cNvPr id="30" name="Text 26"/>
          <p:cNvSpPr/>
          <p:nvPr/>
        </p:nvSpPr>
        <p:spPr>
          <a:xfrm>
            <a:off x="6784848" y="4718304"/>
            <a:ext cx="4892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관리자 콘솔 — 통합 검색으로 학생·교사·가맹점·메뉴를 한 번에</a:t>
            </a:r>
            <a:endParaRPr lang="en-US" sz="950" dirty="0"/>
          </a:p>
        </p:txBody>
      </p:sp>
      <p:sp>
        <p:nvSpPr>
          <p:cNvPr id="31" name="Shape 27"/>
          <p:cNvSpPr/>
          <p:nvPr/>
        </p:nvSpPr>
        <p:spPr>
          <a:xfrm>
            <a:off x="566928" y="5943600"/>
            <a:ext cx="11055096" cy="621792"/>
          </a:xfrm>
          <a:prstGeom prst="roundRect">
            <a:avLst>
              <a:gd name="adj" fmla="val 14706"/>
            </a:avLst>
          </a:prstGeom>
          <a:solidFill>
            <a:srgbClr val="231B08"/>
          </a:solidFill>
          <a:ln w="12700">
            <a:solidFill>
              <a:srgbClr val="6B5316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731520" y="6089904"/>
            <a:ext cx="1133856" cy="329184"/>
          </a:xfrm>
          <a:prstGeom prst="roundRect">
            <a:avLst>
              <a:gd name="adj" fmla="val 50000"/>
            </a:avLst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731520" y="6089904"/>
            <a:ext cx="11338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2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쉽게 말하면</a:t>
            </a:r>
            <a:endParaRPr lang="en-US" sz="1050" dirty="0"/>
          </a:p>
        </p:txBody>
      </p:sp>
      <p:sp>
        <p:nvSpPr>
          <p:cNvPr id="34" name="Text 30"/>
          <p:cNvSpPr/>
          <p:nvPr/>
        </p:nvSpPr>
        <p:spPr>
          <a:xfrm>
            <a:off x="2011680" y="5943600"/>
            <a:ext cx="942746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FFE7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이건 선생님이랑 원장님이 쓰는 화면이야. 네 출석이랑 점수가 여기로 모여서 관리돼.</a:t>
            </a:r>
            <a:endParaRPr lang="en-US" sz="1200" dirty="0"/>
          </a:p>
        </p:txBody>
      </p:sp>
      <p:sp>
        <p:nvSpPr>
          <p:cNvPr id="35" name="Text 31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</a:t>
            </a:r>
            <a:endParaRPr lang="en-US" sz="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road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66928" y="228600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566928" y="228600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80" kern="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04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66928" y="1024128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0" b="1" dirty="0">
                <a:solidFill>
                  <a:srgbClr val="222C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8600" dirty="0"/>
          </a:p>
        </p:txBody>
      </p:sp>
      <p:sp>
        <p:nvSpPr>
          <p:cNvPr id="6" name="Text 3"/>
          <p:cNvSpPr/>
          <p:nvPr/>
        </p:nvSpPr>
        <p:spPr>
          <a:xfrm>
            <a:off x="566928" y="2779776"/>
            <a:ext cx="5852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향후 발전계획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566928" y="3566160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spc="50" kern="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 &amp; Future Vision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566928" y="4114800"/>
            <a:ext cx="5577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아바타 진화, 강화학습 기반 개인화, 고객 상호작용,</a:t>
            </a:r>
            <a:endParaRPr lang="en-US" sz="12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그리고 «바이브 코딩 시대의 영어»까지.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419088" y="1664208"/>
            <a:ext cx="5248656" cy="3309567"/>
          </a:xfrm>
          <a:prstGeom prst="roundRect">
            <a:avLst>
              <a:gd name="adj" fmla="val 2210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10" name="Image 1" descr="/tmp/claude-0/-home-user-mangoiweb/ca835eb4-1670-5fc1-a29a-2fc77598fea3/scratchpad/deck_img/avatar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5664" y="1700784"/>
            <a:ext cx="5175504" cy="3236415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455664" y="5120079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아바타 키우기 — 이미 서비스 중인 기능</a:t>
            </a:r>
            <a:endParaRPr lang="en-US" sz="950" dirty="0"/>
          </a:p>
        </p:txBody>
      </p:sp>
      <p:sp>
        <p:nvSpPr>
          <p:cNvPr id="12" name="Text 8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road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34D39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ROADMAP 01 · 말할수록 함께 자라는 동반자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10234879" y="384048"/>
            <a:ext cx="1389888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0234879" y="384048"/>
            <a:ext cx="13898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Avatar Quest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822960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아바타 진화 — 말할수록 함께 자라는 동반자</a:t>
            </a:r>
            <a:endParaRPr lang="en-US" sz="2800" dirty="0"/>
          </a:p>
        </p:txBody>
      </p:sp>
      <p:sp>
        <p:nvSpPr>
          <p:cNvPr id="7" name="Text 4"/>
          <p:cNvSpPr/>
          <p:nvPr/>
        </p:nvSpPr>
        <p:spPr>
          <a:xfrm>
            <a:off x="566928" y="1481328"/>
            <a:ext cx="110550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«아바타 키우기»는 이미 서비스 중입니다. 판다·여우·드래곤·강아지 중 하나를 골라 5단계까지 진화시킵니다.</a:t>
            </a:r>
            <a:endParaRPr lang="en-US" sz="12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단계는 이 아바타를 학습 전체의 주인공으로 만드는 것입니다.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30352" y="2249424"/>
            <a:ext cx="5422392" cy="3418210"/>
          </a:xfrm>
          <a:prstGeom prst="roundRect">
            <a:avLst>
              <a:gd name="adj" fmla="val 2140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9" name="Image 1" descr="/tmp/claude-0/-home-user-mangoiweb/ca835eb4-1670-5fc1-a29a-2fc77598fea3/scratchpad/deck_img/avatar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286000"/>
            <a:ext cx="5349240" cy="334505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66928" y="5632704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현재 — 영어·중국어 미션을 할 때마다 EXP가 쌓이고 진화합니다</a:t>
            </a:r>
            <a:endParaRPr lang="en-US" sz="950" dirty="0"/>
          </a:p>
        </p:txBody>
      </p:sp>
      <p:sp>
        <p:nvSpPr>
          <p:cNvPr id="11" name="Shape 7"/>
          <p:cNvSpPr/>
          <p:nvPr/>
        </p:nvSpPr>
        <p:spPr>
          <a:xfrm>
            <a:off x="6382512" y="2286000"/>
            <a:ext cx="5248656" cy="786384"/>
          </a:xfrm>
          <a:prstGeom prst="roundRect">
            <a:avLst>
              <a:gd name="adj" fmla="val 11628"/>
            </a:avLst>
          </a:prstGeom>
          <a:solidFill>
            <a:srgbClr val="231B08"/>
          </a:solidFill>
          <a:ln w="12700">
            <a:solidFill>
              <a:srgbClr val="6B5316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620256" y="2395728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</a:t>
            </a:r>
            <a:endParaRPr lang="en-US" sz="1050" dirty="0"/>
          </a:p>
        </p:txBody>
      </p:sp>
      <p:sp>
        <p:nvSpPr>
          <p:cNvPr id="13" name="Text 9"/>
          <p:cNvSpPr/>
          <p:nvPr/>
        </p:nvSpPr>
        <p:spPr>
          <a:xfrm>
            <a:off x="7534656" y="2377440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5단계 진화 · 진화 시 연출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7534656" y="2670048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미션 수행량에 따라 EXP 축적</a:t>
            </a:r>
            <a:endParaRPr lang="en-US" sz="950" dirty="0"/>
          </a:p>
        </p:txBody>
      </p:sp>
      <p:sp>
        <p:nvSpPr>
          <p:cNvPr id="15" name="Shape 11"/>
          <p:cNvSpPr/>
          <p:nvPr/>
        </p:nvSpPr>
        <p:spPr>
          <a:xfrm>
            <a:off x="6382512" y="3145536"/>
            <a:ext cx="5248656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620256" y="3255264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</a:t>
            </a:r>
            <a:endParaRPr lang="en-US" sz="1050" dirty="0"/>
          </a:p>
        </p:txBody>
      </p:sp>
      <p:sp>
        <p:nvSpPr>
          <p:cNvPr id="17" name="Text 13"/>
          <p:cNvSpPr/>
          <p:nvPr/>
        </p:nvSpPr>
        <p:spPr>
          <a:xfrm>
            <a:off x="7534656" y="3236976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표정과 감정</a:t>
            </a:r>
            <a:endParaRPr lang="en-US" sz="1300" dirty="0"/>
          </a:p>
        </p:txBody>
      </p:sp>
      <p:sp>
        <p:nvSpPr>
          <p:cNvPr id="18" name="Text 14"/>
          <p:cNvSpPr/>
          <p:nvPr/>
        </p:nvSpPr>
        <p:spPr>
          <a:xfrm>
            <a:off x="7534656" y="352958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학생의 발음·대답 속도에 반응하는 얼굴</a:t>
            </a:r>
            <a:endParaRPr lang="en-US" sz="950" dirty="0"/>
          </a:p>
        </p:txBody>
      </p:sp>
      <p:sp>
        <p:nvSpPr>
          <p:cNvPr id="19" name="Shape 15"/>
          <p:cNvSpPr/>
          <p:nvPr/>
        </p:nvSpPr>
        <p:spPr>
          <a:xfrm>
            <a:off x="6382512" y="4005072"/>
            <a:ext cx="5248656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6620256" y="4114800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8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그다음</a:t>
            </a:r>
            <a:endParaRPr lang="en-US" sz="1050" dirty="0"/>
          </a:p>
        </p:txBody>
      </p:sp>
      <p:sp>
        <p:nvSpPr>
          <p:cNvPr id="21" name="Text 17"/>
          <p:cNvSpPr/>
          <p:nvPr/>
        </p:nvSpPr>
        <p:spPr>
          <a:xfrm>
            <a:off x="7534656" y="4096512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목소리와 대화</a:t>
            </a:r>
            <a:endParaRPr lang="en-US" sz="1300" dirty="0"/>
          </a:p>
        </p:txBody>
      </p:sp>
      <p:sp>
        <p:nvSpPr>
          <p:cNvPr id="22" name="Text 18"/>
          <p:cNvSpPr/>
          <p:nvPr/>
        </p:nvSpPr>
        <p:spPr>
          <a:xfrm>
            <a:off x="7534656" y="438912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아바타가 곧 AI 친구 — 같은 캐릭터로 말하기 연습</a:t>
            </a:r>
            <a:endParaRPr lang="en-US" sz="950" dirty="0"/>
          </a:p>
        </p:txBody>
      </p:sp>
      <p:sp>
        <p:nvSpPr>
          <p:cNvPr id="23" name="Shape 19"/>
          <p:cNvSpPr/>
          <p:nvPr/>
        </p:nvSpPr>
        <p:spPr>
          <a:xfrm>
            <a:off x="6382512" y="4864608"/>
            <a:ext cx="5248656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6620256" y="4974336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4D39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</a:t>
            </a:r>
            <a:endParaRPr lang="en-US" sz="1050" dirty="0"/>
          </a:p>
        </p:txBody>
      </p:sp>
      <p:sp>
        <p:nvSpPr>
          <p:cNvPr id="25" name="Text 21"/>
          <p:cNvSpPr/>
          <p:nvPr/>
        </p:nvSpPr>
        <p:spPr>
          <a:xfrm>
            <a:off x="7534656" y="4956048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학습의 주인공</a:t>
            </a:r>
            <a:endParaRPr lang="en-US" sz="1300" dirty="0"/>
          </a:p>
        </p:txBody>
      </p:sp>
      <p:sp>
        <p:nvSpPr>
          <p:cNvPr id="26" name="Text 22"/>
          <p:cNvSpPr/>
          <p:nvPr/>
        </p:nvSpPr>
        <p:spPr>
          <a:xfrm>
            <a:off x="7534656" y="5248656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게임 · 수업 · 리포트에 같은 아바타가 등장</a:t>
            </a:r>
            <a:endParaRPr lang="en-US" sz="950" dirty="0"/>
          </a:p>
        </p:txBody>
      </p:sp>
      <p:sp>
        <p:nvSpPr>
          <p:cNvPr id="27" name="Shape 23"/>
          <p:cNvSpPr/>
          <p:nvPr/>
        </p:nvSpPr>
        <p:spPr>
          <a:xfrm>
            <a:off x="566928" y="5998464"/>
            <a:ext cx="11055096" cy="621792"/>
          </a:xfrm>
          <a:prstGeom prst="roundRect">
            <a:avLst>
              <a:gd name="adj" fmla="val 14706"/>
            </a:avLst>
          </a:prstGeom>
          <a:solidFill>
            <a:srgbClr val="231B08"/>
          </a:solidFill>
          <a:ln w="12700">
            <a:solidFill>
              <a:srgbClr val="6B5316"/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731520" y="6144768"/>
            <a:ext cx="1133856" cy="329184"/>
          </a:xfrm>
          <a:prstGeom prst="roundRect">
            <a:avLst>
              <a:gd name="adj" fmla="val 50000"/>
            </a:avLst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731520" y="6144768"/>
            <a:ext cx="11338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2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쉽게 말하면</a:t>
            </a:r>
            <a:endParaRPr lang="en-US" sz="1050" dirty="0"/>
          </a:p>
        </p:txBody>
      </p:sp>
      <p:sp>
        <p:nvSpPr>
          <p:cNvPr id="30" name="Text 26"/>
          <p:cNvSpPr/>
          <p:nvPr/>
        </p:nvSpPr>
        <p:spPr>
          <a:xfrm>
            <a:off x="2011680" y="5998464"/>
            <a:ext cx="942746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FFE7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지금은 EXP 모아서 진화하는 정도지만, 앞으로는 네 발음에 따라 표정이 바뀌고 말도 걸어 올 거야.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</a:t>
            </a:r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road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34D39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ROADMAP 02 · «사람처럼 가르치는» 개인화 AI 튜터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9457639" y="384048"/>
            <a:ext cx="2167128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9457639" y="384048"/>
            <a:ext cx="21671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Reinforcement Learning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822960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«사람처럼 가르치는» 개인화 튜터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566928" y="1481328"/>
            <a:ext cx="110550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지금의 AI는 정해진 문제를 냅니다. 다음 단계의 AI는 «이 아이에게 지금 무엇을 시킬지»를 스스로 정합니다.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66928" y="2157984"/>
            <a:ext cx="5166360" cy="3017520"/>
          </a:xfrm>
          <a:prstGeom prst="roundRect">
            <a:avLst>
              <a:gd name="adj" fmla="val 3030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77824" y="23774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 (Rule-Based)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896112" y="2907792"/>
            <a:ext cx="137160" cy="137160"/>
          </a:xfrm>
          <a:prstGeom prst="ellipse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152144" y="2816352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레벨에 맞는 문제를 순서대로 출제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896112" y="3364992"/>
            <a:ext cx="137160" cy="137160"/>
          </a:xfrm>
          <a:prstGeom prst="ellipse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152144" y="3273552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문제를 다시 출제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96112" y="3822192"/>
            <a:ext cx="137160" cy="137160"/>
          </a:xfrm>
          <a:prstGeom prst="ellipse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152144" y="3730752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정해진 규칙으로 복습 주기 결정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6455664" y="2157984"/>
            <a:ext cx="5166360" cy="3017520"/>
          </a:xfrm>
          <a:prstGeom prst="roundRect">
            <a:avLst>
              <a:gd name="adj" fmla="val 3030"/>
            </a:avLst>
          </a:prstGeom>
          <a:solidFill>
            <a:srgbClr val="0E2333"/>
          </a:solidFill>
          <a:ln w="12700">
            <a:solidFill>
              <a:srgbClr val="1E5A7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766560" y="237744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(강화학습 기반 RL)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784848" y="2907792"/>
            <a:ext cx="137160" cy="137160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040880" y="2816352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학생별 «지금 가장 효과가 큰 다음 한 문제»를 선택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6784848" y="3364992"/>
            <a:ext cx="137160" cy="137160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040880" y="3273552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포기 직전의 난이도를 감지해 실시간으로 조절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6784848" y="3822192"/>
            <a:ext cx="137160" cy="137160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040880" y="3730752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발화 데이터로 개인 발음 약점 모델을 학습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784848" y="4279392"/>
            <a:ext cx="137160" cy="137160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040880" y="4187952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교사 피드백을 보상 신호로 삼아 스스로 개선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5340096"/>
            <a:ext cx="11055096" cy="658368"/>
          </a:xfrm>
          <a:prstGeom prst="roundRect">
            <a:avLst>
              <a:gd name="adj" fmla="val 13889"/>
            </a:avLst>
          </a:prstGeom>
          <a:solidFill>
            <a:srgbClr val="231B08"/>
          </a:solidFill>
          <a:ln w="12700">
            <a:solidFill>
              <a:srgbClr val="6B5316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896112" y="5340096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E7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목표는 «AI가 사람 교사를 대신하는 것»이 아니라, 교사가 못 보는 시간과 데이터를 AI가 대신 보는 것입니다.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566928" y="6108192"/>
            <a:ext cx="11055096" cy="621792"/>
          </a:xfrm>
          <a:prstGeom prst="roundRect">
            <a:avLst>
              <a:gd name="adj" fmla="val 14706"/>
            </a:avLst>
          </a:prstGeom>
          <a:solidFill>
            <a:srgbClr val="231B08"/>
          </a:solidFill>
          <a:ln w="12700">
            <a:solidFill>
              <a:srgbClr val="6B5316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31520" y="6254496"/>
            <a:ext cx="1133856" cy="329184"/>
          </a:xfrm>
          <a:prstGeom prst="roundRect">
            <a:avLst>
              <a:gd name="adj" fmla="val 50000"/>
            </a:avLst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31520" y="6254496"/>
            <a:ext cx="11338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2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쉽게 말하면</a:t>
            </a:r>
            <a:endParaRPr lang="en-US" sz="1050" dirty="0"/>
          </a:p>
        </p:txBody>
      </p:sp>
      <p:sp>
        <p:nvSpPr>
          <p:cNvPr id="31" name="Text 28"/>
          <p:cNvSpPr/>
          <p:nvPr/>
        </p:nvSpPr>
        <p:spPr>
          <a:xfrm>
            <a:off x="2011680" y="6108192"/>
            <a:ext cx="942746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FFE7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 AI는 «정해진 순서»대로 문제를 내. 앞으로는 «너한테 지금 제일 도움 되는 문제»를 스스로 골라 줄 거야.</a:t>
            </a:r>
            <a:endParaRPr lang="en-US" sz="1200" dirty="0"/>
          </a:p>
        </p:txBody>
      </p:sp>
      <p:sp>
        <p:nvSpPr>
          <p:cNvPr id="32" name="Text 29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</a:t>
            </a:r>
            <a:endParaRPr lang="en-US" sz="9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road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34D39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ROADMAP 03 · 묻기 전에 먼저 말을 거는 선제적 AI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10234879" y="384048"/>
            <a:ext cx="1389888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0234879" y="384048"/>
            <a:ext cx="13898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Proactive AI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822960"/>
            <a:ext cx="6766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묻기 전에 먼저 말을 거는 서비스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566928" y="1481328"/>
            <a:ext cx="5852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홈에는 이미 «A.i 상담사»가, 관리자에는 «AI 운영비서»가 있습니다.</a:t>
            </a:r>
            <a:endParaRPr lang="en-US" sz="12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다음은 이들이 «답하는 창구»에서 «먼저 알려주는 상대»가 되는 단계입니다.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66928" y="2194560"/>
            <a:ext cx="5852160" cy="841248"/>
          </a:xfrm>
          <a:prstGeom prst="roundRect">
            <a:avLst>
              <a:gd name="adj" fmla="val 10870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04672" y="2322576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학생에게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1938528" y="2304288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«어제 틀린 단어 3개, 지금 1분이면 끝나요»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938528" y="2615184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 흐름이 끊긴 시점을 감지해 먼저 제안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566928" y="3108960"/>
            <a:ext cx="5852160" cy="841248"/>
          </a:xfrm>
          <a:prstGeom prst="roundRect">
            <a:avLst>
              <a:gd name="adj" fmla="val 10870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04672" y="3236976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학부모에게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1938528" y="3218688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«이번 주 발화량이 지난주보다 늘었어요»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938528" y="3529584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물어보기 전에 변화를 카카오톡으로 요약 전달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566928" y="4023360"/>
            <a:ext cx="5852160" cy="841248"/>
          </a:xfrm>
          <a:prstGeom prst="roundRect">
            <a:avLst>
              <a:gd name="adj" fmla="val 10870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04672" y="4151376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8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교사에게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1938528" y="4133088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«이 학생은 과거시제에서 계속 막힙니다»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1938528" y="4443984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 직전 브리핑으로 준비 시간을 줄임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566928" y="4937760"/>
            <a:ext cx="5852160" cy="841248"/>
          </a:xfrm>
          <a:prstGeom prst="roundRect">
            <a:avLst>
              <a:gd name="adj" fmla="val 10870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04672" y="5065776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4D39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운영자에게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1938528" y="5047488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«이탈 위험 학생 5명, 사유는 시간대»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1938528" y="5358384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운영비서가 지표 이상을 먼저 보고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6748272" y="1517904"/>
            <a:ext cx="4919472" cy="3132795"/>
          </a:xfrm>
          <a:prstGeom prst="roundRect">
            <a:avLst>
              <a:gd name="adj" fmla="val 2335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25" name="Image 1" descr="/tmp/claude-0/-home-user-mangoiweb/ca835eb4-1670-5fc1-a29a-2fc77598fea3/scratchpad/deck_img/aifriend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4848" y="1554480"/>
            <a:ext cx="4846320" cy="3059643"/>
          </a:xfrm>
          <a:prstGeom prst="rect">
            <a:avLst/>
          </a:prstGeom>
        </p:spPr>
      </p:pic>
      <p:sp>
        <p:nvSpPr>
          <p:cNvPr id="26" name="Text 22"/>
          <p:cNvSpPr/>
          <p:nvPr/>
        </p:nvSpPr>
        <p:spPr>
          <a:xfrm>
            <a:off x="6784848" y="4663440"/>
            <a:ext cx="4892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현재의 AI 친구 대화 — 이 대화 능력을 상담·안내로 확장합니다</a:t>
            </a:r>
            <a:endParaRPr lang="en-US" sz="950" dirty="0"/>
          </a:p>
        </p:txBody>
      </p:sp>
      <p:sp>
        <p:nvSpPr>
          <p:cNvPr id="27" name="Shape 23"/>
          <p:cNvSpPr/>
          <p:nvPr/>
        </p:nvSpPr>
        <p:spPr>
          <a:xfrm>
            <a:off x="6784848" y="5029200"/>
            <a:ext cx="4846320" cy="914400"/>
          </a:xfrm>
          <a:prstGeom prst="roundRect">
            <a:avLst>
              <a:gd name="adj" fmla="val 10000"/>
            </a:avLst>
          </a:prstGeom>
          <a:solidFill>
            <a:srgbClr val="231B08"/>
          </a:solidFill>
          <a:ln w="12700">
            <a:solidFill>
              <a:srgbClr val="6B5316"/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7040880" y="5157216"/>
            <a:ext cx="4297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채널을 가리지 않게</a:t>
            </a:r>
            <a:endParaRPr lang="en-US" sz="1050" dirty="0"/>
          </a:p>
        </p:txBody>
      </p:sp>
      <p:sp>
        <p:nvSpPr>
          <p:cNvPr id="29" name="Text 25"/>
          <p:cNvSpPr/>
          <p:nvPr/>
        </p:nvSpPr>
        <p:spPr>
          <a:xfrm>
            <a:off x="7040880" y="5413248"/>
            <a:ext cx="4315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홈페이지 · 앱 · 카카오톡 · 문자에서 같은 AI가 같은 맥락으로 응답합니다.</a:t>
            </a:r>
            <a:endParaRPr lang="en-US" sz="1000" dirty="0"/>
          </a:p>
        </p:txBody>
      </p:sp>
      <p:sp>
        <p:nvSpPr>
          <p:cNvPr id="30" name="Shape 26"/>
          <p:cNvSpPr/>
          <p:nvPr/>
        </p:nvSpPr>
        <p:spPr>
          <a:xfrm>
            <a:off x="566928" y="6089904"/>
            <a:ext cx="11055096" cy="621792"/>
          </a:xfrm>
          <a:prstGeom prst="roundRect">
            <a:avLst>
              <a:gd name="adj" fmla="val 14706"/>
            </a:avLst>
          </a:prstGeom>
          <a:solidFill>
            <a:srgbClr val="231B08"/>
          </a:solidFill>
          <a:ln w="12700">
            <a:solidFill>
              <a:srgbClr val="6B5316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731520" y="6236208"/>
            <a:ext cx="1133856" cy="329184"/>
          </a:xfrm>
          <a:prstGeom prst="roundRect">
            <a:avLst>
              <a:gd name="adj" fmla="val 50000"/>
            </a:avLst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32" name="Text 28"/>
          <p:cNvSpPr/>
          <p:nvPr/>
        </p:nvSpPr>
        <p:spPr>
          <a:xfrm>
            <a:off x="731520" y="6236208"/>
            <a:ext cx="11338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2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쉽게 말하면</a:t>
            </a:r>
            <a:endParaRPr lang="en-US" sz="1050" dirty="0"/>
          </a:p>
        </p:txBody>
      </p:sp>
      <p:sp>
        <p:nvSpPr>
          <p:cNvPr id="33" name="Text 29"/>
          <p:cNvSpPr/>
          <p:nvPr/>
        </p:nvSpPr>
        <p:spPr>
          <a:xfrm>
            <a:off x="2011680" y="6089904"/>
            <a:ext cx="942746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FFE7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지금은 네가 물어봐야 대답하지만, 앞으로는 «어제 틀린 단어 3개 있어, 1분이면 돼» 하고 먼저 말 걸어 줘.</a:t>
            </a:r>
            <a:endParaRPr lang="en-US" sz="1200" dirty="0"/>
          </a:p>
        </p:txBody>
      </p:sp>
      <p:sp>
        <p:nvSpPr>
          <p:cNvPr id="34" name="Text 30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</a:t>
            </a:r>
            <a:endParaRPr lang="en-US" sz="9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road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34D39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ROADMAP 04 · 학습 목표를 게임 목표 안에 숨긴다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10312603" y="384048"/>
            <a:ext cx="1312164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0312603" y="384048"/>
            <a:ext cx="13121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Edutainment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822960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 목표를 게임 목표 안에 숨깁니다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566928" y="1481328"/>
            <a:ext cx="110550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표지의 그 한 줄 — «재미가 의지를 이깁니다». 앞으로의 학습 게임은 A.I가 그날의 약점을 재료로 삼아 스스로 판을 짜는 방향으로 갑니다.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30352" y="2121408"/>
            <a:ext cx="2679192" cy="1536192"/>
          </a:xfrm>
          <a:prstGeom prst="roundRect">
            <a:avLst>
              <a:gd name="adj" fmla="val 4762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9" name="Image 1" descr="/tmp/claude-0/-home-user-mangoiweb/ca835eb4-1670-5fc1-a29a-2fc77598fea3/scratchpad/deck_img/spacemon.jpg">    </p:cNvPr>
          <p:cNvPicPr>
            <a:picLocks noChangeAspect="1"/>
          </p:cNvPicPr>
          <p:nvPr/>
        </p:nvPicPr>
        <p:blipFill>
          <a:blip r:embed="rId2"/>
          <a:srcRect l="0" r="0" t="5694" b="-5694"/>
          <a:stretch/>
        </p:blipFill>
        <p:spPr>
          <a:xfrm>
            <a:off x="566928" y="2157984"/>
            <a:ext cx="2606040" cy="146304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3337560" y="2121408"/>
            <a:ext cx="2679192" cy="1536192"/>
          </a:xfrm>
          <a:prstGeom prst="roundRect">
            <a:avLst>
              <a:gd name="adj" fmla="val 4762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11" name="Image 2" descr="/tmp/claude-0/-home-user-mangoiweb/ca835eb4-1670-5fc1-a29a-2fc77598fea3/scratchpad/deck_img/battle3d.jpg">    </p:cNvPr>
          <p:cNvPicPr>
            <a:picLocks noChangeAspect="1"/>
          </p:cNvPicPr>
          <p:nvPr/>
        </p:nvPicPr>
        <p:blipFill>
          <a:blip r:embed="rId3"/>
          <a:srcRect l="0" r="0" t="5694" b="-5694"/>
          <a:stretch/>
        </p:blipFill>
        <p:spPr>
          <a:xfrm>
            <a:off x="3374136" y="2157984"/>
            <a:ext cx="2606040" cy="146304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6144768" y="2121408"/>
            <a:ext cx="2679192" cy="1536192"/>
          </a:xfrm>
          <a:prstGeom prst="roundRect">
            <a:avLst>
              <a:gd name="adj" fmla="val 4762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13" name="Image 3" descr="/tmp/claude-0/-home-user-mangoiweb/ca835eb4-1670-5fc1-a29a-2fc77598fea3/scratchpad/deck_img/suspect.jpg">    </p:cNvPr>
          <p:cNvPicPr>
            <a:picLocks noChangeAspect="1"/>
          </p:cNvPicPr>
          <p:nvPr/>
        </p:nvPicPr>
        <p:blipFill>
          <a:blip r:embed="rId4"/>
          <a:srcRect l="0" r="0" t="5694" b="-5694"/>
          <a:stretch/>
        </p:blipFill>
        <p:spPr>
          <a:xfrm>
            <a:off x="6181344" y="2157984"/>
            <a:ext cx="2606040" cy="146304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8951976" y="2121408"/>
            <a:ext cx="2679192" cy="1536192"/>
          </a:xfrm>
          <a:prstGeom prst="roundRect">
            <a:avLst>
              <a:gd name="adj" fmla="val 4762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15" name="Image 4" descr="/tmp/claude-0/-home-user-mangoiweb/ca835eb4-1670-5fc1-a29a-2fc77598fea3/scratchpad/deck_img/escape.jpg">    </p:cNvPr>
          <p:cNvPicPr>
            <a:picLocks noChangeAspect="1"/>
          </p:cNvPicPr>
          <p:nvPr/>
        </p:nvPicPr>
        <p:blipFill>
          <a:blip r:embed="rId5"/>
          <a:srcRect l="0" r="0" t="5694" b="-5694"/>
          <a:stretch/>
        </p:blipFill>
        <p:spPr>
          <a:xfrm>
            <a:off x="8988552" y="2157984"/>
            <a:ext cx="2606040" cy="1463040"/>
          </a:xfrm>
          <a:prstGeom prst="rect">
            <a:avLst/>
          </a:prstGeom>
        </p:spPr>
      </p:pic>
      <p:sp>
        <p:nvSpPr>
          <p:cNvPr id="16" name="Shape 9"/>
          <p:cNvSpPr/>
          <p:nvPr/>
        </p:nvSpPr>
        <p:spPr>
          <a:xfrm>
            <a:off x="566928" y="3895344"/>
            <a:ext cx="2606040" cy="1773936"/>
          </a:xfrm>
          <a:prstGeom prst="roundRect">
            <a:avLst>
              <a:gd name="adj" fmla="val 5155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7" name="Text 10"/>
          <p:cNvSpPr/>
          <p:nvPr/>
        </p:nvSpPr>
        <p:spPr>
          <a:xfrm>
            <a:off x="804672" y="4096512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세계관을 잇습니다</a:t>
            </a:r>
            <a:endParaRPr lang="en-US" sz="1300" dirty="0"/>
          </a:p>
        </p:txBody>
      </p:sp>
      <p:sp>
        <p:nvSpPr>
          <p:cNvPr id="18" name="Text 11"/>
          <p:cNvSpPr/>
          <p:nvPr/>
        </p:nvSpPr>
        <p:spPr>
          <a:xfrm>
            <a:off x="804672" y="4425696"/>
            <a:ext cx="2167128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지금은 게임마다 독립적입니다. 하나의 세계와 하나의 아바타로 묶습니다.</a:t>
            </a:r>
            <a:endParaRPr lang="en-US" sz="1050" dirty="0"/>
          </a:p>
        </p:txBody>
      </p:sp>
      <p:sp>
        <p:nvSpPr>
          <p:cNvPr id="19" name="Shape 12"/>
          <p:cNvSpPr/>
          <p:nvPr/>
        </p:nvSpPr>
        <p:spPr>
          <a:xfrm>
            <a:off x="3374136" y="3895344"/>
            <a:ext cx="2606040" cy="1773936"/>
          </a:xfrm>
          <a:prstGeom prst="roundRect">
            <a:avLst>
              <a:gd name="adj" fmla="val 5155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0" name="Text 13"/>
          <p:cNvSpPr/>
          <p:nvPr/>
        </p:nvSpPr>
        <p:spPr>
          <a:xfrm>
            <a:off x="3611880" y="4096512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말해야 이깁니다</a:t>
            </a:r>
            <a:endParaRPr lang="en-US" sz="1300" dirty="0"/>
          </a:p>
        </p:txBody>
      </p:sp>
      <p:sp>
        <p:nvSpPr>
          <p:cNvPr id="21" name="Text 14"/>
          <p:cNvSpPr/>
          <p:nvPr/>
        </p:nvSpPr>
        <p:spPr>
          <a:xfrm>
            <a:off x="3611880" y="4425696"/>
            <a:ext cx="2167128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 클릭이 아니라 «소리 내어 말하기»가 승리 조건이 되는 설계로.</a:t>
            </a:r>
            <a:endParaRPr lang="en-US" sz="1050" dirty="0"/>
          </a:p>
        </p:txBody>
      </p:sp>
      <p:sp>
        <p:nvSpPr>
          <p:cNvPr id="22" name="Shape 15"/>
          <p:cNvSpPr/>
          <p:nvPr/>
        </p:nvSpPr>
        <p:spPr>
          <a:xfrm>
            <a:off x="6181344" y="3895344"/>
            <a:ext cx="2606040" cy="1773936"/>
          </a:xfrm>
          <a:prstGeom prst="roundRect">
            <a:avLst>
              <a:gd name="adj" fmla="val 5155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3" name="Text 16"/>
          <p:cNvSpPr/>
          <p:nvPr/>
        </p:nvSpPr>
        <p:spPr>
          <a:xfrm>
            <a:off x="6419088" y="4096512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8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친구와 함께</a:t>
            </a:r>
            <a:endParaRPr lang="en-US" sz="1300" dirty="0"/>
          </a:p>
        </p:txBody>
      </p:sp>
      <p:sp>
        <p:nvSpPr>
          <p:cNvPr id="24" name="Text 17"/>
          <p:cNvSpPr/>
          <p:nvPr/>
        </p:nvSpPr>
        <p:spPr>
          <a:xfrm>
            <a:off x="6419088" y="4425696"/>
            <a:ext cx="2167128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랭킹을 넘어 협동·대결 모드로. 혼자 하는 학습에는 한계가 있습니다.</a:t>
            </a:r>
            <a:endParaRPr lang="en-US" sz="1050" dirty="0"/>
          </a:p>
        </p:txBody>
      </p:sp>
      <p:sp>
        <p:nvSpPr>
          <p:cNvPr id="25" name="Shape 18"/>
          <p:cNvSpPr/>
          <p:nvPr/>
        </p:nvSpPr>
        <p:spPr>
          <a:xfrm>
            <a:off x="8988552" y="3895344"/>
            <a:ext cx="2606040" cy="1773936"/>
          </a:xfrm>
          <a:prstGeom prst="roundRect">
            <a:avLst>
              <a:gd name="adj" fmla="val 5155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6" name="Text 19"/>
          <p:cNvSpPr/>
          <p:nvPr/>
        </p:nvSpPr>
        <p:spPr>
          <a:xfrm>
            <a:off x="9226296" y="4096512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4D39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교육 심리 기반</a:t>
            </a:r>
            <a:endParaRPr lang="en-US" sz="1300" dirty="0"/>
          </a:p>
        </p:txBody>
      </p:sp>
      <p:sp>
        <p:nvSpPr>
          <p:cNvPr id="27" name="Text 20"/>
          <p:cNvSpPr/>
          <p:nvPr/>
        </p:nvSpPr>
        <p:spPr>
          <a:xfrm>
            <a:off x="9226296" y="4425696"/>
            <a:ext cx="2167128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몰입·보상·난이도 곡선을 근거로 설계합니다. 사행성 요소는 넣지 않습니다.</a:t>
            </a:r>
            <a:endParaRPr lang="en-US" sz="1050" dirty="0"/>
          </a:p>
        </p:txBody>
      </p:sp>
      <p:sp>
        <p:nvSpPr>
          <p:cNvPr id="28" name="Shape 21"/>
          <p:cNvSpPr/>
          <p:nvPr/>
        </p:nvSpPr>
        <p:spPr>
          <a:xfrm>
            <a:off x="566928" y="5852160"/>
            <a:ext cx="11055096" cy="621792"/>
          </a:xfrm>
          <a:prstGeom prst="roundRect">
            <a:avLst>
              <a:gd name="adj" fmla="val 14706"/>
            </a:avLst>
          </a:prstGeom>
          <a:solidFill>
            <a:srgbClr val="231B08"/>
          </a:solidFill>
          <a:ln w="12700">
            <a:solidFill>
              <a:srgbClr val="6B5316"/>
            </a:solidFill>
            <a:prstDash val="solid"/>
          </a:ln>
        </p:spPr>
      </p:sp>
      <p:sp>
        <p:nvSpPr>
          <p:cNvPr id="29" name="Shape 22"/>
          <p:cNvSpPr/>
          <p:nvPr/>
        </p:nvSpPr>
        <p:spPr>
          <a:xfrm>
            <a:off x="731520" y="5998464"/>
            <a:ext cx="1133856" cy="329184"/>
          </a:xfrm>
          <a:prstGeom prst="roundRect">
            <a:avLst>
              <a:gd name="adj" fmla="val 50000"/>
            </a:avLst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30" name="Text 23"/>
          <p:cNvSpPr/>
          <p:nvPr/>
        </p:nvSpPr>
        <p:spPr>
          <a:xfrm>
            <a:off x="731520" y="5998464"/>
            <a:ext cx="11338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2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쉽게 말하면</a:t>
            </a:r>
            <a:endParaRPr lang="en-US" sz="1050" dirty="0"/>
          </a:p>
        </p:txBody>
      </p:sp>
      <p:sp>
        <p:nvSpPr>
          <p:cNvPr id="31" name="Text 24"/>
          <p:cNvSpPr/>
          <p:nvPr/>
        </p:nvSpPr>
        <p:spPr>
          <a:xfrm>
            <a:off x="2011680" y="5852160"/>
            <a:ext cx="942746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FFE7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게임마다 따로 놀지 않고 하나의 세계로 이어질 거야. 그리고 «말해야» 이기는 게임이 더 많아져.</a:t>
            </a:r>
            <a:endParaRPr lang="en-US" sz="1200" dirty="0"/>
          </a:p>
        </p:txBody>
      </p:sp>
      <p:sp>
        <p:nvSpPr>
          <p:cNvPr id="32" name="Text 25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</a:t>
            </a:r>
            <a:endParaRPr lang="en-US" sz="9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road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34D39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ROADMAP 05 · 핵심 제안 — AI 시대의 영어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9690811" y="384048"/>
            <a:ext cx="1933956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9690811" y="384048"/>
            <a:ext cx="19339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English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822960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«바이브 코딩»을 위한 영어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566928" y="1481328"/>
            <a:ext cx="110550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AI에게 일을 시키는 시대의 영어는 시험 영어가 아닙니다. 원하는 것을 정확히 설명하는 능력이 곧 실력입니다.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66928" y="2103120"/>
            <a:ext cx="5394960" cy="1280160"/>
          </a:xfrm>
          <a:prstGeom prst="roundRect">
            <a:avLst>
              <a:gd name="adj" fmla="val 7143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77824" y="228600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지금까지의 영어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877824" y="2578608"/>
            <a:ext cx="4754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사람과 대화하기 위한 언어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236208" y="2103120"/>
            <a:ext cx="5394960" cy="1280160"/>
          </a:xfrm>
          <a:prstGeom prst="roundRect">
            <a:avLst>
              <a:gd name="adj" fmla="val 7143"/>
            </a:avLst>
          </a:prstGeom>
          <a:solidFill>
            <a:srgbClr val="231B08"/>
          </a:solidFill>
          <a:ln w="12700">
            <a:solidFill>
              <a:srgbClr val="6B5316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547104" y="228600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앞으로의 영어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547104" y="2578608"/>
            <a:ext cx="4754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E7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AI에게 일을 시키기 위한 언어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566928" y="3602736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망고아이가 준비하는 것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66928" y="4023360"/>
            <a:ext cx="11055096" cy="457200"/>
          </a:xfrm>
          <a:prstGeom prst="roundRect">
            <a:avLst>
              <a:gd name="adj" fmla="val 20000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49808" y="4087368"/>
            <a:ext cx="329184" cy="329184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49808" y="40873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1188720" y="402336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설명하는 영어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3364992" y="402336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«무엇을 만들고 싶은지»를 순서와 조건으로 말하는 훈련. 이미 «문법 피자 마스터»가 같은 감각을 다룹니다.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566928" y="4535424"/>
            <a:ext cx="11055096" cy="457200"/>
          </a:xfrm>
          <a:prstGeom prst="roundRect">
            <a:avLst>
              <a:gd name="adj" fmla="val 20000"/>
            </a:avLst>
          </a:prstGeom>
          <a:solidFill>
            <a:srgbClr val="12183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49808" y="4599432"/>
            <a:ext cx="329184" cy="329184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49808" y="45994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1188720" y="4535424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프롬프트 작문</a:t>
            </a:r>
            <a:endParaRPr lang="en-US" sz="1150" dirty="0"/>
          </a:p>
        </p:txBody>
      </p:sp>
      <p:sp>
        <p:nvSpPr>
          <p:cNvPr id="24" name="Text 21"/>
          <p:cNvSpPr/>
          <p:nvPr/>
        </p:nvSpPr>
        <p:spPr>
          <a:xfrm>
            <a:off x="3364992" y="4535424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영작 첨삭을 확장해, 잘 통하는 요청문과 안 통하는 요청문을 비교하며 배웁니다.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566928" y="5047488"/>
            <a:ext cx="11055096" cy="457200"/>
          </a:xfrm>
          <a:prstGeom prst="roundRect">
            <a:avLst>
              <a:gd name="adj" fmla="val 20000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749808" y="5111496"/>
            <a:ext cx="329184" cy="329184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49808" y="511149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1188720" y="5047488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판단하고 되묻기</a:t>
            </a:r>
            <a:endParaRPr lang="en-US" sz="1150" dirty="0"/>
          </a:p>
        </p:txBody>
      </p:sp>
      <p:sp>
        <p:nvSpPr>
          <p:cNvPr id="29" name="Text 26"/>
          <p:cNvSpPr/>
          <p:nvPr/>
        </p:nvSpPr>
        <p:spPr>
          <a:xfrm>
            <a:off x="3364992" y="504748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AI의 답이 틀렸을 때 영어로 반박하고 다시 요구하는 능력. 지금의 «판단력 훈련»이 그 출발점입니다.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566928" y="5559552"/>
            <a:ext cx="11055096" cy="457200"/>
          </a:xfrm>
          <a:prstGeom prst="roundRect">
            <a:avLst>
              <a:gd name="adj" fmla="val 20000"/>
            </a:avLst>
          </a:prstGeom>
          <a:solidFill>
            <a:srgbClr val="12183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749808" y="5623560"/>
            <a:ext cx="329184" cy="329184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49808" y="56235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33" name="Text 30"/>
          <p:cNvSpPr/>
          <p:nvPr/>
        </p:nvSpPr>
        <p:spPr>
          <a:xfrm>
            <a:off x="1188720" y="5559552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만들며 배우기</a:t>
            </a:r>
            <a:endParaRPr lang="en-US" sz="1150" dirty="0"/>
          </a:p>
        </p:txBody>
      </p:sp>
      <p:sp>
        <p:nvSpPr>
          <p:cNvPr id="34" name="Text 31"/>
          <p:cNvSpPr/>
          <p:nvPr/>
        </p:nvSpPr>
        <p:spPr>
          <a:xfrm>
            <a:off x="3364992" y="5559552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영어로 지시해 작은 결과물을 직접 만들어 보는 프로젝트형 수업.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566928" y="6144768"/>
            <a:ext cx="11055096" cy="621792"/>
          </a:xfrm>
          <a:prstGeom prst="roundRect">
            <a:avLst>
              <a:gd name="adj" fmla="val 14706"/>
            </a:avLst>
          </a:prstGeom>
          <a:solidFill>
            <a:srgbClr val="231B08"/>
          </a:solidFill>
          <a:ln w="12700">
            <a:solidFill>
              <a:srgbClr val="6B5316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731520" y="6291072"/>
            <a:ext cx="1133856" cy="329184"/>
          </a:xfrm>
          <a:prstGeom prst="roundRect">
            <a:avLst>
              <a:gd name="adj" fmla="val 50000"/>
            </a:avLst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731520" y="6291072"/>
            <a:ext cx="11338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2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쉽게 말하면</a:t>
            </a:r>
            <a:endParaRPr lang="en-US" sz="1050" dirty="0"/>
          </a:p>
        </p:txBody>
      </p:sp>
      <p:sp>
        <p:nvSpPr>
          <p:cNvPr id="38" name="Text 35"/>
          <p:cNvSpPr/>
          <p:nvPr/>
        </p:nvSpPr>
        <p:spPr>
          <a:xfrm>
            <a:off x="2011680" y="6144768"/>
            <a:ext cx="942746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FFE7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앞으로 영어는 «AI한테 원하는 걸 정확히 설명하는 힘»이야. 그걸 잘하면 코딩도, 그림도, 뭐든 만들 수 있어.</a:t>
            </a:r>
            <a:endParaRPr lang="en-US" sz="1200" dirty="0"/>
          </a:p>
        </p:txBody>
      </p:sp>
      <p:sp>
        <p:nvSpPr>
          <p:cNvPr id="39" name="Text 36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road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34D39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TIMELINE · 언제 무엇을 하는가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9923983" y="384048"/>
            <a:ext cx="1700784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9923983" y="384048"/>
            <a:ext cx="17007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 Timeline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822960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 무엇을 하는가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566928" y="1481328"/>
            <a:ext cx="110550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이미 서비스 중인 것과 앞으로 만들 것을 구분해 정리했습니다.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66928" y="2157984"/>
            <a:ext cx="2651760" cy="3200400"/>
          </a:xfrm>
          <a:prstGeom prst="roundRect">
            <a:avLst>
              <a:gd name="adj" fmla="val 3448"/>
            </a:avLst>
          </a:prstGeom>
          <a:solidFill>
            <a:srgbClr val="231B08"/>
          </a:solidFill>
          <a:ln w="12700">
            <a:solidFill>
              <a:srgbClr val="6B531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04672" y="2359152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서비스 중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04672" y="2670048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822960" y="3108960"/>
            <a:ext cx="118872" cy="118872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24128" y="3035808"/>
            <a:ext cx="19568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원어민 1:1 · 1:2 화상수업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822960" y="3584448"/>
            <a:ext cx="118872" cy="118872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24128" y="3511296"/>
            <a:ext cx="19568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음성코치 · AI 친구 대화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822960" y="4059936"/>
            <a:ext cx="118872" cy="118872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024128" y="3986784"/>
            <a:ext cx="19568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자동 평가서 · 월간 리포트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822960" y="4535424"/>
            <a:ext cx="118872" cy="118872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1024128" y="4462272"/>
            <a:ext cx="19568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 게임 21종 · 아바타 키우기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822960" y="5010912"/>
            <a:ext cx="118872" cy="118872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1024128" y="4937760"/>
            <a:ext cx="19568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카카오톡 실시간 알림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3374136" y="2157984"/>
            <a:ext cx="2651760" cy="3200400"/>
          </a:xfrm>
          <a:prstGeom prst="roundRect">
            <a:avLst>
              <a:gd name="adj" fmla="val 344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3611880" y="2359152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단기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3611880" y="2670048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6~12개월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3630168" y="3108960"/>
            <a:ext cx="118872" cy="118872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3831336" y="3035808"/>
            <a:ext cx="19568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아바타 감정·표정 반응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3630168" y="3584448"/>
            <a:ext cx="118872" cy="118872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3831336" y="3511296"/>
            <a:ext cx="19568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게임 세계관 통합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3630168" y="4059936"/>
            <a:ext cx="118872" cy="118872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3831336" y="3986784"/>
            <a:ext cx="19568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말하기 승리 조건 게임 설계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3630168" y="4535424"/>
            <a:ext cx="118872" cy="118872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3831336" y="4462272"/>
            <a:ext cx="19568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상담사 선제 안내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6181344" y="2157984"/>
            <a:ext cx="2651760" cy="3200400"/>
          </a:xfrm>
          <a:prstGeom prst="roundRect">
            <a:avLst>
              <a:gd name="adj" fmla="val 344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6419088" y="2359152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08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중기</a:t>
            </a:r>
            <a:endParaRPr lang="en-US" sz="1400" dirty="0"/>
          </a:p>
        </p:txBody>
      </p:sp>
      <p:sp>
        <p:nvSpPr>
          <p:cNvPr id="34" name="Text 31"/>
          <p:cNvSpPr/>
          <p:nvPr/>
        </p:nvSpPr>
        <p:spPr>
          <a:xfrm>
            <a:off x="6419088" y="2670048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1~2년</a:t>
            </a:r>
            <a:endParaRPr lang="en-US" sz="1050" dirty="0"/>
          </a:p>
        </p:txBody>
      </p:sp>
      <p:sp>
        <p:nvSpPr>
          <p:cNvPr id="35" name="Shape 32"/>
          <p:cNvSpPr/>
          <p:nvPr/>
        </p:nvSpPr>
        <p:spPr>
          <a:xfrm>
            <a:off x="6437376" y="3108960"/>
            <a:ext cx="118872" cy="118872"/>
          </a:xfrm>
          <a:prstGeom prst="ellipse">
            <a:avLst/>
          </a:prstGeom>
          <a:solidFill>
            <a:srgbClr val="C084FC"/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6638544" y="3035808"/>
            <a:ext cx="19568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강화학습 기반 문제 선택</a:t>
            </a:r>
            <a:endParaRPr lang="en-US" sz="1000" dirty="0"/>
          </a:p>
        </p:txBody>
      </p:sp>
      <p:sp>
        <p:nvSpPr>
          <p:cNvPr id="37" name="Shape 34"/>
          <p:cNvSpPr/>
          <p:nvPr/>
        </p:nvSpPr>
        <p:spPr>
          <a:xfrm>
            <a:off x="6437376" y="3584448"/>
            <a:ext cx="118872" cy="118872"/>
          </a:xfrm>
          <a:prstGeom prst="ellipse">
            <a:avLst/>
          </a:prstGeom>
          <a:solidFill>
            <a:srgbClr val="C084FC"/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6638544" y="3511296"/>
            <a:ext cx="19568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 발음 약점 모델</a:t>
            </a:r>
            <a:endParaRPr lang="en-US" sz="1000" dirty="0"/>
          </a:p>
        </p:txBody>
      </p:sp>
      <p:sp>
        <p:nvSpPr>
          <p:cNvPr id="39" name="Shape 36"/>
          <p:cNvSpPr/>
          <p:nvPr/>
        </p:nvSpPr>
        <p:spPr>
          <a:xfrm>
            <a:off x="6437376" y="4059936"/>
            <a:ext cx="118872" cy="118872"/>
          </a:xfrm>
          <a:prstGeom prst="ellipse">
            <a:avLst/>
          </a:prstGeom>
          <a:solidFill>
            <a:srgbClr val="C084FC"/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6638544" y="3986784"/>
            <a:ext cx="19568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교사 브리핑 자동 생성</a:t>
            </a:r>
            <a:endParaRPr lang="en-US" sz="1000" dirty="0"/>
          </a:p>
        </p:txBody>
      </p:sp>
      <p:sp>
        <p:nvSpPr>
          <p:cNvPr id="41" name="Shape 38"/>
          <p:cNvSpPr/>
          <p:nvPr/>
        </p:nvSpPr>
        <p:spPr>
          <a:xfrm>
            <a:off x="6437376" y="4535424"/>
            <a:ext cx="118872" cy="118872"/>
          </a:xfrm>
          <a:prstGeom prst="ellipse">
            <a:avLst/>
          </a:prstGeom>
          <a:solidFill>
            <a:srgbClr val="C084FC"/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6638544" y="4462272"/>
            <a:ext cx="19568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협동·대결 학습 모드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8988552" y="2157984"/>
            <a:ext cx="2651760" cy="3200400"/>
          </a:xfrm>
          <a:prstGeom prst="roundRect">
            <a:avLst>
              <a:gd name="adj" fmla="val 3448"/>
            </a:avLst>
          </a:prstGeom>
          <a:solidFill>
            <a:srgbClr val="0E2333"/>
          </a:solidFill>
          <a:ln w="12700">
            <a:solidFill>
              <a:srgbClr val="1E5A7A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9226296" y="2359152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D39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장기</a:t>
            </a:r>
            <a:endParaRPr lang="en-US" sz="1400" dirty="0"/>
          </a:p>
        </p:txBody>
      </p:sp>
      <p:sp>
        <p:nvSpPr>
          <p:cNvPr id="45" name="Text 42"/>
          <p:cNvSpPr/>
          <p:nvPr/>
        </p:nvSpPr>
        <p:spPr>
          <a:xfrm>
            <a:off x="9226296" y="2670048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2~3년</a:t>
            </a:r>
            <a:endParaRPr lang="en-US" sz="1050" dirty="0"/>
          </a:p>
        </p:txBody>
      </p:sp>
      <p:sp>
        <p:nvSpPr>
          <p:cNvPr id="46" name="Shape 43"/>
          <p:cNvSpPr/>
          <p:nvPr/>
        </p:nvSpPr>
        <p:spPr>
          <a:xfrm>
            <a:off x="9244584" y="3108960"/>
            <a:ext cx="118872" cy="118872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9445752" y="3035808"/>
            <a:ext cx="19568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아바타 = AI 친구 = 학습 동반자 통합</a:t>
            </a:r>
            <a:endParaRPr lang="en-US" sz="1000" dirty="0"/>
          </a:p>
        </p:txBody>
      </p:sp>
      <p:sp>
        <p:nvSpPr>
          <p:cNvPr id="48" name="Shape 45"/>
          <p:cNvSpPr/>
          <p:nvPr/>
        </p:nvSpPr>
        <p:spPr>
          <a:xfrm>
            <a:off x="9244584" y="3584448"/>
            <a:ext cx="118872" cy="118872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9445752" y="3511296"/>
            <a:ext cx="19568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바이브 코딩 영어 커리큘럼</a:t>
            </a:r>
            <a:endParaRPr lang="en-US" sz="1000" dirty="0"/>
          </a:p>
        </p:txBody>
      </p:sp>
      <p:sp>
        <p:nvSpPr>
          <p:cNvPr id="50" name="Shape 47"/>
          <p:cNvSpPr/>
          <p:nvPr/>
        </p:nvSpPr>
        <p:spPr>
          <a:xfrm>
            <a:off x="9244584" y="4059936"/>
            <a:ext cx="118872" cy="118872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9445752" y="3986784"/>
            <a:ext cx="19568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프로젝트형 «만들며 배우는» 수업</a:t>
            </a:r>
            <a:endParaRPr lang="en-US" sz="1000" dirty="0"/>
          </a:p>
        </p:txBody>
      </p:sp>
      <p:sp>
        <p:nvSpPr>
          <p:cNvPr id="52" name="Text 49"/>
          <p:cNvSpPr/>
          <p:nvPr/>
        </p:nvSpPr>
        <p:spPr>
          <a:xfrm>
            <a:off x="566928" y="5504688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단기·중기·장기 항목은 개발 계획이며 일정은 변동될 수 있습니다.</a:t>
            </a:r>
            <a:endParaRPr lang="en-US" sz="950" dirty="0"/>
          </a:p>
        </p:txBody>
      </p:sp>
      <p:sp>
        <p:nvSpPr>
          <p:cNvPr id="53" name="Shape 50"/>
          <p:cNvSpPr/>
          <p:nvPr/>
        </p:nvSpPr>
        <p:spPr>
          <a:xfrm>
            <a:off x="566928" y="5888736"/>
            <a:ext cx="11055096" cy="621792"/>
          </a:xfrm>
          <a:prstGeom prst="roundRect">
            <a:avLst>
              <a:gd name="adj" fmla="val 14706"/>
            </a:avLst>
          </a:prstGeom>
          <a:solidFill>
            <a:srgbClr val="231B08"/>
          </a:solidFill>
          <a:ln w="12700">
            <a:solidFill>
              <a:srgbClr val="6B5316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731520" y="6035040"/>
            <a:ext cx="1133856" cy="329184"/>
          </a:xfrm>
          <a:prstGeom prst="roundRect">
            <a:avLst>
              <a:gd name="adj" fmla="val 50000"/>
            </a:avLst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731520" y="6035040"/>
            <a:ext cx="11338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2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쉽게 말하면</a:t>
            </a:r>
            <a:endParaRPr lang="en-US" sz="1050" dirty="0"/>
          </a:p>
        </p:txBody>
      </p:sp>
      <p:sp>
        <p:nvSpPr>
          <p:cNvPr id="56" name="Text 53"/>
          <p:cNvSpPr/>
          <p:nvPr/>
        </p:nvSpPr>
        <p:spPr>
          <a:xfrm>
            <a:off x="2011680" y="5888736"/>
            <a:ext cx="942746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FFE7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노란 칸은 «지금 이미 있는 것», 나머지는 «앞으로 생길 것». 순서대로 하나씩 나올 거야.</a:t>
            </a:r>
            <a:endParaRPr lang="en-US" sz="1200" dirty="0"/>
          </a:p>
        </p:txBody>
      </p:sp>
      <p:sp>
        <p:nvSpPr>
          <p:cNvPr id="57" name="Text 54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</a:t>
            </a:r>
            <a:endParaRPr lang="en-US" sz="9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close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39496" y="429768"/>
            <a:ext cx="2103120" cy="1298448"/>
          </a:xfrm>
          <a:prstGeom prst="roundRect">
            <a:avLst>
              <a:gd name="adj" fmla="val 5634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4" name="Image 1" descr="/tmp/claude-0/-home-user-mangoiweb/ca835eb4-1670-5fc1-a29a-2fc77598fea3/scratchpad/deck_img/home.jpg">    </p:cNvPr>
          <p:cNvPicPr>
            <a:picLocks noChangeAspect="1"/>
          </p:cNvPicPr>
          <p:nvPr/>
        </p:nvPicPr>
        <p:blipFill>
          <a:blip r:embed="rId2"/>
          <a:srcRect l="0" r="0" t="1992" b="-1992"/>
          <a:stretch/>
        </p:blipFill>
        <p:spPr>
          <a:xfrm>
            <a:off x="566928" y="457200"/>
            <a:ext cx="2048256" cy="1243584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2788920" y="429768"/>
            <a:ext cx="2103120" cy="1298448"/>
          </a:xfrm>
          <a:prstGeom prst="roundRect">
            <a:avLst>
              <a:gd name="adj" fmla="val 5634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6" name="Image 2" descr="/tmp/claude-0/-home-user-mangoiweb/ca835eb4-1670-5fc1-a29a-2fc77598fea3/scratchpad/deck_img/games.jpg">    </p:cNvPr>
          <p:cNvPicPr>
            <a:picLocks noChangeAspect="1"/>
          </p:cNvPicPr>
          <p:nvPr/>
        </p:nvPicPr>
        <p:blipFill>
          <a:blip r:embed="rId3"/>
          <a:srcRect l="0" r="0" t="1498" b="-1498"/>
          <a:stretch/>
        </p:blipFill>
        <p:spPr>
          <a:xfrm>
            <a:off x="2816352" y="457200"/>
            <a:ext cx="2048256" cy="1243584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5038344" y="429768"/>
            <a:ext cx="2103120" cy="1298448"/>
          </a:xfrm>
          <a:prstGeom prst="roundRect">
            <a:avLst>
              <a:gd name="adj" fmla="val 5634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8" name="Image 3" descr="/tmp/claude-0/-home-user-mangoiweb/ca835eb4-1670-5fc1-a29a-2fc77598fea3/scratchpad/deck_img/speech.jpg">    </p:cNvPr>
          <p:cNvPicPr>
            <a:picLocks noChangeAspect="1"/>
          </p:cNvPicPr>
          <p:nvPr/>
        </p:nvPicPr>
        <p:blipFill>
          <a:blip r:embed="rId4"/>
          <a:srcRect l="0" r="0" t="1498" b="-1498"/>
          <a:stretch/>
        </p:blipFill>
        <p:spPr>
          <a:xfrm>
            <a:off x="5065776" y="457200"/>
            <a:ext cx="2048256" cy="1243584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7287768" y="429768"/>
            <a:ext cx="2103120" cy="1298448"/>
          </a:xfrm>
          <a:prstGeom prst="roundRect">
            <a:avLst>
              <a:gd name="adj" fmla="val 5634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10" name="Image 4" descr="/tmp/claude-0/-home-user-mangoiweb/ca835eb4-1670-5fc1-a29a-2fc77598fea3/scratchpad/deck_img/avatar.jpg">    </p:cNvPr>
          <p:cNvPicPr>
            <a:picLocks noChangeAspect="1"/>
          </p:cNvPicPr>
          <p:nvPr/>
        </p:nvPicPr>
        <p:blipFill>
          <a:blip r:embed="rId5"/>
          <a:srcRect l="0" r="0" t="1498" b="-1498"/>
          <a:stretch/>
        </p:blipFill>
        <p:spPr>
          <a:xfrm>
            <a:off x="7315200" y="457200"/>
            <a:ext cx="2048256" cy="1243584"/>
          </a:xfrm>
          <a:prstGeom prst="rect">
            <a:avLst/>
          </a:prstGeom>
        </p:spPr>
      </p:pic>
      <p:sp>
        <p:nvSpPr>
          <p:cNvPr id="11" name="Shape 4"/>
          <p:cNvSpPr/>
          <p:nvPr/>
        </p:nvSpPr>
        <p:spPr>
          <a:xfrm>
            <a:off x="9537192" y="429768"/>
            <a:ext cx="2103120" cy="1298448"/>
          </a:xfrm>
          <a:prstGeom prst="roundRect">
            <a:avLst>
              <a:gd name="adj" fmla="val 5634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12" name="Image 5" descr="/tmp/claude-0/-home-user-mangoiweb/ca835eb4-1670-5fc1-a29a-2fc77598fea3/scratchpad/deck_img/admin.jpg">    </p:cNvPr>
          <p:cNvPicPr>
            <a:picLocks noChangeAspect="1"/>
          </p:cNvPicPr>
          <p:nvPr/>
        </p:nvPicPr>
        <p:blipFill>
          <a:blip r:embed="rId6"/>
          <a:srcRect l="0" r="0" t="2596" b="-2596"/>
          <a:stretch/>
        </p:blipFill>
        <p:spPr>
          <a:xfrm>
            <a:off x="9564624" y="457200"/>
            <a:ext cx="2048256" cy="1243584"/>
          </a:xfrm>
          <a:prstGeom prst="rect">
            <a:avLst/>
          </a:prstGeom>
        </p:spPr>
      </p:pic>
      <p:pic>
        <p:nvPicPr>
          <p:cNvPr id="13" name="Image 6" descr="/tmp/claude-0/-home-user-mangoiweb/ca835eb4-1670-5fc1-a29a-2fc77598fea3/scratchpad/deck_img/mascot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596128" y="2011680"/>
            <a:ext cx="1298448" cy="1060704"/>
          </a:xfrm>
          <a:prstGeom prst="rect">
            <a:avLst/>
          </a:prstGeom>
        </p:spPr>
      </p:pic>
      <p:sp>
        <p:nvSpPr>
          <p:cNvPr id="14" name="Text 5"/>
          <p:cNvSpPr/>
          <p:nvPr/>
        </p:nvSpPr>
        <p:spPr>
          <a:xfrm>
            <a:off x="1097280" y="3200400"/>
            <a:ext cx="99943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AI로 생각하고 결정하는 영어</a:t>
            </a:r>
            <a:endParaRPr lang="en-US" sz="3200" dirty="0"/>
          </a:p>
        </p:txBody>
      </p:sp>
      <p:sp>
        <p:nvSpPr>
          <p:cNvPr id="15" name="Text 6"/>
          <p:cNvSpPr/>
          <p:nvPr/>
        </p:nvSpPr>
        <p:spPr>
          <a:xfrm>
            <a:off x="1097280" y="3895344"/>
            <a:ext cx="9994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« 재미가 의지를 이깁니다 »   수업은 사람이, 나머지 24시간은 A.I가 함께합니다.</a:t>
            </a:r>
            <a:endParaRPr lang="en-US" sz="1400" dirty="0"/>
          </a:p>
        </p:txBody>
      </p:sp>
      <p:sp>
        <p:nvSpPr>
          <p:cNvPr id="16" name="Shape 7"/>
          <p:cNvSpPr/>
          <p:nvPr/>
        </p:nvSpPr>
        <p:spPr>
          <a:xfrm>
            <a:off x="2212848" y="4517136"/>
            <a:ext cx="2468880" cy="859536"/>
          </a:xfrm>
          <a:prstGeom prst="roundRect">
            <a:avLst>
              <a:gd name="adj" fmla="val 12766"/>
            </a:avLst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7" name="Text 8"/>
          <p:cNvSpPr/>
          <p:nvPr/>
        </p:nvSpPr>
        <p:spPr>
          <a:xfrm>
            <a:off x="2212848" y="4645152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2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무료 체험 신청</a:t>
            </a:r>
            <a:endParaRPr lang="en-US" sz="1400" dirty="0"/>
          </a:p>
        </p:txBody>
      </p:sp>
      <p:sp>
        <p:nvSpPr>
          <p:cNvPr id="18" name="Text 9"/>
          <p:cNvSpPr/>
          <p:nvPr/>
        </p:nvSpPr>
        <p:spPr>
          <a:xfrm>
            <a:off x="2212848" y="495604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4E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 › 무료 체험 신청</a:t>
            </a:r>
            <a:endParaRPr lang="en-US" sz="1000" dirty="0"/>
          </a:p>
        </p:txBody>
      </p:sp>
      <p:sp>
        <p:nvSpPr>
          <p:cNvPr id="19" name="Shape 10"/>
          <p:cNvSpPr/>
          <p:nvPr/>
        </p:nvSpPr>
        <p:spPr>
          <a:xfrm>
            <a:off x="4910328" y="4517136"/>
            <a:ext cx="2468880" cy="859536"/>
          </a:xfrm>
          <a:prstGeom prst="roundRect">
            <a:avLst>
              <a:gd name="adj" fmla="val 12766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0" name="Text 11"/>
          <p:cNvSpPr/>
          <p:nvPr/>
        </p:nvSpPr>
        <p:spPr>
          <a:xfrm>
            <a:off x="4910328" y="4645152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레벨 테스트</a:t>
            </a:r>
            <a:endParaRPr lang="en-US" sz="1400" dirty="0"/>
          </a:p>
        </p:txBody>
      </p:sp>
      <p:sp>
        <p:nvSpPr>
          <p:cNvPr id="21" name="Text 12"/>
          <p:cNvSpPr/>
          <p:nvPr/>
        </p:nvSpPr>
        <p:spPr>
          <a:xfrm>
            <a:off x="4910328" y="495604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 › 레벨테스트</a:t>
            </a:r>
            <a:endParaRPr lang="en-US" sz="1000" dirty="0"/>
          </a:p>
        </p:txBody>
      </p:sp>
      <p:sp>
        <p:nvSpPr>
          <p:cNvPr id="22" name="Shape 13"/>
          <p:cNvSpPr/>
          <p:nvPr/>
        </p:nvSpPr>
        <p:spPr>
          <a:xfrm>
            <a:off x="7607808" y="4517136"/>
            <a:ext cx="2468880" cy="859536"/>
          </a:xfrm>
          <a:prstGeom prst="roundRect">
            <a:avLst>
              <a:gd name="adj" fmla="val 12766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3" name="Text 14"/>
          <p:cNvSpPr/>
          <p:nvPr/>
        </p:nvSpPr>
        <p:spPr>
          <a:xfrm>
            <a:off x="7607808" y="4645152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카카오 상담</a:t>
            </a:r>
            <a:endParaRPr lang="en-US" sz="1400" dirty="0"/>
          </a:p>
        </p:txBody>
      </p:sp>
      <p:sp>
        <p:nvSpPr>
          <p:cNvPr id="24" name="Text 15"/>
          <p:cNvSpPr/>
          <p:nvPr/>
        </p:nvSpPr>
        <p:spPr>
          <a:xfrm>
            <a:off x="7607808" y="495604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08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 › 카카오 상담</a:t>
            </a:r>
            <a:endParaRPr lang="en-US" sz="1000" dirty="0"/>
          </a:p>
        </p:txBody>
      </p:sp>
      <p:sp>
        <p:nvSpPr>
          <p:cNvPr id="25" name="Text 16"/>
          <p:cNvSpPr/>
          <p:nvPr/>
        </p:nvSpPr>
        <p:spPr>
          <a:xfrm>
            <a:off x="1097280" y="5614416"/>
            <a:ext cx="9994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test.mangoi.co.kr</a:t>
            </a:r>
            <a:endParaRPr lang="en-US" sz="1400" dirty="0"/>
          </a:p>
        </p:txBody>
      </p:sp>
      <p:sp>
        <p:nvSpPr>
          <p:cNvPr id="26" name="Text 17"/>
          <p:cNvSpPr/>
          <p:nvPr/>
        </p:nvSpPr>
        <p:spPr>
          <a:xfrm>
            <a:off x="1097280" y="5943600"/>
            <a:ext cx="9994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Mango Ai · 20년 전통, 국내 최초의 화상영어 기업</a:t>
            </a:r>
            <a:endParaRPr lang="en-US" sz="1100" dirty="0"/>
          </a:p>
        </p:txBody>
      </p:sp>
      <p:sp>
        <p:nvSpPr>
          <p:cNvPr id="27" name="Text 18"/>
          <p:cNvSpPr/>
          <p:nvPr/>
        </p:nvSpPr>
        <p:spPr>
          <a:xfrm>
            <a:off x="1097280" y="6254496"/>
            <a:ext cx="9994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67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자료의 화면은 실제 서비스(test.mangoi.co.kr) 캡처입니다.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42</Slides>
  <Notes>42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42</vt:i4>
      </vt:variant>
    </vt:vector>
  </HeadingPairs>
  <TitlesOfParts>
    <vt:vector size="4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망고아이 홈페이지 안내</dc:title>
  <dc:subject>PptxGenJS Presentation</dc:subject>
  <dc:creator>Mango Ai</dc:creator>
  <cp:lastModifiedBy>Mango Ai</cp:lastModifiedBy>
  <cp:revision>1</cp:revision>
  <dcterms:created xsi:type="dcterms:W3CDTF">2026-08-17T05:02:45Z</dcterms:created>
  <dcterms:modified xsi:type="dcterms:W3CDTF">2026-08-17T05:02:45Z</dcterms:modified>
</cp:coreProperties>
</file>