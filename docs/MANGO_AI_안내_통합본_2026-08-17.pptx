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
VanLehn 2011</c:v>
                  </c:pt>
                  <c:pt idx="3">
                    <c:v>디지털 게임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CBD5E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222C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42A"/>
        </a:solidFill>
        <a:ln>
          <a:noFill/>
        </a:ln>
        <a:effectLst/>
      </c:spPr>
    </c:plotArea>
    <c:plotVisOnly val="1"/>
    <c:dispBlanksAs val="span"/>
  </c:chart>
  <c:spPr>
    <a:solidFill>
      <a:srgbClr val="0E14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콘텐츠 수·게임 수는 서비스 내 집계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PART 1 전체의 지도 역할을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2-7.jpg"/><Relationship Id="rId8" Type="http://schemas.openxmlformats.org/officeDocument/2006/relationships/image" Target="../media/image-2-8.jpg"/><Relationship Id="rId9" Type="http://schemas.openxmlformats.org/officeDocument/2006/relationships/image" Target="../media/image-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image" Target="../media/image-3-8.jpg"/><Relationship Id="rId9" Type="http://schemas.openxmlformats.org/officeDocument/2006/relationships/image" Target="../media/image-3-9.jpg"/><Relationship Id="rId10" Type="http://schemas.openxmlformats.org/officeDocument/2006/relationships/image" Target="../media/image-3-10.jpg"/><Relationship Id="rId11" Type="http://schemas.openxmlformats.org/officeDocument/2006/relationships/image" Target="../media/image-3-11.jpg"/><Relationship Id="rId12" Type="http://schemas.openxmlformats.org/officeDocument/2006/relationships/image" Target="../media/image-3-12.jpg"/><Relationship Id="rId13" Type="http://schemas.openxmlformats.org/officeDocument/2006/relationships/image" Target="../media/image-3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image" Target="../media/image-15-6.jpg"/><Relationship Id="rId7" Type="http://schemas.openxmlformats.org/officeDocument/2006/relationships/image" Target="../media/image-15-7.jpg"/><Relationship Id="rId8" Type="http://schemas.openxmlformats.org/officeDocument/2006/relationships/image" Target="../media/image-15-8.jpg"/><Relationship Id="rId9" Type="http://schemas.openxmlformats.org/officeDocument/2006/relationships/image" Target="../media/image-15-9.jpg"/><Relationship Id="rId10" Type="http://schemas.openxmlformats.org/officeDocument/2006/relationships/image" Target="../media/image-15-10.jpg"/><Relationship Id="rId11" Type="http://schemas.openxmlformats.org/officeDocument/2006/relationships/image" Target="../media/image-15-11.jpg"/><Relationship Id="rId12" Type="http://schemas.openxmlformats.org/officeDocument/2006/relationships/image" Target="../media/image-15-12.jpg"/><Relationship Id="rId13" Type="http://schemas.openxmlformats.org/officeDocument/2006/relationships/image" Target="../media/image-15-13.jpg"/><Relationship Id="rId14" Type="http://schemas.openxmlformats.org/officeDocument/2006/relationships/image" Target="../media/image-15-14.jpg"/><Relationship Id="rId15" Type="http://schemas.openxmlformats.org/officeDocument/2006/relationships/image" Target="../media/image-15-15.jpg"/><Relationship Id="rId16" Type="http://schemas.openxmlformats.org/officeDocument/2006/relationships/image" Target="../media/image-15-16.jpg"/><Relationship Id="rId17" Type="http://schemas.openxmlformats.org/officeDocument/2006/relationships/image" Target="../media/image-15-17.jpg"/><Relationship Id="rId18" Type="http://schemas.openxmlformats.org/officeDocument/2006/relationships/image" Target="../media/image-15-18.jpg"/><Relationship Id="rId19" Type="http://schemas.openxmlformats.org/officeDocument/2006/relationships/image" Target="../media/image-15-19.jpg"/><Relationship Id="rId20" Type="http://schemas.openxmlformats.org/officeDocument/2006/relationships/image" Target="../media/image-15-20.jpg"/><Relationship Id="rId21" Type="http://schemas.openxmlformats.org/officeDocument/2006/relationships/image" Target="../media/image-15-21.jpg"/><Relationship Id="rId22" Type="http://schemas.openxmlformats.org/officeDocument/2006/relationships/image" Target="../media/image-15-22.jp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image" Target="../media/image-16-6.jpg"/><Relationship Id="rId7" Type="http://schemas.openxmlformats.org/officeDocument/2006/relationships/image" Target="../media/image-16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image" Target="../media/image-21-7.jpg"/><Relationship Id="rId8" Type="http://schemas.openxmlformats.org/officeDocument/2006/relationships/image" Target="../media/image-21-8.jpg"/><Relationship Id="rId9" Type="http://schemas.openxmlformats.org/officeDocument/2006/relationships/image" Target="../media/image-21-9.jpg"/><Relationship Id="rId10" Type="http://schemas.openxmlformats.org/officeDocument/2006/relationships/image" Target="../media/image-21-10.jpg"/><Relationship Id="rId11" Type="http://schemas.openxmlformats.org/officeDocument/2006/relationships/image" Target="../media/image-21-11.jpg"/><Relationship Id="rId12" Type="http://schemas.openxmlformats.org/officeDocument/2006/relationships/image" Target="../media/image-21-12.jpg"/><Relationship Id="rId13" Type="http://schemas.openxmlformats.org/officeDocument/2006/relationships/image" Target="../media/image-21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2-1.jpg"/><Relationship Id="rId3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image" Target="../media/image-24-7.jpg"/><Relationship Id="rId8" Type="http://schemas.openxmlformats.org/officeDocument/2006/relationships/image" Target="../media/image-24-8.jpg"/><Relationship Id="rId9" Type="http://schemas.openxmlformats.org/officeDocument/2006/relationships/image" Target="../media/image-24-9.jpg"/><Relationship Id="rId10" Type="http://schemas.openxmlformats.org/officeDocument/2006/relationships/image" Target="../media/image-24-10.jpg"/><Relationship Id="rId11" Type="http://schemas.openxmlformats.org/officeDocument/2006/relationships/image" Target="../media/image-24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image" Target="../media/image-27-4.jpg"/><Relationship Id="rId5" Type="http://schemas.openxmlformats.org/officeDocument/2006/relationships/image" Target="../media/image-2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060704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1945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5" name="Text 1"/>
          <p:cNvSpPr/>
          <p:nvPr/>
        </p:nvSpPr>
        <p:spPr>
          <a:xfrm>
            <a:off x="1097280" y="310896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안내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1097280" y="3639312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539496" y="4416552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1498" b="-1498"/>
          <a:stretch/>
        </p:blipFill>
        <p:spPr>
          <a:xfrm>
            <a:off x="566928" y="4443984"/>
            <a:ext cx="2048256" cy="12435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2788920" y="4416552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3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4"/>
          <a:srcRect l="0" r="0" t="1992" b="-1992"/>
          <a:stretch/>
        </p:blipFill>
        <p:spPr>
          <a:xfrm>
            <a:off x="2816352" y="4443984"/>
            <a:ext cx="2048256" cy="1243584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5038344" y="4416552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4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5"/>
          <a:srcRect l="0" r="0" t="1498" b="-1498"/>
          <a:stretch/>
        </p:blipFill>
        <p:spPr>
          <a:xfrm>
            <a:off x="5065776" y="4443984"/>
            <a:ext cx="2048256" cy="1243584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7287768" y="4416552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5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6"/>
          <a:srcRect l="0" r="0" t="1498" b="-1498"/>
          <a:stretch/>
        </p:blipFill>
        <p:spPr>
          <a:xfrm>
            <a:off x="7315200" y="4443984"/>
            <a:ext cx="2048256" cy="1243584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9537192" y="4416552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6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7"/>
          <a:srcRect l="0" r="0" t="1498" b="-1498"/>
          <a:stretch/>
        </p:blipFill>
        <p:spPr>
          <a:xfrm>
            <a:off x="9564624" y="4443984"/>
            <a:ext cx="2048256" cy="124358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97280" y="5943600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04672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04672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 · 사고력 · 게임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68096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2962656"/>
            <a:ext cx="2212848" cy="12984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68096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" y="4370832"/>
            <a:ext cx="2212848" cy="129844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474720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712464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3712464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만들었나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712464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교육학 · 인지심리학 근거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675888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3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712464" y="2962656"/>
            <a:ext cx="2212848" cy="129844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675888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4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5"/>
          <a:srcRect l="2659" r="-2659" t="0" b="0"/>
          <a:stretch/>
        </p:blipFill>
        <p:spPr>
          <a:xfrm>
            <a:off x="3712464" y="4370832"/>
            <a:ext cx="2212848" cy="1298448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382512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62025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5" name="Text 18"/>
          <p:cNvSpPr/>
          <p:nvPr/>
        </p:nvSpPr>
        <p:spPr>
          <a:xfrm>
            <a:off x="6620256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6620256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 → 수업 → 복습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6583680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5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20256" y="2962656"/>
            <a:ext cx="2212848" cy="1298448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6583680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6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620256" y="4370832"/>
            <a:ext cx="2212848" cy="1298448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9290304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952804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33" name="Text 24"/>
          <p:cNvSpPr/>
          <p:nvPr/>
        </p:nvSpPr>
        <p:spPr>
          <a:xfrm>
            <a:off x="9528048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600" dirty="0"/>
          </a:p>
        </p:txBody>
      </p:sp>
      <p:sp>
        <p:nvSpPr>
          <p:cNvPr id="34" name="Text 25"/>
          <p:cNvSpPr/>
          <p:nvPr/>
        </p:nvSpPr>
        <p:spPr>
          <a:xfrm>
            <a:off x="9528048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개인화 AI</a:t>
            </a:r>
            <a:endParaRPr lang="en-US" sz="1000" dirty="0"/>
          </a:p>
        </p:txBody>
      </p:sp>
      <p:sp>
        <p:nvSpPr>
          <p:cNvPr id="35" name="Shape 26"/>
          <p:cNvSpPr/>
          <p:nvPr/>
        </p:nvSpPr>
        <p:spPr>
          <a:xfrm>
            <a:off x="9491472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7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8048" y="2962656"/>
            <a:ext cx="2212848" cy="129844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9491472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8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528048" y="4370832"/>
            <a:ext cx="2212848" cy="1298448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13087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13087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시간을 채우는 A.I 콘텐츠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74720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57600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82512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65392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65392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 말 걸 상대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290304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73184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언어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473184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3035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61488"/>
            <a:ext cx="1728216" cy="108071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6692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2395728" y="2724912"/>
            <a:ext cx="1801368" cy="1164232"/>
          </a:xfrm>
          <a:prstGeom prst="roundRect">
            <a:avLst>
              <a:gd name="adj" fmla="val 628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304" y="2761488"/>
            <a:ext cx="1728216" cy="1091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432304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261104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3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761488"/>
            <a:ext cx="1728216" cy="108071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297680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6126480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2761488"/>
            <a:ext cx="1728216" cy="1080711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63056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7991856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2761488"/>
            <a:ext cx="1728216" cy="108071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028432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985723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6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3808" y="2761488"/>
            <a:ext cx="1728216" cy="108071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9380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00" dirty="0"/>
          </a:p>
        </p:txBody>
      </p:sp>
      <p:sp>
        <p:nvSpPr>
          <p:cNvPr id="37" name="Shape 28"/>
          <p:cNvSpPr/>
          <p:nvPr/>
        </p:nvSpPr>
        <p:spPr>
          <a:xfrm>
            <a:off x="530352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7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334256"/>
            <a:ext cx="1728216" cy="1080711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6692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2395728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8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2304" y="4334256"/>
            <a:ext cx="1728216" cy="1080711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2432304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00" dirty="0"/>
          </a:p>
        </p:txBody>
      </p:sp>
      <p:sp>
        <p:nvSpPr>
          <p:cNvPr id="43" name="Shape 32"/>
          <p:cNvSpPr/>
          <p:nvPr/>
        </p:nvSpPr>
        <p:spPr>
          <a:xfrm>
            <a:off x="4261104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9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4334256"/>
            <a:ext cx="1728216" cy="1080711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4297680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00" dirty="0"/>
          </a:p>
        </p:txBody>
      </p:sp>
      <p:sp>
        <p:nvSpPr>
          <p:cNvPr id="46" name="Shape 34"/>
          <p:cNvSpPr/>
          <p:nvPr/>
        </p:nvSpPr>
        <p:spPr>
          <a:xfrm>
            <a:off x="6126480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0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3056" y="4334256"/>
            <a:ext cx="1728216" cy="1080711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163056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7991856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28432" y="4334256"/>
            <a:ext cx="1728216" cy="1080711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8028432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00" dirty="0"/>
          </a:p>
        </p:txBody>
      </p:sp>
      <p:sp>
        <p:nvSpPr>
          <p:cNvPr id="52" name="Shape 38"/>
          <p:cNvSpPr/>
          <p:nvPr/>
        </p:nvSpPr>
        <p:spPr>
          <a:xfrm>
            <a:off x="9857232" y="4297680"/>
            <a:ext cx="1801368" cy="1183819"/>
          </a:xfrm>
          <a:prstGeom prst="roundRect">
            <a:avLst>
              <a:gd name="adj" fmla="val 617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2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93808" y="4334256"/>
            <a:ext cx="1728216" cy="1110667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989380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00" dirty="0"/>
          </a:p>
        </p:txBody>
      </p:sp>
      <p:sp>
        <p:nvSpPr>
          <p:cNvPr id="55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Answer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200분, 나머지 42,800분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 = 월 200분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" y="213969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</a:t>
            </a:r>
            <a:endParaRPr lang="en-US" sz="6600" dirty="0"/>
          </a:p>
        </p:txBody>
      </p:sp>
      <p:sp>
        <p:nvSpPr>
          <p:cNvPr id="10" name="Text 7"/>
          <p:cNvSpPr/>
          <p:nvPr/>
        </p:nvSpPr>
        <p:spPr>
          <a:xfrm>
            <a:off x="877824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중 영어를 쓰는 시간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620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4710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47104" y="213969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 A.I 콘텐츠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547104" y="28895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 말하고, 쓰고, 외우고, 게임합니다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30352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rcRect l="0" r="0" t="62" b="-62"/>
          <a:stretch/>
        </p:blipFill>
        <p:spPr>
          <a:xfrm>
            <a:off x="566928" y="4114800"/>
            <a:ext cx="2606040" cy="16276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928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 · AI 웜업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337560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9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62" b="-62"/>
          <a:stretch/>
        </p:blipFill>
        <p:spPr>
          <a:xfrm>
            <a:off x="3374136" y="4114800"/>
            <a:ext cx="2606040" cy="1627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374136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· AI 음성코치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144768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3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4"/>
          <a:srcRect l="0" r="0" t="62" b="-62"/>
          <a:stretch/>
        </p:blipFill>
        <p:spPr>
          <a:xfrm>
            <a:off x="6181344" y="4114800"/>
            <a:ext cx="2606040" cy="16276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181344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· 복습 퀴즈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951976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4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5"/>
          <a:srcRect l="0" r="0" t="62" b="-62"/>
          <a:stretch/>
        </p:blipFill>
        <p:spPr>
          <a:xfrm>
            <a:off x="8988552" y="4114800"/>
            <a:ext cx="2606040" cy="16276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988552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· 학습 게임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 MAP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AI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기르는가로 나눈 14가지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4980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427732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592324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610612" y="2139696"/>
            <a:ext cx="109728" cy="109728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93492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88536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53128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 · 문법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471416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54296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471416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471416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54296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149340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13932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332220" y="2139696"/>
            <a:ext cx="109728" cy="10972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15100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010144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74736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· 습관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193024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5904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193024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75904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193024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75904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· 포인트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987094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03554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· 평가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05382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23670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1005382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23670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005382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23670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30352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59936"/>
            <a:ext cx="1737360" cy="1086429"/>
          </a:xfrm>
          <a:prstGeom prst="rect">
            <a:avLst/>
          </a:prstGeom>
        </p:spPr>
      </p:pic>
      <p:sp>
        <p:nvSpPr>
          <p:cNvPr id="49" name="Text 45"/>
          <p:cNvSpPr/>
          <p:nvPr/>
        </p:nvSpPr>
        <p:spPr>
          <a:xfrm>
            <a:off x="56692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2386584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1" name="Image 2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059936"/>
            <a:ext cx="1737360" cy="1086429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2423160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4242816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4" name="Image 3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4059936"/>
            <a:ext cx="1737360" cy="1086429"/>
          </a:xfrm>
          <a:prstGeom prst="rect">
            <a:avLst/>
          </a:prstGeom>
        </p:spPr>
      </p:pic>
      <p:sp>
        <p:nvSpPr>
          <p:cNvPr id="55" name="Text 49"/>
          <p:cNvSpPr/>
          <p:nvPr/>
        </p:nvSpPr>
        <p:spPr>
          <a:xfrm>
            <a:off x="4279392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</a:t>
            </a:r>
            <a:endParaRPr lang="en-US" sz="950" dirty="0"/>
          </a:p>
        </p:txBody>
      </p:sp>
      <p:sp>
        <p:nvSpPr>
          <p:cNvPr id="56" name="Shape 50"/>
          <p:cNvSpPr/>
          <p:nvPr/>
        </p:nvSpPr>
        <p:spPr>
          <a:xfrm>
            <a:off x="6099048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7" name="Image 4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4059936"/>
            <a:ext cx="1737360" cy="1086429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6135624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950" dirty="0"/>
          </a:p>
        </p:txBody>
      </p:sp>
      <p:sp>
        <p:nvSpPr>
          <p:cNvPr id="59" name="Shape 52"/>
          <p:cNvSpPr/>
          <p:nvPr/>
        </p:nvSpPr>
        <p:spPr>
          <a:xfrm>
            <a:off x="7955280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0" name="Image 5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856" y="4059936"/>
            <a:ext cx="1737360" cy="1086429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7991856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9811512" y="4023360"/>
            <a:ext cx="1810512" cy="1189695"/>
          </a:xfrm>
          <a:prstGeom prst="roundRect">
            <a:avLst>
              <a:gd name="adj" fmla="val 614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3" name="Image 6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59936"/>
            <a:ext cx="1737360" cy="1116543"/>
          </a:xfrm>
          <a:prstGeom prst="rect">
            <a:avLst/>
          </a:prstGeom>
        </p:spPr>
      </p:pic>
      <p:sp>
        <p:nvSpPr>
          <p:cNvPr id="64" name="Text 55"/>
          <p:cNvSpPr/>
          <p:nvPr/>
        </p:nvSpPr>
        <p:spPr>
          <a:xfrm>
            <a:off x="984808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950" dirty="0"/>
          </a:p>
        </p:txBody>
      </p:sp>
      <p:sp>
        <p:nvSpPr>
          <p:cNvPr id="65" name="Text 56"/>
          <p:cNvSpPr/>
          <p:nvPr/>
        </p:nvSpPr>
        <p:spPr>
          <a:xfrm>
            <a:off x="566928" y="561441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학습 콘텐츠 집계 (2026년 8월). 게임 21종은 «학습 게임» 하나로 셈했습니다.</a:t>
            </a:r>
            <a:endParaRPr lang="en-US" sz="850" dirty="0"/>
          </a:p>
        </p:txBody>
      </p:sp>
      <p:sp>
        <p:nvSpPr>
          <p:cNvPr id="66" name="Text 5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 · 사고력 · 게임.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서비스 화면으로 하나씩 보여 드립니다.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21종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01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따라 말하면 즉시 채점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선택 → 원어민 발음 듣기 → 마이크 → 점수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 · BTS(Lv 1~8) · SIU 고급 · 중국어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발음을 먼저 듣고 그대로 발화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점수가 나온다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말했는지 즉시 채점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쌓인다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성장 추이로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 — 말해 봐야 규칙이 굳는다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02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Friend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24시간 말 걸 상대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41003"/>
          </a:xfrm>
          <a:prstGeom prst="roundRect">
            <a:avLst>
              <a:gd name="adj" fmla="val 185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678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86923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Emma · Jake와 영어로 자유 대화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고른다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괜찮다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웃지 않고, 한 마디마다 포인트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수준에 맞춰 준다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학습자 레벨에 맞는 문장 길이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 — 불안이 낮아야 습득된다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03 · 쓰기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왜 틀렸는지까지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즉시 교정하고 이유를 설명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쓴다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자유롭게 작성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교정된다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부분을 문장 단위로 표시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알려준다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고쳤는지 설명까지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 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문장을 반영해 재작성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 — 꺼내 쓸 때 기억에 남는다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04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Vocab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단어만 넣으면 나머지는 A.I가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단어만 입력하면 뜻·예문 자동 생성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담는다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뜻과 예문은 A.I가 자동 생성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외운다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단어가 게임 문제로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남는다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진도와 정답률을 확인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수업과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수업에서 나온 단어가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— 간격을 두고 여러 번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05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1분이면 끝납니다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마이크로러닝 — 짧게, 자주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안에 끝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하루 한 번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단어장에서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담은 단어로 문제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빠를수록 포인트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속도가 오르면 보너스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연속으로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하면 스트릭이 쌓인다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 (Cepeda 2006 · Roediger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06 · 사고력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Judgment Training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 — 생각하고 영어로 답하기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읽고 스스로 판단해 영어로 말하기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상황이 주어진다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있을 법한 장면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판단한다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고르기가 아니라 결정하기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답한다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판단한 이유를 영어로 설명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되짚는다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선택지의 결과도 알려준다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«AI로 생각하고 결정하는 영어»의 출발점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07 · 수업 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— 수업 전에 입을 풉니다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AI 친구와 짧은 대화 후 입장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한 번 말해 본다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두세 마디면 충분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1~2분이면 끝나는 짧은 대화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줄어든다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마디의 부담을 미리 덜어낸다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수업으로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후 화상수업 로비로 입장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조금 위의 이해 가능한 입력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Language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복습이 놀이가 됩니다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46811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퀘스트 · 연속 학습 · 랭킹 · 포인트 상점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틀린 단어가 재료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골라 게임 문제로 넘긴다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 모두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언어 모두 지원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이기는 게임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발화가 조건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퀘스트로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깨면 다음 게임이 열린다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04748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1572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3583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 — 난이도와 실력이 맞을 때 계속한다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게임 라인업 전체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21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전부입니다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477670" cy="924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우주 괴물 사냥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212689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g02_avata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70" y="1517904"/>
            <a:ext cx="1477670" cy="92421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6347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아바타 키우기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3723437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0013" y="1517904"/>
            <a:ext cx="1477670" cy="9242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60013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문법 피자 마스터</a:t>
            </a:r>
            <a:endParaRPr lang="en-US" sz="800" dirty="0"/>
          </a:p>
        </p:txBody>
      </p:sp>
      <p:sp>
        <p:nvSpPr>
          <p:cNvPr id="16" name="Shape 10"/>
          <p:cNvSpPr/>
          <p:nvPr/>
        </p:nvSpPr>
        <p:spPr>
          <a:xfrm>
            <a:off x="5319979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g04_escapevoic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555" y="1517904"/>
            <a:ext cx="1477670" cy="92421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56555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말해야 열린다</a:t>
            </a:r>
            <a:endParaRPr lang="en-US" sz="800" dirty="0"/>
          </a:p>
        </p:txBody>
      </p:sp>
      <p:sp>
        <p:nvSpPr>
          <p:cNvPr id="19" name="Shape 12"/>
          <p:cNvSpPr/>
          <p:nvPr/>
        </p:nvSpPr>
        <p:spPr>
          <a:xfrm>
            <a:off x="691652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5" descr="/tmp/claude-0/-home-user-mangoiweb/ca835eb4-1670-5fc1-a29a-2fc77598fea3/scratchpad/deck_img/g05_escapezombi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098" y="1517904"/>
            <a:ext cx="1477670" cy="92421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5309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좀비 실험실 탈출</a:t>
            </a:r>
            <a:endParaRPr lang="en-US" sz="800" dirty="0"/>
          </a:p>
        </p:txBody>
      </p:sp>
      <p:sp>
        <p:nvSpPr>
          <p:cNvPr id="22" name="Shape 14"/>
          <p:cNvSpPr/>
          <p:nvPr/>
        </p:nvSpPr>
        <p:spPr>
          <a:xfrm>
            <a:off x="851306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6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9640" y="1517904"/>
            <a:ext cx="1477670" cy="92421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54964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학교 탈출 SOS</a:t>
            </a:r>
            <a:endParaRPr lang="en-US" sz="800" dirty="0"/>
          </a:p>
        </p:txBody>
      </p:sp>
      <p:sp>
        <p:nvSpPr>
          <p:cNvPr id="25" name="Shape 16"/>
          <p:cNvSpPr/>
          <p:nvPr/>
        </p:nvSpPr>
        <p:spPr>
          <a:xfrm>
            <a:off x="10109606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7" descr="/tmp/claude-0/-home-user-mangoiweb/ca835eb4-1670-5fc1-a29a-2fc77598fea3/scratchpad/deck_img/g07_tank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6182" y="1517904"/>
            <a:ext cx="1477670" cy="92421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10146182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셔먼 탱크대전</a:t>
            </a:r>
            <a:endParaRPr lang="en-US" sz="800" dirty="0"/>
          </a:p>
        </p:txBody>
      </p:sp>
      <p:sp>
        <p:nvSpPr>
          <p:cNvPr id="28" name="Shape 18"/>
          <p:cNvSpPr/>
          <p:nvPr/>
        </p:nvSpPr>
        <p:spPr>
          <a:xfrm>
            <a:off x="53035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8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2990088"/>
            <a:ext cx="1477670" cy="924216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6692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P-38 라이트닝</a:t>
            </a:r>
            <a:endParaRPr lang="en-US" sz="800" dirty="0"/>
          </a:p>
        </p:txBody>
      </p:sp>
      <p:sp>
        <p:nvSpPr>
          <p:cNvPr id="31" name="Shape 20"/>
          <p:cNvSpPr/>
          <p:nvPr/>
        </p:nvSpPr>
        <p:spPr>
          <a:xfrm>
            <a:off x="212689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9" descr="/tmp/claude-0/-home-user-mangoiweb/ca835eb4-1670-5fc1-a29a-2fc77598fea3/scratchpad/deck_img/g09_p383d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63470" y="2990088"/>
            <a:ext cx="1477670" cy="92421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216347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P-38 3D 조종석</a:t>
            </a:r>
            <a:endParaRPr lang="en-US" sz="800" dirty="0"/>
          </a:p>
        </p:txBody>
      </p:sp>
      <p:sp>
        <p:nvSpPr>
          <p:cNvPr id="34" name="Shape 22"/>
          <p:cNvSpPr/>
          <p:nvPr/>
        </p:nvSpPr>
        <p:spPr>
          <a:xfrm>
            <a:off x="3723437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10" descr="/tmp/claude-0/-home-user-mangoiweb/ca835eb4-1670-5fc1-a29a-2fc77598fea3/scratchpad/deck_img/g10_battle3d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60013" y="2990088"/>
            <a:ext cx="1477670" cy="924216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3760013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우주 배틀</a:t>
            </a:r>
            <a:endParaRPr lang="en-US" sz="800" dirty="0"/>
          </a:p>
        </p:txBody>
      </p:sp>
      <p:sp>
        <p:nvSpPr>
          <p:cNvPr id="37" name="Shape 24"/>
          <p:cNvSpPr/>
          <p:nvPr/>
        </p:nvSpPr>
        <p:spPr>
          <a:xfrm>
            <a:off x="5319979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11" descr="/tmp/claude-0/-home-user-mangoiweb/ca835eb4-1670-5fc1-a29a-2fc77598fea3/scratchpad/deck_img/g11_fish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56555" y="2990088"/>
            <a:ext cx="1477670" cy="92421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5356555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낚시+말하기</a:t>
            </a:r>
            <a:endParaRPr lang="en-US" sz="800" dirty="0"/>
          </a:p>
        </p:txBody>
      </p:sp>
      <p:sp>
        <p:nvSpPr>
          <p:cNvPr id="40" name="Shape 26"/>
          <p:cNvSpPr/>
          <p:nvPr/>
        </p:nvSpPr>
        <p:spPr>
          <a:xfrm>
            <a:off x="691652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12" descr="/tmp/claude-0/-home-user-mangoiweb/ca835eb4-1670-5fc1-a29a-2fc77598fea3/scratchpad/deck_img/g12_shoote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53098" y="2990088"/>
            <a:ext cx="1477670" cy="924216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95309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슈팅+말하기</a:t>
            </a:r>
            <a:endParaRPr lang="en-US" sz="800" dirty="0"/>
          </a:p>
        </p:txBody>
      </p:sp>
      <p:sp>
        <p:nvSpPr>
          <p:cNvPr id="43" name="Shape 28"/>
          <p:cNvSpPr/>
          <p:nvPr/>
        </p:nvSpPr>
        <p:spPr>
          <a:xfrm>
            <a:off x="851306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13" descr="/tmp/claude-0/-home-user-mangoiweb/ca835eb4-1670-5fc1-a29a-2fc77598fea3/scratchpad/deck_img/g13_brick.jp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49640" y="2990088"/>
            <a:ext cx="1477670" cy="924216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854964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문장 벽돌</a:t>
            </a:r>
            <a:endParaRPr lang="en-US" sz="800" dirty="0"/>
          </a:p>
        </p:txBody>
      </p:sp>
      <p:sp>
        <p:nvSpPr>
          <p:cNvPr id="46" name="Shape 30"/>
          <p:cNvSpPr/>
          <p:nvPr/>
        </p:nvSpPr>
        <p:spPr>
          <a:xfrm>
            <a:off x="10109606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4" descr="/tmp/claude-0/-home-user-mangoiweb/ca835eb4-1670-5fc1-a29a-2fc77598fea3/scratchpad/deck_img/g14_match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46182" y="2990088"/>
            <a:ext cx="1477670" cy="924216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10146182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단어 매칭</a:t>
            </a:r>
            <a:endParaRPr lang="en-US" sz="800" dirty="0"/>
          </a:p>
        </p:txBody>
      </p:sp>
      <p:sp>
        <p:nvSpPr>
          <p:cNvPr id="49" name="Shape 32"/>
          <p:cNvSpPr/>
          <p:nvPr/>
        </p:nvSpPr>
        <p:spPr>
          <a:xfrm>
            <a:off x="53035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5" descr="/tmp/claude-0/-home-user-mangoiweb/ca835eb4-1670-5fc1-a29a-2fc77598fea3/scratchpad/deck_img/g15_fill.jp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4462272"/>
            <a:ext cx="1477670" cy="924216"/>
          </a:xfrm>
          <a:prstGeom prst="rect">
            <a:avLst/>
          </a:prstGeom>
        </p:spPr>
      </p:pic>
      <p:sp>
        <p:nvSpPr>
          <p:cNvPr id="51" name="Text 33"/>
          <p:cNvSpPr/>
          <p:nvPr/>
        </p:nvSpPr>
        <p:spPr>
          <a:xfrm>
            <a:off x="56692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빈칸 채우기</a:t>
            </a:r>
            <a:endParaRPr lang="en-US" sz="800" dirty="0"/>
          </a:p>
        </p:txBody>
      </p:sp>
      <p:sp>
        <p:nvSpPr>
          <p:cNvPr id="52" name="Shape 34"/>
          <p:cNvSpPr/>
          <p:nvPr/>
        </p:nvSpPr>
        <p:spPr>
          <a:xfrm>
            <a:off x="212689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6" descr="/tmp/claude-0/-home-user-mangoiweb/ca835eb4-1670-5fc1-a29a-2fc77598fea3/scratchpad/deck_img/g16_balloon.jp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63470" y="4462272"/>
            <a:ext cx="1477670" cy="924216"/>
          </a:xfrm>
          <a:prstGeom prst="rect">
            <a:avLst/>
          </a:prstGeom>
        </p:spPr>
      </p:pic>
      <p:sp>
        <p:nvSpPr>
          <p:cNvPr id="54" name="Text 35"/>
          <p:cNvSpPr/>
          <p:nvPr/>
        </p:nvSpPr>
        <p:spPr>
          <a:xfrm>
            <a:off x="216347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풍선 터뜨리기</a:t>
            </a:r>
            <a:endParaRPr lang="en-US" sz="800" dirty="0"/>
          </a:p>
        </p:txBody>
      </p:sp>
      <p:sp>
        <p:nvSpPr>
          <p:cNvPr id="55" name="Shape 36"/>
          <p:cNvSpPr/>
          <p:nvPr/>
        </p:nvSpPr>
        <p:spPr>
          <a:xfrm>
            <a:off x="3723437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17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60013" y="4462272"/>
            <a:ext cx="1477670" cy="924216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3760013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용의자 추리</a:t>
            </a:r>
            <a:endParaRPr lang="en-US" sz="800" dirty="0"/>
          </a:p>
        </p:txBody>
      </p:sp>
      <p:sp>
        <p:nvSpPr>
          <p:cNvPr id="58" name="Shape 38"/>
          <p:cNvSpPr/>
          <p:nvPr/>
        </p:nvSpPr>
        <p:spPr>
          <a:xfrm>
            <a:off x="5319979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18" descr="/tmp/claude-0/-home-user-mangoiweb/ca835eb4-1670-5fc1-a29a-2fc77598fea3/scratchpad/deck_img/g18_speaking.jp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56555" y="4462272"/>
            <a:ext cx="1477670" cy="924216"/>
          </a:xfrm>
          <a:prstGeom prst="rect">
            <a:avLst/>
          </a:prstGeom>
        </p:spPr>
      </p:pic>
      <p:sp>
        <p:nvSpPr>
          <p:cNvPr id="60" name="Text 39"/>
          <p:cNvSpPr/>
          <p:nvPr/>
        </p:nvSpPr>
        <p:spPr>
          <a:xfrm>
            <a:off x="5356555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말하기 퀴즈</a:t>
            </a:r>
            <a:endParaRPr lang="en-US" sz="800" dirty="0"/>
          </a:p>
        </p:txBody>
      </p:sp>
      <p:sp>
        <p:nvSpPr>
          <p:cNvPr id="61" name="Shape 40"/>
          <p:cNvSpPr/>
          <p:nvPr/>
        </p:nvSpPr>
        <p:spPr>
          <a:xfrm>
            <a:off x="691652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2" name="Image 19" descr="/tmp/claude-0/-home-user-mangoiweb/ca835eb4-1670-5fc1-a29a-2fc77598fea3/scratchpad/deck_img/g19_wordfighter.jp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53098" y="4462272"/>
            <a:ext cx="1477670" cy="924216"/>
          </a:xfrm>
          <a:prstGeom prst="rect">
            <a:avLst/>
          </a:prstGeom>
        </p:spPr>
      </p:pic>
      <p:sp>
        <p:nvSpPr>
          <p:cNvPr id="63" name="Text 41"/>
          <p:cNvSpPr/>
          <p:nvPr/>
        </p:nvSpPr>
        <p:spPr>
          <a:xfrm>
            <a:off x="695309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워드 파이터</a:t>
            </a:r>
            <a:endParaRPr lang="en-US" sz="800" dirty="0"/>
          </a:p>
        </p:txBody>
      </p:sp>
      <p:sp>
        <p:nvSpPr>
          <p:cNvPr id="64" name="Shape 42"/>
          <p:cNvSpPr/>
          <p:nvPr/>
        </p:nvSpPr>
        <p:spPr>
          <a:xfrm>
            <a:off x="851306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5" name="Image 20" descr="/tmp/claude-0/-home-user-mangoiweb/ca835eb4-1670-5fc1-a29a-2fc77598fea3/scratchpad/deck_img/g20_tetris.jp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49640" y="4462272"/>
            <a:ext cx="1477670" cy="924216"/>
          </a:xfrm>
          <a:prstGeom prst="rect">
            <a:avLst/>
          </a:prstGeom>
        </p:spPr>
      </p:pic>
      <p:sp>
        <p:nvSpPr>
          <p:cNvPr id="66" name="Text 43"/>
          <p:cNvSpPr/>
          <p:nvPr/>
        </p:nvSpPr>
        <p:spPr>
          <a:xfrm>
            <a:off x="854964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단어 테트리스</a:t>
            </a:r>
            <a:endParaRPr lang="en-US" sz="800" dirty="0"/>
          </a:p>
        </p:txBody>
      </p:sp>
      <p:sp>
        <p:nvSpPr>
          <p:cNvPr id="67" name="Shape 44"/>
          <p:cNvSpPr/>
          <p:nvPr/>
        </p:nvSpPr>
        <p:spPr>
          <a:xfrm>
            <a:off x="10109606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8" name="Image 21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46182" y="4462272"/>
            <a:ext cx="1477670" cy="924216"/>
          </a:xfrm>
          <a:prstGeom prst="rect">
            <a:avLst/>
          </a:prstGeom>
        </p:spPr>
      </p:pic>
      <p:sp>
        <p:nvSpPr>
          <p:cNvPr id="69" name="Text 45"/>
          <p:cNvSpPr/>
          <p:nvPr/>
        </p:nvSpPr>
        <p:spPr>
          <a:xfrm>
            <a:off x="10146182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망고 구조선의 대항해</a:t>
            </a:r>
            <a:endParaRPr lang="en-US" sz="800" dirty="0"/>
          </a:p>
        </p:txBody>
      </p:sp>
      <p:sp>
        <p:nvSpPr>
          <p:cNvPr id="70" name="Text 46"/>
          <p:cNvSpPr/>
          <p:nvPr/>
        </p:nvSpPr>
        <p:spPr>
          <a:xfrm>
            <a:off x="566928" y="60350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전 종목 실제 화면 캡처. 게임마다 파일이 독립되어 있어 새 게임이 계속 추가됩니다.</a:t>
            </a:r>
            <a:endParaRPr lang="en-US" sz="850" dirty="0"/>
          </a:p>
        </p:txBody>
      </p:sp>
      <p:sp>
        <p:nvSpPr>
          <p:cNvPr id="71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대표 게임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식으로 영어를 씁니다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rcRect l="0" r="0" t="13891" b="-13891"/>
          <a:stretch/>
        </p:blipFill>
        <p:spPr>
          <a:xfrm>
            <a:off x="566928" y="1554480"/>
            <a:ext cx="3474720" cy="17007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66928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맞는 단어를 쏜다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242816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3"/>
          <a:srcRect l="0" r="0" t="13891" b="-13891"/>
          <a:stretch/>
        </p:blipFill>
        <p:spPr>
          <a:xfrm>
            <a:off x="4279392" y="1554480"/>
            <a:ext cx="3474720" cy="17007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279392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279392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어순대로 재료를 올린다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955280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4"/>
          <a:srcRect l="0" r="0" t="13891" b="-13891"/>
          <a:stretch/>
        </p:blipFill>
        <p:spPr>
          <a:xfrm>
            <a:off x="7991856" y="1554480"/>
            <a:ext cx="3474720" cy="17007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991856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7991856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문이 열린다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530352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4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5"/>
          <a:srcRect l="0" r="0" t="13891" b="-13891"/>
          <a:stretch/>
        </p:blipFill>
        <p:spPr>
          <a:xfrm>
            <a:off x="566928" y="3931920"/>
            <a:ext cx="3474720" cy="17007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66928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66928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적기에 실린 단어를 어순대로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4242816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5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6"/>
          <a:srcRect l="0" r="0" t="13891" b="-13891"/>
          <a:stretch/>
        </p:blipFill>
        <p:spPr>
          <a:xfrm>
            <a:off x="4279392" y="3931920"/>
            <a:ext cx="3474720" cy="170078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279392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용의자 추리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4279392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힌트를 듣고 영어로 범인을</a:t>
            </a:r>
            <a:endParaRPr lang="en-US" sz="950" dirty="0"/>
          </a:p>
        </p:txBody>
      </p:sp>
      <p:sp>
        <p:nvSpPr>
          <p:cNvPr id="27" name="Shape 19"/>
          <p:cNvSpPr/>
          <p:nvPr/>
        </p:nvSpPr>
        <p:spPr>
          <a:xfrm>
            <a:off x="7955280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6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7"/>
          <a:srcRect l="0" r="0" t="13891" b="-13891"/>
          <a:stretch/>
        </p:blipFill>
        <p:spPr>
          <a:xfrm>
            <a:off x="7991856" y="3931920"/>
            <a:ext cx="3474720" cy="170078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991856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 구조선의 대항해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7991856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구한 단어로 문장을 말한다</a:t>
            </a:r>
            <a:endParaRPr lang="en-US" sz="950" dirty="0"/>
          </a:p>
        </p:txBody>
      </p:sp>
      <p:sp>
        <p:nvSpPr>
          <p:cNvPr id="31" name="Text 2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09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Quest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말할수록 자랍니다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 · 여우 · 드래곤 · 강아지 중 하나를 골라 5단계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캐릭터 중 하나로 시작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미션마다 EXP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영어·중국어 미션이 곧 경험치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5단계까지 진화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진화할 때마다 연출이 바뀐다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유지된다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캐릭터를 바꿔도 EXP는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 — 능력은 노력으로 자란다 (Dweck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10 · 습관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Streak &amp; Points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— 하루도 끊기지 않게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 · 포인트 · 배지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한 번이면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퀴즈 하나로 그날이 채워진다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일수가 보인다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끊기지 않게 만드는 가장 단순한 장치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포인트가 쌓인다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기프티콘으로 교환 가능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성적이 아니라 습관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아닌 과정에만 보상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보상의 역효과(Deci 1999)를 피해 «습관»에만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11 · 진단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Level Test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 — 어디서 시작할지 정합니다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ID만 넣으면 즉시 시작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시작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ID만 입력하면 바로 진단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1~8 중 시작 지점 판정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강·약점까지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부족한지 함께 정리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교재가 연결된다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커리큘럼 자동 배정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수준보다 살짝 위에서 배운다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12 · 평가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Report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4010436"/>
          </a:xfrm>
          <a:prstGeom prst="roundRect">
            <a:avLst>
              <a:gd name="adj" fmla="val 18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9372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65635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리포트 — 카카오톡으로 발송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자동 생성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A.I가 분석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약점이 복습으로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부분이 다음 퀴즈·게임 재료로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· 매달 요약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리포트와 월간 A.I 리포트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열지 않아도 손 안에 도착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피드백과 A.I 학습기록을 하나로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· 한 장 요약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이렇게 채워집니다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1323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23744"/>
            <a:ext cx="1431036" cy="8948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295144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427732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574036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574036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537460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2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36" y="2523744"/>
            <a:ext cx="1431036" cy="9034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155948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4288536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434840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434840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398264" y="2487168"/>
            <a:ext cx="1504188" cy="992831"/>
          </a:xfrm>
          <a:prstGeom prst="roundRect">
            <a:avLst>
              <a:gd name="adj" fmla="val 736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3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23744"/>
            <a:ext cx="1431036" cy="91967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016752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149340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295644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295644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· 단어장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259068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644" y="2523744"/>
            <a:ext cx="1431036" cy="89487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77556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8010144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156448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전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8156448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119872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5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2523744"/>
            <a:ext cx="1431036" cy="903461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8360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Shape 29"/>
          <p:cNvSpPr/>
          <p:nvPr/>
        </p:nvSpPr>
        <p:spPr>
          <a:xfrm>
            <a:off x="987094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1001725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1001725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· 아바타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998067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6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7252" y="2523744"/>
            <a:ext cx="1431036" cy="894875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53035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3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3913632"/>
            <a:ext cx="1723644" cy="107785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6692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5" name="Shape 35"/>
          <p:cNvSpPr/>
          <p:nvPr/>
        </p:nvSpPr>
        <p:spPr>
          <a:xfrm>
            <a:off x="2391156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6" name="Image 8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7732" y="3913632"/>
            <a:ext cx="1723644" cy="1077852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2427732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48" name="Shape 37"/>
          <p:cNvSpPr/>
          <p:nvPr/>
        </p:nvSpPr>
        <p:spPr>
          <a:xfrm>
            <a:off x="4251960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9" name="Image 9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88536" y="3913632"/>
            <a:ext cx="1723644" cy="1077852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4288536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51" name="Shape 39"/>
          <p:cNvSpPr/>
          <p:nvPr/>
        </p:nvSpPr>
        <p:spPr>
          <a:xfrm>
            <a:off x="6112764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2" name="Image 10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49340" y="3913632"/>
            <a:ext cx="1723644" cy="1077852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6149340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54" name="Shape 41"/>
          <p:cNvSpPr/>
          <p:nvPr/>
        </p:nvSpPr>
        <p:spPr>
          <a:xfrm>
            <a:off x="7973568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5" name="Image 1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913632"/>
            <a:ext cx="1723644" cy="1077852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8010144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983437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8" name="Image 12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0948" y="3913632"/>
            <a:ext cx="1723644" cy="1077852"/>
          </a:xfrm>
          <a:prstGeom prst="rect">
            <a:avLst/>
          </a:prstGeom>
        </p:spPr>
      </p:pic>
      <p:sp>
        <p:nvSpPr>
          <p:cNvPr id="59" name="Text 44"/>
          <p:cNvSpPr/>
          <p:nvPr/>
        </p:nvSpPr>
        <p:spPr>
          <a:xfrm>
            <a:off x="987094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950" dirty="0"/>
          </a:p>
        </p:txBody>
      </p:sp>
      <p:sp>
        <p:nvSpPr>
          <p:cNvPr id="60" name="Shape 45"/>
          <p:cNvSpPr/>
          <p:nvPr/>
        </p:nvSpPr>
        <p:spPr>
          <a:xfrm>
            <a:off x="566928" y="5431536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61" name="Text 46"/>
          <p:cNvSpPr/>
          <p:nvPr/>
        </p:nvSpPr>
        <p:spPr>
          <a:xfrm>
            <a:off x="566928" y="543153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2000" dirty="0"/>
          </a:p>
        </p:txBody>
      </p:sp>
      <p:sp>
        <p:nvSpPr>
          <p:cNvPr id="62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(1/2)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· Vygotsky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지도의 효과를, A.I로 매일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(1984) · VanLehn (2011)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2시그마 문제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2048256"/>
            <a:ext cx="5632704" cy="2560320"/>
          </a:xfrm>
          <a:prstGeom prst="roundRect">
            <a:avLst>
              <a:gd name="adj" fmla="val 3571"/>
            </a:avLst>
          </a:prstGeom>
          <a:solidFill>
            <a:srgbClr val="0E142A"/>
          </a:solidFill>
          <a:ln w="12700">
            <a:solidFill>
              <a:srgbClr val="2A3557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2103120"/>
          <a:ext cx="5522976" cy="2450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566928" y="4663440"/>
            <a:ext cx="5632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지능형 튜터링(0.76)이 인간 튜터(0.79)에 근접 — 확장 가능한 개인화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 (1978)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 (ZPD)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19088" y="2011680"/>
            <a:ext cx="3273552" cy="2514135"/>
          </a:xfrm>
          <a:prstGeom prst="roundRect">
            <a:avLst>
              <a:gd name="adj" fmla="val 29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3200400" cy="244098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893808" y="210312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0040112" y="21579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10040112" y="23774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9893808" y="274320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0040112" y="27980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10040112" y="301752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힌트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9893808" y="338328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0112" y="34381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0040112" y="365760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오르면 힌트↓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9893808" y="402336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40112" y="40782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움직인다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10040112" y="429768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발화량·정확도 상시 측정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455664" y="46634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혼자선 못 하지만 도우면 되는 구간 — 교사와 A.I가 함께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566928" y="5029200"/>
            <a:ext cx="11055096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66928" y="5029200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1:1로, 나머지 시간은 A.I 콘텐츠가</a:t>
            </a:r>
            <a:endParaRPr lang="en-US" sz="1700" dirty="0"/>
          </a:p>
        </p:txBody>
      </p:sp>
      <p:sp>
        <p:nvSpPr>
          <p:cNvPr id="33" name="Text 28"/>
          <p:cNvSpPr/>
          <p:nvPr/>
        </p:nvSpPr>
        <p:spPr>
          <a:xfrm>
            <a:off x="566928" y="596188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  ·  VanLehn, K. (2011). Educational Psychologist, 46(4), 197–221.  ·  Vygotsky, L. S. (1978). Mind in Society.  ·  Wood, Bruner &amp; Ross (1976). JCPP, 17(2), 89–100.  ·  Clark, Tanner-Smith &amp; Killingsworth (2016). RER, 86(1), 79–122.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(2/2)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991295" y="384048"/>
            <a:ext cx="263347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91295" y="38404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Krashen · Swain · Ebbinghaus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말하게 하고, 남게 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· Krashen · Swain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말하고 · 고쳐 받는다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30352" y="2011680"/>
            <a:ext cx="5705856" cy="1332227"/>
          </a:xfrm>
          <a:prstGeom prst="roundRect">
            <a:avLst>
              <a:gd name="adj" fmla="val 549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d_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8256"/>
            <a:ext cx="5632704" cy="125907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3529584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35295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암기로는 안 된다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2724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(1959·1965)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59028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66928" y="4151376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513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위의 입력 (i+1)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12724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59028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레벨 진단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66928" y="4773168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47731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봐야 굳는다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12724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59028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친구 대화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 · Cepeda · Roediger · Sweller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두고, 꺼내 볼 것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419088" y="2011680"/>
            <a:ext cx="5248656" cy="2956647"/>
          </a:xfrm>
          <a:prstGeom prst="roundRect">
            <a:avLst>
              <a:gd name="adj" fmla="val 24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2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5175504" cy="288349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455664" y="4956048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656832" y="49560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7772400" y="4956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여러 번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9509760" y="4956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1분 단어 퀴즈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6455664" y="5486400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56832" y="5486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7772400" y="5486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맞혀 봐야 남는다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950976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복습 퀴즈 10문항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455664" y="6016752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656832" y="6016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7772400" y="60167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부하를 줄인다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9509760" y="6016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 화면에 한 과제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66928" y="5468112"/>
            <a:ext cx="5632704" cy="512064"/>
          </a:xfrm>
          <a:prstGeom prst="roundRect">
            <a:avLst>
              <a:gd name="adj" fmla="val 17857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86384" y="5468112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교수법 적용을 경계했습니다 — 교실 근거는 크라션·스웨인입니다.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566928" y="61264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(1959; 1965) · Krashen (1982) · Swain (1985) · Ebbinghaus (1885/1913) · Cepeda et al. (2006) · Roediger &amp; Karpicke (2006) · Sweller (1988) · Ryan &amp; Deci (2000) · Csikszentmihalyi (1990) · Dweck (2006) · Bandura (1977)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3152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834640"/>
            <a:ext cx="1677010" cy="104869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810866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012034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12034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2034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2975458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8" name="Image 2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034" y="2834640"/>
            <a:ext cx="1677010" cy="104869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54803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255971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255971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255971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5219395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3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971" y="2834640"/>
            <a:ext cx="1677010" cy="104869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298741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499909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499909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499909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450" dirty="0"/>
          </a:p>
        </p:txBody>
      </p:sp>
      <p:sp>
        <p:nvSpPr>
          <p:cNvPr id="29" name="Shape 23"/>
          <p:cNvSpPr/>
          <p:nvPr/>
        </p:nvSpPr>
        <p:spPr>
          <a:xfrm>
            <a:off x="7463333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4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909" y="2834640"/>
            <a:ext cx="1677010" cy="104869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4267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743846" y="1737360"/>
            <a:ext cx="420624" cy="42062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74384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74384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복습</a:t>
            </a:r>
            <a:endParaRPr lang="en-US" sz="1450" dirty="0"/>
          </a:p>
        </p:txBody>
      </p:sp>
      <p:sp>
        <p:nvSpPr>
          <p:cNvPr id="35" name="Shape 28"/>
          <p:cNvSpPr/>
          <p:nvPr/>
        </p:nvSpPr>
        <p:spPr>
          <a:xfrm>
            <a:off x="970727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3846" y="2834640"/>
            <a:ext cx="1677010" cy="104869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30352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6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352544"/>
            <a:ext cx="2079346" cy="130028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6692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2774290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0866" y="4352544"/>
            <a:ext cx="2079346" cy="13002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2810866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5018227" y="4315968"/>
            <a:ext cx="2152498" cy="1385912"/>
          </a:xfrm>
          <a:prstGeom prst="roundRect">
            <a:avLst>
              <a:gd name="adj" fmla="val 527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8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4803" y="4352544"/>
            <a:ext cx="2079346" cy="131276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5054803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46" name="Shape 35"/>
          <p:cNvSpPr/>
          <p:nvPr/>
        </p:nvSpPr>
        <p:spPr>
          <a:xfrm>
            <a:off x="7262165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9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8741" y="4352544"/>
            <a:ext cx="2079346" cy="13002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298741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50" dirty="0"/>
          </a:p>
        </p:txBody>
      </p:sp>
      <p:sp>
        <p:nvSpPr>
          <p:cNvPr id="49" name="Shape 37"/>
          <p:cNvSpPr/>
          <p:nvPr/>
        </p:nvSpPr>
        <p:spPr>
          <a:xfrm>
            <a:off x="9506102" y="4315968"/>
            <a:ext cx="2152498" cy="1409478"/>
          </a:xfrm>
          <a:prstGeom prst="roundRect">
            <a:avLst>
              <a:gd name="adj" fmla="val 51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42678" y="4352544"/>
            <a:ext cx="2079346" cy="1336326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954267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50" dirty="0"/>
          </a:p>
        </p:txBody>
      </p:sp>
      <p:sp>
        <p:nvSpPr>
          <p:cNvPr id="52" name="Text 39"/>
          <p:cNvSpPr/>
          <p:nvPr/>
        </p:nvSpPr>
        <p:spPr>
          <a:xfrm>
            <a:off x="566928" y="60350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전후로 A.I 학습 콘텐츠가 이어집니다.</a:t>
            </a:r>
            <a:endParaRPr lang="en-US" sz="1250" dirty="0"/>
          </a:p>
        </p:txBody>
      </p:sp>
      <p:sp>
        <p:nvSpPr>
          <p:cNvPr id="53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 — 신청 · 변경 · 관리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&amp; Admin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시간은 직접 고르고, 일정은 언제든 바꿉니다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rcRect l="79" r="-79" t="0" b="0"/>
          <a:stretch/>
        </p:blipFill>
        <p:spPr>
          <a:xfrm>
            <a:off x="566928" y="1554480"/>
            <a:ext cx="3474720" cy="21762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› 교사 › 결제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42816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3"/>
          <a:srcRect l="79" r="-79" t="0" b="0"/>
          <a:stretch/>
        </p:blipFill>
        <p:spPr>
          <a:xfrm>
            <a:off x="4279392" y="1554480"/>
            <a:ext cx="3474720" cy="21762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79392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955280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4"/>
          <a:srcRect l="0" r="0" t="986" b="-986"/>
          <a:stretch/>
        </p:blipFill>
        <p:spPr>
          <a:xfrm>
            <a:off x="7991856" y="1554480"/>
            <a:ext cx="3474720" cy="21762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91856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· AI 운영비서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566928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786384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 · 시간 · 교사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786384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1회~5회 · 20분 블록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279392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4498848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빠져도 사라지지 않음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498848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 · 변경을 직접 선택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991856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11312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 전부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11312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 · 정산 · 시스템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향후 발전계획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Roadmap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학습의 주인공이 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925312" cy="3732703"/>
          </a:xfrm>
          <a:prstGeom prst="roundRect">
            <a:avLst>
              <a:gd name="adj" fmla="val 196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5852160" cy="36595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30352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미션마다 EXP가 쌓이고 5단계까지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675120" y="1554480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912864" y="1554480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63840" y="1554480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EXP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675120" y="2578608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12864" y="2578608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63840" y="2578608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 반응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675120" y="3602736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12864" y="3602736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863840" y="3602736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675120" y="4626864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12864" y="4626864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7863840" y="462686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게임·수업·리포트 통합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콘텐츠가 스스로 판을 짭니다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문제를 A.I가 고릅니다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" y="2212848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출제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" y="2596896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59536" y="2980944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복습 주기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3620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052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(강화학습)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528816" y="221284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효과 큰 한 문제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28816" y="2596896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6656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 난이도 감지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528816" y="298094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0352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694" b="-5694"/>
          <a:stretch/>
        </p:blipFill>
        <p:spPr>
          <a:xfrm>
            <a:off x="566928" y="3749040"/>
            <a:ext cx="2606040" cy="1463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66928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 통합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337560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7" name="Image 2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3"/>
          <a:srcRect l="0" r="0" t="5694" b="-5694"/>
          <a:stretch/>
        </p:blipFill>
        <p:spPr>
          <a:xfrm>
            <a:off x="3374136" y="3749040"/>
            <a:ext cx="2606040" cy="146304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374136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이긴다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144768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3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4"/>
          <a:srcRect l="0" r="0" t="5694" b="-5694"/>
          <a:stretch/>
        </p:blipFill>
        <p:spPr>
          <a:xfrm>
            <a:off x="6181344" y="3749040"/>
            <a:ext cx="2606040" cy="1463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181344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951976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3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694" b="-5694"/>
          <a:stretch/>
        </p:blipFill>
        <p:spPr>
          <a:xfrm>
            <a:off x="8988552" y="3749040"/>
            <a:ext cx="2606040" cy="1463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8988552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66928" y="5614416"/>
            <a:ext cx="11055096" cy="658368"/>
          </a:xfrm>
          <a:prstGeom prst="roundRect">
            <a:avLst>
              <a:gd name="adj" fmla="val 13889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66928" y="561441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교사를 대신하는 것이 아니라, 교사가 못 보는 시간을 대신 봅니다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로드맵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249631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14가지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2990088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3483864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· 연속 학습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22960" y="397764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 · 월간 리포트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74136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11880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61188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30168" y="2496312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31336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30168" y="299008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831336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30168" y="348386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31336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30168" y="397764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31336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선제 안내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181344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19088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19088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437376" y="2496312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38544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문제 선택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437376" y="2990088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38544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437376" y="3483864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638544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437376" y="397764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38544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모드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988552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26296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226296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9244584" y="2496312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445752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통합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9244584" y="2990088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45752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9244584" y="3483864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445752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수업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30352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28167" b="-28167"/>
          <a:stretch/>
        </p:blipFill>
        <p:spPr>
          <a:xfrm>
            <a:off x="566928" y="4846320"/>
            <a:ext cx="2606040" cy="1042416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566928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음성코치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3337560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rcRect l="0" r="0" t="28917" b="-28917"/>
          <a:stretch/>
        </p:blipFill>
        <p:spPr>
          <a:xfrm>
            <a:off x="3374136" y="4846320"/>
            <a:ext cx="2606040" cy="1042416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3374136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6144768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3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4"/>
          <a:srcRect l="0" r="0" t="28167" b="-28167"/>
          <a:stretch/>
        </p:blipFill>
        <p:spPr>
          <a:xfrm>
            <a:off x="6181344" y="4846320"/>
            <a:ext cx="2606040" cy="1042416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6181344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8951976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28167" b="-28167"/>
          <a:stretch/>
        </p:blipFill>
        <p:spPr>
          <a:xfrm>
            <a:off x="8988552" y="4846320"/>
            <a:ext cx="2606040" cy="1042416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8988552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566928" y="627278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계획이며 일정은 변동될 수 있습니다.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9496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1498" b="-1498"/>
          <a:stretch/>
        </p:blipFill>
        <p:spPr>
          <a:xfrm>
            <a:off x="566928" y="457200"/>
            <a:ext cx="2048256" cy="12435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788920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rcRect l="0" r="0" t="1992" b="-1992"/>
          <a:stretch/>
        </p:blipFill>
        <p:spPr>
          <a:xfrm>
            <a:off x="2816352" y="457200"/>
            <a:ext cx="2048256" cy="1243584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038344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3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4"/>
          <a:srcRect l="0" r="0" t="1498" b="-1498"/>
          <a:stretch/>
        </p:blipFill>
        <p:spPr>
          <a:xfrm>
            <a:off x="5065776" y="457200"/>
            <a:ext cx="2048256" cy="124358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7287768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4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5"/>
          <a:srcRect l="0" r="0" t="1498" b="-1498"/>
          <a:stretch/>
        </p:blipFill>
        <p:spPr>
          <a:xfrm>
            <a:off x="7315200" y="457200"/>
            <a:ext cx="2048256" cy="1243584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9537192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5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6"/>
          <a:srcRect l="0" r="0" t="1498" b="-1498"/>
          <a:stretch/>
        </p:blipFill>
        <p:spPr>
          <a:xfrm>
            <a:off x="9564624" y="457200"/>
            <a:ext cx="2048256" cy="1243584"/>
          </a:xfrm>
          <a:prstGeom prst="rect">
            <a:avLst/>
          </a:prstGeom>
        </p:spPr>
      </p:pic>
      <p:pic>
        <p:nvPicPr>
          <p:cNvPr id="13" name="Image 6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6128" y="2011680"/>
            <a:ext cx="1298448" cy="106070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097280" y="32004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200" dirty="0"/>
          </a:p>
        </p:txBody>
      </p:sp>
      <p:sp>
        <p:nvSpPr>
          <p:cNvPr id="15" name="Text 6"/>
          <p:cNvSpPr/>
          <p:nvPr/>
        </p:nvSpPr>
        <p:spPr>
          <a:xfrm>
            <a:off x="1097280" y="3895344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1500" dirty="0"/>
          </a:p>
        </p:txBody>
      </p:sp>
      <p:sp>
        <p:nvSpPr>
          <p:cNvPr id="16" name="Shape 7"/>
          <p:cNvSpPr/>
          <p:nvPr/>
        </p:nvSpPr>
        <p:spPr>
          <a:xfrm>
            <a:off x="221284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8"/>
          <p:cNvSpPr/>
          <p:nvPr/>
        </p:nvSpPr>
        <p:spPr>
          <a:xfrm>
            <a:off x="221284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18" name="Shape 9"/>
          <p:cNvSpPr/>
          <p:nvPr/>
        </p:nvSpPr>
        <p:spPr>
          <a:xfrm>
            <a:off x="491032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0"/>
          <p:cNvSpPr/>
          <p:nvPr/>
        </p:nvSpPr>
        <p:spPr>
          <a:xfrm>
            <a:off x="491032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20" name="Shape 11"/>
          <p:cNvSpPr/>
          <p:nvPr/>
        </p:nvSpPr>
        <p:spPr>
          <a:xfrm>
            <a:off x="760780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2"/>
          <p:cNvSpPr/>
          <p:nvPr/>
        </p:nvSpPr>
        <p:spPr>
          <a:xfrm>
            <a:off x="760780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22" name="Text 13"/>
          <p:cNvSpPr/>
          <p:nvPr/>
        </p:nvSpPr>
        <p:spPr>
          <a:xfrm>
            <a:off x="1097280" y="5486400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400" dirty="0"/>
          </a:p>
        </p:txBody>
      </p:sp>
      <p:sp>
        <p:nvSpPr>
          <p:cNvPr id="23" name="Text 14"/>
          <p:cNvSpPr/>
          <p:nvPr/>
        </p:nvSpPr>
        <p:spPr>
          <a:xfrm>
            <a:off x="1097280" y="5852160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7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화면은 실제 서비스 캡처입니다.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2026-08-17T06:01:43Z</dcterms:created>
  <dcterms:modified xsi:type="dcterms:W3CDTF">2026-08-17T06:01:43Z</dcterms:modified>
</cp:coreProperties>
</file>