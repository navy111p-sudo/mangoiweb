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효과크기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950" u="none">
                    <a:solidFill>
                      <a:srgbClr val="FFFFFF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1:1 개인교습
Bloom 1984</c:v>
                  </c:pt>
                  <c:pt idx="1">
                    <c:v>인간 튜터
VanLehn 2011</c:v>
                  </c:pt>
                  <c:pt idx="2">
                    <c:v>지능형 튜터링
VanLehn 2011</c:v>
                  </c:pt>
                  <c:pt idx="3">
                    <c:v>디지털 게임
Clark et al. 2016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0.79</c:v>
                </c:pt>
                <c:pt idx="2">
                  <c:v>0.76</c:v>
                </c:pt>
                <c:pt idx="3">
                  <c:v>0.33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950" u="none">
                  <a:solidFill>
                    <a:srgbClr val="FFFFFF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CBD5E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4"/>
          <c:min val="0"/>
        </c:scaling>
        <c:delete val="0"/>
        <c:axPos val="b"/>
        <c:majorGridlines>
          <c:spPr>
            <a:ln w="12700" cap="flat">
              <a:solidFill>
                <a:srgbClr val="222C4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142A"/>
        </a:solidFill>
        <a:ln>
          <a:noFill/>
        </a:ln>
        <a:effectLst/>
      </c:spPr>
    </c:plotArea>
    <c:plotVisOnly val="1"/>
    <c:dispBlanksAs val="span"/>
  </c:chart>
  <c:spPr>
    <a:solidFill>
      <a:srgbClr val="0E142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A.I 기능 수·게임 수는 서비스 내 집계 기준입니다. 발표 전 최신 수치로 갱신하세요.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Bloom(1984)의 2σ는 이후 재현 연구에서 축소 보고되었습니다.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촘스키 본인은 교수법 처방을 하지 않았다는 단서를 슬라이드에 넣었습니다.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참고문헌은 각 장 하단 인용으로 표기했습니다.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jpg"/><Relationship Id="rId7" Type="http://schemas.openxmlformats.org/officeDocument/2006/relationships/image" Target="../media/image-2-7.jpg"/><Relationship Id="rId8" Type="http://schemas.openxmlformats.org/officeDocument/2006/relationships/image" Target="../media/image-2-8.jpg"/><Relationship Id="rId9" Type="http://schemas.openxmlformats.org/officeDocument/2006/relationships/image" Target="../media/image-2-9.jpg"/><Relationship Id="rId10" Type="http://schemas.openxmlformats.org/officeDocument/2006/relationships/image" Target="../media/image-2-10.jpg"/><Relationship Id="rId11" Type="http://schemas.openxmlformats.org/officeDocument/2006/relationships/image" Target="../media/image-2-11.jp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6-5.jpg"/><Relationship Id="rId6" Type="http://schemas.openxmlformats.org/officeDocument/2006/relationships/image" Target="../media/image-6-6.jpg"/><Relationship Id="rId7" Type="http://schemas.openxmlformats.org/officeDocument/2006/relationships/image" Target="../media/image-6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7-1.jpg"/><Relationship Id="rId3" Type="http://schemas.openxmlformats.org/officeDocument/2006/relationships/image" Target="../media/image-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image" Target="../media/image-12-5.jpg"/><Relationship Id="rId6" Type="http://schemas.openxmlformats.org/officeDocument/2006/relationships/image" Target="../media/image-12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image" Target="../media/image-14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image" Target="../media/image-15-3.jpg"/><Relationship Id="rId4" Type="http://schemas.openxmlformats.org/officeDocument/2006/relationships/image" Target="../media/image-15-4.jpg"/><Relationship Id="rId5" Type="http://schemas.openxmlformats.org/officeDocument/2006/relationships/image" Target="../media/image-15-5.jpg"/><Relationship Id="rId6" Type="http://schemas.openxmlformats.org/officeDocument/2006/relationships/image" Target="../media/image-15-6.jpg"/><Relationship Id="rId7" Type="http://schemas.openxmlformats.org/officeDocument/2006/relationships/image" Target="../media/image-15-7.jpg"/><Relationship Id="rId8" Type="http://schemas.openxmlformats.org/officeDocument/2006/relationships/image" Target="../media/image-15-8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image" Target="../media/image-16-3.jpg"/><Relationship Id="rId4" Type="http://schemas.openxmlformats.org/officeDocument/2006/relationships/image" Target="../media/image-16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jpg"/><Relationship Id="rId4" Type="http://schemas.openxmlformats.org/officeDocument/2006/relationships/image" Target="../media/image-19-4.jpg"/><Relationship Id="rId5" Type="http://schemas.openxmlformats.org/officeDocument/2006/relationships/image" Target="../media/image-19-5.jpg"/><Relationship Id="rId6" Type="http://schemas.openxmlformats.org/officeDocument/2006/relationships/image" Target="../media/image-19-6.jpg"/><Relationship Id="rId7" Type="http://schemas.openxmlformats.org/officeDocument/2006/relationships/image" Target="../media/image-19-7.jpg"/><Relationship Id="rId8" Type="http://schemas.openxmlformats.org/officeDocument/2006/relationships/image" Target="../media/image-19-8.jpg"/><Relationship Id="rId9" Type="http://schemas.openxmlformats.org/officeDocument/2006/relationships/image" Target="../media/image-19-9.jpg"/><Relationship Id="rId10" Type="http://schemas.openxmlformats.org/officeDocument/2006/relationships/image" Target="../media/image-19-10.jpg"/><Relationship Id="rId11" Type="http://schemas.openxmlformats.org/officeDocument/2006/relationships/image" Target="../media/image-19-11.jp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image" Target="../media/image-20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jpg"/><Relationship Id="rId4" Type="http://schemas.openxmlformats.org/officeDocument/2006/relationships/image" Target="../media/image-21-4.jpg"/><Relationship Id="rId5" Type="http://schemas.openxmlformats.org/officeDocument/2006/relationships/image" Target="../media/image-21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jpg"/><Relationship Id="rId4" Type="http://schemas.openxmlformats.org/officeDocument/2006/relationships/image" Target="../media/image-2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image" Target="../media/image-26-3.jpg"/><Relationship Id="rId4" Type="http://schemas.openxmlformats.org/officeDocument/2006/relationships/image" Target="../media/image-26-4.jpg"/><Relationship Id="rId5" Type="http://schemas.openxmlformats.org/officeDocument/2006/relationships/image" Target="../media/image-26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image" Target="../media/image-27-3.jpg"/><Relationship Id="rId4" Type="http://schemas.openxmlformats.org/officeDocument/2006/relationships/image" Target="../media/image-27-4.jpg"/><Relationship Id="rId5" Type="http://schemas.openxmlformats.org/officeDocument/2006/relationships/image" Target="../media/image-27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image" Target="../media/image-28-3.jpg"/><Relationship Id="rId4" Type="http://schemas.openxmlformats.org/officeDocument/2006/relationships/image" Target="../media/image-28-4.jpg"/><Relationship Id="rId5" Type="http://schemas.openxmlformats.org/officeDocument/2006/relationships/image" Target="../media/image-28-5.jpg"/><Relationship Id="rId6" Type="http://schemas.openxmlformats.org/officeDocument/2006/relationships/image" Target="../media/image-28-6.jpg"/><Relationship Id="rId7" Type="http://schemas.openxmlformats.org/officeDocument/2006/relationships/image" Target="../media/image-2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angoiweb/ca835eb4-1670-5fc1-a29a-2fc77598fea3/scratchpad/deck_img/masc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1133856"/>
            <a:ext cx="1298448" cy="10607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97280" y="2286000"/>
            <a:ext cx="9994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MANGO AI</a:t>
            </a:r>
            <a:endParaRPr lang="en-US" sz="5600" dirty="0"/>
          </a:p>
        </p:txBody>
      </p:sp>
      <p:sp>
        <p:nvSpPr>
          <p:cNvPr id="5" name="Text 1"/>
          <p:cNvSpPr/>
          <p:nvPr/>
        </p:nvSpPr>
        <p:spPr>
          <a:xfrm>
            <a:off x="1097280" y="3200400"/>
            <a:ext cx="9994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AI로 생각하고 결정하는 영어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1097280" y="3694176"/>
            <a:ext cx="9994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 재미가 의지를 이깁니다 »</a:t>
            </a:r>
            <a:endParaRPr lang="en-US" sz="3000" dirty="0"/>
          </a:p>
        </p:txBody>
      </p:sp>
      <p:sp>
        <p:nvSpPr>
          <p:cNvPr id="7" name="Shape 3"/>
          <p:cNvSpPr/>
          <p:nvPr/>
        </p:nvSpPr>
        <p:spPr>
          <a:xfrm>
            <a:off x="2487168" y="4626864"/>
            <a:ext cx="1682496" cy="38404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487168" y="4626864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1:1 · 1:2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4315968" y="4626864"/>
            <a:ext cx="1682496" cy="38404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315968" y="4626864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14가지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144768" y="4626864"/>
            <a:ext cx="1682496" cy="38404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144768" y="4626864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학습게임 21종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7973568" y="4626864"/>
            <a:ext cx="1682496" cy="38404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973568" y="4626864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· 직영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1097280" y="5943600"/>
            <a:ext cx="9994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test.mangoi.co.kr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45775" y="384048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45775" y="38404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72768"/>
            <a:ext cx="2112264" cy="4114800"/>
          </a:xfrm>
          <a:prstGeom prst="roundRect">
            <a:avLst>
              <a:gd name="adj" fmla="val 432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786384" y="2212848"/>
            <a:ext cx="1673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망고아이는 무엇인가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49808" y="2798064"/>
            <a:ext cx="1746504" cy="1243584"/>
          </a:xfrm>
          <a:prstGeom prst="roundRect">
            <a:avLst>
              <a:gd name="adj" fmla="val 588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1" name="Image 1" descr="/tmp/claude-0/-home-user-mangoiweb/ca835eb4-1670-5fc1-a29a-2fc77598fea3/scratchpad/deck_img/home.jpg">    </p:cNvPr>
          <p:cNvPicPr>
            <a:picLocks noChangeAspect="1"/>
          </p:cNvPicPr>
          <p:nvPr/>
        </p:nvPicPr>
        <p:blipFill>
          <a:blip r:embed="rId2"/>
          <a:srcRect l="5395" r="-5395" t="0" b="0"/>
          <a:stretch/>
        </p:blipFill>
        <p:spPr>
          <a:xfrm>
            <a:off x="786384" y="2834640"/>
            <a:ext cx="1673352" cy="117043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49808" y="4114800"/>
            <a:ext cx="1746504" cy="1243584"/>
          </a:xfrm>
          <a:prstGeom prst="roundRect">
            <a:avLst>
              <a:gd name="adj" fmla="val 588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3" name="Image 2" descr="/tmp/claude-0/-home-user-mangoiweb/ca835eb4-1670-5fc1-a29a-2fc77598fea3/scratchpad/deck_img/allmenu.jpg">    </p:cNvPr>
          <p:cNvPicPr>
            <a:picLocks noChangeAspect="1"/>
          </p:cNvPicPr>
          <p:nvPr/>
        </p:nvPicPr>
        <p:blipFill>
          <a:blip r:embed="rId3"/>
          <a:srcRect l="5395" r="-5395" t="0" b="0"/>
          <a:stretch/>
        </p:blipFill>
        <p:spPr>
          <a:xfrm>
            <a:off x="786384" y="4151376"/>
            <a:ext cx="1673352" cy="1170432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2807208" y="1572768"/>
            <a:ext cx="2112264" cy="4114800"/>
          </a:xfrm>
          <a:prstGeom prst="roundRect">
            <a:avLst>
              <a:gd name="adj" fmla="val 432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3026664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16" name="Text 11"/>
          <p:cNvSpPr/>
          <p:nvPr/>
        </p:nvSpPr>
        <p:spPr>
          <a:xfrm>
            <a:off x="3026664" y="2212848"/>
            <a:ext cx="1673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이론적 배경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2990088" y="2798064"/>
            <a:ext cx="1746504" cy="1243584"/>
          </a:xfrm>
          <a:prstGeom prst="roundRect">
            <a:avLst>
              <a:gd name="adj" fmla="val 588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8" name="Image 3" descr="/tmp/claude-0/-home-user-mangoiweb/ca835eb4-1670-5fc1-a29a-2fc77598fea3/scratchpad/deck_img/d_zpd.png">    </p:cNvPr>
          <p:cNvPicPr>
            <a:picLocks noChangeAspect="1"/>
          </p:cNvPicPr>
          <p:nvPr/>
        </p:nvPicPr>
        <p:blipFill>
          <a:blip r:embed="rId4"/>
          <a:srcRect l="0" r="0" t="4522" b="-4522"/>
          <a:stretch/>
        </p:blipFill>
        <p:spPr>
          <a:xfrm>
            <a:off x="3026664" y="2834640"/>
            <a:ext cx="1673352" cy="1170432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990088" y="4114800"/>
            <a:ext cx="1746504" cy="1243584"/>
          </a:xfrm>
          <a:prstGeom prst="roundRect">
            <a:avLst>
              <a:gd name="adj" fmla="val 588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0" name="Image 4" descr="/tmp/claude-0/-home-user-mangoiweb/ca835eb4-1670-5fc1-a29a-2fc77598fea3/scratchpad/deck_img/d_forget.png">    </p:cNvPr>
          <p:cNvPicPr>
            <a:picLocks noChangeAspect="1"/>
          </p:cNvPicPr>
          <p:nvPr/>
        </p:nvPicPr>
        <p:blipFill>
          <a:blip r:embed="rId5"/>
          <a:srcRect l="12771" r="-12771" t="0" b="0"/>
          <a:stretch/>
        </p:blipFill>
        <p:spPr>
          <a:xfrm>
            <a:off x="3026664" y="4151376"/>
            <a:ext cx="1673352" cy="1170432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5047488" y="1572768"/>
            <a:ext cx="2112264" cy="4114800"/>
          </a:xfrm>
          <a:prstGeom prst="roundRect">
            <a:avLst>
              <a:gd name="adj" fmla="val 432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2" name="Text 15"/>
          <p:cNvSpPr/>
          <p:nvPr/>
        </p:nvSpPr>
        <p:spPr>
          <a:xfrm>
            <a:off x="5266944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23" name="Text 16"/>
          <p:cNvSpPr/>
          <p:nvPr/>
        </p:nvSpPr>
        <p:spPr>
          <a:xfrm>
            <a:off x="5266944" y="2212848"/>
            <a:ext cx="1673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특징과 장점</a:t>
            </a:r>
            <a:endParaRPr lang="en-US" sz="1400" dirty="0"/>
          </a:p>
        </p:txBody>
      </p:sp>
      <p:sp>
        <p:nvSpPr>
          <p:cNvPr id="24" name="Shape 17"/>
          <p:cNvSpPr/>
          <p:nvPr/>
        </p:nvSpPr>
        <p:spPr>
          <a:xfrm>
            <a:off x="5230368" y="2798064"/>
            <a:ext cx="1746504" cy="1243584"/>
          </a:xfrm>
          <a:prstGeom prst="roundRect">
            <a:avLst>
              <a:gd name="adj" fmla="val 588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5" name="Image 5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6"/>
          <a:srcRect l="5926" r="-5926" t="0" b="0"/>
          <a:stretch/>
        </p:blipFill>
        <p:spPr>
          <a:xfrm>
            <a:off x="5266944" y="2834640"/>
            <a:ext cx="1673352" cy="1170432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230368" y="4114800"/>
            <a:ext cx="1746504" cy="1243584"/>
          </a:xfrm>
          <a:prstGeom prst="roundRect">
            <a:avLst>
              <a:gd name="adj" fmla="val 588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7" name="Image 6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7"/>
          <a:srcRect l="5926" r="-5926" t="0" b="0"/>
          <a:stretch/>
        </p:blipFill>
        <p:spPr>
          <a:xfrm>
            <a:off x="5266944" y="4151376"/>
            <a:ext cx="1673352" cy="1170432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7287768" y="1572768"/>
            <a:ext cx="2112264" cy="4114800"/>
          </a:xfrm>
          <a:prstGeom prst="roundRect">
            <a:avLst>
              <a:gd name="adj" fmla="val 432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9" name="Text 20"/>
          <p:cNvSpPr/>
          <p:nvPr/>
        </p:nvSpPr>
        <p:spPr>
          <a:xfrm>
            <a:off x="7507224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30" name="Text 21"/>
          <p:cNvSpPr/>
          <p:nvPr/>
        </p:nvSpPr>
        <p:spPr>
          <a:xfrm>
            <a:off x="7507224" y="2212848"/>
            <a:ext cx="1673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사용방법</a:t>
            </a:r>
            <a:endParaRPr lang="en-US" sz="1400" dirty="0"/>
          </a:p>
        </p:txBody>
      </p:sp>
      <p:sp>
        <p:nvSpPr>
          <p:cNvPr id="31" name="Shape 22"/>
          <p:cNvSpPr/>
          <p:nvPr/>
        </p:nvSpPr>
        <p:spPr>
          <a:xfrm>
            <a:off x="7470648" y="2798064"/>
            <a:ext cx="1746504" cy="1243584"/>
          </a:xfrm>
          <a:prstGeom prst="roundRect">
            <a:avLst>
              <a:gd name="adj" fmla="val 588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2" name="Image 7" descr="/tmp/claude-0/-home-user-mangoiweb/ca835eb4-1670-5fc1-a29a-2fc77598fea3/scratchpad/deck_img/booking.jpg">    </p:cNvPr>
          <p:cNvPicPr>
            <a:picLocks noChangeAspect="1"/>
          </p:cNvPicPr>
          <p:nvPr/>
        </p:nvPicPr>
        <p:blipFill>
          <a:blip r:embed="rId8"/>
          <a:srcRect l="5926" r="-5926" t="0" b="0"/>
          <a:stretch/>
        </p:blipFill>
        <p:spPr>
          <a:xfrm>
            <a:off x="7507224" y="2834640"/>
            <a:ext cx="1673352" cy="1170432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7470648" y="4114800"/>
            <a:ext cx="1746504" cy="1243584"/>
          </a:xfrm>
          <a:prstGeom prst="roundRect">
            <a:avLst>
              <a:gd name="adj" fmla="val 588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4" name="Image 8" descr="/tmp/claude-0/-home-user-mangoiweb/ca835eb4-1670-5fc1-a29a-2fc77598fea3/scratchpad/deck_img/precheck.jpg">    </p:cNvPr>
          <p:cNvPicPr>
            <a:picLocks noChangeAspect="1"/>
          </p:cNvPicPr>
          <p:nvPr/>
        </p:nvPicPr>
        <p:blipFill>
          <a:blip r:embed="rId9"/>
          <a:srcRect l="5926" r="-5926" t="0" b="0"/>
          <a:stretch/>
        </p:blipFill>
        <p:spPr>
          <a:xfrm>
            <a:off x="7507224" y="4151376"/>
            <a:ext cx="1673352" cy="1170432"/>
          </a:xfrm>
          <a:prstGeom prst="rect">
            <a:avLst/>
          </a:prstGeom>
        </p:spPr>
      </p:pic>
      <p:sp>
        <p:nvSpPr>
          <p:cNvPr id="35" name="Shape 24"/>
          <p:cNvSpPr/>
          <p:nvPr/>
        </p:nvSpPr>
        <p:spPr>
          <a:xfrm>
            <a:off x="9528048" y="1572768"/>
            <a:ext cx="2112264" cy="4114800"/>
          </a:xfrm>
          <a:prstGeom prst="roundRect">
            <a:avLst>
              <a:gd name="adj" fmla="val 432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6" name="Text 25"/>
          <p:cNvSpPr/>
          <p:nvPr/>
        </p:nvSpPr>
        <p:spPr>
          <a:xfrm>
            <a:off x="9747504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600" dirty="0"/>
          </a:p>
        </p:txBody>
      </p:sp>
      <p:sp>
        <p:nvSpPr>
          <p:cNvPr id="37" name="Text 26"/>
          <p:cNvSpPr/>
          <p:nvPr/>
        </p:nvSpPr>
        <p:spPr>
          <a:xfrm>
            <a:off x="9747504" y="2212848"/>
            <a:ext cx="1673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향후 발전계획</a:t>
            </a:r>
            <a:endParaRPr lang="en-US" sz="1400" dirty="0"/>
          </a:p>
        </p:txBody>
      </p:sp>
      <p:sp>
        <p:nvSpPr>
          <p:cNvPr id="38" name="Shape 27"/>
          <p:cNvSpPr/>
          <p:nvPr/>
        </p:nvSpPr>
        <p:spPr>
          <a:xfrm>
            <a:off x="9710928" y="2798064"/>
            <a:ext cx="1746504" cy="1243584"/>
          </a:xfrm>
          <a:prstGeom prst="roundRect">
            <a:avLst>
              <a:gd name="adj" fmla="val 588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9" name="Image 9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10"/>
          <a:srcRect l="5926" r="-5926" t="0" b="0"/>
          <a:stretch/>
        </p:blipFill>
        <p:spPr>
          <a:xfrm>
            <a:off x="9747504" y="2834640"/>
            <a:ext cx="1673352" cy="1170432"/>
          </a:xfrm>
          <a:prstGeom prst="rect">
            <a:avLst/>
          </a:prstGeom>
        </p:spPr>
      </p:pic>
      <p:sp>
        <p:nvSpPr>
          <p:cNvPr id="40" name="Shape 28"/>
          <p:cNvSpPr/>
          <p:nvPr/>
        </p:nvSpPr>
        <p:spPr>
          <a:xfrm>
            <a:off x="9710928" y="4114800"/>
            <a:ext cx="1746504" cy="1243584"/>
          </a:xfrm>
          <a:prstGeom prst="roundRect">
            <a:avLst>
              <a:gd name="adj" fmla="val 588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1" name="Image 10" descr="/tmp/claude-0/-home-user-mangoiweb/ca835eb4-1670-5fc1-a29a-2fc77598fea3/scratchpad/deck_img/spacemon.jpg">    </p:cNvPr>
          <p:cNvPicPr>
            <a:picLocks noChangeAspect="1"/>
          </p:cNvPicPr>
          <p:nvPr/>
        </p:nvPicPr>
        <p:blipFill>
          <a:blip r:embed="rId11"/>
          <a:srcRect l="5926" r="-5926" t="0" b="0"/>
          <a:stretch/>
        </p:blipFill>
        <p:spPr>
          <a:xfrm>
            <a:off x="9747504" y="4151376"/>
            <a:ext cx="1673352" cy="1170432"/>
          </a:xfrm>
          <a:prstGeom prst="rect">
            <a:avLst/>
          </a:prstGeom>
        </p:spPr>
      </p:pic>
      <p:sp>
        <p:nvSpPr>
          <p:cNvPr id="42" name="Text 29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79431" y="384048"/>
            <a:ext cx="154533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79431" y="38404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Highlights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수업만 파는 화상영어가 아닙니다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36192"/>
            <a:ext cx="1773936" cy="1060704"/>
          </a:xfrm>
          <a:prstGeom prst="roundRect">
            <a:avLst>
              <a:gd name="adj" fmla="val 862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94944" y="164592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14가지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94944" y="2103120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전 과정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423160" y="1536192"/>
            <a:ext cx="1773936" cy="1060704"/>
          </a:xfrm>
          <a:prstGeom prst="roundRect">
            <a:avLst>
              <a:gd name="adj" fmla="val 862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551176" y="164592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2551176" y="2103120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걸 상대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279392" y="1536192"/>
            <a:ext cx="1773936" cy="1060704"/>
          </a:xfrm>
          <a:prstGeom prst="roundRect">
            <a:avLst>
              <a:gd name="adj" fmla="val 862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07408" y="164592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리포트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4407408" y="2103120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· 월간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135624" y="1536192"/>
            <a:ext cx="1773936" cy="1060704"/>
          </a:xfrm>
          <a:prstGeom prst="roundRect">
            <a:avLst>
              <a:gd name="adj" fmla="val 862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63640" y="164592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21종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263640" y="2103120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7991856" y="1536192"/>
            <a:ext cx="1773936" cy="1060704"/>
          </a:xfrm>
          <a:prstGeom prst="roundRect">
            <a:avLst>
              <a:gd name="adj" fmla="val 862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19872" y="164592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/ 1:2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8119872" y="2103120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전담 원어민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848088" y="1536192"/>
            <a:ext cx="1773936" cy="1060704"/>
          </a:xfrm>
          <a:prstGeom prst="roundRect">
            <a:avLst>
              <a:gd name="adj" fmla="val 862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976104" y="164592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· 직영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9976104" y="2103120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 최초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30352" y="2834640"/>
            <a:ext cx="3547872" cy="1426464"/>
          </a:xfrm>
          <a:prstGeom prst="roundRect">
            <a:avLst>
              <a:gd name="adj" fmla="val 512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6" name="Image 1" descr="/tmp/claude-0/-home-user-mangoiweb/ca835eb4-1670-5fc1-a29a-2fc77598fea3/scratchpad/deck_img/home.jpg">    </p:cNvPr>
          <p:cNvPicPr>
            <a:picLocks noChangeAspect="1"/>
          </p:cNvPicPr>
          <p:nvPr/>
        </p:nvPicPr>
        <p:blipFill>
          <a:blip r:embed="rId2"/>
          <a:srcRect l="0" r="0" t="31050" b="-31050"/>
          <a:stretch/>
        </p:blipFill>
        <p:spPr>
          <a:xfrm>
            <a:off x="566928" y="2871216"/>
            <a:ext cx="3474720" cy="135331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566928" y="43159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242816" y="2834640"/>
            <a:ext cx="3547872" cy="1426464"/>
          </a:xfrm>
          <a:prstGeom prst="roundRect">
            <a:avLst>
              <a:gd name="adj" fmla="val 512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9" name="Image 2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3"/>
          <a:srcRect l="0" r="0" t="30279" b="-30279"/>
          <a:stretch/>
        </p:blipFill>
        <p:spPr>
          <a:xfrm>
            <a:off x="4279392" y="2871216"/>
            <a:ext cx="3474720" cy="1353312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4279392" y="43159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7955280" y="2834640"/>
            <a:ext cx="3547872" cy="1426464"/>
          </a:xfrm>
          <a:prstGeom prst="roundRect">
            <a:avLst>
              <a:gd name="adj" fmla="val 512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2" name="Image 3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4"/>
          <a:srcRect l="0" r="0" t="30279" b="-30279"/>
          <a:stretch/>
        </p:blipFill>
        <p:spPr>
          <a:xfrm>
            <a:off x="7991856" y="2871216"/>
            <a:ext cx="3474720" cy="1353312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7991856" y="43159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</a:t>
            </a:r>
            <a:endParaRPr lang="en-US" sz="1000" dirty="0"/>
          </a:p>
        </p:txBody>
      </p:sp>
      <p:sp>
        <p:nvSpPr>
          <p:cNvPr id="34" name="Shape 28"/>
          <p:cNvSpPr/>
          <p:nvPr/>
        </p:nvSpPr>
        <p:spPr>
          <a:xfrm>
            <a:off x="530352" y="4608576"/>
            <a:ext cx="3547872" cy="1426464"/>
          </a:xfrm>
          <a:prstGeom prst="roundRect">
            <a:avLst>
              <a:gd name="adj" fmla="val 512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5" name="Image 4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5"/>
          <a:srcRect l="0" r="0" t="31050" b="-31050"/>
          <a:stretch/>
        </p:blipFill>
        <p:spPr>
          <a:xfrm>
            <a:off x="566928" y="4645152"/>
            <a:ext cx="3474720" cy="1353312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566928" y="608990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</a:t>
            </a:r>
            <a:endParaRPr lang="en-US" sz="1000" dirty="0"/>
          </a:p>
        </p:txBody>
      </p:sp>
      <p:sp>
        <p:nvSpPr>
          <p:cNvPr id="37" name="Shape 30"/>
          <p:cNvSpPr/>
          <p:nvPr/>
        </p:nvSpPr>
        <p:spPr>
          <a:xfrm>
            <a:off x="4242816" y="4608576"/>
            <a:ext cx="3547872" cy="1426464"/>
          </a:xfrm>
          <a:prstGeom prst="roundRect">
            <a:avLst>
              <a:gd name="adj" fmla="val 512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8" name="Image 5" descr="/tmp/claude-0/-home-user-mangoiweb/ca835eb4-1670-5fc1-a29a-2fc77598fea3/scratchpad/deck_img/vocab.jpg">    </p:cNvPr>
          <p:cNvPicPr>
            <a:picLocks noChangeAspect="1"/>
          </p:cNvPicPr>
          <p:nvPr/>
        </p:nvPicPr>
        <p:blipFill>
          <a:blip r:embed="rId6"/>
          <a:srcRect l="0" r="0" t="30279" b="-30279"/>
          <a:stretch/>
        </p:blipFill>
        <p:spPr>
          <a:xfrm>
            <a:off x="4279392" y="4645152"/>
            <a:ext cx="3474720" cy="1353312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4279392" y="608990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단어장</a:t>
            </a:r>
            <a:endParaRPr lang="en-US" sz="1000" dirty="0"/>
          </a:p>
        </p:txBody>
      </p:sp>
      <p:sp>
        <p:nvSpPr>
          <p:cNvPr id="40" name="Shape 32"/>
          <p:cNvSpPr/>
          <p:nvPr/>
        </p:nvSpPr>
        <p:spPr>
          <a:xfrm>
            <a:off x="7955280" y="4608576"/>
            <a:ext cx="3547872" cy="1426464"/>
          </a:xfrm>
          <a:prstGeom prst="roundRect">
            <a:avLst>
              <a:gd name="adj" fmla="val 512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1" name="Image 6" descr="/tmp/claude-0/-home-user-mangoiweb/ca835eb4-1670-5fc1-a29a-2fc77598fea3/scratchpad/deck_img/admin.jpg">    </p:cNvPr>
          <p:cNvPicPr>
            <a:picLocks noChangeAspect="1"/>
          </p:cNvPicPr>
          <p:nvPr/>
        </p:nvPicPr>
        <p:blipFill>
          <a:blip r:embed="rId7"/>
          <a:srcRect l="0" r="0" t="31991" b="-31991"/>
          <a:stretch/>
        </p:blipFill>
        <p:spPr>
          <a:xfrm>
            <a:off x="7991856" y="4645152"/>
            <a:ext cx="3474720" cy="1353312"/>
          </a:xfrm>
          <a:prstGeom prst="rect">
            <a:avLst/>
          </a:prstGeom>
        </p:spPr>
      </p:pic>
      <p:sp>
        <p:nvSpPr>
          <p:cNvPr id="42" name="Text 33"/>
          <p:cNvSpPr/>
          <p:nvPr/>
        </p:nvSpPr>
        <p:spPr>
          <a:xfrm>
            <a:off x="7991856" y="608990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콘솔</a:t>
            </a:r>
            <a:endParaRPr lang="en-US" sz="1000" dirty="0"/>
          </a:p>
        </p:txBody>
      </p:sp>
      <p:sp>
        <p:nvSpPr>
          <p:cNvPr id="43" name="Text 34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PROBLEM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73207" y="38404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73207" y="38404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밖의 시간이 비어 있습니다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72768"/>
            <a:ext cx="4846320" cy="3017520"/>
          </a:xfrm>
          <a:prstGeom prst="roundRect">
            <a:avLst>
              <a:gd name="adj" fmla="val 3030"/>
            </a:avLst>
          </a:prstGeom>
          <a:solidFill>
            <a:srgbClr val="1A1230"/>
          </a:solidFill>
          <a:ln w="12700">
            <a:solidFill>
              <a:srgbClr val="4A357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32688" y="182880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2회 × 25분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32688" y="2231136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0.5%</a:t>
            </a:r>
            <a:endParaRPr lang="en-US" sz="8000" dirty="0"/>
          </a:p>
        </p:txBody>
      </p:sp>
      <p:sp>
        <p:nvSpPr>
          <p:cNvPr id="10" name="Text 7"/>
          <p:cNvSpPr/>
          <p:nvPr/>
        </p:nvSpPr>
        <p:spPr>
          <a:xfrm>
            <a:off x="932688" y="3529584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 43,000분 중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영어를 쓰는 시간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760720" y="1572768"/>
            <a:ext cx="5870448" cy="914400"/>
          </a:xfrm>
          <a:prstGeom prst="roundRect">
            <a:avLst>
              <a:gd name="adj" fmla="val 1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035040" y="1837944"/>
            <a:ext cx="384048" cy="384048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35040" y="1837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0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583680" y="1572768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끝나면 학습도 끝난다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760720" y="2633472"/>
            <a:ext cx="5870448" cy="914400"/>
          </a:xfrm>
          <a:prstGeom prst="roundRect">
            <a:avLst>
              <a:gd name="adj" fmla="val 1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035040" y="2898648"/>
            <a:ext cx="384048" cy="384048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035040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0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583680" y="2633472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 연습량이 부족하다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5760720" y="3694176"/>
            <a:ext cx="5870448" cy="914400"/>
          </a:xfrm>
          <a:prstGeom prst="roundRect">
            <a:avLst>
              <a:gd name="adj" fmla="val 1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35040" y="3959352"/>
            <a:ext cx="384048" cy="384048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03504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0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583680" y="3694176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학부모는 상태를 알 수 없다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66928" y="4791456"/>
            <a:ext cx="11055096" cy="896112"/>
          </a:xfrm>
          <a:prstGeom prst="roundRect">
            <a:avLst>
              <a:gd name="adj" fmla="val 10204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" y="4791456"/>
            <a:ext cx="1105509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빈 시간을 A.I가 채웁니다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OUR ANSWER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45775" y="384048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45775" y="38404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수업은 </a:t>
            </a:r>
            <a:pPr indent="0" marL="0">
              <a:buNone/>
            </a:pPr>
            <a:r>
              <a:rPr lang="en-US" sz="32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나머지 시간은 </a:t>
            </a:r>
            <a:pPr indent="0" marL="0">
              <a:buNone/>
            </a:pPr>
            <a:r>
              <a:rPr lang="en-US" sz="3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66928" y="1645920"/>
            <a:ext cx="3529584" cy="4261104"/>
          </a:xfrm>
          <a:prstGeom prst="roundRect">
            <a:avLst>
              <a:gd name="adj" fmla="val 259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28800"/>
            <a:ext cx="2980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41248" y="2103120"/>
            <a:ext cx="2980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전담 교사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804672" y="2542032"/>
            <a:ext cx="3054096" cy="1810512"/>
          </a:xfrm>
          <a:prstGeom prst="roundRect">
            <a:avLst>
              <a:gd name="adj" fmla="val 40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1" name="Image 1" descr="/tmp/claude-0/-home-user-mangoiweb/ca835eb4-1670-5fc1-a29a-2fc77598fea3/scratchpad/deck_img/curriculum.jpg">    </p:cNvPr>
          <p:cNvPicPr>
            <a:picLocks noChangeAspect="1"/>
          </p:cNvPicPr>
          <p:nvPr/>
        </p:nvPicPr>
        <p:blipFill>
          <a:blip r:embed="rId2"/>
          <a:srcRect l="0" r="0" t="4162" b="-4162"/>
          <a:stretch/>
        </p:blipFill>
        <p:spPr>
          <a:xfrm>
            <a:off x="841248" y="2578608"/>
            <a:ext cx="2980944" cy="173736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859536" y="4562856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097280" y="44805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· 1:2 수업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59536" y="4946904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97280" y="486460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교정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59536" y="5330952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097280" y="52486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수업일지 · 평가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361688" y="1645920"/>
            <a:ext cx="3529584" cy="4261104"/>
          </a:xfrm>
          <a:prstGeom prst="roundRect">
            <a:avLst>
              <a:gd name="adj" fmla="val 2591"/>
            </a:avLst>
          </a:prstGeom>
          <a:solidFill>
            <a:srgbClr val="1B2036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636008" y="1828800"/>
            <a:ext cx="2980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A.I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4636008" y="2103120"/>
            <a:ext cx="2980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학습관리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4599432" y="2542032"/>
            <a:ext cx="3054096" cy="1810512"/>
          </a:xfrm>
          <a:prstGeom prst="roundRect">
            <a:avLst>
              <a:gd name="adj" fmla="val 40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2" name="Image 2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3"/>
          <a:srcRect l="0" r="0" t="3647" b="-3647"/>
          <a:stretch/>
        </p:blipFill>
        <p:spPr>
          <a:xfrm>
            <a:off x="4636008" y="2578608"/>
            <a:ext cx="2980944" cy="173736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4654296" y="4562856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4892040" y="44805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웜업 · 발음코치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4654296" y="4946904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892040" y="486460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 대화 · 첨삭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4654296" y="5330952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4892040" y="52486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퀴즈 · 게임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8156448" y="1645920"/>
            <a:ext cx="3529584" cy="4261104"/>
          </a:xfrm>
          <a:prstGeom prst="roundRect">
            <a:avLst>
              <a:gd name="adj" fmla="val 259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8430768" y="1828800"/>
            <a:ext cx="2980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100" dirty="0"/>
          </a:p>
        </p:txBody>
      </p:sp>
      <p:sp>
        <p:nvSpPr>
          <p:cNvPr id="31" name="Text 26"/>
          <p:cNvSpPr/>
          <p:nvPr/>
        </p:nvSpPr>
        <p:spPr>
          <a:xfrm>
            <a:off x="8430768" y="2103120"/>
            <a:ext cx="2980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데이터와 소통</a:t>
            </a:r>
            <a:endParaRPr lang="en-US" sz="1900" dirty="0"/>
          </a:p>
        </p:txBody>
      </p:sp>
      <p:sp>
        <p:nvSpPr>
          <p:cNvPr id="32" name="Shape 27"/>
          <p:cNvSpPr/>
          <p:nvPr/>
        </p:nvSpPr>
        <p:spPr>
          <a:xfrm>
            <a:off x="8394192" y="2542032"/>
            <a:ext cx="3054096" cy="1810512"/>
          </a:xfrm>
          <a:prstGeom prst="roundRect">
            <a:avLst>
              <a:gd name="adj" fmla="val 40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3" name="Image 3" descr="/tmp/claude-0/-home-user-mangoiweb/ca835eb4-1670-5fc1-a29a-2fc77598fea3/scratchpad/deck_img/parent.jpg">    </p:cNvPr>
          <p:cNvPicPr>
            <a:picLocks noChangeAspect="1"/>
          </p:cNvPicPr>
          <p:nvPr/>
        </p:nvPicPr>
        <p:blipFill>
          <a:blip r:embed="rId4"/>
          <a:srcRect l="0" r="0" t="5134" b="-5134"/>
          <a:stretch/>
        </p:blipFill>
        <p:spPr>
          <a:xfrm>
            <a:off x="8430768" y="2578608"/>
            <a:ext cx="2980944" cy="1737360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8449056" y="4562856"/>
            <a:ext cx="128016" cy="128016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8686800" y="44805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 + AI 기록 연동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8449056" y="4946904"/>
            <a:ext cx="128016" cy="128016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8686800" y="486460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리포트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8449056" y="5330952"/>
            <a:ext cx="128016" cy="128016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8686800" y="52486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 전달</a:t>
            </a:r>
            <a:endParaRPr lang="en-US" sz="1200" dirty="0"/>
          </a:p>
        </p:txBody>
      </p:sp>
      <p:sp>
        <p:nvSpPr>
          <p:cNvPr id="40" name="Text 34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MAP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79431" y="384048"/>
            <a:ext cx="154533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79431" y="38404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AI Features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단계마다 담당 A.I가 있습니다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2079346" cy="2432304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719072"/>
            <a:ext cx="17135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전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68096" y="2203704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9264" y="2121408"/>
            <a:ext cx="1530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68096" y="2606040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9264" y="2523744"/>
            <a:ext cx="1530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진단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810866" y="1554480"/>
            <a:ext cx="2079346" cy="2432304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993746" y="1719072"/>
            <a:ext cx="17135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012034" y="2203704"/>
            <a:ext cx="118872" cy="11887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213202" y="2121408"/>
            <a:ext cx="1530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평가서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012034" y="2606040"/>
            <a:ext cx="118872" cy="11887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13202" y="2523744"/>
            <a:ext cx="1530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A.I 리포트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54803" y="1554480"/>
            <a:ext cx="2079346" cy="2432304"/>
          </a:xfrm>
          <a:prstGeom prst="roundRect">
            <a:avLst>
              <a:gd name="adj" fmla="val 4398"/>
            </a:avLst>
          </a:prstGeom>
          <a:solidFill>
            <a:srgbClr val="1B2036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237683" y="1719072"/>
            <a:ext cx="17135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255971" y="2203704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457139" y="2121408"/>
            <a:ext cx="1530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255971" y="2606040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457139" y="2523744"/>
            <a:ext cx="1530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255971" y="3008376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457139" y="2926080"/>
            <a:ext cx="1530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255971" y="3410712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457139" y="3328416"/>
            <a:ext cx="1530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판단력 훈련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7298741" y="1554480"/>
            <a:ext cx="2079346" cy="2432304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481621" y="1719072"/>
            <a:ext cx="17135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예복습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7499909" y="2203704"/>
            <a:ext cx="118872" cy="11887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701077" y="2121408"/>
            <a:ext cx="1530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단어장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7499909" y="2606040"/>
            <a:ext cx="118872" cy="11887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701077" y="2523744"/>
            <a:ext cx="1530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단어 퀴즈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499909" y="3008376"/>
            <a:ext cx="118872" cy="11887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701077" y="2926080"/>
            <a:ext cx="1530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 퀴즈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9542678" y="1554480"/>
            <a:ext cx="2079346" cy="2432304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725558" y="1719072"/>
            <a:ext cx="17135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묻고 찾기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9743846" y="2203704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9945014" y="2121408"/>
            <a:ext cx="1530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상담사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9743846" y="2606040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9945014" y="2523744"/>
            <a:ext cx="1530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통합검색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9743846" y="3008376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945014" y="2926080"/>
            <a:ext cx="1530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운영비서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530352" y="4187952"/>
            <a:ext cx="1810512" cy="1161288"/>
          </a:xfrm>
          <a:prstGeom prst="roundRect">
            <a:avLst>
              <a:gd name="adj" fmla="val 6299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6" name="Image 1" descr="/tmp/claude-0/-home-user-mangoiweb/ca835eb4-1670-5fc1-a29a-2fc77598fea3/scratchpad/deck_img/warmup.jpg">    </p:cNvPr>
          <p:cNvPicPr>
            <a:picLocks noChangeAspect="1"/>
          </p:cNvPicPr>
          <p:nvPr/>
        </p:nvPicPr>
        <p:blipFill>
          <a:blip r:embed="rId2"/>
          <a:srcRect l="79" r="-79" t="0" b="0"/>
          <a:stretch/>
        </p:blipFill>
        <p:spPr>
          <a:xfrm>
            <a:off x="566928" y="4224528"/>
            <a:ext cx="1737360" cy="1088136"/>
          </a:xfrm>
          <a:prstGeom prst="rect">
            <a:avLst/>
          </a:prstGeom>
        </p:spPr>
      </p:pic>
      <p:sp>
        <p:nvSpPr>
          <p:cNvPr id="47" name="Text 43"/>
          <p:cNvSpPr/>
          <p:nvPr/>
        </p:nvSpPr>
        <p:spPr>
          <a:xfrm>
            <a:off x="566928" y="54041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2386584" y="4187952"/>
            <a:ext cx="1810512" cy="1161288"/>
          </a:xfrm>
          <a:prstGeom prst="roundRect">
            <a:avLst>
              <a:gd name="adj" fmla="val 6299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9" name="Image 2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3"/>
          <a:srcRect l="79" r="-79" t="0" b="0"/>
          <a:stretch/>
        </p:blipFill>
        <p:spPr>
          <a:xfrm>
            <a:off x="2423160" y="4224528"/>
            <a:ext cx="1737360" cy="1088136"/>
          </a:xfrm>
          <a:prstGeom prst="rect">
            <a:avLst/>
          </a:prstGeom>
        </p:spPr>
      </p:pic>
      <p:sp>
        <p:nvSpPr>
          <p:cNvPr id="50" name="Text 45"/>
          <p:cNvSpPr/>
          <p:nvPr/>
        </p:nvSpPr>
        <p:spPr>
          <a:xfrm>
            <a:off x="2423160" y="54041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</a:t>
            </a:r>
            <a:endParaRPr lang="en-US" sz="1000" dirty="0"/>
          </a:p>
        </p:txBody>
      </p:sp>
      <p:sp>
        <p:nvSpPr>
          <p:cNvPr id="51" name="Shape 46"/>
          <p:cNvSpPr/>
          <p:nvPr/>
        </p:nvSpPr>
        <p:spPr>
          <a:xfrm>
            <a:off x="4242816" y="4187952"/>
            <a:ext cx="1810512" cy="1161288"/>
          </a:xfrm>
          <a:prstGeom prst="roundRect">
            <a:avLst>
              <a:gd name="adj" fmla="val 6299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2" name="Image 3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4"/>
          <a:srcRect l="0" r="0" t="401" b="-401"/>
          <a:stretch/>
        </p:blipFill>
        <p:spPr>
          <a:xfrm>
            <a:off x="4279392" y="4224528"/>
            <a:ext cx="1737360" cy="1088136"/>
          </a:xfrm>
          <a:prstGeom prst="rect">
            <a:avLst/>
          </a:prstGeom>
        </p:spPr>
      </p:pic>
      <p:sp>
        <p:nvSpPr>
          <p:cNvPr id="53" name="Text 47"/>
          <p:cNvSpPr/>
          <p:nvPr/>
        </p:nvSpPr>
        <p:spPr>
          <a:xfrm>
            <a:off x="4279392" y="54041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</a:t>
            </a:r>
            <a:endParaRPr lang="en-US" sz="1000" dirty="0"/>
          </a:p>
        </p:txBody>
      </p:sp>
      <p:sp>
        <p:nvSpPr>
          <p:cNvPr id="54" name="Shape 48"/>
          <p:cNvSpPr/>
          <p:nvPr/>
        </p:nvSpPr>
        <p:spPr>
          <a:xfrm>
            <a:off x="6099048" y="4187952"/>
            <a:ext cx="1810512" cy="1161288"/>
          </a:xfrm>
          <a:prstGeom prst="roundRect">
            <a:avLst>
              <a:gd name="adj" fmla="val 6299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5" name="Image 4" descr="/tmp/claude-0/-home-user-mangoiweb/ca835eb4-1670-5fc1-a29a-2fc77598fea3/scratchpad/deck_img/aiwrite.jpg">    </p:cNvPr>
          <p:cNvPicPr>
            <a:picLocks noChangeAspect="1"/>
          </p:cNvPicPr>
          <p:nvPr/>
        </p:nvPicPr>
        <p:blipFill>
          <a:blip r:embed="rId5"/>
          <a:srcRect l="79" r="-79" t="0" b="0"/>
          <a:stretch/>
        </p:blipFill>
        <p:spPr>
          <a:xfrm>
            <a:off x="6135624" y="4224528"/>
            <a:ext cx="1737360" cy="1088136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6135624" y="54041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</a:t>
            </a:r>
            <a:endParaRPr lang="en-US" sz="1000" dirty="0"/>
          </a:p>
        </p:txBody>
      </p:sp>
      <p:sp>
        <p:nvSpPr>
          <p:cNvPr id="57" name="Shape 50"/>
          <p:cNvSpPr/>
          <p:nvPr/>
        </p:nvSpPr>
        <p:spPr>
          <a:xfrm>
            <a:off x="7955280" y="4187952"/>
            <a:ext cx="1810512" cy="1161288"/>
          </a:xfrm>
          <a:prstGeom prst="roundRect">
            <a:avLst>
              <a:gd name="adj" fmla="val 6299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8" name="Image 5" descr="/tmp/claude-0/-home-user-mangoiweb/ca835eb4-1670-5fc1-a29a-2fc77598fea3/scratchpad/deck_img/judgment.jpg">    </p:cNvPr>
          <p:cNvPicPr>
            <a:picLocks noChangeAspect="1"/>
          </p:cNvPicPr>
          <p:nvPr/>
        </p:nvPicPr>
        <p:blipFill>
          <a:blip r:embed="rId6"/>
          <a:srcRect l="79" r="-79" t="0" b="0"/>
          <a:stretch/>
        </p:blipFill>
        <p:spPr>
          <a:xfrm>
            <a:off x="7991856" y="4224528"/>
            <a:ext cx="1737360" cy="1088136"/>
          </a:xfrm>
          <a:prstGeom prst="rect">
            <a:avLst/>
          </a:prstGeom>
        </p:spPr>
      </p:pic>
      <p:sp>
        <p:nvSpPr>
          <p:cNvPr id="59" name="Text 51"/>
          <p:cNvSpPr/>
          <p:nvPr/>
        </p:nvSpPr>
        <p:spPr>
          <a:xfrm>
            <a:off x="7991856" y="54041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판단력 훈련</a:t>
            </a:r>
            <a:endParaRPr lang="en-US" sz="1000" dirty="0"/>
          </a:p>
        </p:txBody>
      </p:sp>
      <p:sp>
        <p:nvSpPr>
          <p:cNvPr id="60" name="Shape 52"/>
          <p:cNvSpPr/>
          <p:nvPr/>
        </p:nvSpPr>
        <p:spPr>
          <a:xfrm>
            <a:off x="9811512" y="4187952"/>
            <a:ext cx="1810512" cy="1161288"/>
          </a:xfrm>
          <a:prstGeom prst="roundRect">
            <a:avLst>
              <a:gd name="adj" fmla="val 6299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61" name="Image 6" descr="/tmp/claude-0/-home-user-mangoiweb/ca835eb4-1670-5fc1-a29a-2fc77598fea3/scratchpad/deck_img/microquiz.jpg">    </p:cNvPr>
          <p:cNvPicPr>
            <a:picLocks noChangeAspect="1"/>
          </p:cNvPicPr>
          <p:nvPr/>
        </p:nvPicPr>
        <p:blipFill>
          <a:blip r:embed="rId7"/>
          <a:srcRect l="79" r="-79" t="0" b="0"/>
          <a:stretch/>
        </p:blipFill>
        <p:spPr>
          <a:xfrm>
            <a:off x="9848088" y="4224528"/>
            <a:ext cx="1737360" cy="1088136"/>
          </a:xfrm>
          <a:prstGeom prst="rect">
            <a:avLst/>
          </a:prstGeom>
        </p:spPr>
      </p:pic>
      <p:sp>
        <p:nvSpPr>
          <p:cNvPr id="62" name="Text 53"/>
          <p:cNvSpPr/>
          <p:nvPr/>
        </p:nvSpPr>
        <p:spPr>
          <a:xfrm>
            <a:off x="9848088" y="54041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단어 퀴즈</a:t>
            </a:r>
            <a:endParaRPr lang="en-US" sz="1000" dirty="0"/>
          </a:p>
        </p:txBody>
      </p:sp>
      <p:sp>
        <p:nvSpPr>
          <p:cNvPr id="63" name="Text 54"/>
          <p:cNvSpPr/>
          <p:nvPr/>
        </p:nvSpPr>
        <p:spPr>
          <a:xfrm>
            <a:off x="566928" y="5943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서비스 내 A.I 기반 기능 집계 (2026년 8월)</a:t>
            </a:r>
            <a:endParaRPr lang="en-US" sz="850" dirty="0"/>
          </a:p>
        </p:txBody>
      </p:sp>
      <p:sp>
        <p:nvSpPr>
          <p:cNvPr id="64" name="Text 5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theory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36576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3657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01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2103120" y="36576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이론적 배경 (Theoretical Foundation)   ·   1/3   왜 개인화 지도인가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9923983" y="384048"/>
            <a:ext cx="1700784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923983" y="384048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 · Vygotsky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768096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1:1인가, 그리고 왜 A.I인가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566928" y="1517904"/>
            <a:ext cx="50292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481328"/>
            <a:ext cx="5468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 01 · Bloom (1984)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731520" y="1664208"/>
            <a:ext cx="5468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2시그마 문제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66928" y="2048256"/>
            <a:ext cx="5632704" cy="2432304"/>
          </a:xfrm>
          <a:prstGeom prst="roundRect">
            <a:avLst>
              <a:gd name="adj" fmla="val 3759"/>
            </a:avLst>
          </a:prstGeom>
          <a:solidFill>
            <a:srgbClr val="0E142A"/>
          </a:solidFill>
          <a:ln w="12700">
            <a:solidFill>
              <a:srgbClr val="2A3557"/>
            </a:solidFill>
            <a:prstDash val="solid"/>
          </a:ln>
        </p:spPr>
      </p:sp>
      <p:graphicFrame>
        <p:nvGraphicFramePr>
          <p:cNvPr id="13" name="Chart 0" descr=""/>
          <p:cNvGraphicFramePr/>
          <p:nvPr/>
        </p:nvGraphicFramePr>
        <p:xfrm>
          <a:off x="621792" y="2103120"/>
          <a:ext cx="5522976" cy="232257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 10"/>
          <p:cNvSpPr/>
          <p:nvPr/>
        </p:nvSpPr>
        <p:spPr>
          <a:xfrm>
            <a:off x="566928" y="4535424"/>
            <a:ext cx="5632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효과크기(d) — 1:1 지도는 집단 수업을 크게 앞선다. 다만 모두에게 줄 수 없었다.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6455664" y="1517904"/>
            <a:ext cx="50292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620256" y="1481328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 02 · Vygotsky (1978)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6620256" y="1664208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근접발달영역(ZPD)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6419088" y="2011680"/>
            <a:ext cx="3273552" cy="2514135"/>
          </a:xfrm>
          <a:prstGeom prst="roundRect">
            <a:avLst>
              <a:gd name="adj" fmla="val 291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9" name="Image 1" descr="/tmp/claude-0/-home-user-mangoiweb/ca835eb4-1670-5fc1-a29a-2fc77598fea3/scratchpad/deck_img/d_zp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4" y="2048256"/>
            <a:ext cx="3200400" cy="2440983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893808" y="2103120"/>
            <a:ext cx="1737360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10040112" y="2267712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10259568" y="210312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유능한 타인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9893808" y="2633472"/>
            <a:ext cx="1737360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10040112" y="2798064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10259568" y="2633472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스캐폴딩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9893808" y="3163824"/>
            <a:ext cx="1737360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10040112" y="3328416"/>
            <a:ext cx="128016" cy="128016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10259568" y="3163824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점진적 철수</a:t>
            </a:r>
            <a:endParaRPr lang="en-US" sz="950" dirty="0"/>
          </a:p>
        </p:txBody>
      </p:sp>
      <p:sp>
        <p:nvSpPr>
          <p:cNvPr id="29" name="Shape 24"/>
          <p:cNvSpPr/>
          <p:nvPr/>
        </p:nvSpPr>
        <p:spPr>
          <a:xfrm>
            <a:off x="9893808" y="3694176"/>
            <a:ext cx="1737360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10040112" y="3858768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10259568" y="3694176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움직인다</a:t>
            </a:r>
            <a:endParaRPr lang="en-US" sz="950" dirty="0"/>
          </a:p>
        </p:txBody>
      </p:sp>
      <p:sp>
        <p:nvSpPr>
          <p:cNvPr id="32" name="Text 27"/>
          <p:cNvSpPr/>
          <p:nvPr/>
        </p:nvSpPr>
        <p:spPr>
          <a:xfrm>
            <a:off x="6455664" y="4535424"/>
            <a:ext cx="5175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혼자선 못 하지만 도우면 되는 구간 — 교사와 A.I가 함께 채웁니다.</a:t>
            </a:r>
            <a:endParaRPr lang="en-US" sz="850" dirty="0"/>
          </a:p>
        </p:txBody>
      </p:sp>
      <p:sp>
        <p:nvSpPr>
          <p:cNvPr id="33" name="Shape 28"/>
          <p:cNvSpPr/>
          <p:nvPr/>
        </p:nvSpPr>
        <p:spPr>
          <a:xfrm>
            <a:off x="566928" y="4901184"/>
            <a:ext cx="11055096" cy="914400"/>
          </a:xfrm>
          <a:prstGeom prst="roundRect">
            <a:avLst>
              <a:gd name="adj" fmla="val 10000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566928" y="4901184"/>
            <a:ext cx="11055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망고아이의 답 — 사람 교사는 1:1·1:2로, 교사가 없는 시간은 A.I 튜터가.</a:t>
            </a:r>
            <a:endParaRPr lang="en-US" sz="1600" dirty="0"/>
          </a:p>
        </p:txBody>
      </p:sp>
      <p:sp>
        <p:nvSpPr>
          <p:cNvPr id="35" name="Text 30"/>
          <p:cNvSpPr/>
          <p:nvPr/>
        </p:nvSpPr>
        <p:spPr>
          <a:xfrm>
            <a:off x="566928" y="598017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75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Bloom, B. S. (1984). Educational Researcher, 13(6), 4–16.  ·  VanLehn, K. (2011). Educational Psychologist, 46(4), 197–221.  ·  Vygotsky, L. S. (1978). Mind in Society.  ·  Wood, Bruner &amp; Ross (1976). JCPP, 17(2), 89–100.</a:t>
            </a:r>
            <a:endParaRPr lang="en-US" sz="750" dirty="0"/>
          </a:p>
        </p:txBody>
      </p:sp>
      <p:sp>
        <p:nvSpPr>
          <p:cNvPr id="36" name="Text 31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theory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36576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3657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01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2103120" y="36576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이론적 배경 (Theoretical Foundation)   ·   2/3   언어 습득과 기억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9224467" y="384048"/>
            <a:ext cx="240030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224467" y="384048"/>
            <a:ext cx="2400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Chomsky · Krashen · Swain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768096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언어는 «자라고», 기억은 «남아야» 합니다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66928" y="1517904"/>
            <a:ext cx="50292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481328"/>
            <a:ext cx="5468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 03 · Chomsky · Krashen · Swain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731520" y="1664208"/>
            <a:ext cx="5468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· 말하고 · 고쳐 받는다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0352" y="2029968"/>
            <a:ext cx="5705856" cy="1332227"/>
          </a:xfrm>
          <a:prstGeom prst="roundRect">
            <a:avLst>
              <a:gd name="adj" fmla="val 549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3" name="Image 1" descr="/tmp/claude-0/-home-user-mangoiweb/ca835eb4-1670-5fc1-a29a-2fc77598fea3/scratchpad/deck_img/d_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66544"/>
            <a:ext cx="5632704" cy="1259075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66928" y="3566160"/>
            <a:ext cx="5632704" cy="512064"/>
          </a:xfrm>
          <a:prstGeom prst="roundRect">
            <a:avLst>
              <a:gd name="adj" fmla="val 17857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86384" y="356616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촘스키 1959·1965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2578608" y="3566160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암기로는 안 된다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66928" y="4151376"/>
            <a:ext cx="5632704" cy="512064"/>
          </a:xfrm>
          <a:prstGeom prst="roundRect">
            <a:avLst>
              <a:gd name="adj" fmla="val 17857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86384" y="41513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크라션 1982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2578608" y="4151376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조금 위의 입력 (i+1)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66928" y="4736592"/>
            <a:ext cx="5632704" cy="512064"/>
          </a:xfrm>
          <a:prstGeom prst="roundRect">
            <a:avLst>
              <a:gd name="adj" fmla="val 17857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86384" y="473659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스웨인 1985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2578608" y="4736592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 봐야 굳는다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566928" y="5358384"/>
            <a:ext cx="5632704" cy="566928"/>
          </a:xfrm>
          <a:prstGeom prst="roundRect">
            <a:avLst>
              <a:gd name="adj" fmla="val 16129"/>
            </a:avLst>
          </a:prstGeom>
          <a:solidFill>
            <a:srgbClr val="1A1230"/>
          </a:solidFill>
          <a:ln w="12700">
            <a:solidFill>
              <a:srgbClr val="4A3570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86384" y="5358384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촘스키 본인은 교수법 적용을 경계했습니다 — 교실 근거는 크라션·스웨인입니다.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6455664" y="1517904"/>
            <a:ext cx="50292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620256" y="1481328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 04 · Ebbinghaus · Sweller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6620256" y="1664208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간격을 두고, 꺼내 볼 것</a:t>
            </a:r>
            <a:endParaRPr lang="en-US" sz="1500" dirty="0"/>
          </a:p>
        </p:txBody>
      </p:sp>
      <p:sp>
        <p:nvSpPr>
          <p:cNvPr id="28" name="Shape 24"/>
          <p:cNvSpPr/>
          <p:nvPr/>
        </p:nvSpPr>
        <p:spPr>
          <a:xfrm>
            <a:off x="6419088" y="2029968"/>
            <a:ext cx="5248656" cy="2956647"/>
          </a:xfrm>
          <a:prstGeom prst="roundRect">
            <a:avLst>
              <a:gd name="adj" fmla="val 24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9" name="Image 2" descr="/tmp/claude-0/-home-user-mangoiweb/ca835eb4-1670-5fc1-a29a-2fc77598fea3/scratchpad/deck_img/d_forg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4" y="2066544"/>
            <a:ext cx="5175504" cy="2883495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6455664" y="4974336"/>
            <a:ext cx="5175504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656832" y="497433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분산 연습</a:t>
            </a:r>
            <a:endParaRPr lang="en-US" sz="1000" dirty="0"/>
          </a:p>
        </p:txBody>
      </p:sp>
      <p:sp>
        <p:nvSpPr>
          <p:cNvPr id="32" name="Text 27"/>
          <p:cNvSpPr/>
          <p:nvPr/>
        </p:nvSpPr>
        <p:spPr>
          <a:xfrm>
            <a:off x="7772400" y="497433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짧게 여러 번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9601200" y="497433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1분 마이크로러닝</a:t>
            </a:r>
            <a:endParaRPr lang="en-US" sz="850" dirty="0"/>
          </a:p>
        </p:txBody>
      </p:sp>
      <p:sp>
        <p:nvSpPr>
          <p:cNvPr id="34" name="Shape 29"/>
          <p:cNvSpPr/>
          <p:nvPr/>
        </p:nvSpPr>
        <p:spPr>
          <a:xfrm>
            <a:off x="6455664" y="5504688"/>
            <a:ext cx="5175504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6656832" y="550468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인출 연습</a:t>
            </a:r>
            <a:endParaRPr lang="en-US" sz="1000" dirty="0"/>
          </a:p>
        </p:txBody>
      </p:sp>
      <p:sp>
        <p:nvSpPr>
          <p:cNvPr id="36" name="Text 31"/>
          <p:cNvSpPr/>
          <p:nvPr/>
        </p:nvSpPr>
        <p:spPr>
          <a:xfrm>
            <a:off x="7772400" y="55046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읽기보다 맞혀 보기</a:t>
            </a:r>
            <a:endParaRPr lang="en-US" sz="850" dirty="0"/>
          </a:p>
        </p:txBody>
      </p:sp>
      <p:sp>
        <p:nvSpPr>
          <p:cNvPr id="37" name="Text 32"/>
          <p:cNvSpPr/>
          <p:nvPr/>
        </p:nvSpPr>
        <p:spPr>
          <a:xfrm>
            <a:off x="9601200" y="550468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복습 퀴즈 10문항</a:t>
            </a:r>
            <a:endParaRPr lang="en-US" sz="850" dirty="0"/>
          </a:p>
        </p:txBody>
      </p:sp>
      <p:sp>
        <p:nvSpPr>
          <p:cNvPr id="38" name="Shape 33"/>
          <p:cNvSpPr/>
          <p:nvPr/>
        </p:nvSpPr>
        <p:spPr>
          <a:xfrm>
            <a:off x="6455664" y="6035040"/>
            <a:ext cx="5175504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6656832" y="60350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인지부하</a:t>
            </a:r>
            <a:endParaRPr lang="en-US" sz="1000" dirty="0"/>
          </a:p>
        </p:txBody>
      </p:sp>
      <p:sp>
        <p:nvSpPr>
          <p:cNvPr id="40" name="Text 35"/>
          <p:cNvSpPr/>
          <p:nvPr/>
        </p:nvSpPr>
        <p:spPr>
          <a:xfrm>
            <a:off x="7772400" y="6035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쓸데없는 부하를 줄인다</a:t>
            </a:r>
            <a:endParaRPr lang="en-US" sz="850" dirty="0"/>
          </a:p>
        </p:txBody>
      </p:sp>
      <p:sp>
        <p:nvSpPr>
          <p:cNvPr id="41" name="Text 36"/>
          <p:cNvSpPr/>
          <p:nvPr/>
        </p:nvSpPr>
        <p:spPr>
          <a:xfrm>
            <a:off x="9601200" y="60350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한 화면에 한 과제</a:t>
            </a:r>
            <a:endParaRPr lang="en-US" sz="850" dirty="0"/>
          </a:p>
        </p:txBody>
      </p:sp>
      <p:sp>
        <p:nvSpPr>
          <p:cNvPr id="42" name="Text 37"/>
          <p:cNvSpPr/>
          <p:nvPr/>
        </p:nvSpPr>
        <p:spPr>
          <a:xfrm>
            <a:off x="566928" y="612648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75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Chomsky (1959; 1965) · Krashen (1982) · Swain (1985) · Ebbinghaus (1885/1913) · Cepeda et al. (2006) · Roediger &amp; Karpicke (2006) · Sweller (1988)</a:t>
            </a:r>
            <a:endParaRPr lang="en-US" sz="750" dirty="0"/>
          </a:p>
        </p:txBody>
      </p:sp>
      <p:sp>
        <p:nvSpPr>
          <p:cNvPr id="43" name="Text 38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theory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36576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3657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01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2103120" y="36576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이론적 배경 (Theoretical Foundation)   ·   3/3   동기 · 이론에서 기능으로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9535363" y="384048"/>
            <a:ext cx="2089404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535363" y="384048"/>
            <a:ext cx="20894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Ryan &amp; Deci · Mapping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768096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«재미»는 설계 조건입니다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566928" y="1517904"/>
            <a:ext cx="50292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481328"/>
            <a:ext cx="5468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 05 · 동기와 몰입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731520" y="1664208"/>
            <a:ext cx="5468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«재미가 의지를 이깁니다»의 근거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66928" y="2048256"/>
            <a:ext cx="5632704" cy="548640"/>
          </a:xfrm>
          <a:prstGeom prst="roundRect">
            <a:avLst>
              <a:gd name="adj" fmla="val 16667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6384" y="204825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자기결정이론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304288" y="204825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Ryan &amp; Deci (2000)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096512" y="2048256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자율성 · 유능감 · 관계성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66928" y="2670048"/>
            <a:ext cx="5632704" cy="548640"/>
          </a:xfrm>
          <a:prstGeom prst="roundRect">
            <a:avLst>
              <a:gd name="adj" fmla="val 16667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267004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몰입 이론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2304288" y="267004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Csikszentmihalyi (1990)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096512" y="267004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난이도와 실력의 균형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66928" y="3291840"/>
            <a:ext cx="5632704" cy="548640"/>
          </a:xfrm>
          <a:prstGeom prst="roundRect">
            <a:avLst>
              <a:gd name="adj" fmla="val 16667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32918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 마인드셋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2304288" y="3291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Dweck (2006)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4096512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능력은 노력으로 자란다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66928" y="3913632"/>
            <a:ext cx="5632704" cy="548640"/>
          </a:xfrm>
          <a:prstGeom prst="roundRect">
            <a:avLst>
              <a:gd name="adj" fmla="val 16667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391363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자기효능감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2304288" y="39136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Bandura (1977)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4096512" y="391363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성공이 쌓여야 한다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30352" y="4553712"/>
            <a:ext cx="2816352" cy="2118928"/>
          </a:xfrm>
          <a:prstGeom prst="roundRect">
            <a:avLst>
              <a:gd name="adj" fmla="val 345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9" name="Image 1" descr="/tmp/claude-0/-home-user-mangoiweb/ca835eb4-1670-5fc1-a29a-2fc77598fea3/scratchpad/deck_img/d_f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4590288"/>
            <a:ext cx="2743200" cy="2045776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3529584" y="4590288"/>
            <a:ext cx="2670048" cy="1225296"/>
          </a:xfrm>
          <a:prstGeom prst="roundRect">
            <a:avLst>
              <a:gd name="adj" fmla="val 7463"/>
            </a:avLst>
          </a:prstGeom>
          <a:solidFill>
            <a:srgbClr val="1A1230"/>
          </a:solidFill>
          <a:ln w="12700">
            <a:solidFill>
              <a:srgbClr val="4A3570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3749040" y="471830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경계하는 지점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3749040" y="4937760"/>
            <a:ext cx="2286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외적 보상이 내재동기를 낮출 수 있어(Deci et al., 1999) 포인트는 «습관»에만 겁니다.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6455664" y="1517904"/>
            <a:ext cx="50292" cy="402336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6620256" y="1481328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 → 기능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6620256" y="1664208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이론이 어떤 화면이 되었나</a:t>
            </a:r>
            <a:endParaRPr lang="en-US" sz="1500" dirty="0"/>
          </a:p>
        </p:txBody>
      </p:sp>
      <p:sp>
        <p:nvSpPr>
          <p:cNvPr id="36" name="Shape 32"/>
          <p:cNvSpPr/>
          <p:nvPr/>
        </p:nvSpPr>
        <p:spPr>
          <a:xfrm>
            <a:off x="6455664" y="2048256"/>
            <a:ext cx="5175504" cy="3767328"/>
          </a:xfrm>
          <a:prstGeom prst="roundRect">
            <a:avLst>
              <a:gd name="adj" fmla="val 2427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6547104" y="2194560"/>
            <a:ext cx="4992624" cy="384048"/>
          </a:xfrm>
          <a:prstGeom prst="rect">
            <a:avLst/>
          </a:prstGeom>
          <a:solidFill>
            <a:srgbClr val="2B2010"/>
          </a:solidFill>
          <a:ln w="12700">
            <a:solidFill>
              <a:srgbClr val="2B2010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6675120" y="21945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블룸 2시그마</a:t>
            </a:r>
            <a:endParaRPr lang="en-US" sz="950" dirty="0"/>
          </a:p>
        </p:txBody>
      </p:sp>
      <p:sp>
        <p:nvSpPr>
          <p:cNvPr id="39" name="Text 35"/>
          <p:cNvSpPr/>
          <p:nvPr/>
        </p:nvSpPr>
        <p:spPr>
          <a:xfrm>
            <a:off x="8558784" y="219456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수업 + 24시간 A.I</a:t>
            </a:r>
            <a:endParaRPr lang="en-US" sz="900" dirty="0"/>
          </a:p>
        </p:txBody>
      </p:sp>
      <p:sp>
        <p:nvSpPr>
          <p:cNvPr id="40" name="Text 36"/>
          <p:cNvSpPr/>
          <p:nvPr/>
        </p:nvSpPr>
        <p:spPr>
          <a:xfrm>
            <a:off x="6675120" y="259689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비고츠키 ZPD</a:t>
            </a:r>
            <a:endParaRPr lang="en-US" sz="950" dirty="0"/>
          </a:p>
        </p:txBody>
      </p:sp>
      <p:sp>
        <p:nvSpPr>
          <p:cNvPr id="41" name="Text 37"/>
          <p:cNvSpPr/>
          <p:nvPr/>
        </p:nvSpPr>
        <p:spPr>
          <a:xfrm>
            <a:off x="8558784" y="2596896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 · AI 친구 힌트</a:t>
            </a:r>
            <a:endParaRPr lang="en-US" sz="900" dirty="0"/>
          </a:p>
        </p:txBody>
      </p:sp>
      <p:sp>
        <p:nvSpPr>
          <p:cNvPr id="42" name="Shape 38"/>
          <p:cNvSpPr/>
          <p:nvPr/>
        </p:nvSpPr>
        <p:spPr>
          <a:xfrm>
            <a:off x="6547104" y="2999232"/>
            <a:ext cx="4992624" cy="384048"/>
          </a:xfrm>
          <a:prstGeom prst="rect">
            <a:avLst/>
          </a:prstGeom>
          <a:solidFill>
            <a:srgbClr val="2B2010"/>
          </a:solidFill>
          <a:ln w="12700">
            <a:solidFill>
              <a:srgbClr val="2B2010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675120" y="299923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크라션 i+1</a:t>
            </a:r>
            <a:endParaRPr lang="en-US" sz="950" dirty="0"/>
          </a:p>
        </p:txBody>
      </p:sp>
      <p:sp>
        <p:nvSpPr>
          <p:cNvPr id="44" name="Text 40"/>
          <p:cNvSpPr/>
          <p:nvPr/>
        </p:nvSpPr>
        <p:spPr>
          <a:xfrm>
            <a:off x="8558784" y="2999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 · CEFR 8단계</a:t>
            </a:r>
            <a:endParaRPr lang="en-US" sz="900" dirty="0"/>
          </a:p>
        </p:txBody>
      </p:sp>
      <p:sp>
        <p:nvSpPr>
          <p:cNvPr id="45" name="Text 41"/>
          <p:cNvSpPr/>
          <p:nvPr/>
        </p:nvSpPr>
        <p:spPr>
          <a:xfrm>
            <a:off x="6675120" y="340156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정서 필터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8558784" y="340156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틀려도 웃지 않는 AI 친구</a:t>
            </a:r>
            <a:endParaRPr lang="en-US" sz="900" dirty="0"/>
          </a:p>
        </p:txBody>
      </p:sp>
      <p:sp>
        <p:nvSpPr>
          <p:cNvPr id="47" name="Shape 43"/>
          <p:cNvSpPr/>
          <p:nvPr/>
        </p:nvSpPr>
        <p:spPr>
          <a:xfrm>
            <a:off x="6547104" y="3803904"/>
            <a:ext cx="4992624" cy="384048"/>
          </a:xfrm>
          <a:prstGeom prst="rect">
            <a:avLst/>
          </a:prstGeom>
          <a:solidFill>
            <a:srgbClr val="2B2010"/>
          </a:solidFill>
          <a:ln w="12700">
            <a:solidFill>
              <a:srgbClr val="2B2010"/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6675120" y="380390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스웨인 출력</a:t>
            </a:r>
            <a:endParaRPr lang="en-US" sz="950" dirty="0"/>
          </a:p>
        </p:txBody>
      </p:sp>
      <p:sp>
        <p:nvSpPr>
          <p:cNvPr id="49" name="Text 45"/>
          <p:cNvSpPr/>
          <p:nvPr/>
        </p:nvSpPr>
        <p:spPr>
          <a:xfrm>
            <a:off x="8558784" y="380390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채점 · 말하기 게임</a:t>
            </a:r>
            <a:endParaRPr lang="en-US" sz="900" dirty="0"/>
          </a:p>
        </p:txBody>
      </p:sp>
      <p:sp>
        <p:nvSpPr>
          <p:cNvPr id="50" name="Text 46"/>
          <p:cNvSpPr/>
          <p:nvPr/>
        </p:nvSpPr>
        <p:spPr>
          <a:xfrm>
            <a:off x="6675120" y="42062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분산 · 인출</a:t>
            </a:r>
            <a:endParaRPr lang="en-US" sz="950" dirty="0"/>
          </a:p>
        </p:txBody>
      </p:sp>
      <p:sp>
        <p:nvSpPr>
          <p:cNvPr id="51" name="Text 47"/>
          <p:cNvSpPr/>
          <p:nvPr/>
        </p:nvSpPr>
        <p:spPr>
          <a:xfrm>
            <a:off x="8558784" y="420624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퀴즈 · 복습 10문항</a:t>
            </a:r>
            <a:endParaRPr lang="en-US" sz="900" dirty="0"/>
          </a:p>
        </p:txBody>
      </p:sp>
      <p:sp>
        <p:nvSpPr>
          <p:cNvPr id="52" name="Shape 48"/>
          <p:cNvSpPr/>
          <p:nvPr/>
        </p:nvSpPr>
        <p:spPr>
          <a:xfrm>
            <a:off x="6547104" y="4608576"/>
            <a:ext cx="4992624" cy="384048"/>
          </a:xfrm>
          <a:prstGeom prst="rect">
            <a:avLst/>
          </a:prstGeom>
          <a:solidFill>
            <a:srgbClr val="2B2010"/>
          </a:solidFill>
          <a:ln w="12700">
            <a:solidFill>
              <a:srgbClr val="2B2010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6675120" y="460857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인지부하</a:t>
            </a:r>
            <a:endParaRPr lang="en-US" sz="950" dirty="0"/>
          </a:p>
        </p:txBody>
      </p:sp>
      <p:sp>
        <p:nvSpPr>
          <p:cNvPr id="54" name="Text 50"/>
          <p:cNvSpPr/>
          <p:nvPr/>
        </p:nvSpPr>
        <p:spPr>
          <a:xfrm>
            <a:off x="8558784" y="4608576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화면에 한 과제</a:t>
            </a:r>
            <a:endParaRPr lang="en-US" sz="900" dirty="0"/>
          </a:p>
        </p:txBody>
      </p:sp>
      <p:sp>
        <p:nvSpPr>
          <p:cNvPr id="55" name="Text 51"/>
          <p:cNvSpPr/>
          <p:nvPr/>
        </p:nvSpPr>
        <p:spPr>
          <a:xfrm>
            <a:off x="6675120" y="501091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자기결정 · 몰입</a:t>
            </a:r>
            <a:endParaRPr lang="en-US" sz="950" dirty="0"/>
          </a:p>
        </p:txBody>
      </p:sp>
      <p:sp>
        <p:nvSpPr>
          <p:cNvPr id="56" name="Text 52"/>
          <p:cNvSpPr/>
          <p:nvPr/>
        </p:nvSpPr>
        <p:spPr>
          <a:xfrm>
            <a:off x="8558784" y="501091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선택권 · 속도 조절 · 배지</a:t>
            </a:r>
            <a:endParaRPr lang="en-US" sz="900" dirty="0"/>
          </a:p>
        </p:txBody>
      </p:sp>
      <p:sp>
        <p:nvSpPr>
          <p:cNvPr id="57" name="Shape 53"/>
          <p:cNvSpPr/>
          <p:nvPr/>
        </p:nvSpPr>
        <p:spPr>
          <a:xfrm>
            <a:off x="6547104" y="5413248"/>
            <a:ext cx="4992624" cy="384048"/>
          </a:xfrm>
          <a:prstGeom prst="rect">
            <a:avLst/>
          </a:prstGeom>
          <a:solidFill>
            <a:srgbClr val="2B2010"/>
          </a:solidFill>
          <a:ln w="12700">
            <a:solidFill>
              <a:srgbClr val="2B2010"/>
            </a:solidFill>
            <a:prstDash val="solid"/>
          </a:ln>
        </p:spPr>
      </p:sp>
      <p:sp>
        <p:nvSpPr>
          <p:cNvPr id="58" name="Text 54"/>
          <p:cNvSpPr/>
          <p:nvPr/>
        </p:nvSpPr>
        <p:spPr>
          <a:xfrm>
            <a:off x="6675120" y="541324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 마인드셋</a:t>
            </a:r>
            <a:endParaRPr lang="en-US" sz="950" dirty="0"/>
          </a:p>
        </p:txBody>
      </p:sp>
      <p:sp>
        <p:nvSpPr>
          <p:cNvPr id="59" name="Text 55"/>
          <p:cNvSpPr/>
          <p:nvPr/>
        </p:nvSpPr>
        <p:spPr>
          <a:xfrm>
            <a:off x="8558784" y="541324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자라는 아바타 · 과정 칭찬</a:t>
            </a:r>
            <a:endParaRPr lang="en-US" sz="900" dirty="0"/>
          </a:p>
        </p:txBody>
      </p:sp>
      <p:sp>
        <p:nvSpPr>
          <p:cNvPr id="60" name="Text 56"/>
          <p:cNvSpPr/>
          <p:nvPr/>
        </p:nvSpPr>
        <p:spPr>
          <a:xfrm>
            <a:off x="566928" y="598017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75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Ryan &amp; Deci (2000) · Deci, Koestner &amp; Ryan (1999) · Csikszentmihalyi (1990) · Dweck (2006) · Bandura (1977) · Mayer (2019) · Clark, Tanner-Smith &amp; Killingsworth (2016)</a:t>
            </a:r>
            <a:endParaRPr lang="en-US" sz="750" dirty="0"/>
          </a:p>
        </p:txBody>
      </p:sp>
      <p:sp>
        <p:nvSpPr>
          <p:cNvPr id="61" name="Text 57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28600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22860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02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66928" y="1024128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0" b="1" dirty="0">
                <a:solidFill>
                  <a:srgbClr val="222C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600" dirty="0"/>
          </a:p>
        </p:txBody>
      </p:sp>
      <p:sp>
        <p:nvSpPr>
          <p:cNvPr id="6" name="Text 3"/>
          <p:cNvSpPr/>
          <p:nvPr/>
        </p:nvSpPr>
        <p:spPr>
          <a:xfrm>
            <a:off x="566928" y="2779776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특징과 장점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566928" y="35661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5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Features &amp; UI Showcase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6928" y="411480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서비스 화면으로 보는 핵심 기능.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19088" y="1664208"/>
            <a:ext cx="5248656" cy="3340620"/>
          </a:xfrm>
          <a:prstGeom prst="roundRect">
            <a:avLst>
              <a:gd name="adj" fmla="val 219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0" name="Image 1" descr="/tmp/claude-0/-home-user-mangoiweb/ca835eb4-1670-5fc1-a29a-2fc77598fea3/scratchpad/deck_img/abou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700784"/>
            <a:ext cx="5175504" cy="326746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55664" y="515113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망고아이란? — 13가지 특장점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FEATURES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45775" y="384048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45775" y="38404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첫 버튼에 담긴 13가지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2079346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49808" y="1719072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9264" y="1554480"/>
            <a:ext cx="15307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교사와 A.I가 함께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810866" y="1554480"/>
            <a:ext cx="2079346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93746" y="1719072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13202" y="1554480"/>
            <a:ext cx="15307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1:1 / 1:2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054803" y="1554480"/>
            <a:ext cx="2079346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237683" y="1719072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57139" y="1554480"/>
            <a:ext cx="15307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커뮤니케이션 능력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298741" y="1554480"/>
            <a:ext cx="2079346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81621" y="1719072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701077" y="1554480"/>
            <a:ext cx="15307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합리적인 비용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9542678" y="1554480"/>
            <a:ext cx="2079346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725558" y="1719072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945014" y="1554480"/>
            <a:ext cx="15307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체계적 관리 시스템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2121408"/>
            <a:ext cx="2079346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49808" y="2286000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69264" y="2121408"/>
            <a:ext cx="15307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시간·장소 자유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2810866" y="2121408"/>
            <a:ext cx="2079346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993746" y="2286000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213202" y="2121408"/>
            <a:ext cx="15307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우수한 교재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054803" y="2121408"/>
            <a:ext cx="2079346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237683" y="2286000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457139" y="2121408"/>
            <a:ext cx="15307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올인원 앱·홈페이지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7298741" y="2121408"/>
            <a:ext cx="2079346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481621" y="2286000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701077" y="2121408"/>
            <a:ext cx="15307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예복습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9542678" y="2121408"/>
            <a:ext cx="2079346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725558" y="2286000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945014" y="2121408"/>
            <a:ext cx="15307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평가 · 소통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566928" y="2688336"/>
            <a:ext cx="2079346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49808" y="2852928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69264" y="2688336"/>
            <a:ext cx="15307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직영센터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2810866" y="2688336"/>
            <a:ext cx="2079346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2993746" y="2852928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3213202" y="2688336"/>
            <a:ext cx="15307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전통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54803" y="2688336"/>
            <a:ext cx="2079346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237683" y="2852928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5457139" y="2688336"/>
            <a:ext cx="15307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 실시간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3822192" y="3273552"/>
            <a:ext cx="4553712" cy="2901879"/>
          </a:xfrm>
          <a:prstGeom prst="roundRect">
            <a:avLst>
              <a:gd name="adj" fmla="val 252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7" name="Image 1" descr="/tmp/claude-0/-home-user-mangoiweb/ca835eb4-1670-5fc1-a29a-2fc77598fea3/scratchpad/deck_img/abou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8768" y="3310128"/>
            <a:ext cx="4480560" cy="2828727"/>
          </a:xfrm>
          <a:prstGeom prst="rect">
            <a:avLst/>
          </a:prstGeom>
        </p:spPr>
      </p:pic>
      <p:sp>
        <p:nvSpPr>
          <p:cNvPr id="48" name="Text 44"/>
          <p:cNvSpPr/>
          <p:nvPr/>
        </p:nvSpPr>
        <p:spPr>
          <a:xfrm>
            <a:off x="3858768" y="619963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망고아이란? — 카드를 누르면 상세가 열립니다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01 · DUAL ENGINE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157155" y="384048"/>
            <a:ext cx="146761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157155" y="384048"/>
            <a:ext cx="14676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+ A.I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교사와 A.I, 두 개의 엔진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2079346" cy="3566160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719072"/>
            <a:ext cx="171358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전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49808" y="1975104"/>
            <a:ext cx="1750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13232" y="2578608"/>
            <a:ext cx="1786738" cy="1170432"/>
          </a:xfrm>
          <a:prstGeom prst="roundRect">
            <a:avLst>
              <a:gd name="adj" fmla="val 625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1" name="Image 1" descr="/tmp/claude-0/-home-user-mangoiweb/ca835eb4-1670-5fc1-a29a-2fc77598fea3/scratchpad/deck_img/warmup.jpg">    </p:cNvPr>
          <p:cNvPicPr>
            <a:picLocks noChangeAspect="1"/>
          </p:cNvPicPr>
          <p:nvPr/>
        </p:nvPicPr>
        <p:blipFill>
          <a:blip r:embed="rId2"/>
          <a:srcRect l="1200" r="-1200" t="0" b="0"/>
          <a:stretch/>
        </p:blipFill>
        <p:spPr>
          <a:xfrm>
            <a:off x="749808" y="2615184"/>
            <a:ext cx="1713586" cy="10972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650846" y="2926080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2810866" y="1554480"/>
            <a:ext cx="2079346" cy="3566160"/>
          </a:xfrm>
          <a:prstGeom prst="roundRect">
            <a:avLst>
              <a:gd name="adj" fmla="val 4398"/>
            </a:avLst>
          </a:prstGeom>
          <a:solidFill>
            <a:srgbClr val="10203A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2993746" y="1719072"/>
            <a:ext cx="171358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중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2993746" y="1975104"/>
            <a:ext cx="1750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교사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2957170" y="2578608"/>
            <a:ext cx="1786738" cy="1170432"/>
          </a:xfrm>
          <a:prstGeom prst="roundRect">
            <a:avLst>
              <a:gd name="adj" fmla="val 625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7" name="Image 2" descr="/tmp/claude-0/-home-user-mangoiweb/ca835eb4-1670-5fc1-a29a-2fc77598fea3/scratchpad/deck_img/curriculum.jpg">    </p:cNvPr>
          <p:cNvPicPr>
            <a:picLocks noChangeAspect="1"/>
          </p:cNvPicPr>
          <p:nvPr/>
        </p:nvPicPr>
        <p:blipFill>
          <a:blip r:embed="rId3"/>
          <a:srcRect l="713" r="-713" t="0" b="0"/>
          <a:stretch/>
        </p:blipFill>
        <p:spPr>
          <a:xfrm>
            <a:off x="2993746" y="2615184"/>
            <a:ext cx="1713586" cy="10972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894783" y="2926080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19" name="Shape 14"/>
          <p:cNvSpPr/>
          <p:nvPr/>
        </p:nvSpPr>
        <p:spPr>
          <a:xfrm>
            <a:off x="5054803" y="1554480"/>
            <a:ext cx="2079346" cy="3566160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5237683" y="1719072"/>
            <a:ext cx="171358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직후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5237683" y="1975104"/>
            <a:ext cx="1750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평가서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5201107" y="2578608"/>
            <a:ext cx="1786738" cy="1170432"/>
          </a:xfrm>
          <a:prstGeom prst="roundRect">
            <a:avLst>
              <a:gd name="adj" fmla="val 625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3" name="Image 3" descr="/tmp/claude-0/-home-user-mangoiweb/ca835eb4-1670-5fc1-a29a-2fc77598fea3/scratchpad/deck_img/parent.jpg">    </p:cNvPr>
          <p:cNvPicPr>
            <a:picLocks noChangeAspect="1"/>
          </p:cNvPicPr>
          <p:nvPr/>
        </p:nvPicPr>
        <p:blipFill>
          <a:blip r:embed="rId4"/>
          <a:srcRect l="0" r="0" t="182" b="-182"/>
          <a:stretch/>
        </p:blipFill>
        <p:spPr>
          <a:xfrm>
            <a:off x="5237683" y="2615184"/>
            <a:ext cx="1713586" cy="109728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138721" y="2926080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25" name="Shape 19"/>
          <p:cNvSpPr/>
          <p:nvPr/>
        </p:nvSpPr>
        <p:spPr>
          <a:xfrm>
            <a:off x="7298741" y="1554480"/>
            <a:ext cx="2079346" cy="3566160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7481621" y="1719072"/>
            <a:ext cx="171358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후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7481621" y="1975104"/>
            <a:ext cx="1750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 10문항</a:t>
            </a:r>
            <a:endParaRPr lang="en-US" sz="1500" dirty="0"/>
          </a:p>
        </p:txBody>
      </p:sp>
      <p:sp>
        <p:nvSpPr>
          <p:cNvPr id="28" name="Shape 22"/>
          <p:cNvSpPr/>
          <p:nvPr/>
        </p:nvSpPr>
        <p:spPr>
          <a:xfrm>
            <a:off x="7445045" y="2578608"/>
            <a:ext cx="1786738" cy="1170432"/>
          </a:xfrm>
          <a:prstGeom prst="roundRect">
            <a:avLst>
              <a:gd name="adj" fmla="val 625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9" name="Image 4" descr="/tmp/claude-0/-home-user-mangoiweb/ca835eb4-1670-5fc1-a29a-2fc77598fea3/scratchpad/deck_img/microquiz.jpg">    </p:cNvPr>
          <p:cNvPicPr>
            <a:picLocks noChangeAspect="1"/>
          </p:cNvPicPr>
          <p:nvPr/>
        </p:nvPicPr>
        <p:blipFill>
          <a:blip r:embed="rId5"/>
          <a:srcRect l="1200" r="-1200" t="0" b="0"/>
          <a:stretch/>
        </p:blipFill>
        <p:spPr>
          <a:xfrm>
            <a:off x="7481621" y="2615184"/>
            <a:ext cx="1713586" cy="109728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9382658" y="2926080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31" name="Shape 24"/>
          <p:cNvSpPr/>
          <p:nvPr/>
        </p:nvSpPr>
        <p:spPr>
          <a:xfrm>
            <a:off x="9542678" y="1554480"/>
            <a:ext cx="2079346" cy="3566160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9725558" y="1719072"/>
            <a:ext cx="171358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</a:t>
            </a:r>
            <a:endParaRPr lang="en-US" sz="1000" dirty="0"/>
          </a:p>
        </p:txBody>
      </p:sp>
      <p:sp>
        <p:nvSpPr>
          <p:cNvPr id="33" name="Text 26"/>
          <p:cNvSpPr/>
          <p:nvPr/>
        </p:nvSpPr>
        <p:spPr>
          <a:xfrm>
            <a:off x="9725558" y="1975104"/>
            <a:ext cx="1750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약점 반영</a:t>
            </a:r>
            <a:endParaRPr lang="en-US" sz="1500" dirty="0"/>
          </a:p>
        </p:txBody>
      </p:sp>
      <p:sp>
        <p:nvSpPr>
          <p:cNvPr id="34" name="Shape 27"/>
          <p:cNvSpPr/>
          <p:nvPr/>
        </p:nvSpPr>
        <p:spPr>
          <a:xfrm>
            <a:off x="9688982" y="2578608"/>
            <a:ext cx="1786738" cy="1170432"/>
          </a:xfrm>
          <a:prstGeom prst="roundRect">
            <a:avLst>
              <a:gd name="adj" fmla="val 625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5" name="Image 5" descr="/tmp/claude-0/-home-user-mangoiweb/ca835eb4-1670-5fc1-a29a-2fc77598fea3/scratchpad/deck_img/streak.jpg">    </p:cNvPr>
          <p:cNvPicPr>
            <a:picLocks noChangeAspect="1"/>
          </p:cNvPicPr>
          <p:nvPr/>
        </p:nvPicPr>
        <p:blipFill>
          <a:blip r:embed="rId6"/>
          <a:srcRect l="1200" r="-1200" t="0" b="0"/>
          <a:stretch/>
        </p:blipFill>
        <p:spPr>
          <a:xfrm>
            <a:off x="9725558" y="2615184"/>
            <a:ext cx="1713586" cy="1097280"/>
          </a:xfrm>
          <a:prstGeom prst="rect">
            <a:avLst/>
          </a:prstGeom>
        </p:spPr>
      </p:pic>
      <p:sp>
        <p:nvSpPr>
          <p:cNvPr id="36" name="Shape 28"/>
          <p:cNvSpPr/>
          <p:nvPr/>
        </p:nvSpPr>
        <p:spPr>
          <a:xfrm>
            <a:off x="566928" y="5358384"/>
            <a:ext cx="11055096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37" name="Text 29"/>
          <p:cNvSpPr/>
          <p:nvPr/>
        </p:nvSpPr>
        <p:spPr>
          <a:xfrm>
            <a:off x="566928" y="5358384"/>
            <a:ext cx="11055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밖의 시간까지 같은 시스템 안에서 관리합니다</a:t>
            </a:r>
            <a:endParaRPr lang="en-US" sz="1700" dirty="0"/>
          </a:p>
        </p:txBody>
      </p:sp>
      <p:sp>
        <p:nvSpPr>
          <p:cNvPr id="38" name="Text 30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02 · SPEAKING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379915" y="384048"/>
            <a:ext cx="224485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379915" y="384048"/>
            <a:ext cx="22448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Coach &amp; AI Friend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없는 날에도 말합니다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36192"/>
            <a:ext cx="5468112" cy="3446800"/>
          </a:xfrm>
          <a:prstGeom prst="roundRect">
            <a:avLst>
              <a:gd name="adj" fmla="val 212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72768"/>
            <a:ext cx="5394960" cy="33736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0292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85216" y="5431536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22960" y="535838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 선택 (Phonics ~ 고급)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85216" y="5760720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22960" y="568756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발음 듣고 따라 말하기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85216" y="6089904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2960" y="60167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또박또박 말했는지 즉시 채점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199632" y="1536192"/>
            <a:ext cx="5468112" cy="3479170"/>
          </a:xfrm>
          <a:prstGeom prst="roundRect">
            <a:avLst>
              <a:gd name="adj" fmla="val 210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7" name="Image 2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1572768"/>
            <a:ext cx="5394960" cy="340601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236208" y="50292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254496" y="5431536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6492240" y="535838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Emma · Jake 중 골라서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6254496" y="5760720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6492240" y="568756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피자 · 우주 · 공룡 주제로 대화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6254496" y="6089904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6492240" y="60167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틀려도 웃지 않고 포인트를 줍니다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03 · REVIEW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457639" y="384048"/>
            <a:ext cx="216712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457639" y="384048"/>
            <a:ext cx="2167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Vocab · Writing · Quiz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예복습을 혼자 하라고 두지 않습니다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5468112" cy="2084832"/>
          </a:xfrm>
          <a:prstGeom prst="roundRect">
            <a:avLst>
              <a:gd name="adj" fmla="val 3509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vocab.jpg">    </p:cNvPr>
          <p:cNvPicPr>
            <a:picLocks noChangeAspect="1"/>
          </p:cNvPicPr>
          <p:nvPr/>
        </p:nvPicPr>
        <p:blipFill>
          <a:blip r:embed="rId2"/>
          <a:srcRect l="0" r="0" t="33852" b="-33852"/>
          <a:stretch/>
        </p:blipFill>
        <p:spPr>
          <a:xfrm>
            <a:off x="566928" y="1554480"/>
            <a:ext cx="5394960" cy="20116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365760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단어장 — 뜻·예문 자동 생성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6190488" y="1517904"/>
            <a:ext cx="5468112" cy="2084832"/>
          </a:xfrm>
          <a:prstGeom prst="roundRect">
            <a:avLst>
              <a:gd name="adj" fmla="val 3509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1" name="Image 2" descr="/tmp/claude-0/-home-user-mangoiweb/ca835eb4-1670-5fc1-a29a-2fc77598fea3/scratchpad/deck_img/aiwrite.jpg">    </p:cNvPr>
          <p:cNvPicPr>
            <a:picLocks noChangeAspect="1"/>
          </p:cNvPicPr>
          <p:nvPr/>
        </p:nvPicPr>
        <p:blipFill>
          <a:blip r:embed="rId3"/>
          <a:srcRect l="0" r="0" t="33852" b="-33852"/>
          <a:stretch/>
        </p:blipFill>
        <p:spPr>
          <a:xfrm>
            <a:off x="6227064" y="1554480"/>
            <a:ext cx="5394960" cy="20116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227064" y="365760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 — 이유까지 설명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530352" y="3913632"/>
            <a:ext cx="5468112" cy="2084832"/>
          </a:xfrm>
          <a:prstGeom prst="roundRect">
            <a:avLst>
              <a:gd name="adj" fmla="val 3509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4" name="Image 3" descr="/tmp/claude-0/-home-user-mangoiweb/ca835eb4-1670-5fc1-a29a-2fc77598fea3/scratchpad/deck_img/microquiz.jpg">    </p:cNvPr>
          <p:cNvPicPr>
            <a:picLocks noChangeAspect="1"/>
          </p:cNvPicPr>
          <p:nvPr/>
        </p:nvPicPr>
        <p:blipFill>
          <a:blip r:embed="rId4"/>
          <a:srcRect l="0" r="0" t="33852" b="-33852"/>
          <a:stretch/>
        </p:blipFill>
        <p:spPr>
          <a:xfrm>
            <a:off x="566928" y="3950208"/>
            <a:ext cx="5394960" cy="20116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66928" y="605332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단어 퀴즈 — 1분 안에 끝</a:t>
            </a:r>
            <a:endParaRPr lang="en-US" sz="1150" dirty="0"/>
          </a:p>
        </p:txBody>
      </p:sp>
      <p:sp>
        <p:nvSpPr>
          <p:cNvPr id="16" name="Shape 10"/>
          <p:cNvSpPr/>
          <p:nvPr/>
        </p:nvSpPr>
        <p:spPr>
          <a:xfrm>
            <a:off x="6190488" y="3913632"/>
            <a:ext cx="5468112" cy="2084832"/>
          </a:xfrm>
          <a:prstGeom prst="roundRect">
            <a:avLst>
              <a:gd name="adj" fmla="val 3509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7" name="Image 4" descr="/tmp/claude-0/-home-user-mangoiweb/ca835eb4-1670-5fc1-a29a-2fc77598fea3/scratchpad/deck_img/streak.jpg">    </p:cNvPr>
          <p:cNvPicPr>
            <a:picLocks noChangeAspect="1"/>
          </p:cNvPicPr>
          <p:nvPr/>
        </p:nvPicPr>
        <p:blipFill>
          <a:blip r:embed="rId5"/>
          <a:srcRect l="0" r="0" t="33852" b="-33852"/>
          <a:stretch/>
        </p:blipFill>
        <p:spPr>
          <a:xfrm>
            <a:off x="6227064" y="3950208"/>
            <a:ext cx="5394960" cy="201168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227064" y="605332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학습 — 습관을 잡는다</a:t>
            </a:r>
            <a:endParaRPr lang="en-US" sz="1150" dirty="0"/>
          </a:p>
        </p:txBody>
      </p:sp>
      <p:sp>
        <p:nvSpPr>
          <p:cNvPr id="19" name="Text 12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04 · GAMIFICATION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846259" y="384048"/>
            <a:ext cx="177850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846259" y="384048"/>
            <a:ext cx="17785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Language Games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복습이 놀이가 됩니다 · 학습 게임 21종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5102352" cy="3218078"/>
          </a:xfrm>
          <a:prstGeom prst="roundRect">
            <a:avLst>
              <a:gd name="adj" fmla="val 227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5029200" cy="314492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48097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허브 — 퀘스트 · 연속 학습 · 랭킹 · 포인트 상점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5907024" y="1517904"/>
            <a:ext cx="1865376" cy="1188720"/>
          </a:xfrm>
          <a:prstGeom prst="roundRect">
            <a:avLst>
              <a:gd name="adj" fmla="val 615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1" name="Image 2" descr="/tmp/claude-0/-home-user-mangoiweb/ca835eb4-1670-5fc1-a29a-2fc77598fea3/scratchpad/deck_img/spacemon.jpg">    </p:cNvPr>
          <p:cNvPicPr>
            <a:picLocks noChangeAspect="1"/>
          </p:cNvPicPr>
          <p:nvPr/>
        </p:nvPicPr>
        <p:blipFill>
          <a:blip r:embed="rId3"/>
          <a:srcRect l="0" r="0" t="232" b="-232"/>
          <a:stretch/>
        </p:blipFill>
        <p:spPr>
          <a:xfrm>
            <a:off x="5943600" y="1554480"/>
            <a:ext cx="1792224" cy="11155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943600" y="2761488"/>
            <a:ext cx="1792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우주 괴물 사냥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7845552" y="1517904"/>
            <a:ext cx="1865376" cy="1188720"/>
          </a:xfrm>
          <a:prstGeom prst="roundRect">
            <a:avLst>
              <a:gd name="adj" fmla="val 615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4" name="Image 3" descr="/tmp/claude-0/-home-user-mangoiweb/ca835eb4-1670-5fc1-a29a-2fc77598fea3/scratchpad/deck_img/grammarpizza.jpg">    </p:cNvPr>
          <p:cNvPicPr>
            <a:picLocks noChangeAspect="1"/>
          </p:cNvPicPr>
          <p:nvPr/>
        </p:nvPicPr>
        <p:blipFill>
          <a:blip r:embed="rId4"/>
          <a:srcRect l="0" r="0" t="232" b="-232"/>
          <a:stretch/>
        </p:blipFill>
        <p:spPr>
          <a:xfrm>
            <a:off x="7882128" y="1554480"/>
            <a:ext cx="1792224" cy="111556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882128" y="2761488"/>
            <a:ext cx="1792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문법 피자 마스터</a:t>
            </a:r>
            <a:endParaRPr lang="en-US" sz="1000" dirty="0"/>
          </a:p>
        </p:txBody>
      </p:sp>
      <p:sp>
        <p:nvSpPr>
          <p:cNvPr id="16" name="Shape 10"/>
          <p:cNvSpPr/>
          <p:nvPr/>
        </p:nvSpPr>
        <p:spPr>
          <a:xfrm>
            <a:off x="9784080" y="1517904"/>
            <a:ext cx="1865376" cy="1188720"/>
          </a:xfrm>
          <a:prstGeom prst="roundRect">
            <a:avLst>
              <a:gd name="adj" fmla="val 615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7" name="Image 4" descr="/tmp/claude-0/-home-user-mangoiweb/ca835eb4-1670-5fc1-a29a-2fc77598fea3/scratchpad/deck_img/langace.jpg">    </p:cNvPr>
          <p:cNvPicPr>
            <a:picLocks noChangeAspect="1"/>
          </p:cNvPicPr>
          <p:nvPr/>
        </p:nvPicPr>
        <p:blipFill>
          <a:blip r:embed="rId5"/>
          <a:srcRect l="0" r="0" t="232" b="-232"/>
          <a:stretch/>
        </p:blipFill>
        <p:spPr>
          <a:xfrm>
            <a:off x="9820656" y="1554480"/>
            <a:ext cx="1792224" cy="111556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9820656" y="2761488"/>
            <a:ext cx="1792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P-38 라이트닝</a:t>
            </a:r>
            <a:endParaRPr lang="en-US" sz="1000" dirty="0"/>
          </a:p>
        </p:txBody>
      </p:sp>
      <p:sp>
        <p:nvSpPr>
          <p:cNvPr id="19" name="Shape 12"/>
          <p:cNvSpPr/>
          <p:nvPr/>
        </p:nvSpPr>
        <p:spPr>
          <a:xfrm>
            <a:off x="5907024" y="3218688"/>
            <a:ext cx="1865376" cy="1188720"/>
          </a:xfrm>
          <a:prstGeom prst="roundRect">
            <a:avLst>
              <a:gd name="adj" fmla="val 615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0" name="Image 5" descr="/tmp/claude-0/-home-user-mangoiweb/ca835eb4-1670-5fc1-a29a-2fc77598fea3/scratchpad/deck_img/escape.jpg">    </p:cNvPr>
          <p:cNvPicPr>
            <a:picLocks noChangeAspect="1"/>
          </p:cNvPicPr>
          <p:nvPr/>
        </p:nvPicPr>
        <p:blipFill>
          <a:blip r:embed="rId6"/>
          <a:srcRect l="0" r="0" t="232" b="-232"/>
          <a:stretch/>
        </p:blipFill>
        <p:spPr>
          <a:xfrm>
            <a:off x="5943600" y="3255264"/>
            <a:ext cx="1792224" cy="1115568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943600" y="4462272"/>
            <a:ext cx="1792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탈출 SOS</a:t>
            </a:r>
            <a:endParaRPr lang="en-US" sz="1000" dirty="0"/>
          </a:p>
        </p:txBody>
      </p:sp>
      <p:sp>
        <p:nvSpPr>
          <p:cNvPr id="22" name="Shape 14"/>
          <p:cNvSpPr/>
          <p:nvPr/>
        </p:nvSpPr>
        <p:spPr>
          <a:xfrm>
            <a:off x="7845552" y="3218688"/>
            <a:ext cx="1865376" cy="1188720"/>
          </a:xfrm>
          <a:prstGeom prst="roundRect">
            <a:avLst>
              <a:gd name="adj" fmla="val 615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3" name="Image 6" descr="/tmp/claude-0/-home-user-mangoiweb/ca835eb4-1670-5fc1-a29a-2fc77598fea3/scratchpad/deck_img/suspect.jpg">    </p:cNvPr>
          <p:cNvPicPr>
            <a:picLocks noChangeAspect="1"/>
          </p:cNvPicPr>
          <p:nvPr/>
        </p:nvPicPr>
        <p:blipFill>
          <a:blip r:embed="rId7"/>
          <a:srcRect l="0" r="0" t="232" b="-232"/>
          <a:stretch/>
        </p:blipFill>
        <p:spPr>
          <a:xfrm>
            <a:off x="7882128" y="3255264"/>
            <a:ext cx="1792224" cy="1115568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7882128" y="4462272"/>
            <a:ext cx="1792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서스펙트 미스터리</a:t>
            </a:r>
            <a:endParaRPr lang="en-US" sz="1000" dirty="0"/>
          </a:p>
        </p:txBody>
      </p:sp>
      <p:sp>
        <p:nvSpPr>
          <p:cNvPr id="25" name="Shape 16"/>
          <p:cNvSpPr/>
          <p:nvPr/>
        </p:nvSpPr>
        <p:spPr>
          <a:xfrm>
            <a:off x="9784080" y="3218688"/>
            <a:ext cx="1865376" cy="1188720"/>
          </a:xfrm>
          <a:prstGeom prst="roundRect">
            <a:avLst>
              <a:gd name="adj" fmla="val 615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6" name="Image 7" descr="/tmp/claude-0/-home-user-mangoiweb/ca835eb4-1670-5fc1-a29a-2fc77598fea3/scratchpad/deck_img/battle3d.jpg">    </p:cNvPr>
          <p:cNvPicPr>
            <a:picLocks noChangeAspect="1"/>
          </p:cNvPicPr>
          <p:nvPr/>
        </p:nvPicPr>
        <p:blipFill>
          <a:blip r:embed="rId8"/>
          <a:srcRect l="0" r="0" t="232" b="-232"/>
          <a:stretch/>
        </p:blipFill>
        <p:spPr>
          <a:xfrm>
            <a:off x="9820656" y="3255264"/>
            <a:ext cx="1792224" cy="1115568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9820656" y="4462272"/>
            <a:ext cx="1792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3D 배틀</a:t>
            </a:r>
            <a:endParaRPr lang="en-US" sz="1000" dirty="0"/>
          </a:p>
        </p:txBody>
      </p:sp>
      <p:sp>
        <p:nvSpPr>
          <p:cNvPr id="28" name="Shape 18"/>
          <p:cNvSpPr/>
          <p:nvPr/>
        </p:nvSpPr>
        <p:spPr>
          <a:xfrm>
            <a:off x="5943600" y="4974336"/>
            <a:ext cx="5687568" cy="731520"/>
          </a:xfrm>
          <a:prstGeom prst="roundRect">
            <a:avLst>
              <a:gd name="adj" fmla="val 12500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9" name="Text 19"/>
          <p:cNvSpPr/>
          <p:nvPr/>
        </p:nvSpPr>
        <p:spPr>
          <a:xfrm>
            <a:off x="5943600" y="4974336"/>
            <a:ext cx="5687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틀린 단어가 그대로 게임 재료가 됩니다</a:t>
            </a:r>
            <a:endParaRPr lang="en-US" sz="1300" dirty="0"/>
          </a:p>
        </p:txBody>
      </p:sp>
      <p:sp>
        <p:nvSpPr>
          <p:cNvPr id="30" name="Text 20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05 · REPORT &amp; ALL-IN-ONE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157155" y="384048"/>
            <a:ext cx="146761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157155" y="384048"/>
            <a:ext cx="14676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 Report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학부모에게는 카톡으로, 학생에게는 한 화면으로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30352" y="1536192"/>
            <a:ext cx="3547872" cy="2249424"/>
          </a:xfrm>
          <a:prstGeom prst="roundRect">
            <a:avLst>
              <a:gd name="adj" fmla="val 325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parent.jpg">    </p:cNvPr>
          <p:cNvPicPr>
            <a:picLocks noChangeAspect="1"/>
          </p:cNvPicPr>
          <p:nvPr/>
        </p:nvPicPr>
        <p:blipFill>
          <a:blip r:embed="rId2"/>
          <a:srcRect l="0" r="0" t="1305" b="-1305"/>
          <a:stretch/>
        </p:blipFill>
        <p:spPr>
          <a:xfrm>
            <a:off x="566928" y="1572768"/>
            <a:ext cx="3474720" cy="21762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38404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 주간 리포트 — 카카오톡 발송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4242816" y="1536192"/>
            <a:ext cx="3547872" cy="2249424"/>
          </a:xfrm>
          <a:prstGeom prst="roundRect">
            <a:avLst>
              <a:gd name="adj" fmla="val 325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1" name="Image 2" descr="/tmp/claude-0/-home-user-mangoiweb/ca835eb4-1670-5fc1-a29a-2fc77598fea3/scratchpad/deck_img/home.jpg">    </p:cNvPr>
          <p:cNvPicPr>
            <a:picLocks noChangeAspect="1"/>
          </p:cNvPicPr>
          <p:nvPr/>
        </p:nvPicPr>
        <p:blipFill>
          <a:blip r:embed="rId3"/>
          <a:srcRect l="0" r="0" t="401" b="-401"/>
          <a:stretch/>
        </p:blipFill>
        <p:spPr>
          <a:xfrm>
            <a:off x="4279392" y="1572768"/>
            <a:ext cx="3474720" cy="217627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279392" y="38404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— 말하면 기능으로 바로 이동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7955280" y="1536192"/>
            <a:ext cx="3547872" cy="2249424"/>
          </a:xfrm>
          <a:prstGeom prst="roundRect">
            <a:avLst>
              <a:gd name="adj" fmla="val 325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4" name="Image 3" descr="/tmp/claude-0/-home-user-mangoiweb/ca835eb4-1670-5fc1-a29a-2fc77598fea3/scratchpad/deck_img/allmenu.jpg">    </p:cNvPr>
          <p:cNvPicPr>
            <a:picLocks noChangeAspect="1"/>
          </p:cNvPicPr>
          <p:nvPr/>
        </p:nvPicPr>
        <p:blipFill>
          <a:blip r:embed="rId4"/>
          <a:srcRect l="0" r="0" t="401" b="-401"/>
          <a:stretch/>
        </p:blipFill>
        <p:spPr>
          <a:xfrm>
            <a:off x="7991856" y="1572768"/>
            <a:ext cx="3474720" cy="217627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991856" y="38404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메뉴 — 학습·수업·결제 한 곳에</a:t>
            </a:r>
            <a:endParaRPr lang="en-US" sz="1050" dirty="0"/>
          </a:p>
        </p:txBody>
      </p:sp>
      <p:sp>
        <p:nvSpPr>
          <p:cNvPr id="16" name="Shape 10"/>
          <p:cNvSpPr/>
          <p:nvPr/>
        </p:nvSpPr>
        <p:spPr>
          <a:xfrm>
            <a:off x="566928" y="4352544"/>
            <a:ext cx="347472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786384" y="444398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수업</a:t>
            </a:r>
            <a:endParaRPr lang="en-US" sz="950" dirty="0"/>
          </a:p>
        </p:txBody>
      </p:sp>
      <p:sp>
        <p:nvSpPr>
          <p:cNvPr id="18" name="Text 12"/>
          <p:cNvSpPr/>
          <p:nvPr/>
        </p:nvSpPr>
        <p:spPr>
          <a:xfrm>
            <a:off x="786384" y="466344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자동 평가서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4279392" y="4352544"/>
            <a:ext cx="347472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4498848" y="444398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</a:t>
            </a:r>
            <a:endParaRPr lang="en-US" sz="950" dirty="0"/>
          </a:p>
        </p:txBody>
      </p:sp>
      <p:sp>
        <p:nvSpPr>
          <p:cNvPr id="21" name="Text 15"/>
          <p:cNvSpPr/>
          <p:nvPr/>
        </p:nvSpPr>
        <p:spPr>
          <a:xfrm>
            <a:off x="4498848" y="466344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 주간 리포트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7991856" y="4352544"/>
            <a:ext cx="347472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8211312" y="444398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매달</a:t>
            </a:r>
            <a:endParaRPr lang="en-US" sz="950" dirty="0"/>
          </a:p>
        </p:txBody>
      </p:sp>
      <p:sp>
        <p:nvSpPr>
          <p:cNvPr id="24" name="Text 18"/>
          <p:cNvSpPr/>
          <p:nvPr/>
        </p:nvSpPr>
        <p:spPr>
          <a:xfrm>
            <a:off x="8211312" y="466344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A.I 학습 리포트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COMPARISON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390327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390327" y="38404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일반 화상영어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다른가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7882128" y="1554480"/>
            <a:ext cx="3739896" cy="4023360"/>
          </a:xfrm>
          <a:prstGeom prst="roundRect">
            <a:avLst>
              <a:gd name="adj" fmla="val 2445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315968" y="1645920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화상영어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083296" y="1645920"/>
            <a:ext cx="3374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MANGO AI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121408"/>
            <a:ext cx="7315200" cy="530352"/>
          </a:xfrm>
          <a:prstGeom prst="rect">
            <a:avLst/>
          </a:prstGeom>
          <a:solidFill>
            <a:srgbClr val="121830"/>
          </a:solidFill>
          <a:ln w="12700">
            <a:solidFill>
              <a:srgbClr val="12183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68096" y="21579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315968" y="2157984"/>
            <a:ext cx="3218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화상수업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8083296" y="2157984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전담 1:1 · 1:2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68096" y="272491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밖 시간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315968" y="2724912"/>
            <a:ext cx="3218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자율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083296" y="2724912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 · 음성코치 · 친구 대화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255264"/>
            <a:ext cx="7315200" cy="530352"/>
          </a:xfrm>
          <a:prstGeom prst="rect">
            <a:avLst/>
          </a:prstGeom>
          <a:solidFill>
            <a:srgbClr val="121830"/>
          </a:solidFill>
          <a:ln w="12700">
            <a:solidFill>
              <a:srgbClr val="12183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8096" y="3291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315968" y="3291840"/>
            <a:ext cx="3218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숙제 또는 없음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8083296" y="32918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10문항 + 게임 21종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68096" y="38587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315968" y="3858768"/>
            <a:ext cx="3218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 코멘트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8083296" y="38587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자동 평가서 + 월간 리포트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389120"/>
            <a:ext cx="7315200" cy="530352"/>
          </a:xfrm>
          <a:prstGeom prst="rect">
            <a:avLst/>
          </a:prstGeom>
          <a:solidFill>
            <a:srgbClr val="121830"/>
          </a:solidFill>
          <a:ln w="12700">
            <a:solidFill>
              <a:srgbClr val="12183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68096" y="442569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 소통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315968" y="4425696"/>
            <a:ext cx="3218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1회 상담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8083296" y="4425696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 실시간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768096" y="49926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4315968" y="4992624"/>
            <a:ext cx="3218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도구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8083296" y="4992624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학습·평가·결제 올인원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566928" y="576072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일반 화상영어 열은 업계 통상 구성을 요약한 것으로 특정 업체를 지칭하지 않습니다.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usag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28600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22860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03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66928" y="1024128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0" b="1" dirty="0">
                <a:solidFill>
                  <a:srgbClr val="222C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600" dirty="0"/>
          </a:p>
        </p:txBody>
      </p:sp>
      <p:sp>
        <p:nvSpPr>
          <p:cNvPr id="6" name="Text 3"/>
          <p:cNvSpPr/>
          <p:nvPr/>
        </p:nvSpPr>
        <p:spPr>
          <a:xfrm>
            <a:off x="566928" y="2779776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사용방법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566928" y="35661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5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Journey Guide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6928" y="411480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상담부터 수업, 복습까지 실제 화면으로.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19088" y="1664208"/>
            <a:ext cx="5248656" cy="3309567"/>
          </a:xfrm>
          <a:prstGeom prst="roundRect">
            <a:avLst>
              <a:gd name="adj" fmla="val 221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0" name="Image 1" descr="/tmp/claude-0/-home-user-mangoiweb/ca835eb4-1670-5fc1-a29a-2fc77598fea3/scratchpad/deck_img/book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700784"/>
            <a:ext cx="5175504" cy="323641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55664" y="5120079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신청 — 시간 · 교사 · 결제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usag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USER JOURNEY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73207" y="38404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73207" y="38404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Steps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가입부터 복습까지, 다섯 걸음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2079346" cy="2926080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755648"/>
            <a:ext cx="420624" cy="42062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68096" y="2286000"/>
            <a:ext cx="16770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무료 상담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2980944"/>
            <a:ext cx="1750162" cy="1121842"/>
          </a:xfrm>
          <a:prstGeom prst="roundRect">
            <a:avLst>
              <a:gd name="adj" fmla="val 652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2" name="Image 1" descr="/tmp/claude-0/-home-user-mangoiweb/ca835eb4-1670-5fc1-a29a-2fc77598fea3/scratchpad/deck_img/faq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3017520"/>
            <a:ext cx="1677010" cy="104869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2810866" y="1554480"/>
            <a:ext cx="2079346" cy="2926080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012034" y="1755648"/>
            <a:ext cx="420624" cy="42062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012034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012034" y="2286000"/>
            <a:ext cx="16770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 테스트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2975458" y="2980944"/>
            <a:ext cx="1750162" cy="1121842"/>
          </a:xfrm>
          <a:prstGeom prst="roundRect">
            <a:avLst>
              <a:gd name="adj" fmla="val 652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8" name="Image 2" descr="/tmp/claude-0/-home-user-mangoiweb/ca835eb4-1670-5fc1-a29a-2fc77598fea3/scratchpad/deck_img/leveltestai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2034" y="3017520"/>
            <a:ext cx="1677010" cy="104869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054803" y="1554480"/>
            <a:ext cx="2079346" cy="2926080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255971" y="1755648"/>
            <a:ext cx="420624" cy="42062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255971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5255971" y="2286000"/>
            <a:ext cx="16770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신청 · 결제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5219395" y="2980944"/>
            <a:ext cx="1750162" cy="1121842"/>
          </a:xfrm>
          <a:prstGeom prst="roundRect">
            <a:avLst>
              <a:gd name="adj" fmla="val 652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4" name="Image 3" descr="/tmp/claude-0/-home-user-mangoiweb/ca835eb4-1670-5fc1-a29a-2fc77598fea3/scratchpad/deck_img/booking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5971" y="3017520"/>
            <a:ext cx="1677010" cy="104869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7298741" y="1554480"/>
            <a:ext cx="2079346" cy="2926080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7499909" y="1755648"/>
            <a:ext cx="420624" cy="42062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499909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7499909" y="2286000"/>
            <a:ext cx="16770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당일</a:t>
            </a:r>
            <a:endParaRPr lang="en-US" sz="1500" dirty="0"/>
          </a:p>
        </p:txBody>
      </p:sp>
      <p:sp>
        <p:nvSpPr>
          <p:cNvPr id="29" name="Shape 23"/>
          <p:cNvSpPr/>
          <p:nvPr/>
        </p:nvSpPr>
        <p:spPr>
          <a:xfrm>
            <a:off x="7463333" y="2980944"/>
            <a:ext cx="1750162" cy="1121842"/>
          </a:xfrm>
          <a:prstGeom prst="roundRect">
            <a:avLst>
              <a:gd name="adj" fmla="val 652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0" name="Image 4" descr="/tmp/claude-0/-home-user-mangoiweb/ca835eb4-1670-5fc1-a29a-2fc77598fea3/scratchpad/deck_img/precheck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9909" y="3017520"/>
            <a:ext cx="1677010" cy="1048690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9542678" y="1554480"/>
            <a:ext cx="2079346" cy="2926080"/>
          </a:xfrm>
          <a:prstGeom prst="roundRect">
            <a:avLst>
              <a:gd name="adj" fmla="val 439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9743846" y="1755648"/>
            <a:ext cx="420624" cy="42062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9743846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34" name="Text 27"/>
          <p:cNvSpPr/>
          <p:nvPr/>
        </p:nvSpPr>
        <p:spPr>
          <a:xfrm>
            <a:off x="9743846" y="2286000"/>
            <a:ext cx="16770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· 복습</a:t>
            </a:r>
            <a:endParaRPr lang="en-US" sz="1500" dirty="0"/>
          </a:p>
        </p:txBody>
      </p:sp>
      <p:sp>
        <p:nvSpPr>
          <p:cNvPr id="35" name="Shape 28"/>
          <p:cNvSpPr/>
          <p:nvPr/>
        </p:nvSpPr>
        <p:spPr>
          <a:xfrm>
            <a:off x="9707270" y="2980944"/>
            <a:ext cx="1750162" cy="1121842"/>
          </a:xfrm>
          <a:prstGeom prst="roundRect">
            <a:avLst>
              <a:gd name="adj" fmla="val 652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6" name="Image 5" descr="/tmp/claude-0/-home-user-mangoiweb/ca835eb4-1670-5fc1-a29a-2fc77598fea3/scratchpad/deck_img/microquiz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43846" y="3017520"/>
            <a:ext cx="1677010" cy="1048690"/>
          </a:xfrm>
          <a:prstGeom prst="rect">
            <a:avLst/>
          </a:prstGeom>
        </p:spPr>
      </p:pic>
      <p:sp>
        <p:nvSpPr>
          <p:cNvPr id="37" name="Shape 29"/>
          <p:cNvSpPr/>
          <p:nvPr/>
        </p:nvSpPr>
        <p:spPr>
          <a:xfrm>
            <a:off x="530352" y="4681728"/>
            <a:ext cx="2152498" cy="1371600"/>
          </a:xfrm>
          <a:prstGeom prst="roundRect">
            <a:avLst>
              <a:gd name="adj" fmla="val 533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8" name="Image 6" descr="/tmp/claude-0/-home-user-mangoiweb/ca835eb4-1670-5fc1-a29a-2fc77598fea3/scratchpad/deck_img/home.jpg">    </p:cNvPr>
          <p:cNvPicPr>
            <a:picLocks noChangeAspect="1"/>
          </p:cNvPicPr>
          <p:nvPr/>
        </p:nvPicPr>
        <p:blipFill>
          <a:blip r:embed="rId7"/>
          <a:srcRect l="0" r="0" t="551" b="-551"/>
          <a:stretch/>
        </p:blipFill>
        <p:spPr>
          <a:xfrm>
            <a:off x="566928" y="4718304"/>
            <a:ext cx="2079346" cy="1298448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566928" y="6108192"/>
            <a:ext cx="20793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</a:t>
            </a:r>
            <a:endParaRPr lang="en-US" sz="1050" dirty="0"/>
          </a:p>
        </p:txBody>
      </p:sp>
      <p:sp>
        <p:nvSpPr>
          <p:cNvPr id="40" name="Shape 31"/>
          <p:cNvSpPr/>
          <p:nvPr/>
        </p:nvSpPr>
        <p:spPr>
          <a:xfrm>
            <a:off x="2774290" y="4681728"/>
            <a:ext cx="2152498" cy="1371600"/>
          </a:xfrm>
          <a:prstGeom prst="roundRect">
            <a:avLst>
              <a:gd name="adj" fmla="val 533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1" name="Image 7" descr="/tmp/claude-0/-home-user-mangoiweb/ca835eb4-1670-5fc1-a29a-2fc77598fea3/scratchpad/deck_img/curriculum.jpg">    </p:cNvPr>
          <p:cNvPicPr>
            <a:picLocks noChangeAspect="1"/>
          </p:cNvPicPr>
          <p:nvPr/>
        </p:nvPicPr>
        <p:blipFill>
          <a:blip r:embed="rId8"/>
          <a:srcRect l="0" r="0" t="551" b="-551"/>
          <a:stretch/>
        </p:blipFill>
        <p:spPr>
          <a:xfrm>
            <a:off x="2810866" y="4718304"/>
            <a:ext cx="2079346" cy="1298448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2810866" y="6108192"/>
            <a:ext cx="20793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교육과정</a:t>
            </a:r>
            <a:endParaRPr lang="en-US" sz="1050" dirty="0"/>
          </a:p>
        </p:txBody>
      </p:sp>
      <p:sp>
        <p:nvSpPr>
          <p:cNvPr id="43" name="Shape 33"/>
          <p:cNvSpPr/>
          <p:nvPr/>
        </p:nvSpPr>
        <p:spPr>
          <a:xfrm>
            <a:off x="5018227" y="4681728"/>
            <a:ext cx="2152498" cy="1371600"/>
          </a:xfrm>
          <a:prstGeom prst="roundRect">
            <a:avLst>
              <a:gd name="adj" fmla="val 533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4" name="Image 8" descr="/tmp/claude-0/-home-user-mangoiweb/ca835eb4-1670-5fc1-a29a-2fc77598fea3/scratchpad/deck_img/warmup.jpg">    </p:cNvPr>
          <p:cNvPicPr>
            <a:picLocks noChangeAspect="1"/>
          </p:cNvPicPr>
          <p:nvPr/>
        </p:nvPicPr>
        <p:blipFill>
          <a:blip r:embed="rId9"/>
          <a:srcRect l="0" r="0" t="71" b="-71"/>
          <a:stretch/>
        </p:blipFill>
        <p:spPr>
          <a:xfrm>
            <a:off x="5054803" y="4718304"/>
            <a:ext cx="2079346" cy="1298448"/>
          </a:xfrm>
          <a:prstGeom prst="rect">
            <a:avLst/>
          </a:prstGeom>
        </p:spPr>
      </p:pic>
      <p:sp>
        <p:nvSpPr>
          <p:cNvPr id="45" name="Text 34"/>
          <p:cNvSpPr/>
          <p:nvPr/>
        </p:nvSpPr>
        <p:spPr>
          <a:xfrm>
            <a:off x="5054803" y="6108192"/>
            <a:ext cx="20793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</a:t>
            </a:r>
            <a:endParaRPr lang="en-US" sz="1050" dirty="0"/>
          </a:p>
        </p:txBody>
      </p:sp>
      <p:sp>
        <p:nvSpPr>
          <p:cNvPr id="46" name="Shape 35"/>
          <p:cNvSpPr/>
          <p:nvPr/>
        </p:nvSpPr>
        <p:spPr>
          <a:xfrm>
            <a:off x="7262165" y="4681728"/>
            <a:ext cx="2152498" cy="1371600"/>
          </a:xfrm>
          <a:prstGeom prst="roundRect">
            <a:avLst>
              <a:gd name="adj" fmla="val 533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7" name="Image 9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10"/>
          <a:srcRect l="0" r="0" t="71" b="-71"/>
          <a:stretch/>
        </p:blipFill>
        <p:spPr>
          <a:xfrm>
            <a:off x="7298741" y="4718304"/>
            <a:ext cx="2079346" cy="1298448"/>
          </a:xfrm>
          <a:prstGeom prst="rect">
            <a:avLst/>
          </a:prstGeom>
        </p:spPr>
      </p:pic>
      <p:sp>
        <p:nvSpPr>
          <p:cNvPr id="48" name="Text 36"/>
          <p:cNvSpPr/>
          <p:nvPr/>
        </p:nvSpPr>
        <p:spPr>
          <a:xfrm>
            <a:off x="7298741" y="6108192"/>
            <a:ext cx="20793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</a:t>
            </a:r>
            <a:endParaRPr lang="en-US" sz="1050" dirty="0"/>
          </a:p>
        </p:txBody>
      </p:sp>
      <p:sp>
        <p:nvSpPr>
          <p:cNvPr id="49" name="Shape 37"/>
          <p:cNvSpPr/>
          <p:nvPr/>
        </p:nvSpPr>
        <p:spPr>
          <a:xfrm>
            <a:off x="9506102" y="4681728"/>
            <a:ext cx="2152498" cy="1371600"/>
          </a:xfrm>
          <a:prstGeom prst="roundRect">
            <a:avLst>
              <a:gd name="adj" fmla="val 533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0" name="Image 10" descr="/tmp/claude-0/-home-user-mangoiweb/ca835eb4-1670-5fc1-a29a-2fc77598fea3/scratchpad/deck_img/parent.jpg">    </p:cNvPr>
          <p:cNvPicPr>
            <a:picLocks noChangeAspect="1"/>
          </p:cNvPicPr>
          <p:nvPr/>
        </p:nvPicPr>
        <p:blipFill>
          <a:blip r:embed="rId11"/>
          <a:srcRect l="0" r="0" t="1459" b="-1459"/>
          <a:stretch/>
        </p:blipFill>
        <p:spPr>
          <a:xfrm>
            <a:off x="9542678" y="4718304"/>
            <a:ext cx="2079346" cy="1298448"/>
          </a:xfrm>
          <a:prstGeom prst="rect">
            <a:avLst/>
          </a:prstGeom>
        </p:spPr>
      </p:pic>
      <p:sp>
        <p:nvSpPr>
          <p:cNvPr id="51" name="Text 38"/>
          <p:cNvSpPr/>
          <p:nvPr/>
        </p:nvSpPr>
        <p:spPr>
          <a:xfrm>
            <a:off x="9542678" y="6108192"/>
            <a:ext cx="20793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 리포트</a:t>
            </a:r>
            <a:endParaRPr lang="en-US" sz="1050" dirty="0"/>
          </a:p>
        </p:txBody>
      </p:sp>
      <p:sp>
        <p:nvSpPr>
          <p:cNvPr id="52" name="Text 39"/>
          <p:cNvSpPr/>
          <p:nvPr/>
        </p:nvSpPr>
        <p:spPr>
          <a:xfrm>
            <a:off x="566928" y="634593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수강 중이라면 홈의 «수업 입장 →» 한 번으로 교실까지.</a:t>
            </a:r>
            <a:endParaRPr lang="en-US" sz="1200" dirty="0"/>
          </a:p>
        </p:txBody>
      </p:sp>
      <p:sp>
        <p:nvSpPr>
          <p:cNvPr id="53" name="Text 40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usag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 · 2 · 3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79431" y="384048"/>
            <a:ext cx="154533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79431" y="38404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&amp; Booking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레벨을 확인하고, 시간을 고릅니다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36192"/>
            <a:ext cx="5468112" cy="2084832"/>
          </a:xfrm>
          <a:prstGeom prst="roundRect">
            <a:avLst>
              <a:gd name="adj" fmla="val 3509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leveltestai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1572768"/>
            <a:ext cx="5394960" cy="20116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369417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무료 상담  ②  AI 자동 진단 레벨테스트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85216" y="4114800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22960" y="40416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ID만 넣으면 즉시 시작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85216" y="4443984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22960" y="43708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CEFR Level 1~8 중 시작 지점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85216" y="4773168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2960" y="470001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레벨에 맞는 교재 자동 배정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199632" y="1536192"/>
            <a:ext cx="5468112" cy="3446800"/>
          </a:xfrm>
          <a:prstGeom prst="roundRect">
            <a:avLst>
              <a:gd name="adj" fmla="val 212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7" name="Image 2" descr="/tmp/claude-0/-home-user-mangoiweb/ca835eb4-1670-5fc1-a29a-2fc77598fea3/scratchpad/deck_img/booking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1572768"/>
            <a:ext cx="5394960" cy="337364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236208" y="50292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수업 신청 — 시간 › 교사 › 결제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254496" y="5468112"/>
            <a:ext cx="128016" cy="128016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6492240" y="53949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마스터 / 그룹 토론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6254496" y="5797296"/>
            <a:ext cx="128016" cy="128016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6492240" y="572414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1회 ~ 주 5회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6254496" y="6126480"/>
            <a:ext cx="128016" cy="128016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6492240" y="60533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20분 블록 · 색으로 가능/예약 구분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usag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 · 5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846259" y="384048"/>
            <a:ext cx="177850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846259" y="384048"/>
            <a:ext cx="17785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Day &amp; After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당일, 그리고 수업이 끝난 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5468112" cy="2084832"/>
          </a:xfrm>
          <a:prstGeom prst="roundRect">
            <a:avLst>
              <a:gd name="adj" fmla="val 3509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precheck.jpg">    </p:cNvPr>
          <p:cNvPicPr>
            <a:picLocks noChangeAspect="1"/>
          </p:cNvPicPr>
          <p:nvPr/>
        </p:nvPicPr>
        <p:blipFill>
          <a:blip r:embed="rId2"/>
          <a:srcRect l="0" r="0" t="33852" b="-33852"/>
          <a:stretch/>
        </p:blipFill>
        <p:spPr>
          <a:xfrm>
            <a:off x="566928" y="1554480"/>
            <a:ext cx="5394960" cy="20116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365760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수업 진단 — 마이크·카메라 점검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6190488" y="1517904"/>
            <a:ext cx="5468112" cy="2084832"/>
          </a:xfrm>
          <a:prstGeom prst="roundRect">
            <a:avLst>
              <a:gd name="adj" fmla="val 3509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1" name="Image 2" descr="/tmp/claude-0/-home-user-mangoiweb/ca835eb4-1670-5fc1-a29a-2fc77598fea3/scratchpad/deck_img/warmup.jpg">    </p:cNvPr>
          <p:cNvPicPr>
            <a:picLocks noChangeAspect="1"/>
          </p:cNvPicPr>
          <p:nvPr/>
        </p:nvPicPr>
        <p:blipFill>
          <a:blip r:embed="rId3"/>
          <a:srcRect l="0" r="0" t="33852" b="-33852"/>
          <a:stretch/>
        </p:blipFill>
        <p:spPr>
          <a:xfrm>
            <a:off x="6227064" y="1554480"/>
            <a:ext cx="5394960" cy="20116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227064" y="365760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AI 웜업 — 입 풀고 입장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530352" y="3913632"/>
            <a:ext cx="5468112" cy="2084832"/>
          </a:xfrm>
          <a:prstGeom prst="roundRect">
            <a:avLst>
              <a:gd name="adj" fmla="val 3509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4" name="Image 3" descr="/tmp/claude-0/-home-user-mangoiweb/ca835eb4-1670-5fc1-a29a-2fc77598fea3/scratchpad/deck_img/microquiz.jpg">    </p:cNvPr>
          <p:cNvPicPr>
            <a:picLocks noChangeAspect="1"/>
          </p:cNvPicPr>
          <p:nvPr/>
        </p:nvPicPr>
        <p:blipFill>
          <a:blip r:embed="rId4"/>
          <a:srcRect l="0" r="0" t="33852" b="-33852"/>
          <a:stretch/>
        </p:blipFill>
        <p:spPr>
          <a:xfrm>
            <a:off x="566928" y="3950208"/>
            <a:ext cx="5394960" cy="20116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66928" y="605332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복습 퀴즈 — 1분 마이크로러닝</a:t>
            </a:r>
            <a:endParaRPr lang="en-US" sz="1150" dirty="0"/>
          </a:p>
        </p:txBody>
      </p:sp>
      <p:sp>
        <p:nvSpPr>
          <p:cNvPr id="16" name="Shape 10"/>
          <p:cNvSpPr/>
          <p:nvPr/>
        </p:nvSpPr>
        <p:spPr>
          <a:xfrm>
            <a:off x="6190488" y="3913632"/>
            <a:ext cx="5468112" cy="2084832"/>
          </a:xfrm>
          <a:prstGeom prst="roundRect">
            <a:avLst>
              <a:gd name="adj" fmla="val 3509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7" name="Image 4" descr="/tmp/claude-0/-home-user-mangoiweb/ca835eb4-1670-5fc1-a29a-2fc77598fea3/scratchpad/deck_img/streak.jpg">    </p:cNvPr>
          <p:cNvPicPr>
            <a:picLocks noChangeAspect="1"/>
          </p:cNvPicPr>
          <p:nvPr/>
        </p:nvPicPr>
        <p:blipFill>
          <a:blip r:embed="rId5"/>
          <a:srcRect l="0" r="0" t="33852" b="-33852"/>
          <a:stretch/>
        </p:blipFill>
        <p:spPr>
          <a:xfrm>
            <a:off x="6227064" y="3950208"/>
            <a:ext cx="5394960" cy="201168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227064" y="605332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연속 학습 — 습관 만들기</a:t>
            </a:r>
            <a:endParaRPr lang="en-US" sz="1150" dirty="0"/>
          </a:p>
        </p:txBody>
      </p:sp>
      <p:sp>
        <p:nvSpPr>
          <p:cNvPr id="19" name="Text 12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usag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ANYTIME &amp; ADMIN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312603" y="384048"/>
            <a:ext cx="1312164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312603" y="384048"/>
            <a:ext cx="13121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Convenience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 변경도, 운영도 한 화면에서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36192"/>
            <a:ext cx="3547872" cy="2249424"/>
          </a:xfrm>
          <a:prstGeom prst="roundRect">
            <a:avLst>
              <a:gd name="adj" fmla="val 325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postpone.jpg">    </p:cNvPr>
          <p:cNvPicPr>
            <a:picLocks noChangeAspect="1"/>
          </p:cNvPicPr>
          <p:nvPr/>
        </p:nvPicPr>
        <p:blipFill>
          <a:blip r:embed="rId2"/>
          <a:srcRect l="79" r="-79" t="0" b="0"/>
          <a:stretch/>
        </p:blipFill>
        <p:spPr>
          <a:xfrm>
            <a:off x="566928" y="1572768"/>
            <a:ext cx="3474720" cy="21762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38404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연기 · 변경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242816" y="1536192"/>
            <a:ext cx="3547872" cy="2249424"/>
          </a:xfrm>
          <a:prstGeom prst="roundRect">
            <a:avLst>
              <a:gd name="adj" fmla="val 325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1" name="Image 2" descr="/tmp/claude-0/-home-user-mangoiweb/ca835eb4-1670-5fc1-a29a-2fc77598fea3/scratchpad/deck_img/faq.jpg">    </p:cNvPr>
          <p:cNvPicPr>
            <a:picLocks noChangeAspect="1"/>
          </p:cNvPicPr>
          <p:nvPr/>
        </p:nvPicPr>
        <p:blipFill>
          <a:blip r:embed="rId3"/>
          <a:srcRect l="79" r="-79" t="0" b="0"/>
          <a:stretch/>
        </p:blipFill>
        <p:spPr>
          <a:xfrm>
            <a:off x="4279392" y="1572768"/>
            <a:ext cx="3474720" cy="217627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279392" y="38404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 · 카카오 상담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7955280" y="1536192"/>
            <a:ext cx="3547872" cy="2249424"/>
          </a:xfrm>
          <a:prstGeom prst="roundRect">
            <a:avLst>
              <a:gd name="adj" fmla="val 325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4" name="Image 3" descr="/tmp/claude-0/-home-user-mangoiweb/ca835eb4-1670-5fc1-a29a-2fc77598fea3/scratchpad/deck_img/admin.jpg">    </p:cNvPr>
          <p:cNvPicPr>
            <a:picLocks noChangeAspect="1"/>
          </p:cNvPicPr>
          <p:nvPr/>
        </p:nvPicPr>
        <p:blipFill>
          <a:blip r:embed="rId4"/>
          <a:srcRect l="0" r="0" t="986" b="-986"/>
          <a:stretch/>
        </p:blipFill>
        <p:spPr>
          <a:xfrm>
            <a:off x="7991856" y="1572768"/>
            <a:ext cx="3474720" cy="217627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991856" y="38404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콘솔 · AI 운영비서</a:t>
            </a:r>
            <a:endParaRPr lang="en-US" sz="1150" dirty="0"/>
          </a:p>
        </p:txBody>
      </p:sp>
      <p:sp>
        <p:nvSpPr>
          <p:cNvPr id="16" name="Shape 10"/>
          <p:cNvSpPr/>
          <p:nvPr/>
        </p:nvSpPr>
        <p:spPr>
          <a:xfrm>
            <a:off x="566928" y="4279392"/>
            <a:ext cx="3474720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786384" y="43891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빠져도 사라지지 않음</a:t>
            </a:r>
            <a:endParaRPr lang="en-US" sz="1250" dirty="0"/>
          </a:p>
        </p:txBody>
      </p:sp>
      <p:sp>
        <p:nvSpPr>
          <p:cNvPr id="18" name="Text 12"/>
          <p:cNvSpPr/>
          <p:nvPr/>
        </p:nvSpPr>
        <p:spPr>
          <a:xfrm>
            <a:off x="786384" y="466344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연기 · 변경을 직접 선택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4279392" y="4279392"/>
            <a:ext cx="3474720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4498848" y="43891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궁금하면 바로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4498848" y="466344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채팅 · 챗봇 · 전화 연결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991856" y="4279392"/>
            <a:ext cx="3474720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8211312" y="43891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학원 운영 전부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211312" y="466344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· 강사 · 정산 · 시스템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road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28600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22860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04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66928" y="1024128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0" b="1" dirty="0">
                <a:solidFill>
                  <a:srgbClr val="222C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600" dirty="0"/>
          </a:p>
        </p:txBody>
      </p:sp>
      <p:sp>
        <p:nvSpPr>
          <p:cNvPr id="6" name="Text 3"/>
          <p:cNvSpPr/>
          <p:nvPr/>
        </p:nvSpPr>
        <p:spPr>
          <a:xfrm>
            <a:off x="566928" y="2779776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향후 발전계획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566928" y="35661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5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Future Vision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6928" y="411480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진화 · 강화학습 개인화 · 바이브 코딩 영어.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19088" y="1664208"/>
            <a:ext cx="5248656" cy="3309567"/>
          </a:xfrm>
          <a:prstGeom prst="roundRect">
            <a:avLst>
              <a:gd name="adj" fmla="val 221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0" name="Image 1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700784"/>
            <a:ext cx="5175504" cy="323641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55664" y="5120079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키우기 — 이미 서비스 중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road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 01 · AVATAR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234879" y="384048"/>
            <a:ext cx="138988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234879" y="384048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Avatar Quest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말할수록 자라는 동반자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5925312" cy="3732703"/>
          </a:xfrm>
          <a:prstGeom prst="roundRect">
            <a:avLst>
              <a:gd name="adj" fmla="val 196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5852160" cy="365955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303520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— 판다·여우·드래곤·강아지 중 하나를 골라 5단계 진화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675120" y="1554480"/>
            <a:ext cx="4956048" cy="932688"/>
          </a:xfrm>
          <a:prstGeom prst="roundRect">
            <a:avLst>
              <a:gd name="adj" fmla="val 9804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912864" y="1554480"/>
            <a:ext cx="914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63840" y="1554480"/>
            <a:ext cx="3566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5단계 진화 · EXP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675120" y="2578608"/>
            <a:ext cx="4956048" cy="932688"/>
          </a:xfrm>
          <a:prstGeom prst="roundRect">
            <a:avLst>
              <a:gd name="adj" fmla="val 980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912864" y="2578608"/>
            <a:ext cx="914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863840" y="2578608"/>
            <a:ext cx="3566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표정과 감정 반응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6675120" y="3602736"/>
            <a:ext cx="4956048" cy="932688"/>
          </a:xfrm>
          <a:prstGeom prst="roundRect">
            <a:avLst>
              <a:gd name="adj" fmla="val 980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912864" y="3602736"/>
            <a:ext cx="914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7863840" y="3602736"/>
            <a:ext cx="3566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목소리와 대화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675120" y="4626864"/>
            <a:ext cx="4956048" cy="932688"/>
          </a:xfrm>
          <a:prstGeom prst="roundRect">
            <a:avLst>
              <a:gd name="adj" fmla="val 980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912864" y="4626864"/>
            <a:ext cx="914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7863840" y="4626864"/>
            <a:ext cx="3566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학습의 주인공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road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 02 · 03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846259" y="384048"/>
            <a:ext cx="177850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846259" y="384048"/>
            <a:ext cx="17785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 &amp; Proactive AI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스스로 판을 짜고, 먼저 말을 겁니다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5394960" cy="2103120"/>
          </a:xfrm>
          <a:prstGeom prst="roundRect">
            <a:avLst>
              <a:gd name="adj" fmla="val 434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75564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(Rule-Based)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59536" y="2231136"/>
            <a:ext cx="128016" cy="12801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97280" y="21579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순서로 출제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59536" y="2633472"/>
            <a:ext cx="128016" cy="12801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97280" y="25603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문제를 다시 출제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59536" y="3035808"/>
            <a:ext cx="128016" cy="12801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0" y="296265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규칙의 복습 주기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236208" y="1554480"/>
            <a:ext cx="5394960" cy="2103120"/>
          </a:xfrm>
          <a:prstGeom prst="roundRect">
            <a:avLst>
              <a:gd name="adj" fmla="val 4348"/>
            </a:avLst>
          </a:prstGeom>
          <a:solidFill>
            <a:srgbClr val="0E2333"/>
          </a:solidFill>
          <a:ln w="12700">
            <a:solidFill>
              <a:srgbClr val="1E5A7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10528" y="175564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(강화학습 RL)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528816" y="2231136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21579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가장 효과 큰 한 문제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528816" y="2633472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766560" y="25603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 직전 난이도 감지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528816" y="3035808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766560" y="296265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발음 약점 모델 학습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566928" y="3840480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묻기 전에 먼저 말을 거는 AI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566928" y="4261104"/>
            <a:ext cx="2606040" cy="1060704"/>
          </a:xfrm>
          <a:prstGeom prst="roundRect">
            <a:avLst>
              <a:gd name="adj" fmla="val 862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68096" y="43891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학생에게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768096" y="4645152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«어제 틀린 단어 3개, 1분이면 끝»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3374136" y="4261104"/>
            <a:ext cx="2606040" cy="1060704"/>
          </a:xfrm>
          <a:prstGeom prst="roundRect">
            <a:avLst>
              <a:gd name="adj" fmla="val 862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575304" y="43891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학부모에게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3575304" y="4645152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«이번 주 발화량이 늘었어요»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181344" y="4261104"/>
            <a:ext cx="2606040" cy="1060704"/>
          </a:xfrm>
          <a:prstGeom prst="roundRect">
            <a:avLst>
              <a:gd name="adj" fmla="val 862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382512" y="43891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교사에게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6382512" y="4645152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«이 학생은 과거시제에서 막힙니다»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8988552" y="4261104"/>
            <a:ext cx="2606040" cy="1060704"/>
          </a:xfrm>
          <a:prstGeom prst="roundRect">
            <a:avLst>
              <a:gd name="adj" fmla="val 862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189720" y="43891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운영자에게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9189720" y="4645152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«이탈 위험 학생 5명»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566928" y="5486400"/>
            <a:ext cx="11055096" cy="658368"/>
          </a:xfrm>
          <a:prstGeom prst="roundRect">
            <a:avLst>
              <a:gd name="adj" fmla="val 13889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66928" y="5486400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교사를 대신하는 것이 아니라, 교사가 못 보는 시간을 대신 봅니다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road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 04 · 05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224467" y="384048"/>
            <a:ext cx="240030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224467" y="384048"/>
            <a:ext cx="2400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Edutainment &amp; Vibe Coding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목표를 게임 안에, 영어를 AI 앞에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2679192" cy="1536192"/>
          </a:xfrm>
          <a:prstGeom prst="roundRect">
            <a:avLst>
              <a:gd name="adj" fmla="val 476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spacemon.jpg">    </p:cNvPr>
          <p:cNvPicPr>
            <a:picLocks noChangeAspect="1"/>
          </p:cNvPicPr>
          <p:nvPr/>
        </p:nvPicPr>
        <p:blipFill>
          <a:blip r:embed="rId2"/>
          <a:srcRect l="0" r="0" t="5694" b="-5694"/>
          <a:stretch/>
        </p:blipFill>
        <p:spPr>
          <a:xfrm>
            <a:off x="566928" y="1554480"/>
            <a:ext cx="2606040" cy="1463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310896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세계관 통합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3337560" y="1517904"/>
            <a:ext cx="2679192" cy="1536192"/>
          </a:xfrm>
          <a:prstGeom prst="roundRect">
            <a:avLst>
              <a:gd name="adj" fmla="val 476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1" name="Image 2" descr="/tmp/claude-0/-home-user-mangoiweb/ca835eb4-1670-5fc1-a29a-2fc77598fea3/scratchpad/deck_img/battle3d.jpg">    </p:cNvPr>
          <p:cNvPicPr>
            <a:picLocks noChangeAspect="1"/>
          </p:cNvPicPr>
          <p:nvPr/>
        </p:nvPicPr>
        <p:blipFill>
          <a:blip r:embed="rId3"/>
          <a:srcRect l="0" r="0" t="5694" b="-5694"/>
          <a:stretch/>
        </p:blipFill>
        <p:spPr>
          <a:xfrm>
            <a:off x="3374136" y="1554480"/>
            <a:ext cx="2606040" cy="146304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374136" y="310896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말해야 이긴다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6144768" y="1517904"/>
            <a:ext cx="2679192" cy="1536192"/>
          </a:xfrm>
          <a:prstGeom prst="roundRect">
            <a:avLst>
              <a:gd name="adj" fmla="val 476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4" name="Image 3" descr="/tmp/claude-0/-home-user-mangoiweb/ca835eb4-1670-5fc1-a29a-2fc77598fea3/scratchpad/deck_img/suspect.jpg">    </p:cNvPr>
          <p:cNvPicPr>
            <a:picLocks noChangeAspect="1"/>
          </p:cNvPicPr>
          <p:nvPr/>
        </p:nvPicPr>
        <p:blipFill>
          <a:blip r:embed="rId4"/>
          <a:srcRect l="0" r="0" t="5694" b="-5694"/>
          <a:stretch/>
        </p:blipFill>
        <p:spPr>
          <a:xfrm>
            <a:off x="6181344" y="1554480"/>
            <a:ext cx="2606040" cy="14630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181344" y="310896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친구와 함께</a:t>
            </a:r>
            <a:endParaRPr lang="en-US" sz="1050" dirty="0"/>
          </a:p>
        </p:txBody>
      </p:sp>
      <p:sp>
        <p:nvSpPr>
          <p:cNvPr id="16" name="Shape 10"/>
          <p:cNvSpPr/>
          <p:nvPr/>
        </p:nvSpPr>
        <p:spPr>
          <a:xfrm>
            <a:off x="8951976" y="1517904"/>
            <a:ext cx="2679192" cy="1536192"/>
          </a:xfrm>
          <a:prstGeom prst="roundRect">
            <a:avLst>
              <a:gd name="adj" fmla="val 476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7" name="Image 4" descr="/tmp/claude-0/-home-user-mangoiweb/ca835eb4-1670-5fc1-a29a-2fc77598fea3/scratchpad/deck_img/escape.jpg">    </p:cNvPr>
          <p:cNvPicPr>
            <a:picLocks noChangeAspect="1"/>
          </p:cNvPicPr>
          <p:nvPr/>
        </p:nvPicPr>
        <p:blipFill>
          <a:blip r:embed="rId5"/>
          <a:srcRect l="0" r="0" t="5694" b="-5694"/>
          <a:stretch/>
        </p:blipFill>
        <p:spPr>
          <a:xfrm>
            <a:off x="8988552" y="1554480"/>
            <a:ext cx="2606040" cy="146304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8988552" y="310896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 심리 기반</a:t>
            </a:r>
            <a:endParaRPr lang="en-US" sz="1050" dirty="0"/>
          </a:p>
        </p:txBody>
      </p:sp>
      <p:sp>
        <p:nvSpPr>
          <p:cNvPr id="19" name="Shape 12"/>
          <p:cNvSpPr/>
          <p:nvPr/>
        </p:nvSpPr>
        <p:spPr>
          <a:xfrm>
            <a:off x="566928" y="3566160"/>
            <a:ext cx="5394960" cy="1097280"/>
          </a:xfrm>
          <a:prstGeom prst="roundRect">
            <a:avLst>
              <a:gd name="adj" fmla="val 8333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Text 13"/>
          <p:cNvSpPr/>
          <p:nvPr/>
        </p:nvSpPr>
        <p:spPr>
          <a:xfrm>
            <a:off x="841248" y="371246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지금까지의 영어</a:t>
            </a:r>
            <a:endParaRPr lang="en-US" sz="1050" dirty="0"/>
          </a:p>
        </p:txBody>
      </p:sp>
      <p:sp>
        <p:nvSpPr>
          <p:cNvPr id="21" name="Text 14"/>
          <p:cNvSpPr/>
          <p:nvPr/>
        </p:nvSpPr>
        <p:spPr>
          <a:xfrm>
            <a:off x="841248" y="398678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사람과 대화하기 위한 언어</a:t>
            </a:r>
            <a:endParaRPr lang="en-US" sz="1800" dirty="0"/>
          </a:p>
        </p:txBody>
      </p:sp>
      <p:sp>
        <p:nvSpPr>
          <p:cNvPr id="22" name="Shape 15"/>
          <p:cNvSpPr/>
          <p:nvPr/>
        </p:nvSpPr>
        <p:spPr>
          <a:xfrm>
            <a:off x="6236208" y="3566160"/>
            <a:ext cx="5394960" cy="1097280"/>
          </a:xfrm>
          <a:prstGeom prst="roundRect">
            <a:avLst>
              <a:gd name="adj" fmla="val 8333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3" name="Text 16"/>
          <p:cNvSpPr/>
          <p:nvPr/>
        </p:nvSpPr>
        <p:spPr>
          <a:xfrm>
            <a:off x="6510528" y="371246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앞으로의 영어</a:t>
            </a:r>
            <a:endParaRPr lang="en-US" sz="1050" dirty="0"/>
          </a:p>
        </p:txBody>
      </p:sp>
      <p:sp>
        <p:nvSpPr>
          <p:cNvPr id="24" name="Text 17"/>
          <p:cNvSpPr/>
          <p:nvPr/>
        </p:nvSpPr>
        <p:spPr>
          <a:xfrm>
            <a:off x="6510528" y="398678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AI에게 일을 시키기 위한 언어</a:t>
            </a:r>
            <a:endParaRPr lang="en-US" sz="1800" dirty="0"/>
          </a:p>
        </p:txBody>
      </p:sp>
      <p:sp>
        <p:nvSpPr>
          <p:cNvPr id="25" name="Shape 18"/>
          <p:cNvSpPr/>
          <p:nvPr/>
        </p:nvSpPr>
        <p:spPr>
          <a:xfrm>
            <a:off x="566928" y="4846320"/>
            <a:ext cx="2606040" cy="658368"/>
          </a:xfrm>
          <a:prstGeom prst="roundRect">
            <a:avLst>
              <a:gd name="adj" fmla="val 1388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7" name="Text 20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1"/>
          <p:cNvSpPr/>
          <p:nvPr/>
        </p:nvSpPr>
        <p:spPr>
          <a:xfrm>
            <a:off x="1261872" y="4846320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설명하는 영어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3374136" y="4846320"/>
            <a:ext cx="2606040" cy="658368"/>
          </a:xfrm>
          <a:prstGeom prst="roundRect">
            <a:avLst>
              <a:gd name="adj" fmla="val 1388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3575304" y="4983480"/>
            <a:ext cx="384048" cy="38404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3575304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4069080" y="4846320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작문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6181344" y="4846320"/>
            <a:ext cx="2606040" cy="658368"/>
          </a:xfrm>
          <a:prstGeom prst="roundRect">
            <a:avLst>
              <a:gd name="adj" fmla="val 1388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6382512" y="4983480"/>
            <a:ext cx="384048" cy="38404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638251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36" name="Text 29"/>
          <p:cNvSpPr/>
          <p:nvPr/>
        </p:nvSpPr>
        <p:spPr>
          <a:xfrm>
            <a:off x="6876288" y="4846320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판단하고 되묻기</a:t>
            </a:r>
            <a:endParaRPr lang="en-US" sz="1250" dirty="0"/>
          </a:p>
        </p:txBody>
      </p:sp>
      <p:sp>
        <p:nvSpPr>
          <p:cNvPr id="37" name="Shape 30"/>
          <p:cNvSpPr/>
          <p:nvPr/>
        </p:nvSpPr>
        <p:spPr>
          <a:xfrm>
            <a:off x="8988552" y="4846320"/>
            <a:ext cx="2606040" cy="658368"/>
          </a:xfrm>
          <a:prstGeom prst="roundRect">
            <a:avLst>
              <a:gd name="adj" fmla="val 1388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9189720" y="4983480"/>
            <a:ext cx="384048" cy="38404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918972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40" name="Text 33"/>
          <p:cNvSpPr/>
          <p:nvPr/>
        </p:nvSpPr>
        <p:spPr>
          <a:xfrm>
            <a:off x="9683496" y="4846320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만들며 배우기</a:t>
            </a:r>
            <a:endParaRPr lang="en-US" sz="1250" dirty="0"/>
          </a:p>
        </p:txBody>
      </p:sp>
      <p:sp>
        <p:nvSpPr>
          <p:cNvPr id="41" name="Text 34"/>
          <p:cNvSpPr/>
          <p:nvPr/>
        </p:nvSpPr>
        <p:spPr>
          <a:xfrm>
            <a:off x="566928" y="56692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향후 계획이며 일정은 변동될 수 있습니다.</a:t>
            </a:r>
            <a:endParaRPr lang="en-US" sz="850" dirty="0"/>
          </a:p>
        </p:txBody>
      </p:sp>
      <p:sp>
        <p:nvSpPr>
          <p:cNvPr id="42" name="Text 3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road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TIMELINE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73207" y="38404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73207" y="38404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무엇을 하는가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2651760" cy="3200400"/>
          </a:xfrm>
          <a:prstGeom prst="roundRect">
            <a:avLst>
              <a:gd name="adj" fmla="val 344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173736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 중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04672" y="206654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22960" y="2532888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24128" y="2450592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1:1 · 1:2 수업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22960" y="3044952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24128" y="2962656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 · 친구 대화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22960" y="3557016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24128" y="3474720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평가서 · 월간 리포트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22960" y="4069080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24128" y="3986784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 21종 · 아바타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374136" y="1554480"/>
            <a:ext cx="2651760" cy="3200400"/>
          </a:xfrm>
          <a:prstGeom prst="roundRect">
            <a:avLst>
              <a:gd name="adj" fmla="val 344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611880" y="173736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3611880" y="206654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6~12개월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630168" y="2532888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831336" y="2450592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감정·표정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3630168" y="3044952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831336" y="2962656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 세계관 통합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3630168" y="3557016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831336" y="3474720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 승리 조건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3630168" y="4069080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831336" y="3986784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선제 안내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6181344" y="1554480"/>
            <a:ext cx="2651760" cy="3200400"/>
          </a:xfrm>
          <a:prstGeom prst="roundRect">
            <a:avLst>
              <a:gd name="adj" fmla="val 344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19088" y="173736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중기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6419088" y="206654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1~2년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437376" y="2532888"/>
            <a:ext cx="118872" cy="11887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638544" y="2450592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강화학습 문제 선택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6437376" y="3044952"/>
            <a:ext cx="118872" cy="11887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638544" y="2962656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발음 약점 모델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6437376" y="3557016"/>
            <a:ext cx="118872" cy="11887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638544" y="3474720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 브리핑 자동화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6437376" y="4069080"/>
            <a:ext cx="118872" cy="11887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638544" y="3986784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협동·대결 모드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8988552" y="1554480"/>
            <a:ext cx="2651760" cy="3200400"/>
          </a:xfrm>
          <a:prstGeom prst="roundRect">
            <a:avLst>
              <a:gd name="adj" fmla="val 3448"/>
            </a:avLst>
          </a:prstGeom>
          <a:solidFill>
            <a:srgbClr val="0E2333"/>
          </a:solidFill>
          <a:ln w="12700">
            <a:solidFill>
              <a:srgbClr val="1E5A7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226296" y="173736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장기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9226296" y="206654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2~3년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9244584" y="2532888"/>
            <a:ext cx="118872" cy="11887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445752" y="2450592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= AI 친구 통합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9244584" y="3044952"/>
            <a:ext cx="118872" cy="11887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445752" y="2962656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바이브 코딩 영어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9244584" y="3557016"/>
            <a:ext cx="118872" cy="11887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445752" y="3474720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프로젝트형 수업</a:t>
            </a:r>
            <a:endParaRPr lang="en-US" sz="1050" dirty="0"/>
          </a:p>
        </p:txBody>
      </p:sp>
      <p:sp>
        <p:nvSpPr>
          <p:cNvPr id="49" name="Shape 46"/>
          <p:cNvSpPr/>
          <p:nvPr/>
        </p:nvSpPr>
        <p:spPr>
          <a:xfrm>
            <a:off x="530352" y="4901184"/>
            <a:ext cx="2679192" cy="1115568"/>
          </a:xfrm>
          <a:prstGeom prst="roundRect">
            <a:avLst>
              <a:gd name="adj" fmla="val 6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0" name="Image 1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2"/>
          <a:srcRect l="0" r="0" t="28167" b="-28167"/>
          <a:stretch/>
        </p:blipFill>
        <p:spPr>
          <a:xfrm>
            <a:off x="566928" y="4937760"/>
            <a:ext cx="2606040" cy="1042416"/>
          </a:xfrm>
          <a:prstGeom prst="rect">
            <a:avLst/>
          </a:prstGeom>
        </p:spPr>
      </p:pic>
      <p:sp>
        <p:nvSpPr>
          <p:cNvPr id="51" name="Text 47"/>
          <p:cNvSpPr/>
          <p:nvPr/>
        </p:nvSpPr>
        <p:spPr>
          <a:xfrm>
            <a:off x="566928" y="6071616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</a:t>
            </a:r>
            <a:endParaRPr lang="en-US" sz="1050" dirty="0"/>
          </a:p>
        </p:txBody>
      </p:sp>
      <p:sp>
        <p:nvSpPr>
          <p:cNvPr id="52" name="Shape 48"/>
          <p:cNvSpPr/>
          <p:nvPr/>
        </p:nvSpPr>
        <p:spPr>
          <a:xfrm>
            <a:off x="3337560" y="4901184"/>
            <a:ext cx="2679192" cy="1115568"/>
          </a:xfrm>
          <a:prstGeom prst="roundRect">
            <a:avLst>
              <a:gd name="adj" fmla="val 6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3" name="Image 2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3"/>
          <a:srcRect l="0" r="0" t="28167" b="-28167"/>
          <a:stretch/>
        </p:blipFill>
        <p:spPr>
          <a:xfrm>
            <a:off x="3374136" y="4937760"/>
            <a:ext cx="2606040" cy="1042416"/>
          </a:xfrm>
          <a:prstGeom prst="rect">
            <a:avLst/>
          </a:prstGeom>
        </p:spPr>
      </p:pic>
      <p:sp>
        <p:nvSpPr>
          <p:cNvPr id="54" name="Text 49"/>
          <p:cNvSpPr/>
          <p:nvPr/>
        </p:nvSpPr>
        <p:spPr>
          <a:xfrm>
            <a:off x="3374136" y="6071616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 허브</a:t>
            </a:r>
            <a:endParaRPr lang="en-US" sz="1050" dirty="0"/>
          </a:p>
        </p:txBody>
      </p:sp>
      <p:sp>
        <p:nvSpPr>
          <p:cNvPr id="55" name="Shape 50"/>
          <p:cNvSpPr/>
          <p:nvPr/>
        </p:nvSpPr>
        <p:spPr>
          <a:xfrm>
            <a:off x="6144768" y="4901184"/>
            <a:ext cx="2679192" cy="1115568"/>
          </a:xfrm>
          <a:prstGeom prst="roundRect">
            <a:avLst>
              <a:gd name="adj" fmla="val 6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6" name="Image 3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4"/>
          <a:srcRect l="0" r="0" t="28167" b="-28167"/>
          <a:stretch/>
        </p:blipFill>
        <p:spPr>
          <a:xfrm>
            <a:off x="6181344" y="4937760"/>
            <a:ext cx="2606040" cy="1042416"/>
          </a:xfrm>
          <a:prstGeom prst="rect">
            <a:avLst/>
          </a:prstGeom>
        </p:spPr>
      </p:pic>
      <p:sp>
        <p:nvSpPr>
          <p:cNvPr id="57" name="Text 51"/>
          <p:cNvSpPr/>
          <p:nvPr/>
        </p:nvSpPr>
        <p:spPr>
          <a:xfrm>
            <a:off x="6181344" y="6071616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음성코치</a:t>
            </a:r>
            <a:endParaRPr lang="en-US" sz="1050" dirty="0"/>
          </a:p>
        </p:txBody>
      </p:sp>
      <p:sp>
        <p:nvSpPr>
          <p:cNvPr id="58" name="Shape 52"/>
          <p:cNvSpPr/>
          <p:nvPr/>
        </p:nvSpPr>
        <p:spPr>
          <a:xfrm>
            <a:off x="8951976" y="4901184"/>
            <a:ext cx="2679192" cy="1115568"/>
          </a:xfrm>
          <a:prstGeom prst="roundRect">
            <a:avLst>
              <a:gd name="adj" fmla="val 6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9" name="Image 4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5"/>
          <a:srcRect l="0" r="0" t="28917" b="-28917"/>
          <a:stretch/>
        </p:blipFill>
        <p:spPr>
          <a:xfrm>
            <a:off x="8988552" y="4937760"/>
            <a:ext cx="2606040" cy="1042416"/>
          </a:xfrm>
          <a:prstGeom prst="rect">
            <a:avLst/>
          </a:prstGeom>
        </p:spPr>
      </p:pic>
      <p:sp>
        <p:nvSpPr>
          <p:cNvPr id="60" name="Text 53"/>
          <p:cNvSpPr/>
          <p:nvPr/>
        </p:nvSpPr>
        <p:spPr>
          <a:xfrm>
            <a:off x="8988552" y="6071616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</a:t>
            </a:r>
            <a:endParaRPr lang="en-US" sz="1050" dirty="0"/>
          </a:p>
        </p:txBody>
      </p:sp>
      <p:sp>
        <p:nvSpPr>
          <p:cNvPr id="61" name="Text 54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los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39496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" name="Image 1" descr="/tmp/claude-0/-home-user-mangoiweb/ca835eb4-1670-5fc1-a29a-2fc77598fea3/scratchpad/deck_img/home.jpg">    </p:cNvPr>
          <p:cNvPicPr>
            <a:picLocks noChangeAspect="1"/>
          </p:cNvPicPr>
          <p:nvPr/>
        </p:nvPicPr>
        <p:blipFill>
          <a:blip r:embed="rId2"/>
          <a:srcRect l="0" r="0" t="1992" b="-1992"/>
          <a:stretch/>
        </p:blipFill>
        <p:spPr>
          <a:xfrm>
            <a:off x="566928" y="457200"/>
            <a:ext cx="2048256" cy="1243584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2788920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6" name="Image 2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3"/>
          <a:srcRect l="0" r="0" t="1498" b="-1498"/>
          <a:stretch/>
        </p:blipFill>
        <p:spPr>
          <a:xfrm>
            <a:off x="2816352" y="457200"/>
            <a:ext cx="2048256" cy="1243584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038344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3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4"/>
          <a:srcRect l="0" r="0" t="1498" b="-1498"/>
          <a:stretch/>
        </p:blipFill>
        <p:spPr>
          <a:xfrm>
            <a:off x="5065776" y="457200"/>
            <a:ext cx="2048256" cy="1243584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7287768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0" name="Image 4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5"/>
          <a:srcRect l="0" r="0" t="1498" b="-1498"/>
          <a:stretch/>
        </p:blipFill>
        <p:spPr>
          <a:xfrm>
            <a:off x="7315200" y="457200"/>
            <a:ext cx="2048256" cy="1243584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9537192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2" name="Image 5" descr="/tmp/claude-0/-home-user-mangoiweb/ca835eb4-1670-5fc1-a29a-2fc77598fea3/scratchpad/deck_img/admin.jpg">    </p:cNvPr>
          <p:cNvPicPr>
            <a:picLocks noChangeAspect="1"/>
          </p:cNvPicPr>
          <p:nvPr/>
        </p:nvPicPr>
        <p:blipFill>
          <a:blip r:embed="rId6"/>
          <a:srcRect l="0" r="0" t="2596" b="-2596"/>
          <a:stretch/>
        </p:blipFill>
        <p:spPr>
          <a:xfrm>
            <a:off x="9564624" y="457200"/>
            <a:ext cx="2048256" cy="1243584"/>
          </a:xfrm>
          <a:prstGeom prst="rect">
            <a:avLst/>
          </a:prstGeom>
        </p:spPr>
      </p:pic>
      <p:pic>
        <p:nvPicPr>
          <p:cNvPr id="13" name="Image 6" descr="/tmp/claude-0/-home-user-mangoiweb/ca835eb4-1670-5fc1-a29a-2fc77598fea3/scratchpad/deck_img/masco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96128" y="2011680"/>
            <a:ext cx="1298448" cy="1060704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1097280" y="3200400"/>
            <a:ext cx="9994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AI로 생각하고 결정하는 영어</a:t>
            </a:r>
            <a:endParaRPr lang="en-US" sz="3200" dirty="0"/>
          </a:p>
        </p:txBody>
      </p:sp>
      <p:sp>
        <p:nvSpPr>
          <p:cNvPr id="15" name="Text 6"/>
          <p:cNvSpPr/>
          <p:nvPr/>
        </p:nvSpPr>
        <p:spPr>
          <a:xfrm>
            <a:off x="1097280" y="3895344"/>
            <a:ext cx="9994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 재미가 의지를 이깁니다 »</a:t>
            </a:r>
            <a:endParaRPr lang="en-US" sz="1500" dirty="0"/>
          </a:p>
        </p:txBody>
      </p:sp>
      <p:sp>
        <p:nvSpPr>
          <p:cNvPr id="16" name="Shape 7"/>
          <p:cNvSpPr/>
          <p:nvPr/>
        </p:nvSpPr>
        <p:spPr>
          <a:xfrm>
            <a:off x="2212848" y="4517136"/>
            <a:ext cx="2468880" cy="694944"/>
          </a:xfrm>
          <a:prstGeom prst="roundRect">
            <a:avLst>
              <a:gd name="adj" fmla="val 15789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7" name="Text 8"/>
          <p:cNvSpPr/>
          <p:nvPr/>
        </p:nvSpPr>
        <p:spPr>
          <a:xfrm>
            <a:off x="2212848" y="4517136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무료 체험 신청</a:t>
            </a:r>
            <a:endParaRPr lang="en-US" sz="1400" dirty="0"/>
          </a:p>
        </p:txBody>
      </p:sp>
      <p:sp>
        <p:nvSpPr>
          <p:cNvPr id="18" name="Shape 9"/>
          <p:cNvSpPr/>
          <p:nvPr/>
        </p:nvSpPr>
        <p:spPr>
          <a:xfrm>
            <a:off x="4910328" y="4517136"/>
            <a:ext cx="2468880" cy="694944"/>
          </a:xfrm>
          <a:prstGeom prst="roundRect">
            <a:avLst>
              <a:gd name="adj" fmla="val 15789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Text 10"/>
          <p:cNvSpPr/>
          <p:nvPr/>
        </p:nvSpPr>
        <p:spPr>
          <a:xfrm>
            <a:off x="4910328" y="4517136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 테스트</a:t>
            </a:r>
            <a:endParaRPr lang="en-US" sz="1400" dirty="0"/>
          </a:p>
        </p:txBody>
      </p:sp>
      <p:sp>
        <p:nvSpPr>
          <p:cNvPr id="20" name="Shape 11"/>
          <p:cNvSpPr/>
          <p:nvPr/>
        </p:nvSpPr>
        <p:spPr>
          <a:xfrm>
            <a:off x="7607808" y="4517136"/>
            <a:ext cx="2468880" cy="694944"/>
          </a:xfrm>
          <a:prstGeom prst="roundRect">
            <a:avLst>
              <a:gd name="adj" fmla="val 15789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1" name="Text 12"/>
          <p:cNvSpPr/>
          <p:nvPr/>
        </p:nvSpPr>
        <p:spPr>
          <a:xfrm>
            <a:off x="7607808" y="4517136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 상담</a:t>
            </a:r>
            <a:endParaRPr lang="en-US" sz="1400" dirty="0"/>
          </a:p>
        </p:txBody>
      </p:sp>
      <p:sp>
        <p:nvSpPr>
          <p:cNvPr id="22" name="Text 13"/>
          <p:cNvSpPr/>
          <p:nvPr/>
        </p:nvSpPr>
        <p:spPr>
          <a:xfrm>
            <a:off x="1097280" y="5486400"/>
            <a:ext cx="9994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test.mangoi.co.kr</a:t>
            </a:r>
            <a:endParaRPr lang="en-US" sz="1400" dirty="0"/>
          </a:p>
        </p:txBody>
      </p:sp>
      <p:sp>
        <p:nvSpPr>
          <p:cNvPr id="23" name="Text 14"/>
          <p:cNvSpPr/>
          <p:nvPr/>
        </p:nvSpPr>
        <p:spPr>
          <a:xfrm>
            <a:off x="1097280" y="58155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Mango Ai · 20년 전통, 국내 최초의 화상영어 기업</a:t>
            </a:r>
            <a:endParaRPr lang="en-US" sz="1100" dirty="0"/>
          </a:p>
        </p:txBody>
      </p:sp>
      <p:sp>
        <p:nvSpPr>
          <p:cNvPr id="24" name="Text 15"/>
          <p:cNvSpPr/>
          <p:nvPr/>
        </p:nvSpPr>
        <p:spPr>
          <a:xfrm>
            <a:off x="1097280" y="6126480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7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자료의 화면은 실제 서비스 캡처입니다.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망고아이 홈페이지 안내</dc:title>
  <dc:subject>PptxGenJS Presentation</dc:subject>
  <dc:creator>Mango Ai</dc:creator>
  <cp:lastModifiedBy>Mango Ai</cp:lastModifiedBy>
  <cp:revision>1</cp:revision>
  <dcterms:created xsi:type="dcterms:W3CDTF">2026-08-17T05:34:00Z</dcterms:created>
  <dcterms:modified xsi:type="dcterms:W3CDTF">2026-08-17T05:34:00Z</dcterms:modified>
</cp:coreProperties>
</file>