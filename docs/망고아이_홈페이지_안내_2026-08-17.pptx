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«재미가 의지를 이깁니다!»가 이 덱 전체의 한 줄 메시지입니다.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A.I 기능 수·게임 수는 서비스 내 집계 기준입니다. 발표 전 최신 수치로 갱신하세요.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제기 슬라이드. 43,000분은 한 달(30일) 기준 근사치입니다.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A.I 기능 지도. 여기 있는 14가지는 전부 현재 서비스 중인 기능입니다.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비교표의 «일반 화상영어»는 업계 통상 구성을 요약한 것으로 특정 업체를 지칭하지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표지의 슬로건을 여기서 다시 받습니다.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바이브 코딩 영어는 제안 단계의 방향성입니다. 확정 커리큘럼이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일정은 계획이며 변동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image" Target="../media/image-14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image" Target="../media/image-2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image" Target="../media/image-30-3.jpg"/><Relationship Id="rId4" Type="http://schemas.openxmlformats.org/officeDocument/2006/relationships/image" Target="../media/image-3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jpg"/><Relationship Id="rId3" Type="http://schemas.openxmlformats.org/officeDocument/2006/relationships/image" Target="../media/image-33-3.jpg"/><Relationship Id="rId4" Type="http://schemas.openxmlformats.org/officeDocument/2006/relationships/image" Target="../media/image-33-4.jpg"/><Relationship Id="rId5" Type="http://schemas.openxmlformats.org/officeDocument/2006/relationships/image" Target="../media/image-33-5.jpg"/><Relationship Id="rId6" Type="http://schemas.openxmlformats.org/officeDocument/2006/relationships/image" Target="../media/image-3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31636" y="1805940"/>
            <a:ext cx="5449824" cy="3470995"/>
          </a:xfrm>
          <a:prstGeom prst="roundRect">
            <a:avLst>
              <a:gd name="adj" fmla="val 2108"/>
            </a:avLst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3" name="Image 0" descr="/tmp/claude-0/-home-user-mangoiweb/ca835eb4-1670-5fc1-a29a-2fc77598fea3/scratchpad/deck_img/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784" y="1847088"/>
            <a:ext cx="5367528" cy="33886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72784" y="53583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9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홈 화면 · test.mangoi.co.kr</a:t>
            </a:r>
            <a:endParaRPr lang="en-US" sz="1050" dirty="0"/>
          </a:p>
        </p:txBody>
      </p:sp>
      <p:pic>
        <p:nvPicPr>
          <p:cNvPr id="5" name="Image 1" descr="/tmp/claude-0/-home-user-mangoiweb/ca835eb4-1670-5fc1-a29a-2fc77598fea3/scratchpad/deck_img/masc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1170432" cy="9509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6928" y="1517904"/>
            <a:ext cx="5486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300" kern="0" dirty="0">
                <a:solidFill>
                  <a:srgbClr val="FFD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 AI</a:t>
            </a:r>
            <a:endParaRPr lang="en-US" sz="5400" dirty="0"/>
          </a:p>
        </p:txBody>
      </p:sp>
      <p:sp>
        <p:nvSpPr>
          <p:cNvPr id="7" name="Text 3"/>
          <p:cNvSpPr/>
          <p:nvPr/>
        </p:nvSpPr>
        <p:spPr>
          <a:xfrm>
            <a:off x="566928" y="2395728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AI로 생각하고 결정하는 영어, 망고아이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566928" y="3035808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재미가 의지를 이깁니다!</a:t>
            </a:r>
            <a:endParaRPr lang="en-US" sz="3100" dirty="0"/>
          </a:p>
        </p:txBody>
      </p:sp>
      <p:sp>
        <p:nvSpPr>
          <p:cNvPr id="9" name="Text 5"/>
          <p:cNvSpPr/>
          <p:nvPr/>
        </p:nvSpPr>
        <p:spPr>
          <a:xfrm>
            <a:off x="566928" y="3712464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AFBC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아이가 «해야지» 하고 마음먹지 않아도 매일 하게 만드는 것,</a:t>
            </a:r>
            <a:endParaRPr lang="en-US" sz="13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AFBC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일을 A.I가 24시간 맡습니다.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66928" y="449884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A9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20년 전통 · 국내 최초의 화상영어 기업  |  원어민 1:1 화상수업 + A.I 학습관리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66928" y="513892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6928" y="51389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D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홈페이지 · 서비스 안내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66928" y="56692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test.mangoi.co.kr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66928" y="605332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특징과 장점  ·  사용방법  ·  향후 발전계획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5836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83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D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문서에서 다루는 것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2231136"/>
            <a:ext cx="11055096" cy="969264"/>
          </a:xfrm>
          <a:prstGeom prst="roundRect">
            <a:avLst>
              <a:gd name="adj" fmla="val 9434"/>
            </a:avLst>
          </a:prstGeom>
          <a:solidFill>
            <a:srgbClr val="16223F"/>
          </a:solidFill>
          <a:ln w="12700">
            <a:solidFill>
              <a:srgbClr val="1E2C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231136"/>
            <a:ext cx="731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2B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700784" y="23957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망고아이는 무엇인가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093208" y="238658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FAD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수업(사람) + 학습관리(A.I) 결합 구조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FAD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서비스 중인 A.I 기능 14가지 전체 지도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328416"/>
            <a:ext cx="11055096" cy="969264"/>
          </a:xfrm>
          <a:prstGeom prst="roundRect">
            <a:avLst>
              <a:gd name="adj" fmla="val 9434"/>
            </a:avLst>
          </a:prstGeom>
          <a:solidFill>
            <a:srgbClr val="16223F"/>
          </a:solidFill>
          <a:ln w="12700">
            <a:solidFill>
              <a:srgbClr val="1E2C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3328416"/>
            <a:ext cx="731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2B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700784" y="34930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특징과 장점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093208" y="348386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FAD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음성코치 · AI 친구 대화 · 자동 평가서 · 학습 게임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FAD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화상영어와 무엇이 다른가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4425696"/>
            <a:ext cx="11055096" cy="969264"/>
          </a:xfrm>
          <a:prstGeom prst="roundRect">
            <a:avLst>
              <a:gd name="adj" fmla="val 9434"/>
            </a:avLst>
          </a:prstGeom>
          <a:solidFill>
            <a:srgbClr val="16223F"/>
          </a:solidFill>
          <a:ln w="12700">
            <a:solidFill>
              <a:srgbClr val="1E2C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4425696"/>
            <a:ext cx="731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2B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1700784" y="45902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사용방법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093208" y="458114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FAD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→ 레벨테스트 → 수업신청 → 수업 → A.I 평가·복습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FAD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화면으로 보는 5단계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5522976"/>
            <a:ext cx="11055096" cy="969264"/>
          </a:xfrm>
          <a:prstGeom prst="roundRect">
            <a:avLst>
              <a:gd name="adj" fmla="val 9434"/>
            </a:avLst>
          </a:prstGeom>
          <a:solidFill>
            <a:srgbClr val="16223F"/>
          </a:solidFill>
          <a:ln w="12700">
            <a:solidFill>
              <a:srgbClr val="1E2C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5522976"/>
            <a:ext cx="731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2B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1700784" y="56875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발전계획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093208" y="567842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FAD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아바타 진화 · 강화학습 개인화 · 에듀테인먼트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FAD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바이브 코딩 시대의 영어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2295144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 A GLANCE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보는 망고아이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7556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수업만 파는 화상영어가 아니라, A.I가 학습 전체를 끌고 가는 플랫폼입니다.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395728"/>
            <a:ext cx="3529584" cy="1572768"/>
          </a:xfrm>
          <a:prstGeom prst="roundRect">
            <a:avLst>
              <a:gd name="adj" fmla="val 5814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615184"/>
            <a:ext cx="2980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67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14가지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41248" y="3310128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웜업 · 발음코치 · 대화 · 첨삭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평가서까지 전 과정에 A.I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1688" y="2395728"/>
            <a:ext cx="3529584" cy="1572768"/>
          </a:xfrm>
          <a:prstGeom prst="roundRect">
            <a:avLst>
              <a:gd name="adj" fmla="val 5814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2615184"/>
            <a:ext cx="2980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C46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4636008" y="3310128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수업이 없는 날에도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 걸 상대가 있습니다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6448" y="2395728"/>
            <a:ext cx="3529584" cy="1572768"/>
          </a:xfrm>
          <a:prstGeom prst="roundRect">
            <a:avLst>
              <a:gd name="adj" fmla="val 5814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0768" y="2615184"/>
            <a:ext cx="2980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B67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8430768" y="3310128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수업 평가서와 월간 리포트를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A.I가 스스로 작성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224528"/>
            <a:ext cx="3529584" cy="1572768"/>
          </a:xfrm>
          <a:prstGeom prst="roundRect">
            <a:avLst>
              <a:gd name="adj" fmla="val 5814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443984"/>
            <a:ext cx="2980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C46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21종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841248" y="5138928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복습을 놀이로 바꾸는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 학습 게임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61688" y="4224528"/>
            <a:ext cx="3529584" cy="1572768"/>
          </a:xfrm>
          <a:prstGeom prst="roundRect">
            <a:avLst>
              <a:gd name="adj" fmla="val 5814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6008" y="4443984"/>
            <a:ext cx="2980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67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1:1 / 1:2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4636008" y="5138928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전담 원어민 교사와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소수정예 수업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56448" y="4224528"/>
            <a:ext cx="3529584" cy="1572768"/>
          </a:xfrm>
          <a:prstGeom prst="roundRect">
            <a:avLst>
              <a:gd name="adj" fmla="val 5814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30768" y="4443984"/>
            <a:ext cx="2980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C46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20년 · 직영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8430768" y="5138928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최초 화상영어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필리핀 현지 센터 직접 운영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6053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A.I 기능 수·게임 수는 서비스 내 집계 기준 (2026년 8월)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필요한가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화상수업만으로는 영어가 늘지 않습니다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975104"/>
            <a:ext cx="4864608" cy="3200400"/>
          </a:xfrm>
          <a:prstGeom prst="roundRect">
            <a:avLst>
              <a:gd name="adj" fmla="val 2857"/>
            </a:avLst>
          </a:prstGeom>
          <a:solidFill>
            <a:srgbClr val="0B1226"/>
          </a:solidFill>
          <a:ln w="12700">
            <a:solidFill>
              <a:srgbClr val="0B12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2860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2회 × 25분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0976" y="2706624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200분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50976" y="3602736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FBC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달 43,000분 중 영어를 쓰는 시간은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FBC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0.5%도 되지 않습니다.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FBC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시간을 아무도 관리하지 않는 것이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FBC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화상영어의 가장 큰 빈틈입니다.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88736" y="1975104"/>
            <a:ext cx="5733288" cy="1298448"/>
          </a:xfrm>
          <a:prstGeom prst="roundRect">
            <a:avLst>
              <a:gd name="adj" fmla="val 7042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81344" y="2240280"/>
            <a:ext cx="384048" cy="384048"/>
          </a:xfrm>
          <a:prstGeom prst="ellipse">
            <a:avLst/>
          </a:prstGeom>
          <a:solidFill>
            <a:srgbClr val="0B1226"/>
          </a:solidFill>
          <a:ln w="12700">
            <a:solidFill>
              <a:srgbClr val="0B12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1344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1696" y="220370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수업이 끝나면 학습도 끝난다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711696" y="2578608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예습·복습을 아이 혼자 하라고 맡기면 실제로 하는 아이는 소수입니다. 배운 문장은 다음 수업 전에 이미 사라집니다.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88736" y="3383280"/>
            <a:ext cx="5733288" cy="1298448"/>
          </a:xfrm>
          <a:prstGeom prst="roundRect">
            <a:avLst>
              <a:gd name="adj" fmla="val 7042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3648456"/>
            <a:ext cx="384048" cy="384048"/>
          </a:xfrm>
          <a:prstGeom prst="ellipse">
            <a:avLst/>
          </a:prstGeom>
          <a:solidFill>
            <a:srgbClr val="0B1226"/>
          </a:solidFill>
          <a:ln w="12700">
            <a:solidFill>
              <a:srgbClr val="0B12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1344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11696" y="361188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말하기 연습량이 절대적으로 부족하다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711696" y="3986784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25분 수업에서 학생이 실제로 말하는 시간은 그중 일부입니다. 발화량이 부족하면 입은 트이지 않습니다.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88736" y="4791456"/>
            <a:ext cx="5733288" cy="1298448"/>
          </a:xfrm>
          <a:prstGeom prst="roundRect">
            <a:avLst>
              <a:gd name="adj" fmla="val 7042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81344" y="5056632"/>
            <a:ext cx="384048" cy="384048"/>
          </a:xfrm>
          <a:prstGeom prst="ellipse">
            <a:avLst/>
          </a:prstGeom>
          <a:solidFill>
            <a:srgbClr val="0B1226"/>
          </a:solidFill>
          <a:ln w="12700">
            <a:solidFill>
              <a:srgbClr val="0B12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11696" y="502005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학부모는 아이 상태를 알 수 없다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711696" y="5394960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출결과 진도는 알아도 «오늘 무엇을 얼마나 말했는지»는 보이지 않습니다. 그래서 불안하고, 그래서 그만둡니다.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5836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836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D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OUR ANSWER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수업은 </a:t>
            </a:r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</a:t>
            </a:r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이끌고,</a:t>
            </a:r>
            <a:endParaRPr lang="en-US" sz="3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시간은 </a:t>
            </a:r>
            <a:endParaRPr lang="en-US" sz="3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</a:t>
            </a:r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채웁니다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276148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망고아이는 수업(사람)과 학습관리(A.I)를 한 시스템 안에서 맞물려 돌립니다.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수업만 제공하는 대부분의 화상외국어 업체들과 다른 지점입니다.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3712464"/>
            <a:ext cx="3529584" cy="2359152"/>
          </a:xfrm>
          <a:prstGeom prst="roundRect">
            <a:avLst>
              <a:gd name="adj" fmla="val 3876"/>
            </a:avLst>
          </a:prstGeom>
          <a:solidFill>
            <a:srgbClr val="16223F"/>
          </a:solidFill>
          <a:ln w="12700">
            <a:solidFill>
              <a:srgbClr val="1E2C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396849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하는 일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59536" y="4315968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원어민 전담 교사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59536" y="4864608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1:1 · 1:2 소수정예 수업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교정과 동기 부여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수업일지 · 평가 작성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1688" y="3712464"/>
            <a:ext cx="3529584" cy="2359152"/>
          </a:xfrm>
          <a:prstGeom prst="roundRect">
            <a:avLst>
              <a:gd name="adj" fmla="val 3876"/>
            </a:avLst>
          </a:prstGeom>
          <a:solidFill>
            <a:srgbClr val="22345C"/>
          </a:solidFill>
          <a:ln w="12700">
            <a:solidFill>
              <a:srgbClr val="1E2C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396849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A.I가 하는 일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54296" y="4315968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14가지 A.I 기능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54296" y="4864608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웜업 · 발음코치 · 친구 대화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영작 첨삭 · 자동 평가서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단어장 · 퀴즈 · 게임형 반복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3712464"/>
            <a:ext cx="3529584" cy="2359152"/>
          </a:xfrm>
          <a:prstGeom prst="roundRect">
            <a:avLst>
              <a:gd name="adj" fmla="val 3876"/>
            </a:avLst>
          </a:prstGeom>
          <a:solidFill>
            <a:srgbClr val="16223F"/>
          </a:solidFill>
          <a:ln w="12700">
            <a:solidFill>
              <a:srgbClr val="1E2C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49056" y="396849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둘을 잇는 것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49056" y="4315968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데이터와 소통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49056" y="4864608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피드백 + AI 학습기록 연동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리포트 자동 생성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학부모 카카오톡 실시간 전달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MAP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969264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망고아이를 움직이는 A.I 14가지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«AI를 쓴다»가 아니라, 학습의 모든 단계마다 담당 A.I가 따로 있습니다. 아래 기능은 전부 지금 서비스 중입니다.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322576"/>
            <a:ext cx="2079346" cy="3712464"/>
          </a:xfrm>
          <a:prstGeom prst="roundRect">
            <a:avLst>
              <a:gd name="adj" fmla="val 4398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505456"/>
            <a:ext cx="1695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67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전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8096" y="2779776"/>
            <a:ext cx="17135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준비시키는 A.I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8096" y="3410712"/>
            <a:ext cx="137160" cy="13716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346704"/>
            <a:ext cx="15124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웜업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87552" y="3593592"/>
            <a:ext cx="1512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배울 문장을 미리 말해 보고 입을 품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68096" y="4069080"/>
            <a:ext cx="137160" cy="13716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005072"/>
            <a:ext cx="15124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자동 진단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87552" y="4251960"/>
            <a:ext cx="1512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레벨테스트로 시작 지점과 강·약점 파악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10866" y="2322576"/>
            <a:ext cx="2079346" cy="3712464"/>
          </a:xfrm>
          <a:prstGeom prst="roundRect">
            <a:avLst>
              <a:gd name="adj" fmla="val 4398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2034" y="2505456"/>
            <a:ext cx="1695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67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후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12034" y="2779776"/>
            <a:ext cx="17135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평가하는 A.I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012034" y="3410712"/>
            <a:ext cx="137160" cy="13716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31490" y="3346704"/>
            <a:ext cx="15124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자동 평가서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31490" y="3593592"/>
            <a:ext cx="1512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발음·표현·참여도를 분석해 수업 직후 생성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012034" y="4069080"/>
            <a:ext cx="137160" cy="13716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31490" y="4005072"/>
            <a:ext cx="15124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A.I 리포트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31490" y="4251960"/>
            <a:ext cx="1512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달 성장 흐름을 요약해 카카오톡 발송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54803" y="2322576"/>
            <a:ext cx="2079346" cy="3712464"/>
          </a:xfrm>
          <a:prstGeom prst="roundRect">
            <a:avLst>
              <a:gd name="adj" fmla="val 4398"/>
            </a:avLst>
          </a:prstGeom>
          <a:solidFill>
            <a:srgbClr val="0B1226"/>
          </a:solidFill>
          <a:ln w="12700">
            <a:solidFill>
              <a:srgbClr val="0B12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5971" y="2505456"/>
            <a:ext cx="1695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255971" y="2779776"/>
            <a:ext cx="17135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말하고 쓰게 하는 A.I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255971" y="3410712"/>
            <a:ext cx="137160" cy="13716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75427" y="3346704"/>
            <a:ext cx="15124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음성코치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75427" y="3593592"/>
            <a:ext cx="1512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 말한 문장을 즉시 채점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255971" y="4069080"/>
            <a:ext cx="137160" cy="13716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75427" y="4005072"/>
            <a:ext cx="15124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친구 대화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75427" y="4251960"/>
            <a:ext cx="1512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영어로 말 걸 상대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255971" y="4727448"/>
            <a:ext cx="137160" cy="13716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75427" y="4663440"/>
            <a:ext cx="15124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영작 첨삭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75427" y="4910328"/>
            <a:ext cx="1512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문장을 교정하고 이유까지 설명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255971" y="5385816"/>
            <a:ext cx="137160" cy="13716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75427" y="5321808"/>
            <a:ext cx="15124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판단력 훈련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75427" y="5568696"/>
            <a:ext cx="1512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상황을 판단해 영어로 답하기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298741" y="2322576"/>
            <a:ext cx="2079346" cy="3712464"/>
          </a:xfrm>
          <a:prstGeom prst="roundRect">
            <a:avLst>
              <a:gd name="adj" fmla="val 4398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9909" y="2505456"/>
            <a:ext cx="1695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67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예복습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499909" y="2779776"/>
            <a:ext cx="17135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반복시키는 A.I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7499909" y="3410712"/>
            <a:ext cx="137160" cy="13716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19365" y="3346704"/>
            <a:ext cx="15124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단어장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719365" y="3593592"/>
            <a:ext cx="1512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단어만 넣으면 뜻·예문을 자동 생성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499909" y="4069080"/>
            <a:ext cx="137160" cy="13716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19365" y="4005072"/>
            <a:ext cx="15124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단어 퀴즈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7719365" y="4251960"/>
            <a:ext cx="1512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마이크로러닝으로 짧게 자주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499909" y="4727448"/>
            <a:ext cx="137160" cy="13716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19365" y="4663440"/>
            <a:ext cx="15124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복습 퀴즈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7719365" y="4910328"/>
            <a:ext cx="1512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듣기·말하기·쓰기 10문항 자동 출제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542678" y="2322576"/>
            <a:ext cx="2079346" cy="3712464"/>
          </a:xfrm>
          <a:prstGeom prst="roundRect">
            <a:avLst>
              <a:gd name="adj" fmla="val 4398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43846" y="2505456"/>
            <a:ext cx="1695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67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묻고 찾을 때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743846" y="2779776"/>
            <a:ext cx="17135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대신 찾아 주는 A.I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9743846" y="3410712"/>
            <a:ext cx="137160" cy="13716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963302" y="3346704"/>
            <a:ext cx="15124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상담사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9963302" y="3593592"/>
            <a:ext cx="1512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홈에서 바로 묻고 답을 받음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9743846" y="4069080"/>
            <a:ext cx="137160" cy="13716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963302" y="4005072"/>
            <a:ext cx="15124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통합검색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9963302" y="4251960"/>
            <a:ext cx="1512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말하면 원하는 기능으로 바로 이동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9743846" y="4727448"/>
            <a:ext cx="137160" cy="13716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963302" y="4663440"/>
            <a:ext cx="15124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운영비서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9963302" y="4910328"/>
            <a:ext cx="1512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지표를 대신 찾아 정리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66928" y="61081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서비스 내 A.I 기반 기능 집계 (2026년 8월). 학습 게임 21종은 별도입니다.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14516" y="1805940"/>
            <a:ext cx="5257800" cy="3349764"/>
          </a:xfrm>
          <a:prstGeom prst="roundRect">
            <a:avLst>
              <a:gd name="adj" fmla="val 2184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3" name="Image 0" descr="/tmp/claude-0/-home-user-mangoiweb/ca835eb4-1670-5fc1-a29a-2fc77598fea3/scratchpad/deck_img/abou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5664" y="1847088"/>
            <a:ext cx="5175504" cy="32674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55664" y="529743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9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› 망고아이란? — 13가지 특장점 카드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928" y="1481328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1F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0" dirty="0"/>
          </a:p>
        </p:txBody>
      </p:sp>
      <p:sp>
        <p:nvSpPr>
          <p:cNvPr id="6" name="Shape 3"/>
          <p:cNvSpPr/>
          <p:nvPr/>
        </p:nvSpPr>
        <p:spPr>
          <a:xfrm>
            <a:off x="566928" y="2889504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2889504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D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66928" y="3364992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특징과 장점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66928" y="4315968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망고아이가 스스로 말하는 13가지 특장점과,</a:t>
            </a:r>
            <a:endParaRPr lang="en-US" sz="13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그중 실제 화면으로 확인되는 핵심 8가지를 정리했습니다.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특장점 전체 지도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홈페이지 «망고아이란?» 안에 담긴 13가지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75564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화면 첫 버튼에서 바로 열리는 소개 카드입니다.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8가지를 이 문서에서 화면과 함께 자세히 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697480"/>
            <a:ext cx="173736" cy="173736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615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교사와 A.I가 함께 학생 실력 향상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3063240"/>
            <a:ext cx="173736" cy="173736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9809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원어민 선생님과 1:1 / 1:2 수업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429000"/>
            <a:ext cx="173736" cy="173736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346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커뮤니케이션 능력의 향상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794760"/>
            <a:ext cx="173736" cy="173736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7124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저렴한 비용으로 최고의 학습 효과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60520"/>
            <a:ext cx="173736" cy="173736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40782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최고의 강사진과 체계적인 관리 시스템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526280"/>
            <a:ext cx="173736" cy="173736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44439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시간과 장소에 구애받지 않는 시스템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892040"/>
            <a:ext cx="173736" cy="173736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48097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우수한 교재로 영어 말하기 동기 부여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785616" y="2697480"/>
            <a:ext cx="173736" cy="173736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69080" y="2615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편리하고 다양한 기능의 앱과 홈페이지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785616" y="3063240"/>
            <a:ext cx="173736" cy="173736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69080" y="29809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예복습 — 수업 전후를 A.I가 챙김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785616" y="3429000"/>
            <a:ext cx="173736" cy="173736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9080" y="3346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A.I를 활용한 평가 · 복습 · 소통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785616" y="3794760"/>
            <a:ext cx="173736" cy="173736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69080" y="37124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직영 필리핀 현지 교육센터 운영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785616" y="4160520"/>
            <a:ext cx="173736" cy="173736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69080" y="40782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20년 전통, 국내 최초의 화상영어 기업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785616" y="4526280"/>
            <a:ext cx="173736" cy="173736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69080" y="44439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정보를 카카오톡으로 실시간 제공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926580" y="1970532"/>
            <a:ext cx="4745736" cy="3026481"/>
          </a:xfrm>
          <a:prstGeom prst="roundRect">
            <a:avLst>
              <a:gd name="adj" fmla="val 2417"/>
            </a:avLst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33" name="Image 0" descr="/tmp/claude-0/-home-user-mangoiweb/ca835eb4-1670-5fc1-a29a-2fc77598fea3/scratchpad/deck_img/abou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2011680"/>
            <a:ext cx="4663440" cy="2944185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967728" y="5074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› 망고아이란? — 카드를 누르면 항목별 상세가 열립니다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 01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교사와 A.I, 두 개의 엔진으로 굴러갑니다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수업은 사람이 이끌고, 예습·복습·평가·발음 교정은 A.I가 24시간 채웁니다. 둘이 같은 데이터를 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432304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670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7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2980944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웜업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384" y="374904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배울 문장을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말해 봅니다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6332" y="3346704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25496" y="2432304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0B1226"/>
          </a:solidFill>
          <a:ln w="12700">
            <a:solidFill>
              <a:srgbClr val="0B12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4952" y="2670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44952" y="2980944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원어민 교사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44952" y="374904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FBC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1:1 · 1:2 실시간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FBC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교정과 발화 유도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14900" y="3346704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84064" y="2432304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670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7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직후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2980944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자동 평가서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0" y="374904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발음 · 표현 · 참여도를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분석해 자동 작성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73468" y="3346704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342632" y="2432304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2088" y="2670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7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62088" y="2980944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 복습 10문항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62088" y="374904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배운 내용으로 듣기·말하기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·쓰기 퀴즈 즉시 진행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32036" y="3346704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601200" y="2432304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20656" y="2670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7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20656" y="2980944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약점 반영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20656" y="374904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것이 다시 나오고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교사에게도 전달됩니다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4992624"/>
            <a:ext cx="11055096" cy="1060704"/>
          </a:xfrm>
          <a:prstGeom prst="roundRect">
            <a:avLst>
              <a:gd name="adj" fmla="val 8621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5230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문장으로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578608" y="5193792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수업만 제공하는 화상영어와 달리, 망고아이는 수업 밖의 시간까지 같은 시스템 안에서 관리합니다.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 02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969264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전담 원어민 교사와</a:t>
            </a:r>
            <a:endParaRPr lang="en-US" sz="3000" dirty="0"/>
          </a:p>
          <a:p>
            <a:pPr algn="l"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CEFR 단계별 커리큘럼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215798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매번 바뀌는 랜덤 매칭이 아니라, 같은 선생님이 계속 봅니다.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아이의 성향과 약점을 정확히 압니다.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3118104"/>
            <a:ext cx="5943600" cy="566928"/>
          </a:xfrm>
          <a:prstGeom prst="rect">
            <a:avLst/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227832"/>
            <a:ext cx="347472" cy="347472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27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25296" y="314553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전담 교사제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91840" y="314553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랜덤 매칭이 아닌 전담 선생님이 지속 관리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849624"/>
            <a:ext cx="347472" cy="347472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25296" y="376732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1:1 또는 1:2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291840" y="376732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형제·친구와 함께하면 비용은 낮추고 효과는 그대로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361688"/>
            <a:ext cx="5943600" cy="566928"/>
          </a:xfrm>
          <a:prstGeom prst="rect">
            <a:avLst/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471416"/>
            <a:ext cx="347472" cy="347472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471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25296" y="438912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직영 정규 교사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291840" y="438912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외주가 아닌 필리핀 직영 센터의 검증된 정규 교사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093208"/>
            <a:ext cx="347472" cy="347472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093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25296" y="501091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CEFR 기반 8단계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291840" y="501091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Novice부터 Proficient까지 국제 기준에 맞춘 설계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5605272"/>
            <a:ext cx="5943600" cy="566928"/>
          </a:xfrm>
          <a:prstGeom prst="rect">
            <a:avLst/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715000"/>
            <a:ext cx="347472" cy="347472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715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25296" y="563270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연령·관심사 맞춤 교재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291840" y="563270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디지털 교재 뷰어로 예습·복습까지 한 곳에서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18020" y="2116836"/>
            <a:ext cx="4654296" cy="2968752"/>
          </a:xfrm>
          <a:prstGeom prst="roundRect">
            <a:avLst>
              <a:gd name="adj" fmla="val 2464"/>
            </a:avLst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30" name="Image 0" descr="/tmp/claude-0/-home-user-mangoiweb/ca835eb4-1670-5fc1-a29a-2fc77598fea3/scratchpad/deck_img/curriculu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2157984"/>
            <a:ext cx="4572000" cy="2886456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059168" y="51389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교육과정 안내 — Level 1~8, Novice ~ Proficient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5780" y="1933956"/>
            <a:ext cx="5751576" cy="3627486"/>
          </a:xfrm>
          <a:prstGeom prst="roundRect">
            <a:avLst>
              <a:gd name="adj" fmla="val 2017"/>
            </a:avLst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3" name="Image 0" descr="/tmp/claude-0/-home-user-mangoiweb/ca835eb4-1670-5fc1-a29a-2fc77598fea3/scratchpad/deck_img/spee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75104"/>
            <a:ext cx="5669280" cy="3545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561441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음성코치 — 레벨 선택 → 원어민 발음 듣기 → 따라 말하기 → 즉시 채점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656832" y="56692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56832" y="56692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 03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656832" y="969264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수업이 없는 날에도</a:t>
            </a:r>
            <a:endParaRPr lang="en-US" sz="2900" dirty="0"/>
          </a:p>
          <a:p>
            <a:pPr algn="l" indent="0" marL="0">
              <a:lnSpc>
                <a:spcPts val="3800"/>
              </a:lnSpc>
              <a:buNone/>
            </a:pPr>
            <a:r>
              <a:rPr lang="en-US" sz="2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말하기를 멈추지 않습니다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6656832" y="213969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음성코치는 원어민 발음을 들려주고, 따라 말한 문장이 또렷했는지 즉시 채점합니다.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56832" y="3054096"/>
            <a:ext cx="4974336" cy="960120"/>
          </a:xfrm>
          <a:prstGeom prst="roundRect">
            <a:avLst>
              <a:gd name="adj" fmla="val 9524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12864" y="31912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레벨을 골라서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912864" y="3483864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Phonics(Lv 0) · BTS(Lv 1~8) · SIU(고급)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중국어 마스터(Lv 1~20)까지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656832" y="4114800"/>
            <a:ext cx="4974336" cy="960120"/>
          </a:xfrm>
          <a:prstGeom prst="roundRect">
            <a:avLst>
              <a:gd name="adj" fmla="val 9524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12864" y="4251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· 따라 말하고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12864" y="4544568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원어민 발음 듣기 → 마이크 버튼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또박또박 발화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656832" y="5175504"/>
            <a:ext cx="4974336" cy="960120"/>
          </a:xfrm>
          <a:prstGeom prst="roundRect">
            <a:avLst>
              <a:gd name="adj" fmla="val 9524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12864" y="53126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점수로 확인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912864" y="5605272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발음 점수와 발화량이 데이터로 쌓여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성장 추이가 보입니다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 04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969264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«말 걸 상대»가</a:t>
            </a:r>
            <a:endParaRPr lang="en-US" sz="3400" dirty="0"/>
          </a:p>
          <a:p>
            <a:pPr algn="l"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있습니다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221284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영어를 못 하는 이유는 대부분 «틀릴까 봐»입니다.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친구는 아무리 틀려도 웃지 않고, 한 마디마다 포인트를 줍니다.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3236976"/>
            <a:ext cx="182880" cy="18288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31272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성격이 다른 친구를 고릅니다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2688" y="341985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다정한 Emma, 장난스러운 Jake, 또는 둘 다 번갈아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" y="3986784"/>
            <a:ext cx="182880" cy="18288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87705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주제를 골라 모험처럼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32688" y="4169664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피자 · 동물 · 우주 · 공룡 — 아이가 좋아하는 세계에서 대화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" y="4736592"/>
            <a:ext cx="182880" cy="18288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62686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말할수록 쌓입니다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32688" y="491947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레벨(새싹 망고 → …) · 연속 학습 일수 · 포인트 · 오늘의 단어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" y="5486400"/>
            <a:ext cx="182880" cy="18288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537667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레벨에 맞춰 말해 줍니다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32688" y="566928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 등 학습자 수준에 맞춘 문장 길이와 어휘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6852" y="1842516"/>
            <a:ext cx="4882896" cy="3113075"/>
          </a:xfrm>
          <a:prstGeom prst="roundRect">
            <a:avLst>
              <a:gd name="adj" fmla="val 2350"/>
            </a:avLst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0" descr="/tmp/claude-0/-home-user-mangoiweb/ca835eb4-1670-5fc1-a29a-2fc77598fea3/scratchpad/deck_img/aifrie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883664"/>
            <a:ext cx="4800600" cy="303077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858000" y="49926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친구 대화 — 음성 입력과 힌트 버튼도 함께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 05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예습·복습을 아이 혼자 하라고 두지 않습니다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단어만 넣으면 A.I가 뜻과 예문을 만들고, 틀린 문제는 A.I가 다시 냅니다. 푼 기록은 매달 성적표의 «이해·정확도»로 쌓입니다.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5780" y="2354580"/>
            <a:ext cx="5248656" cy="3312993"/>
          </a:xfrm>
          <a:prstGeom prst="roundRect">
            <a:avLst>
              <a:gd name="adj" fmla="val 2208"/>
            </a:avLst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7" name="Image 0" descr="/tmp/claude-0/-home-user-mangoiweb/ca835eb4-1670-5fc1-a29a-2fc77598fea3/scratchpad/deck_img/voca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95728"/>
            <a:ext cx="5166360" cy="32306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57424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단어장 — 영어 단어만 넣으면 뜻·예문 자동 생성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14516" y="2354580"/>
            <a:ext cx="5248656" cy="3312993"/>
          </a:xfrm>
          <a:prstGeom prst="roundRect">
            <a:avLst>
              <a:gd name="adj" fmla="val 2208"/>
            </a:avLst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1" descr="/tmp/claude-0/-home-user-mangoiweb/ca835eb4-1670-5fc1-a29a-2fc77598fea3/scratchpad/deck_img/aiwrit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2395728"/>
            <a:ext cx="5166360" cy="32306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55664" y="57424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영작 첨삭 — 쓴 문장을 즉시 교정하고 이유를 설명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035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D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 06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복습을 «해야 하는 것»에서 «하고 싶은 것»으로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77393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A.I가 틀린 단어·문장을 골라 그대로 게임의 재료로 넘깁니다. 학습 게임 21종, 영어와 중국어 모두 지원합니다.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5780" y="2354580"/>
            <a:ext cx="5888736" cy="3713256"/>
          </a:xfrm>
          <a:prstGeom prst="roundRect">
            <a:avLst>
              <a:gd name="adj" fmla="val 1970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7" name="Image 0" descr="/tmp/claude-0/-home-user-mangoiweb/ca835eb4-1670-5fc1-a29a-2fc77598fea3/scratchpad/deck_img/gam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95728"/>
            <a:ext cx="5806440" cy="3630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61264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 학습 게임 허브 — 오늘의 퀘스트 · 연속 학습 · 랭킹 · 포인트 상점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661404" y="2363724"/>
            <a:ext cx="2551176" cy="1463040"/>
          </a:xfrm>
          <a:prstGeom prst="roundRect">
            <a:avLst>
              <a:gd name="adj" fmla="val 5000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1" descr="/tmp/claude-0/-home-user-mangoiweb/ca835eb4-1670-5fc1-a29a-2fc77598fea3/scratchpad/deck_img/spacemon.jpg">    </p:cNvPr>
          <p:cNvPicPr>
            <a:picLocks noChangeAspect="1"/>
          </p:cNvPicPr>
          <p:nvPr/>
        </p:nvPicPr>
        <p:blipFill>
          <a:blip r:embed="rId2"/>
          <a:srcRect l="0" r="0" t="5585" b="-5585"/>
          <a:stretch/>
        </p:blipFill>
        <p:spPr>
          <a:xfrm>
            <a:off x="6693408" y="2395728"/>
            <a:ext cx="2487168" cy="1399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93408" y="38587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우주 괴물 사냥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9404604" y="2363724"/>
            <a:ext cx="2551176" cy="1463040"/>
          </a:xfrm>
          <a:prstGeom prst="roundRect">
            <a:avLst>
              <a:gd name="adj" fmla="val 5000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13" name="Image 2" descr="/tmp/claude-0/-home-user-mangoiweb/ca835eb4-1670-5fc1-a29a-2fc77598fea3/scratchpad/deck_img/grammarpizza.jpg">    </p:cNvPr>
          <p:cNvPicPr>
            <a:picLocks noChangeAspect="1"/>
          </p:cNvPicPr>
          <p:nvPr/>
        </p:nvPicPr>
        <p:blipFill>
          <a:blip r:embed="rId3"/>
          <a:srcRect l="0" r="0" t="5585" b="-5585"/>
          <a:stretch/>
        </p:blipFill>
        <p:spPr>
          <a:xfrm>
            <a:off x="9436608" y="2395728"/>
            <a:ext cx="2487168" cy="1399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436608" y="38587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문법 피자 마스터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661404" y="4174236"/>
            <a:ext cx="2551176" cy="1463040"/>
          </a:xfrm>
          <a:prstGeom prst="roundRect">
            <a:avLst>
              <a:gd name="adj" fmla="val 5000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16" name="Image 3" descr="/tmp/claude-0/-home-user-mangoiweb/ca835eb4-1670-5fc1-a29a-2fc77598fea3/scratchpad/deck_img/langace.jpg">    </p:cNvPr>
          <p:cNvPicPr>
            <a:picLocks noChangeAspect="1"/>
          </p:cNvPicPr>
          <p:nvPr/>
        </p:nvPicPr>
        <p:blipFill>
          <a:blip r:embed="rId4"/>
          <a:srcRect l="0" r="0" t="5585" b="-5585"/>
          <a:stretch/>
        </p:blipFill>
        <p:spPr>
          <a:xfrm>
            <a:off x="6693408" y="4206240"/>
            <a:ext cx="2487168" cy="1399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93408" y="56692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P-38 라이트닝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9404604" y="4174236"/>
            <a:ext cx="2551176" cy="1463040"/>
          </a:xfrm>
          <a:prstGeom prst="roundRect">
            <a:avLst>
              <a:gd name="adj" fmla="val 5000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4" descr="/tmp/claude-0/-home-user-mangoiweb/ca835eb4-1670-5fc1-a29a-2fc77598fea3/scratchpad/deck_img/escape.jpg">    </p:cNvPr>
          <p:cNvPicPr>
            <a:picLocks noChangeAspect="1"/>
          </p:cNvPicPr>
          <p:nvPr/>
        </p:nvPicPr>
        <p:blipFill>
          <a:blip r:embed="rId5"/>
          <a:srcRect l="0" r="0" t="5585" b="-5585"/>
          <a:stretch/>
        </p:blipFill>
        <p:spPr>
          <a:xfrm>
            <a:off x="9436608" y="4206240"/>
            <a:ext cx="2487168" cy="1399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436608" y="56692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탈출 SOS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6693408" y="608990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게임마다 파일이 독립되어 있어 새 게임을 계속 추가할 수 있는 구조입니다.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 07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학부모가 «깜깜이»가 되지 않게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출결·평가·진도·공지를 카카오톡으로 실시간 전달합니다.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앱을 따로 열지 않아도 아이의 학습 상황이 손 안에 도착합니다.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724912"/>
            <a:ext cx="5806440" cy="969264"/>
          </a:xfrm>
          <a:prstGeom prst="roundRect">
            <a:avLst>
              <a:gd name="adj" fmla="val 9434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8529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수업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31089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자동 평가서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630168" y="2944368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발음 · 표현 · 참여도를 분석해 수업 직후 자동 생성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785616"/>
            <a:ext cx="5806440" cy="969264"/>
          </a:xfrm>
          <a:prstGeom prst="roundRect">
            <a:avLst>
              <a:gd name="adj" fmla="val 9434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9136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41696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학부모 주간 리포트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30168" y="400507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주 학습량과 약점을 정리해 발송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846320"/>
            <a:ext cx="5806440" cy="969264"/>
          </a:xfrm>
          <a:prstGeom prst="roundRect">
            <a:avLst>
              <a:gd name="adj" fmla="val 9434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4974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52303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A.I 학습 리포트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630168" y="5065776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달 성장 흐름을 요약, 카카오톡으로도 발송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43700" y="1732788"/>
            <a:ext cx="4928616" cy="2167128"/>
          </a:xfrm>
          <a:prstGeom prst="roundRect">
            <a:avLst>
              <a:gd name="adj" fmla="val 3376"/>
            </a:avLst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0" descr="/tmp/claude-0/-home-user-mangoiweb/ca835eb4-1670-5fc1-a29a-2fc77598fea3/scratchpad/deck_img/paren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84848" y="1773936"/>
            <a:ext cx="4846320" cy="20848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784848" y="404164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학부모 주간 리포트 — 카카오톡 · 테스트 발송 화면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 08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앱을 여러 개 오갈 필요가 없습니다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입장 · 예복습 · 평가 확인 · 결제 · 상담까지 하나의 홈페이지와 앱에서 끝납니다. 원하는 기능은 검색창에 말하면 바로 이동합니다.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5780" y="2391156"/>
            <a:ext cx="5477256" cy="3488314"/>
          </a:xfrm>
          <a:prstGeom prst="roundRect">
            <a:avLst>
              <a:gd name="adj" fmla="val 2097"/>
            </a:avLst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7" name="Image 0" descr="/tmp/claude-0/-home-user-mangoiweb/ca835eb4-1670-5fc1-a29a-2fc77598fea3/scratchpad/deck_img/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432304"/>
            <a:ext cx="5394960" cy="34060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58887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— AI 검색창에 말하거나 입력하면 해당 기능으로 바로 이동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77940" y="2391156"/>
            <a:ext cx="5294376" cy="3372856"/>
          </a:xfrm>
          <a:prstGeom prst="roundRect">
            <a:avLst>
              <a:gd name="adj" fmla="val 2169"/>
            </a:avLst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1" descr="/tmp/claude-0/-home-user-mangoiweb/ca835eb4-1670-5fc1-a29a-2fc77598fea3/scratchpad/deck_img/allmenu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2432304"/>
            <a:ext cx="5212080" cy="32905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19088" y="577900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메뉴 — 학습·수업·평가·결제·상담이 한 화면에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다른가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969264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화상영어와 망고아이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«수업을 파는가»와 «학습을 관리하는가»의 차이입니다.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882128" y="2212848"/>
            <a:ext cx="3739896" cy="3785616"/>
          </a:xfrm>
          <a:prstGeom prst="roundRect">
            <a:avLst>
              <a:gd name="adj" fmla="val 2445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34256" y="228600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화상영어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01584" y="2286000"/>
            <a:ext cx="3374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67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망고아이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798064"/>
            <a:ext cx="7315200" cy="512064"/>
          </a:xfrm>
          <a:prstGeom prst="rect">
            <a:avLst/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83464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34256" y="2834640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원어민 화상수업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01584" y="283464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원어민 전담 1:1 · 1:2 (직영 센터)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6384" y="336499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밖 시간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34256" y="3364992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자율에 맡김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01584" y="336499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웜업 · 음성코치 · AI 친구 대화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858768"/>
            <a:ext cx="7315200" cy="512064"/>
          </a:xfrm>
          <a:prstGeom prst="rect">
            <a:avLst/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89534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복습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34256" y="3895344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숙제 또는 없음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01584" y="3895344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생성 10문항 + 학습 게임 21종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6384" y="442569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334256" y="4425696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코멘트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01584" y="4425696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A.I 자동 평가서 + 월간 A.I 리포트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919472"/>
            <a:ext cx="7315200" cy="512064"/>
          </a:xfrm>
          <a:prstGeom prst="rect">
            <a:avLst/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495604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학부모 소통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334256" y="4956048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1회 상담 정도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01584" y="495604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카카오톡 실시간 · 주간/월간 리포트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6384" y="54864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334256" y="5486400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도구 위주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01584" y="548640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입장·학습·평가·결제·상담 올인원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61630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일반 화상영어 열은 업계에서 흔히 보이는 구성을 요약한 것으로, 특정 업체를 지칭하지 않습니다.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14516" y="1805940"/>
            <a:ext cx="5257800" cy="3318711"/>
          </a:xfrm>
          <a:prstGeom prst="roundRect">
            <a:avLst>
              <a:gd name="adj" fmla="val 2204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3" name="Image 0" descr="/tmp/claude-0/-home-user-mangoiweb/ca835eb4-1670-5fc1-a29a-2fc77598fea3/scratchpad/deck_img/book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5664" y="1847088"/>
            <a:ext cx="5175504" cy="32364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55664" y="5266383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9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신청 — 시간 · 교사 · 결제 3단계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928" y="1481328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1F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0" dirty="0"/>
          </a:p>
        </p:txBody>
      </p:sp>
      <p:sp>
        <p:nvSpPr>
          <p:cNvPr id="6" name="Shape 3"/>
          <p:cNvSpPr/>
          <p:nvPr/>
        </p:nvSpPr>
        <p:spPr>
          <a:xfrm>
            <a:off x="566928" y="2889504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2889504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D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66928" y="3364992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사용방법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66928" y="4315968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오신 분이 수업을 듣고 복습까지 마치는</a:t>
            </a:r>
            <a:endParaRPr lang="en-US" sz="13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과정을 실제 화면으로 따라갑니다.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흐름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969264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가입부터 복습까지, 다섯 걸음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화면 가운데에도 «무료 상담 › 레벨 테스트 › 수업 신청 › 평가표·복습» 순서가 그대로 표시됩니다.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432304"/>
            <a:ext cx="2084832" cy="2926080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688336"/>
            <a:ext cx="457200" cy="45720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3310128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 상담 · 가입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04672" y="4059936"/>
            <a:ext cx="16459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카카오톡 채널 또는 홈의 «무료 체험 신청»으로 시작합니다.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25496" y="2432304"/>
            <a:ext cx="2084832" cy="2926080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2688336"/>
            <a:ext cx="457200" cy="45720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63240" y="3310128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 테스트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063240" y="4059936"/>
            <a:ext cx="16459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자동 진단으로 현재 실력과 시작 레벨을 확인합니다.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84064" y="2432304"/>
            <a:ext cx="2084832" cy="2926080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21808" y="2688336"/>
            <a:ext cx="457200" cy="45720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21808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21808" y="3310128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신청 · 결제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321808" y="4059936"/>
            <a:ext cx="16459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요일·시간·교사를 직접 고르고 그 자리에서 결제합니다.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42632" y="2432304"/>
            <a:ext cx="2084832" cy="2926080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0376" y="2688336"/>
            <a:ext cx="457200" cy="45720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0376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580376" y="3310128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당일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580376" y="4059936"/>
            <a:ext cx="16459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진단으로 마이크·카메라를 점검하고, 웜업 후 입장합니다.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601200" y="2432304"/>
            <a:ext cx="2084832" cy="2926080"/>
          </a:xfrm>
          <a:prstGeom prst="roundRect">
            <a:avLst>
              <a:gd name="adj" fmla="val 4386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38944" y="2688336"/>
            <a:ext cx="457200" cy="45720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38944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838944" y="3310128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후 평가 · 복습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9838944" y="4059936"/>
            <a:ext cx="16459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평가서 → 복습 퀴즈 → 게임 → 리포트로 이어집니다.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566928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46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수강 중이라면 홈의 «수업 입장 →» 한 번으로 바로 교실로 들어갑니다.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·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상담하고, 내 레벨을 확인합니다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75564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홈의 «무료 체험 신청»으로 상담을 시작하고, 레벨 테스트로 시작 지점을 정합니다.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615184"/>
            <a:ext cx="5760720" cy="786384"/>
          </a:xfrm>
          <a:prstGeom prst="roundRect">
            <a:avLst>
              <a:gd name="adj" fmla="val 11628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무료 상담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› 무료 체험 신청 또는 💬 카카오 상담. 채널 홈에서 채팅·챗봇·전화가 모두 열립니다.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3493008"/>
            <a:ext cx="5760720" cy="786384"/>
          </a:xfrm>
          <a:prstGeom prst="roundRect">
            <a:avLst>
              <a:gd name="adj" fmla="val 11628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6210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레벨 테스트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89534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› 🎯 레벨테스트. AI 자동 진단은 학생 ID만 넣으면 바로 시작합니다.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4370832"/>
            <a:ext cx="5760720" cy="786384"/>
          </a:xfrm>
          <a:prstGeom prst="roundRect">
            <a:avLst>
              <a:gd name="adj" fmla="val 11628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4988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결과 확인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7731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CEFR 기준 Level 1~8 중 시작 레벨과 강·약점이 정리되어 나옵니다.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5248656"/>
            <a:ext cx="5760720" cy="786384"/>
          </a:xfrm>
          <a:prstGeom prst="roundRect">
            <a:avLst>
              <a:gd name="adj" fmla="val 11628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3766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커리큘럼 배정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6509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레벨에 맞는 교재와 주제가 자동으로 연결됩니다.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07124" y="1933956"/>
            <a:ext cx="4974336" cy="1911096"/>
          </a:xfrm>
          <a:prstGeom prst="roundRect">
            <a:avLst>
              <a:gd name="adj" fmla="val 3828"/>
            </a:avLst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0" descr="/tmp/claude-0/-home-user-mangoiweb/ca835eb4-1670-5fc1-a29a-2fc77598fea3/scratchpad/deck_img/leveltesta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48272" y="1975104"/>
            <a:ext cx="4892040" cy="18288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748272" y="39867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자동 진단 — 학생 ID 입력 후 즉시 시작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5780" y="1915668"/>
            <a:ext cx="5522976" cy="3484535"/>
          </a:xfrm>
          <a:prstGeom prst="roundRect">
            <a:avLst>
              <a:gd name="adj" fmla="val 2099"/>
            </a:avLst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3" name="Image 0" descr="/tmp/claude-0/-home-user-mangoiweb/ca835eb4-1670-5fc1-a29a-2fc77598fea3/scratchpad/deck_img/book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56816"/>
            <a:ext cx="5440680" cy="34022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5486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신청 — ① 시간 선택 › ② 교사 선택 › ③ 결제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455664" y="56692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55664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55664" y="969264"/>
            <a:ext cx="5175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요일·시간·교사를</a:t>
            </a:r>
            <a:endParaRPr lang="en-US" sz="3000" dirty="0"/>
          </a:p>
          <a:p>
            <a:pPr algn="l"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고릅니다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455664" y="21396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«마스터 클래스 디자인» 화면에서 시간 → 교사 → 결제까지 3단계로 끝납니다.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55664" y="3054096"/>
            <a:ext cx="5175504" cy="548640"/>
          </a:xfrm>
          <a:prstGeom prst="rect">
            <a:avLst/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0" y="305409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형태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83880" y="305409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1:1 마스터 또는 그룹 토론 중 선택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75120" y="3657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방식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83880" y="3657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날짜로 고르거나, 교사로 고르거나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55664" y="4261104"/>
            <a:ext cx="5175504" cy="548640"/>
          </a:xfrm>
          <a:prstGeom prst="rect">
            <a:avLst/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0" y="426110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 횟수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83880" y="42611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1회 ~ 주 5회 중 선택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675120" y="4864608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선택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83880" y="486460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20분 자동 블록 + 연속 확장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색으로 가능 / 예약 / 휴무를 구분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55664" y="5632704"/>
            <a:ext cx="5175504" cy="548640"/>
          </a:xfrm>
          <a:prstGeom prst="rect">
            <a:avLst/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75120" y="563270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183880" y="56327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장바구니에 일정을 모두 담은 뒤 결제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당일 — 점검하고, 몸을 풀고, 입장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시작 전 마이크·카메라·네트워크를 스스로 점검하고, AI 웜업으로 오늘 배울 문장을 미리 말해 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5780" y="2354580"/>
            <a:ext cx="5248656" cy="3312993"/>
          </a:xfrm>
          <a:prstGeom prst="roundRect">
            <a:avLst>
              <a:gd name="adj" fmla="val 2208"/>
            </a:avLst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7" name="Image 0" descr="/tmp/claude-0/-home-user-mangoiweb/ca835eb4-1670-5fc1-a29a-2fc77598fea3/scratchpad/deck_img/prech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95728"/>
            <a:ext cx="5166360" cy="32306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5669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수업 진단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596188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마이크·카메라·STUN/TURN·네트워크를 항목별로 점검해 점수로 표시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14516" y="2354580"/>
            <a:ext cx="5248656" cy="3312993"/>
          </a:xfrm>
          <a:prstGeom prst="roundRect">
            <a:avLst>
              <a:gd name="adj" fmla="val 2208"/>
            </a:avLst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11" name="Image 1" descr="/tmp/claude-0/-home-user-mangoiweb/ca835eb4-1670-5fc1-a29a-2fc77598fea3/scratchpad/deck_img/warmu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2395728"/>
            <a:ext cx="5166360" cy="323069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55664" y="5669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수업 전 AI 웜업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55664" y="596188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친구와 짧게 대화하며 입을 풀고 바로 화상수업 로비로 입장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수업이 끝나고부터가 진짜입니다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평가서 → 복습 퀴즈 → 게임 → 리포트. 아이가 «해야지» 하고 마음먹지 않아도 순서대로 이어집니다.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615184"/>
            <a:ext cx="5943600" cy="603504"/>
          </a:xfrm>
          <a:prstGeom prst="rect">
            <a:avLst/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734056"/>
            <a:ext cx="365760" cy="36576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43584" y="261518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평가서 자동 생성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29584" y="2615184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발음·표현·참여도 분석 결과가 수업 직후 도착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410712"/>
            <a:ext cx="365760" cy="36576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410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43584" y="329184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복습 퀴즈 10문항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29584" y="3291840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배운 내용으로 듣기·말하기·쓰기 문제를 즉시 출제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968496"/>
            <a:ext cx="5943600" cy="603504"/>
          </a:xfrm>
          <a:prstGeom prst="rect">
            <a:avLst/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087368"/>
            <a:ext cx="365760" cy="36576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43584" y="396849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게임으로 반복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529584" y="3968496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단어·문장이 게임 재료가 되어 다시 등장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764024"/>
            <a:ext cx="365760" cy="36576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243584" y="464515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 학습 유지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529584" y="4645152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스트릭(연속 일수)과 포인트로 습관을 잡습니다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5321808"/>
            <a:ext cx="5943600" cy="603504"/>
          </a:xfrm>
          <a:prstGeom prst="rect">
            <a:avLst/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440680"/>
            <a:ext cx="365760" cy="365760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43584" y="5321808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A.I 리포트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529584" y="5321808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달 성장 요약이 카카오톡으로 발송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43700" y="1330452"/>
            <a:ext cx="4928616" cy="3112861"/>
          </a:xfrm>
          <a:prstGeom prst="roundRect">
            <a:avLst>
              <a:gd name="adj" fmla="val 2350"/>
            </a:avLst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30" name="Image 0" descr="/tmp/claude-0/-home-user-mangoiweb/ca835eb4-1670-5fc1-a29a-2fc77598fea3/scratchpad/deck_img/microquiz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48" y="1371600"/>
            <a:ext cx="4846320" cy="3030565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784848" y="449884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단어 퀴즈 — 마이크로러닝, 1분 안에 끝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743700" y="4860036"/>
            <a:ext cx="2414016" cy="1380744"/>
          </a:xfrm>
          <a:prstGeom prst="roundRect">
            <a:avLst>
              <a:gd name="adj" fmla="val 5298"/>
            </a:avLst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33" name="Image 1" descr="/tmp/claude-0/-home-user-mangoiweb/ca835eb4-1670-5fc1-a29a-2fc77598fea3/scratchpad/deck_img/streak.jpg">    </p:cNvPr>
          <p:cNvPicPr>
            <a:picLocks noChangeAspect="1"/>
          </p:cNvPicPr>
          <p:nvPr/>
        </p:nvPicPr>
        <p:blipFill>
          <a:blip r:embed="rId2"/>
          <a:srcRect l="0" r="0" t="6148" b="-6148"/>
          <a:stretch/>
        </p:blipFill>
        <p:spPr>
          <a:xfrm>
            <a:off x="6784848" y="4901184"/>
            <a:ext cx="2331720" cy="1298448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9258300" y="4860036"/>
            <a:ext cx="2414016" cy="1380744"/>
          </a:xfrm>
          <a:prstGeom prst="roundRect">
            <a:avLst>
              <a:gd name="adj" fmla="val 5298"/>
            </a:avLst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35" name="Image 2" descr="/tmp/claude-0/-home-user-mangoiweb/ca835eb4-1670-5fc1-a29a-2fc77598fea3/scratchpad/deck_img/grammarpizza.jpg">    </p:cNvPr>
          <p:cNvPicPr>
            <a:picLocks noChangeAspect="1"/>
          </p:cNvPicPr>
          <p:nvPr/>
        </p:nvPicPr>
        <p:blipFill>
          <a:blip r:embed="rId3"/>
          <a:srcRect l="0" r="0" t="6148" b="-6148"/>
          <a:stretch/>
        </p:blipFill>
        <p:spPr>
          <a:xfrm>
            <a:off x="9299448" y="4901184"/>
            <a:ext cx="2331720" cy="129844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784848" y="62910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 학습 · 게임형 복습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언제든지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일정이 바뀌어도 수업은 사라지지 않습니다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갑자기 일이 생기면 «연기»하거나 «변경»하면 됩니다. 궁금한 것은 FAQ와 카카오 상담에서 바로 확인합니다.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5780" y="2354580"/>
            <a:ext cx="5248656" cy="3312993"/>
          </a:xfrm>
          <a:prstGeom prst="roundRect">
            <a:avLst>
              <a:gd name="adj" fmla="val 2208"/>
            </a:avLst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7" name="Image 0" descr="/tmp/claude-0/-home-user-mangoiweb/ca835eb4-1670-5fc1-a29a-2fc77598fea3/scratchpad/deck_img/postpo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95728"/>
            <a:ext cx="5166360" cy="32306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5669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연기 · 변경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596188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«수업 연기하기»와 «수업 변경하기»를 한 화면에서 선택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14516" y="2354580"/>
            <a:ext cx="5248656" cy="3312993"/>
          </a:xfrm>
          <a:prstGeom prst="roundRect">
            <a:avLst>
              <a:gd name="adj" fmla="val 2208"/>
            </a:avLst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11" name="Image 1" descr="/tmp/claude-0/-home-user-mangoiweb/ca835eb4-1670-5fc1-a29a-2fc77598fea3/scratchpad/deck_img/faq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2395728"/>
            <a:ext cx="5166360" cy="323069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55664" y="5669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묻는 질문 · 카카오 상담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55664" y="596188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카테고리별 FAQ + 카카오톡 채널 홈에서 채팅·챗봇·전화 연결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 · 강사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학원 운영에 필요한 모든 기능이 한 화면에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81051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학생·강사·수업·정산·시스템이 하나의 콘솔에 모여 있고,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«AI 운영비서»에게 말로 물어볼 수도 있습니다.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761488"/>
            <a:ext cx="5989320" cy="585216"/>
          </a:xfrm>
          <a:prstGeom prst="rect">
            <a:avLst/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2971800"/>
            <a:ext cx="173736" cy="173736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3856" y="2761488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52928" y="2761488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수업 현황 · 오늘의 매출 · 학생수 · 신규 등록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6384" y="3630168"/>
            <a:ext cx="173736" cy="173736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3419856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· 강사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52928" y="3419856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관리, 강사 명부·매칭·성장 리포트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4078224"/>
            <a:ext cx="5989320" cy="585216"/>
          </a:xfrm>
          <a:prstGeom prst="rect">
            <a:avLst/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4288536"/>
            <a:ext cx="173736" cy="173736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4078224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· 콘텐츠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52928" y="4078224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스케줄, 평가서, 교재, 공지·팝업 스튜디오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6384" y="4946904"/>
            <a:ext cx="173736" cy="173736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3856" y="4736592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정산 · 매출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52928" y="4736592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급여·정산·구독·리텐션 지표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5394960"/>
            <a:ext cx="5989320" cy="585216"/>
          </a:xfrm>
          <a:prstGeom prst="rect">
            <a:avLst/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5605272"/>
            <a:ext cx="173736" cy="173736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3856" y="5394960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52928" y="539496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매트릭스(역할별 카드 on/off), 진단, 자료실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43700" y="1440180"/>
            <a:ext cx="4928616" cy="3177479"/>
          </a:xfrm>
          <a:prstGeom prst="roundRect">
            <a:avLst>
              <a:gd name="adj" fmla="val 2302"/>
            </a:avLst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25" name="Image 0" descr="/tmp/claude-0/-home-user-mangoiweb/ca835eb4-1670-5fc1-a29a-2fc77598fea3/scratchpad/deck_img/adm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48" y="1481328"/>
            <a:ext cx="4846320" cy="3095183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84848" y="464515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콘솔 — 통합 검색으로 학생·교사·가맹점·메뉴를 한 번에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14516" y="1805940"/>
            <a:ext cx="5257800" cy="3318711"/>
          </a:xfrm>
          <a:prstGeom prst="roundRect">
            <a:avLst>
              <a:gd name="adj" fmla="val 2204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3" name="Image 0" descr="/tmp/claude-0/-home-user-mangoiweb/ca835eb4-1670-5fc1-a29a-2fc77598fea3/scratchpad/deck_img/avat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5664" y="1847088"/>
            <a:ext cx="5175504" cy="32364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55664" y="5266383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9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아바타 키우기 — 이미 서비스 중인 기능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928" y="1481328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1F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0" dirty="0"/>
          </a:p>
        </p:txBody>
      </p:sp>
      <p:sp>
        <p:nvSpPr>
          <p:cNvPr id="6" name="Shape 3"/>
          <p:cNvSpPr/>
          <p:nvPr/>
        </p:nvSpPr>
        <p:spPr>
          <a:xfrm>
            <a:off x="566928" y="2889504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2889504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D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66928" y="3364992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발전계획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66928" y="4315968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아바타 진화, 강화학습 기반 개인화, 고객 상호작용,</a:t>
            </a:r>
            <a:endParaRPr lang="en-US" sz="13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«바이브 코딩 시대의 영어»까지.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0350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D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ROADMAP 01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아바타 진화 — 말할수록 함께 자라는 동반자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77393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«아바타 키우기»는 이미 서비스 중입니다. 판다·여우·드래곤·강아지 중 하나를 골라 5단계까지 진화시킵니다.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단계는 이 아바타를 학습 전체의 주인공으로 만드는 것입니다.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5780" y="2574036"/>
            <a:ext cx="5431536" cy="3427354"/>
          </a:xfrm>
          <a:prstGeom prst="roundRect">
            <a:avLst>
              <a:gd name="adj" fmla="val 2134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7" name="Image 0" descr="/tmp/claude-0/-home-user-mangoiweb/ca835eb4-1670-5fc1-a29a-2fc77598fea3/scratchpad/deck_img/avat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615184"/>
            <a:ext cx="5349240" cy="33450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5943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— 영어·중국어 미션을 할 때마다 EXP가 쌓이고 진화합니다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82512" y="2615184"/>
            <a:ext cx="5248656" cy="786384"/>
          </a:xfrm>
          <a:prstGeom prst="roundRect">
            <a:avLst>
              <a:gd name="adj" fmla="val 10465"/>
            </a:avLst>
          </a:prstGeom>
          <a:solidFill>
            <a:srgbClr val="22345C"/>
          </a:solidFill>
          <a:ln w="12700">
            <a:solidFill>
              <a:srgbClr val="1E2C4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20256" y="27340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34656" y="271576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진화 · 진화 시 연출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534656" y="302666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D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미션 수행량에 따라 EXP 축적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82512" y="3511296"/>
            <a:ext cx="5248656" cy="786384"/>
          </a:xfrm>
          <a:prstGeom prst="roundRect">
            <a:avLst>
              <a:gd name="adj" fmla="val 10465"/>
            </a:avLst>
          </a:prstGeom>
          <a:solidFill>
            <a:srgbClr val="16223F"/>
          </a:solidFill>
          <a:ln w="12700">
            <a:solidFill>
              <a:srgbClr val="1E2C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0256" y="36301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534656" y="36118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표정과 감정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534656" y="392277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D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학생의 발음·대답 속도에 반응하는 얼굴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82512" y="4407408"/>
            <a:ext cx="5248656" cy="786384"/>
          </a:xfrm>
          <a:prstGeom prst="roundRect">
            <a:avLst>
              <a:gd name="adj" fmla="val 10465"/>
            </a:avLst>
          </a:prstGeom>
          <a:solidFill>
            <a:srgbClr val="16223F"/>
          </a:solidFill>
          <a:ln w="12700">
            <a:solidFill>
              <a:srgbClr val="1E2C4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20256" y="45262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534656" y="450799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목소리와 대화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534656" y="48188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D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아바타가 곧 AI 친구 — 같은 캐릭터로 말하기 연습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382512" y="5303520"/>
            <a:ext cx="5248656" cy="786384"/>
          </a:xfrm>
          <a:prstGeom prst="roundRect">
            <a:avLst>
              <a:gd name="adj" fmla="val 10465"/>
            </a:avLst>
          </a:prstGeom>
          <a:solidFill>
            <a:srgbClr val="16223F"/>
          </a:solidFill>
          <a:ln w="12700">
            <a:solidFill>
              <a:srgbClr val="1E2C4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20256" y="54223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534656" y="540410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학습의 주인공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534656" y="57150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D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· 수업 · 리포트에 같은 아바타가 등장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ROADMAP 02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969264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«사람처럼 가르치는» 개인화 튜터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지금의 AI는 정해진 문제를 냅니다. 다음 단계의 AI는 «이 아이에게 지금 무엇을 시킬지»를 스스로 정합니다.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377440"/>
            <a:ext cx="5166360" cy="3200400"/>
          </a:xfrm>
          <a:prstGeom prst="roundRect">
            <a:avLst>
              <a:gd name="adj" fmla="val 2857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6334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7824" y="3072384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레벨에 맞는 문제를 순서대로 출제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문제를 다시 출제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정해진 규칙으로 복습 주기 결정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55664" y="2377440"/>
            <a:ext cx="5166360" cy="3200400"/>
          </a:xfrm>
          <a:prstGeom prst="roundRect">
            <a:avLst>
              <a:gd name="adj" fmla="val 2857"/>
            </a:avLst>
          </a:prstGeom>
          <a:solidFill>
            <a:srgbClr val="0B1226"/>
          </a:solidFill>
          <a:ln w="12700">
            <a:solidFill>
              <a:srgbClr val="0B12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26334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— 강화학습 기반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66560" y="3072384"/>
            <a:ext cx="4526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B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학생별 «지금 가장 효과가 큰 다음 한 문제»를 선택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B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포기 직전의 난이도를 감지해 실시간으로 조절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B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발화 데이터로 개인 발음 약점 모델을 학습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B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피드백을 보상 신호로 삼아 스스로 개선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5760720"/>
            <a:ext cx="11055096" cy="713232"/>
          </a:xfrm>
          <a:prstGeom prst="roundRect">
            <a:avLst>
              <a:gd name="adj" fmla="val 12821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5760720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목표는 «AI가 사람 교사를 대신하는 것»이 아니라, 교사가 못 보는 시간과 데이터를 AI가 대신 보는 것입니다.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ROADMAP 03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969264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묻기 전에 먼저 말을 거는 서비스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홈에는 이미 «A.i 상담사»가, 관리자에는 «AI 운영비서»가 있습니다.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다음은 이들이 «답하는 창구»에서 «먼저 알려주는 상대»가 되는 단계입니다.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651760"/>
            <a:ext cx="5806440" cy="841248"/>
          </a:xfrm>
          <a:prstGeom prst="roundRect">
            <a:avLst>
              <a:gd name="adj" fmla="val 10870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9806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학생에게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938528" y="277063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«어제 틀린 단어 3개, 지금 1분이면 끝나요»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938528" y="31089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흐름이 끊긴 시점을 감지해 먼저 제안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3566160"/>
            <a:ext cx="58064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1246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학부모에게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938528" y="368503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«이번 주 발화량이 지난주보다 늘었어요»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938528" y="40233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물어보기 전에 변화를 카카오톡으로 요약 전달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4480560"/>
            <a:ext cx="5806440" cy="841248"/>
          </a:xfrm>
          <a:prstGeom prst="roundRect">
            <a:avLst>
              <a:gd name="adj" fmla="val 10870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62686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교사에게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938528" y="459943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«이 학생은 과거시제에서 계속 막힙니다»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938528" y="49377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직전 브리핑으로 준비 시간을 줄임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5394960"/>
            <a:ext cx="58064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54126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운영자에게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938528" y="551383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«이탈 위험 학생 5명, 사유는 시간대»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938528" y="58521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운영비서가 지표 이상을 먼저 보고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43700" y="1440180"/>
            <a:ext cx="4928616" cy="3141939"/>
          </a:xfrm>
          <a:prstGeom prst="roundRect">
            <a:avLst>
              <a:gd name="adj" fmla="val 2328"/>
            </a:avLst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23" name="Image 0" descr="/tmp/claude-0/-home-user-mangoiweb/ca835eb4-1670-5fc1-a29a-2fc77598fea3/scratchpad/deck_img/aifrie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48" y="1481328"/>
            <a:ext cx="4846320" cy="3059643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784848" y="459028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현재의 AI 친구 대화 — 이 대화 능력을 상담·안내로 확장합니다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784848" y="5029200"/>
            <a:ext cx="4855464" cy="1243584"/>
          </a:xfrm>
          <a:prstGeom prst="roundRect">
            <a:avLst>
              <a:gd name="adj" fmla="val 7353"/>
            </a:avLst>
          </a:prstGeom>
          <a:solidFill>
            <a:srgbClr val="0B1226"/>
          </a:solidFill>
          <a:ln w="12700">
            <a:solidFill>
              <a:srgbClr val="0B122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59168" y="52303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채널을 가리지 않게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059168" y="5522976"/>
            <a:ext cx="4315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FBC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홈페이지 · 앱 · 카카오톡 · 문자에서 같은 AI가 같은 맥락으로 응답합니다.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0350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D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ROADMAP 04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목표를 게임 목표 안에 숨깁니다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77393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표지의 그 한 줄 — «재미가 의지를 이깁니다». «공부시키기»로는 매일 하게 만들 수 없습니다.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앞으로의 학습 게임은 A.I가 그날의 약점을 재료로 삼아 스스로 판을 짜는 방향으로 갑니다.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4924" y="2400300"/>
            <a:ext cx="2670048" cy="1545336"/>
          </a:xfrm>
          <a:prstGeom prst="roundRect">
            <a:avLst>
              <a:gd name="adj" fmla="val 4734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7" name="Image 0" descr="/tmp/claude-0/-home-user-mangoiweb/ca835eb4-1670-5fc1-a29a-2fc77598fea3/scratchpad/deck_img/spacemon.jpg">    </p:cNvPr>
          <p:cNvPicPr>
            <a:picLocks noChangeAspect="1"/>
          </p:cNvPicPr>
          <p:nvPr/>
        </p:nvPicPr>
        <p:blipFill>
          <a:blip r:embed="rId1"/>
          <a:srcRect l="0" r="0" t="5006" b="-5006"/>
          <a:stretch/>
        </p:blipFill>
        <p:spPr>
          <a:xfrm>
            <a:off x="566928" y="2432304"/>
            <a:ext cx="2606040" cy="14813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42132" y="2400300"/>
            <a:ext cx="2670048" cy="1545336"/>
          </a:xfrm>
          <a:prstGeom prst="roundRect">
            <a:avLst>
              <a:gd name="adj" fmla="val 4734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9" name="Image 1" descr="/tmp/claude-0/-home-user-mangoiweb/ca835eb4-1670-5fc1-a29a-2fc77598fea3/scratchpad/deck_img/battle3d.jpg">    </p:cNvPr>
          <p:cNvPicPr>
            <a:picLocks noChangeAspect="1"/>
          </p:cNvPicPr>
          <p:nvPr/>
        </p:nvPicPr>
        <p:blipFill>
          <a:blip r:embed="rId2"/>
          <a:srcRect l="0" r="0" t="5006" b="-5006"/>
          <a:stretch/>
        </p:blipFill>
        <p:spPr>
          <a:xfrm>
            <a:off x="3374136" y="2432304"/>
            <a:ext cx="2606040" cy="148132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149340" y="2400300"/>
            <a:ext cx="2670048" cy="1545336"/>
          </a:xfrm>
          <a:prstGeom prst="roundRect">
            <a:avLst>
              <a:gd name="adj" fmla="val 4734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11" name="Image 2" descr="/tmp/claude-0/-home-user-mangoiweb/ca835eb4-1670-5fc1-a29a-2fc77598fea3/scratchpad/deck_img/suspect.jpg">    </p:cNvPr>
          <p:cNvPicPr>
            <a:picLocks noChangeAspect="1"/>
          </p:cNvPicPr>
          <p:nvPr/>
        </p:nvPicPr>
        <p:blipFill>
          <a:blip r:embed="rId3"/>
          <a:srcRect l="0" r="0" t="5006" b="-5006"/>
          <a:stretch/>
        </p:blipFill>
        <p:spPr>
          <a:xfrm>
            <a:off x="6181344" y="2432304"/>
            <a:ext cx="2606040" cy="148132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956548" y="2400300"/>
            <a:ext cx="2670048" cy="1545336"/>
          </a:xfrm>
          <a:prstGeom prst="roundRect">
            <a:avLst>
              <a:gd name="adj" fmla="val 4734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13" name="Image 3" descr="/tmp/claude-0/-home-user-mangoiweb/ca835eb4-1670-5fc1-a29a-2fc77598fea3/scratchpad/deck_img/escape.jpg">    </p:cNvPr>
          <p:cNvPicPr>
            <a:picLocks noChangeAspect="1"/>
          </p:cNvPicPr>
          <p:nvPr/>
        </p:nvPicPr>
        <p:blipFill>
          <a:blip r:embed="rId4"/>
          <a:srcRect l="0" r="0" t="5006" b="-5006"/>
          <a:stretch/>
        </p:blipFill>
        <p:spPr>
          <a:xfrm>
            <a:off x="8988552" y="2432304"/>
            <a:ext cx="2606040" cy="148132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66928" y="4169664"/>
            <a:ext cx="2606040" cy="1883664"/>
          </a:xfrm>
          <a:prstGeom prst="roundRect">
            <a:avLst>
              <a:gd name="adj" fmla="val 4369"/>
            </a:avLst>
          </a:prstGeom>
          <a:solidFill>
            <a:srgbClr val="16223F"/>
          </a:solidFill>
          <a:ln w="12700">
            <a:solidFill>
              <a:srgbClr val="1E2C4E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804672" y="438912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세계관을 잇습니다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804672" y="4773168"/>
            <a:ext cx="216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FAD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게임마다 독립적입니다. 하나의 세계와 하나의 아바타로 묶습니다.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3374136" y="4169664"/>
            <a:ext cx="2606040" cy="1883664"/>
          </a:xfrm>
          <a:prstGeom prst="roundRect">
            <a:avLst>
              <a:gd name="adj" fmla="val 4369"/>
            </a:avLst>
          </a:prstGeom>
          <a:solidFill>
            <a:srgbClr val="16223F"/>
          </a:solidFill>
          <a:ln w="12700">
            <a:solidFill>
              <a:srgbClr val="1E2C4E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3611880" y="438912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말해야 이깁니다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3611880" y="4773168"/>
            <a:ext cx="216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FAD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클릭이 아니라 «소리 내어 말하기»가 승리 조건이 되는 설계로.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181344" y="4169664"/>
            <a:ext cx="2606040" cy="1883664"/>
          </a:xfrm>
          <a:prstGeom prst="roundRect">
            <a:avLst>
              <a:gd name="adj" fmla="val 4369"/>
            </a:avLst>
          </a:prstGeom>
          <a:solidFill>
            <a:srgbClr val="16223F"/>
          </a:solidFill>
          <a:ln w="12700">
            <a:solidFill>
              <a:srgbClr val="1E2C4E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419088" y="438912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친구와 함께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419088" y="4773168"/>
            <a:ext cx="216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FAD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랭킹을 넘어 협동·대결 모드로. 혼자 하는 학습에는 한계가 있습니다.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8988552" y="4169664"/>
            <a:ext cx="2606040" cy="1883664"/>
          </a:xfrm>
          <a:prstGeom prst="roundRect">
            <a:avLst>
              <a:gd name="adj" fmla="val 4369"/>
            </a:avLst>
          </a:prstGeom>
          <a:solidFill>
            <a:srgbClr val="16223F"/>
          </a:solidFill>
          <a:ln w="12700">
            <a:solidFill>
              <a:srgbClr val="1E2C4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9226296" y="438912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심리 기반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226296" y="4773168"/>
            <a:ext cx="216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FAD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몰입·보상·난이도 곡선을 근거로 설계합니다. 사행성 요소는 넣지 않습니다.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ROADMAP 05 · 핵심 제안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969264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«바이브 코딩»을 위한 영어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AI에게 일을 시키는 시대의 영어는 시험 영어가 아닙니다. 원하는 것을 정확히 설명하는 능력이 곧 실력입니다.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340864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0B1226"/>
          </a:solidFill>
          <a:ln w="12700">
            <a:solidFill>
              <a:srgbClr val="0B1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3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지금까지의 영어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287121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사람과 대화하기 위한 언어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236208" y="2340864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67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앞으로의 영어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65392" y="287121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AI에게 일을 시키기 위한 언어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66928" y="39319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망고아이가 준비하는 것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4425696"/>
            <a:ext cx="347472" cy="347472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4425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8992" y="44074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설명하는 영어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0128" y="4389120"/>
            <a:ext cx="8092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«무엇을 만들고 싶은지»를 순서와 조건으로 말하는 훈련. 이미 «문법 피자 마스터»가 같은 감각을 다룹니다.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937760"/>
            <a:ext cx="347472" cy="347472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937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8992" y="49194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작문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10128" y="4901184"/>
            <a:ext cx="8092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영작 첨삭을 확장해, 잘 통하는 요청문과 안 통하는 요청문을 비교하며 배웁니다.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5449824"/>
            <a:ext cx="347472" cy="347472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5449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54315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판단하고 되묻기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0128" y="5413248"/>
            <a:ext cx="8092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AI의 답이 틀렸을 때 영어로 반박하고 다시 요구하는 능력. 지금의 «판단력 훈련»이 그 출발점입니다.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5961888"/>
            <a:ext cx="347472" cy="347472"/>
          </a:xfrm>
          <a:prstGeom prst="ellipse">
            <a:avLst/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5961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78992" y="5943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만들며 배우기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10128" y="5925312"/>
            <a:ext cx="8092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지시해 작은 결과물을 직접 만들어 보는 프로젝트형 수업.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2B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TIMELINE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969264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무엇을 하는가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서비스 중인 것과 앞으로 만들 것을 구분해 정리했습니다.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377440"/>
            <a:ext cx="2651760" cy="3163824"/>
          </a:xfrm>
          <a:prstGeom prst="roundRect">
            <a:avLst>
              <a:gd name="adj" fmla="val 3448"/>
            </a:avLst>
          </a:prstGeom>
          <a:solidFill>
            <a:srgbClr val="FFF7E6"/>
          </a:solidFill>
          <a:ln w="12700">
            <a:solidFill>
              <a:srgbClr val="FFF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59689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67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3346704"/>
            <a:ext cx="22311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원어민 1:1 · 1:2 화상수업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음성코치 · AI 친구 대화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자동 평가서 · 월간 리포트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게임 21종 · 아바타 키우기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카카오톡 실시간 알림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74136" y="2377440"/>
            <a:ext cx="2651760" cy="3163824"/>
          </a:xfrm>
          <a:prstGeom prst="roundRect">
            <a:avLst>
              <a:gd name="adj" fmla="val 3448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259689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6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11880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6~12개월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3346704"/>
            <a:ext cx="22311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아바타 감정·표정 반응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세계관 통합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말하기 승리 조건 게임 설계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상담사 선제 안내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2377440"/>
            <a:ext cx="2651760" cy="3163824"/>
          </a:xfrm>
          <a:prstGeom prst="roundRect">
            <a:avLst>
              <a:gd name="adj" fmla="val 3448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259689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6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19088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1~2년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19088" y="3346704"/>
            <a:ext cx="22311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강화학습 기반 문제 선택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발음 약점 모델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브리핑 자동 생성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5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협동·대결 학습 모드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88552" y="2377440"/>
            <a:ext cx="2651760" cy="3163824"/>
          </a:xfrm>
          <a:prstGeom prst="roundRect">
            <a:avLst>
              <a:gd name="adj" fmla="val 3448"/>
            </a:avLst>
          </a:prstGeom>
          <a:solidFill>
            <a:srgbClr val="0B1226"/>
          </a:solidFill>
          <a:ln w="12700">
            <a:solidFill>
              <a:srgbClr val="0B12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26296" y="259689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26296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2~3년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26296" y="3346704"/>
            <a:ext cx="22311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아바타 = AI 친구 = 학습 동반자 통합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바이브 코딩 영어 커리큘럼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프로젝트형 «만들며 배우는» 수업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5742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단기·중기·장기 항목은 개발 계획이며 일정은 변동될 수 있습니다.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323015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429768"/>
            <a:ext cx="2103120" cy="1298448"/>
          </a:xfrm>
          <a:prstGeom prst="roundRect">
            <a:avLst>
              <a:gd name="adj" fmla="val 5634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3" name="Image 0" descr="/tmp/claude-0/-home-user-mangoiweb/ca835eb4-1670-5fc1-a29a-2fc77598fea3/scratchpad/deck_img/home.jpg">    </p:cNvPr>
          <p:cNvPicPr>
            <a:picLocks noChangeAspect="1"/>
          </p:cNvPicPr>
          <p:nvPr/>
        </p:nvPicPr>
        <p:blipFill>
          <a:blip r:embed="rId1"/>
          <a:srcRect l="0" r="0" t="1992" b="-1992"/>
          <a:stretch/>
        </p:blipFill>
        <p:spPr>
          <a:xfrm>
            <a:off x="566928" y="457200"/>
            <a:ext cx="2048256" cy="12435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88920" y="429768"/>
            <a:ext cx="2103120" cy="1298448"/>
          </a:xfrm>
          <a:prstGeom prst="roundRect">
            <a:avLst>
              <a:gd name="adj" fmla="val 5634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1" descr="/tmp/claude-0/-home-user-mangoiweb/ca835eb4-1670-5fc1-a29a-2fc77598fea3/scratchpad/deck_img/games.jpg">    </p:cNvPr>
          <p:cNvPicPr>
            <a:picLocks noChangeAspect="1"/>
          </p:cNvPicPr>
          <p:nvPr/>
        </p:nvPicPr>
        <p:blipFill>
          <a:blip r:embed="rId2"/>
          <a:srcRect l="0" r="0" t="1498" b="-1498"/>
          <a:stretch/>
        </p:blipFill>
        <p:spPr>
          <a:xfrm>
            <a:off x="2816352" y="457200"/>
            <a:ext cx="2048256" cy="124358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38344" y="429768"/>
            <a:ext cx="2103120" cy="1298448"/>
          </a:xfrm>
          <a:prstGeom prst="roundRect">
            <a:avLst>
              <a:gd name="adj" fmla="val 5634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7" name="Image 2" descr="/tmp/claude-0/-home-user-mangoiweb/ca835eb4-1670-5fc1-a29a-2fc77598fea3/scratchpad/deck_img/speech.jpg">    </p:cNvPr>
          <p:cNvPicPr>
            <a:picLocks noChangeAspect="1"/>
          </p:cNvPicPr>
          <p:nvPr/>
        </p:nvPicPr>
        <p:blipFill>
          <a:blip r:embed="rId3"/>
          <a:srcRect l="0" r="0" t="1498" b="-1498"/>
          <a:stretch/>
        </p:blipFill>
        <p:spPr>
          <a:xfrm>
            <a:off x="5065776" y="457200"/>
            <a:ext cx="2048256" cy="1243584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287768" y="429768"/>
            <a:ext cx="2103120" cy="1298448"/>
          </a:xfrm>
          <a:prstGeom prst="roundRect">
            <a:avLst>
              <a:gd name="adj" fmla="val 5634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9" name="Image 3" descr="/tmp/claude-0/-home-user-mangoiweb/ca835eb4-1670-5fc1-a29a-2fc77598fea3/scratchpad/deck_img/avatar.jpg">    </p:cNvPr>
          <p:cNvPicPr>
            <a:picLocks noChangeAspect="1"/>
          </p:cNvPicPr>
          <p:nvPr/>
        </p:nvPicPr>
        <p:blipFill>
          <a:blip r:embed="rId4"/>
          <a:srcRect l="0" r="0" t="1498" b="-1498"/>
          <a:stretch/>
        </p:blipFill>
        <p:spPr>
          <a:xfrm>
            <a:off x="7315200" y="457200"/>
            <a:ext cx="2048256" cy="1243584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9537192" y="429768"/>
            <a:ext cx="2103120" cy="1298448"/>
          </a:xfrm>
          <a:prstGeom prst="roundRect">
            <a:avLst>
              <a:gd name="adj" fmla="val 5634"/>
            </a:avLst>
          </a:prstGeom>
          <a:solidFill>
            <a:srgbClr val="1E2C4E"/>
          </a:solidFill>
          <a:ln w="12700">
            <a:solidFill>
              <a:srgbClr val="1E2C4E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11" name="Image 4" descr="/tmp/claude-0/-home-user-mangoiweb/ca835eb4-1670-5fc1-a29a-2fc77598fea3/scratchpad/deck_img/admin.jpg">    </p:cNvPr>
          <p:cNvPicPr>
            <a:picLocks noChangeAspect="1"/>
          </p:cNvPicPr>
          <p:nvPr/>
        </p:nvPicPr>
        <p:blipFill>
          <a:blip r:embed="rId5"/>
          <a:srcRect l="0" r="0" t="2596" b="-2596"/>
          <a:stretch/>
        </p:blipFill>
        <p:spPr>
          <a:xfrm>
            <a:off x="9564624" y="457200"/>
            <a:ext cx="2048256" cy="1243584"/>
          </a:xfrm>
          <a:prstGeom prst="rect">
            <a:avLst/>
          </a:prstGeom>
        </p:spPr>
      </p:pic>
      <p:pic>
        <p:nvPicPr>
          <p:cNvPr id="12" name="Image 5" descr="/tmp/claude-0/-home-user-mangoiweb/ca835eb4-1670-5fc1-a29a-2fc77598fea3/scratchpad/deck_img/masco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6128" y="2011680"/>
            <a:ext cx="1298448" cy="106070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097280" y="3218688"/>
            <a:ext cx="9994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AI로 생각하고 결정하는 영어</a:t>
            </a:r>
            <a:endParaRPr lang="en-US" sz="3400" dirty="0"/>
          </a:p>
        </p:txBody>
      </p:sp>
      <p:sp>
        <p:nvSpPr>
          <p:cNvPr id="14" name="Text 6"/>
          <p:cNvSpPr/>
          <p:nvPr/>
        </p:nvSpPr>
        <p:spPr>
          <a:xfrm>
            <a:off x="1097280" y="3950208"/>
            <a:ext cx="9994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B7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수업은 사람이, 나머지 24시간은 A.I가 함께합니다.</a:t>
            </a:r>
            <a:endParaRPr lang="en-US" sz="1500" dirty="0"/>
          </a:p>
        </p:txBody>
      </p:sp>
      <p:sp>
        <p:nvSpPr>
          <p:cNvPr id="15" name="Shape 7"/>
          <p:cNvSpPr/>
          <p:nvPr/>
        </p:nvSpPr>
        <p:spPr>
          <a:xfrm>
            <a:off x="2212848" y="4572000"/>
            <a:ext cx="2468880" cy="859536"/>
          </a:xfrm>
          <a:prstGeom prst="roundRect">
            <a:avLst>
              <a:gd name="adj" fmla="val 12766"/>
            </a:avLst>
          </a:prstGeom>
          <a:solidFill>
            <a:srgbClr val="F2B01A"/>
          </a:solidFill>
          <a:ln w="12700">
            <a:solidFill>
              <a:srgbClr val="F2B01A"/>
            </a:solidFill>
            <a:prstDash val="solid"/>
          </a:ln>
        </p:spPr>
      </p:sp>
      <p:sp>
        <p:nvSpPr>
          <p:cNvPr id="16" name="Text 8"/>
          <p:cNvSpPr/>
          <p:nvPr/>
        </p:nvSpPr>
        <p:spPr>
          <a:xfrm>
            <a:off x="2212848" y="47000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 체험 신청</a:t>
            </a:r>
            <a:endParaRPr lang="en-US" sz="1400" dirty="0"/>
          </a:p>
        </p:txBody>
      </p:sp>
      <p:sp>
        <p:nvSpPr>
          <p:cNvPr id="17" name="Text 9"/>
          <p:cNvSpPr/>
          <p:nvPr/>
        </p:nvSpPr>
        <p:spPr>
          <a:xfrm>
            <a:off x="2212848" y="5010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E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› 무료 체험 신청</a:t>
            </a:r>
            <a:endParaRPr lang="en-US" sz="1000" dirty="0"/>
          </a:p>
        </p:txBody>
      </p:sp>
      <p:sp>
        <p:nvSpPr>
          <p:cNvPr id="18" name="Shape 10"/>
          <p:cNvSpPr/>
          <p:nvPr/>
        </p:nvSpPr>
        <p:spPr>
          <a:xfrm>
            <a:off x="4910328" y="4572000"/>
            <a:ext cx="2468880" cy="859536"/>
          </a:xfrm>
          <a:prstGeom prst="roundRect">
            <a:avLst>
              <a:gd name="adj" fmla="val 12766"/>
            </a:avLst>
          </a:prstGeom>
          <a:solidFill>
            <a:srgbClr val="16223F"/>
          </a:solidFill>
          <a:ln w="12700">
            <a:solidFill>
              <a:srgbClr val="31456E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4910328" y="47000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 테스트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4910328" y="5010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› 레벨테스트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7607808" y="4572000"/>
            <a:ext cx="2468880" cy="859536"/>
          </a:xfrm>
          <a:prstGeom prst="roundRect">
            <a:avLst>
              <a:gd name="adj" fmla="val 12766"/>
            </a:avLst>
          </a:prstGeom>
          <a:solidFill>
            <a:srgbClr val="16223F"/>
          </a:solidFill>
          <a:ln w="12700">
            <a:solidFill>
              <a:srgbClr val="31456E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7607808" y="47000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 상담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7607808" y="5010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› 카카오 상담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1097280" y="5705856"/>
            <a:ext cx="9994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B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test.mangoi.co.kr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1097280" y="6053328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9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Mango Ai · 20년 전통, 국내 최초의 화상영어 기업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망고아이 홈페이지 안내</dc:title>
  <dc:subject>PptxGenJS Presentation</dc:subject>
  <dc:creator>Mango Ai</dc:creator>
  <cp:lastModifiedBy>Mango Ai</cp:lastModifiedBy>
  <cp:revision>1</cp:revision>
  <dcterms:created xsi:type="dcterms:W3CDTF">2026-08-17T03:46:29Z</dcterms:created>
  <dcterms:modified xsi:type="dcterms:W3CDTF">2026-08-17T03:46:29Z</dcterms:modified>
</cp:coreProperties>
</file>