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</p:sldIdLst>
  <p:notesMasterIdLst>
    <p:notesMasterId r:id="rId4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notesMaster" Target="notesMasters/notesMaster1.xml"/><Relationship Id="rId44" Type="http://schemas.openxmlformats.org/officeDocument/2006/relationships/presProps" Target="presProps.xml"/><Relationship Id="rId45" Type="http://schemas.openxmlformats.org/officeDocument/2006/relationships/viewProps" Target="viewProps.xml"/><Relationship Id="rId46" Type="http://schemas.openxmlformats.org/officeDocument/2006/relationships/theme" Target="theme/theme1.xml"/><Relationship Id="rId4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 (d / g)</c:v>
                </c:pt>
              </c:strCache>
            </c:strRef>
          </c:tx>
          <c:spPr>
            <a:solidFill>
              <a:srgbClr val="2C46C4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0F172A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 시스템
VanLehn 2011</c:v>
                  </c:pt>
                  <c:pt idx="3">
                    <c:v>디지털 게임 학습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1100" u="none">
                  <a:solidFill>
                    <a:srgbClr val="0F172A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44506B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E6EB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8794AE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표지. «재미가 의지를 이깁니다!»가 이 덱 전체의 한 줄 메시지입니다.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수·게임 수는 서비스 내 집계 기준입니다. 발표 전 최신 수치로 갱신하세요.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문제 제기 슬라이드. 43,000분은 한 달(30일) 기준 근사치입니다.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기능 지도. 여기 있는 14가지는 전부 현재 서비스 중인 기능입니다.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PART 1 이론적 배경. 기능이 아니라 «왜 그렇게 만들었는가»를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 슬라이드에 그대로 명시했습니다.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 질문이 나오면 그대로 답하세요.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 슬로건의 근거가 되는 슬라이드입니다.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참고문헌 전체 목록. APA 7판 표기.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비교표의 «일반 화상영어»는 업계 통상 구성을 요약한 것으로 특정 업체를 지칭하지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표지의 슬로건을 여기서 다시 받습니다.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바이브 코딩 영어는 제안 단계의 방향성입니다. 확정 커리큘럼이 아닙니다.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일정은 계획이며 변동 가능합니다.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image" Target="../media/image-22-2.jpg"/><Relationship Id="rId3" Type="http://schemas.openxmlformats.org/officeDocument/2006/relationships/image" Target="../media/image-22-3.jpg"/><Relationship Id="rId4" Type="http://schemas.openxmlformats.org/officeDocument/2006/relationships/image" Target="../media/image-22-4.jpg"/><Relationship Id="rId5" Type="http://schemas.openxmlformats.org/officeDocument/2006/relationships/image" Target="../media/image-22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g"/><Relationship Id="rId2" Type="http://schemas.openxmlformats.org/officeDocument/2006/relationships/image" Target="../media/image-3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g"/><Relationship Id="rId2" Type="http://schemas.openxmlformats.org/officeDocument/2006/relationships/image" Target="../media/image-31-2.jpg"/><Relationship Id="rId3" Type="http://schemas.openxmlformats.org/officeDocument/2006/relationships/image" Target="../media/image-3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jpg"/><Relationship Id="rId2" Type="http://schemas.openxmlformats.org/officeDocument/2006/relationships/image" Target="../media/image-3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jpg"/><Relationship Id="rId2" Type="http://schemas.openxmlformats.org/officeDocument/2006/relationships/image" Target="../media/image-3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g"/><Relationship Id="rId2" Type="http://schemas.openxmlformats.org/officeDocument/2006/relationships/image" Target="../media/image-38-2.jpg"/><Relationship Id="rId3" Type="http://schemas.openxmlformats.org/officeDocument/2006/relationships/image" Target="../media/image-38-3.jpg"/><Relationship Id="rId4" Type="http://schemas.openxmlformats.org/officeDocument/2006/relationships/image" Target="../media/image-3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g"/><Relationship Id="rId2" Type="http://schemas.openxmlformats.org/officeDocument/2006/relationships/image" Target="../media/image-41-2.jpg"/><Relationship Id="rId3" Type="http://schemas.openxmlformats.org/officeDocument/2006/relationships/image" Target="../media/image-41-3.jpg"/><Relationship Id="rId4" Type="http://schemas.openxmlformats.org/officeDocument/2006/relationships/image" Target="../media/image-41-4.jpg"/><Relationship Id="rId5" Type="http://schemas.openxmlformats.org/officeDocument/2006/relationships/image" Target="../media/image-41-5.jpg"/><Relationship Id="rId6" Type="http://schemas.openxmlformats.org/officeDocument/2006/relationships/image" Target="../media/image-41-6.jpg"/><Relationship Id="rId7" Type="http://schemas.openxmlformats.org/officeDocument/2006/relationships/image" Target="../media/image-41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6231636" y="1805940"/>
            <a:ext cx="5449824" cy="3470995"/>
          </a:xfrm>
          <a:prstGeom prst="roundRect">
            <a:avLst>
              <a:gd name="adj" fmla="val 21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2784" y="1847088"/>
            <a:ext cx="5367528" cy="3388699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272784" y="535838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홈 화면 · test.mangoi.co.kr</a:t>
            </a:r>
            <a:endParaRPr lang="en-US" sz="1050" dirty="0"/>
          </a:p>
        </p:txBody>
      </p:sp>
      <p:pic>
        <p:nvPicPr>
          <p:cNvPr id="7" name="Image 2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457200"/>
            <a:ext cx="1170432" cy="950976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66928" y="1517904"/>
            <a:ext cx="548640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spc="300" kern="0" dirty="0">
                <a:solidFill>
                  <a:srgbClr val="FFD7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9" name="Text 4"/>
          <p:cNvSpPr/>
          <p:nvPr/>
        </p:nvSpPr>
        <p:spPr>
          <a:xfrm>
            <a:off x="566928" y="2395728"/>
            <a:ext cx="54864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영어, 망고아이</a:t>
            </a:r>
            <a:endParaRPr lang="en-US" sz="1700" dirty="0"/>
          </a:p>
        </p:txBody>
      </p:sp>
      <p:sp>
        <p:nvSpPr>
          <p:cNvPr id="10" name="Text 5"/>
          <p:cNvSpPr/>
          <p:nvPr/>
        </p:nvSpPr>
        <p:spPr>
          <a:xfrm>
            <a:off x="566928" y="3035808"/>
            <a:ext cx="54864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재미가 의지를 이깁니다!</a:t>
            </a:r>
            <a:endParaRPr lang="en-US" sz="3100" dirty="0"/>
          </a:p>
        </p:txBody>
      </p:sp>
      <p:sp>
        <p:nvSpPr>
          <p:cNvPr id="11" name="Text 6"/>
          <p:cNvSpPr/>
          <p:nvPr/>
        </p:nvSpPr>
        <p:spPr>
          <a:xfrm>
            <a:off x="566928" y="3712464"/>
            <a:ext cx="54864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아이가 «해야지» 하고 마음먹지 않아도 매일 하게 만드는 것,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 일을 A.I가 24시간 맡습니다.</a:t>
            </a:r>
            <a:endParaRPr lang="en-US" sz="1350" dirty="0"/>
          </a:p>
        </p:txBody>
      </p:sp>
      <p:sp>
        <p:nvSpPr>
          <p:cNvPr id="12" name="Text 7"/>
          <p:cNvSpPr/>
          <p:nvPr/>
        </p:nvSpPr>
        <p:spPr>
          <a:xfrm>
            <a:off x="566928" y="4498848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00" dirty="0">
                <a:solidFill>
                  <a:srgbClr val="8A9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 · 국내 최초의 화상영어 기업  |  원어민 1:1 화상수업 + A.I 학습관리</a:t>
            </a:r>
            <a:endParaRPr lang="en-US" sz="1200" dirty="0"/>
          </a:p>
        </p:txBody>
      </p:sp>
      <p:sp>
        <p:nvSpPr>
          <p:cNvPr id="13" name="Shape 8"/>
          <p:cNvSpPr/>
          <p:nvPr/>
        </p:nvSpPr>
        <p:spPr>
          <a:xfrm>
            <a:off x="566928" y="5138928"/>
            <a:ext cx="23774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9"/>
          <p:cNvSpPr/>
          <p:nvPr/>
        </p:nvSpPr>
        <p:spPr>
          <a:xfrm>
            <a:off x="566928" y="5138928"/>
            <a:ext cx="2377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서비스 안내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66928" y="5669280"/>
            <a:ext cx="5486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66928" y="6053328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9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  ·  사용방법  ·  향후 발전계획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6">
              <a:alpha val="7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566928" y="65836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66928" y="65836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566928" y="111556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문서에서 다루는 것</a:t>
            </a:r>
            <a:endParaRPr lang="en-US" sz="3400" dirty="0"/>
          </a:p>
        </p:txBody>
      </p:sp>
      <p:sp>
        <p:nvSpPr>
          <p:cNvPr id="8" name="Shape 5"/>
          <p:cNvSpPr/>
          <p:nvPr/>
        </p:nvSpPr>
        <p:spPr>
          <a:xfrm>
            <a:off x="566928" y="1956816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77824" y="1956816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00</a:t>
            </a:r>
            <a:endParaRPr lang="en-US" sz="2300" dirty="0"/>
          </a:p>
        </p:txBody>
      </p:sp>
      <p:sp>
        <p:nvSpPr>
          <p:cNvPr id="10" name="Text 7"/>
          <p:cNvSpPr/>
          <p:nvPr/>
        </p:nvSpPr>
        <p:spPr>
          <a:xfrm>
            <a:off x="1700784" y="1956816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무엇인가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093208" y="2066544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수업(사람) + 학습관리(A.I) 결합 구조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서비스 중인 A.I 기능 14가지 전체 지도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566928" y="2907792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77824" y="2907792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300" dirty="0"/>
          </a:p>
        </p:txBody>
      </p:sp>
      <p:sp>
        <p:nvSpPr>
          <p:cNvPr id="14" name="Text 11"/>
          <p:cNvSpPr/>
          <p:nvPr/>
        </p:nvSpPr>
        <p:spPr>
          <a:xfrm>
            <a:off x="1700784" y="2907792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5093208" y="3017520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· 촘스키 · 인지심리학 · 동기이론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기능이 되었는지 연구 인용과 함께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566928" y="3858768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877824" y="3858768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300" dirty="0"/>
          </a:p>
        </p:txBody>
      </p:sp>
      <p:sp>
        <p:nvSpPr>
          <p:cNvPr id="18" name="Text 15"/>
          <p:cNvSpPr/>
          <p:nvPr/>
        </p:nvSpPr>
        <p:spPr>
          <a:xfrm>
            <a:off x="1700784" y="3858768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5093208" y="3968496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음성코치 · AI 친구 대화 · 자동 평가서 · 학습 게임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무엇이 다른가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66928" y="4809744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77824" y="4809744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300" dirty="0"/>
          </a:p>
        </p:txBody>
      </p:sp>
      <p:sp>
        <p:nvSpPr>
          <p:cNvPr id="22" name="Text 19"/>
          <p:cNvSpPr/>
          <p:nvPr/>
        </p:nvSpPr>
        <p:spPr>
          <a:xfrm>
            <a:off x="1700784" y="4809744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600" dirty="0"/>
          </a:p>
        </p:txBody>
      </p:sp>
      <p:sp>
        <p:nvSpPr>
          <p:cNvPr id="23" name="Text 20"/>
          <p:cNvSpPr/>
          <p:nvPr/>
        </p:nvSpPr>
        <p:spPr>
          <a:xfrm>
            <a:off x="5093208" y="4919472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 → 레벨테스트 → 수업신청 → 수업 → A.I 평가·복습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화면으로 보는 5단계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66928" y="5760720"/>
            <a:ext cx="11055096" cy="841248"/>
          </a:xfrm>
          <a:prstGeom prst="roundRect">
            <a:avLst>
              <a:gd name="adj" fmla="val 10870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77824" y="5760720"/>
            <a:ext cx="7315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300" dirty="0"/>
          </a:p>
        </p:txBody>
      </p:sp>
      <p:sp>
        <p:nvSpPr>
          <p:cNvPr id="26" name="Text 23"/>
          <p:cNvSpPr/>
          <p:nvPr/>
        </p:nvSpPr>
        <p:spPr>
          <a:xfrm>
            <a:off x="1700784" y="5760720"/>
            <a:ext cx="32918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5093208" y="5870448"/>
            <a:ext cx="6309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· 강화학습 개인화 · 에듀테인먼트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시대의 영어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295144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파는 화상영어가 아니라, A.I가 학습 전체를 끌고 가는 플랫폼입니다.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14가지</a:t>
            </a:r>
            <a:endParaRPr lang="en-US" sz="2500" dirty="0"/>
          </a:p>
        </p:txBody>
      </p:sp>
      <p:sp>
        <p:nvSpPr>
          <p:cNvPr id="8" name="Text 6"/>
          <p:cNvSpPr/>
          <p:nvPr/>
        </p:nvSpPr>
        <p:spPr>
          <a:xfrm>
            <a:off x="84124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대화 · 첨삭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 평가서까지 전 과정에 A.I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6168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3600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463600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 걸 상대가 있습니다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156448" y="23957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30768" y="26151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8430768" y="33101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평가서와 월간 리포트를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스스로 작성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6692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4124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3300" dirty="0"/>
          </a:p>
        </p:txBody>
      </p:sp>
      <p:sp>
        <p:nvSpPr>
          <p:cNvPr id="17" name="Text 15"/>
          <p:cNvSpPr/>
          <p:nvPr/>
        </p:nvSpPr>
        <p:spPr>
          <a:xfrm>
            <a:off x="84124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놀이로 바꾸는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36168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3600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/ 1:2</a:t>
            </a:r>
            <a:endParaRPr lang="en-US" sz="2500" dirty="0"/>
          </a:p>
        </p:txBody>
      </p:sp>
      <p:sp>
        <p:nvSpPr>
          <p:cNvPr id="20" name="Text 18"/>
          <p:cNvSpPr/>
          <p:nvPr/>
        </p:nvSpPr>
        <p:spPr>
          <a:xfrm>
            <a:off x="463600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소수정예 수업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8156448" y="4224528"/>
            <a:ext cx="3529584" cy="1572768"/>
          </a:xfrm>
          <a:prstGeom prst="roundRect">
            <a:avLst>
              <a:gd name="adj" fmla="val 581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430768" y="4443984"/>
            <a:ext cx="2980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· 직영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430768" y="5138928"/>
            <a:ext cx="3026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국내 최초 화상영어</a:t>
            </a:r>
            <a:endParaRPr lang="en-US" sz="12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필리핀 현지 센터 직접 운영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66928" y="6053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A.I 기능 수·게임 수는 서비스 내 집계 기준 (2026년 8월)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필요한가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05840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화상수업만으로는 영어가 늘지 않습니다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975104"/>
            <a:ext cx="4864608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50976" y="228600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25분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50976" y="2706624"/>
            <a:ext cx="411480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200분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950976" y="3602736"/>
            <a:ext cx="4114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43,000분 중 영어를 쓰는 시간은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0.5%도 되지 않습니다.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시간을 아무도 관리하지 않는 것이</a:t>
            </a:r>
            <a:endParaRPr lang="en-US" sz="12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2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화상영어의 가장 큰 빈틈입니다.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888736" y="1975104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181344" y="2240280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181344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711696" y="220370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끝나면 학습도 끝난다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6711696" y="2578608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맡기면 실제로 하는 아이는 소수입니다. 배운 문장은 다음 수업 전에 이미 사라집니다.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888736" y="3383280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81344" y="3648456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81344" y="3648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711696" y="3611880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연습량이 절대적으로 부족하다</a:t>
            </a:r>
            <a:endParaRPr lang="en-US" sz="1450" dirty="0"/>
          </a:p>
        </p:txBody>
      </p:sp>
      <p:sp>
        <p:nvSpPr>
          <p:cNvPr id="18" name="Text 16"/>
          <p:cNvSpPr/>
          <p:nvPr/>
        </p:nvSpPr>
        <p:spPr>
          <a:xfrm>
            <a:off x="6711696" y="3986784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25분 수업에서 학생이 실제로 말하는 시간은 그중 일부입니다. 발화량이 부족하면 입은 트이지 않습니다.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888736" y="4791456"/>
            <a:ext cx="5733288" cy="1298448"/>
          </a:xfrm>
          <a:prstGeom prst="roundRect">
            <a:avLst>
              <a:gd name="adj" fmla="val 7042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181344" y="5056632"/>
            <a:ext cx="384048" cy="384048"/>
          </a:xfrm>
          <a:prstGeom prst="ellipse">
            <a:avLst/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81344" y="5056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11696" y="5020056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학부모는 아이 상태를 알 수 없다</a:t>
            </a:r>
            <a:endParaRPr lang="en-US" sz="1450" dirty="0"/>
          </a:p>
        </p:txBody>
      </p:sp>
      <p:sp>
        <p:nvSpPr>
          <p:cNvPr id="23" name="Text 21"/>
          <p:cNvSpPr/>
          <p:nvPr/>
        </p:nvSpPr>
        <p:spPr>
          <a:xfrm>
            <a:off x="6711696" y="5394960"/>
            <a:ext cx="46634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출결과 진도는 알아도 «오늘 무엇을 얼마나 말했는지»는 보이지 않습니다. 그래서 불안하고, 그래서 그만둡니다.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58368"/>
            <a:ext cx="1481328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58368"/>
            <a:ext cx="1481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OUR ANSWER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133856"/>
            <a:ext cx="7863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이끌고,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나머지 시간은 </a:t>
            </a:r>
            <a:endParaRPr lang="en-US" sz="3400" dirty="0"/>
          </a:p>
          <a:p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</a:t>
            </a:r>
            <a:pPr indent="0" marL="0">
              <a:lnSpc>
                <a:spcPts val="46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 채웁니다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761488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망고아이는 수업(사람)과 학습관리(A.I)를 한 시스템 안에서 맞물려 돌립니다.</a:t>
            </a:r>
            <a:endParaRPr lang="en-US" sz="140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4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대부분의 화상외국어 업체들과 다른 지점입니다.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953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사람이 하는 일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5953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교사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5953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소수정예 수업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교정과 동기 부여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수업일지 · 평가 작성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36168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5429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하는 일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65429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기능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465429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· 발음코치 · 친구 대화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영작 첨삭 · 자동 평가서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· 퀴즈 · 게임형 반복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156448" y="3712464"/>
            <a:ext cx="3529584" cy="2359152"/>
          </a:xfrm>
          <a:prstGeom prst="roundRect">
            <a:avLst>
              <a:gd name="adj" fmla="val 3876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3968496"/>
            <a:ext cx="2944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둘을 잇는 것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8449056" y="4315968"/>
            <a:ext cx="29443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데이터와 소통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449056" y="4864608"/>
            <a:ext cx="298094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 + AI 학습기록 연동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리포트 자동 생성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카카오톡 실시간 전달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5156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51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MAP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망고아이를 움직이는 A.I 14가지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«AI를 쓴다»가 아니라, 학습의 모든 단계마다 담당 A.I가 따로 있습니다. 아래 기능은 전부 지금 서비스 중입니다.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68096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768096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준비시키는 A.I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8096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987552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 미리 말해 보고 입을 품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68096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987552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레벨테스트로 시작 지점과 강·약점 파악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810866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012034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012034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평가하는 A.I</a:t>
            </a:r>
            <a:endParaRPr lang="en-US" sz="1350" dirty="0"/>
          </a:p>
        </p:txBody>
      </p:sp>
      <p:sp>
        <p:nvSpPr>
          <p:cNvPr id="18" name="Shape 16"/>
          <p:cNvSpPr/>
          <p:nvPr/>
        </p:nvSpPr>
        <p:spPr>
          <a:xfrm>
            <a:off x="3012034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231490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231490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발음·표현·참여도를 분석해 수업 직후 생성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012034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231490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3231490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요약해 카카오톡 발송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5054803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255971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255971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말하고 쓰게 하는 A.I</a:t>
            </a:r>
            <a:endParaRPr lang="en-US" sz="1350" dirty="0"/>
          </a:p>
        </p:txBody>
      </p:sp>
      <p:sp>
        <p:nvSpPr>
          <p:cNvPr id="27" name="Shape 25"/>
          <p:cNvSpPr/>
          <p:nvPr/>
        </p:nvSpPr>
        <p:spPr>
          <a:xfrm>
            <a:off x="5255971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475427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5475427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따라 말한 문장을 즉시 채점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5255971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475427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5475427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영어로 말 걸 상대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5255971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475427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75427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교정하고 이유까지 설명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5255971" y="5385816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475427" y="5321808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1150" dirty="0"/>
          </a:p>
        </p:txBody>
      </p:sp>
      <p:sp>
        <p:nvSpPr>
          <p:cNvPr id="38" name="Text 36"/>
          <p:cNvSpPr/>
          <p:nvPr/>
        </p:nvSpPr>
        <p:spPr>
          <a:xfrm>
            <a:off x="5475427" y="5568696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판단해 영어로 답하기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7298741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499909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예복습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7499909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반복시키는 A.I</a:t>
            </a:r>
            <a:endParaRPr lang="en-US" sz="1350" dirty="0"/>
          </a:p>
        </p:txBody>
      </p:sp>
      <p:sp>
        <p:nvSpPr>
          <p:cNvPr id="42" name="Shape 40"/>
          <p:cNvSpPr/>
          <p:nvPr/>
        </p:nvSpPr>
        <p:spPr>
          <a:xfrm>
            <a:off x="7499909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719365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1150" dirty="0"/>
          </a:p>
        </p:txBody>
      </p:sp>
      <p:sp>
        <p:nvSpPr>
          <p:cNvPr id="44" name="Text 42"/>
          <p:cNvSpPr/>
          <p:nvPr/>
        </p:nvSpPr>
        <p:spPr>
          <a:xfrm>
            <a:off x="7719365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뜻·예문을 자동 생성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7499909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719365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7719365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마이크로러닝으로 짧게 자주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7499909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719365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7719365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듣기·말하기·쓰기 10문항 자동 출제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9542678" y="2322576"/>
            <a:ext cx="2079346" cy="3712464"/>
          </a:xfrm>
          <a:prstGeom prst="roundRect">
            <a:avLst>
              <a:gd name="adj" fmla="val 439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9743846" y="2505456"/>
            <a:ext cx="169529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묻고 찾을 때</a:t>
            </a:r>
            <a:endParaRPr lang="en-US" sz="1050" dirty="0"/>
          </a:p>
        </p:txBody>
      </p:sp>
      <p:sp>
        <p:nvSpPr>
          <p:cNvPr id="53" name="Text 51"/>
          <p:cNvSpPr/>
          <p:nvPr/>
        </p:nvSpPr>
        <p:spPr>
          <a:xfrm>
            <a:off x="9743846" y="2779776"/>
            <a:ext cx="171358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대신 찾아 주는 A.I</a:t>
            </a:r>
            <a:endParaRPr lang="en-US" sz="1350" dirty="0"/>
          </a:p>
        </p:txBody>
      </p:sp>
      <p:sp>
        <p:nvSpPr>
          <p:cNvPr id="54" name="Shape 52"/>
          <p:cNvSpPr/>
          <p:nvPr/>
        </p:nvSpPr>
        <p:spPr>
          <a:xfrm>
            <a:off x="9743846" y="3410712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963302" y="3346704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상담사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9963302" y="3593592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홈에서 바로 묻고 답을 받음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9743846" y="4069080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963302" y="4005072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통합검색</a:t>
            </a:r>
            <a:endParaRPr lang="en-US" sz="1150" dirty="0"/>
          </a:p>
        </p:txBody>
      </p:sp>
      <p:sp>
        <p:nvSpPr>
          <p:cNvPr id="59" name="Text 57"/>
          <p:cNvSpPr/>
          <p:nvPr/>
        </p:nvSpPr>
        <p:spPr>
          <a:xfrm>
            <a:off x="9963302" y="4251960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말하면 원하는 기능으로 바로 이동</a:t>
            </a:r>
            <a:endParaRPr lang="en-US" sz="950" dirty="0"/>
          </a:p>
        </p:txBody>
      </p:sp>
      <p:sp>
        <p:nvSpPr>
          <p:cNvPr id="60" name="Shape 58"/>
          <p:cNvSpPr/>
          <p:nvPr/>
        </p:nvSpPr>
        <p:spPr>
          <a:xfrm>
            <a:off x="9743846" y="4727448"/>
            <a:ext cx="137160" cy="1371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963302" y="4663440"/>
            <a:ext cx="151241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</a:t>
            </a:r>
            <a:endParaRPr lang="en-US" sz="1150" dirty="0"/>
          </a:p>
        </p:txBody>
      </p:sp>
      <p:sp>
        <p:nvSpPr>
          <p:cNvPr id="62" name="Text 60"/>
          <p:cNvSpPr/>
          <p:nvPr/>
        </p:nvSpPr>
        <p:spPr>
          <a:xfrm>
            <a:off x="9963302" y="4910328"/>
            <a:ext cx="151241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지표를 대신 찾아 정리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566928" y="610819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기능 집계 (2026년 8월). 학습 게임 21종은 별도입니다.</a:t>
            </a:r>
            <a:endParaRPr lang="en-US" sz="1050" dirty="0"/>
          </a:p>
        </p:txBody>
      </p:sp>
      <p:sp>
        <p:nvSpPr>
          <p:cNvPr id="64" name="Text 6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6">
              <a:alpha val="7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566928" y="137160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231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9200" dirty="0"/>
          </a:p>
        </p:txBody>
      </p:sp>
      <p:sp>
        <p:nvSpPr>
          <p:cNvPr id="6" name="Shape 3"/>
          <p:cNvSpPr/>
          <p:nvPr/>
        </p:nvSpPr>
        <p:spPr>
          <a:xfrm>
            <a:off x="566928" y="2779776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2779776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1</a:t>
            </a:r>
            <a:endParaRPr lang="en-US" sz="1150" dirty="0"/>
          </a:p>
        </p:txBody>
      </p:sp>
      <p:sp>
        <p:nvSpPr>
          <p:cNvPr id="8" name="Text 5"/>
          <p:cNvSpPr/>
          <p:nvPr/>
        </p:nvSpPr>
        <p:spPr>
          <a:xfrm>
            <a:off x="566928" y="3255264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이론적 배경</a:t>
            </a:r>
            <a:endParaRPr lang="en-US" sz="3600" dirty="0"/>
          </a:p>
        </p:txBody>
      </p:sp>
      <p:sp>
        <p:nvSpPr>
          <p:cNvPr id="9" name="Text 6"/>
          <p:cNvSpPr/>
          <p:nvPr/>
        </p:nvSpPr>
        <p:spPr>
          <a:xfrm>
            <a:off x="566928" y="4206240"/>
            <a:ext cx="5669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기능은 «재미있어 보여서» 만든 것이 아닙니다.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비고츠키·촘스키·인지심리학·동기이론이 각각 어떤 기능이 되었는지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 인용과 함께 밝힙니다.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566928" y="5504688"/>
            <a:ext cx="5669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· Chomsky · Krashen · Swain · Ebbinghaus · Sweller · Bloom</a:t>
            </a:r>
            <a:endParaRPr lang="en-US" sz="10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050" dirty="0">
                <a:solidFill>
                  <a:srgbClr val="6E7FA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· Csikszentmihalyi · Dweck · Bandura · Mayer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8346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01 · 왜 1:1인가, 왜 A.I인가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블룸의 «2시그마 문제»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개인교습을 받은 학생의 평균은 일반 학급 학생 상위 2% 수준이었습니다. 문제는 «그걸 모두에게 줄 방법이 없다»는 것이었습니다.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566928" y="22860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효과크기 비교 (표준편차 단위, 무처치 대조군 대비)</a:t>
            </a:r>
            <a:endParaRPr lang="en-US" sz="11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566928" y="2578608"/>
          <a:ext cx="6126480" cy="303580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8" name="Text 5"/>
          <p:cNvSpPr/>
          <p:nvPr/>
        </p:nvSpPr>
        <p:spPr>
          <a:xfrm>
            <a:off x="566928" y="5724144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 = 표준화 평균차(무처치 대조군 대비). Bloom(1984)의 2σ는 이후 재현 연구에서 축소 보고되었습니다.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6967728" y="2286000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243230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연구가 말하는 것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223760" y="2706624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개인화된 1:1 지도는 집단 수업을 크게 앞선다. 다만 인원과 비용 때문에 모두에게 줄 수 없다 — 이것이 «2시그마 문제»다.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6967728" y="3493008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7223760" y="363931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바꾼 것</a:t>
            </a:r>
            <a:endParaRPr lang="en-US" sz="1250" dirty="0"/>
          </a:p>
        </p:txBody>
      </p:sp>
      <p:sp>
        <p:nvSpPr>
          <p:cNvPr id="14" name="Text 11"/>
          <p:cNvSpPr/>
          <p:nvPr/>
        </p:nvSpPr>
        <p:spPr>
          <a:xfrm>
            <a:off x="7223760" y="3913632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VanLehn(2011)은 지능형 튜터링 시스템이 인간 튜터에 거의 근접한다고 보고했다(0.76 vs 0.79). 즉, 확장 가능한 개인화가 실현 가능해졌다.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67728" y="4700016"/>
            <a:ext cx="4663440" cy="1133856"/>
          </a:xfrm>
          <a:prstGeom prst="roundRect">
            <a:avLst>
              <a:gd name="adj" fmla="val 8065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223760" y="48463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223760" y="5120640"/>
            <a:ext cx="418795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 교사는 1:1·1:2로 유지하고, 교사가 없는 시간은 A.I 튜터가 맡는다. 두 축을 곱해서 «2시그마 문제»에 접근한다.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6967728" y="59436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</a:t>
            </a:r>
            <a:endParaRPr lang="en-US" sz="950" dirty="0"/>
          </a:p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Educational Psychologist, 46(4), 197–221.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02 · 비고츠키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309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«도우면 되는 구간»을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비워 두지 않습니다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139696"/>
            <a:ext cx="585216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i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“근접발달영역이란 독립적 문제해결로 결정되는 실제 발달 수준과, 성인의 안내 또는 더 유능한 또래와의 협력을 통한 문제해결로 결정되는 잠재적 발달 수준 사이의 거리다.”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3054096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 Vygotsky, L. S. (1978). Mind in Society. Harvard University Press, p. 86.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566928" y="3493008"/>
            <a:ext cx="5943600" cy="621792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1520" y="363016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363016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07008" y="3493008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 (MKO)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3108960" y="3493008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 — 매번 바뀌지 않으므로 이 아이의 ZPD를 안다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31520" y="43068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306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207008" y="4169664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3108960" y="4169664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발음 채점, AI 친구의 힌트, 퀴즈의 단계적 난이도 — 혼자서는 못 넘는 한 칸을 대신 받쳐 준다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" y="4846320"/>
            <a:ext cx="5943600" cy="621792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498348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983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07008" y="4846320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 (fading)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3108960" y="4846320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정확도가 오르면 힌트를 줄이고 난이도를 올린다. 도움은 «없애기 위해» 준다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1520" y="566013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31520" y="56601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207008" y="5522976"/>
            <a:ext cx="18288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ZPD는 매일 움직인다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3108960" y="5522976"/>
            <a:ext cx="3840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상시 측정이 필요하다 — 발화량·정확도·연속 학습이 데이터로 쌓이는 이유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66928" y="6181344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 — «스캐폴딩» 개념의 출처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18020" y="1275588"/>
            <a:ext cx="4654296" cy="3569415"/>
          </a:xfrm>
          <a:prstGeom prst="roundRect">
            <a:avLst>
              <a:gd name="adj" fmla="val 2049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7" name="Image 0" descr="/tmp/claude-0/-home-user-mangoiweb/ca835eb4-1670-5fc1-a29a-2fc77598fea3/scratchpad/deck_img/th_zp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316736"/>
            <a:ext cx="4572000" cy="3487119"/>
          </a:xfrm>
          <a:prstGeom prst="rect">
            <a:avLst/>
          </a:prstGeom>
        </p:spPr>
      </p:pic>
      <p:sp>
        <p:nvSpPr>
          <p:cNvPr id="28" name="Text 25"/>
          <p:cNvSpPr/>
          <p:nvPr/>
        </p:nvSpPr>
        <p:spPr>
          <a:xfrm>
            <a:off x="7059168" y="495604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— 교사(사람)와 A.I가 함께 이 구간을 채웁니다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88036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880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03 · 촘스키와 제2언어 습득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«배우는» 것이 아니라 «자라는» 것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촘스키는 언어 능력을 자극-반응의 축적으로 설명하려는 시도를 정면으로 비판했습니다. 규칙을 외워서 되는 것이 아니라면, 수업은 무엇을 해야 하는가.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(1959, 1965)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786384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생득적 언어 능력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86384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언어는 반복·강화로 축적되지 않는다. 인간은 들어 본 적 없는 문장을 만들어 낸다. 그래서 «문법 설명 → 암기 → 시험»만으로는 말하기가 자라지 않는다.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474720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94176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694176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입력 · i+1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3694176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습득은 현재 수준보다 조금 위(i+1)의 이해 가능한 입력에서 일어난다. 또한 불안이 높으면 정서 필터가 올라가 입력이 습득으로 넘어가지 못한다.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6382512" y="2286000"/>
            <a:ext cx="2688336" cy="1316736"/>
          </a:xfrm>
          <a:prstGeom prst="roundRect">
            <a:avLst>
              <a:gd name="adj" fmla="val 694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01968" y="2414016"/>
            <a:ext cx="22677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A6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6601968" y="265176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이해 가능한 출력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6601968" y="2962656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듣기만으로는 부족하다. 직접 말해 보며 «내가 모르는 지점»을 마주칠 때 규칙이 굳는다. 발화량이 곧 학습량인 이유.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9290304" y="2286000"/>
            <a:ext cx="2825496" cy="1316736"/>
          </a:xfrm>
          <a:prstGeom prst="roundRect">
            <a:avLst>
              <a:gd name="adj" fmla="val 6944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509760" y="241401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정직하게 덧붙이면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9509760" y="2688336"/>
            <a:ext cx="237744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자신의 이론을 외국어 교수법에 바로 적용하는 것을 경계했습니다. 교실 설계의 직접 근거는 크라션·스웨인 계열의 제2언어 습득 연구입니다.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25780" y="3762756"/>
            <a:ext cx="11137392" cy="2553435"/>
          </a:xfrm>
          <a:prstGeom prst="roundRect">
            <a:avLst>
              <a:gd name="adj" fmla="val 2865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2" name="Image 0" descr="/tmp/claude-0/-home-user-mangoiweb/ca835eb4-1670-5fc1-a29a-2fc77598fea3/scratchpad/deck_img/th_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3803904"/>
            <a:ext cx="11055096" cy="2471139"/>
          </a:xfrm>
          <a:prstGeom prst="rect">
            <a:avLst/>
          </a:prstGeom>
        </p:spPr>
      </p:pic>
      <p:sp>
        <p:nvSpPr>
          <p:cNvPr id="23" name="Text 20"/>
          <p:cNvSpPr/>
          <p:nvPr/>
        </p:nvSpPr>
        <p:spPr>
          <a:xfrm>
            <a:off x="566928" y="6382512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Language, 35(1), 26–58.  ·  Chomsky, N. (1965). Aspects of the Theory of Syntax. MIT Press.  ·  Krashen, S. D. (1982). Principles and Practice in Second Language Acquisition. Pergamon.  ·  Swain, M. (1985). In Gass &amp; Madden (Eds.), Input in SLA (pp. 235–253). Newbury House.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8745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874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04 · 인지심리학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«배웠다»와 «남았다»는 다른 말입니다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에빙하우스 이래 기억 연구가 반복해서 확인한 것은 두 가지입니다 — 간격을 두고, 꺼내 볼 것.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171700"/>
            <a:ext cx="6483096" cy="3557016"/>
          </a:xfrm>
          <a:prstGeom prst="roundRect">
            <a:avLst>
              <a:gd name="adj" fmla="val 2057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th_forg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212848"/>
            <a:ext cx="6400800" cy="347472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7168896" y="2212848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406640" y="234086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9235440" y="235915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 et al. (2006)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7406640" y="2633472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번에 몰아서보다 간격을 두고 나눠서 학습할 때 장기 보존이 더 좋다는 결과가 반복 확인되었다.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7406640" y="3127248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 마이크로러닝 · 연속 학습(스트릭)</a:t>
            </a:r>
            <a:endParaRPr lang="en-US" sz="1000" dirty="0"/>
          </a:p>
        </p:txBody>
      </p:sp>
      <p:sp>
        <p:nvSpPr>
          <p:cNvPr id="13" name="Shape 10"/>
          <p:cNvSpPr/>
          <p:nvPr/>
        </p:nvSpPr>
        <p:spPr>
          <a:xfrm>
            <a:off x="7168896" y="3547872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406640" y="367588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9235440" y="369417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 &amp; Karpicke (2006)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7406640" y="3968496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읽는 것보다 «시험처럼 꺼내 보는 것»이 장기 기억을 더 크게 높인다(테스트 효과).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406640" y="4462272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수업 후 복습 퀴즈 10문항 · AI 단어 퀴즈</a:t>
            </a:r>
            <a:endParaRPr lang="en-US" sz="1000" dirty="0"/>
          </a:p>
        </p:txBody>
      </p:sp>
      <p:sp>
        <p:nvSpPr>
          <p:cNvPr id="18" name="Shape 15"/>
          <p:cNvSpPr/>
          <p:nvPr/>
        </p:nvSpPr>
        <p:spPr>
          <a:xfrm>
            <a:off x="7168896" y="4882896"/>
            <a:ext cx="4462272" cy="1243584"/>
          </a:xfrm>
          <a:prstGeom prst="roundRect">
            <a:avLst>
              <a:gd name="adj" fmla="val 7353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406640" y="5010912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9235440" y="502920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 (1988)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7406640" y="5303520"/>
            <a:ext cx="40050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작업기억 용량은 제한적이다. 학습과 무관한 부하를 줄여야 본래 학습에 자원이 간다.</a:t>
            </a:r>
            <a:endParaRPr lang="en-US" sz="1000" dirty="0"/>
          </a:p>
        </p:txBody>
      </p:sp>
      <p:sp>
        <p:nvSpPr>
          <p:cNvPr id="22" name="Text 19"/>
          <p:cNvSpPr/>
          <p:nvPr/>
        </p:nvSpPr>
        <p:spPr>
          <a:xfrm>
            <a:off x="7406640" y="5797296"/>
            <a:ext cx="4005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 UI 단순화 · 한 화면에 한 과제</a:t>
            </a:r>
            <a:endParaRPr lang="en-US" sz="1000" dirty="0"/>
          </a:p>
        </p:txBody>
      </p:sp>
      <p:sp>
        <p:nvSpPr>
          <p:cNvPr id="23" name="Text 20"/>
          <p:cNvSpPr/>
          <p:nvPr/>
        </p:nvSpPr>
        <p:spPr>
          <a:xfrm>
            <a:off x="566928" y="6053328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(1885/1913). Memory: A Contribution to Experimental Psychology.  ·  Cepeda, N. J., Pashler, H., Vul, E., Wixted, J. T., &amp; Rohrer, D. (2006). Psychological Bulletin, 132(3), 354–380.  ·  Roediger, H. L., &amp; Karpicke, J. D. (2006). Psychological Science, 17(3), 249–255.  ·  Sweller, J. (1988). Cognitive Science, 12(2), 257–285.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0116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011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05 · 동기와 몰입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400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«재미»는 포장이 아니라</a:t>
            </a:r>
            <a:endParaRPr lang="en-US" sz="34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설계 조건입니다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한 줄 — «재미가 의지를 이깁니다» — 은 구호가 아니라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연구가 반복해서 말해 온 결론을 그대로 옮긴 것입니다.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962656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3072384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2670048" y="3090672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 &amp; Deci (2000)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" y="3328416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 · 유능감 · 관계성이 충족될 때 내재동기가 유지된다.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04672" y="35387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게임·주제·아바타를 «내가» 고른다 · 레벨업으로 유능감 · AI 친구로 관계성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566928" y="3858768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3968496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2670048" y="3986784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 (1990)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04672" y="422452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난이도와 실력이 균형을 이루는 좁은 구간에서 몰입이 일어난다.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804672" y="443484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속도 조절(거북이~불꽃) · 정확도에 따른 난이도 자동 조정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04672" y="4864608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670048" y="4882896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 (2006)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804672" y="5120640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고정된 것이 아니라 노력으로 자란다는 믿음이 성취를 바꾼다.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804672" y="533095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«말할수록 자라는» 아바타 · 결과가 아닌 과정(연속 일수)을 칭찬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66928" y="5650992"/>
            <a:ext cx="6053328" cy="822960"/>
          </a:xfrm>
          <a:prstGeom prst="roundRect">
            <a:avLst>
              <a:gd name="adj" fmla="val 1111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57607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자기효능감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670048" y="5779008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 (1977)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4672" y="6016752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«할 수 있다»는 믿음은 작은 성공 경험이 쌓일 때 생긴다.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804672" y="6227064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 1분이면 끝나는 과제 · 즉시 채점되는 발음 점수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018020" y="1275588"/>
            <a:ext cx="4014216" cy="3014575"/>
          </a:xfrm>
          <a:prstGeom prst="roundRect">
            <a:avLst>
              <a:gd name="adj" fmla="val 2427"/>
            </a:avLst>
          </a:prstGeom>
          <a:solidFill>
            <a:srgbClr val="E6EBF5"/>
          </a:solidFill>
          <a:ln w="12700">
            <a:solidFill>
              <a:srgbClr val="E6EBF5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7" name="Image 0" descr="/tmp/claude-0/-home-user-mangoiweb/ca835eb4-1670-5fc1-a29a-2fc77598fea3/scratchpad/deck_img/th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1316736"/>
            <a:ext cx="3931920" cy="2932279"/>
          </a:xfrm>
          <a:prstGeom prst="rect">
            <a:avLst/>
          </a:prstGeom>
        </p:spPr>
      </p:pic>
      <p:sp>
        <p:nvSpPr>
          <p:cNvPr id="28" name="Shape 25"/>
          <p:cNvSpPr/>
          <p:nvPr/>
        </p:nvSpPr>
        <p:spPr>
          <a:xfrm>
            <a:off x="7059168" y="4626864"/>
            <a:ext cx="4572000" cy="1371600"/>
          </a:xfrm>
          <a:prstGeom prst="roundRect">
            <a:avLst>
              <a:gd name="adj" fmla="val 66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296912" y="4791456"/>
            <a:ext cx="4114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경계하는 지점</a:t>
            </a:r>
            <a:endParaRPr lang="en-US" sz="1050" dirty="0"/>
          </a:p>
        </p:txBody>
      </p:sp>
      <p:sp>
        <p:nvSpPr>
          <p:cNvPr id="30" name="Text 27"/>
          <p:cNvSpPr/>
          <p:nvPr/>
        </p:nvSpPr>
        <p:spPr>
          <a:xfrm>
            <a:off x="7296912" y="5084064"/>
            <a:ext cx="41148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보상은 내재동기를 오히려 떨어뜨릴 수 있다는 메타분석이 있습니다(Deci, Koestner &amp; Ryan, 1999). 그래서 포인트·기프티콘은 «성적»이 아니라 «습관»에만 걸고, 사행성 요소는 넣지 않습니다.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566928" y="630936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950" i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American Psychologist, 55(1), 68–78.  ·  Csikszentmihalyi, M. (1990). Flow. Harper &amp; Row.  ·  Dweck, C. S. (2006). Mindset. Random House.  ·  Bandura, A. (1977). Psychological Review, 84(2), 191–215.</a:t>
            </a:r>
            <a:endParaRPr lang="en-US" sz="950" dirty="0"/>
          </a:p>
        </p:txBody>
      </p:sp>
      <p:sp>
        <p:nvSpPr>
          <p:cNvPr id="32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258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 → 기능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각 이론이 어떤 기능이 되었는가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왼쪽은 연구, 오른쪽은 지금 화면에 있는 기능입니다. 근거 없이 만든 화면은 없습니다.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2194560"/>
            <a:ext cx="2560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이론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91840" y="219456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핵심 주장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199632" y="2194560"/>
            <a:ext cx="56875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구현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943600" y="2121408"/>
            <a:ext cx="5687568" cy="3877056"/>
          </a:xfrm>
          <a:prstGeom prst="roundRect">
            <a:avLst>
              <a:gd name="adj" fmla="val 235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199632" y="2194560"/>
            <a:ext cx="5230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구현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66928" y="25786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96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비고츠키 ZPD · 스캐폴딩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3291840" y="25968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혼자서는 못 하지만 도우면 되는 구간에서 배운다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199632" y="25968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교사(사람) + AI 음성코치·AI 친구의 힌트와 단계적 난이도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" y="3054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입력가설 (i+1)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291840" y="30540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수준보다 살짝 위의 이해 가능한 입력이 필요하다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199632" y="30540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레벨테스트 기반 CEFR 8단계 배정 · 원어민 발음 듣기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66928" y="34930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5112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3291840" y="35112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불안이 높으면 입력이 습득으로 넘어가지 않는다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6199632" y="35112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틀려도 웃지 않는 상대, 한 마디마다 포인트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8368" y="39684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3291840" y="39684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말해 봐야 규칙이 굳는다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199632" y="39684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음성코치의 발화 채점 · 말하기가 승리 조건인 학습 게임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66928" y="44074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8368" y="44256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3291840" y="44256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 꺼내 볼 때 오래 남는다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199632" y="44256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AI 단어 퀴즈 · 수업 후 복습 10문항 · 연속 학습(스트릭)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" y="48828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 이론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3291840" y="48828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학습과 무관한 부하를 줄여야 한다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199632" y="48828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화면에 한 과제 · 게임 UI 단순화 · 관리자 화면 hover 확대 제거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566928" y="5321808"/>
            <a:ext cx="5852160" cy="42062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58368" y="53400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자기결정이론 · 몰입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3291840" y="53400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자율성·유능감·관계성, 그리고 난이도 균형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99632" y="53400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게임·주제·아바타 선택권 · 속도 조절 · 레벨과 배지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" y="5797296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</a:t>
            </a:r>
            <a:endParaRPr lang="en-US" sz="1050" dirty="0"/>
          </a:p>
        </p:txBody>
      </p:sp>
      <p:sp>
        <p:nvSpPr>
          <p:cNvPr id="37" name="Text 35"/>
          <p:cNvSpPr/>
          <p:nvPr/>
        </p:nvSpPr>
        <p:spPr>
          <a:xfrm>
            <a:off x="3291840" y="5797296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9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능력은 노력으로 자란다는 믿음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199632" y="5797296"/>
            <a:ext cx="51755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자라는 아바타 · 결과가 아닌 과정을 칭찬하는 리포트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69164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691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REFERENCES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참고문헌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609344"/>
            <a:ext cx="10972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 문서의 이론적 주장은 아래 문헌에 근거합니다. 표기는 APA 7판을 따랐습니다.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566928" y="20299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· 제2언어 습득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2322576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(1959). Review of Verbal Behavior by B. F. Skinner. Language, 35(1), 26–58.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Chomsky, N. (1965). Aspects of the Theory of Syntax. MIT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Krashen, S. D. (1982). Principles and Practice in Second Language Acquisition. Pergamon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Swain, M. (1985). Communicative competence: Some roles of comprehensible input and comprehensible output in its development. In S. Gass &amp; C. Madden (Eds.), Input in Second Language Acquisition (pp. 235–253). Newbury House.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318504" y="2029968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발달 · 교수 이론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318504" y="2322576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Vygotsky, L. S. (1978). Mind in Society: The Development of Higher Psychological Processes. Harvard University Press.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Wood, D., Bruner, J. S., &amp; Ross, G. (1976). The role of tutoring in problem solving. Journal of Child Psychology and Psychiatry, 17(2), 89–100.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The 2 sigma problem: The search for methods of group instruction as effective as one-to-one tutoring. Educational Researcher, 13(6), 4–16.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VanLehn, K. (2011). The relative effectiveness of human tutoring, intelligent tutoring systems, and other tutoring systems. Educational Psychologist, 46(4), 197–221.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566928" y="41696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 · 기억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4462272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Ebbinghaus, H. (1913). Memory: A Contribution to Experimental Psychology (H. A. Ruger &amp; C. E. Bussenius, Trans.). Teachers College. (원저 1885 출간)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Cepeda, N. J., Pashler, H., Vul, E., Wixted, J. T., &amp; Rohrer, D. (2006). Distributed practice in verbal recall tasks: A review and quantitative synthesis. Psychological Bulletin, 132(3), 354–380.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Roediger, H. L., &amp; Karpicke, J. D. (2006). Test-enhanced learning: Taking memory tests improves long-term retention. Psychological Science, 17(3), 249–255.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Sweller, J. (1988). Cognitive load during problem solving: Effects on learning. Cognitive Science, 12(2), 257–285.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318504" y="4169664"/>
            <a:ext cx="5486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게임 기반 학습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318504" y="4462272"/>
            <a:ext cx="5486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Ryan, R. M., &amp; Deci, E. L. (2000). Self-determination theory and the facilitation of intrinsic motivation, social development, and well-being. American Psychologist, 55(1), 68–78.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Deci, E. L., Koestner, R., &amp; Ryan, R. M. (1999). A meta-analytic review of experiments examining the effects of extrinsic rewards on intrinsic motivation. Psychological Bulletin, 125(6), 627–668.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Csikszentmihalyi, M. (1990). Flow: The Psychology of Optimal Experience. Harper &amp; Row.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Dweck, C. S. (2006). Mindset: The New Psychology of Success. Random House.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Bandura, A. (1977). Self-efficacy: Toward a unifying theory of behavioral change. Psychological Review, 84(2), 191–215.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Mayer, R. E. (2019). Computer games in education. Annual Review of Psychology, 70, 531–549.</a:t>
            </a:r>
            <a:endParaRPr lang="en-US" sz="850" dirty="0"/>
          </a:p>
          <a:p>
            <a:pPr indent="0" marL="0">
              <a:lnSpc>
                <a:spcPts val="1150"/>
              </a:lnSpc>
              <a:spcAft>
                <a:spcPts val="400"/>
              </a:spcAft>
              <a:buNone/>
            </a:pPr>
            <a:r>
              <a:rPr lang="en-US" sz="8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Clark, D. B., Tanner-Smith, E. E., &amp; Killingsworth, S. S. (2016). Digital games, design, and learning: A systematic review and meta-analysis. Review of Educational Research, 86(1), 79–122.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6">
              <a:alpha val="7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14516" y="1805940"/>
            <a:ext cx="5257800" cy="3349764"/>
          </a:xfrm>
          <a:prstGeom prst="roundRect">
            <a:avLst>
              <a:gd name="adj" fmla="val 218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6" name="Image 1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47088"/>
            <a:ext cx="5175504" cy="3267468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55664" y="5297436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13가지 특장점 카드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A3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9200" dirty="0"/>
          </a:p>
        </p:txBody>
      </p:sp>
      <p:sp>
        <p:nvSpPr>
          <p:cNvPr id="9" name="Shape 5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2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특징과 장점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스스로 말하는 13가지 특장점과,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그중 실제 화면으로 확인되는 핵심 8가지를 정리했습니다.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6002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600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특장점 전체 지도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«망고아이란?» 안에 담긴 13가지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첫 버튼에서 바로 열리는 소개 카드입니다.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 8가지를 이 문서에서 화면과 함께 자세히 봅니다.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66928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50392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A.I가 함께 학생 실력 향상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50392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선생님과 1:1 / 1:2 수업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50392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커뮤니케이션 능력의 향상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0392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저렴한 비용으로 최고의 학습 효과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0392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최고의 강사진과 체계적인 관리 시스템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50392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시간과 장소에 구애받지 않는 시스템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8920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0392" y="48097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우수한 교재로 영어 말하기 동기 부여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785616" y="26974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069080" y="26151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편리하고 다양한 기능의 앱과 홈페이지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3785616" y="306324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069080" y="298094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예복습 — 수업 전후를 A.I가 챙김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3785616" y="34290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069080" y="334670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A.I를 활용한 평가 · 복습 · 소통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3785616" y="379476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069080" y="371246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필리핀 현지 교육센터 운영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785616" y="416052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069080" y="407822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20년 전통, 국내 최초의 화상영어 기업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3785616" y="452628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069080" y="4443984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정보를 카카오톡으로 실시간 제공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6926580" y="1970532"/>
            <a:ext cx="4745736" cy="3026481"/>
          </a:xfrm>
          <a:prstGeom prst="roundRect">
            <a:avLst>
              <a:gd name="adj" fmla="val 24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0" descr="/tmp/claude-0/-home-user-mangoiweb/ca835eb4-1670-5fc1-a29a-2fc77598fea3/scratchpad/deck_img/about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67728" y="2011680"/>
            <a:ext cx="4663440" cy="2944185"/>
          </a:xfrm>
          <a:prstGeom prst="rect">
            <a:avLst/>
          </a:prstGeom>
        </p:spPr>
      </p:pic>
      <p:sp>
        <p:nvSpPr>
          <p:cNvPr id="34" name="Text 31"/>
          <p:cNvSpPr/>
          <p:nvPr/>
        </p:nvSpPr>
        <p:spPr>
          <a:xfrm>
            <a:off x="6967728" y="507492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망고아이란? — 카드를 누르면 항목별 상세가 열립니다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교사와 A.I, 두 개의 엔진으로 굴러갑니다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이끌고, 예습·복습·평가·발음 교정은 A.I가 24시간 채웁니다. 둘이 같은 데이터를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86384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웜업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86384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말해 봅니다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656332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044952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중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044952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교사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044952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· 1:2 실시간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교정과 발화 유도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914900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303520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303520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303520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분석해 자동 작성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173468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562088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562088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맞춤 복습 10문항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7562088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·쓰기 퀴즈 즉시 진행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432036" y="3346704"/>
            <a:ext cx="17373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200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28600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20656" y="26700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9820656" y="2980944"/>
            <a:ext cx="16824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6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 반영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9820656" y="3749040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것이 다시 나오고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교사에게도 전달됩니다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66928" y="4992624"/>
            <a:ext cx="11055096" cy="1060704"/>
          </a:xfrm>
          <a:prstGeom prst="roundRect">
            <a:avLst>
              <a:gd name="adj" fmla="val 8621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32688" y="52303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문장으로</a:t>
            </a:r>
            <a:endParaRPr lang="en-US" sz="1150" dirty="0"/>
          </a:p>
        </p:txBody>
      </p:sp>
      <p:sp>
        <p:nvSpPr>
          <p:cNvPr id="32" name="Text 30"/>
          <p:cNvSpPr/>
          <p:nvPr/>
        </p:nvSpPr>
        <p:spPr>
          <a:xfrm>
            <a:off x="2578608" y="5193792"/>
            <a:ext cx="8778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수업만 제공하는 화상영어와 달리, 망고아이는 수업 밖의 시간까지 같은 시스템 안에서 관리합니다.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교사와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단계별 커리큘럼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2157984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매번 바뀌는 랜덤 매칭이 아니라, 같은 선생님이 계속 봅니다.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그래서 아이의 성향과 약점을 정확히 압니다.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3118104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227832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278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225296" y="3145536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교사제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291840" y="3145536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랜덤 매칭이 아닌 전담 선생님이 지속 관리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8496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8496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25296" y="3767328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또는 1:2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291840" y="3767328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형제·친구와 함께하면 비용은 낮추고 효과는 그대로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4361688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47141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4714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225296" y="4389120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직영 정규 교사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291840" y="4389120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외주가 아닌 필리핀 직영 센터의 검증된 정규 교사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509320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50932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225296" y="5010912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기반 8단계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291840" y="5010912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Novice부터 Proficient까지 국제 기준에 맞춘 설계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605272"/>
            <a:ext cx="5943600" cy="566928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71500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715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225296" y="5632704"/>
            <a:ext cx="20116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연령·관심사 맞춤 교재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291840" y="5632704"/>
            <a:ext cx="31089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디지털 교재 뷰어로 예습·복습까지 한 곳에서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7018020" y="2116836"/>
            <a:ext cx="4654296" cy="2968752"/>
          </a:xfrm>
          <a:prstGeom prst="roundRect">
            <a:avLst>
              <a:gd name="adj" fmla="val 2464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59168" y="2157984"/>
            <a:ext cx="4572000" cy="2886456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7059168" y="5138928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교육과정 안내 — Level 1~8, Novice ~ Proficient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33956"/>
            <a:ext cx="5751576" cy="3627486"/>
          </a:xfrm>
          <a:prstGeom prst="roundRect">
            <a:avLst>
              <a:gd name="adj" fmla="val 201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75104"/>
            <a:ext cx="5669280" cy="354519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614416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레벨 선택 → 원어민 발음 듣기 → 따라 말하기 → 즉시 채점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656832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656832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656832" y="969264"/>
            <a:ext cx="4983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</a:t>
            </a:r>
            <a:endParaRPr lang="en-US" sz="2900" dirty="0"/>
          </a:p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말하기를 멈추지 않습니다</a:t>
            </a:r>
            <a:endParaRPr lang="en-US" sz="2900" dirty="0"/>
          </a:p>
        </p:txBody>
      </p:sp>
      <p:sp>
        <p:nvSpPr>
          <p:cNvPr id="8" name="Text 5"/>
          <p:cNvSpPr/>
          <p:nvPr/>
        </p:nvSpPr>
        <p:spPr>
          <a:xfrm>
            <a:off x="6656832" y="2139696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음성코치는 원어민 발음을 들려주고, 따라 말한 문장이 또렷했는지 즉시 채점합니다.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656832" y="3054096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912864" y="3191256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골라서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6912864" y="3483864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Phonics(Lv 0) · BTS(Lv 1~8) · SIU(고급)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중국어 마스터(Lv 1~20)까지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6656832" y="4114800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912864" y="4251960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따라 말하고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6912864" y="4544568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 듣기 → 마이크 버튼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또박또박 발화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6656832" y="5175504"/>
            <a:ext cx="4974336" cy="960120"/>
          </a:xfrm>
          <a:prstGeom prst="roundRect">
            <a:avLst>
              <a:gd name="adj" fmla="val 952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912864" y="5312664"/>
            <a:ext cx="4480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점수로 확인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912864" y="5605272"/>
            <a:ext cx="4498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데이터로 쌓여</a:t>
            </a:r>
            <a:endParaRPr lang="en-US" sz="105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추이가 보입니다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«말 걸 상대»가</a:t>
            </a:r>
            <a:endParaRPr lang="en-US" sz="3400" dirty="0"/>
          </a:p>
          <a:p>
            <a:pPr algn="l" indent="0" marL="0">
              <a:lnSpc>
                <a:spcPts val="44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 있습니다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22128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영어를 못 하는 이유는 대부분 «틀릴까 봐»입니다.</a:t>
            </a:r>
            <a:endParaRPr lang="en-US" sz="13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친구는 아무리 틀려도 웃지 않고, 한 마디마다 포인트를 줍니다.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585216" y="3236976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32688" y="3127248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성격이 다른 친구를 고릅니다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932688" y="3419856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Jake, 또는 둘 다 번갈아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85216" y="3986784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32688" y="3877056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모험처럼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932688" y="4169664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 — 아이가 좋아하는 세계에서 대화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85216" y="4736592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4626864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말할수록 쌓입니다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932688" y="4919472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레벨(새싹 망고 → …) · 연속 학습 일수 · 포인트 · 오늘의 단어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85216" y="5486400"/>
            <a:ext cx="182880" cy="18288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32688" y="537667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맞춰 말해 줍니다</a:t>
            </a:r>
            <a:endParaRPr lang="en-US" sz="1350" dirty="0"/>
          </a:p>
        </p:txBody>
      </p:sp>
      <p:sp>
        <p:nvSpPr>
          <p:cNvPr id="17" name="Text 15"/>
          <p:cNvSpPr/>
          <p:nvPr/>
        </p:nvSpPr>
        <p:spPr>
          <a:xfrm>
            <a:off x="932688" y="5669280"/>
            <a:ext cx="5577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B1 등 학습자 수준에 맞춘 문장 길이와 어휘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816852" y="1842516"/>
            <a:ext cx="4882896" cy="3113075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0" y="1883664"/>
            <a:ext cx="4800600" cy="3030779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858000" y="499262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음성 입력과 힌트 버튼도 함께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예습·복습을 아이 혼자 하라고 두지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넣으면 A.I가 뜻과 예문을 만들고, 틀린 문제는 A.I가 다시 냅니다. 푼 기록은 매달 성적표의 «이해·정확도»로 쌓입니다.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영어 단어만 넣으면 뜻·예문 자동 생성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7424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쓴 문장을 즉시 교정하고 이유를 설명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06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복습을 «해야 하는 것»에서 «하고 싶은 것»으로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틀린 단어·문장을 골라 그대로 게임의 재료로 넘깁니다. 학습 게임 21종, 영어와 중국어 모두 지원합니다.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888736" cy="3713256"/>
          </a:xfrm>
          <a:prstGeom prst="roundRect">
            <a:avLst>
              <a:gd name="adj" fmla="val 197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806440" cy="36309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612648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 허브 — 오늘의 퀘스트 · 연속 학습 · 랭킹 · 포인트 상점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6614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585" b="-5585"/>
          <a:stretch/>
        </p:blipFill>
        <p:spPr>
          <a:xfrm>
            <a:off x="6693408" y="2395728"/>
            <a:ext cx="2487168" cy="1399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6934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9404604" y="2363724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5585" b="-5585"/>
          <a:stretch/>
        </p:blipFill>
        <p:spPr>
          <a:xfrm>
            <a:off x="9436608" y="2395728"/>
            <a:ext cx="2487168" cy="139903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436608" y="3858768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6614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langace.jpg">    </p:cNvPr>
          <p:cNvPicPr>
            <a:picLocks noChangeAspect="1"/>
          </p:cNvPicPr>
          <p:nvPr/>
        </p:nvPicPr>
        <p:blipFill>
          <a:blip r:embed="rId4"/>
          <a:srcRect l="0" r="0" t="5585" b="-5585"/>
          <a:stretch/>
        </p:blipFill>
        <p:spPr>
          <a:xfrm>
            <a:off x="6693408" y="4206240"/>
            <a:ext cx="2487168" cy="1399032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6934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100" dirty="0"/>
          </a:p>
        </p:txBody>
      </p:sp>
      <p:sp>
        <p:nvSpPr>
          <p:cNvPr id="18" name="Shape 12"/>
          <p:cNvSpPr/>
          <p:nvPr/>
        </p:nvSpPr>
        <p:spPr>
          <a:xfrm>
            <a:off x="9404604" y="4174236"/>
            <a:ext cx="2551176" cy="1463040"/>
          </a:xfrm>
          <a:prstGeom prst="roundRect">
            <a:avLst>
              <a:gd name="adj" fmla="val 5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585" b="-5585"/>
          <a:stretch/>
        </p:blipFill>
        <p:spPr>
          <a:xfrm>
            <a:off x="9436608" y="4206240"/>
            <a:ext cx="2487168" cy="1399032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9436608" y="5669280"/>
            <a:ext cx="2514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100" dirty="0"/>
          </a:p>
        </p:txBody>
      </p:sp>
      <p:sp>
        <p:nvSpPr>
          <p:cNvPr id="21" name="Text 14"/>
          <p:cNvSpPr/>
          <p:nvPr/>
        </p:nvSpPr>
        <p:spPr>
          <a:xfrm>
            <a:off x="6693408" y="6089904"/>
            <a:ext cx="4937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게임마다 파일이 독립되어 있어 새 게임을 계속 추가할 수 있는 구조입니다.</a:t>
            </a:r>
            <a:endParaRPr lang="en-US" sz="1100" dirty="0"/>
          </a:p>
        </p:txBody>
      </p:sp>
      <p:sp>
        <p:nvSpPr>
          <p:cNvPr id="22" name="Text 1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07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583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학부모가 «깜깜이»가 되지 않게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출결·평가·진도·공지를 카카오톡으로 실시간 전달합니다.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따로 열지 않아도 아이의 학습 상황이 손 안에 도착합니다.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24912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2852928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41248" y="310896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630168" y="2944368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분석해 수업 직후 자동 생성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66928" y="3785616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1248" y="391363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41248" y="4169664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3630168" y="4005072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주 학습량과 약점을 정리해 발송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6928" y="4846320"/>
            <a:ext cx="5806440" cy="969264"/>
          </a:xfrm>
          <a:prstGeom prst="roundRect">
            <a:avLst>
              <a:gd name="adj" fmla="val 9434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974336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매달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5230368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학습 리포트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3630168" y="5065776"/>
            <a:ext cx="2606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흐름을 요약, 카카오톡으로도 발송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43700" y="1732788"/>
            <a:ext cx="4928616" cy="2167128"/>
          </a:xfrm>
          <a:prstGeom prst="roundRect">
            <a:avLst>
              <a:gd name="adj" fmla="val 337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84848" y="1773936"/>
            <a:ext cx="4846320" cy="2084832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84848" y="40416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주간 리포트 — 카카오톡 · 테스트 발송 화면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601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장점 08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7315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여러 개 오갈 필요가 없습니다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입장 · 예복습 · 평가 확인 · 결제 · 상담까지 하나의 홈페이지와 앱에서 끝납니다. 원하는 기능은 검색창에 말하면 바로 이동합니다.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91156"/>
            <a:ext cx="5477256" cy="3488314"/>
          </a:xfrm>
          <a:prstGeom prst="roundRect">
            <a:avLst>
              <a:gd name="adj" fmla="val 2097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432304"/>
            <a:ext cx="5394960" cy="340601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888736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— AI 검색창에 말하거나 입력하면 해당 기능으로 바로 이동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77940" y="2391156"/>
            <a:ext cx="5294376" cy="3372856"/>
          </a:xfrm>
          <a:prstGeom prst="roundRect">
            <a:avLst>
              <a:gd name="adj" fmla="val 216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allmenu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432304"/>
            <a:ext cx="5212080" cy="329056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19088" y="577900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메뉴 — 학습·수업·평가·결제·상담이 한 화면에</a:t>
            </a:r>
            <a:endParaRPr lang="en-US" sz="1050" dirty="0"/>
          </a:p>
        </p:txBody>
      </p:sp>
      <p:sp>
        <p:nvSpPr>
          <p:cNvPr id="12" name="Text 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371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다른가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화상영어와 망고아이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«수업을 파는가»와 «학습을 관리하는가»의 차이입니다.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882128" y="2212848"/>
            <a:ext cx="3739896" cy="3785616"/>
          </a:xfrm>
          <a:prstGeom prst="roundRect">
            <a:avLst>
              <a:gd name="adj" fmla="val 2445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34256" y="2286000"/>
            <a:ext cx="32186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 화상영어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101584" y="2286000"/>
            <a:ext cx="337413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66928" y="2798064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86384" y="283464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4334256" y="283464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화상수업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101584" y="283464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전담 1:1 · 1:2 (직영 센터)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86384" y="3364992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밖 시간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34256" y="3364992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자율에 맡김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01584" y="3364992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음성코치 · AI 친구 대화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858768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86384" y="3895344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4334256" y="3895344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숙제 또는 없음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8101584" y="3895344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생성 10문항 + 학습 게임 21종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86384" y="4425696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334256" y="4425696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코멘트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101584" y="4425696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자동 평가서 + 월간 A.I 리포트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66928" y="4919472"/>
            <a:ext cx="7315200" cy="51206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86384" y="4956048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소통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334256" y="4956048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 1회 상담 정도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8101584" y="4956048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· 주간/월간 리포트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6384" y="5486400"/>
            <a:ext cx="30175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플랫폼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4334256" y="5486400"/>
            <a:ext cx="32186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도구 위주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101584" y="5486400"/>
            <a:ext cx="33375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입장·학습·평가·결제·상담 올인원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66928" y="6163056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일반 화상영어 열은 업계에서 흔히 보이는 구성을 요약한 것으로, 특정 업체를 지칭하지 않습니다.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6">
              <a:alpha val="7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6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· 교사 · 결제 3단계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A3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9200" dirty="0"/>
          </a:p>
        </p:txBody>
      </p:sp>
      <p:sp>
        <p:nvSpPr>
          <p:cNvPr id="9" name="Shape 5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3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처음 오신 분이 수업을 듣고 복습까지 마치는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 과정을 실제 화면으로 따라갑니다.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en-US" sz="10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전체 흐름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화면 가운데에도 «무료 상담 › 레벨 테스트 › 수업 신청 › 평가표·복습» 순서가 그대로 표시됩니다.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04672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04672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 · 가입</a:t>
            </a:r>
            <a:endParaRPr lang="en-US" sz="1550" dirty="0"/>
          </a:p>
        </p:txBody>
      </p:sp>
      <p:sp>
        <p:nvSpPr>
          <p:cNvPr id="10" name="Text 8"/>
          <p:cNvSpPr/>
          <p:nvPr/>
        </p:nvSpPr>
        <p:spPr>
          <a:xfrm>
            <a:off x="804672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채널 또는 홈의 «무료 체험 신청»으로 시작합니다.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2825496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063240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063240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063240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550" dirty="0"/>
          </a:p>
        </p:txBody>
      </p:sp>
      <p:sp>
        <p:nvSpPr>
          <p:cNvPr id="15" name="Text 13"/>
          <p:cNvSpPr/>
          <p:nvPr/>
        </p:nvSpPr>
        <p:spPr>
          <a:xfrm>
            <a:off x="3063240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진단으로 현재 실력과 시작 레벨을 확인합니다.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084064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21808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21808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5321808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550" dirty="0"/>
          </a:p>
        </p:txBody>
      </p:sp>
      <p:sp>
        <p:nvSpPr>
          <p:cNvPr id="20" name="Text 18"/>
          <p:cNvSpPr/>
          <p:nvPr/>
        </p:nvSpPr>
        <p:spPr>
          <a:xfrm>
            <a:off x="5321808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 직접 고르고 그 자리에서 결제합니다.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7342632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580376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580376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580376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550" dirty="0"/>
          </a:p>
        </p:txBody>
      </p:sp>
      <p:sp>
        <p:nvSpPr>
          <p:cNvPr id="25" name="Text 23"/>
          <p:cNvSpPr/>
          <p:nvPr/>
        </p:nvSpPr>
        <p:spPr>
          <a:xfrm>
            <a:off x="7580376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진단으로 마이크·카메라를 점검하고, 웜업 후 입장합니다.</a:t>
            </a:r>
            <a:endParaRPr lang="en-US" sz="1150" dirty="0"/>
          </a:p>
        </p:txBody>
      </p:sp>
      <p:sp>
        <p:nvSpPr>
          <p:cNvPr id="26" name="Shape 24"/>
          <p:cNvSpPr/>
          <p:nvPr/>
        </p:nvSpPr>
        <p:spPr>
          <a:xfrm>
            <a:off x="9601200" y="2432304"/>
            <a:ext cx="2084832" cy="2926080"/>
          </a:xfrm>
          <a:prstGeom prst="roundRect">
            <a:avLst>
              <a:gd name="adj" fmla="val 4386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9838944" y="2688336"/>
            <a:ext cx="457200" cy="45720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838944" y="26883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9838944" y="3310128"/>
            <a:ext cx="162763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5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평가 · 복습</a:t>
            </a:r>
            <a:endParaRPr lang="en-US" sz="1550" dirty="0"/>
          </a:p>
        </p:txBody>
      </p:sp>
      <p:sp>
        <p:nvSpPr>
          <p:cNvPr id="30" name="Text 28"/>
          <p:cNvSpPr/>
          <p:nvPr/>
        </p:nvSpPr>
        <p:spPr>
          <a:xfrm>
            <a:off x="9838944" y="4059936"/>
            <a:ext cx="1645920" cy="11338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자동 평가서 → 복습 퀴즈 → 게임 → 리포트로 이어집니다.</a:t>
            </a:r>
            <a:endParaRPr lang="en-US" sz="1150" dirty="0"/>
          </a:p>
        </p:txBody>
      </p:sp>
      <p:sp>
        <p:nvSpPr>
          <p:cNvPr id="31" name="Text 29"/>
          <p:cNvSpPr/>
          <p:nvPr/>
        </p:nvSpPr>
        <p:spPr>
          <a:xfrm>
            <a:off x="566928" y="566928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수강 중이라면 홈의 «수업 입장 →» 한 번으로 바로 교실로 들어갑니다.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430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43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1 · 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675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상담하고, 내 레벨을 확인합니다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556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홈의 «무료 체험 신청»으로 상담을 시작하고, 레벨 테스트로 시작 지점을 정합니다.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432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무료 상담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22960" y="3017520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 또는 💬 카카오 상담. 채널 홈에서 채팅·챗봇·전화가 모두 열립니다.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493008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621024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레벨 테스트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895344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🎯 레벨테스트. AI 자동 진단은 학생 ID만 넣으면 바로 시작합니다.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66928" y="4370832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49884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결과 확인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773168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 Level 1~8 중 시작 레벨과 강·약점이 정리되어 나옵니다.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5248656"/>
            <a:ext cx="5760720" cy="786384"/>
          </a:xfrm>
          <a:prstGeom prst="roundRect">
            <a:avLst>
              <a:gd name="adj" fmla="val 1162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5376672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 커리큘럼 배정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5650992"/>
            <a:ext cx="5303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교재와 주제가 자동으로 연결됩니다.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707124" y="1933956"/>
            <a:ext cx="4974336" cy="1911096"/>
          </a:xfrm>
          <a:prstGeom prst="roundRect">
            <a:avLst>
              <a:gd name="adj" fmla="val 38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9" name="Image 0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48272" y="1975104"/>
            <a:ext cx="4892040" cy="1828800"/>
          </a:xfrm>
          <a:prstGeom prst="rect">
            <a:avLst/>
          </a:prstGeom>
        </p:spPr>
      </p:pic>
      <p:sp>
        <p:nvSpPr>
          <p:cNvPr id="20" name="Text 17"/>
          <p:cNvSpPr/>
          <p:nvPr/>
        </p:nvSpPr>
        <p:spPr>
          <a:xfrm>
            <a:off x="6748272" y="3986784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진단 — 학생 ID 입력 후 즉시 시작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en-US" sz="10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25780" y="1915668"/>
            <a:ext cx="5522976" cy="3484535"/>
          </a:xfrm>
          <a:prstGeom prst="roundRect">
            <a:avLst>
              <a:gd name="adj" fmla="val 2099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956816"/>
            <a:ext cx="5440680" cy="3402239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566928" y="54864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① 시간 선택 › ② 교사 선택 › ③ 결제</a:t>
            </a:r>
            <a:endParaRPr lang="en-US" sz="1050" dirty="0"/>
          </a:p>
        </p:txBody>
      </p:sp>
      <p:sp>
        <p:nvSpPr>
          <p:cNvPr id="5" name="Shape 2"/>
          <p:cNvSpPr/>
          <p:nvPr/>
        </p:nvSpPr>
        <p:spPr>
          <a:xfrm>
            <a:off x="6455664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6455664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3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6455664" y="969264"/>
            <a:ext cx="5175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요일·시간·교사를</a:t>
            </a:r>
            <a:endParaRPr lang="en-US" sz="3000" dirty="0"/>
          </a:p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직접 고릅니다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6455664" y="2139696"/>
            <a:ext cx="5120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«마스터 클래스 디자인» 화면에서 시간 → 교사 → 결제까지 3단계로 끝납니다.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55664" y="3054096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75120" y="3054096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형태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83880" y="3054096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마스터 또는 그룹 토론 중 선택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675120" y="3657600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선택 방식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8183880" y="3657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날짜로 고르거나, 교사로 고르거나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55664" y="42611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675120" y="42611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횟수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8183880" y="42611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 ~ 주 5회 중 선택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6675120" y="486460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 선택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8183880" y="4864608"/>
            <a:ext cx="32918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최소 20분 자동 블록 + 연속 확장</a:t>
            </a:r>
            <a:endParaRPr lang="en-US" sz="11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색으로 가능 / 예약 / 휴무를 구분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55664" y="5632704"/>
            <a:ext cx="5175504" cy="548640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0" y="5632704"/>
            <a:ext cx="1417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결제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8183880" y="5632704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장바구니에 일정을 모두 담은 뒤 결제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 — 점검하고, 몸을 풀고, 입장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시작 전 마이크·카메라·네트워크를 스스로 점검하고, AI 웜업으로 오늘 배울 문장을 미리 말해 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수업 진단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마이크·카메라·STUN/TURN·네트워크를 항목별로 점검해 점수로 표시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수업 전 AI 웜업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친구와 짧게 대화하며 입을 풀고 바로 화상수업 로비로 입장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91440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STEP 5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끝나고부터가 진짜입니다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→ 복습 퀴즈 → 게임 → 리포트. 아이가 «해야지» 하고 마음먹지 않아도 순서대로 이어집니다.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15184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2734056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7340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243584" y="2615184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평가서 자동 생성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529584" y="2615184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발음·표현·참여도 분석 결과가 수업 직후 도착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731520" y="3410712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34107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243584" y="3291840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10문항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3529584" y="3291840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배운 내용으로 듣기·말하기·쓰기 문제를 즉시 출제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968496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31520" y="4087368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31520" y="40873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1243584" y="3968496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반복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3529584" y="3968496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단어·문장이 게임 재료가 되어 다시 등장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31520" y="4764024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476402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1243584" y="4645152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유지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3529584" y="4645152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스트릭(연속 일수)과 포인트로 습관을 잡습니다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5321808"/>
            <a:ext cx="5943600" cy="603504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31520" y="5440680"/>
            <a:ext cx="365760" cy="365760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5440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243584" y="5321808"/>
            <a:ext cx="22402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1350" dirty="0"/>
          </a:p>
        </p:txBody>
      </p:sp>
      <p:sp>
        <p:nvSpPr>
          <p:cNvPr id="28" name="Text 26"/>
          <p:cNvSpPr/>
          <p:nvPr/>
        </p:nvSpPr>
        <p:spPr>
          <a:xfrm>
            <a:off x="3529584" y="5321808"/>
            <a:ext cx="2880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성장 요약이 카카오톡으로 발송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743700" y="1330452"/>
            <a:ext cx="4928616" cy="3112861"/>
          </a:xfrm>
          <a:prstGeom prst="roundRect">
            <a:avLst>
              <a:gd name="adj" fmla="val 2350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0" name="Image 0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371600"/>
            <a:ext cx="4846320" cy="3030565"/>
          </a:xfrm>
          <a:prstGeom prst="rect">
            <a:avLst/>
          </a:prstGeom>
        </p:spPr>
      </p:pic>
      <p:sp>
        <p:nvSpPr>
          <p:cNvPr id="31" name="Text 28"/>
          <p:cNvSpPr/>
          <p:nvPr/>
        </p:nvSpPr>
        <p:spPr>
          <a:xfrm>
            <a:off x="6784848" y="449884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마이크로러닝, 1분 안에 끝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7437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3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rcRect l="0" r="0" t="6148" b="-6148"/>
          <a:stretch/>
        </p:blipFill>
        <p:spPr>
          <a:xfrm>
            <a:off x="6784848" y="4901184"/>
            <a:ext cx="2331720" cy="1298448"/>
          </a:xfrm>
          <a:prstGeom prst="rect">
            <a:avLst/>
          </a:prstGeom>
        </p:spPr>
      </p:pic>
      <p:sp>
        <p:nvSpPr>
          <p:cNvPr id="34" name="Shape 30"/>
          <p:cNvSpPr/>
          <p:nvPr/>
        </p:nvSpPr>
        <p:spPr>
          <a:xfrm>
            <a:off x="9258300" y="4860036"/>
            <a:ext cx="2414016" cy="1380744"/>
          </a:xfrm>
          <a:prstGeom prst="roundRect">
            <a:avLst>
              <a:gd name="adj" fmla="val 529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5" name="Image 2" descr="/tmp/claude-0/-home-user-mangoiweb/ca835eb4-1670-5fc1-a29a-2fc77598fea3/scratchpad/deck_img/grammarpizza.jpg">    </p:cNvPr>
          <p:cNvPicPr>
            <a:picLocks noChangeAspect="1"/>
          </p:cNvPicPr>
          <p:nvPr/>
        </p:nvPicPr>
        <p:blipFill>
          <a:blip r:embed="rId3"/>
          <a:srcRect l="0" r="0" t="6148" b="-6148"/>
          <a:stretch/>
        </p:blipFill>
        <p:spPr>
          <a:xfrm>
            <a:off x="9299448" y="4901184"/>
            <a:ext cx="2331720" cy="1298448"/>
          </a:xfrm>
          <a:prstGeom prst="rect">
            <a:avLst/>
          </a:prstGeom>
        </p:spPr>
      </p:pic>
      <p:sp>
        <p:nvSpPr>
          <p:cNvPr id="36" name="Text 31"/>
          <p:cNvSpPr/>
          <p:nvPr/>
        </p:nvSpPr>
        <p:spPr>
          <a:xfrm>
            <a:off x="6784848" y="629107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게임형 복습</a:t>
            </a:r>
            <a:endParaRPr lang="en-US" sz="1050" dirty="0"/>
          </a:p>
        </p:txBody>
      </p:sp>
      <p:sp>
        <p:nvSpPr>
          <p:cNvPr id="37" name="Text 3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0058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언제든지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일정이 바뀌어도 수업은 사라지지 않습니다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3736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갑자기 일이 생기면 «연기»하거나 «변경»하면 됩니다. 궁금한 것은 FAQ와 카카오 상담에서 바로 확인합니다.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395728"/>
            <a:ext cx="5166360" cy="3230697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66928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«수업 연기하기»와 «수업 변경하기»를 한 화면에서 선택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6414516" y="2354580"/>
            <a:ext cx="5248656" cy="3312993"/>
          </a:xfrm>
          <a:prstGeom prst="roundRect">
            <a:avLst>
              <a:gd name="adj" fmla="val 220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2395728"/>
            <a:ext cx="5166360" cy="3230697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455664" y="56692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자주 묻는 질문 · 카카오 상담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6455664" y="5961888"/>
            <a:ext cx="5257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카테고리별 FAQ + 카카오톡 채널 홈에서 채팅·챗봇·전화 연결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en-US" sz="10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23444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2344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 · 강사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87552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0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운영에 필요한 모든 기능이 한 화면에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1810512"/>
            <a:ext cx="5760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학생·강사·수업·정산·시스템이 하나의 콘솔에 모여 있고,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 운영비서»에게 말로 물어볼 수도 있습니다.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761488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2971800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33856" y="2761488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2852928" y="2761488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실시간 수업 현황 · 오늘의 매출 · 학생수 · 신규 등록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86384" y="3630168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133856" y="3419856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852928" y="3419856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관리, 강사 명부·매칭·성장 리포트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566928" y="4078224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86384" y="4288536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33856" y="4078224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· 콘텐츠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852928" y="4078224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스케줄, 평가서, 교재, 공지·팝업 스튜디오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6384" y="4946904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133856" y="4736592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정산 · 매출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852928" y="4736592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급여·정산·구독·리텐션 지표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66928" y="5394960"/>
            <a:ext cx="5989320" cy="585216"/>
          </a:xfrm>
          <a:prstGeom prst="rect">
            <a:avLst/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86384" y="5605272"/>
            <a:ext cx="173736" cy="173736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33856" y="5394960"/>
            <a:ext cx="16916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852928" y="5394960"/>
            <a:ext cx="36118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권한 매트릭스(역할별 카드 on/off), 진단, 자료실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743700" y="1440180"/>
            <a:ext cx="4928616" cy="3177479"/>
          </a:xfrm>
          <a:prstGeom prst="roundRect">
            <a:avLst>
              <a:gd name="adj" fmla="val 2302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5" name="Image 0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95183"/>
          </a:xfrm>
          <a:prstGeom prst="rect">
            <a:avLst/>
          </a:prstGeom>
        </p:spPr>
      </p:pic>
      <p:sp>
        <p:nvSpPr>
          <p:cNvPr id="26" name="Text 23"/>
          <p:cNvSpPr/>
          <p:nvPr/>
        </p:nvSpPr>
        <p:spPr>
          <a:xfrm>
            <a:off x="6784848" y="4645152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— 통합 검색으로 학생·교사·가맹점·메뉴를 한 번에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en-US" sz="10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6">
              <a:alpha val="78000"/>
            </a:srgbClr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6414516" y="1805940"/>
            <a:ext cx="5257800" cy="3318711"/>
          </a:xfrm>
          <a:prstGeom prst="roundRect">
            <a:avLst>
              <a:gd name="adj" fmla="val 220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6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847088"/>
            <a:ext cx="5175504" cy="3236415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6455664" y="5266383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이미 서비스 중인 기능</a:t>
            </a:r>
            <a:endParaRPr lang="en-US" sz="1050" dirty="0"/>
          </a:p>
        </p:txBody>
      </p:sp>
      <p:sp>
        <p:nvSpPr>
          <p:cNvPr id="8" name="Text 4"/>
          <p:cNvSpPr/>
          <p:nvPr/>
        </p:nvSpPr>
        <p:spPr>
          <a:xfrm>
            <a:off x="566928" y="1481328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0" b="1" dirty="0">
                <a:solidFill>
                  <a:srgbClr val="2A3A6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9200" dirty="0"/>
          </a:p>
        </p:txBody>
      </p:sp>
      <p:sp>
        <p:nvSpPr>
          <p:cNvPr id="9" name="Shape 5"/>
          <p:cNvSpPr/>
          <p:nvPr/>
        </p:nvSpPr>
        <p:spPr>
          <a:xfrm>
            <a:off x="566928" y="2889504"/>
            <a:ext cx="1335024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566928" y="2889504"/>
            <a:ext cx="13350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4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566928" y="3364992"/>
            <a:ext cx="5760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3600" dirty="0"/>
          </a:p>
        </p:txBody>
      </p:sp>
      <p:sp>
        <p:nvSpPr>
          <p:cNvPr id="12" name="Text 8"/>
          <p:cNvSpPr/>
          <p:nvPr/>
        </p:nvSpPr>
        <p:spPr>
          <a:xfrm>
            <a:off x="566928" y="4315968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진화, 강화학습 기반 개인화, 고객 상호작용,</a:t>
            </a:r>
            <a:endParaRPr lang="en-US" sz="1350" dirty="0"/>
          </a:p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그리고 «바이브 코딩 시대의 영어»까지.</a:t>
            </a:r>
            <a:endParaRPr lang="en-US" sz="1350" dirty="0"/>
          </a:p>
        </p:txBody>
      </p:sp>
      <p:sp>
        <p:nvSpPr>
          <p:cNvPr id="13" name="Text 9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en-US" sz="10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01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 — 말할수록 함께 자라는 동반자</a:t>
            </a:r>
            <a:endParaRPr lang="en-US" sz="31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«아바타 키우기»는 이미 서비스 중입니다. 판다·여우·드래곤·강아지 중 하나를 골라 5단계까지 진화시킵니다.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단계는 이 아바타를 학습 전체의 주인공으로 만드는 것입니다.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25780" y="2574036"/>
            <a:ext cx="5431536" cy="3427354"/>
          </a:xfrm>
          <a:prstGeom prst="roundRect">
            <a:avLst>
              <a:gd name="adj" fmla="val 21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2615184"/>
            <a:ext cx="5349240" cy="334505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66928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영어·중국어 미션을 할 때마다 EXP가 쌓이고 진화합니다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6382512" y="2615184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22345C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620256" y="2734056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534656" y="2715768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진화 시 연출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7534656" y="3026664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 수행량에 따라 EXP 축적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382512" y="3511296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20256" y="36301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7534656" y="3611880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</a:t>
            </a:r>
            <a:endParaRPr lang="en-US" sz="1350" dirty="0"/>
          </a:p>
        </p:txBody>
      </p:sp>
      <p:sp>
        <p:nvSpPr>
          <p:cNvPr id="16" name="Text 13"/>
          <p:cNvSpPr/>
          <p:nvPr/>
        </p:nvSpPr>
        <p:spPr>
          <a:xfrm>
            <a:off x="7534656" y="3922776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학생의 발음·대답 속도에 반응하는 얼굴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382512" y="4407408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620256" y="4526280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534656" y="4507992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350" dirty="0"/>
          </a:p>
        </p:txBody>
      </p:sp>
      <p:sp>
        <p:nvSpPr>
          <p:cNvPr id="20" name="Text 17"/>
          <p:cNvSpPr/>
          <p:nvPr/>
        </p:nvSpPr>
        <p:spPr>
          <a:xfrm>
            <a:off x="7534656" y="4818888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곧 AI 친구 — 같은 캐릭터로 말하기 연습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6382512" y="5303520"/>
            <a:ext cx="5248656" cy="786384"/>
          </a:xfrm>
          <a:prstGeom prst="roundRect">
            <a:avLst>
              <a:gd name="adj" fmla="val 10465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620256" y="5422392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534656" y="5404104"/>
            <a:ext cx="3886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학습의 주인공</a:t>
            </a:r>
            <a:endParaRPr lang="en-US" sz="1350" dirty="0"/>
          </a:p>
        </p:txBody>
      </p:sp>
      <p:sp>
        <p:nvSpPr>
          <p:cNvPr id="24" name="Text 21"/>
          <p:cNvSpPr/>
          <p:nvPr/>
        </p:nvSpPr>
        <p:spPr>
          <a:xfrm>
            <a:off x="7534656" y="5715000"/>
            <a:ext cx="3931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· 수업 · 리포트에 같은 아바타가 등장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02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«사람처럼 가르치는» 개인화 튜터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지금의 AI는 정해진 문제를 냅니다. 다음 단계의 AI는 «이 아이에게 지금 무엇을 시킬지»를 스스로 정합니다.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77824" y="2633472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77824" y="3072384"/>
            <a:ext cx="452628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문제를 순서대로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규칙으로 복습 주기 결정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55664" y="2377440"/>
            <a:ext cx="5166360" cy="3200400"/>
          </a:xfrm>
          <a:prstGeom prst="roundRect">
            <a:avLst>
              <a:gd name="adj" fmla="val 285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766560" y="2633472"/>
            <a:ext cx="4114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— 강화학습 기반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766560" y="3072384"/>
            <a:ext cx="4526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학생별 «지금 가장 효과가 큰 다음 한 문제»를 선택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직전의 난이도를 감지해 실시간으로 조절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 데이터로 개인 발음 약점 모델을 학습</a:t>
            </a:r>
            <a:endParaRPr lang="en-US" sz="1250" dirty="0"/>
          </a:p>
          <a:p>
            <a:pPr marL="342900" indent="-342900">
              <a:lnSpc>
                <a:spcPts val="2000"/>
              </a:lnSpc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피드백을 보상 신호로 삼아 스스로 개선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66928" y="5760720"/>
            <a:ext cx="11055096" cy="713232"/>
          </a:xfrm>
          <a:prstGeom prst="roundRect">
            <a:avLst>
              <a:gd name="adj" fmla="val 12821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32688" y="5760720"/>
            <a:ext cx="103327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8A5B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목표는 «AI가 사람 교사를 대신하는 것»이 아니라, 교사가 못 보는 시간과 데이터를 AI가 대신 보는 것입니다.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03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6766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묻기 전에 먼저 말을 거는 서비스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홈에는 이미 «A.i 상담사»가, 관리자에는 «AI 운영비서»가 있습니다.</a:t>
            </a:r>
            <a:endParaRPr lang="en-US" sz="135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3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다음은 이들이 «답하는 창구»에서 «먼저 알려주는 상대»가 되는 단계입니다.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66928" y="26517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27980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학생에게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1938528" y="27706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«어제 틀린 단어 3개, 지금 1분이면 끝나요»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938528" y="3108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흐름이 끊긴 시점을 감지해 먼저 제안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66928" y="35661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37124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학부모에게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938528" y="36850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«이번 주 발화량이 지난주보다 늘었어요»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1938528" y="40233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물어보기 전에 변화를 카카오톡으로 요약 전달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566928" y="44805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2960" y="46268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교사에게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1938528" y="45994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 학생은 과거시제에서 계속 막힙니다»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1938528" y="49377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브리핑으로 준비 시간을 줄임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66928" y="5394960"/>
            <a:ext cx="5806440" cy="841248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12700">
            <a:solidFill>
              <a:srgbClr val="E3E8F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22960" y="5541264"/>
            <a:ext cx="1051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운영자에게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1938528" y="5513832"/>
            <a:ext cx="4251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«이탈 위험 학생 5명, 사유는 시간대»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938528" y="58521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운영비서가 지표 이상을 먼저 보고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743700" y="1440180"/>
            <a:ext cx="4928616" cy="3141939"/>
          </a:xfrm>
          <a:prstGeom prst="roundRect">
            <a:avLst>
              <a:gd name="adj" fmla="val 2328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23" name="Image 0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84848" y="1481328"/>
            <a:ext cx="4846320" cy="3059643"/>
          </a:xfrm>
          <a:prstGeom prst="rect">
            <a:avLst/>
          </a:prstGeom>
        </p:spPr>
      </p:pic>
      <p:sp>
        <p:nvSpPr>
          <p:cNvPr id="24" name="Text 21"/>
          <p:cNvSpPr/>
          <p:nvPr/>
        </p:nvSpPr>
        <p:spPr>
          <a:xfrm>
            <a:off x="6784848" y="4590288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현재의 AI 친구 대화 — 이 대화 능력을 상담·안내로 확장합니다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6784848" y="5029200"/>
            <a:ext cx="4855464" cy="1243584"/>
          </a:xfrm>
          <a:prstGeom prst="roundRect">
            <a:avLst>
              <a:gd name="adj" fmla="val 7353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059168" y="5230368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채널을 가리지 않게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7059168" y="5522976"/>
            <a:ext cx="431596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AFBCD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홈페이지 · 앱 · 카카오톡 · 문자에서 같은 AI가 같은 맥락으로 응답합니다.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603504"/>
            <a:ext cx="1554480" cy="310896"/>
          </a:xfrm>
          <a:prstGeom prst="roundRect">
            <a:avLst>
              <a:gd name="adj" fmla="val 50000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603504"/>
            <a:ext cx="1554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04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1024128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목표를 게임 목표 안에 숨깁니다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73936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표지의 그 한 줄 — «재미가 의지를 이깁니다». «공부시키기»로는 매일 하게 만들 수 없습니다.</a:t>
            </a:r>
            <a:endParaRPr lang="en-US" sz="1500" dirty="0"/>
          </a:p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학습 게임은 A.I가 그날의 약점을 재료로 삼아 스스로 판을 짜는 방향으로 갑니다.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34924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0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1"/>
          <a:srcRect l="0" r="0" t="5006" b="-5006"/>
          <a:stretch/>
        </p:blipFill>
        <p:spPr>
          <a:xfrm>
            <a:off x="566928" y="2432304"/>
            <a:ext cx="2606040" cy="1481328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342132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1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2"/>
          <a:srcRect l="0" r="0" t="5006" b="-5006"/>
          <a:stretch/>
        </p:blipFill>
        <p:spPr>
          <a:xfrm>
            <a:off x="3374136" y="2432304"/>
            <a:ext cx="2606040" cy="1481328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6149340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3"/>
          <a:srcRect l="0" r="0" t="5006" b="-5006"/>
          <a:stretch/>
        </p:blipFill>
        <p:spPr>
          <a:xfrm>
            <a:off x="6181344" y="2432304"/>
            <a:ext cx="2606040" cy="1481328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8956548" y="2400300"/>
            <a:ext cx="2670048" cy="1545336"/>
          </a:xfrm>
          <a:prstGeom prst="roundRect">
            <a:avLst>
              <a:gd name="adj" fmla="val 47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3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4"/>
          <a:srcRect l="0" r="0" t="5006" b="-5006"/>
          <a:stretch/>
        </p:blipFill>
        <p:spPr>
          <a:xfrm>
            <a:off x="8988552" y="2432304"/>
            <a:ext cx="2606040" cy="1481328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566928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5" name="Text 9"/>
          <p:cNvSpPr/>
          <p:nvPr/>
        </p:nvSpPr>
        <p:spPr>
          <a:xfrm>
            <a:off x="804672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세계관을 잇습니다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804672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지금은 게임마다 독립적입니다. 하나의 세계와 하나의 아바타로 묶습니다.</a:t>
            </a:r>
            <a:endParaRPr lang="en-US" sz="1100" dirty="0"/>
          </a:p>
        </p:txBody>
      </p:sp>
      <p:sp>
        <p:nvSpPr>
          <p:cNvPr id="17" name="Shape 11"/>
          <p:cNvSpPr/>
          <p:nvPr/>
        </p:nvSpPr>
        <p:spPr>
          <a:xfrm>
            <a:off x="3374136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3611880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이깁니다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3611880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«소리 내어 말하기»가 승리 조건이 되는 설계로.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6181344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419088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350" dirty="0"/>
          </a:p>
        </p:txBody>
      </p:sp>
      <p:sp>
        <p:nvSpPr>
          <p:cNvPr id="22" name="Text 16"/>
          <p:cNvSpPr/>
          <p:nvPr/>
        </p:nvSpPr>
        <p:spPr>
          <a:xfrm>
            <a:off x="6419088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랭킹을 넘어 협동·대결 모드로. 혼자 하는 학습에는 한계가 있습니다.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8988552" y="4169664"/>
            <a:ext cx="2606040" cy="1883664"/>
          </a:xfrm>
          <a:prstGeom prst="roundRect">
            <a:avLst>
              <a:gd name="adj" fmla="val 4369"/>
            </a:avLst>
          </a:prstGeom>
          <a:solidFill>
            <a:srgbClr val="16223F"/>
          </a:solidFill>
          <a:ln w="12700">
            <a:solidFill>
              <a:srgbClr val="1E2C4E"/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9226296" y="438912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D77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9226296" y="4773168"/>
            <a:ext cx="216712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FAD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몰입·보상·난이도 곡선을 근거로 설계합니다. 사행성 요소는 넣지 않습니다.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C6B8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en-US" sz="10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2331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ROADMAP 05 · 핵심 제안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«바이브 코딩»을 위한 영어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시키는 시대의 영어는 시험 영어가 아닙니다. 원하는 것을 정확히 설명하는 능력이 곧 실력입니다.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9611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지금까지의 영어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사람과 대화하기 위한 언어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6236208" y="2340864"/>
            <a:ext cx="5394960" cy="1371600"/>
          </a:xfrm>
          <a:prstGeom prst="roundRect">
            <a:avLst>
              <a:gd name="adj" fmla="val 6667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65392" y="2560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앞으로의 영어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65392" y="2871216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AI에게 일을 시키기 위한 언어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566928" y="3931920"/>
            <a:ext cx="5486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망고아이가 준비하는 것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66928" y="4425696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66928" y="44256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78992" y="4407408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설명하는 영어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3310128" y="4389120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«무엇을 만들고 싶은지»를 순서와 조건으로 말하는 훈련. 이미 «문법 피자 마스터»가 같은 감각을 다룹니다.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566928" y="4937760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66928" y="49377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78992" y="4919472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프롬프트 작문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10128" y="4901184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첨삭을 확장해, 잘 통하는 요청문과 안 통하는 요청문을 비교하며 배웁니다.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66928" y="5449824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66928" y="544982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78992" y="5431536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판단하고 되묻기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310128" y="5413248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AI의 답이 틀렸을 때 영어로 반박하고 다시 요구하는 능력. 지금의 «판단력 훈련»이 그 출발점입니다.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66928" y="5961888"/>
            <a:ext cx="347472" cy="347472"/>
          </a:xfrm>
          <a:prstGeom prst="ellipse">
            <a:avLst/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66928" y="596188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078992" y="5943600"/>
            <a:ext cx="2194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만들며 배우기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3310128" y="5925312"/>
            <a:ext cx="8092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지시해 작은 결과물을 직접 만들어 보는 프로젝트형 수업.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66928"/>
            <a:ext cx="1188720" cy="310896"/>
          </a:xfrm>
          <a:prstGeom prst="roundRect">
            <a:avLst>
              <a:gd name="adj" fmla="val 50000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66928" y="56692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spc="100" kern="0" dirty="0">
                <a:solidFill>
                  <a:srgbClr val="F2B01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TIMELINE</a:t>
            </a:r>
            <a:endParaRPr lang="en-US" sz="1150" dirty="0"/>
          </a:p>
        </p:txBody>
      </p:sp>
      <p:sp>
        <p:nvSpPr>
          <p:cNvPr id="4" name="Text 2"/>
          <p:cNvSpPr/>
          <p:nvPr/>
        </p:nvSpPr>
        <p:spPr>
          <a:xfrm>
            <a:off x="566928" y="969264"/>
            <a:ext cx="1105509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0F172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700784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이미 서비스 중인 것과 앞으로 만들 것을 구분해 정리했습니다.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FF7E6"/>
          </a:solidFill>
          <a:ln w="12700">
            <a:solidFill>
              <a:srgbClr val="FFF7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679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04672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04672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 · 1:2 화상수업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AI 친구 대화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· 아바타 키우기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 실시간 알림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374136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11880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611880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611880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 반응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 게임 설계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상담사 선제 안내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181344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F3F6FC"/>
          </a:solidFill>
          <a:ln w="12700">
            <a:solidFill>
              <a:srgbClr val="F3F6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19088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46C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419088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419088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기반 문제 선택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 생성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44506B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학습 모드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988552" y="2377440"/>
            <a:ext cx="2651760" cy="3163824"/>
          </a:xfrm>
          <a:prstGeom prst="roundRect">
            <a:avLst>
              <a:gd name="adj" fmla="val 3448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226296" y="2596896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226296" y="29260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226296" y="3346704"/>
            <a:ext cx="2231136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= 학습 동반자 통합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 커리큘럼</a:t>
            </a:r>
            <a:endParaRPr lang="en-US" sz="1100" dirty="0"/>
          </a:p>
          <a:p>
            <a:pPr marL="342900" indent="-342900">
              <a:lnSpc>
                <a:spcPts val="1600"/>
              </a:lnSpc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CBD6E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«만들며 배우는» 수업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66928" y="5742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개발 계획이며 일정은 변동될 수 있습니다.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1132301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794A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0B12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1067"/>
            </a:avLst>
          </a:prstGeom>
          <a:solidFill>
            <a:srgbClr val="0B1226"/>
          </a:solidFill>
          <a:ln w="12700">
            <a:solidFill>
              <a:srgbClr val="0B1226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3" name="Image 0" descr="/tmp/claude-0/-home-user-mangoiweb/ca835eb4-1670-5fc1-a29a-2fc77598fea3/scratchpad/deck_img/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39496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5" name="Image 1" descr="/tmp/claude-0/-home-user-mangoiweb/ca835eb4-1670-5fc1-a29a-2fc77598fea3/scratchpad/deck_img/home.jpg">    </p:cNvPr>
          <p:cNvPicPr>
            <a:picLocks noChangeAspect="1"/>
          </p:cNvPicPr>
          <p:nvPr/>
        </p:nvPicPr>
        <p:blipFill>
          <a:blip r:embed="rId2"/>
          <a:srcRect l="0" r="0" t="1992" b="-1992"/>
          <a:stretch/>
        </p:blipFill>
        <p:spPr>
          <a:xfrm>
            <a:off x="566928" y="457200"/>
            <a:ext cx="2048256" cy="1243584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2788920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7" name="Image 2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3"/>
          <a:srcRect l="0" r="0" t="1498" b="-1498"/>
          <a:stretch/>
        </p:blipFill>
        <p:spPr>
          <a:xfrm>
            <a:off x="2816352" y="457200"/>
            <a:ext cx="2048256" cy="1243584"/>
          </a:xfrm>
          <a:prstGeom prst="rect">
            <a:avLst/>
          </a:prstGeom>
        </p:spPr>
      </p:pic>
      <p:sp>
        <p:nvSpPr>
          <p:cNvPr id="8" name="Shape 3"/>
          <p:cNvSpPr/>
          <p:nvPr/>
        </p:nvSpPr>
        <p:spPr>
          <a:xfrm>
            <a:off x="5038344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9" name="Image 3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4"/>
          <a:srcRect l="0" r="0" t="1498" b="-1498"/>
          <a:stretch/>
        </p:blipFill>
        <p:spPr>
          <a:xfrm>
            <a:off x="5065776" y="457200"/>
            <a:ext cx="2048256" cy="1243584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287768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1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1498" b="-1498"/>
          <a:stretch/>
        </p:blipFill>
        <p:spPr>
          <a:xfrm>
            <a:off x="7315200" y="457200"/>
            <a:ext cx="2048256" cy="1243584"/>
          </a:xfrm>
          <a:prstGeom prst="rect">
            <a:avLst/>
          </a:prstGeom>
        </p:spPr>
      </p:pic>
      <p:sp>
        <p:nvSpPr>
          <p:cNvPr id="12" name="Shape 5"/>
          <p:cNvSpPr/>
          <p:nvPr/>
        </p:nvSpPr>
        <p:spPr>
          <a:xfrm>
            <a:off x="9537192" y="429768"/>
            <a:ext cx="2103120" cy="1298448"/>
          </a:xfrm>
          <a:prstGeom prst="roundRect">
            <a:avLst>
              <a:gd name="adj" fmla="val 5634"/>
            </a:avLst>
          </a:prstGeom>
          <a:solidFill>
            <a:srgbClr val="1E2C4E"/>
          </a:solidFill>
          <a:ln w="12700">
            <a:solidFill>
              <a:srgbClr val="1E2C4E"/>
            </a:solidFill>
            <a:prstDash val="solid"/>
          </a:ln>
          <a:effectLst>
            <a:outerShdw sx="100000" sy="100000" kx="0" ky="0" algn="bl" rotWithShape="0" blurRad="177800" dist="50800" dir="5400000">
              <a:srgbClr val="000000">
                <a:alpha val="28000"/>
              </a:srgbClr>
            </a:outerShdw>
          </a:effectLst>
        </p:spPr>
      </p:sp>
      <p:pic>
        <p:nvPicPr>
          <p:cNvPr id="13" name="Image 5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6"/>
          <a:srcRect l="0" r="0" t="2596" b="-2596"/>
          <a:stretch/>
        </p:blipFill>
        <p:spPr>
          <a:xfrm>
            <a:off x="9564624" y="457200"/>
            <a:ext cx="2048256" cy="1243584"/>
          </a:xfrm>
          <a:prstGeom prst="rect">
            <a:avLst/>
          </a:prstGeom>
        </p:spPr>
      </p:pic>
      <p:pic>
        <p:nvPicPr>
          <p:cNvPr id="14" name="Image 6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596128" y="2011680"/>
            <a:ext cx="1298448" cy="1060704"/>
          </a:xfrm>
          <a:prstGeom prst="rect">
            <a:avLst/>
          </a:prstGeom>
        </p:spPr>
      </p:pic>
      <p:sp>
        <p:nvSpPr>
          <p:cNvPr id="15" name="Text 6"/>
          <p:cNvSpPr/>
          <p:nvPr/>
        </p:nvSpPr>
        <p:spPr>
          <a:xfrm>
            <a:off x="1097280" y="3218688"/>
            <a:ext cx="99943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400" dirty="0"/>
          </a:p>
        </p:txBody>
      </p:sp>
      <p:sp>
        <p:nvSpPr>
          <p:cNvPr id="16" name="Text 7"/>
          <p:cNvSpPr/>
          <p:nvPr/>
        </p:nvSpPr>
        <p:spPr>
          <a:xfrm>
            <a:off x="1097280" y="3950208"/>
            <a:ext cx="99943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A9B7D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사람이, 나머지 24시간은 A.I가 함께합니다.</a:t>
            </a:r>
            <a:endParaRPr lang="en-US" sz="1500" dirty="0"/>
          </a:p>
        </p:txBody>
      </p:sp>
      <p:sp>
        <p:nvSpPr>
          <p:cNvPr id="17" name="Shape 8"/>
          <p:cNvSpPr/>
          <p:nvPr/>
        </p:nvSpPr>
        <p:spPr>
          <a:xfrm>
            <a:off x="221284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F2B01A"/>
          </a:solidFill>
          <a:ln w="12700">
            <a:solidFill>
              <a:srgbClr val="F2B01A"/>
            </a:solidFill>
            <a:prstDash val="solid"/>
          </a:ln>
        </p:spPr>
      </p:sp>
      <p:sp>
        <p:nvSpPr>
          <p:cNvPr id="18" name="Text 9"/>
          <p:cNvSpPr/>
          <p:nvPr/>
        </p:nvSpPr>
        <p:spPr>
          <a:xfrm>
            <a:off x="221284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B122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19" name="Text 10"/>
          <p:cNvSpPr/>
          <p:nvPr/>
        </p:nvSpPr>
        <p:spPr>
          <a:xfrm>
            <a:off x="221284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4E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무료 체험 신청</a:t>
            </a:r>
            <a:endParaRPr lang="en-US" sz="1000" dirty="0"/>
          </a:p>
        </p:txBody>
      </p:sp>
      <p:sp>
        <p:nvSpPr>
          <p:cNvPr id="20" name="Shape 11"/>
          <p:cNvSpPr/>
          <p:nvPr/>
        </p:nvSpPr>
        <p:spPr>
          <a:xfrm>
            <a:off x="491032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21" name="Text 12"/>
          <p:cNvSpPr/>
          <p:nvPr/>
        </p:nvSpPr>
        <p:spPr>
          <a:xfrm>
            <a:off x="491032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22" name="Text 13"/>
          <p:cNvSpPr/>
          <p:nvPr/>
        </p:nvSpPr>
        <p:spPr>
          <a:xfrm>
            <a:off x="491032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레벨테스트</a:t>
            </a:r>
            <a:endParaRPr lang="en-US" sz="1000" dirty="0"/>
          </a:p>
        </p:txBody>
      </p:sp>
      <p:sp>
        <p:nvSpPr>
          <p:cNvPr id="23" name="Shape 14"/>
          <p:cNvSpPr/>
          <p:nvPr/>
        </p:nvSpPr>
        <p:spPr>
          <a:xfrm>
            <a:off x="7607808" y="4572000"/>
            <a:ext cx="2468880" cy="859536"/>
          </a:xfrm>
          <a:prstGeom prst="roundRect">
            <a:avLst>
              <a:gd name="adj" fmla="val 12766"/>
            </a:avLst>
          </a:prstGeom>
          <a:solidFill>
            <a:srgbClr val="16223F"/>
          </a:solidFill>
          <a:ln w="12700">
            <a:solidFill>
              <a:srgbClr val="31456E"/>
            </a:solidFill>
            <a:prstDash val="solid"/>
          </a:ln>
        </p:spPr>
      </p:sp>
      <p:sp>
        <p:nvSpPr>
          <p:cNvPr id="24" name="Text 15"/>
          <p:cNvSpPr/>
          <p:nvPr/>
        </p:nvSpPr>
        <p:spPr>
          <a:xfrm>
            <a:off x="7607808" y="4700016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25" name="Text 16"/>
          <p:cNvSpPr/>
          <p:nvPr/>
        </p:nvSpPr>
        <p:spPr>
          <a:xfrm>
            <a:off x="7607808" y="5010912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FA3C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홈 › 카카오 상담</a:t>
            </a:r>
            <a:endParaRPr lang="en-US" sz="1000" dirty="0"/>
          </a:p>
        </p:txBody>
      </p:sp>
      <p:sp>
        <p:nvSpPr>
          <p:cNvPr id="26" name="Text 17"/>
          <p:cNvSpPr/>
          <p:nvPr/>
        </p:nvSpPr>
        <p:spPr>
          <a:xfrm>
            <a:off x="1097280" y="5705856"/>
            <a:ext cx="999439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2B0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test.mangoi.co.kr</a:t>
            </a:r>
            <a:endParaRPr lang="en-US" sz="1400" dirty="0"/>
          </a:p>
        </p:txBody>
      </p:sp>
      <p:sp>
        <p:nvSpPr>
          <p:cNvPr id="27" name="Text 18"/>
          <p:cNvSpPr/>
          <p:nvPr/>
        </p:nvSpPr>
        <p:spPr>
          <a:xfrm>
            <a:off x="1097280" y="6053328"/>
            <a:ext cx="99943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A89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Mango Ai · 20년 전통, 국내 최초의 화상영어 기업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41</Slides>
  <Notes>41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41</vt:i4>
      </vt:variant>
    </vt:vector>
  </HeadingPairs>
  <TitlesOfParts>
    <vt:vector size="4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2026-08-17T04:15:46Z</dcterms:created>
  <dcterms:modified xsi:type="dcterms:W3CDTF">2026-08-17T04:15:46Z</dcterms:modified>
</cp:coreProperties>
</file>