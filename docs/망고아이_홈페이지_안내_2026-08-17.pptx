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실제 홈 화면 캡처를 우측에 배치했습니다.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서비스 내 집계 기준입니다. 발표 전 최신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제기 슬라이드. 43,000분은 한 달(30일) 기준 근사치입니다.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비교표의 «일반 화상영어»는 업계 통상 구성을 요약한 것으로 특정 업체를 지칭하지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바이브 코딩 영어는 제안 단계의 방향성입니다. 확정 커리큘럼이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계획이며 변동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jpg"/><Relationship Id="rId4" Type="http://schemas.openxmlformats.org/officeDocument/2006/relationships/image" Target="../media/image-32-4.jpg"/><Relationship Id="rId5" Type="http://schemas.openxmlformats.org/officeDocument/2006/relationships/image" Target="../media/image-32-5.jp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31636" y="1805940"/>
            <a:ext cx="5449824" cy="3470995"/>
          </a:xfrm>
          <a:prstGeom prst="roundRect">
            <a:avLst>
              <a:gd name="adj" fmla="val 21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1847088"/>
            <a:ext cx="5367528" cy="33886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72784" y="53583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홈 화면 · test.mangoi.co.kr</a:t>
            </a:r>
            <a:endParaRPr lang="en-US" sz="1050" dirty="0"/>
          </a:p>
        </p:txBody>
      </p:sp>
      <p:pic>
        <p:nvPicPr>
          <p:cNvPr id="5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1234440" cy="1005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66928" y="1847088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300" kern="0" dirty="0">
                <a:solidFill>
                  <a:srgbClr val="FFD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800" dirty="0"/>
          </a:p>
        </p:txBody>
      </p:sp>
      <p:sp>
        <p:nvSpPr>
          <p:cNvPr id="7" name="Text 3"/>
          <p:cNvSpPr/>
          <p:nvPr/>
        </p:nvSpPr>
        <p:spPr>
          <a:xfrm>
            <a:off x="566928" y="281635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영어, 망고아이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566928" y="3401568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 · 국내 최초의 화상영어 기업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화상수업 + A.I 학습관리 올인원 플랫폼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4443984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44439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· 서비스 안내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66928" y="49560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58704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9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  ·  사용방법  ·  향후 발전계획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5836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문서에서 다루는 것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2231136"/>
            <a:ext cx="11055096" cy="969264"/>
          </a:xfrm>
          <a:prstGeom prst="roundRect">
            <a:avLst>
              <a:gd name="adj" fmla="val 9434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2231136"/>
            <a:ext cx="731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700784" y="23957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무엇인가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5093208" y="238658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 · 국내 최초 화상영어 · 필리핀 직영센터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수업(사람) + 학습관리(A.I) 결합 구조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328416"/>
            <a:ext cx="11055096" cy="969264"/>
          </a:xfrm>
          <a:prstGeom prst="roundRect">
            <a:avLst>
              <a:gd name="adj" fmla="val 9434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328416"/>
            <a:ext cx="731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700784" y="34930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5093208" y="348386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13가지 특장점 · 24시간 AI 학습 파트너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화상영어와 무엇이 다른가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11055096" cy="969264"/>
          </a:xfrm>
          <a:prstGeom prst="roundRect">
            <a:avLst>
              <a:gd name="adj" fmla="val 9434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4425696"/>
            <a:ext cx="731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1700784" y="45902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5093208" y="458114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→ 레벨테스트 → 수업신청 → 수업 → 평가·복습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화면으로 보는 5단계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522976"/>
            <a:ext cx="11055096" cy="969264"/>
          </a:xfrm>
          <a:prstGeom prst="roundRect">
            <a:avLst>
              <a:gd name="adj" fmla="val 9434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" y="5522976"/>
            <a:ext cx="731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700784" y="56875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5093208" y="567842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· 강화학습 개인화 · 에듀테인먼트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시대의 영어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295144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망고아이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파는 화상영어가 아니라, 학습 전체를 관리하는 플랫폼입니다.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151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841248" y="33101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최초로 화상영어를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시작한 운영 노하우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61688" y="23957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6008" y="26151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29,000명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4636008" y="33101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이 플랫폼을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있는 학생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6448" y="23957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0768" y="26151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8430768" y="33101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외주가 아닌 필리핀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현지 교육센터 직접 운영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4439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/ 1:2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841248" y="51389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소수정예 수업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61688" y="42245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6008" y="44439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4636008" y="51389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복습을 놀이로 바꾸는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6448" y="42245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30768" y="44439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69개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8430768" y="51389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하나로 연결된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화면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게임 수·화면 수는 서비스 내 집계 기준 (2026년 8월)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화상수업만으로는 영어가 늘지 않습니다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4864608" cy="3200400"/>
          </a:xfrm>
          <a:prstGeom prst="roundRect">
            <a:avLst>
              <a:gd name="adj" fmla="val 285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2860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25분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706624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200분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50976" y="3602736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43,000분 중 영어를 쓰는 시간은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0.5%도 되지 않습니다.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시간을 아무도 관리하지 않는 것이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화상영어의 가장 큰 빈틈입니다.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88736" y="1975104"/>
            <a:ext cx="5733288" cy="1298448"/>
          </a:xfrm>
          <a:prstGeom prst="roundRect">
            <a:avLst>
              <a:gd name="adj" fmla="val 7042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1344" y="2240280"/>
            <a:ext cx="384048" cy="384048"/>
          </a:xfrm>
          <a:prstGeom prst="ellipse">
            <a:avLst/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81344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11696" y="220370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끝나면 학습도 끝난다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711696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예습·복습을 아이 혼자 하라고 맡기면 실제로 하는 아이는 소수입니다. 배운 문장은 다음 수업 전에 이미 사라집니다.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88736" y="3383280"/>
            <a:ext cx="5733288" cy="1298448"/>
          </a:xfrm>
          <a:prstGeom prst="roundRect">
            <a:avLst>
              <a:gd name="adj" fmla="val 7042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3648456"/>
            <a:ext cx="384048" cy="384048"/>
          </a:xfrm>
          <a:prstGeom prst="ellipse">
            <a:avLst/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81344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11696" y="36118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연습량이 절대적으로 부족하다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711696" y="398678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25분 수업에서 학생이 실제로 말하는 시간은 그중 일부입니다. 발화량이 부족하면 입은 트이지 않습니다.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88736" y="4791456"/>
            <a:ext cx="5733288" cy="1298448"/>
          </a:xfrm>
          <a:prstGeom prst="roundRect">
            <a:avLst>
              <a:gd name="adj" fmla="val 7042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81344" y="5056632"/>
            <a:ext cx="384048" cy="384048"/>
          </a:xfrm>
          <a:prstGeom prst="ellipse">
            <a:avLst/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81344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11696" y="502005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학부모는 아이 상태를 알 수 없다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711696" y="539496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출결과 진도는 알아도 «오늘 무엇을 얼마나 말했는지»는 보이지 않습니다. 그래서 불안하고, 그래서 그만둡니다.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5836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이끌고,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시간은 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채웁니다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76148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수업(사람)과 학습관리(A.I)를 한 시스템 안에서 맞물려 돌립니다.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제공하는 대부분의 화상외국어 업체들과 다른 지점입니다.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712464"/>
            <a:ext cx="3529584" cy="2359152"/>
          </a:xfrm>
          <a:prstGeom prst="roundRect">
            <a:avLst>
              <a:gd name="adj" fmla="val 3876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396849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하는 일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431596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교사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59536" y="48646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소수정예 수업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교정과 동기 부여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수업일지 · 평가 작성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61688" y="3712464"/>
            <a:ext cx="3529584" cy="2359152"/>
          </a:xfrm>
          <a:prstGeom prst="roundRect">
            <a:avLst>
              <a:gd name="adj" fmla="val 3876"/>
            </a:avLst>
          </a:prstGeom>
          <a:solidFill>
            <a:srgbClr val="22345C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396849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하는 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54296" y="431596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학습관리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54296" y="48646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 웜업 · 발음 코칭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평가서 · 맞춤 복습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· 게임형 반복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3712464"/>
            <a:ext cx="3529584" cy="2359152"/>
          </a:xfrm>
          <a:prstGeom prst="roundRect">
            <a:avLst>
              <a:gd name="adj" fmla="val 3876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49056" y="396849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잇는 것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49056" y="431596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소통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49056" y="48646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 + AI 학습기록 연동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리포트 자동 생성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카카오톡 실시간 전달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14516" y="1805940"/>
            <a:ext cx="5257800" cy="3349764"/>
          </a:xfrm>
          <a:prstGeom prst="roundRect">
            <a:avLst>
              <a:gd name="adj" fmla="val 218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4" y="1847088"/>
            <a:ext cx="5175504" cy="32674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55664" y="52974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13가지 특장점 카드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66928" y="1481328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1F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0" dirty="0"/>
          </a:p>
        </p:txBody>
      </p:sp>
      <p:sp>
        <p:nvSpPr>
          <p:cNvPr id="6" name="Shape 3"/>
          <p:cNvSpPr/>
          <p:nvPr/>
        </p:nvSpPr>
        <p:spPr>
          <a:xfrm>
            <a:off x="566928" y="2889504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288950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336499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315968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망고아이가 스스로 말하는 13가지 특장점과,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실제 화면으로 확인되는 핵심 8가지를 정리했습니다.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특장점 전체 지도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«망고아이란?» 안에 담긴 13가지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첫 버튼에서 바로 열리는 소개 카드입니다.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8가지를 이 문서에서 화면과 함께 자세히 봅니다.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6974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6151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A.I가 함께 학생 실력 향상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306324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980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선생님과 1:1 / 1:2 수업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42900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커뮤니케이션 능력의 향상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37124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저렴한 비용으로 최고의 학습 효과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40782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최고의 강사진과 체계적인 관리 시스템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5262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4443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시간과 장소에 구애받지 않는 시스템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89204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8097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우수한 교재로 영어 말하기 동기 부여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85616" y="26974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69080" y="26151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편리하고 다양한 기능의 앱과 홈페이지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785616" y="306324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69080" y="2980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예복습 — 수업 전후를 A.I가 챙김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785616" y="342900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69080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A.I를 활용한 평가 · 복습 · 소통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785616" y="379476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69080" y="37124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필리핀 현지 교육센터 운영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785616" y="416052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69080" y="40782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전통, 국내 최초의 화상영어 기업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85616" y="45262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69080" y="4443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정보를 카카오톡으로 실시간 제공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926580" y="1970532"/>
            <a:ext cx="4745736" cy="3026481"/>
          </a:xfrm>
          <a:prstGeom prst="roundRect">
            <a:avLst>
              <a:gd name="adj" fmla="val 2417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3" name="Image 0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2011680"/>
            <a:ext cx="4663440" cy="2944185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6967728" y="5074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카드를 누르면 항목별 상세가 열립니다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A.I, 두 개의 엔진으로 굴러갑니다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 이끌고, 예습·복습·평가·발음 교정은 A.I가 24시간 채웁니다. 둘이 같은 데이터를 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6384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웜업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말해 봅니다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6332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825496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44952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교사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44952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실시간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교정과 발화 유도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14900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084064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0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03520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03520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분석해 자동 작성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173468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342632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62088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62088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 복습 10문항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562088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내용으로 듣기·말하기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·쓰기 퀴즈 즉시 진행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32036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9601200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20656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820656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 반영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820656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것이 다시 나오고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교사에게도 전달됩니다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992624"/>
            <a:ext cx="11055096" cy="1060704"/>
          </a:xfrm>
          <a:prstGeom prst="roundRect">
            <a:avLst>
              <a:gd name="adj" fmla="val 8621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2688" y="52303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578608" y="519379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제공하는 화상영어와 달리, 망고아이는 수업 밖의 시간까지 같은 시스템 안에서 관리합니다.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교사와</a:t>
            </a:r>
            <a:endParaRPr lang="en-US" sz="3000" dirty="0"/>
          </a:p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단계별 커리큘럼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157984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매번 바뀌는 랜덤 매칭이 아니라, 같은 선생님이 계속 봅니다.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아이의 성향과 약점을 정확히 압니다.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118104"/>
            <a:ext cx="5943600" cy="566928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27832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27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14553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교사제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291840" y="31455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랜덤 매칭이 아닌 전담 선생님이 지속 관리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849624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849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25296" y="376732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또는 1:2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291840" y="37673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형제·친구와 함께하면 비용은 낮추고 효과는 그대로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361688"/>
            <a:ext cx="5943600" cy="566928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471416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471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25296" y="4389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정규 교사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291840" y="4389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외주가 아닌 필리핀 직영 센터의 검증된 정규 교사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5093208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0932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25296" y="50109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기반 8단계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291840" y="501091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Novice부터 Proficient까지 국제 기준에 맞춘 설계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605272"/>
            <a:ext cx="5943600" cy="566928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715000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715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25296" y="56327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연령·관심사 맞춤 교재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291840" y="563270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교재 뷰어로 예습·복습까지 한 곳에서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018020" y="2116836"/>
            <a:ext cx="4654296" cy="2968752"/>
          </a:xfrm>
          <a:prstGeom prst="roundRect">
            <a:avLst>
              <a:gd name="adj" fmla="val 2464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0" name="Image 0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2157984"/>
            <a:ext cx="4572000" cy="288645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7059168" y="51389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교육과정 안내 — Level 1~8, Novice ~ Proficient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5780" y="1933956"/>
            <a:ext cx="5751576" cy="3627486"/>
          </a:xfrm>
          <a:prstGeom prst="roundRect">
            <a:avLst>
              <a:gd name="adj" fmla="val 2017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75104"/>
            <a:ext cx="5669280" cy="35451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561441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— 레벨 선택 → 원어민 발음 듣기 → 따라 말하기 → 즉시 채점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656832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56832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03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656832" y="969264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</a:t>
            </a:r>
            <a:endParaRPr lang="en-US" sz="2900" dirty="0"/>
          </a:p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말하기를 멈추지 않습니다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656832" y="21396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음성코치는 원어민 발음을 들려주고, 따라 말한 문장이 또렷했는지 즉시 채점합니다.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656832" y="3054096"/>
            <a:ext cx="4974336" cy="960120"/>
          </a:xfrm>
          <a:prstGeom prst="roundRect">
            <a:avLst>
              <a:gd name="adj" fmla="val 952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12864" y="319125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골라서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12864" y="3483864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Phonics(Lv 0) · BTS(Lv 1~8) · SIU(고급)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중국어 마스터(Lv 1~20)까지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656832" y="4114800"/>
            <a:ext cx="4974336" cy="960120"/>
          </a:xfrm>
          <a:prstGeom prst="roundRect">
            <a:avLst>
              <a:gd name="adj" fmla="val 952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12864" y="4251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따라 말하고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12864" y="4544568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 듣기 → 마이크 버튼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또박또박 발화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656832" y="5175504"/>
            <a:ext cx="4974336" cy="960120"/>
          </a:xfrm>
          <a:prstGeom prst="roundRect">
            <a:avLst>
              <a:gd name="adj" fmla="val 952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12864" y="53126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점수로 확인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912864" y="5605272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점수와 발화량이 데이터로 쌓여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추이가 보입니다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«말 걸 상대»가</a:t>
            </a:r>
            <a:endParaRPr lang="en-US" sz="34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있습니다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2128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영어를 못 하는 이유는 대부분 «틀릴까 봐»입니다.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친구는 아무리 틀려도 웃지 않고, 한 마디마다 포인트를 줍니다.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" y="3236976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31272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성격이 다른 친구를 고릅니다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32688" y="3419856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Emma, 장난스러운 Jake, 또는 둘 다 번갈아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5216" y="3986784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87705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골라 모험처럼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32688" y="4169664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동물 · 우주 · 공룡 — 아이가 좋아하는 세계에서 대화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" y="4736592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62686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말할수록 쌓입니다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레벨(새싹 망고 → …) · 연속 학습 일수 · 포인트 · 오늘의 단어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5216" y="5486400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537667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맞춰 말해 줍니다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32688" y="5669280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 등 학습자 수준에 맞춘 문장 길이와 어휘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16852" y="1842516"/>
            <a:ext cx="4882896" cy="3113075"/>
          </a:xfrm>
          <a:prstGeom prst="roundRect">
            <a:avLst>
              <a:gd name="adj" fmla="val 2350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883664"/>
            <a:ext cx="4800600" cy="303077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4992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음성 입력과 힌트 버튼도 함께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예습·복습을 아이 혼자 하라고 두지 않습니다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넣으면 A.I가 뜻과 예문을 만들고, 틀린 문제는 A.I가 다시 냅니다. 푼 기록은 매달 성적표의 «이해·정확도»로 쌓입니다.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166360" cy="32306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7424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— 영어 단어만 넣으면 뜻·예문 자동 생성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14516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395728"/>
            <a:ext cx="5166360" cy="323069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7424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— 쓴 문장을 즉시 교정하고 이유를 설명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복습을 «해야 하는 것»에서 «하고 싶은 것»으로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7393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단어·문장이 그대로 게임의 재료가 됩니다. 학습 게임 21종, 영어와 중국어 모두 지원합니다.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888736" cy="3713256"/>
          </a:xfrm>
          <a:prstGeom prst="roundRect">
            <a:avLst>
              <a:gd name="adj" fmla="val 197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806440" cy="3630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6126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 허브 — 오늘의 퀘스트 · 연속 학습 · 랭킹 · 포인트 상점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661404" y="2363724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585" b="-5585"/>
          <a:stretch/>
        </p:blipFill>
        <p:spPr>
          <a:xfrm>
            <a:off x="6693408" y="2395728"/>
            <a:ext cx="2487168" cy="1399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93408" y="3858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9404604" y="2363724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2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3"/>
          <a:srcRect l="0" r="0" t="5585" b="-5585"/>
          <a:stretch/>
        </p:blipFill>
        <p:spPr>
          <a:xfrm>
            <a:off x="9436608" y="2395728"/>
            <a:ext cx="2487168" cy="1399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436608" y="3858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661404" y="4174236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6" name="Image 3" descr="/tmp/claude-0/-home-user-mangoiweb/ca835eb4-1670-5fc1-a29a-2fc77598fea3/scratchpad/deck_img/langace.jpg">    </p:cNvPr>
          <p:cNvPicPr>
            <a:picLocks noChangeAspect="1"/>
          </p:cNvPicPr>
          <p:nvPr/>
        </p:nvPicPr>
        <p:blipFill>
          <a:blip r:embed="rId4"/>
          <a:srcRect l="0" r="0" t="5585" b="-5585"/>
          <a:stretch/>
        </p:blipFill>
        <p:spPr>
          <a:xfrm>
            <a:off x="6693408" y="4206240"/>
            <a:ext cx="2487168" cy="1399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93408" y="56692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9404604" y="4174236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585" b="-5585"/>
          <a:stretch/>
        </p:blipFill>
        <p:spPr>
          <a:xfrm>
            <a:off x="9436608" y="4206240"/>
            <a:ext cx="2487168" cy="1399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436608" y="56692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6693408" y="60899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게임마다 파일이 독립되어 있어 새 게임을 계속 추가할 수 있는 구조입니다.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07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학부모가 «깜깜이»가 되지 않게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출결·평가·진도·공지를 카카오톡으로 실시간 전달합니다.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따로 열지 않아도 아이의 학습 상황이 손 안에 도착합니다.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724912"/>
            <a:ext cx="5806440" cy="969264"/>
          </a:xfrm>
          <a:prstGeom prst="roundRect">
            <a:avLst>
              <a:gd name="adj" fmla="val 943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31089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630168" y="2944368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 분석해 수업 직후 자동 생성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785616"/>
            <a:ext cx="5806440" cy="969264"/>
          </a:xfrm>
          <a:prstGeom prst="roundRect">
            <a:avLst>
              <a:gd name="adj" fmla="val 943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9136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416966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630168" y="400507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 학습량과 약점을 정리해 발송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846320"/>
            <a:ext cx="5806440" cy="969264"/>
          </a:xfrm>
          <a:prstGeom prst="roundRect">
            <a:avLst>
              <a:gd name="adj" fmla="val 943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9743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5230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학습 리포트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630168" y="506577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흐름을 요약, 카카오톡으로도 발송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43700" y="1732788"/>
            <a:ext cx="4928616" cy="2167128"/>
          </a:xfrm>
          <a:prstGeom prst="roundRect">
            <a:avLst>
              <a:gd name="adj" fmla="val 3376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4848" y="1773936"/>
            <a:ext cx="4846320" cy="20848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784848" y="40416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 — 카카오톡 · 테스트 발송 화면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여러 개 오갈 필요가 없습니다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입장 · 예복습 · 평가 확인 · 결제 · 상담까지 하나의 홈페이지와 앱에서 끝납니다. 원하는 기능은 검색창에 말하면 바로 이동합니다.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91156"/>
            <a:ext cx="5477256" cy="3488314"/>
          </a:xfrm>
          <a:prstGeom prst="roundRect">
            <a:avLst>
              <a:gd name="adj" fmla="val 2097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432304"/>
            <a:ext cx="5394960" cy="34060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888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— AI 검색창에 말하거나 입력하면 해당 기능으로 바로 이동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77940" y="2391156"/>
            <a:ext cx="5294376" cy="3372856"/>
          </a:xfrm>
          <a:prstGeom prst="roundRect">
            <a:avLst>
              <a:gd name="adj" fmla="val 2169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llmen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2432304"/>
            <a:ext cx="5212080" cy="32905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19088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메뉴 — 학습·수업·평가·결제·상담이 한 화면에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화상영어와 망고아이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«수업을 파는가»와 «학습을 관리하는가»의 차이입니다.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882128" y="2212848"/>
            <a:ext cx="3739896" cy="3785616"/>
          </a:xfrm>
          <a:prstGeom prst="roundRect">
            <a:avLst>
              <a:gd name="adj" fmla="val 2445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34256" y="2286000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01584" y="2286000"/>
            <a:ext cx="3374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7315200" cy="51206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83464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334256" y="2834640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화상수업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01584" y="283464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1:1 · 1:2 (직영 센터)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86384" y="33649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밖 시간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34256" y="3364992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자율에 맡김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01584" y="3364992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음성코치 · AI 친구 대화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858768"/>
            <a:ext cx="7315200" cy="51206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89534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34256" y="3895344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 또는 없음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01584" y="3895344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생성 10문항 + 학습 게임 21종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86384" y="442569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334256" y="4425696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코멘트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01584" y="4425696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 + 월간 A.I 리포트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919472"/>
            <a:ext cx="7315200" cy="51206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495604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소통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334256" y="4956048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1회 상담 정도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101584" y="4956048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 · 주간/월간 리포트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" y="54864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334256" y="5486400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도구 위주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01584" y="54864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입장·학습·평가·결제·상담 올인원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61630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일반 화상영어 열은 업계에서 흔히 보이는 구성을 요약한 것으로, 특정 업체를 지칭하지 않습니다.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14516" y="1805940"/>
            <a:ext cx="5257800" cy="3318711"/>
          </a:xfrm>
          <a:prstGeom prst="roundRect">
            <a:avLst>
              <a:gd name="adj" fmla="val 220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4" y="1847088"/>
            <a:ext cx="5175504" cy="323641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55664" y="5266383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· 교사 · 결제 3단계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66928" y="1481328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1F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0" dirty="0"/>
          </a:p>
        </p:txBody>
      </p:sp>
      <p:sp>
        <p:nvSpPr>
          <p:cNvPr id="6" name="Shape 3"/>
          <p:cNvSpPr/>
          <p:nvPr/>
        </p:nvSpPr>
        <p:spPr>
          <a:xfrm>
            <a:off x="566928" y="2889504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288950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336499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315968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오신 분이 수업을 듣고 복습까지 마치는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과정을 실제 화면으로 따라갑니다.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흐름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가운데에도 «무료 상담 › 레벨 테스트 › 수업 신청 › 평가표·복습» 순서가 그대로 표시됩니다.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 · 가입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채널 또는 홈의 «무료 체험 신청»으로 시작합니다.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25496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63240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63240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63240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063240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진단으로 현재 실력과 시작 레벨을 확인합니다.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84064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21808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21808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321808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321808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요일·시간·교사를 직접 고르고 그 자리에서 결제합니다.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42632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0376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0376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580376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580376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진단으로 마이크·카메라를 점검하고, 웜업 후 입장합니다.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601200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838944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38944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838944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 평가 · 복습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9838944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평가서 → 복습 퀴즈 → 게임 → 리포트로 이어집니다.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566928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수강 중이라면 홈의 «수업 입장 →» 한 번으로 바로 교실로 들어갑니다.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·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상담하고, 내 레벨을 확인합니다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홈의 «무료 체험 신청»으로 상담을 시작하고, 레벨 테스트로 시작 지점을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15184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무료 상담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무료 체험 신청 또는 💬 카카오 상담. 채널 홈에서 채팅·챗봇·전화가 모두 열립니다.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493008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6210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레벨 테스트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89534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🎯 레벨테스트. AI 자동 진단은 학생 ID만 넣으면 바로 시작합니다.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4988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결과 확인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7731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기준 Level 1~8 중 시작 레벨과 강·약점이 정리되어 나옵니다.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5248656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766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커리큘럼 배정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56509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교재와 주제가 자동으로 연결됩니다.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07124" y="1933956"/>
            <a:ext cx="4974336" cy="1911096"/>
          </a:xfrm>
          <a:prstGeom prst="roundRect">
            <a:avLst>
              <a:gd name="adj" fmla="val 382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48272" y="1975104"/>
            <a:ext cx="4892040" cy="18288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748272" y="39867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 — 학생 ID 입력 후 즉시 시작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5780" y="1915668"/>
            <a:ext cx="5522976" cy="3484535"/>
          </a:xfrm>
          <a:prstGeom prst="roundRect">
            <a:avLst>
              <a:gd name="adj" fmla="val 2099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56816"/>
            <a:ext cx="5440680" cy="340223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5486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① 시간 선택 › ② 교사 선택 › ③ 결제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455664" y="5669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55664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55664" y="969264"/>
            <a:ext cx="5175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요일·시간·교사를</a:t>
            </a:r>
            <a:endParaRPr lang="en-US" sz="3000" dirty="0"/>
          </a:p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고릅니다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55664" y="21396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«마스터 클래스 디자인» 화면에서 시간 → 교사 → 결제까지 3단계로 끝납니다.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55664" y="3054096"/>
            <a:ext cx="5175504" cy="548640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05409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형태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83880" y="305409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마스터 또는 그룹 토론 중 선택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675120" y="3657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방식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83880" y="3657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날짜로 고르거나, 교사로 고르거나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55664" y="4261104"/>
            <a:ext cx="5175504" cy="548640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0" y="42611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횟수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83880" y="42611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 ~ 주 5회 중 선택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675120" y="486460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선택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183880" y="4864608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20분 자동 블록 + 연속 확장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가능 / 예약 / 휴무를 구분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55664" y="5632704"/>
            <a:ext cx="5175504" cy="548640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75120" y="56327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183880" y="56327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장바구니에 일정을 모두 담은 뒤 결제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 — 점검하고, 몸을 풀고, 입장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시작 전 마이크·카메라·네트워크를 스스로 점검하고, AI 웜업으로 오늘 배울 문장을 미리 말해 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166360" cy="32306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수업 진단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마이크·카메라·STUN/TURN·네트워크를 항목별로 점검해 점수로 표시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14516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395728"/>
            <a:ext cx="5166360" cy="32306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55664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수업 전 AI 웜업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55664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친구와 짧게 대화하며 입을 풀고 바로 화상수업 로비로 입장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끝나고부터가 진짜입니다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평가서 → 복습 퀴즈 → 게임 → 리포트. 아이가 «해야지» 하고 마음먹지 않아도 순서대로 이어집니다.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15184"/>
            <a:ext cx="5943600" cy="60350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734056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34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43584" y="2615184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평가서 자동 생성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9584" y="2615184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발음·표현·참여도 분석 결과가 수업 직후 도착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410712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43584" y="329184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 10문항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29584" y="3291840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내용으로 듣기·말하기·쓰기 문제를 즉시 출제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968496"/>
            <a:ext cx="5943600" cy="60350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087368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243584" y="396849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게임으로 반복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529584" y="3968496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단어·문장이 게임 재료가 되어 다시 등장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764024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64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243584" y="464515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유지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529584" y="4645152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스트릭(연속 일수)과 포인트로 습관을 잡습니다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321808"/>
            <a:ext cx="5943600" cy="60350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440680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243584" y="5321808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529584" y="5321808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요약이 카카오톡으로 발송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43700" y="1330452"/>
            <a:ext cx="4928616" cy="3112861"/>
          </a:xfrm>
          <a:prstGeom prst="roundRect">
            <a:avLst>
              <a:gd name="adj" fmla="val 2350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0" name="Image 0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371600"/>
            <a:ext cx="4846320" cy="3030565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784848" y="4498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마이크로러닝, 1분 안에 끝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743700" y="4860036"/>
            <a:ext cx="2414016" cy="1380744"/>
          </a:xfrm>
          <a:prstGeom prst="roundRect">
            <a:avLst>
              <a:gd name="adj" fmla="val 529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3" name="Image 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2"/>
          <a:srcRect l="0" r="0" t="6148" b="-6148"/>
          <a:stretch/>
        </p:blipFill>
        <p:spPr>
          <a:xfrm>
            <a:off x="6784848" y="4901184"/>
            <a:ext cx="2331720" cy="1298448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>
            <a:off x="9258300" y="4860036"/>
            <a:ext cx="2414016" cy="1380744"/>
          </a:xfrm>
          <a:prstGeom prst="roundRect">
            <a:avLst>
              <a:gd name="adj" fmla="val 529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5" name="Image 2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3"/>
          <a:srcRect l="0" r="0" t="6148" b="-6148"/>
          <a:stretch/>
        </p:blipFill>
        <p:spPr>
          <a:xfrm>
            <a:off x="9299448" y="4901184"/>
            <a:ext cx="2331720" cy="1298448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784848" y="6291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· 게임형 복습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언제든지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일정이 바뀌어도 수업은 사라지지 않습니다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갑자기 일이 생기면 «연기»하거나 «변경»하면 됩니다. 궁금한 것은 FAQ와 카카오 상담에서 바로 확인합니다.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166360" cy="32306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«수업 연기하기»와 «수업 변경하기»를 한 화면에서 선택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14516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395728"/>
            <a:ext cx="5166360" cy="32306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55664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 · 카카오 상담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55664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카테고리별 FAQ + 카카오톡 채널 홈에서 채팅·챗봇·전화 연결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· 강사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운영에 필요한 모든 기능이 한 화면에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81051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학생·강사·수업·정산·시스템이 하나의 콘솔에 모여 있고,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 운영비서»에게 말로 물어볼 수도 있습니다.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761488"/>
            <a:ext cx="5989320" cy="585216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297180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" y="276148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852928" y="2761488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수업 현황 · 오늘의 매출 · 학생수 · 신규 등록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86384" y="3630168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341985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52928" y="3419856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관리, 강사 명부·매칭·성장 리포트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078224"/>
            <a:ext cx="5989320" cy="585216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288536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407822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· 콘텐츠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52928" y="4078224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스케줄, 평가서, 교재, 공지·팝업 스튜디오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6384" y="4946904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4736592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정산 · 매출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852928" y="4736592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급여·정산·구독·리텐션 지표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394960"/>
            <a:ext cx="5989320" cy="585216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" y="5605272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3856" y="539496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52928" y="5394960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매트릭스(역할별 카드 on/off), 진단, 자료실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3700" y="1440180"/>
            <a:ext cx="4928616" cy="3177479"/>
          </a:xfrm>
          <a:prstGeom prst="roundRect">
            <a:avLst>
              <a:gd name="adj" fmla="val 2302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5" name="Image 0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481328"/>
            <a:ext cx="4846320" cy="309518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784848" y="464515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— 통합 검색으로 학생·교사·가맹점·메뉴를 한 번에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14516" y="1805940"/>
            <a:ext cx="5257800" cy="3318711"/>
          </a:xfrm>
          <a:prstGeom prst="roundRect">
            <a:avLst>
              <a:gd name="adj" fmla="val 220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4" y="1847088"/>
            <a:ext cx="5175504" cy="323641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55664" y="5266383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이미 서비스 중인 기능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66928" y="1481328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1F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0" dirty="0"/>
          </a:p>
        </p:txBody>
      </p:sp>
      <p:sp>
        <p:nvSpPr>
          <p:cNvPr id="6" name="Shape 3"/>
          <p:cNvSpPr/>
          <p:nvPr/>
        </p:nvSpPr>
        <p:spPr>
          <a:xfrm>
            <a:off x="566928" y="2889504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288950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336499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315968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진화, 강화학습 기반 개인화, 고객 상호작용,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«바이브 코딩 시대의 영어»까지.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— 말할수록 함께 자라는 동반자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7393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«아바타 키우기»는 이미 서비스 중입니다. 판다·여우·드래곤·강아지 중 하나를 골라 5단계까지 진화시킵니다.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단계는 이 아바타를 학습 전체의 주인공으로 만드는 것입니다.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574036"/>
            <a:ext cx="5431536" cy="3427354"/>
          </a:xfrm>
          <a:prstGeom prst="roundRect">
            <a:avLst>
              <a:gd name="adj" fmla="val 21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615184"/>
            <a:ext cx="5349240" cy="33450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영어·중국어 미션을 할 때마다 EXP가 쌓이고 진화합니다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82512" y="2615184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22345C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20256" y="27340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34656" y="271576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진화 시 연출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534656" y="302666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수행량에 따라 EXP 축적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82512" y="3511296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20256" y="36301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534656" y="361188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534656" y="392277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학생의 발음·대답 속도에 반응하는 얼굴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382512" y="4407408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20256" y="4526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534656" y="450799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534656" y="4818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아바타가 곧 AI 친구 — 같은 캐릭터로 말하기 연습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382512" y="5303520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620256" y="5422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534656" y="540410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학습의 주인공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534656" y="57150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· 수업 · 리포트에 같은 아바타가 등장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«사람처럼 가르치는» 개인화 튜터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지금의 AI는 정해진 문제를 냅니다. 다음 단계의 AI는 «이 아이에게 지금 무엇을 시킬지»를 스스로 정합니다.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5166360" cy="3200400"/>
          </a:xfrm>
          <a:prstGeom prst="roundRect">
            <a:avLst>
              <a:gd name="adj" fmla="val 285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6334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3072384"/>
            <a:ext cx="4526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문제를 순서대로 출제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규칙으로 복습 주기 결정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55664" y="2377440"/>
            <a:ext cx="5166360" cy="3200400"/>
          </a:xfrm>
          <a:prstGeom prst="roundRect">
            <a:avLst>
              <a:gd name="adj" fmla="val 285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6334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— 강화학습 기반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6560" y="3072384"/>
            <a:ext cx="4526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학생별 «지금 가장 효과가 큰 다음 한 문제»를 선택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직전의 난이도를 감지해 실시간으로 조절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데이터로 개인 발음 약점 모델을 학습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피드백을 보상 신호로 삼아 스스로 개선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760720"/>
            <a:ext cx="11055096" cy="713232"/>
          </a:xfrm>
          <a:prstGeom prst="roundRect">
            <a:avLst>
              <a:gd name="adj" fmla="val 12821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760720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목표는 «AI가 사람 교사를 대신하는 것»이 아니라, 교사가 못 보는 시간과 데이터를 AI가 대신 보는 것입니다.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전에 먼저 말을 거는 서비스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홈에는 이미 «A.i 상담사»가, 관리자에는 «AI 운영비서»가 있습니다.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 이들이 «답하는 창구»에서 «먼저 알려주는 상대»가 되는 단계입니다.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517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980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학생에게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938528" y="27706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«어제 틀린 단어 3개, 지금 1분이면 끝나요»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938528" y="3108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흐름이 끊긴 시점을 감지해 먼저 제안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5661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124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학부모에게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38528" y="36850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«이번 주 발화량이 지난주보다 늘었어요»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938528" y="4023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물어보기 전에 변화를 카카오톡으로 요약 전달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4805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6268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38528" y="45994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 학생은 과거시제에서 계속 막힙니다»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938528" y="49377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 브리핑으로 준비 시간을 줄임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3949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5412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운영자에게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938528" y="55138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«이탈 위험 학생 5명, 사유는 시간대»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938528" y="5852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운영비서가 지표 이상을 먼저 보고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743700" y="1440180"/>
            <a:ext cx="4928616" cy="3141939"/>
          </a:xfrm>
          <a:prstGeom prst="roundRect">
            <a:avLst>
              <a:gd name="adj" fmla="val 232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0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481328"/>
            <a:ext cx="4846320" cy="3059643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784848" y="459028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현재의 AI 친구 대화 — 이 대화 능력을 상담·안내로 확장합니다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84848" y="5029200"/>
            <a:ext cx="4855464" cy="1243584"/>
          </a:xfrm>
          <a:prstGeom prst="roundRect">
            <a:avLst>
              <a:gd name="adj" fmla="val 7353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59168" y="52303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채널을 가리지 않게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059168" y="5522976"/>
            <a:ext cx="4315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· 앱 · 카카오톡 · 문자에서 같은 AI가 같은 맥락으로 응답합니다.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재미가 의지를 이깁니다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7393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«공부시키기»로는 매일 하게 만들 수 없습니다. 망고아이는 학습 목표를 게임 목표 안에 숨기는 방향으로 갑니다.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34924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1"/>
          <a:srcRect l="0" r="0" t="5006" b="-5006"/>
          <a:stretch/>
        </p:blipFill>
        <p:spPr>
          <a:xfrm>
            <a:off x="566928" y="2432304"/>
            <a:ext cx="2606040" cy="14813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342132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2"/>
          <a:srcRect l="0" r="0" t="5006" b="-5006"/>
          <a:stretch/>
        </p:blipFill>
        <p:spPr>
          <a:xfrm>
            <a:off x="3374136" y="2432304"/>
            <a:ext cx="2606040" cy="14813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149340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3"/>
          <a:srcRect l="0" r="0" t="5006" b="-5006"/>
          <a:stretch/>
        </p:blipFill>
        <p:spPr>
          <a:xfrm>
            <a:off x="6181344" y="2432304"/>
            <a:ext cx="2606040" cy="14813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956548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3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4"/>
          <a:srcRect l="0" r="0" t="5006" b="-5006"/>
          <a:stretch/>
        </p:blipFill>
        <p:spPr>
          <a:xfrm>
            <a:off x="8988552" y="2432304"/>
            <a:ext cx="2606040" cy="148132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66928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804672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세계관을 잇습니다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804672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게임마다 독립적입니다. 하나의 세계와 하나의 아바타로 묶습니다.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3374136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3611880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이깁니다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3611880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클릭이 아니라 «소리 내어 말하기»가 승리 조건이 되는 설계로.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181344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419088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419088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랭킹을 넘어 협동·대결 모드로. 혼자 하는 학습에는 한계가 있습니다.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8988552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9226296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9226296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몰입·보상·난이도 곡선을 근거로 설계합니다. 사행성 요소는 넣지 않습니다.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05 · 핵심 제안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«바이브 코딩»을 위한 영어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시키는 시대의 영어는 시험 영어가 아닙니다. 원하는 것을 정확히 설명하는 능력이 곧 실력입니다.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40864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영어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287121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대화하기 위한 언어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236208" y="2340864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영어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65392" y="287121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시키기 위한 언어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66928" y="39319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망고아이가 준비하는 것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425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78992" y="44074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설명하는 영어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10128" y="4389120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«무엇을 만들고 싶은지»를 순서와 조건으로 말하는 훈련. 이미 «문법 피자 마스터»가 같은 감각을 다룹니다.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937760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937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78992" y="49194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작문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10128" y="4901184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첨삭을 확장해, 잘 통하는 요청문과 안 통하는 요청문을 비교하며 배웁니다.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449824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5449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54315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판단하고 되묻기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10128" y="5413248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AI의 답이 틀렸을 때 영어로 반박하고 다시 요구하는 능력. 지금의 «판단력 훈련»이 그 출발점입니다.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961888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5961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78992" y="5943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만들며 배우기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10128" y="5925312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지시해 작은 결과물을 직접 만들어 보는 프로젝트형 수업.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서비스 중인 것과 앞으로 만들 것을 구분해 정리했습니다.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· 1:2 화상수업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AI 친구 대화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 · 월간 리포트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· 아바타 키우기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 알림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74136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 반응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 게임 설계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상담사 선제 안내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9088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19088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기반 문제 선택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 생성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학습 모드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88552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226296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26296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= 학습 동반자 통합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 커리큘럼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«만들며 배우는» 수업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7424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단기·중기·장기 항목은 개발 계획이며 일정은 변동될 수 있습니다.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1"/>
          <a:srcRect l="0" r="0" t="1992" b="-1992"/>
          <a:stretch/>
        </p:blipFill>
        <p:spPr>
          <a:xfrm>
            <a:off x="566928" y="457200"/>
            <a:ext cx="2048256" cy="124358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88920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rcRect l="0" r="0" t="1498" b="-1498"/>
          <a:stretch/>
        </p:blipFill>
        <p:spPr>
          <a:xfrm>
            <a:off x="2816352" y="457200"/>
            <a:ext cx="2048256" cy="124358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38344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2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3"/>
          <a:srcRect l="0" r="0" t="1498" b="-1498"/>
          <a:stretch/>
        </p:blipFill>
        <p:spPr>
          <a:xfrm>
            <a:off x="5065776" y="457200"/>
            <a:ext cx="2048256" cy="1243584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287768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9" name="Image 3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4"/>
          <a:srcRect l="0" r="0" t="1498" b="-1498"/>
          <a:stretch/>
        </p:blipFill>
        <p:spPr>
          <a:xfrm>
            <a:off x="7315200" y="457200"/>
            <a:ext cx="2048256" cy="1243584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9537192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4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5"/>
          <a:srcRect l="0" r="0" t="2596" b="-2596"/>
          <a:stretch/>
        </p:blipFill>
        <p:spPr>
          <a:xfrm>
            <a:off x="9564624" y="457200"/>
            <a:ext cx="2048256" cy="1243584"/>
          </a:xfrm>
          <a:prstGeom prst="rect">
            <a:avLst/>
          </a:prstGeom>
        </p:spPr>
      </p:pic>
      <p:pic>
        <p:nvPicPr>
          <p:cNvPr id="12" name="Image 5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6128" y="2011680"/>
            <a:ext cx="1298448" cy="1060704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1097280" y="3218688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400" dirty="0"/>
          </a:p>
        </p:txBody>
      </p:sp>
      <p:sp>
        <p:nvSpPr>
          <p:cNvPr id="14" name="Text 6"/>
          <p:cNvSpPr/>
          <p:nvPr/>
        </p:nvSpPr>
        <p:spPr>
          <a:xfrm>
            <a:off x="1097280" y="3950208"/>
            <a:ext cx="9994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사람이, 나머지 24시간은 A.I가 함께합니다.</a:t>
            </a:r>
            <a:endParaRPr lang="en-US" sz="1500" dirty="0"/>
          </a:p>
        </p:txBody>
      </p:sp>
      <p:sp>
        <p:nvSpPr>
          <p:cNvPr id="15" name="Shape 7"/>
          <p:cNvSpPr/>
          <p:nvPr/>
        </p:nvSpPr>
        <p:spPr>
          <a:xfrm>
            <a:off x="2212848" y="4572000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2212848" y="47000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17" name="Text 9"/>
          <p:cNvSpPr/>
          <p:nvPr/>
        </p:nvSpPr>
        <p:spPr>
          <a:xfrm>
            <a:off x="2212848" y="5010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4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무료 체험 신청</a:t>
            </a:r>
            <a:endParaRPr lang="en-US" sz="1000" dirty="0"/>
          </a:p>
        </p:txBody>
      </p:sp>
      <p:sp>
        <p:nvSpPr>
          <p:cNvPr id="18" name="Shape 10"/>
          <p:cNvSpPr/>
          <p:nvPr/>
        </p:nvSpPr>
        <p:spPr>
          <a:xfrm>
            <a:off x="4910328" y="4572000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16223F"/>
          </a:solidFill>
          <a:ln w="12700">
            <a:solidFill>
              <a:srgbClr val="31456E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4910328" y="47000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4910328" y="5010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레벨테스트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607808" y="4572000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16223F"/>
          </a:solidFill>
          <a:ln w="12700">
            <a:solidFill>
              <a:srgbClr val="31456E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7607808" y="47000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7607808" y="5010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카카오 상담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1097280" y="5705856"/>
            <a:ext cx="9994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1097280" y="6053328"/>
            <a:ext cx="9994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Mango Ai · 20년 전통, 국내 최초의 화상영어 기업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2026-08-17T03:28:08Z</dcterms:created>
  <dcterms:modified xsi:type="dcterms:W3CDTF">2026-08-17T03:28:08Z</dcterms:modified>
</cp:coreProperties>
</file>